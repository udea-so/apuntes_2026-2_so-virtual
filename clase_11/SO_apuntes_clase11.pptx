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64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8" r:id="rId21"/>
    <p:sldId id="280" r:id="rId22"/>
    <p:sldId id="281" r:id="rId23"/>
    <p:sldId id="282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9" r:id="rId39"/>
    <p:sldId id="300" r:id="rId40"/>
    <p:sldId id="301" r:id="rId41"/>
    <p:sldId id="303" r:id="rId42"/>
    <p:sldId id="304" r:id="rId43"/>
    <p:sldId id="306" r:id="rId44"/>
    <p:sldId id="307" r:id="rId45"/>
    <p:sldId id="308" r:id="rId46"/>
    <p:sldId id="309" r:id="rId47"/>
    <p:sldId id="310" r:id="rId48"/>
    <p:sldId id="311" r:id="rId49"/>
    <p:sldId id="312" r:id="rId50"/>
    <p:sldId id="313" r:id="rId51"/>
    <p:sldId id="314" r:id="rId52"/>
    <p:sldId id="315" r:id="rId53"/>
    <p:sldId id="317" r:id="rId54"/>
    <p:sldId id="318" r:id="rId55"/>
    <p:sldId id="319" r:id="rId56"/>
    <p:sldId id="320" r:id="rId57"/>
    <p:sldId id="321" r:id="rId58"/>
    <p:sldId id="322" r:id="rId59"/>
    <p:sldId id="324" r:id="rId60"/>
    <p:sldId id="325" r:id="rId61"/>
    <p:sldId id="326" r:id="rId62"/>
    <p:sldId id="327" r:id="rId63"/>
  </p:sldIdLst>
  <p:sldSz cx="12192000" cy="6858000"/>
  <p:notesSz cx="6858000" cy="9144000"/>
  <p:embeddedFontLst>
    <p:embeddedFont>
      <p:font typeface="Calibri" panose="020F0502020204030204" pitchFamily="34" charset="0"/>
      <p:regular r:id="rId65"/>
      <p:bold r:id="rId66"/>
      <p:italic r:id="rId67"/>
      <p:boldItalic r:id="rId68"/>
    </p:embeddedFont>
    <p:embeddedFont>
      <p:font typeface="Calibri Light" panose="020F0302020204030204" pitchFamily="34" charset="0"/>
      <p:regular r:id="rId69"/>
      <p:italic r:id="rId70"/>
    </p:embeddedFont>
    <p:embeddedFont>
      <p:font typeface="Consolas" panose="020B0609020204030204" pitchFamily="49" charset="0"/>
      <p:regular r:id="rId71"/>
      <p:bold r:id="rId72"/>
      <p:italic r:id="rId73"/>
      <p:boldItalic r:id="rId74"/>
    </p:embeddedFont>
    <p:embeddedFont>
      <p:font typeface="Roboto" panose="02000000000000000000" pitchFamily="2" charset="0"/>
      <p:regular r:id="rId75"/>
      <p:bold r:id="rId76"/>
      <p:italic r:id="rId77"/>
      <p:boldItalic r:id="rId78"/>
    </p:embeddedFont>
    <p:embeddedFont>
      <p:font typeface="Roboto Slab" panose="020B0604020202020204" charset="0"/>
      <p:regular r:id="rId79"/>
      <p:bold r:id="rId80"/>
    </p:embeddedFont>
  </p:embeddedFontLst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60E1A64-338D-42A0-9394-E2ECDD66DA37}">
  <a:tblStyle styleId="{F60E1A64-338D-42A0-9394-E2ECDD66DA3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79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font" Target="fonts/font4.fntdata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0.fntdata"/><Relationship Id="rId79" Type="http://schemas.openxmlformats.org/officeDocument/2006/relationships/font" Target="fonts/font15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font" Target="fonts/font5.fntdata"/><Relationship Id="rId77" Type="http://schemas.openxmlformats.org/officeDocument/2006/relationships/font" Target="fonts/font13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8.fntdata"/><Relationship Id="rId80" Type="http://schemas.openxmlformats.org/officeDocument/2006/relationships/font" Target="fonts/font1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6.fntdata"/><Relationship Id="rId75" Type="http://schemas.openxmlformats.org/officeDocument/2006/relationships/font" Target="fonts/font11.fntdata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1.fntdata"/><Relationship Id="rId73" Type="http://schemas.openxmlformats.org/officeDocument/2006/relationships/font" Target="fonts/font9.fntdata"/><Relationship Id="rId78" Type="http://schemas.openxmlformats.org/officeDocument/2006/relationships/font" Target="fonts/font14.fntdata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2.fntdata"/><Relationship Id="rId7" Type="http://schemas.openxmlformats.org/officeDocument/2006/relationships/slide" Target="slides/slide6.xml"/><Relationship Id="rId71" Type="http://schemas.openxmlformats.org/officeDocument/2006/relationships/font" Target="fonts/font7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78358aba08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78358aba08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91542c71b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91542c71bb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0b0d603767_0_5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0b0d603767_0_5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10e4de43856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10e4de43856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10e4de43856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10e4de43856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10c6a2e83cc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10c6a2e83cc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10c6a2e83cc_0_2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10c6a2e83cc_0_2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10c6a2e83cc_0_3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10c6a2e83cc_0_3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 dirty="0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10f71ec7b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10f71ec7bc9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113212c29b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113212c29b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113212c29bb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113212c29bb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113212c29bb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3" name="Google Shape;563;g113212c29bb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113212c29bb_0_4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113212c29bb_0_4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113212c29bb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113212c29bb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g113212c29bb_0_3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0" name="Google Shape;690;g113212c29bb_0_3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g113212c29bb_0_5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113212c29bb_0_5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113212c29bb_0_5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0" name="Google Shape;740;g113212c29bb_0_5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113212c29bb_0_3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113212c29bb_0_3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113212c29bb_0_5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113212c29bb_0_5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g10e655267c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9" name="Google Shape;789;g10e655267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g10411c0b8ff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4" name="Google Shape;804;g10411c0b8ff_0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g113212c29bb_0_6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8" name="Google Shape;838;g113212c29bb_0_6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10e4de43856_0_8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5" name="Google Shape;845;g10e4de43856_0_8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10e4de43856_0_9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0" name="Google Shape;870;g10e4de43856_0_9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g113212c29bb_0_7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7" name="Google Shape;877;g113212c29bb_0_7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g113212c29bb_0_7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4" name="Google Shape;884;g113212c29bb_0_7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g113212c29bb_0_7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1" name="Google Shape;891;g113212c29bb_0_7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g11359daf87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1" name="Google Shape;901;g11359daf87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g11359daf871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8" name="Google Shape;908;g11359daf871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Google Shape;924;g10f9d150ef3_0_4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25" name="Google Shape;925;g10f9d150ef3_0_4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g11359daf871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42" name="Google Shape;942;g11359daf871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g11359daf871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56" name="Google Shape;956;g11359daf871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g11359daf871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73" name="Google Shape;973;g11359daf871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Google Shape;998;g11359daf871_0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9" name="Google Shape;999;g11359daf871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g11359daf871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0" name="Google Shape;1030;g11359daf871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g10f9d150ef3_0_4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57" name="Google Shape;1057;g10f9d150ef3_0_4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10cb0ccef61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67" name="Google Shape;1067;g10cb0ccef61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Google Shape;1079;g10e4de43856_0_10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0" name="Google Shape;1080;g10e4de43856_0_10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Google Shape;1091;g11359daf871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2" name="Google Shape;1092;g11359daf871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g1150b74162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3" name="Google Shape;1113;g1150b74162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g10dd4e9c58c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2" name="Google Shape;1132;g10dd4e9c58c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Google Shape;1170;g11359daf871_0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1" name="Google Shape;1171;g11359daf871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g10e4de43856_0_9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9" name="Google Shape;1189;g10e4de43856_0_9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g11359daf871_0_3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5" name="Google Shape;1195;g11359daf871_0_3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g11359daf871_0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5" name="Google Shape;1215;g11359daf871_0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Google Shape;1227;g11359daf871_0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8" name="Google Shape;1228;g11359daf871_0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1" name="Google Shape;1241;g11359daf871_0_3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2" name="Google Shape;1242;g11359daf871_0_3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Google Shape;1249;g11359daf871_0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0" name="Google Shape;1250;g11359daf871_0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Google Shape;1278;g11359daf871_0_3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9" name="Google Shape;1279;g11359daf871_0_3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Google Shape;1284;g11359daf871_0_4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5" name="Google Shape;1285;g11359daf871_0_4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g11359daf871_0_4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2" name="Google Shape;1292;g11359daf871_0_4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Google Shape;1298;g11359daf871_0_4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9" name="Google Shape;1299;g11359daf871_0_4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Google Shape;1318;g10eab4ff599_0_6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19" name="Google Shape;1319;g10eab4ff599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8" name="Google Shape;1368;g11199df30bc_0_2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69" name="Google Shape;1369;g11199df30bc_0_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7" name="Google Shape;1377;g1150b741621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78" name="Google Shape;1378;g1150b741621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7" name="Google Shape;1387;g1150b741621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88" name="Google Shape;1388;g1150b741621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g1150b741621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12" name="Google Shape;1412;g1150b741621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Google Shape;1421;g1150b741621_1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22" name="Google Shape;1422;g1150b741621_1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Google Shape;1451;g1150b741621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2" name="Google Shape;1452;g1150b741621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1150b741621_1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1" name="Google Shape;1461;g1150b741621_1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" name="Google Shape;1474;g1150b741621_1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5" name="Google Shape;1475;g1150b741621_1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8" name="Google Shape;1488;g1150b741621_1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9" name="Google Shape;1489;g1150b741621_1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B704C2-E0F4-4985-AAE4-48775AA36A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EB3DAA3-6D6B-4277-B432-78F41D5BD1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8274E7E-054B-4592-8098-532AC397A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886699-F0F6-4800-8854-152A6F8F0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5306A3-0088-4A74-A603-A4D000E2D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41004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9D0570-5ABE-4196-9AFA-CCD5F7E86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CE4AE2D-8154-442C-99E2-39F8C5B382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BE661ED-AB54-46A4-9D04-829BAB1EA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C7E5A0-D052-4EA0-95DA-A2C78CEA1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81EF109-4F3F-480C-8040-3DF3BFA86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404525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63AF3B-BD1E-4E2B-B860-F5ECE54EB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E13870E-98FC-4B93-A2E6-3B2C186392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6E6D1FD-59B7-46DB-B1D6-D5DC163E0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7A1288-32D9-4798-90E4-8FC3D2440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758CDD-97D2-4721-8E9F-5695732B8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72048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16064-D549-41FC-80E8-BA931EC97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5E46344-8BC2-4398-A637-8356F98990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0CDB977-B8C3-4AE6-A600-A51573F8C2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08E2F03-E365-4D58-9FCF-0C636E926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1174B4F-E86B-4A65-8E18-A6E59B10F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B699AC5-AA53-4A74-9A1A-E239C0161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6198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58AA0F-8287-4B47-B95B-B2D2F5E56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DD27DCE-C19D-443E-BB20-2C103D0C2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B267507-29C0-44CD-B21D-E522CE6F61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3E7B53E-AF71-4939-93DE-E7DB585990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E02F172-A122-4460-BBA5-45287A0FA9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A637FDF-06AE-4965-8DBE-32BBBF3CF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23D4423-8767-4A61-A0E7-913F76FB1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936AFFF-55CB-45B4-82B6-847357FBC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30844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ADF3C4-76C1-420D-9C37-2EA92F12D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97C3F2E-650D-436F-90CE-F965FC3CA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06700A0-B734-4664-A451-CD846E323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47E4816-0BF9-48A3-9254-4632ECB12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23245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3DDCCA1-2144-4F58-A066-DCF1CA7F3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59387C1-46CB-4D3D-9F62-FBE52073E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2C760F0-1C4F-4CA1-A0BE-51DB53D7D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76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30715-9C12-4B5C-9330-5CB9CC9A2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C325DCC-2993-44B5-855C-F268DD1170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DB37FE3-680C-40B0-8CD3-7806790B79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68C8587-006C-4322-A921-2DE0893B3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76D1A0-9A4E-4450-8654-9DF4EFFC4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02EF46B-8C25-4CB0-88DF-D8C91D4E2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6104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F4833D-98CC-4E88-B32A-F5E8CAA81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7682B8D-D165-4097-8F30-BD1309BE39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2A1F04C-8F20-4E6B-A72C-3436602943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C4CD7C4-CDB2-4EAA-9D63-83572A8D9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F4C3447-346A-43A3-B6BB-1ECDF986E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2E69616-C454-4D3F-A9FB-BCE0372FA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4520658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64703A-6071-4B8B-99CD-181F0F9D7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986C90D-B600-4B21-8825-B014F706BA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A481141-86EC-40F9-914D-DAFD737BE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9691ADB-1A33-4781-BBEF-732D31DDD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B3314D8-E620-42F1-81C9-7E038D654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3835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1831C55-CEFB-4AD5-9571-4E512CC950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4FAC652-1931-4B4F-A8F3-1F6EA0D2A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2B8EE4-9BAC-4C17-9BC2-9619223F5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F4CCAE2-AB0C-4473-8A7E-95937BCB2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ED10994-4B68-4721-A5EC-D3F6A8D6A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0748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">
  <p:cSld name="UdeA-Nueva 1 1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8CC63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271127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">
  <p:cSld name="UdeA-Nueva 1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8A02B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204075" y="62974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48616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013787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 1">
  <p:cSld name="UdeA-Nueva 1 1 1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701E5C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06285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0974DC3-3A6B-4BEC-83D9-38D173B0E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DC8F760-4211-411F-A55D-E0A05AA2E8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431DC5-69EE-4D24-B5FA-5AD9960C3F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416A67E-8FE1-4C13-8D32-8E4534F887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6C5208A-C6E6-4B99-92C1-680BC43188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38998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os-book.com/OS10/index.html" TargetMode="External"/><Relationship Id="rId13" Type="http://schemas.openxmlformats.org/officeDocument/2006/relationships/hyperlink" Target="https://www.technologyuk.net/computing/computer-software/operating-systems/operating-system-utilities.shtml" TargetMode="External"/><Relationship Id="rId18" Type="http://schemas.openxmlformats.org/officeDocument/2006/relationships/hyperlink" Target="https://www.scs.stanford.edu/22wi-cs212/" TargetMode="External"/><Relationship Id="rId3" Type="http://schemas.openxmlformats.org/officeDocument/2006/relationships/hyperlink" Target="http://pages.cs.wisc.edu/~remzi/OSTEP/" TargetMode="External"/><Relationship Id="rId21" Type="http://schemas.openxmlformats.org/officeDocument/2006/relationships/hyperlink" Target="https://applied-programming.github.io/Operating-Systems-Notes/5-Memory-Management/" TargetMode="External"/><Relationship Id="rId7" Type="http://schemas.openxmlformats.org/officeDocument/2006/relationships/hyperlink" Target="http://pages.cs.wisc.edu/~remzi/" TargetMode="External"/><Relationship Id="rId12" Type="http://schemas.openxmlformats.org/officeDocument/2006/relationships/hyperlink" Target="https://myaut.github.io/dtrace-stap-book/index.html" TargetMode="External"/><Relationship Id="rId17" Type="http://schemas.openxmlformats.org/officeDocument/2006/relationships/hyperlink" Target="http://pages.cs.wisc.edu/~bart/537/lecturenotes/titlepage.html" TargetMode="External"/><Relationship Id="rId2" Type="http://schemas.openxmlformats.org/officeDocument/2006/relationships/notesSlide" Target="../notesSlides/notesSlide62.xml"/><Relationship Id="rId16" Type="http://schemas.openxmlformats.org/officeDocument/2006/relationships/hyperlink" Target="http://csl.snu.ac.kr/courses/4190.307/2020-1/" TargetMode="External"/><Relationship Id="rId20" Type="http://schemas.openxmlformats.org/officeDocument/2006/relationships/hyperlink" Target="https://github.com/Aniruddha-Tapas/Operating-Systems-Notes/blob/master/5-Memory-Management.md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playlist?list=PLlTZ99qnw3zKBiKz7pZ_ErH3AR3rpaaKT" TargetMode="External"/><Relationship Id="rId11" Type="http://schemas.openxmlformats.org/officeDocument/2006/relationships/hyperlink" Target="https://myaut.github.io/dtrace-stap-book/kernel/proc.html" TargetMode="External"/><Relationship Id="rId5" Type="http://schemas.openxmlformats.org/officeDocument/2006/relationships/hyperlink" Target="http://pages.cs.wisc.edu/~remzi/OSTEP/intro.pdf" TargetMode="External"/><Relationship Id="rId15" Type="http://schemas.openxmlformats.org/officeDocument/2006/relationships/hyperlink" Target="https://courses.cs.duke.edu/spring19/compsci590.1/slides/" TargetMode="External"/><Relationship Id="rId10" Type="http://schemas.openxmlformats.org/officeDocument/2006/relationships/hyperlink" Target="https://github.com/Aniruddha-Tapas/Operating-Systems-Notes/blob/master/1-Overview.md" TargetMode="External"/><Relationship Id="rId19" Type="http://schemas.openxmlformats.org/officeDocument/2006/relationships/hyperlink" Target="https://flint.cs.yale.edu/cs421/papers/x86-asm/asm.html" TargetMode="External"/><Relationship Id="rId4" Type="http://schemas.openxmlformats.org/officeDocument/2006/relationships/hyperlink" Target="http://pages.cs.wisc.edu/~remzi/OSTEP/dialogue-threeeasy.pdf" TargetMode="External"/><Relationship Id="rId9" Type="http://schemas.openxmlformats.org/officeDocument/2006/relationships/hyperlink" Target="https://applied-programming.github.io/Operating-Systems-Notes/" TargetMode="External"/><Relationship Id="rId14" Type="http://schemas.openxmlformats.org/officeDocument/2006/relationships/hyperlink" Target="http://www.it.uu.se/education/course/homepage/os/vt18/module-4/simple-thread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>
            <a:spLocks noGrp="1"/>
          </p:cNvSpPr>
          <p:nvPr>
            <p:ph type="ctrTitle"/>
          </p:nvPr>
        </p:nvSpPr>
        <p:spPr>
          <a:xfrm>
            <a:off x="408724" y="2861639"/>
            <a:ext cx="11036024" cy="922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Slab"/>
              <a:buNone/>
            </a:pPr>
            <a:r>
              <a:rPr lang="es-ES" b="1" dirty="0"/>
              <a:t>Apuntes – Clase 11</a:t>
            </a:r>
            <a:endParaRPr sz="3200" dirty="0"/>
          </a:p>
        </p:txBody>
      </p:sp>
      <p:sp>
        <p:nvSpPr>
          <p:cNvPr id="140" name="Google Shape;140;p17"/>
          <p:cNvSpPr txBox="1">
            <a:spLocks noGrp="1"/>
          </p:cNvSpPr>
          <p:nvPr>
            <p:ph type="subTitle" idx="1"/>
          </p:nvPr>
        </p:nvSpPr>
        <p:spPr>
          <a:xfrm>
            <a:off x="1524000" y="3602040"/>
            <a:ext cx="9144000" cy="307897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4400" b="1" dirty="0"/>
              <a:t>TLB</a:t>
            </a:r>
            <a:endParaRPr lang="es-ES" sz="3200" b="1" dirty="0"/>
          </a:p>
          <a:p>
            <a:r>
              <a:rPr lang="es-CO" sz="4000" b="1" dirty="0"/>
              <a:t>Sistemas Operativos</a:t>
            </a:r>
          </a:p>
          <a:p>
            <a:r>
              <a:rPr lang="es-CO" sz="3200" dirty="0"/>
              <a:t>Universidad de Antioquia</a:t>
            </a:r>
          </a:p>
          <a:p>
            <a:r>
              <a:rPr lang="es-CO" sz="3200" dirty="0"/>
              <a:t>Facultad Ingeniería</a:t>
            </a:r>
          </a:p>
          <a:p>
            <a:r>
              <a:rPr lang="es-CO" sz="3200" dirty="0"/>
              <a:t>Ingeniería de Sistemas</a:t>
            </a: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0"/>
          <p:cNvSpPr txBox="1">
            <a:spLocks noGrp="1"/>
          </p:cNvSpPr>
          <p:nvPr>
            <p:ph type="title"/>
          </p:nvPr>
        </p:nvSpPr>
        <p:spPr>
          <a:xfrm>
            <a:off x="159774" y="128904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Virtualización de memoria</a:t>
            </a:r>
            <a:endParaRPr dirty="0"/>
          </a:p>
        </p:txBody>
      </p:sp>
      <p:grpSp>
        <p:nvGrpSpPr>
          <p:cNvPr id="159" name="Google Shape;159;p20"/>
          <p:cNvGrpSpPr/>
          <p:nvPr/>
        </p:nvGrpSpPr>
        <p:grpSpPr>
          <a:xfrm>
            <a:off x="2653842" y="2205743"/>
            <a:ext cx="806322" cy="1163511"/>
            <a:chOff x="1775100" y="4022850"/>
            <a:chExt cx="1076100" cy="1739700"/>
          </a:xfrm>
        </p:grpSpPr>
        <p:sp>
          <p:nvSpPr>
            <p:cNvPr id="160" name="Google Shape;160;p20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onsolas" panose="020B0609020204030204" pitchFamily="49" charset="0"/>
              </a:endParaRPr>
            </a:p>
          </p:txBody>
        </p:sp>
        <p:grpSp>
          <p:nvGrpSpPr>
            <p:cNvPr id="161" name="Google Shape;161;p20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162" name="Google Shape;162;p20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Code</a:t>
                </a:r>
                <a:endParaRPr sz="800" b="1">
                  <a:latin typeface="Consolas" panose="020B0609020204030204" pitchFamily="49" charset="0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63" name="Google Shape;163;p20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Data</a:t>
                </a:r>
                <a:endParaRPr>
                  <a:latin typeface="Consolas" panose="020B0609020204030204" pitchFamily="49" charset="0"/>
                </a:endParaRPr>
              </a:p>
            </p:txBody>
          </p:sp>
          <p:sp>
            <p:nvSpPr>
              <p:cNvPr id="164" name="Google Shape;164;p20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heap</a:t>
                </a:r>
                <a:endParaRPr>
                  <a:latin typeface="Consolas" panose="020B0609020204030204" pitchFamily="49" charset="0"/>
                </a:endParaRPr>
              </a:p>
            </p:txBody>
          </p:sp>
          <p:sp>
            <p:nvSpPr>
              <p:cNvPr id="165" name="Google Shape;165;p20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stack</a:t>
                </a:r>
                <a:endParaRPr dirty="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66" name="Google Shape;166;p20"/>
              <p:cNvCxnSpPr>
                <a:stCxn id="164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67" name="Google Shape;167;p20"/>
              <p:cNvCxnSpPr>
                <a:stCxn id="165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168" name="Google Shape;168;p20"/>
          <p:cNvGrpSpPr/>
          <p:nvPr/>
        </p:nvGrpSpPr>
        <p:grpSpPr>
          <a:xfrm>
            <a:off x="2647879" y="4325918"/>
            <a:ext cx="806322" cy="1163511"/>
            <a:chOff x="1775100" y="4022850"/>
            <a:chExt cx="1076100" cy="1739700"/>
          </a:xfrm>
        </p:grpSpPr>
        <p:sp>
          <p:nvSpPr>
            <p:cNvPr id="169" name="Google Shape;169;p20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onsolas" panose="020B0609020204030204" pitchFamily="49" charset="0"/>
              </a:endParaRPr>
            </a:p>
          </p:txBody>
        </p:sp>
        <p:grpSp>
          <p:nvGrpSpPr>
            <p:cNvPr id="170" name="Google Shape;170;p20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171" name="Google Shape;171;p20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Code</a:t>
                </a:r>
                <a:endParaRPr sz="800" b="1">
                  <a:latin typeface="Consolas" panose="020B0609020204030204" pitchFamily="49" charset="0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72" name="Google Shape;172;p20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Data</a:t>
                </a:r>
                <a:endParaRPr>
                  <a:latin typeface="Consolas" panose="020B0609020204030204" pitchFamily="49" charset="0"/>
                </a:endParaRPr>
              </a:p>
            </p:txBody>
          </p:sp>
          <p:sp>
            <p:nvSpPr>
              <p:cNvPr id="173" name="Google Shape;173;p20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heap</a:t>
                </a:r>
                <a:endParaRPr>
                  <a:latin typeface="Consolas" panose="020B0609020204030204" pitchFamily="49" charset="0"/>
                </a:endParaRPr>
              </a:p>
            </p:txBody>
          </p:sp>
          <p:sp>
            <p:nvSpPr>
              <p:cNvPr id="174" name="Google Shape;174;p20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stack</a:t>
                </a:r>
                <a:endParaRPr dirty="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5" name="Google Shape;175;p20"/>
              <p:cNvCxnSpPr>
                <a:stCxn id="173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76" name="Google Shape;176;p20"/>
              <p:cNvCxnSpPr>
                <a:stCxn id="174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177" name="Google Shape;177;p20"/>
          <p:cNvGrpSpPr/>
          <p:nvPr/>
        </p:nvGrpSpPr>
        <p:grpSpPr>
          <a:xfrm>
            <a:off x="5593363" y="1668125"/>
            <a:ext cx="822300" cy="4218300"/>
            <a:chOff x="6401200" y="2198400"/>
            <a:chExt cx="822300" cy="4218300"/>
          </a:xfrm>
        </p:grpSpPr>
        <p:sp>
          <p:nvSpPr>
            <p:cNvPr id="178" name="Google Shape;178;p20"/>
            <p:cNvSpPr/>
            <p:nvPr/>
          </p:nvSpPr>
          <p:spPr>
            <a:xfrm>
              <a:off x="6401200" y="2198400"/>
              <a:ext cx="822300" cy="4218300"/>
            </a:xfrm>
            <a:prstGeom prst="rect">
              <a:avLst/>
            </a:prstGeom>
            <a:solidFill>
              <a:srgbClr val="F3F3F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onsolas" panose="020B0609020204030204" pitchFamily="49" charset="0"/>
              </a:endParaRPr>
            </a:p>
          </p:txBody>
        </p:sp>
        <p:grpSp>
          <p:nvGrpSpPr>
            <p:cNvPr id="179" name="Google Shape;179;p20"/>
            <p:cNvGrpSpPr/>
            <p:nvPr/>
          </p:nvGrpSpPr>
          <p:grpSpPr>
            <a:xfrm>
              <a:off x="6409192" y="3112418"/>
              <a:ext cx="806322" cy="1163511"/>
              <a:chOff x="1775100" y="4022850"/>
              <a:chExt cx="1076100" cy="1739700"/>
            </a:xfrm>
          </p:grpSpPr>
          <p:sp>
            <p:nvSpPr>
              <p:cNvPr id="180" name="Google Shape;180;p20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onsolas" panose="020B0609020204030204" pitchFamily="49" charset="0"/>
                </a:endParaRPr>
              </a:p>
            </p:txBody>
          </p:sp>
          <p:grpSp>
            <p:nvGrpSpPr>
              <p:cNvPr id="181" name="Google Shape;181;p20"/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182" name="Google Shape;182;p20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183" name="Google Shape;183;p20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184" name="Google Shape;184;p20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185" name="Google Shape;185;p20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dirty="0">
                    <a:latin typeface="Consolas" panose="020B0609020204030204" pitchFamily="49" charset="0"/>
                  </a:endParaRPr>
                </a:p>
              </p:txBody>
            </p:sp>
            <p:cxnSp>
              <p:nvCxnSpPr>
                <p:cNvPr id="186" name="Google Shape;186;p20"/>
                <p:cNvCxnSpPr>
                  <a:stCxn id="184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187" name="Google Shape;187;p20"/>
                <p:cNvCxnSpPr>
                  <a:stCxn id="185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grpSp>
          <p:nvGrpSpPr>
            <p:cNvPr id="188" name="Google Shape;188;p20"/>
            <p:cNvGrpSpPr/>
            <p:nvPr/>
          </p:nvGrpSpPr>
          <p:grpSpPr>
            <a:xfrm>
              <a:off x="6409192" y="4826918"/>
              <a:ext cx="806322" cy="1163511"/>
              <a:chOff x="1775100" y="4022850"/>
              <a:chExt cx="1076100" cy="1739700"/>
            </a:xfrm>
          </p:grpSpPr>
          <p:sp>
            <p:nvSpPr>
              <p:cNvPr id="189" name="Google Shape;189;p20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onsolas" panose="020B0609020204030204" pitchFamily="49" charset="0"/>
                </a:endParaRPr>
              </a:p>
            </p:txBody>
          </p:sp>
          <p:grpSp>
            <p:nvGrpSpPr>
              <p:cNvPr id="190" name="Google Shape;190;p20"/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191" name="Google Shape;191;p20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192" name="Google Shape;192;p20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193" name="Google Shape;193;p20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194" name="Google Shape;194;p20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dirty="0">
                    <a:latin typeface="Consolas" panose="020B0609020204030204" pitchFamily="49" charset="0"/>
                  </a:endParaRPr>
                </a:p>
              </p:txBody>
            </p:sp>
            <p:cxnSp>
              <p:nvCxnSpPr>
                <p:cNvPr id="195" name="Google Shape;195;p20"/>
                <p:cNvCxnSpPr>
                  <a:stCxn id="193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196" name="Google Shape;196;p20"/>
                <p:cNvCxnSpPr>
                  <a:stCxn id="194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</p:grpSp>
      <p:sp>
        <p:nvSpPr>
          <p:cNvPr id="197" name="Google Shape;197;p20"/>
          <p:cNvSpPr/>
          <p:nvPr/>
        </p:nvSpPr>
        <p:spPr>
          <a:xfrm>
            <a:off x="922463" y="2816575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P1</a:t>
            </a:r>
            <a:endParaRPr sz="1800" dirty="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916650" y="4442900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99" name="Google Shape;199;p20"/>
          <p:cNvCxnSpPr/>
          <p:nvPr/>
        </p:nvCxnSpPr>
        <p:spPr>
          <a:xfrm>
            <a:off x="3483725" y="2219900"/>
            <a:ext cx="2105700" cy="3573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0" name="Google Shape;200;p20"/>
          <p:cNvCxnSpPr/>
          <p:nvPr/>
        </p:nvCxnSpPr>
        <p:spPr>
          <a:xfrm>
            <a:off x="3483725" y="3386225"/>
            <a:ext cx="2108700" cy="3639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1" name="Google Shape;201;p20"/>
          <p:cNvCxnSpPr/>
          <p:nvPr/>
        </p:nvCxnSpPr>
        <p:spPr>
          <a:xfrm rot="10800000" flipH="1">
            <a:off x="3464013" y="4295400"/>
            <a:ext cx="2128500" cy="264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2" name="Google Shape;202;p20"/>
          <p:cNvCxnSpPr/>
          <p:nvPr/>
        </p:nvCxnSpPr>
        <p:spPr>
          <a:xfrm rot="10800000" flipH="1">
            <a:off x="3458188" y="5468675"/>
            <a:ext cx="2134500" cy="243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3" name="Google Shape;203;p20"/>
          <p:cNvSpPr txBox="1"/>
          <p:nvPr/>
        </p:nvSpPr>
        <p:spPr>
          <a:xfrm>
            <a:off x="1617163" y="3061450"/>
            <a:ext cx="7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800">
                <a:solidFill>
                  <a:srgbClr val="FF0000"/>
                </a:solidFill>
                <a:highlight>
                  <a:schemeClr val="lt1"/>
                </a:highlight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0x200000</a:t>
            </a:r>
            <a:endParaRPr sz="800">
              <a:solidFill>
                <a:srgbClr val="FF0000"/>
              </a:solidFill>
              <a:highlight>
                <a:schemeClr val="lt1"/>
              </a:highlight>
              <a:latin typeface="Consolas" panose="020B0609020204030204" pitchFamily="49" charset="0"/>
            </a:endParaRPr>
          </a:p>
        </p:txBody>
      </p:sp>
      <p:sp>
        <p:nvSpPr>
          <p:cNvPr id="204" name="Google Shape;204;p20"/>
          <p:cNvSpPr txBox="1"/>
          <p:nvPr/>
        </p:nvSpPr>
        <p:spPr>
          <a:xfrm>
            <a:off x="1605438" y="4650025"/>
            <a:ext cx="7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800">
                <a:solidFill>
                  <a:srgbClr val="FF0000"/>
                </a:solidFill>
                <a:highlight>
                  <a:schemeClr val="lt1"/>
                </a:highlight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0x200000</a:t>
            </a:r>
            <a:endParaRPr sz="800">
              <a:solidFill>
                <a:srgbClr val="FF0000"/>
              </a:solidFill>
              <a:highlight>
                <a:schemeClr val="lt1"/>
              </a:highlight>
              <a:latin typeface="Consolas" panose="020B0609020204030204" pitchFamily="49" charset="0"/>
            </a:endParaRPr>
          </a:p>
        </p:txBody>
      </p:sp>
      <p:cxnSp>
        <p:nvCxnSpPr>
          <p:cNvPr id="205" name="Google Shape;205;p20"/>
          <p:cNvCxnSpPr/>
          <p:nvPr/>
        </p:nvCxnSpPr>
        <p:spPr>
          <a:xfrm rot="10800000" flipH="1">
            <a:off x="2284113" y="4807075"/>
            <a:ext cx="352200" cy="27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6" name="Google Shape;206;p20"/>
          <p:cNvCxnSpPr/>
          <p:nvPr/>
        </p:nvCxnSpPr>
        <p:spPr>
          <a:xfrm rot="10800000" flipH="1">
            <a:off x="2295763" y="3213975"/>
            <a:ext cx="352200" cy="27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7" name="Google Shape;207;p20"/>
          <p:cNvCxnSpPr>
            <a:stCxn id="164" idx="3"/>
            <a:endCxn id="184" idx="1"/>
          </p:cNvCxnSpPr>
          <p:nvPr/>
        </p:nvCxnSpPr>
        <p:spPr>
          <a:xfrm>
            <a:off x="3460163" y="2697395"/>
            <a:ext cx="2141100" cy="376500"/>
          </a:xfrm>
          <a:prstGeom prst="bentConnector3">
            <a:avLst>
              <a:gd name="adj1" fmla="val 50002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8" name="Google Shape;208;p20"/>
          <p:cNvCxnSpPr>
            <a:stCxn id="173" idx="3"/>
            <a:endCxn id="193" idx="1"/>
          </p:cNvCxnSpPr>
          <p:nvPr/>
        </p:nvCxnSpPr>
        <p:spPr>
          <a:xfrm rot="10800000" flipH="1">
            <a:off x="3454201" y="4788170"/>
            <a:ext cx="2147100" cy="29400"/>
          </a:xfrm>
          <a:prstGeom prst="bentConnector3">
            <a:avLst>
              <a:gd name="adj1" fmla="val 50001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09" name="Google Shape;209;p20"/>
          <p:cNvGrpSpPr/>
          <p:nvPr/>
        </p:nvGrpSpPr>
        <p:grpSpPr>
          <a:xfrm>
            <a:off x="2348263" y="5903000"/>
            <a:ext cx="4426050" cy="677100"/>
            <a:chOff x="7439250" y="5328100"/>
            <a:chExt cx="4426050" cy="677100"/>
          </a:xfrm>
        </p:grpSpPr>
        <p:sp>
          <p:nvSpPr>
            <p:cNvPr id="210" name="Google Shape;210;p20"/>
            <p:cNvSpPr txBox="1"/>
            <p:nvPr/>
          </p:nvSpPr>
          <p:spPr>
            <a:xfrm>
              <a:off x="7439250" y="5328100"/>
              <a:ext cx="1539600" cy="67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 panose="020B0609020204030204" pitchFamily="49" charset="0"/>
                  <a:ea typeface="Courier New"/>
                  <a:cs typeface="Courier New"/>
                  <a:sym typeface="Courier New"/>
                </a:rPr>
                <a:t>Memoria Virtual</a:t>
              </a:r>
              <a:endParaRPr sz="1600" b="1">
                <a:solidFill>
                  <a:srgbClr val="FF000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11" name="Google Shape;211;p20"/>
            <p:cNvSpPr txBox="1"/>
            <p:nvPr/>
          </p:nvSpPr>
          <p:spPr>
            <a:xfrm>
              <a:off x="10325700" y="5328100"/>
              <a:ext cx="1539600" cy="67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24292E"/>
                  </a:solidFill>
                  <a:latin typeface="Consolas" panose="020B0609020204030204" pitchFamily="49" charset="0"/>
                  <a:ea typeface="Courier New"/>
                  <a:cs typeface="Courier New"/>
                  <a:sym typeface="Courier New"/>
                </a:rPr>
                <a:t>Memoria Física</a:t>
              </a:r>
              <a:endParaRPr sz="1600" b="1">
                <a:solidFill>
                  <a:srgbClr val="24292E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212" name="Google Shape;212;p20"/>
            <p:cNvGrpSpPr/>
            <p:nvPr/>
          </p:nvGrpSpPr>
          <p:grpSpPr>
            <a:xfrm>
              <a:off x="9023475" y="5328100"/>
              <a:ext cx="1353000" cy="615600"/>
              <a:chOff x="9023475" y="5328100"/>
              <a:chExt cx="1353000" cy="615600"/>
            </a:xfrm>
          </p:grpSpPr>
          <p:sp>
            <p:nvSpPr>
              <p:cNvPr id="213" name="Google Shape;213;p20"/>
              <p:cNvSpPr/>
              <p:nvPr/>
            </p:nvSpPr>
            <p:spPr>
              <a:xfrm>
                <a:off x="9023475" y="5328100"/>
                <a:ext cx="1353000" cy="6156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EA9999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onsolas" panose="020B0609020204030204" pitchFamily="49" charset="0"/>
                </a:endParaRPr>
              </a:p>
            </p:txBody>
          </p:sp>
          <p:sp>
            <p:nvSpPr>
              <p:cNvPr id="214" name="Google Shape;214;p20"/>
              <p:cNvSpPr txBox="1"/>
              <p:nvPr/>
            </p:nvSpPr>
            <p:spPr>
              <a:xfrm>
                <a:off x="9170324" y="5404300"/>
                <a:ext cx="963900" cy="44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700" b="1">
                    <a:solidFill>
                      <a:schemeClr val="lt1"/>
                    </a:solidFill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Mapeo</a:t>
                </a:r>
                <a:endParaRPr sz="1700" b="1">
                  <a:solidFill>
                    <a:schemeClr val="lt1"/>
                  </a:solidFill>
                  <a:latin typeface="Consolas" panose="020B0609020204030204" pitchFamily="49" charset="0"/>
                  <a:ea typeface="Courier New"/>
                  <a:cs typeface="Courier New"/>
                  <a:sym typeface="Courier New"/>
                </a:endParaRPr>
              </a:p>
            </p:txBody>
          </p:sp>
        </p:grpSp>
      </p:grpSp>
      <p:sp>
        <p:nvSpPr>
          <p:cNvPr id="215" name="Google Shape;215;p20"/>
          <p:cNvSpPr/>
          <p:nvPr/>
        </p:nvSpPr>
        <p:spPr>
          <a:xfrm>
            <a:off x="5593838" y="1679225"/>
            <a:ext cx="822300" cy="5541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900" b="1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Operating system</a:t>
            </a:r>
            <a:endParaRPr sz="900" b="1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pic>
        <p:nvPicPr>
          <p:cNvPr id="216" name="Google Shape;21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09150" y="4442900"/>
            <a:ext cx="1163500" cy="116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0"/>
          <p:cNvSpPr/>
          <p:nvPr/>
        </p:nvSpPr>
        <p:spPr>
          <a:xfrm>
            <a:off x="7189838" y="1846100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218" name="Google Shape;218;p20"/>
          <p:cNvSpPr/>
          <p:nvPr/>
        </p:nvSpPr>
        <p:spPr>
          <a:xfrm>
            <a:off x="9220650" y="1846100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pic>
        <p:nvPicPr>
          <p:cNvPr id="219" name="Google Shape;21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52238" y="2872288"/>
            <a:ext cx="806325" cy="806325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0"/>
          <p:cNvSpPr/>
          <p:nvPr/>
        </p:nvSpPr>
        <p:spPr>
          <a:xfrm>
            <a:off x="6930188" y="3678600"/>
            <a:ext cx="12504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AS(P1)</a:t>
            </a:r>
            <a:endParaRPr sz="160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221" name="Google Shape;221;p20"/>
          <p:cNvSpPr/>
          <p:nvPr/>
        </p:nvSpPr>
        <p:spPr>
          <a:xfrm>
            <a:off x="2431825" y="3889850"/>
            <a:ext cx="12504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CC000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AS(P2)</a:t>
            </a:r>
            <a:endParaRPr sz="1600" b="1">
              <a:solidFill>
                <a:srgbClr val="CC0000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222" name="Google Shape;222;p20"/>
          <p:cNvSpPr/>
          <p:nvPr/>
        </p:nvSpPr>
        <p:spPr>
          <a:xfrm>
            <a:off x="2431813" y="1757963"/>
            <a:ext cx="12504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5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AS(P1)</a:t>
            </a:r>
            <a:endParaRPr sz="1600" b="1">
              <a:solidFill>
                <a:schemeClr val="accent5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pic>
        <p:nvPicPr>
          <p:cNvPr id="223" name="Google Shape;22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83038" y="2778963"/>
            <a:ext cx="806325" cy="80632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0"/>
          <p:cNvSpPr/>
          <p:nvPr/>
        </p:nvSpPr>
        <p:spPr>
          <a:xfrm>
            <a:off x="8960988" y="3678175"/>
            <a:ext cx="12504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AS(P2)</a:t>
            </a:r>
            <a:endParaRPr sz="160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225" name="Google Shape;225;p20"/>
          <p:cNvCxnSpPr/>
          <p:nvPr/>
        </p:nvCxnSpPr>
        <p:spPr>
          <a:xfrm rot="10800000" flipH="1">
            <a:off x="6930200" y="4144275"/>
            <a:ext cx="5067300" cy="234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6" name="Google Shape;226;p20"/>
          <p:cNvSpPr txBox="1"/>
          <p:nvPr/>
        </p:nvSpPr>
        <p:spPr>
          <a:xfrm>
            <a:off x="10355463" y="2843575"/>
            <a:ext cx="1539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70AD47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Memoria Virtual</a:t>
            </a:r>
            <a:endParaRPr sz="1600" b="1">
              <a:solidFill>
                <a:srgbClr val="70AD47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227" name="Google Shape;227;p20"/>
          <p:cNvSpPr txBox="1"/>
          <p:nvPr/>
        </p:nvSpPr>
        <p:spPr>
          <a:xfrm>
            <a:off x="10304688" y="4569125"/>
            <a:ext cx="1539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24292E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Memoria Física</a:t>
            </a:r>
            <a:endParaRPr sz="1600" b="1">
              <a:solidFill>
                <a:srgbClr val="24292E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1"/>
          <p:cNvSpPr txBox="1">
            <a:spLocks noGrp="1"/>
          </p:cNvSpPr>
          <p:nvPr>
            <p:ph type="title"/>
          </p:nvPr>
        </p:nvSpPr>
        <p:spPr>
          <a:xfrm>
            <a:off x="484836" y="293204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Address Translation - Mapeo</a:t>
            </a:r>
            <a:endParaRPr dirty="0"/>
          </a:p>
        </p:txBody>
      </p:sp>
      <p:grpSp>
        <p:nvGrpSpPr>
          <p:cNvPr id="234" name="Google Shape;234;p21"/>
          <p:cNvGrpSpPr/>
          <p:nvPr/>
        </p:nvGrpSpPr>
        <p:grpSpPr>
          <a:xfrm>
            <a:off x="1406812" y="4949428"/>
            <a:ext cx="9378375" cy="1156800"/>
            <a:chOff x="1094825" y="3951525"/>
            <a:chExt cx="9378375" cy="1156800"/>
          </a:xfrm>
        </p:grpSpPr>
        <p:grpSp>
          <p:nvGrpSpPr>
            <p:cNvPr id="235" name="Google Shape;235;p21"/>
            <p:cNvGrpSpPr/>
            <p:nvPr/>
          </p:nvGrpSpPr>
          <p:grpSpPr>
            <a:xfrm>
              <a:off x="3591725" y="3951525"/>
              <a:ext cx="4103700" cy="1156800"/>
              <a:chOff x="3401900" y="3904875"/>
              <a:chExt cx="4103700" cy="1156800"/>
            </a:xfrm>
          </p:grpSpPr>
          <p:sp>
            <p:nvSpPr>
              <p:cNvPr id="236" name="Google Shape;236;p21"/>
              <p:cNvSpPr/>
              <p:nvPr/>
            </p:nvSpPr>
            <p:spPr>
              <a:xfrm>
                <a:off x="4883000" y="3904875"/>
                <a:ext cx="1141500" cy="11568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500" b="1"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AT</a:t>
                </a:r>
                <a:endParaRPr sz="2500" b="1"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237" name="Google Shape;237;p21"/>
              <p:cNvCxnSpPr/>
              <p:nvPr/>
            </p:nvCxnSpPr>
            <p:spPr>
              <a:xfrm>
                <a:off x="3401900" y="4483275"/>
                <a:ext cx="1481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238" name="Google Shape;238;p21"/>
              <p:cNvCxnSpPr/>
              <p:nvPr/>
            </p:nvCxnSpPr>
            <p:spPr>
              <a:xfrm>
                <a:off x="6024500" y="4483275"/>
                <a:ext cx="1481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239" name="Google Shape;239;p21"/>
            <p:cNvSpPr txBox="1"/>
            <p:nvPr/>
          </p:nvSpPr>
          <p:spPr>
            <a:xfrm>
              <a:off x="1094825" y="4129725"/>
              <a:ext cx="2496900" cy="8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latin typeface="Consolas" panose="020B0609020204030204" pitchFamily="49" charset="0"/>
                  <a:ea typeface="Consolas"/>
                  <a:cs typeface="Consolas"/>
                  <a:sym typeface="Consolas"/>
                </a:rPr>
                <a:t>Virtual Address</a:t>
              </a:r>
              <a:endParaRPr sz="2000" dirty="0"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rgbClr val="FF0000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rPr>
                <a:t>VA</a:t>
              </a:r>
              <a:endParaRPr sz="2000" dirty="0">
                <a:solidFill>
                  <a:srgbClr val="FF0000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240" name="Google Shape;240;p21"/>
            <p:cNvSpPr txBox="1"/>
            <p:nvPr/>
          </p:nvSpPr>
          <p:spPr>
            <a:xfrm>
              <a:off x="7793900" y="4129725"/>
              <a:ext cx="2679300" cy="8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latin typeface="Consolas" panose="020B0609020204030204" pitchFamily="49" charset="0"/>
                  <a:ea typeface="Consolas"/>
                  <a:cs typeface="Consolas"/>
                  <a:sym typeface="Consolas"/>
                </a:rPr>
                <a:t>Physical Address</a:t>
              </a:r>
              <a:endParaRPr sz="2000" dirty="0"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rgbClr val="FF0000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rPr>
                <a:t>PA</a:t>
              </a:r>
              <a:endParaRPr sz="2000" dirty="0">
                <a:solidFill>
                  <a:srgbClr val="FF0000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241" name="Google Shape;241;p21"/>
          <p:cNvGrpSpPr/>
          <p:nvPr/>
        </p:nvGrpSpPr>
        <p:grpSpPr>
          <a:xfrm>
            <a:off x="1452550" y="2566492"/>
            <a:ext cx="2514286" cy="1890706"/>
            <a:chOff x="1378950" y="2483639"/>
            <a:chExt cx="2514286" cy="1890706"/>
          </a:xfrm>
        </p:grpSpPr>
        <p:grpSp>
          <p:nvGrpSpPr>
            <p:cNvPr id="242" name="Google Shape;242;p21"/>
            <p:cNvGrpSpPr/>
            <p:nvPr/>
          </p:nvGrpSpPr>
          <p:grpSpPr>
            <a:xfrm>
              <a:off x="2957029" y="2483639"/>
              <a:ext cx="936207" cy="1890706"/>
              <a:chOff x="1775100" y="4022850"/>
              <a:chExt cx="1076100" cy="1739700"/>
            </a:xfrm>
          </p:grpSpPr>
          <p:sp>
            <p:nvSpPr>
              <p:cNvPr id="243" name="Google Shape;243;p21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onsolas" panose="020B0609020204030204" pitchFamily="49" charset="0"/>
                </a:endParaRPr>
              </a:p>
            </p:txBody>
          </p:sp>
          <p:grpSp>
            <p:nvGrpSpPr>
              <p:cNvPr id="244" name="Google Shape;244;p21"/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245" name="Google Shape;245;p21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 dirty="0" err="1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b="1" dirty="0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246" name="Google Shape;246;p21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47" name="Google Shape;247;p21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48" name="Google Shape;248;p21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dirty="0">
                    <a:latin typeface="Consolas" panose="020B0609020204030204" pitchFamily="49" charset="0"/>
                  </a:endParaRPr>
                </a:p>
              </p:txBody>
            </p:sp>
            <p:cxnSp>
              <p:nvCxnSpPr>
                <p:cNvPr id="249" name="Google Shape;249;p21"/>
                <p:cNvCxnSpPr>
                  <a:stCxn id="247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250" name="Google Shape;250;p21"/>
                <p:cNvCxnSpPr>
                  <a:stCxn id="248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sp>
          <p:nvSpPr>
            <p:cNvPr id="251" name="Google Shape;251;p21"/>
            <p:cNvSpPr/>
            <p:nvPr/>
          </p:nvSpPr>
          <p:spPr>
            <a:xfrm>
              <a:off x="1378950" y="3063450"/>
              <a:ext cx="731100" cy="7311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nsolas" panose="020B0609020204030204" pitchFamily="49" charset="0"/>
                  <a:ea typeface="Courier New"/>
                  <a:cs typeface="Courier New"/>
                  <a:sym typeface="Courier New"/>
                </a:rPr>
                <a:t>P</a:t>
              </a:r>
              <a:endParaRPr sz="1800">
                <a:latin typeface="Consolas" panose="020B0609020204030204" pitchFamily="49" charset="0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252" name="Google Shape;252;p21"/>
            <p:cNvCxnSpPr/>
            <p:nvPr/>
          </p:nvCxnSpPr>
          <p:spPr>
            <a:xfrm rot="10800000" flipH="1">
              <a:off x="1781475" y="2484825"/>
              <a:ext cx="1145100" cy="5334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253" name="Google Shape;253;p21"/>
            <p:cNvCxnSpPr/>
            <p:nvPr/>
          </p:nvCxnSpPr>
          <p:spPr>
            <a:xfrm>
              <a:off x="1779250" y="3833075"/>
              <a:ext cx="1138500" cy="5358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sp>
        <p:nvSpPr>
          <p:cNvPr id="254" name="Google Shape;254;p21"/>
          <p:cNvSpPr txBox="1"/>
          <p:nvPr/>
        </p:nvSpPr>
        <p:spPr>
          <a:xfrm>
            <a:off x="1936087" y="1986978"/>
            <a:ext cx="19758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Mapa de memoria</a:t>
            </a:r>
            <a:endParaRPr sz="1600" dirty="0"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</p:txBody>
      </p:sp>
      <p:grpSp>
        <p:nvGrpSpPr>
          <p:cNvPr id="255" name="Google Shape;255;p21"/>
          <p:cNvGrpSpPr/>
          <p:nvPr/>
        </p:nvGrpSpPr>
        <p:grpSpPr>
          <a:xfrm>
            <a:off x="9077100" y="2067328"/>
            <a:ext cx="822300" cy="2750411"/>
            <a:chOff x="8636788" y="1783150"/>
            <a:chExt cx="822300" cy="2750411"/>
          </a:xfrm>
        </p:grpSpPr>
        <p:sp>
          <p:nvSpPr>
            <p:cNvPr id="256" name="Google Shape;256;p21"/>
            <p:cNvSpPr/>
            <p:nvPr/>
          </p:nvSpPr>
          <p:spPr>
            <a:xfrm>
              <a:off x="8636788" y="1783161"/>
              <a:ext cx="822300" cy="2750400"/>
            </a:xfrm>
            <a:prstGeom prst="rect">
              <a:avLst/>
            </a:prstGeom>
            <a:solidFill>
              <a:srgbClr val="F3F3F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onsolas" panose="020B0609020204030204" pitchFamily="49" charset="0"/>
              </a:endParaRPr>
            </a:p>
          </p:txBody>
        </p:sp>
        <p:grpSp>
          <p:nvGrpSpPr>
            <p:cNvPr id="257" name="Google Shape;257;p21"/>
            <p:cNvGrpSpPr/>
            <p:nvPr/>
          </p:nvGrpSpPr>
          <p:grpSpPr>
            <a:xfrm>
              <a:off x="8644770" y="2674080"/>
              <a:ext cx="806322" cy="1056346"/>
              <a:chOff x="1775100" y="4022850"/>
              <a:chExt cx="1076100" cy="1739700"/>
            </a:xfrm>
          </p:grpSpPr>
          <p:sp>
            <p:nvSpPr>
              <p:cNvPr id="258" name="Google Shape;258;p21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onsolas" panose="020B0609020204030204" pitchFamily="49" charset="0"/>
                </a:endParaRPr>
              </a:p>
            </p:txBody>
          </p:sp>
          <p:grpSp>
            <p:nvGrpSpPr>
              <p:cNvPr id="259" name="Google Shape;259;p21"/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260" name="Google Shape;260;p21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1000" b="1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261" name="Google Shape;261;p21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 sz="160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62" name="Google Shape;262;p21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sz="160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63" name="Google Shape;263;p21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sz="1600" dirty="0">
                    <a:latin typeface="Consolas" panose="020B0609020204030204" pitchFamily="49" charset="0"/>
                  </a:endParaRPr>
                </a:p>
              </p:txBody>
            </p:sp>
            <p:cxnSp>
              <p:nvCxnSpPr>
                <p:cNvPr id="264" name="Google Shape;264;p21"/>
                <p:cNvCxnSpPr>
                  <a:stCxn id="262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265" name="Google Shape;265;p21"/>
                <p:cNvCxnSpPr>
                  <a:stCxn id="263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sp>
          <p:nvSpPr>
            <p:cNvPr id="266" name="Google Shape;266;p21"/>
            <p:cNvSpPr/>
            <p:nvPr/>
          </p:nvSpPr>
          <p:spPr>
            <a:xfrm>
              <a:off x="8636788" y="1783150"/>
              <a:ext cx="822300" cy="554100"/>
            </a:xfrm>
            <a:prstGeom prst="rect">
              <a:avLst/>
            </a:prstGeom>
            <a:solidFill>
              <a:srgbClr val="D9EAD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b="1">
                  <a:solidFill>
                    <a:schemeClr val="dk1"/>
                  </a:solidFill>
                  <a:latin typeface="Consolas" panose="020B0609020204030204" pitchFamily="49" charset="0"/>
                  <a:ea typeface="Courier New"/>
                  <a:cs typeface="Courier New"/>
                  <a:sym typeface="Courier New"/>
                </a:rPr>
                <a:t>OS</a:t>
              </a:r>
              <a:endParaRPr sz="1200" b="1">
                <a:solidFill>
                  <a:schemeClr val="dk1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endParaRPr>
            </a:p>
          </p:txBody>
        </p:sp>
      </p:grpSp>
      <p:cxnSp>
        <p:nvCxnSpPr>
          <p:cNvPr id="267" name="Google Shape;267;p21"/>
          <p:cNvCxnSpPr/>
          <p:nvPr/>
        </p:nvCxnSpPr>
        <p:spPr>
          <a:xfrm>
            <a:off x="4038987" y="2572603"/>
            <a:ext cx="4982700" cy="3750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68" name="Google Shape;268;p21"/>
          <p:cNvCxnSpPr/>
          <p:nvPr/>
        </p:nvCxnSpPr>
        <p:spPr>
          <a:xfrm rot="10800000" flipH="1">
            <a:off x="4038987" y="4019228"/>
            <a:ext cx="4982700" cy="4554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69" name="Google Shape;269;p21"/>
          <p:cNvSpPr txBox="1"/>
          <p:nvPr/>
        </p:nvSpPr>
        <p:spPr>
          <a:xfrm>
            <a:off x="2460612" y="2911903"/>
            <a:ext cx="344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800">
                <a:solidFill>
                  <a:srgbClr val="FF0000"/>
                </a:solidFill>
                <a:highlight>
                  <a:schemeClr val="lt1"/>
                </a:highlight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VA</a:t>
            </a:r>
            <a:endParaRPr sz="800">
              <a:solidFill>
                <a:srgbClr val="FF0000"/>
              </a:solidFill>
              <a:highlight>
                <a:schemeClr val="lt1"/>
              </a:highlight>
              <a:latin typeface="Consolas" panose="020B0609020204030204" pitchFamily="49" charset="0"/>
            </a:endParaRPr>
          </a:p>
        </p:txBody>
      </p:sp>
      <p:cxnSp>
        <p:nvCxnSpPr>
          <p:cNvPr id="270" name="Google Shape;270;p21"/>
          <p:cNvCxnSpPr>
            <a:stCxn id="246" idx="1"/>
          </p:cNvCxnSpPr>
          <p:nvPr/>
        </p:nvCxnSpPr>
        <p:spPr>
          <a:xfrm flipH="1">
            <a:off x="2804717" y="3064300"/>
            <a:ext cx="228000" cy="30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271" name="Google Shape;271;p21"/>
          <p:cNvSpPr txBox="1"/>
          <p:nvPr/>
        </p:nvSpPr>
        <p:spPr>
          <a:xfrm>
            <a:off x="8505012" y="3064303"/>
            <a:ext cx="344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800">
                <a:solidFill>
                  <a:schemeClr val="accent6"/>
                </a:solidFill>
                <a:highlight>
                  <a:schemeClr val="lt1"/>
                </a:highlight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PA</a:t>
            </a:r>
            <a:endParaRPr sz="800">
              <a:solidFill>
                <a:schemeClr val="accent6"/>
              </a:solidFill>
              <a:highlight>
                <a:schemeClr val="lt1"/>
              </a:highlight>
              <a:latin typeface="Consolas" panose="020B0609020204030204" pitchFamily="49" charset="0"/>
            </a:endParaRPr>
          </a:p>
        </p:txBody>
      </p:sp>
      <p:cxnSp>
        <p:nvCxnSpPr>
          <p:cNvPr id="272" name="Google Shape;272;p21"/>
          <p:cNvCxnSpPr/>
          <p:nvPr/>
        </p:nvCxnSpPr>
        <p:spPr>
          <a:xfrm flipH="1">
            <a:off x="8849117" y="3216700"/>
            <a:ext cx="228000" cy="300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273" name="Google Shape;273;p21"/>
          <p:cNvCxnSpPr/>
          <p:nvPr/>
        </p:nvCxnSpPr>
        <p:spPr>
          <a:xfrm>
            <a:off x="3966837" y="3074128"/>
            <a:ext cx="4538700" cy="1539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Memory Management Unit (MMU)</a:t>
            </a:r>
            <a:endParaRPr dirty="0"/>
          </a:p>
        </p:txBody>
      </p:sp>
      <p:grpSp>
        <p:nvGrpSpPr>
          <p:cNvPr id="280" name="Google Shape;280;p22"/>
          <p:cNvGrpSpPr/>
          <p:nvPr/>
        </p:nvGrpSpPr>
        <p:grpSpPr>
          <a:xfrm>
            <a:off x="1073647" y="1905200"/>
            <a:ext cx="3303251" cy="837000"/>
            <a:chOff x="3888184" y="3951525"/>
            <a:chExt cx="3303251" cy="837000"/>
          </a:xfrm>
        </p:grpSpPr>
        <p:grpSp>
          <p:nvGrpSpPr>
            <p:cNvPr id="281" name="Google Shape;281;p22"/>
            <p:cNvGrpSpPr/>
            <p:nvPr/>
          </p:nvGrpSpPr>
          <p:grpSpPr>
            <a:xfrm>
              <a:off x="4480388" y="3951525"/>
              <a:ext cx="2082238" cy="837000"/>
              <a:chOff x="4290563" y="3904875"/>
              <a:chExt cx="2082238" cy="837000"/>
            </a:xfrm>
          </p:grpSpPr>
          <p:sp>
            <p:nvSpPr>
              <p:cNvPr id="282" name="Google Shape;282;p22"/>
              <p:cNvSpPr/>
              <p:nvPr/>
            </p:nvSpPr>
            <p:spPr>
              <a:xfrm>
                <a:off x="4883000" y="3904875"/>
                <a:ext cx="806400" cy="8370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500" b="1">
                    <a:latin typeface="Consolas"/>
                    <a:ea typeface="Consolas"/>
                    <a:cs typeface="Consolas"/>
                    <a:sym typeface="Consolas"/>
                  </a:rPr>
                  <a:t>AT</a:t>
                </a:r>
                <a:endParaRPr sz="25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283" name="Google Shape;283;p22"/>
              <p:cNvCxnSpPr/>
              <p:nvPr/>
            </p:nvCxnSpPr>
            <p:spPr>
              <a:xfrm rot="10800000" flipH="1">
                <a:off x="4290563" y="4323325"/>
                <a:ext cx="592200" cy="78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284" name="Google Shape;284;p22"/>
              <p:cNvCxnSpPr/>
              <p:nvPr/>
            </p:nvCxnSpPr>
            <p:spPr>
              <a:xfrm>
                <a:off x="5689400" y="4323375"/>
                <a:ext cx="683400" cy="168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285" name="Google Shape;285;p22"/>
            <p:cNvSpPr txBox="1"/>
            <p:nvPr/>
          </p:nvSpPr>
          <p:spPr>
            <a:xfrm>
              <a:off x="3888184" y="4129725"/>
              <a:ext cx="5922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2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286" name="Google Shape;286;p22"/>
            <p:cNvSpPr txBox="1"/>
            <p:nvPr/>
          </p:nvSpPr>
          <p:spPr>
            <a:xfrm>
              <a:off x="6562635" y="4129725"/>
              <a:ext cx="6288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2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287" name="Google Shape;287;p22"/>
          <p:cNvGrpSpPr/>
          <p:nvPr/>
        </p:nvGrpSpPr>
        <p:grpSpPr>
          <a:xfrm>
            <a:off x="1497041" y="3271320"/>
            <a:ext cx="2340362" cy="3256628"/>
            <a:chOff x="8005450" y="1566825"/>
            <a:chExt cx="3308400" cy="4491900"/>
          </a:xfrm>
        </p:grpSpPr>
        <p:sp>
          <p:nvSpPr>
            <p:cNvPr id="288" name="Google Shape;288;p22"/>
            <p:cNvSpPr/>
            <p:nvPr/>
          </p:nvSpPr>
          <p:spPr>
            <a:xfrm>
              <a:off x="8005450" y="1566825"/>
              <a:ext cx="3308400" cy="44919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89" name="Google Shape;289;p22"/>
            <p:cNvSpPr txBox="1"/>
            <p:nvPr/>
          </p:nvSpPr>
          <p:spPr>
            <a:xfrm>
              <a:off x="8597250" y="1637048"/>
              <a:ext cx="2103000" cy="67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CPU Chip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290" name="Google Shape;290;p22"/>
            <p:cNvGrpSpPr/>
            <p:nvPr/>
          </p:nvGrpSpPr>
          <p:grpSpPr>
            <a:xfrm>
              <a:off x="8597250" y="2266040"/>
              <a:ext cx="2103000" cy="3319698"/>
              <a:chOff x="8597250" y="2266040"/>
              <a:chExt cx="2103000" cy="3319698"/>
            </a:xfrm>
          </p:grpSpPr>
          <p:sp>
            <p:nvSpPr>
              <p:cNvPr id="291" name="Google Shape;291;p22"/>
              <p:cNvSpPr/>
              <p:nvPr/>
            </p:nvSpPr>
            <p:spPr>
              <a:xfrm>
                <a:off x="9070955" y="2266040"/>
                <a:ext cx="1154773" cy="1135512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b="1" dirty="0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b="1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292" name="Google Shape;292;p22"/>
              <p:cNvCxnSpPr>
                <a:cxnSpLocks/>
                <a:stCxn id="291" idx="4"/>
                <a:endCxn id="293" idx="0"/>
              </p:cNvCxnSpPr>
              <p:nvPr/>
            </p:nvCxnSpPr>
            <p:spPr>
              <a:xfrm>
                <a:off x="9648341" y="3401552"/>
                <a:ext cx="409" cy="472986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294" name="Google Shape;294;p22"/>
              <p:cNvGrpSpPr/>
              <p:nvPr/>
            </p:nvGrpSpPr>
            <p:grpSpPr>
              <a:xfrm>
                <a:off x="8597250" y="3859512"/>
                <a:ext cx="2103000" cy="1726226"/>
                <a:chOff x="8597250" y="3859512"/>
                <a:chExt cx="2103000" cy="1726226"/>
              </a:xfrm>
            </p:grpSpPr>
            <p:sp>
              <p:nvSpPr>
                <p:cNvPr id="293" name="Google Shape;293;p22"/>
                <p:cNvSpPr/>
                <p:nvPr/>
              </p:nvSpPr>
              <p:spPr>
                <a:xfrm>
                  <a:off x="8597250" y="3874538"/>
                  <a:ext cx="2103000" cy="1711200"/>
                </a:xfrm>
                <a:prstGeom prst="rect">
                  <a:avLst/>
                </a:prstGeom>
                <a:solidFill>
                  <a:srgbClr val="B6D7A8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295" name="Google Shape;295;p22"/>
                <p:cNvSpPr txBox="1"/>
                <p:nvPr/>
              </p:nvSpPr>
              <p:spPr>
                <a:xfrm>
                  <a:off x="9216101" y="3859512"/>
                  <a:ext cx="887099" cy="552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MMU</a:t>
                  </a:r>
                  <a:endParaRPr sz="800" b="1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</p:grpSp>
      </p:grpSp>
      <p:grpSp>
        <p:nvGrpSpPr>
          <p:cNvPr id="296" name="Google Shape;296;p22"/>
          <p:cNvGrpSpPr/>
          <p:nvPr/>
        </p:nvGrpSpPr>
        <p:grpSpPr>
          <a:xfrm>
            <a:off x="5011325" y="2822807"/>
            <a:ext cx="5697031" cy="3579418"/>
            <a:chOff x="5011325" y="2822807"/>
            <a:chExt cx="5697031" cy="3579418"/>
          </a:xfrm>
        </p:grpSpPr>
        <p:grpSp>
          <p:nvGrpSpPr>
            <p:cNvPr id="297" name="Google Shape;297;p22"/>
            <p:cNvGrpSpPr/>
            <p:nvPr/>
          </p:nvGrpSpPr>
          <p:grpSpPr>
            <a:xfrm>
              <a:off x="5011325" y="3483959"/>
              <a:ext cx="5534125" cy="2918266"/>
              <a:chOff x="4509800" y="3269609"/>
              <a:chExt cx="5534125" cy="2918266"/>
            </a:xfrm>
          </p:grpSpPr>
          <p:sp>
            <p:nvSpPr>
              <p:cNvPr id="298" name="Google Shape;298;p22"/>
              <p:cNvSpPr/>
              <p:nvPr/>
            </p:nvSpPr>
            <p:spPr>
              <a:xfrm>
                <a:off x="4509800" y="3771125"/>
                <a:ext cx="3114300" cy="1492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30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299" name="Google Shape;299;p22"/>
              <p:cNvSpPr txBox="1"/>
              <p:nvPr/>
            </p:nvSpPr>
            <p:spPr>
              <a:xfrm>
                <a:off x="5304016" y="3269609"/>
                <a:ext cx="14877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 dirty="0">
                    <a:solidFill>
                      <a:srgbClr val="999999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CPU Chip</a:t>
                </a:r>
                <a:endParaRPr sz="2000" b="1" dirty="0">
                  <a:solidFill>
                    <a:srgbClr val="999999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300" name="Google Shape;300;p22"/>
              <p:cNvSpPr/>
              <p:nvPr/>
            </p:nvSpPr>
            <p:spPr>
              <a:xfrm>
                <a:off x="4609887" y="4106504"/>
                <a:ext cx="814475" cy="868441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b="1" dirty="0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b="1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301" name="Google Shape;301;p22"/>
              <p:cNvCxnSpPr>
                <a:cxnSpLocks/>
                <a:stCxn id="300" idx="6"/>
                <a:endCxn id="302" idx="1"/>
              </p:cNvCxnSpPr>
              <p:nvPr/>
            </p:nvCxnSpPr>
            <p:spPr>
              <a:xfrm>
                <a:off x="5424362" y="4540725"/>
                <a:ext cx="1164901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303" name="Google Shape;303;p22"/>
              <p:cNvGrpSpPr/>
              <p:nvPr/>
            </p:nvGrpSpPr>
            <p:grpSpPr>
              <a:xfrm>
                <a:off x="6589263" y="4076924"/>
                <a:ext cx="895500" cy="882301"/>
                <a:chOff x="6589263" y="4076924"/>
                <a:chExt cx="895500" cy="882301"/>
              </a:xfrm>
            </p:grpSpPr>
            <p:sp>
              <p:nvSpPr>
                <p:cNvPr id="302" name="Google Shape;302;p22"/>
                <p:cNvSpPr/>
                <p:nvPr/>
              </p:nvSpPr>
              <p:spPr>
                <a:xfrm>
                  <a:off x="6589263" y="4122225"/>
                  <a:ext cx="895500" cy="837000"/>
                </a:xfrm>
                <a:prstGeom prst="rect">
                  <a:avLst/>
                </a:prstGeom>
                <a:solidFill>
                  <a:srgbClr val="B6D7A8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304" name="Google Shape;304;p22"/>
                <p:cNvSpPr txBox="1"/>
                <p:nvPr/>
              </p:nvSpPr>
              <p:spPr>
                <a:xfrm>
                  <a:off x="6715363" y="4076924"/>
                  <a:ext cx="627600" cy="40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MMU</a:t>
                  </a:r>
                  <a:endParaRPr sz="800" b="1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cxnSp>
            <p:nvCxnSpPr>
              <p:cNvPr id="305" name="Google Shape;305;p22"/>
              <p:cNvCxnSpPr>
                <a:stCxn id="302" idx="3"/>
              </p:cNvCxnSpPr>
              <p:nvPr/>
            </p:nvCxnSpPr>
            <p:spPr>
              <a:xfrm>
                <a:off x="7484763" y="4540725"/>
                <a:ext cx="1428000" cy="9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306" name="Google Shape;306;p22"/>
              <p:cNvGrpSpPr/>
              <p:nvPr/>
            </p:nvGrpSpPr>
            <p:grpSpPr>
              <a:xfrm>
                <a:off x="8918625" y="3347575"/>
                <a:ext cx="1125300" cy="2339900"/>
                <a:chOff x="2625425" y="3871775"/>
                <a:chExt cx="1125300" cy="2339900"/>
              </a:xfrm>
            </p:grpSpPr>
            <p:grpSp>
              <p:nvGrpSpPr>
                <p:cNvPr id="307" name="Google Shape;307;p22"/>
                <p:cNvGrpSpPr/>
                <p:nvPr/>
              </p:nvGrpSpPr>
              <p:grpSpPr>
                <a:xfrm>
                  <a:off x="2626525" y="4273149"/>
                  <a:ext cx="1124200" cy="1619400"/>
                  <a:chOff x="2626525" y="4273149"/>
                  <a:chExt cx="1124200" cy="1619400"/>
                </a:xfrm>
              </p:grpSpPr>
              <p:sp>
                <p:nvSpPr>
                  <p:cNvPr id="308" name="Google Shape;308;p22"/>
                  <p:cNvSpPr/>
                  <p:nvPr/>
                </p:nvSpPr>
                <p:spPr>
                  <a:xfrm>
                    <a:off x="2626525" y="4273149"/>
                    <a:ext cx="1122000" cy="1619400"/>
                  </a:xfrm>
                  <a:prstGeom prst="rect">
                    <a:avLst/>
                  </a:prstGeom>
                  <a:solidFill>
                    <a:srgbClr val="EFEFEF"/>
                  </a:solidFill>
                  <a:ln w="19050" cap="flat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9" name="Google Shape;309;p22"/>
                  <p:cNvSpPr/>
                  <p:nvPr/>
                </p:nvSpPr>
                <p:spPr>
                  <a:xfrm>
                    <a:off x="2628725" y="4801224"/>
                    <a:ext cx="1122000" cy="583200"/>
                  </a:xfrm>
                  <a:prstGeom prst="rect">
                    <a:avLst/>
                  </a:prstGeom>
                  <a:solidFill>
                    <a:srgbClr val="D9D9D9"/>
                  </a:solidFill>
                  <a:ln w="19050" cap="flat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200"/>
                  </a:p>
                </p:txBody>
              </p:sp>
            </p:grpSp>
            <p:cxnSp>
              <p:nvCxnSpPr>
                <p:cNvPr id="310" name="Google Shape;310;p22"/>
                <p:cNvCxnSpPr/>
                <p:nvPr/>
              </p:nvCxnSpPr>
              <p:spPr>
                <a:xfrm rot="10800000">
                  <a:off x="2625425" y="3872500"/>
                  <a:ext cx="0" cy="466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11" name="Google Shape;311;p22"/>
                <p:cNvCxnSpPr/>
                <p:nvPr/>
              </p:nvCxnSpPr>
              <p:spPr>
                <a:xfrm rot="10800000">
                  <a:off x="2627600" y="5745175"/>
                  <a:ext cx="0" cy="466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12" name="Google Shape;312;p22"/>
                <p:cNvCxnSpPr/>
                <p:nvPr/>
              </p:nvCxnSpPr>
              <p:spPr>
                <a:xfrm rot="10800000">
                  <a:off x="3749525" y="5745175"/>
                  <a:ext cx="0" cy="466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13" name="Google Shape;313;p22"/>
                <p:cNvCxnSpPr/>
                <p:nvPr/>
              </p:nvCxnSpPr>
              <p:spPr>
                <a:xfrm rot="10800000">
                  <a:off x="3748600" y="3871775"/>
                  <a:ext cx="0" cy="466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14" name="Google Shape;314;p22"/>
              <p:cNvSpPr txBox="1"/>
              <p:nvPr/>
            </p:nvSpPr>
            <p:spPr>
              <a:xfrm>
                <a:off x="5356900" y="4122225"/>
                <a:ext cx="11532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 dirty="0">
                    <a:latin typeface="Consolas"/>
                    <a:ea typeface="Consolas"/>
                    <a:cs typeface="Consolas"/>
                    <a:sym typeface="Consolas"/>
                  </a:rPr>
                  <a:t>Virtual Address (VA)</a:t>
                </a:r>
                <a:endParaRPr sz="1000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315" name="Google Shape;315;p22"/>
              <p:cNvSpPr txBox="1"/>
              <p:nvPr/>
            </p:nvSpPr>
            <p:spPr>
              <a:xfrm>
                <a:off x="7569875" y="4122225"/>
                <a:ext cx="13428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 dirty="0">
                    <a:latin typeface="Consolas"/>
                    <a:ea typeface="Consolas"/>
                    <a:cs typeface="Consolas"/>
                    <a:sym typeface="Consolas"/>
                  </a:rPr>
                  <a:t>Physical</a:t>
                </a:r>
                <a:endParaRPr sz="1000" dirty="0">
                  <a:latin typeface="Consolas"/>
                  <a:ea typeface="Consolas"/>
                  <a:cs typeface="Consolas"/>
                  <a:sym typeface="Consolas"/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 dirty="0">
                    <a:latin typeface="Consolas"/>
                    <a:ea typeface="Consolas"/>
                    <a:cs typeface="Consolas"/>
                    <a:sym typeface="Consolas"/>
                  </a:rPr>
                  <a:t>Address (PA)</a:t>
                </a:r>
                <a:endParaRPr sz="1000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316" name="Google Shape;316;p22"/>
              <p:cNvCxnSpPr>
                <a:stCxn id="309" idx="3"/>
              </p:cNvCxnSpPr>
              <p:nvPr/>
            </p:nvCxnSpPr>
            <p:spPr>
              <a:xfrm flipH="1">
                <a:off x="5017125" y="4568624"/>
                <a:ext cx="5026800" cy="1581900"/>
              </a:xfrm>
              <a:prstGeom prst="bentConnector3">
                <a:avLst>
                  <a:gd name="adj1" fmla="val -4737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7" name="Google Shape;317;p22"/>
              <p:cNvCxnSpPr>
                <a:cxnSpLocks/>
                <a:endCxn id="300" idx="4"/>
              </p:cNvCxnSpPr>
              <p:nvPr/>
            </p:nvCxnSpPr>
            <p:spPr>
              <a:xfrm flipV="1">
                <a:off x="5017125" y="4974945"/>
                <a:ext cx="0" cy="1175579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318" name="Google Shape;318;p22"/>
              <p:cNvSpPr txBox="1"/>
              <p:nvPr/>
            </p:nvSpPr>
            <p:spPr>
              <a:xfrm>
                <a:off x="7089575" y="5849175"/>
                <a:ext cx="1342800" cy="33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>
                    <a:latin typeface="Consolas"/>
                    <a:ea typeface="Consolas"/>
                    <a:cs typeface="Consolas"/>
                    <a:sym typeface="Consolas"/>
                  </a:rPr>
                  <a:t>Data word</a:t>
                </a:r>
                <a:endParaRPr sz="100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  <p:sp>
          <p:nvSpPr>
            <p:cNvPr id="319" name="Google Shape;319;p22"/>
            <p:cNvSpPr txBox="1"/>
            <p:nvPr/>
          </p:nvSpPr>
          <p:spPr>
            <a:xfrm>
              <a:off x="9220656" y="2822807"/>
              <a:ext cx="1487700" cy="8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solidFill>
                    <a:srgbClr val="999999"/>
                  </a:solidFill>
                  <a:latin typeface="Consolas"/>
                  <a:ea typeface="Consolas"/>
                  <a:cs typeface="Consolas"/>
                  <a:sym typeface="Consolas"/>
                </a:rPr>
                <a:t>Physical Memory</a:t>
              </a:r>
              <a:endParaRPr sz="2000" b="1" dirty="0">
                <a:solidFill>
                  <a:srgbClr val="999999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3"/>
          <p:cNvSpPr txBox="1">
            <a:spLocks noGrp="1"/>
          </p:cNvSpPr>
          <p:nvPr>
            <p:ph type="title"/>
          </p:nvPr>
        </p:nvSpPr>
        <p:spPr>
          <a:xfrm>
            <a:off x="486697" y="365125"/>
            <a:ext cx="11385755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– Dynamic Relocation (Base &amp; Bounds)</a:t>
            </a:r>
            <a:endParaRPr dirty="0"/>
          </a:p>
        </p:txBody>
      </p:sp>
      <p:grpSp>
        <p:nvGrpSpPr>
          <p:cNvPr id="326" name="Google Shape;326;p23"/>
          <p:cNvGrpSpPr/>
          <p:nvPr/>
        </p:nvGrpSpPr>
        <p:grpSpPr>
          <a:xfrm>
            <a:off x="1041791" y="2411220"/>
            <a:ext cx="2340362" cy="3256628"/>
            <a:chOff x="8005450" y="1566825"/>
            <a:chExt cx="3308400" cy="4491900"/>
          </a:xfrm>
        </p:grpSpPr>
        <p:sp>
          <p:nvSpPr>
            <p:cNvPr id="327" name="Google Shape;327;p23"/>
            <p:cNvSpPr/>
            <p:nvPr/>
          </p:nvSpPr>
          <p:spPr>
            <a:xfrm>
              <a:off x="8005450" y="1566825"/>
              <a:ext cx="3308400" cy="44919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28" name="Google Shape;328;p23"/>
            <p:cNvSpPr txBox="1"/>
            <p:nvPr/>
          </p:nvSpPr>
          <p:spPr>
            <a:xfrm>
              <a:off x="8597250" y="1637048"/>
              <a:ext cx="2103000" cy="67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CPU Chip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329" name="Google Shape;329;p23"/>
            <p:cNvGrpSpPr/>
            <p:nvPr/>
          </p:nvGrpSpPr>
          <p:grpSpPr>
            <a:xfrm>
              <a:off x="8597250" y="2206328"/>
              <a:ext cx="2103000" cy="3222847"/>
              <a:chOff x="8597250" y="2206328"/>
              <a:chExt cx="2103000" cy="3222847"/>
            </a:xfrm>
          </p:grpSpPr>
          <p:sp>
            <p:nvSpPr>
              <p:cNvPr id="330" name="Google Shape;330;p23"/>
              <p:cNvSpPr/>
              <p:nvPr/>
            </p:nvSpPr>
            <p:spPr>
              <a:xfrm>
                <a:off x="9075084" y="2206328"/>
                <a:ext cx="1133153" cy="1090343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b="1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331" name="Google Shape;331;p23"/>
              <p:cNvCxnSpPr>
                <a:cxnSpLocks/>
                <a:stCxn id="330" idx="4"/>
                <a:endCxn id="332" idx="0"/>
              </p:cNvCxnSpPr>
              <p:nvPr/>
            </p:nvCxnSpPr>
            <p:spPr>
              <a:xfrm>
                <a:off x="9641661" y="3296671"/>
                <a:ext cx="7089" cy="421303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333" name="Google Shape;333;p23"/>
              <p:cNvGrpSpPr/>
              <p:nvPr/>
            </p:nvGrpSpPr>
            <p:grpSpPr>
              <a:xfrm>
                <a:off x="8597250" y="3717975"/>
                <a:ext cx="2103000" cy="1711200"/>
                <a:chOff x="8597250" y="3717975"/>
                <a:chExt cx="2103000" cy="1711200"/>
              </a:xfrm>
            </p:grpSpPr>
            <p:sp>
              <p:nvSpPr>
                <p:cNvPr id="332" name="Google Shape;332;p23"/>
                <p:cNvSpPr/>
                <p:nvPr/>
              </p:nvSpPr>
              <p:spPr>
                <a:xfrm>
                  <a:off x="8597250" y="3717975"/>
                  <a:ext cx="2103000" cy="1711200"/>
                </a:xfrm>
                <a:prstGeom prst="rect">
                  <a:avLst/>
                </a:prstGeom>
                <a:solidFill>
                  <a:srgbClr val="B6D7A8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334" name="Google Shape;334;p23"/>
                <p:cNvSpPr txBox="1"/>
                <p:nvPr/>
              </p:nvSpPr>
              <p:spPr>
                <a:xfrm>
                  <a:off x="9216100" y="3718050"/>
                  <a:ext cx="887100" cy="552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MMU</a:t>
                  </a:r>
                  <a:endParaRPr sz="800" b="1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</p:grpSp>
      </p:grpSp>
      <p:grpSp>
        <p:nvGrpSpPr>
          <p:cNvPr id="335" name="Google Shape;335;p23"/>
          <p:cNvGrpSpPr/>
          <p:nvPr/>
        </p:nvGrpSpPr>
        <p:grpSpPr>
          <a:xfrm>
            <a:off x="4119750" y="2100082"/>
            <a:ext cx="7362256" cy="4003568"/>
            <a:chOff x="4318025" y="1831832"/>
            <a:chExt cx="7362256" cy="4003568"/>
          </a:xfrm>
        </p:grpSpPr>
        <p:sp>
          <p:nvSpPr>
            <p:cNvPr id="336" name="Google Shape;336;p23"/>
            <p:cNvSpPr/>
            <p:nvPr/>
          </p:nvSpPr>
          <p:spPr>
            <a:xfrm>
              <a:off x="4318025" y="2383200"/>
              <a:ext cx="4962000" cy="30651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37" name="Google Shape;337;p23"/>
            <p:cNvSpPr txBox="1"/>
            <p:nvPr/>
          </p:nvSpPr>
          <p:spPr>
            <a:xfrm>
              <a:off x="6055175" y="1842573"/>
              <a:ext cx="14877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solidFill>
                    <a:srgbClr val="999999"/>
                  </a:solidFill>
                  <a:latin typeface="Consolas"/>
                  <a:ea typeface="Consolas"/>
                  <a:cs typeface="Consolas"/>
                  <a:sym typeface="Consolas"/>
                </a:rPr>
                <a:t>CPU Chip</a:t>
              </a:r>
              <a:endParaRPr sz="2000" b="1" dirty="0">
                <a:solidFill>
                  <a:srgbClr val="999999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38" name="Google Shape;338;p23"/>
            <p:cNvSpPr/>
            <p:nvPr/>
          </p:nvSpPr>
          <p:spPr>
            <a:xfrm>
              <a:off x="4447450" y="3642573"/>
              <a:ext cx="820000" cy="838199"/>
            </a:xfrm>
            <a:prstGeom prst="ellipse">
              <a:avLst/>
            </a:prstGeom>
            <a:solidFill>
              <a:srgbClr val="EA99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 dirty="0">
                  <a:latin typeface="Consolas"/>
                  <a:ea typeface="Consolas"/>
                  <a:cs typeface="Consolas"/>
                  <a:sym typeface="Consolas"/>
                </a:rPr>
                <a:t>CPU</a:t>
              </a:r>
              <a:endParaRPr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39" name="Google Shape;339;p23"/>
            <p:cNvSpPr/>
            <p:nvPr/>
          </p:nvSpPr>
          <p:spPr>
            <a:xfrm>
              <a:off x="6303425" y="2654100"/>
              <a:ext cx="2720100" cy="2578800"/>
            </a:xfrm>
            <a:prstGeom prst="rect">
              <a:avLst/>
            </a:prstGeom>
            <a:solidFill>
              <a:srgbClr val="B6D7A8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40" name="Google Shape;340;p23"/>
            <p:cNvSpPr txBox="1"/>
            <p:nvPr/>
          </p:nvSpPr>
          <p:spPr>
            <a:xfrm>
              <a:off x="7487305" y="2654096"/>
              <a:ext cx="627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MMU</a:t>
              </a:r>
              <a:endParaRPr sz="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341" name="Google Shape;341;p23"/>
            <p:cNvGrpSpPr/>
            <p:nvPr/>
          </p:nvGrpSpPr>
          <p:grpSpPr>
            <a:xfrm>
              <a:off x="10394675" y="2823350"/>
              <a:ext cx="1125300" cy="2339900"/>
              <a:chOff x="2625425" y="3871775"/>
              <a:chExt cx="1125300" cy="2339900"/>
            </a:xfrm>
          </p:grpSpPr>
          <p:grpSp>
            <p:nvGrpSpPr>
              <p:cNvPr id="342" name="Google Shape;342;p23"/>
              <p:cNvGrpSpPr/>
              <p:nvPr/>
            </p:nvGrpSpPr>
            <p:grpSpPr>
              <a:xfrm>
                <a:off x="2626525" y="4273149"/>
                <a:ext cx="1124200" cy="1619400"/>
                <a:chOff x="2626525" y="4273149"/>
                <a:chExt cx="1124200" cy="1619400"/>
              </a:xfrm>
            </p:grpSpPr>
            <p:sp>
              <p:nvSpPr>
                <p:cNvPr id="343" name="Google Shape;343;p23"/>
                <p:cNvSpPr/>
                <p:nvPr/>
              </p:nvSpPr>
              <p:spPr>
                <a:xfrm>
                  <a:off x="2626525" y="4273149"/>
                  <a:ext cx="1122000" cy="1619400"/>
                </a:xfrm>
                <a:prstGeom prst="rect">
                  <a:avLst/>
                </a:prstGeom>
                <a:solidFill>
                  <a:srgbClr val="EFEFEF"/>
                </a:solidFill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4" name="Google Shape;344;p23"/>
                <p:cNvSpPr/>
                <p:nvPr/>
              </p:nvSpPr>
              <p:spPr>
                <a:xfrm>
                  <a:off x="2628725" y="4801224"/>
                  <a:ext cx="1122000" cy="583200"/>
                </a:xfrm>
                <a:prstGeom prst="rect">
                  <a:avLst/>
                </a:prstGeom>
                <a:solidFill>
                  <a:srgbClr val="D9D9D9"/>
                </a:solidFill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200"/>
                </a:p>
              </p:txBody>
            </p:sp>
          </p:grpSp>
          <p:cxnSp>
            <p:nvCxnSpPr>
              <p:cNvPr id="345" name="Google Shape;345;p23"/>
              <p:cNvCxnSpPr/>
              <p:nvPr/>
            </p:nvCxnSpPr>
            <p:spPr>
              <a:xfrm rot="10800000">
                <a:off x="2625425" y="3872500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6" name="Google Shape;346;p23"/>
              <p:cNvCxnSpPr/>
              <p:nvPr/>
            </p:nvCxnSpPr>
            <p:spPr>
              <a:xfrm rot="10800000">
                <a:off x="2627600" y="57451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7" name="Google Shape;347;p23"/>
              <p:cNvCxnSpPr/>
              <p:nvPr/>
            </p:nvCxnSpPr>
            <p:spPr>
              <a:xfrm rot="10800000">
                <a:off x="3749525" y="57451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8" name="Google Shape;348;p23"/>
              <p:cNvCxnSpPr/>
              <p:nvPr/>
            </p:nvCxnSpPr>
            <p:spPr>
              <a:xfrm rot="10800000">
                <a:off x="3748600" y="38717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349" name="Google Shape;349;p23"/>
            <p:cNvSpPr txBox="1"/>
            <p:nvPr/>
          </p:nvSpPr>
          <p:spPr>
            <a:xfrm>
              <a:off x="5150225" y="3641600"/>
              <a:ext cx="11532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dirty="0">
                  <a:latin typeface="Consolas"/>
                  <a:ea typeface="Consolas"/>
                  <a:cs typeface="Consolas"/>
                  <a:sym typeface="Consolas"/>
                </a:rPr>
                <a:t>Virtual Address (VA)</a:t>
              </a:r>
              <a:endParaRPr sz="1000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50" name="Google Shape;350;p23"/>
            <p:cNvSpPr txBox="1"/>
            <p:nvPr/>
          </p:nvSpPr>
          <p:spPr>
            <a:xfrm>
              <a:off x="9139000" y="3542075"/>
              <a:ext cx="13428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dirty="0">
                  <a:latin typeface="Consolas"/>
                  <a:ea typeface="Consolas"/>
                  <a:cs typeface="Consolas"/>
                  <a:sym typeface="Consolas"/>
                </a:rPr>
                <a:t>Physical</a:t>
              </a:r>
              <a:endParaRPr sz="10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dirty="0">
                  <a:latin typeface="Consolas"/>
                  <a:ea typeface="Consolas"/>
                  <a:cs typeface="Consolas"/>
                  <a:sym typeface="Consolas"/>
                </a:rPr>
                <a:t>Address (PA)</a:t>
              </a:r>
              <a:endParaRPr sz="1000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51" name="Google Shape;351;p23"/>
            <p:cNvSpPr txBox="1"/>
            <p:nvPr/>
          </p:nvSpPr>
          <p:spPr>
            <a:xfrm>
              <a:off x="7583825" y="5496700"/>
              <a:ext cx="13428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latin typeface="Consolas"/>
                  <a:ea typeface="Consolas"/>
                  <a:cs typeface="Consolas"/>
                  <a:sym typeface="Consolas"/>
                </a:rPr>
                <a:t>Data word</a:t>
              </a:r>
              <a:endParaRPr sz="1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352" name="Google Shape;352;p23"/>
            <p:cNvGrpSpPr/>
            <p:nvPr/>
          </p:nvGrpSpPr>
          <p:grpSpPr>
            <a:xfrm>
              <a:off x="5267450" y="3110700"/>
              <a:ext cx="5130500" cy="2052650"/>
              <a:chOff x="4902475" y="4250500"/>
              <a:chExt cx="5130500" cy="2052650"/>
            </a:xfrm>
          </p:grpSpPr>
          <p:grpSp>
            <p:nvGrpSpPr>
              <p:cNvPr id="353" name="Google Shape;353;p23"/>
              <p:cNvGrpSpPr/>
              <p:nvPr/>
            </p:nvGrpSpPr>
            <p:grpSpPr>
              <a:xfrm>
                <a:off x="4902475" y="4250500"/>
                <a:ext cx="5130500" cy="2052650"/>
                <a:chOff x="4768525" y="4089750"/>
                <a:chExt cx="5130500" cy="2052650"/>
              </a:xfrm>
            </p:grpSpPr>
            <p:sp>
              <p:nvSpPr>
                <p:cNvPr id="354" name="Google Shape;354;p23"/>
                <p:cNvSpPr/>
                <p:nvPr/>
              </p:nvSpPr>
              <p:spPr>
                <a:xfrm>
                  <a:off x="7578075" y="4089750"/>
                  <a:ext cx="819600" cy="3297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base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355" name="Google Shape;355;p23"/>
                <p:cNvSpPr/>
                <p:nvPr/>
              </p:nvSpPr>
              <p:spPr>
                <a:xfrm>
                  <a:off x="6393600" y="4101500"/>
                  <a:ext cx="819600" cy="3297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 dirty="0">
                      <a:latin typeface="Consolas"/>
                      <a:ea typeface="Consolas"/>
                      <a:cs typeface="Consolas"/>
                      <a:sym typeface="Consolas"/>
                    </a:rPr>
                    <a:t>bounds</a:t>
                  </a:r>
                  <a:endParaRPr sz="1200" b="1" dirty="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356" name="Google Shape;356;p23"/>
                <p:cNvSpPr/>
                <p:nvPr/>
              </p:nvSpPr>
              <p:spPr>
                <a:xfrm>
                  <a:off x="6456900" y="4843400"/>
                  <a:ext cx="699600" cy="390300"/>
                </a:xfrm>
                <a:prstGeom prst="flowChartDecision">
                  <a:avLst/>
                </a:prstGeom>
                <a:solidFill>
                  <a:schemeClr val="lt2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>
                      <a:latin typeface="Consolas"/>
                      <a:ea typeface="Consolas"/>
                      <a:cs typeface="Consolas"/>
                      <a:sym typeface="Consolas"/>
                    </a:rPr>
                    <a:t>&lt;</a:t>
                  </a:r>
                  <a:endParaRPr sz="160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357" name="Google Shape;357;p23"/>
                <p:cNvSpPr/>
                <p:nvPr/>
              </p:nvSpPr>
              <p:spPr>
                <a:xfrm>
                  <a:off x="7787325" y="4821548"/>
                  <a:ext cx="415500" cy="431100"/>
                </a:xfrm>
                <a:prstGeom prst="ellipse">
                  <a:avLst/>
                </a:prstGeom>
                <a:solidFill>
                  <a:schemeClr val="lt2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>
                      <a:latin typeface="Consolas"/>
                      <a:ea typeface="Consolas"/>
                      <a:cs typeface="Consolas"/>
                      <a:sym typeface="Consolas"/>
                    </a:rPr>
                    <a:t>+</a:t>
                  </a:r>
                  <a:endParaRPr sz="1000"/>
                </a:p>
              </p:txBody>
            </p:sp>
            <p:cxnSp>
              <p:nvCxnSpPr>
                <p:cNvPr id="358" name="Google Shape;358;p23"/>
                <p:cNvCxnSpPr>
                  <a:cxnSpLocks/>
                  <a:stCxn id="338" idx="6"/>
                  <a:endCxn id="356" idx="1"/>
                </p:cNvCxnSpPr>
                <p:nvPr/>
              </p:nvCxnSpPr>
              <p:spPr>
                <a:xfrm flipV="1">
                  <a:off x="4768525" y="5038550"/>
                  <a:ext cx="1688375" cy="2173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359" name="Google Shape;359;p23"/>
                <p:cNvCxnSpPr>
                  <a:stCxn id="355" idx="2"/>
                  <a:endCxn id="356" idx="0"/>
                </p:cNvCxnSpPr>
                <p:nvPr/>
              </p:nvCxnSpPr>
              <p:spPr>
                <a:xfrm>
                  <a:off x="6803400" y="4431200"/>
                  <a:ext cx="3300" cy="412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360" name="Google Shape;360;p23"/>
                <p:cNvCxnSpPr>
                  <a:stCxn id="354" idx="2"/>
                  <a:endCxn id="357" idx="0"/>
                </p:cNvCxnSpPr>
                <p:nvPr/>
              </p:nvCxnSpPr>
              <p:spPr>
                <a:xfrm>
                  <a:off x="7987875" y="4419450"/>
                  <a:ext cx="7200" cy="4020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361" name="Google Shape;361;p23"/>
                <p:cNvCxnSpPr>
                  <a:stCxn id="356" idx="3"/>
                  <a:endCxn id="357" idx="2"/>
                </p:cNvCxnSpPr>
                <p:nvPr/>
              </p:nvCxnSpPr>
              <p:spPr>
                <a:xfrm rot="10800000" flipH="1">
                  <a:off x="7156500" y="5037050"/>
                  <a:ext cx="630900" cy="15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362" name="Google Shape;362;p23"/>
                <p:cNvCxnSpPr>
                  <a:stCxn id="356" idx="2"/>
                </p:cNvCxnSpPr>
                <p:nvPr/>
              </p:nvCxnSpPr>
              <p:spPr>
                <a:xfrm flipH="1">
                  <a:off x="6804600" y="5233700"/>
                  <a:ext cx="2100" cy="9087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363" name="Google Shape;363;p23"/>
                <p:cNvCxnSpPr>
                  <a:stCxn id="357" idx="6"/>
                  <a:endCxn id="344" idx="1"/>
                </p:cNvCxnSpPr>
                <p:nvPr/>
              </p:nvCxnSpPr>
              <p:spPr>
                <a:xfrm rot="10800000" flipH="1">
                  <a:off x="8202825" y="5023598"/>
                  <a:ext cx="1696200" cy="13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  <p:sp>
            <p:nvSpPr>
              <p:cNvPr id="364" name="Google Shape;364;p23"/>
              <p:cNvSpPr txBox="1"/>
              <p:nvPr/>
            </p:nvSpPr>
            <p:spPr>
              <a:xfrm>
                <a:off x="7274000" y="4860100"/>
                <a:ext cx="5247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latin typeface="Consolas"/>
                    <a:ea typeface="Consolas"/>
                    <a:cs typeface="Consolas"/>
                    <a:sym typeface="Consolas"/>
                  </a:rPr>
                  <a:t>Yes</a:t>
                </a:r>
                <a:endParaRPr sz="120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365" name="Google Shape;365;p23"/>
              <p:cNvSpPr txBox="1"/>
              <p:nvPr/>
            </p:nvSpPr>
            <p:spPr>
              <a:xfrm>
                <a:off x="6983200" y="5366650"/>
                <a:ext cx="5247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latin typeface="Consolas"/>
                    <a:ea typeface="Consolas"/>
                    <a:cs typeface="Consolas"/>
                    <a:sym typeface="Consolas"/>
                  </a:rPr>
                  <a:t>No</a:t>
                </a:r>
                <a:endParaRPr sz="120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  <p:sp>
          <p:nvSpPr>
            <p:cNvPr id="366" name="Google Shape;366;p23"/>
            <p:cNvSpPr txBox="1"/>
            <p:nvPr/>
          </p:nvSpPr>
          <p:spPr>
            <a:xfrm>
              <a:off x="7253825" y="4662850"/>
              <a:ext cx="13428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Protection Fault</a:t>
              </a:r>
              <a:endParaRPr sz="12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367" name="Google Shape;367;p23"/>
            <p:cNvCxnSpPr>
              <a:stCxn id="344" idx="3"/>
            </p:cNvCxnSpPr>
            <p:nvPr/>
          </p:nvCxnSpPr>
          <p:spPr>
            <a:xfrm flipH="1">
              <a:off x="4859675" y="4044399"/>
              <a:ext cx="6660300" cy="1791000"/>
            </a:xfrm>
            <a:prstGeom prst="bentConnector3">
              <a:avLst>
                <a:gd name="adj1" fmla="val -3575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8" name="Google Shape;368;p23"/>
            <p:cNvCxnSpPr>
              <a:cxnSpLocks/>
              <a:endCxn id="338" idx="4"/>
            </p:cNvCxnSpPr>
            <p:nvPr/>
          </p:nvCxnSpPr>
          <p:spPr>
            <a:xfrm flipV="1">
              <a:off x="4857450" y="4480772"/>
              <a:ext cx="0" cy="1354627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69" name="Google Shape;369;p23"/>
            <p:cNvSpPr txBox="1"/>
            <p:nvPr/>
          </p:nvSpPr>
          <p:spPr>
            <a:xfrm>
              <a:off x="10192581" y="1831832"/>
              <a:ext cx="1487700" cy="8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solidFill>
                    <a:srgbClr val="999999"/>
                  </a:solidFill>
                  <a:latin typeface="Consolas"/>
                  <a:ea typeface="Consolas"/>
                  <a:cs typeface="Consolas"/>
                  <a:sym typeface="Consolas"/>
                </a:rPr>
                <a:t>Physical Memory</a:t>
              </a:r>
              <a:endParaRPr sz="2000" b="1" dirty="0">
                <a:solidFill>
                  <a:srgbClr val="999999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– Dynamic Relocation (Base &amp; Bounds)</a:t>
            </a:r>
            <a:endParaRPr dirty="0"/>
          </a:p>
        </p:txBody>
      </p:sp>
      <p:grpSp>
        <p:nvGrpSpPr>
          <p:cNvPr id="376" name="Google Shape;376;p24"/>
          <p:cNvGrpSpPr/>
          <p:nvPr/>
        </p:nvGrpSpPr>
        <p:grpSpPr>
          <a:xfrm>
            <a:off x="5103489" y="1857388"/>
            <a:ext cx="5468492" cy="2566425"/>
            <a:chOff x="4905735" y="3809425"/>
            <a:chExt cx="5468492" cy="2566425"/>
          </a:xfrm>
        </p:grpSpPr>
        <p:sp>
          <p:nvSpPr>
            <p:cNvPr id="377" name="Google Shape;377;p24"/>
            <p:cNvSpPr txBox="1"/>
            <p:nvPr/>
          </p:nvSpPr>
          <p:spPr>
            <a:xfrm>
              <a:off x="4905735" y="4836550"/>
              <a:ext cx="6699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rgbClr val="FF0000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2000" b="1">
                <a:solidFill>
                  <a:srgbClr val="FF0000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78" name="Google Shape;378;p24"/>
            <p:cNvSpPr/>
            <p:nvPr/>
          </p:nvSpPr>
          <p:spPr>
            <a:xfrm>
              <a:off x="7914675" y="3809425"/>
              <a:ext cx="1460100" cy="3750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base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79" name="Google Shape;379;p24"/>
            <p:cNvSpPr/>
            <p:nvPr/>
          </p:nvSpPr>
          <p:spPr>
            <a:xfrm>
              <a:off x="6068975" y="3809425"/>
              <a:ext cx="1460100" cy="3750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latin typeface="Consolas"/>
                  <a:ea typeface="Consolas"/>
                  <a:cs typeface="Consolas"/>
                  <a:sym typeface="Consolas"/>
                </a:rPr>
                <a:t>bounds</a:t>
              </a:r>
              <a:endParaRPr sz="20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80" name="Google Shape;380;p24"/>
            <p:cNvSpPr/>
            <p:nvPr/>
          </p:nvSpPr>
          <p:spPr>
            <a:xfrm>
              <a:off x="6336900" y="4802600"/>
              <a:ext cx="924225" cy="562575"/>
            </a:xfrm>
            <a:prstGeom prst="flowChartDecision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latin typeface="Consolas"/>
                  <a:ea typeface="Consolas"/>
                  <a:cs typeface="Consolas"/>
                  <a:sym typeface="Consolas"/>
                </a:rPr>
                <a:t>&lt;</a:t>
              </a:r>
              <a:endParaRPr sz="2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81" name="Google Shape;381;p24"/>
            <p:cNvSpPr/>
            <p:nvPr/>
          </p:nvSpPr>
          <p:spPr>
            <a:xfrm>
              <a:off x="8396925" y="4821538"/>
              <a:ext cx="495600" cy="5247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latin typeface="Consolas"/>
                  <a:ea typeface="Consolas"/>
                  <a:cs typeface="Consolas"/>
                  <a:sym typeface="Consolas"/>
                </a:rPr>
                <a:t>+</a:t>
              </a:r>
              <a:endParaRPr/>
            </a:p>
          </p:txBody>
        </p:sp>
        <p:cxnSp>
          <p:nvCxnSpPr>
            <p:cNvPr id="382" name="Google Shape;382;p24"/>
            <p:cNvCxnSpPr>
              <a:stCxn id="377" idx="3"/>
              <a:endCxn id="380" idx="1"/>
            </p:cNvCxnSpPr>
            <p:nvPr/>
          </p:nvCxnSpPr>
          <p:spPr>
            <a:xfrm>
              <a:off x="5575635" y="5082850"/>
              <a:ext cx="761400" cy="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83" name="Google Shape;383;p24"/>
            <p:cNvCxnSpPr>
              <a:stCxn id="379" idx="2"/>
              <a:endCxn id="380" idx="0"/>
            </p:cNvCxnSpPr>
            <p:nvPr/>
          </p:nvCxnSpPr>
          <p:spPr>
            <a:xfrm>
              <a:off x="6799025" y="4184425"/>
              <a:ext cx="0" cy="618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84" name="Google Shape;384;p24"/>
            <p:cNvCxnSpPr>
              <a:stCxn id="378" idx="2"/>
              <a:endCxn id="381" idx="0"/>
            </p:cNvCxnSpPr>
            <p:nvPr/>
          </p:nvCxnSpPr>
          <p:spPr>
            <a:xfrm>
              <a:off x="8644725" y="4184425"/>
              <a:ext cx="0" cy="63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85" name="Google Shape;385;p24"/>
            <p:cNvCxnSpPr>
              <a:stCxn id="380" idx="3"/>
              <a:endCxn id="381" idx="2"/>
            </p:cNvCxnSpPr>
            <p:nvPr/>
          </p:nvCxnSpPr>
          <p:spPr>
            <a:xfrm>
              <a:off x="7261125" y="5083888"/>
              <a:ext cx="1135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86" name="Google Shape;386;p24"/>
            <p:cNvCxnSpPr/>
            <p:nvPr/>
          </p:nvCxnSpPr>
          <p:spPr>
            <a:xfrm>
              <a:off x="6799025" y="5365163"/>
              <a:ext cx="2400" cy="9087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87" name="Google Shape;387;p24"/>
            <p:cNvSpPr txBox="1"/>
            <p:nvPr/>
          </p:nvSpPr>
          <p:spPr>
            <a:xfrm>
              <a:off x="6652638" y="5268025"/>
              <a:ext cx="7272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chemeClr val="dk1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No</a:t>
              </a:r>
              <a:endParaRPr sz="2000" b="1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88" name="Google Shape;388;p24"/>
            <p:cNvSpPr txBox="1"/>
            <p:nvPr/>
          </p:nvSpPr>
          <p:spPr>
            <a:xfrm>
              <a:off x="7165313" y="4667500"/>
              <a:ext cx="7272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chemeClr val="dk1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Yes</a:t>
              </a:r>
              <a:endParaRPr sz="2000" b="1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389" name="Google Shape;389;p24"/>
            <p:cNvCxnSpPr/>
            <p:nvPr/>
          </p:nvCxnSpPr>
          <p:spPr>
            <a:xfrm rot="10800000" flipH="1">
              <a:off x="8892525" y="5080888"/>
              <a:ext cx="720300" cy="3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90" name="Google Shape;390;p24"/>
            <p:cNvSpPr txBox="1"/>
            <p:nvPr/>
          </p:nvSpPr>
          <p:spPr>
            <a:xfrm>
              <a:off x="9612827" y="4836100"/>
              <a:ext cx="76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rgbClr val="0B6937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2000" b="1">
                <a:solidFill>
                  <a:srgbClr val="0B6937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91" name="Google Shape;391;p24"/>
            <p:cNvSpPr txBox="1"/>
            <p:nvPr/>
          </p:nvSpPr>
          <p:spPr>
            <a:xfrm>
              <a:off x="6799025" y="5944750"/>
              <a:ext cx="2013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Protection fault</a:t>
              </a:r>
              <a:endParaRPr sz="1600" b="1">
                <a:solidFill>
                  <a:srgbClr val="FF0000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392" name="Google Shape;392;p24"/>
          <p:cNvGrpSpPr/>
          <p:nvPr/>
        </p:nvGrpSpPr>
        <p:grpSpPr>
          <a:xfrm>
            <a:off x="6488303" y="5706177"/>
            <a:ext cx="3132600" cy="637200"/>
            <a:chOff x="6652650" y="1665575"/>
            <a:chExt cx="3132600" cy="637200"/>
          </a:xfrm>
        </p:grpSpPr>
        <p:sp>
          <p:nvSpPr>
            <p:cNvPr id="393" name="Google Shape;393;p24"/>
            <p:cNvSpPr/>
            <p:nvPr/>
          </p:nvSpPr>
          <p:spPr>
            <a:xfrm>
              <a:off x="6652650" y="1665575"/>
              <a:ext cx="31326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24"/>
            <p:cNvSpPr txBox="1"/>
            <p:nvPr/>
          </p:nvSpPr>
          <p:spPr>
            <a:xfrm>
              <a:off x="6935575" y="1707125"/>
              <a:ext cx="26856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>
                  <a:latin typeface="Consolas"/>
                  <a:ea typeface="Consolas"/>
                  <a:cs typeface="Consolas"/>
                  <a:sym typeface="Consolas"/>
                </a:rPr>
                <a:t>PA = VA + base</a:t>
              </a:r>
              <a:endParaRPr sz="24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395" name="Google Shape;395;p24"/>
          <p:cNvGrpSpPr/>
          <p:nvPr/>
        </p:nvGrpSpPr>
        <p:grpSpPr>
          <a:xfrm>
            <a:off x="6516275" y="4814473"/>
            <a:ext cx="3132600" cy="637200"/>
            <a:chOff x="6652650" y="2614950"/>
            <a:chExt cx="3132600" cy="637200"/>
          </a:xfrm>
        </p:grpSpPr>
        <p:sp>
          <p:nvSpPr>
            <p:cNvPr id="396" name="Google Shape;396;p24"/>
            <p:cNvSpPr/>
            <p:nvPr/>
          </p:nvSpPr>
          <p:spPr>
            <a:xfrm>
              <a:off x="6652650" y="2614950"/>
              <a:ext cx="31326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24"/>
            <p:cNvSpPr txBox="1"/>
            <p:nvPr/>
          </p:nvSpPr>
          <p:spPr>
            <a:xfrm>
              <a:off x="6712050" y="2663775"/>
              <a:ext cx="30138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0 &lt;= VA &lt; bounds</a:t>
              </a:r>
              <a:endParaRPr sz="24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398" name="Google Shape;398;p24"/>
          <p:cNvGrpSpPr/>
          <p:nvPr/>
        </p:nvGrpSpPr>
        <p:grpSpPr>
          <a:xfrm>
            <a:off x="1514196" y="2190405"/>
            <a:ext cx="2340362" cy="3023498"/>
            <a:chOff x="8005450" y="1566825"/>
            <a:chExt cx="3308400" cy="4491900"/>
          </a:xfrm>
        </p:grpSpPr>
        <p:sp>
          <p:nvSpPr>
            <p:cNvPr id="399" name="Google Shape;399;p24"/>
            <p:cNvSpPr/>
            <p:nvPr/>
          </p:nvSpPr>
          <p:spPr>
            <a:xfrm>
              <a:off x="8005450" y="1566825"/>
              <a:ext cx="3308400" cy="44919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00" name="Google Shape;400;p24"/>
            <p:cNvSpPr txBox="1"/>
            <p:nvPr/>
          </p:nvSpPr>
          <p:spPr>
            <a:xfrm>
              <a:off x="8597250" y="1637048"/>
              <a:ext cx="2103000" cy="73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Chip CPU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401" name="Google Shape;401;p24"/>
            <p:cNvGrpSpPr/>
            <p:nvPr/>
          </p:nvGrpSpPr>
          <p:grpSpPr>
            <a:xfrm>
              <a:off x="8483375" y="2266040"/>
              <a:ext cx="2216875" cy="3163135"/>
              <a:chOff x="8483375" y="2266040"/>
              <a:chExt cx="2216875" cy="3163135"/>
            </a:xfrm>
          </p:grpSpPr>
          <p:sp>
            <p:nvSpPr>
              <p:cNvPr id="402" name="Google Shape;402;p24"/>
              <p:cNvSpPr/>
              <p:nvPr/>
            </p:nvSpPr>
            <p:spPr>
              <a:xfrm>
                <a:off x="9154350" y="2266040"/>
                <a:ext cx="988800" cy="9954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400" b="1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sz="14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403" name="Google Shape;403;p24"/>
              <p:cNvCxnSpPr>
                <a:stCxn id="402" idx="4"/>
                <a:endCxn id="404" idx="0"/>
              </p:cNvCxnSpPr>
              <p:nvPr/>
            </p:nvCxnSpPr>
            <p:spPr>
              <a:xfrm>
                <a:off x="9648750" y="3261440"/>
                <a:ext cx="0" cy="456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405" name="Google Shape;405;p24"/>
              <p:cNvGrpSpPr/>
              <p:nvPr/>
            </p:nvGrpSpPr>
            <p:grpSpPr>
              <a:xfrm>
                <a:off x="8483375" y="3717975"/>
                <a:ext cx="2216875" cy="1711200"/>
                <a:chOff x="8483375" y="3717975"/>
                <a:chExt cx="2216875" cy="1711200"/>
              </a:xfrm>
            </p:grpSpPr>
            <p:grpSp>
              <p:nvGrpSpPr>
                <p:cNvPr id="406" name="Google Shape;406;p24"/>
                <p:cNvGrpSpPr/>
                <p:nvPr/>
              </p:nvGrpSpPr>
              <p:grpSpPr>
                <a:xfrm>
                  <a:off x="8597250" y="3717975"/>
                  <a:ext cx="2103000" cy="1711200"/>
                  <a:chOff x="8597250" y="3717975"/>
                  <a:chExt cx="2103000" cy="1711200"/>
                </a:xfrm>
              </p:grpSpPr>
              <p:sp>
                <p:nvSpPr>
                  <p:cNvPr id="404" name="Google Shape;404;p24"/>
                  <p:cNvSpPr/>
                  <p:nvPr/>
                </p:nvSpPr>
                <p:spPr>
                  <a:xfrm>
                    <a:off x="8597250" y="3717975"/>
                    <a:ext cx="2103000" cy="1711200"/>
                  </a:xfrm>
                  <a:prstGeom prst="rect">
                    <a:avLst/>
                  </a:prstGeom>
                  <a:solidFill>
                    <a:srgbClr val="B6D7A8"/>
                  </a:solidFill>
                  <a:ln w="952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b="1"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  <p:sp>
                <p:nvSpPr>
                  <p:cNvPr id="407" name="Google Shape;407;p24"/>
                  <p:cNvSpPr txBox="1"/>
                  <p:nvPr/>
                </p:nvSpPr>
                <p:spPr>
                  <a:xfrm>
                    <a:off x="9216100" y="3718050"/>
                    <a:ext cx="887100" cy="5946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MMU</a:t>
                    </a:r>
                    <a:endParaRPr sz="800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  <p:grpSp>
              <p:nvGrpSpPr>
                <p:cNvPr id="408" name="Google Shape;408;p24"/>
                <p:cNvGrpSpPr/>
                <p:nvPr/>
              </p:nvGrpSpPr>
              <p:grpSpPr>
                <a:xfrm>
                  <a:off x="8638450" y="4265550"/>
                  <a:ext cx="1901250" cy="548700"/>
                  <a:chOff x="8638450" y="4265550"/>
                  <a:chExt cx="1901250" cy="548700"/>
                </a:xfrm>
              </p:grpSpPr>
              <p:sp>
                <p:nvSpPr>
                  <p:cNvPr id="409" name="Google Shape;409;p24"/>
                  <p:cNvSpPr/>
                  <p:nvPr/>
                </p:nvSpPr>
                <p:spPr>
                  <a:xfrm>
                    <a:off x="9550900" y="4344300"/>
                    <a:ext cx="988800" cy="308100"/>
                  </a:xfrm>
                  <a:prstGeom prst="rect">
                    <a:avLst/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0" name="Google Shape;410;p24"/>
                  <p:cNvSpPr txBox="1"/>
                  <p:nvPr/>
                </p:nvSpPr>
                <p:spPr>
                  <a:xfrm>
                    <a:off x="8638450" y="4265550"/>
                    <a:ext cx="887100" cy="548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base</a:t>
                    </a:r>
                    <a:endParaRPr sz="600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  <p:grpSp>
              <p:nvGrpSpPr>
                <p:cNvPr id="411" name="Google Shape;411;p24"/>
                <p:cNvGrpSpPr/>
                <p:nvPr/>
              </p:nvGrpSpPr>
              <p:grpSpPr>
                <a:xfrm>
                  <a:off x="8483375" y="4782162"/>
                  <a:ext cx="2056325" cy="548700"/>
                  <a:chOff x="8483375" y="4782162"/>
                  <a:chExt cx="2056325" cy="548700"/>
                </a:xfrm>
              </p:grpSpPr>
              <p:sp>
                <p:nvSpPr>
                  <p:cNvPr id="412" name="Google Shape;412;p24"/>
                  <p:cNvSpPr/>
                  <p:nvPr/>
                </p:nvSpPr>
                <p:spPr>
                  <a:xfrm>
                    <a:off x="9550900" y="4858350"/>
                    <a:ext cx="988800" cy="308100"/>
                  </a:xfrm>
                  <a:prstGeom prst="rect">
                    <a:avLst/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3" name="Google Shape;413;p24"/>
                  <p:cNvSpPr txBox="1"/>
                  <p:nvPr/>
                </p:nvSpPr>
                <p:spPr>
                  <a:xfrm>
                    <a:off x="8483375" y="4782162"/>
                    <a:ext cx="1092900" cy="548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bounds</a:t>
                    </a:r>
                    <a:endParaRPr sz="6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2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– Segmentation</a:t>
            </a:r>
            <a:endParaRPr dirty="0"/>
          </a:p>
        </p:txBody>
      </p:sp>
      <p:grpSp>
        <p:nvGrpSpPr>
          <p:cNvPr id="420" name="Google Shape;420;p25"/>
          <p:cNvGrpSpPr/>
          <p:nvPr/>
        </p:nvGrpSpPr>
        <p:grpSpPr>
          <a:xfrm>
            <a:off x="1041791" y="2411220"/>
            <a:ext cx="2340362" cy="3256628"/>
            <a:chOff x="8005450" y="1566825"/>
            <a:chExt cx="3308400" cy="4491900"/>
          </a:xfrm>
        </p:grpSpPr>
        <p:sp>
          <p:nvSpPr>
            <p:cNvPr id="421" name="Google Shape;421;p25"/>
            <p:cNvSpPr/>
            <p:nvPr/>
          </p:nvSpPr>
          <p:spPr>
            <a:xfrm>
              <a:off x="8005450" y="1566825"/>
              <a:ext cx="3308400" cy="44919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22" name="Google Shape;422;p25"/>
            <p:cNvSpPr txBox="1"/>
            <p:nvPr/>
          </p:nvSpPr>
          <p:spPr>
            <a:xfrm>
              <a:off x="8597250" y="1637048"/>
              <a:ext cx="2103000" cy="67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CPU Chip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423" name="Google Shape;423;p25"/>
            <p:cNvGrpSpPr/>
            <p:nvPr/>
          </p:nvGrpSpPr>
          <p:grpSpPr>
            <a:xfrm>
              <a:off x="8597250" y="2223343"/>
              <a:ext cx="2103000" cy="3205832"/>
              <a:chOff x="8597250" y="2223343"/>
              <a:chExt cx="2103000" cy="3205832"/>
            </a:xfrm>
          </p:grpSpPr>
          <p:sp>
            <p:nvSpPr>
              <p:cNvPr id="424" name="Google Shape;424;p25"/>
              <p:cNvSpPr/>
              <p:nvPr/>
            </p:nvSpPr>
            <p:spPr>
              <a:xfrm>
                <a:off x="9074479" y="2223343"/>
                <a:ext cx="1148541" cy="1149154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b="1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425" name="Google Shape;425;p25"/>
              <p:cNvCxnSpPr>
                <a:cxnSpLocks/>
                <a:stCxn id="424" idx="4"/>
                <a:endCxn id="426" idx="0"/>
              </p:cNvCxnSpPr>
              <p:nvPr/>
            </p:nvCxnSpPr>
            <p:spPr>
              <a:xfrm>
                <a:off x="9648750" y="3372497"/>
                <a:ext cx="0" cy="345479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427" name="Google Shape;427;p25"/>
              <p:cNvGrpSpPr/>
              <p:nvPr/>
            </p:nvGrpSpPr>
            <p:grpSpPr>
              <a:xfrm>
                <a:off x="8597250" y="3717975"/>
                <a:ext cx="2103000" cy="1711200"/>
                <a:chOff x="8597250" y="3717975"/>
                <a:chExt cx="2103000" cy="1711200"/>
              </a:xfrm>
            </p:grpSpPr>
            <p:sp>
              <p:nvSpPr>
                <p:cNvPr id="426" name="Google Shape;426;p25"/>
                <p:cNvSpPr/>
                <p:nvPr/>
              </p:nvSpPr>
              <p:spPr>
                <a:xfrm>
                  <a:off x="8597250" y="3717975"/>
                  <a:ext cx="2103000" cy="1711200"/>
                </a:xfrm>
                <a:prstGeom prst="rect">
                  <a:avLst/>
                </a:prstGeom>
                <a:solidFill>
                  <a:srgbClr val="B6D7A8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428" name="Google Shape;428;p25"/>
                <p:cNvSpPr txBox="1"/>
                <p:nvPr/>
              </p:nvSpPr>
              <p:spPr>
                <a:xfrm>
                  <a:off x="9216100" y="3718050"/>
                  <a:ext cx="887100" cy="552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MMU</a:t>
                  </a:r>
                  <a:endParaRPr sz="800" b="1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</p:grpSp>
      </p:grpSp>
      <p:sp>
        <p:nvSpPr>
          <p:cNvPr id="429" name="Google Shape;429;p25"/>
          <p:cNvSpPr/>
          <p:nvPr/>
        </p:nvSpPr>
        <p:spPr>
          <a:xfrm>
            <a:off x="4031516" y="2623463"/>
            <a:ext cx="4962000" cy="2892600"/>
          </a:xfrm>
          <a:prstGeom prst="rect">
            <a:avLst/>
          </a:prstGeom>
          <a:solidFill>
            <a:srgbClr val="FFE599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30" name="Google Shape;430;p25"/>
          <p:cNvSpPr txBox="1"/>
          <p:nvPr/>
        </p:nvSpPr>
        <p:spPr>
          <a:xfrm>
            <a:off x="5792113" y="2070783"/>
            <a:ext cx="1487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rgbClr val="999999"/>
                </a:solidFill>
                <a:latin typeface="Consolas"/>
                <a:ea typeface="Consolas"/>
                <a:cs typeface="Consolas"/>
                <a:sym typeface="Consolas"/>
              </a:rPr>
              <a:t>CPU Chip</a:t>
            </a:r>
            <a:endParaRPr sz="2000" b="1" dirty="0">
              <a:solidFill>
                <a:srgbClr val="99999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" name="Google Shape;431;p25"/>
          <p:cNvSpPr/>
          <p:nvPr/>
        </p:nvSpPr>
        <p:spPr>
          <a:xfrm>
            <a:off x="4110562" y="3779724"/>
            <a:ext cx="802069" cy="823674"/>
          </a:xfrm>
          <a:prstGeom prst="ellipse">
            <a:avLst/>
          </a:prstGeom>
          <a:solidFill>
            <a:srgbClr val="EA9999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 dirty="0">
                <a:latin typeface="Consolas"/>
                <a:ea typeface="Consolas"/>
                <a:cs typeface="Consolas"/>
                <a:sym typeface="Consolas"/>
              </a:rPr>
              <a:t>CPU</a:t>
            </a:r>
            <a:endParaRPr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2" name="Google Shape;432;p25"/>
          <p:cNvSpPr/>
          <p:nvPr/>
        </p:nvSpPr>
        <p:spPr>
          <a:xfrm>
            <a:off x="5930200" y="3019238"/>
            <a:ext cx="2720100" cy="2327462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3" name="Google Shape;433;p25"/>
          <p:cNvSpPr txBox="1"/>
          <p:nvPr/>
        </p:nvSpPr>
        <p:spPr>
          <a:xfrm>
            <a:off x="6976455" y="3070033"/>
            <a:ext cx="627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MMU</a:t>
            </a:r>
            <a:endParaRPr sz="8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" name="Google Shape;434;p25"/>
          <p:cNvSpPr txBox="1"/>
          <p:nvPr/>
        </p:nvSpPr>
        <p:spPr>
          <a:xfrm>
            <a:off x="4804025" y="3662663"/>
            <a:ext cx="11532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>
                <a:latin typeface="Consolas"/>
                <a:ea typeface="Consolas"/>
                <a:cs typeface="Consolas"/>
                <a:sym typeface="Consolas"/>
              </a:rPr>
              <a:t>Virtual Address (VA)</a:t>
            </a:r>
            <a:endParaRPr sz="10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5" name="Google Shape;435;p25"/>
          <p:cNvSpPr txBox="1"/>
          <p:nvPr/>
        </p:nvSpPr>
        <p:spPr>
          <a:xfrm>
            <a:off x="8759500" y="3751288"/>
            <a:ext cx="13428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>
                <a:latin typeface="Consolas"/>
                <a:ea typeface="Consolas"/>
                <a:cs typeface="Consolas"/>
                <a:sym typeface="Consolas"/>
              </a:rPr>
              <a:t>Physical</a:t>
            </a:r>
            <a:endParaRPr sz="10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>
                <a:latin typeface="Consolas"/>
                <a:ea typeface="Consolas"/>
                <a:cs typeface="Consolas"/>
                <a:sym typeface="Consolas"/>
              </a:rPr>
              <a:t>Address (PA)</a:t>
            </a:r>
            <a:endParaRPr sz="10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6" name="Google Shape;436;p25"/>
          <p:cNvSpPr txBox="1"/>
          <p:nvPr/>
        </p:nvSpPr>
        <p:spPr>
          <a:xfrm>
            <a:off x="7270125" y="5661863"/>
            <a:ext cx="1342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latin typeface="Consolas"/>
                <a:ea typeface="Consolas"/>
                <a:cs typeface="Consolas"/>
                <a:sym typeface="Consolas"/>
              </a:rPr>
              <a:t>Data word</a:t>
            </a:r>
            <a:endParaRPr sz="100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37" name="Google Shape;437;p25"/>
          <p:cNvCxnSpPr>
            <a:cxnSpLocks/>
            <a:stCxn id="431" idx="6"/>
            <a:endCxn id="432" idx="1"/>
          </p:cNvCxnSpPr>
          <p:nvPr/>
        </p:nvCxnSpPr>
        <p:spPr>
          <a:xfrm flipV="1">
            <a:off x="4912631" y="4182969"/>
            <a:ext cx="1017569" cy="859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8" name="Google Shape;438;p25"/>
          <p:cNvCxnSpPr>
            <a:cxnSpLocks/>
            <a:stCxn id="432" idx="3"/>
            <a:endCxn id="439" idx="1"/>
          </p:cNvCxnSpPr>
          <p:nvPr/>
        </p:nvCxnSpPr>
        <p:spPr>
          <a:xfrm>
            <a:off x="8650300" y="4182969"/>
            <a:ext cx="1374450" cy="859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40" name="Google Shape;440;p25"/>
          <p:cNvCxnSpPr>
            <a:cxnSpLocks/>
            <a:endCxn id="431" idx="4"/>
          </p:cNvCxnSpPr>
          <p:nvPr/>
        </p:nvCxnSpPr>
        <p:spPr>
          <a:xfrm flipV="1">
            <a:off x="4508328" y="4603398"/>
            <a:ext cx="3269" cy="140575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1" name="Google Shape;441;p25"/>
          <p:cNvSpPr txBox="1"/>
          <p:nvPr/>
        </p:nvSpPr>
        <p:spPr>
          <a:xfrm>
            <a:off x="9819356" y="2078519"/>
            <a:ext cx="14877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rgbClr val="999999"/>
                </a:solidFill>
                <a:latin typeface="Consolas"/>
                <a:ea typeface="Consolas"/>
                <a:cs typeface="Consolas"/>
                <a:sym typeface="Consolas"/>
              </a:rPr>
              <a:t>Physical Memory</a:t>
            </a:r>
            <a:endParaRPr sz="2000" b="1" dirty="0">
              <a:solidFill>
                <a:srgbClr val="99999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442" name="Google Shape;442;p25"/>
          <p:cNvGrpSpPr/>
          <p:nvPr/>
        </p:nvGrpSpPr>
        <p:grpSpPr>
          <a:xfrm>
            <a:off x="10021450" y="2970513"/>
            <a:ext cx="1125300" cy="2339900"/>
            <a:chOff x="2625425" y="3871775"/>
            <a:chExt cx="1125300" cy="2339900"/>
          </a:xfrm>
        </p:grpSpPr>
        <p:grpSp>
          <p:nvGrpSpPr>
            <p:cNvPr id="443" name="Google Shape;443;p25"/>
            <p:cNvGrpSpPr/>
            <p:nvPr/>
          </p:nvGrpSpPr>
          <p:grpSpPr>
            <a:xfrm>
              <a:off x="2626525" y="4273149"/>
              <a:ext cx="1124200" cy="1619400"/>
              <a:chOff x="2626525" y="4273149"/>
              <a:chExt cx="1124200" cy="1619400"/>
            </a:xfrm>
          </p:grpSpPr>
          <p:sp>
            <p:nvSpPr>
              <p:cNvPr id="444" name="Google Shape;444;p25"/>
              <p:cNvSpPr/>
              <p:nvPr/>
            </p:nvSpPr>
            <p:spPr>
              <a:xfrm>
                <a:off x="2626525" y="4273149"/>
                <a:ext cx="1122000" cy="16194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Google Shape;439;p25"/>
              <p:cNvSpPr/>
              <p:nvPr/>
            </p:nvSpPr>
            <p:spPr>
              <a:xfrm>
                <a:off x="2628725" y="4801224"/>
                <a:ext cx="1122000" cy="583200"/>
              </a:xfrm>
              <a:prstGeom prst="rect">
                <a:avLst/>
              </a:prstGeom>
              <a:solidFill>
                <a:srgbClr val="D9D9D9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200"/>
              </a:p>
            </p:txBody>
          </p:sp>
        </p:grpSp>
        <p:cxnSp>
          <p:nvCxnSpPr>
            <p:cNvPr id="445" name="Google Shape;445;p25"/>
            <p:cNvCxnSpPr/>
            <p:nvPr/>
          </p:nvCxnSpPr>
          <p:spPr>
            <a:xfrm rot="10800000">
              <a:off x="2625425" y="3872500"/>
              <a:ext cx="0" cy="4665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6" name="Google Shape;446;p25"/>
            <p:cNvCxnSpPr/>
            <p:nvPr/>
          </p:nvCxnSpPr>
          <p:spPr>
            <a:xfrm rot="10800000">
              <a:off x="2627600" y="5745175"/>
              <a:ext cx="0" cy="4665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7" name="Google Shape;447;p25"/>
            <p:cNvCxnSpPr/>
            <p:nvPr/>
          </p:nvCxnSpPr>
          <p:spPr>
            <a:xfrm rot="10800000">
              <a:off x="3749525" y="5745175"/>
              <a:ext cx="0" cy="4665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8" name="Google Shape;448;p25"/>
            <p:cNvCxnSpPr/>
            <p:nvPr/>
          </p:nvCxnSpPr>
          <p:spPr>
            <a:xfrm rot="10800000">
              <a:off x="3748600" y="3871775"/>
              <a:ext cx="0" cy="4665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aphicFrame>
        <p:nvGraphicFramePr>
          <p:cNvPr id="449" name="Google Shape;449;p25"/>
          <p:cNvGraphicFramePr/>
          <p:nvPr>
            <p:extLst>
              <p:ext uri="{D42A27DB-BD31-4B8C-83A1-F6EECF244321}">
                <p14:modId xmlns:p14="http://schemas.microsoft.com/office/powerpoint/2010/main" val="3606096262"/>
              </p:ext>
            </p:extLst>
          </p:nvPr>
        </p:nvGraphicFramePr>
        <p:xfrm>
          <a:off x="6109638" y="3488213"/>
          <a:ext cx="2340350" cy="173724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9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1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3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</a:t>
                      </a:r>
                      <a:endParaRPr sz="12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code(00)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450" name="Google Shape;450;p25"/>
          <p:cNvCxnSpPr>
            <a:stCxn id="439" idx="3"/>
          </p:cNvCxnSpPr>
          <p:nvPr/>
        </p:nvCxnSpPr>
        <p:spPr>
          <a:xfrm flipH="1">
            <a:off x="4498150" y="4191562"/>
            <a:ext cx="6648600" cy="1809000"/>
          </a:xfrm>
          <a:prstGeom prst="bentConnector3">
            <a:avLst>
              <a:gd name="adj1" fmla="val -3582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– Segmentation</a:t>
            </a:r>
            <a:endParaRPr dirty="0"/>
          </a:p>
        </p:txBody>
      </p:sp>
      <p:grpSp>
        <p:nvGrpSpPr>
          <p:cNvPr id="456" name="Google Shape;456;p26"/>
          <p:cNvGrpSpPr/>
          <p:nvPr/>
        </p:nvGrpSpPr>
        <p:grpSpPr>
          <a:xfrm>
            <a:off x="992500" y="1689250"/>
            <a:ext cx="3545700" cy="4111200"/>
            <a:chOff x="602600" y="2377375"/>
            <a:chExt cx="3545700" cy="4111200"/>
          </a:xfrm>
        </p:grpSpPr>
        <p:sp>
          <p:nvSpPr>
            <p:cNvPr id="457" name="Google Shape;457;p26"/>
            <p:cNvSpPr/>
            <p:nvPr/>
          </p:nvSpPr>
          <p:spPr>
            <a:xfrm>
              <a:off x="602600" y="2377375"/>
              <a:ext cx="3545700" cy="41112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58" name="Google Shape;458;p26"/>
            <p:cNvSpPr txBox="1"/>
            <p:nvPr/>
          </p:nvSpPr>
          <p:spPr>
            <a:xfrm>
              <a:off x="1578256" y="2377382"/>
              <a:ext cx="14877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CPU chip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459" name="Google Shape;459;p26"/>
            <p:cNvSpPr/>
            <p:nvPr/>
          </p:nvSpPr>
          <p:spPr>
            <a:xfrm>
              <a:off x="2020511" y="2800814"/>
              <a:ext cx="699600" cy="721800"/>
            </a:xfrm>
            <a:prstGeom prst="ellipse">
              <a:avLst/>
            </a:prstGeom>
            <a:solidFill>
              <a:srgbClr val="EA99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400" b="1" dirty="0">
                  <a:latin typeface="Consolas"/>
                  <a:ea typeface="Consolas"/>
                  <a:cs typeface="Consolas"/>
                  <a:sym typeface="Consolas"/>
                </a:rPr>
                <a:t>CPU</a:t>
              </a:r>
              <a:endParaRPr sz="14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460" name="Google Shape;460;p26"/>
            <p:cNvCxnSpPr>
              <a:stCxn id="459" idx="4"/>
              <a:endCxn id="461" idx="0"/>
            </p:cNvCxnSpPr>
            <p:nvPr/>
          </p:nvCxnSpPr>
          <p:spPr>
            <a:xfrm>
              <a:off x="2370311" y="3522614"/>
              <a:ext cx="0" cy="3558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462" name="Google Shape;462;p26"/>
            <p:cNvGrpSpPr/>
            <p:nvPr/>
          </p:nvGrpSpPr>
          <p:grpSpPr>
            <a:xfrm>
              <a:off x="910042" y="3822353"/>
              <a:ext cx="2920431" cy="2339925"/>
              <a:chOff x="8597231" y="3675891"/>
              <a:chExt cx="4880400" cy="1753278"/>
            </a:xfrm>
          </p:grpSpPr>
          <p:sp>
            <p:nvSpPr>
              <p:cNvPr id="461" name="Google Shape;461;p26"/>
              <p:cNvSpPr/>
              <p:nvPr/>
            </p:nvSpPr>
            <p:spPr>
              <a:xfrm>
                <a:off x="8597231" y="3717969"/>
                <a:ext cx="4880400" cy="1711200"/>
              </a:xfrm>
              <a:prstGeom prst="rect">
                <a:avLst/>
              </a:prstGeom>
              <a:solidFill>
                <a:srgbClr val="B6D7A8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463" name="Google Shape;463;p26"/>
              <p:cNvSpPr txBox="1"/>
              <p:nvPr/>
            </p:nvSpPr>
            <p:spPr>
              <a:xfrm>
                <a:off x="10593876" y="3675891"/>
                <a:ext cx="887101" cy="3228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MMU</a:t>
                </a:r>
                <a:endParaRPr sz="7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</p:grpSp>
      <p:graphicFrame>
        <p:nvGraphicFramePr>
          <p:cNvPr id="464" name="Google Shape;464;p26"/>
          <p:cNvGraphicFramePr/>
          <p:nvPr/>
        </p:nvGraphicFramePr>
        <p:xfrm>
          <a:off x="1595163" y="3642388"/>
          <a:ext cx="2340350" cy="173724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9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1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</a:t>
                      </a:r>
                      <a:endParaRPr sz="12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code(00)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66" name="Google Shape;466;p26"/>
          <p:cNvGraphicFramePr/>
          <p:nvPr>
            <p:extLst>
              <p:ext uri="{D42A27DB-BD31-4B8C-83A1-F6EECF244321}">
                <p14:modId xmlns:p14="http://schemas.microsoft.com/office/powerpoint/2010/main" val="4112303424"/>
              </p:ext>
            </p:extLst>
          </p:nvPr>
        </p:nvGraphicFramePr>
        <p:xfrm>
          <a:off x="5188843" y="3820600"/>
          <a:ext cx="6747813" cy="173724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294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9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5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89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9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</a:t>
                      </a:r>
                      <a:endParaRPr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Grows Positive?</a:t>
                      </a:r>
                      <a:endParaRPr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Protection</a:t>
                      </a:r>
                      <a:endParaRPr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(00)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Read-Execute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Read-Write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Read-Write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67" name="Google Shape;467;p26"/>
          <p:cNvGraphicFramePr/>
          <p:nvPr/>
        </p:nvGraphicFramePr>
        <p:xfrm>
          <a:off x="5546275" y="1907550"/>
          <a:ext cx="6032950" cy="83817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430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n-1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n-2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68" name="Google Shape;468;p26"/>
          <p:cNvSpPr txBox="1"/>
          <p:nvPr/>
        </p:nvSpPr>
        <p:spPr>
          <a:xfrm>
            <a:off x="4976550" y="2303950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469" name="Google Shape;469;p26"/>
          <p:cNvSpPr/>
          <p:nvPr/>
        </p:nvSpPr>
        <p:spPr>
          <a:xfrm rot="5400000">
            <a:off x="8881800" y="372550"/>
            <a:ext cx="281100" cy="51903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26"/>
          <p:cNvSpPr txBox="1"/>
          <p:nvPr/>
        </p:nvSpPr>
        <p:spPr>
          <a:xfrm>
            <a:off x="8348700" y="3093025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/>
          </a:p>
        </p:txBody>
      </p:sp>
      <p:sp>
        <p:nvSpPr>
          <p:cNvPr id="471" name="Google Shape;471;p26"/>
          <p:cNvSpPr/>
          <p:nvPr/>
        </p:nvSpPr>
        <p:spPr>
          <a:xfrm rot="5400000">
            <a:off x="5832675" y="2540650"/>
            <a:ext cx="281100" cy="8541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26"/>
          <p:cNvSpPr txBox="1"/>
          <p:nvPr/>
        </p:nvSpPr>
        <p:spPr>
          <a:xfrm>
            <a:off x="5294625" y="3093025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segment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2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– Segmentation</a:t>
            </a:r>
            <a:endParaRPr dirty="0"/>
          </a:p>
        </p:txBody>
      </p:sp>
      <p:graphicFrame>
        <p:nvGraphicFramePr>
          <p:cNvPr id="479" name="Google Shape;479;p27"/>
          <p:cNvGraphicFramePr/>
          <p:nvPr/>
        </p:nvGraphicFramePr>
        <p:xfrm>
          <a:off x="1055875" y="1893350"/>
          <a:ext cx="10271900" cy="35050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421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9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2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20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</a:t>
                      </a:r>
                      <a:endParaRPr sz="20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Physical Address</a:t>
                      </a:r>
                      <a:endParaRPr sz="20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 = VA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 = offset + base(code)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 = VA - VA(heap)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 = offset + base(heap)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7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8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offset(stack) = offset - offset(max)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 = offset + base(stack)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80" name="Google Shape;48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8900" y="3564375"/>
            <a:ext cx="4865550" cy="1151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28"/>
          <p:cNvSpPr txBox="1">
            <a:spLocks noGrp="1"/>
          </p:cNvSpPr>
          <p:nvPr>
            <p:ph type="title"/>
          </p:nvPr>
        </p:nvSpPr>
        <p:spPr>
          <a:xfrm>
            <a:off x="658578" y="202219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– Paginación</a:t>
            </a:r>
            <a:endParaRPr dirty="0"/>
          </a:p>
        </p:txBody>
      </p:sp>
      <p:graphicFrame>
        <p:nvGraphicFramePr>
          <p:cNvPr id="487" name="Google Shape;487;p28"/>
          <p:cNvGraphicFramePr/>
          <p:nvPr/>
        </p:nvGraphicFramePr>
        <p:xfrm>
          <a:off x="2014588" y="1942000"/>
          <a:ext cx="2227675" cy="179820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99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free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88" name="Google Shape;488;p28"/>
          <p:cNvGrpSpPr/>
          <p:nvPr/>
        </p:nvGrpSpPr>
        <p:grpSpPr>
          <a:xfrm>
            <a:off x="964454" y="1889463"/>
            <a:ext cx="979788" cy="1655500"/>
            <a:chOff x="6895500" y="3168388"/>
            <a:chExt cx="963600" cy="1655500"/>
          </a:xfrm>
        </p:grpSpPr>
        <p:sp>
          <p:nvSpPr>
            <p:cNvPr id="489" name="Google Shape;489;p28"/>
            <p:cNvSpPr txBox="1"/>
            <p:nvPr/>
          </p:nvSpPr>
          <p:spPr>
            <a:xfrm>
              <a:off x="6895500" y="3168388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490" name="Google Shape;490;p28"/>
            <p:cNvSpPr txBox="1"/>
            <p:nvPr/>
          </p:nvSpPr>
          <p:spPr>
            <a:xfrm>
              <a:off x="6895500" y="3599500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491" name="Google Shape;491;p28"/>
            <p:cNvSpPr txBox="1"/>
            <p:nvPr/>
          </p:nvSpPr>
          <p:spPr>
            <a:xfrm>
              <a:off x="6895500" y="4032225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492" name="Google Shape;492;p28"/>
            <p:cNvSpPr txBox="1"/>
            <p:nvPr/>
          </p:nvSpPr>
          <p:spPr>
            <a:xfrm>
              <a:off x="6895500" y="4454588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(11)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rgbClr val="FF0000"/>
                </a:solidFill>
              </a:endParaRPr>
            </a:p>
          </p:txBody>
        </p:sp>
      </p:grpSp>
      <p:sp>
        <p:nvSpPr>
          <p:cNvPr id="493" name="Google Shape;493;p28"/>
          <p:cNvSpPr txBox="1"/>
          <p:nvPr/>
        </p:nvSpPr>
        <p:spPr>
          <a:xfrm>
            <a:off x="2091325" y="3663363"/>
            <a:ext cx="2074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Address Space</a:t>
            </a:r>
            <a:endParaRPr b="1" dirty="0"/>
          </a:p>
        </p:txBody>
      </p:sp>
      <p:graphicFrame>
        <p:nvGraphicFramePr>
          <p:cNvPr id="494" name="Google Shape;494;p28"/>
          <p:cNvGraphicFramePr/>
          <p:nvPr/>
        </p:nvGraphicFramePr>
        <p:xfrm>
          <a:off x="8943063" y="1664488"/>
          <a:ext cx="2227675" cy="347224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7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Operating system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495" name="Google Shape;495;p28"/>
          <p:cNvGrpSpPr/>
          <p:nvPr/>
        </p:nvGrpSpPr>
        <p:grpSpPr>
          <a:xfrm>
            <a:off x="7896226" y="1671262"/>
            <a:ext cx="1047237" cy="3389724"/>
            <a:chOff x="6720550" y="2261913"/>
            <a:chExt cx="858672" cy="3389724"/>
          </a:xfrm>
        </p:grpSpPr>
        <p:sp>
          <p:nvSpPr>
            <p:cNvPr id="496" name="Google Shape;496;p28"/>
            <p:cNvSpPr txBox="1"/>
            <p:nvPr/>
          </p:nvSpPr>
          <p:spPr>
            <a:xfrm>
              <a:off x="6750622" y="2261913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 (000)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497" name="Google Shape;497;p28"/>
            <p:cNvSpPr txBox="1"/>
            <p:nvPr/>
          </p:nvSpPr>
          <p:spPr>
            <a:xfrm>
              <a:off x="6750622" y="268980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498" name="Google Shape;498;p28"/>
            <p:cNvSpPr txBox="1"/>
            <p:nvPr/>
          </p:nvSpPr>
          <p:spPr>
            <a:xfrm>
              <a:off x="6750622" y="3141841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499" name="Google Shape;499;p28"/>
            <p:cNvSpPr txBox="1"/>
            <p:nvPr/>
          </p:nvSpPr>
          <p:spPr>
            <a:xfrm>
              <a:off x="6730556" y="3566955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500" name="Google Shape;500;p28"/>
            <p:cNvSpPr txBox="1"/>
            <p:nvPr/>
          </p:nvSpPr>
          <p:spPr>
            <a:xfrm>
              <a:off x="6730567" y="3974969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4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501" name="Google Shape;501;p28"/>
            <p:cNvSpPr txBox="1"/>
            <p:nvPr/>
          </p:nvSpPr>
          <p:spPr>
            <a:xfrm>
              <a:off x="6730556" y="4403670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E46C0A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sz="1200" b="1">
                <a:solidFill>
                  <a:srgbClr val="E46C0A"/>
                </a:solidFill>
              </a:endParaRPr>
            </a:p>
          </p:txBody>
        </p:sp>
        <p:sp>
          <p:nvSpPr>
            <p:cNvPr id="502" name="Google Shape;502;p28"/>
            <p:cNvSpPr txBox="1"/>
            <p:nvPr/>
          </p:nvSpPr>
          <p:spPr>
            <a:xfrm>
              <a:off x="6750622" y="483702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6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503" name="Google Shape;503;p28"/>
            <p:cNvSpPr txBox="1"/>
            <p:nvPr/>
          </p:nvSpPr>
          <p:spPr>
            <a:xfrm>
              <a:off x="6720550" y="5282336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7</a:t>
              </a:r>
              <a:endParaRPr sz="1200" b="1">
                <a:solidFill>
                  <a:schemeClr val="accent2"/>
                </a:solidFill>
              </a:endParaRPr>
            </a:p>
          </p:txBody>
        </p:sp>
      </p:grpSp>
      <p:sp>
        <p:nvSpPr>
          <p:cNvPr id="504" name="Google Shape;504;p28"/>
          <p:cNvSpPr txBox="1"/>
          <p:nvPr/>
        </p:nvSpPr>
        <p:spPr>
          <a:xfrm>
            <a:off x="8838150" y="5151600"/>
            <a:ext cx="2437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Physical Address</a:t>
            </a:r>
            <a:endParaRPr b="1" dirty="0"/>
          </a:p>
        </p:txBody>
      </p:sp>
      <p:sp>
        <p:nvSpPr>
          <p:cNvPr id="505" name="Google Shape;505;p28"/>
          <p:cNvSpPr txBox="1"/>
          <p:nvPr/>
        </p:nvSpPr>
        <p:spPr>
          <a:xfrm>
            <a:off x="1455038" y="1447738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506" name="Google Shape;506;p28"/>
          <p:cNvSpPr txBox="1"/>
          <p:nvPr/>
        </p:nvSpPr>
        <p:spPr>
          <a:xfrm>
            <a:off x="8371938" y="1218525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endParaRPr b="1">
              <a:solidFill>
                <a:schemeClr val="accent2"/>
              </a:solidFill>
            </a:endParaRPr>
          </a:p>
        </p:txBody>
      </p:sp>
      <p:graphicFrame>
        <p:nvGraphicFramePr>
          <p:cNvPr id="507" name="Google Shape;507;p28"/>
          <p:cNvGraphicFramePr/>
          <p:nvPr/>
        </p:nvGraphicFramePr>
        <p:xfrm>
          <a:off x="1626263" y="5890175"/>
          <a:ext cx="2966700" cy="4587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49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8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08" name="Google Shape;508;p28"/>
          <p:cNvGraphicFramePr/>
          <p:nvPr/>
        </p:nvGraphicFramePr>
        <p:xfrm>
          <a:off x="8268788" y="5843088"/>
          <a:ext cx="3466075" cy="488475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499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80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0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4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09" name="Google Shape;509;p28"/>
          <p:cNvSpPr txBox="1"/>
          <p:nvPr/>
        </p:nvSpPr>
        <p:spPr>
          <a:xfrm>
            <a:off x="7755788" y="5825725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sz="1800" b="1"/>
          </a:p>
        </p:txBody>
      </p:sp>
      <p:sp>
        <p:nvSpPr>
          <p:cNvPr id="510" name="Google Shape;510;p28"/>
          <p:cNvSpPr txBox="1"/>
          <p:nvPr/>
        </p:nvSpPr>
        <p:spPr>
          <a:xfrm>
            <a:off x="964438" y="5824713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cxnSp>
        <p:nvCxnSpPr>
          <p:cNvPr id="511" name="Google Shape;511;p28"/>
          <p:cNvCxnSpPr/>
          <p:nvPr/>
        </p:nvCxnSpPr>
        <p:spPr>
          <a:xfrm>
            <a:off x="5009975" y="6087325"/>
            <a:ext cx="2157600" cy="0"/>
          </a:xfrm>
          <a:prstGeom prst="straightConnector1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12" name="Google Shape;512;p28"/>
          <p:cNvGrpSpPr/>
          <p:nvPr/>
        </p:nvGrpSpPr>
        <p:grpSpPr>
          <a:xfrm>
            <a:off x="4592972" y="1723875"/>
            <a:ext cx="3303251" cy="837000"/>
            <a:chOff x="3888184" y="3951525"/>
            <a:chExt cx="3303251" cy="837000"/>
          </a:xfrm>
        </p:grpSpPr>
        <p:grpSp>
          <p:nvGrpSpPr>
            <p:cNvPr id="513" name="Google Shape;513;p28"/>
            <p:cNvGrpSpPr/>
            <p:nvPr/>
          </p:nvGrpSpPr>
          <p:grpSpPr>
            <a:xfrm>
              <a:off x="4480388" y="3951525"/>
              <a:ext cx="2082238" cy="837000"/>
              <a:chOff x="4290563" y="3904875"/>
              <a:chExt cx="2082238" cy="837000"/>
            </a:xfrm>
          </p:grpSpPr>
          <p:sp>
            <p:nvSpPr>
              <p:cNvPr id="514" name="Google Shape;514;p28"/>
              <p:cNvSpPr/>
              <p:nvPr/>
            </p:nvSpPr>
            <p:spPr>
              <a:xfrm>
                <a:off x="4883000" y="3904875"/>
                <a:ext cx="806400" cy="8370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500" b="1">
                    <a:latin typeface="Consolas"/>
                    <a:ea typeface="Consolas"/>
                    <a:cs typeface="Consolas"/>
                    <a:sym typeface="Consolas"/>
                  </a:rPr>
                  <a:t>AT</a:t>
                </a:r>
                <a:endParaRPr sz="25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515" name="Google Shape;515;p28"/>
              <p:cNvCxnSpPr/>
              <p:nvPr/>
            </p:nvCxnSpPr>
            <p:spPr>
              <a:xfrm rot="10800000" flipH="1">
                <a:off x="4290563" y="4323325"/>
                <a:ext cx="592200" cy="78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516" name="Google Shape;516;p28"/>
              <p:cNvCxnSpPr/>
              <p:nvPr/>
            </p:nvCxnSpPr>
            <p:spPr>
              <a:xfrm>
                <a:off x="5689400" y="4323375"/>
                <a:ext cx="683400" cy="168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517" name="Google Shape;517;p28"/>
            <p:cNvSpPr txBox="1"/>
            <p:nvPr/>
          </p:nvSpPr>
          <p:spPr>
            <a:xfrm>
              <a:off x="3888184" y="4129725"/>
              <a:ext cx="5922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2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518" name="Google Shape;518;p28"/>
            <p:cNvSpPr txBox="1"/>
            <p:nvPr/>
          </p:nvSpPr>
          <p:spPr>
            <a:xfrm>
              <a:off x="6562635" y="4129725"/>
              <a:ext cx="6288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2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519" name="Google Shape;519;p28"/>
          <p:cNvSpPr/>
          <p:nvPr/>
        </p:nvSpPr>
        <p:spPr>
          <a:xfrm>
            <a:off x="5468938" y="5220288"/>
            <a:ext cx="1551300" cy="4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520" name="Google Shape;520;p28"/>
          <p:cNvGraphicFramePr/>
          <p:nvPr/>
        </p:nvGraphicFramePr>
        <p:xfrm>
          <a:off x="5821000" y="3086807"/>
          <a:ext cx="852850" cy="213350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85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521" name="Google Shape;521;p28"/>
          <p:cNvGrpSpPr/>
          <p:nvPr/>
        </p:nvGrpSpPr>
        <p:grpSpPr>
          <a:xfrm>
            <a:off x="5081250" y="3111338"/>
            <a:ext cx="636313" cy="2057925"/>
            <a:chOff x="4673025" y="3220413"/>
            <a:chExt cx="636313" cy="2057925"/>
          </a:xfrm>
        </p:grpSpPr>
        <p:grpSp>
          <p:nvGrpSpPr>
            <p:cNvPr id="522" name="Google Shape;522;p28"/>
            <p:cNvGrpSpPr/>
            <p:nvPr/>
          </p:nvGrpSpPr>
          <p:grpSpPr>
            <a:xfrm>
              <a:off x="4673025" y="3593888"/>
              <a:ext cx="636313" cy="1684450"/>
              <a:chOff x="5161375" y="3094650"/>
              <a:chExt cx="636313" cy="1684450"/>
            </a:xfrm>
          </p:grpSpPr>
          <p:sp>
            <p:nvSpPr>
              <p:cNvPr id="523" name="Google Shape;523;p28"/>
              <p:cNvSpPr txBox="1"/>
              <p:nvPr/>
            </p:nvSpPr>
            <p:spPr>
              <a:xfrm>
                <a:off x="5161375" y="3094650"/>
                <a:ext cx="6363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solidFill>
                      <a:srgbClr val="FF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</a:t>
                </a:r>
                <a:endParaRPr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524" name="Google Shape;524;p28"/>
              <p:cNvSpPr txBox="1"/>
              <p:nvPr/>
            </p:nvSpPr>
            <p:spPr>
              <a:xfrm>
                <a:off x="5161388" y="3521350"/>
                <a:ext cx="6363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solidFill>
                      <a:srgbClr val="FF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</a:t>
                </a:r>
                <a:endParaRPr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525" name="Google Shape;525;p28"/>
              <p:cNvSpPr txBox="1"/>
              <p:nvPr/>
            </p:nvSpPr>
            <p:spPr>
              <a:xfrm>
                <a:off x="5161375" y="3952450"/>
                <a:ext cx="6363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solidFill>
                      <a:srgbClr val="FF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2</a:t>
                </a:r>
                <a:endParaRPr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526" name="Google Shape;526;p28"/>
              <p:cNvSpPr txBox="1"/>
              <p:nvPr/>
            </p:nvSpPr>
            <p:spPr>
              <a:xfrm>
                <a:off x="5161375" y="4348000"/>
                <a:ext cx="6363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solidFill>
                      <a:srgbClr val="FF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3</a:t>
                </a:r>
                <a:endParaRPr b="1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527" name="Google Shape;527;p28"/>
            <p:cNvSpPr txBox="1"/>
            <p:nvPr/>
          </p:nvSpPr>
          <p:spPr>
            <a:xfrm>
              <a:off x="4673025" y="3220413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VPN</a:t>
              </a:r>
              <a:endParaRPr b="1">
                <a:solidFill>
                  <a:srgbClr val="FF0000"/>
                </a:solidFill>
              </a:endParaRPr>
            </a:p>
          </p:txBody>
        </p:sp>
      </p:grpSp>
      <p:sp>
        <p:nvSpPr>
          <p:cNvPr id="528" name="Google Shape;528;p28"/>
          <p:cNvSpPr/>
          <p:nvPr/>
        </p:nvSpPr>
        <p:spPr>
          <a:xfrm>
            <a:off x="5641125" y="1577650"/>
            <a:ext cx="1093800" cy="11079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p28"/>
          <p:cNvSpPr/>
          <p:nvPr/>
        </p:nvSpPr>
        <p:spPr>
          <a:xfrm>
            <a:off x="5140375" y="2990919"/>
            <a:ext cx="1879800" cy="28215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30" name="Google Shape;530;p28"/>
          <p:cNvCxnSpPr/>
          <p:nvPr/>
        </p:nvCxnSpPr>
        <p:spPr>
          <a:xfrm flipH="1">
            <a:off x="5174600" y="1718400"/>
            <a:ext cx="478200" cy="14580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31" name="Google Shape;531;p28"/>
          <p:cNvCxnSpPr/>
          <p:nvPr/>
        </p:nvCxnSpPr>
        <p:spPr>
          <a:xfrm>
            <a:off x="6725825" y="1695050"/>
            <a:ext cx="291600" cy="15630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32" name="Google Shape;532;p28"/>
          <p:cNvCxnSpPr/>
          <p:nvPr/>
        </p:nvCxnSpPr>
        <p:spPr>
          <a:xfrm>
            <a:off x="4218225" y="2604800"/>
            <a:ext cx="1866000" cy="1644600"/>
          </a:xfrm>
          <a:prstGeom prst="bentConnector3">
            <a:avLst>
              <a:gd name="adj1" fmla="val 29377"/>
            </a:avLst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33" name="Google Shape;533;p28"/>
          <p:cNvCxnSpPr/>
          <p:nvPr/>
        </p:nvCxnSpPr>
        <p:spPr>
          <a:xfrm rot="10800000" flipH="1">
            <a:off x="6492550" y="3584475"/>
            <a:ext cx="1726200" cy="676500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29"/>
          <p:cNvSpPr txBox="1">
            <a:spLocks noGrp="1"/>
          </p:cNvSpPr>
          <p:nvPr>
            <p:ph type="title"/>
          </p:nvPr>
        </p:nvSpPr>
        <p:spPr>
          <a:xfrm>
            <a:off x="812170" y="131381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– Paginación</a:t>
            </a:r>
            <a:endParaRPr dirty="0"/>
          </a:p>
        </p:txBody>
      </p:sp>
      <p:graphicFrame>
        <p:nvGraphicFramePr>
          <p:cNvPr id="540" name="Google Shape;540;p29"/>
          <p:cNvGraphicFramePr/>
          <p:nvPr>
            <p:extLst>
              <p:ext uri="{D42A27DB-BD31-4B8C-83A1-F6EECF244321}">
                <p14:modId xmlns:p14="http://schemas.microsoft.com/office/powerpoint/2010/main" val="1579973185"/>
              </p:ext>
            </p:extLst>
          </p:nvPr>
        </p:nvGraphicFramePr>
        <p:xfrm>
          <a:off x="6480038" y="2847650"/>
          <a:ext cx="2518975" cy="42669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5430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8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41" name="Google Shape;541;p29"/>
          <p:cNvGraphicFramePr/>
          <p:nvPr>
            <p:extLst>
              <p:ext uri="{D42A27DB-BD31-4B8C-83A1-F6EECF244321}">
                <p14:modId xmlns:p14="http://schemas.microsoft.com/office/powerpoint/2010/main" val="852388240"/>
              </p:ext>
            </p:extLst>
          </p:nvPr>
        </p:nvGraphicFramePr>
        <p:xfrm>
          <a:off x="2616675" y="2847650"/>
          <a:ext cx="2342250" cy="42669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4833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8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19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42" name="Google Shape;542;p29"/>
          <p:cNvSpPr/>
          <p:nvPr/>
        </p:nvSpPr>
        <p:spPr>
          <a:xfrm>
            <a:off x="1056375" y="2649755"/>
            <a:ext cx="794100" cy="792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nsolas"/>
                <a:ea typeface="Consolas"/>
                <a:cs typeface="Consolas"/>
                <a:sym typeface="Consolas"/>
              </a:rPr>
              <a:t>CPU</a:t>
            </a:r>
            <a:endParaRPr sz="20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3" name="Google Shape;543;p29"/>
          <p:cNvCxnSpPr>
            <a:stCxn id="542" idx="3"/>
          </p:cNvCxnSpPr>
          <p:nvPr/>
        </p:nvCxnSpPr>
        <p:spPr>
          <a:xfrm>
            <a:off x="1850475" y="3045755"/>
            <a:ext cx="746400" cy="2100"/>
          </a:xfrm>
          <a:prstGeom prst="straightConnector1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44" name="Google Shape;544;p29"/>
          <p:cNvSpPr txBox="1"/>
          <p:nvPr/>
        </p:nvSpPr>
        <p:spPr>
          <a:xfrm>
            <a:off x="4203290" y="4138800"/>
            <a:ext cx="68306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sz="1200" dirty="0"/>
          </a:p>
        </p:txBody>
      </p:sp>
      <p:sp>
        <p:nvSpPr>
          <p:cNvPr id="545" name="Google Shape;545;p29"/>
          <p:cNvSpPr txBox="1"/>
          <p:nvPr/>
        </p:nvSpPr>
        <p:spPr>
          <a:xfrm>
            <a:off x="10949725" y="2709150"/>
            <a:ext cx="956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r>
              <a:rPr lang="es-ES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|</a:t>
            </a: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00...00</a:t>
            </a:r>
            <a:endParaRPr sz="1000">
              <a:solidFill>
                <a:srgbClr val="FF0000"/>
              </a:solidFill>
            </a:endParaRPr>
          </a:p>
        </p:txBody>
      </p:sp>
      <p:graphicFrame>
        <p:nvGraphicFramePr>
          <p:cNvPr id="546" name="Google Shape;546;p29"/>
          <p:cNvGraphicFramePr/>
          <p:nvPr/>
        </p:nvGraphicFramePr>
        <p:xfrm>
          <a:off x="5173050" y="3744155"/>
          <a:ext cx="1204300" cy="274302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6900">
                <a:tc grid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900">
                <a:tc grid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900">
                <a:tc grid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900">
                <a:tc grid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900">
                <a:tc grid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47" name="Google Shape;547;p29"/>
          <p:cNvSpPr/>
          <p:nvPr/>
        </p:nvSpPr>
        <p:spPr>
          <a:xfrm>
            <a:off x="4886350" y="3744150"/>
            <a:ext cx="198300" cy="1189500"/>
          </a:xfrm>
          <a:prstGeom prst="leftBrace">
            <a:avLst>
              <a:gd name="adj1" fmla="val 50000"/>
              <a:gd name="adj2" fmla="val 50000"/>
            </a:avLst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48" name="Google Shape;548;p29"/>
          <p:cNvCxnSpPr/>
          <p:nvPr/>
        </p:nvCxnSpPr>
        <p:spPr>
          <a:xfrm rot="-5400000" flipH="1">
            <a:off x="3331825" y="3292900"/>
            <a:ext cx="1889400" cy="1819500"/>
          </a:xfrm>
          <a:prstGeom prst="bentConnector3">
            <a:avLst>
              <a:gd name="adj1" fmla="val 100001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9" name="Google Shape;549;p29"/>
          <p:cNvCxnSpPr/>
          <p:nvPr/>
        </p:nvCxnSpPr>
        <p:spPr>
          <a:xfrm rot="-5400000">
            <a:off x="5926875" y="3730300"/>
            <a:ext cx="1901100" cy="956400"/>
          </a:xfrm>
          <a:prstGeom prst="bentConnector3">
            <a:avLst>
              <a:gd name="adj1" fmla="val 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50" name="Google Shape;550;p29"/>
          <p:cNvGrpSpPr/>
          <p:nvPr/>
        </p:nvGrpSpPr>
        <p:grpSpPr>
          <a:xfrm>
            <a:off x="4591587" y="2324875"/>
            <a:ext cx="4023905" cy="536500"/>
            <a:chOff x="4813050" y="1928325"/>
            <a:chExt cx="4746850" cy="536500"/>
          </a:xfrm>
        </p:grpSpPr>
        <p:cxnSp>
          <p:nvCxnSpPr>
            <p:cNvPr id="551" name="Google Shape;551;p29"/>
            <p:cNvCxnSpPr/>
            <p:nvPr/>
          </p:nvCxnSpPr>
          <p:spPr>
            <a:xfrm rot="10800000">
              <a:off x="4813050" y="1928425"/>
              <a:ext cx="0" cy="5364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52" name="Google Shape;552;p29"/>
            <p:cNvCxnSpPr/>
            <p:nvPr/>
          </p:nvCxnSpPr>
          <p:spPr>
            <a:xfrm>
              <a:off x="4824700" y="1928325"/>
              <a:ext cx="4735200" cy="513300"/>
            </a:xfrm>
            <a:prstGeom prst="bentConnector3">
              <a:avLst>
                <a:gd name="adj1" fmla="val 99703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aphicFrame>
        <p:nvGraphicFramePr>
          <p:cNvPr id="553" name="Google Shape;553;p29"/>
          <p:cNvGraphicFramePr/>
          <p:nvPr/>
        </p:nvGraphicFramePr>
        <p:xfrm>
          <a:off x="9745413" y="1663128"/>
          <a:ext cx="1204300" cy="411453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20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cxnSp>
        <p:nvCxnSpPr>
          <p:cNvPr id="554" name="Google Shape;554;p29"/>
          <p:cNvCxnSpPr/>
          <p:nvPr/>
        </p:nvCxnSpPr>
        <p:spPr>
          <a:xfrm>
            <a:off x="8999025" y="3044705"/>
            <a:ext cx="746400" cy="2100"/>
          </a:xfrm>
          <a:prstGeom prst="straightConnector1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55" name="Google Shape;555;p29"/>
          <p:cNvSpPr txBox="1"/>
          <p:nvPr/>
        </p:nvSpPr>
        <p:spPr>
          <a:xfrm>
            <a:off x="10949725" y="3044700"/>
            <a:ext cx="956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r>
              <a:rPr lang="es-ES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|</a:t>
            </a: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11...11</a:t>
            </a:r>
            <a:endParaRPr sz="1000">
              <a:solidFill>
                <a:srgbClr val="FF0000"/>
              </a:solidFill>
            </a:endParaRPr>
          </a:p>
        </p:txBody>
      </p:sp>
      <p:sp>
        <p:nvSpPr>
          <p:cNvPr id="556" name="Google Shape;556;p29"/>
          <p:cNvSpPr txBox="1"/>
          <p:nvPr/>
        </p:nvSpPr>
        <p:spPr>
          <a:xfrm>
            <a:off x="2616675" y="2324875"/>
            <a:ext cx="95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9E9E9E"/>
                </a:solidFill>
                <a:latin typeface="Consolas"/>
                <a:ea typeface="Consolas"/>
                <a:cs typeface="Consolas"/>
                <a:sym typeface="Consolas"/>
              </a:rPr>
              <a:t>Virtual Address</a:t>
            </a:r>
            <a:endParaRPr sz="1200" b="1" dirty="0">
              <a:solidFill>
                <a:srgbClr val="9E9E9E"/>
              </a:solidFill>
            </a:endParaRPr>
          </a:p>
        </p:txBody>
      </p:sp>
      <p:sp>
        <p:nvSpPr>
          <p:cNvPr id="557" name="Google Shape;557;p29"/>
          <p:cNvSpPr txBox="1"/>
          <p:nvPr/>
        </p:nvSpPr>
        <p:spPr>
          <a:xfrm>
            <a:off x="6480050" y="2324875"/>
            <a:ext cx="95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9E9E9E"/>
                </a:solidFill>
                <a:latin typeface="Consolas"/>
                <a:ea typeface="Consolas"/>
                <a:cs typeface="Consolas"/>
                <a:sym typeface="Consolas"/>
              </a:rPr>
              <a:t>Physical Address</a:t>
            </a:r>
            <a:endParaRPr sz="1200" b="1" dirty="0">
              <a:solidFill>
                <a:srgbClr val="9E9E9E"/>
              </a:solidFill>
            </a:endParaRPr>
          </a:p>
        </p:txBody>
      </p:sp>
      <p:sp>
        <p:nvSpPr>
          <p:cNvPr id="558" name="Google Shape;558;p29"/>
          <p:cNvSpPr txBox="1"/>
          <p:nvPr/>
        </p:nvSpPr>
        <p:spPr>
          <a:xfrm>
            <a:off x="1952650" y="2649750"/>
            <a:ext cx="44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559" name="Google Shape;559;p29"/>
          <p:cNvSpPr txBox="1"/>
          <p:nvPr/>
        </p:nvSpPr>
        <p:spPr>
          <a:xfrm>
            <a:off x="9080675" y="2678400"/>
            <a:ext cx="44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560" name="Google Shape;560;p29"/>
          <p:cNvSpPr txBox="1"/>
          <p:nvPr/>
        </p:nvSpPr>
        <p:spPr>
          <a:xfrm>
            <a:off x="5206500" y="3383400"/>
            <a:ext cx="1182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Page Table</a:t>
            </a:r>
            <a:endParaRPr sz="12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– Paginación</a:t>
            </a:r>
            <a:endParaRPr dirty="0"/>
          </a:p>
        </p:txBody>
      </p:sp>
      <p:sp>
        <p:nvSpPr>
          <p:cNvPr id="595" name="Google Shape;595;p30"/>
          <p:cNvSpPr txBox="1">
            <a:spLocks noGrp="1"/>
          </p:cNvSpPr>
          <p:nvPr>
            <p:ph type="body" idx="4294967295"/>
          </p:nvPr>
        </p:nvSpPr>
        <p:spPr>
          <a:xfrm>
            <a:off x="217767" y="5240700"/>
            <a:ext cx="3722688" cy="129381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FF0000"/>
                </a:solidFill>
              </a:rPr>
              <a:t>PTBR (Page Table Base Register)</a:t>
            </a:r>
            <a:endParaRPr sz="1600" b="1" dirty="0">
              <a:solidFill>
                <a:srgbClr val="FF0000"/>
              </a:solidFill>
            </a:endParaRP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ts val="1200"/>
              <a:buChar char="●"/>
            </a:pPr>
            <a:r>
              <a:rPr lang="es-ES" sz="1400" dirty="0"/>
              <a:t>Registro que apunta a la dirección base de la tabla de página del proceso que se encuentra actualmente en ejecución.</a:t>
            </a:r>
            <a:endParaRPr sz="1400" dirty="0"/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400" dirty="0"/>
              <a:t>Cada proceso tiene su propio PTBR.</a:t>
            </a:r>
            <a:endParaRPr sz="1400" dirty="0"/>
          </a:p>
        </p:txBody>
      </p:sp>
      <p:grpSp>
        <p:nvGrpSpPr>
          <p:cNvPr id="567" name="Google Shape;567;p30"/>
          <p:cNvGrpSpPr/>
          <p:nvPr/>
        </p:nvGrpSpPr>
        <p:grpSpPr>
          <a:xfrm>
            <a:off x="916642" y="2000867"/>
            <a:ext cx="2340362" cy="3023498"/>
            <a:chOff x="8005450" y="1566825"/>
            <a:chExt cx="3308400" cy="4491900"/>
          </a:xfrm>
        </p:grpSpPr>
        <p:sp>
          <p:nvSpPr>
            <p:cNvPr id="568" name="Google Shape;568;p30"/>
            <p:cNvSpPr/>
            <p:nvPr/>
          </p:nvSpPr>
          <p:spPr>
            <a:xfrm>
              <a:off x="8005450" y="1566825"/>
              <a:ext cx="3308400" cy="44919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569" name="Google Shape;569;p30"/>
            <p:cNvSpPr txBox="1"/>
            <p:nvPr/>
          </p:nvSpPr>
          <p:spPr>
            <a:xfrm>
              <a:off x="8597250" y="1637048"/>
              <a:ext cx="2103000" cy="73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Chip CPU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570" name="Google Shape;570;p30"/>
            <p:cNvGrpSpPr/>
            <p:nvPr/>
          </p:nvGrpSpPr>
          <p:grpSpPr>
            <a:xfrm>
              <a:off x="8597250" y="2266040"/>
              <a:ext cx="2103000" cy="3163135"/>
              <a:chOff x="8597250" y="2266040"/>
              <a:chExt cx="2103000" cy="3163135"/>
            </a:xfrm>
          </p:grpSpPr>
          <p:sp>
            <p:nvSpPr>
              <p:cNvPr id="571" name="Google Shape;571;p30"/>
              <p:cNvSpPr/>
              <p:nvPr/>
            </p:nvSpPr>
            <p:spPr>
              <a:xfrm>
                <a:off x="9154350" y="2266040"/>
                <a:ext cx="988800" cy="9954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400" b="1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sz="14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572" name="Google Shape;572;p30"/>
              <p:cNvCxnSpPr>
                <a:stCxn id="571" idx="4"/>
                <a:endCxn id="573" idx="0"/>
              </p:cNvCxnSpPr>
              <p:nvPr/>
            </p:nvCxnSpPr>
            <p:spPr>
              <a:xfrm>
                <a:off x="9648750" y="3261440"/>
                <a:ext cx="0" cy="456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574" name="Google Shape;574;p30"/>
              <p:cNvGrpSpPr/>
              <p:nvPr/>
            </p:nvGrpSpPr>
            <p:grpSpPr>
              <a:xfrm>
                <a:off x="8597250" y="3717975"/>
                <a:ext cx="2103000" cy="1711200"/>
                <a:chOff x="8597250" y="3717975"/>
                <a:chExt cx="2103000" cy="1711200"/>
              </a:xfrm>
            </p:grpSpPr>
            <p:grpSp>
              <p:nvGrpSpPr>
                <p:cNvPr id="575" name="Google Shape;575;p30"/>
                <p:cNvGrpSpPr/>
                <p:nvPr/>
              </p:nvGrpSpPr>
              <p:grpSpPr>
                <a:xfrm>
                  <a:off x="8597250" y="3717975"/>
                  <a:ext cx="2103000" cy="1711200"/>
                  <a:chOff x="8597250" y="3717975"/>
                  <a:chExt cx="2103000" cy="1711200"/>
                </a:xfrm>
              </p:grpSpPr>
              <p:sp>
                <p:nvSpPr>
                  <p:cNvPr id="573" name="Google Shape;573;p30"/>
                  <p:cNvSpPr/>
                  <p:nvPr/>
                </p:nvSpPr>
                <p:spPr>
                  <a:xfrm>
                    <a:off x="8597250" y="3717975"/>
                    <a:ext cx="2103000" cy="1711200"/>
                  </a:xfrm>
                  <a:prstGeom prst="rect">
                    <a:avLst/>
                  </a:prstGeom>
                  <a:solidFill>
                    <a:srgbClr val="B6D7A8"/>
                  </a:solidFill>
                  <a:ln w="952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b="1"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  <p:sp>
                <p:nvSpPr>
                  <p:cNvPr id="576" name="Google Shape;576;p30"/>
                  <p:cNvSpPr txBox="1"/>
                  <p:nvPr/>
                </p:nvSpPr>
                <p:spPr>
                  <a:xfrm>
                    <a:off x="9216100" y="3718050"/>
                    <a:ext cx="887100" cy="5946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MMU</a:t>
                    </a:r>
                    <a:endParaRPr sz="800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  <p:grpSp>
              <p:nvGrpSpPr>
                <p:cNvPr id="577" name="Google Shape;577;p30"/>
                <p:cNvGrpSpPr/>
                <p:nvPr/>
              </p:nvGrpSpPr>
              <p:grpSpPr>
                <a:xfrm>
                  <a:off x="8638450" y="4491965"/>
                  <a:ext cx="1901260" cy="548700"/>
                  <a:chOff x="8638450" y="4491965"/>
                  <a:chExt cx="1901260" cy="548700"/>
                </a:xfrm>
              </p:grpSpPr>
              <p:sp>
                <p:nvSpPr>
                  <p:cNvPr id="578" name="Google Shape;578;p30"/>
                  <p:cNvSpPr/>
                  <p:nvPr/>
                </p:nvSpPr>
                <p:spPr>
                  <a:xfrm>
                    <a:off x="9550910" y="4570695"/>
                    <a:ext cx="988800" cy="456600"/>
                  </a:xfrm>
                  <a:prstGeom prst="rect">
                    <a:avLst/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&amp;PT[]</a:t>
                    </a:r>
                    <a:endParaRPr>
                      <a:solidFill>
                        <a:srgbClr val="FF0000"/>
                      </a:solidFill>
                    </a:endParaRPr>
                  </a:p>
                </p:txBody>
              </p:sp>
              <p:sp>
                <p:nvSpPr>
                  <p:cNvPr id="579" name="Google Shape;579;p30"/>
                  <p:cNvSpPr txBox="1"/>
                  <p:nvPr/>
                </p:nvSpPr>
                <p:spPr>
                  <a:xfrm>
                    <a:off x="8638450" y="4491965"/>
                    <a:ext cx="887100" cy="548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PTBR</a:t>
                    </a:r>
                    <a:endParaRPr sz="6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</p:grpSp>
        </p:grpSp>
      </p:grpSp>
      <p:cxnSp>
        <p:nvCxnSpPr>
          <p:cNvPr id="580" name="Google Shape;580;p30"/>
          <p:cNvCxnSpPr>
            <a:stCxn id="578" idx="3"/>
          </p:cNvCxnSpPr>
          <p:nvPr/>
        </p:nvCxnSpPr>
        <p:spPr>
          <a:xfrm rot="10800000" flipH="1">
            <a:off x="2709377" y="3584541"/>
            <a:ext cx="2103600" cy="591900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81" name="Google Shape;581;p30"/>
          <p:cNvGrpSpPr/>
          <p:nvPr/>
        </p:nvGrpSpPr>
        <p:grpSpPr>
          <a:xfrm>
            <a:off x="4824675" y="2068300"/>
            <a:ext cx="2966700" cy="3907200"/>
            <a:chOff x="6957275" y="2149925"/>
            <a:chExt cx="2966700" cy="3907200"/>
          </a:xfrm>
        </p:grpSpPr>
        <p:sp>
          <p:nvSpPr>
            <p:cNvPr id="582" name="Google Shape;582;p30"/>
            <p:cNvSpPr/>
            <p:nvPr/>
          </p:nvSpPr>
          <p:spPr>
            <a:xfrm>
              <a:off x="6957275" y="2149925"/>
              <a:ext cx="2966700" cy="32307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83" name="Google Shape;583;p30"/>
            <p:cNvCxnSpPr/>
            <p:nvPr/>
          </p:nvCxnSpPr>
          <p:spPr>
            <a:xfrm>
              <a:off x="6957275" y="5322325"/>
              <a:ext cx="0" cy="6765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4" name="Google Shape;584;p30"/>
            <p:cNvCxnSpPr/>
            <p:nvPr/>
          </p:nvCxnSpPr>
          <p:spPr>
            <a:xfrm>
              <a:off x="9923975" y="5380625"/>
              <a:ext cx="0" cy="6765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aphicFrame>
        <p:nvGraphicFramePr>
          <p:cNvPr id="585" name="Google Shape;585;p30"/>
          <p:cNvGraphicFramePr/>
          <p:nvPr/>
        </p:nvGraphicFramePr>
        <p:xfrm>
          <a:off x="5582988" y="3345732"/>
          <a:ext cx="1907575" cy="170676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43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586" name="Google Shape;586;p30"/>
          <p:cNvGrpSpPr/>
          <p:nvPr/>
        </p:nvGrpSpPr>
        <p:grpSpPr>
          <a:xfrm>
            <a:off x="4710525" y="3357300"/>
            <a:ext cx="793213" cy="1684450"/>
            <a:chOff x="5004475" y="3094650"/>
            <a:chExt cx="793213" cy="1684450"/>
          </a:xfrm>
        </p:grpSpPr>
        <p:sp>
          <p:nvSpPr>
            <p:cNvPr id="587" name="Google Shape;587;p30"/>
            <p:cNvSpPr txBox="1"/>
            <p:nvPr/>
          </p:nvSpPr>
          <p:spPr>
            <a:xfrm>
              <a:off x="5004475" y="3094650"/>
              <a:ext cx="7932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VPN:0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588" name="Google Shape;588;p30"/>
            <p:cNvSpPr txBox="1"/>
            <p:nvPr/>
          </p:nvSpPr>
          <p:spPr>
            <a:xfrm>
              <a:off x="5161388" y="35213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589" name="Google Shape;589;p30"/>
            <p:cNvSpPr txBox="1"/>
            <p:nvPr/>
          </p:nvSpPr>
          <p:spPr>
            <a:xfrm>
              <a:off x="5161375" y="39524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590" name="Google Shape;590;p30"/>
            <p:cNvSpPr txBox="1"/>
            <p:nvPr/>
          </p:nvSpPr>
          <p:spPr>
            <a:xfrm>
              <a:off x="5161375" y="434800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b="1">
                <a:solidFill>
                  <a:srgbClr val="FF0000"/>
                </a:solidFill>
              </a:endParaRPr>
            </a:p>
          </p:txBody>
        </p:sp>
      </p:grpSp>
      <p:sp>
        <p:nvSpPr>
          <p:cNvPr id="591" name="Google Shape;591;p30"/>
          <p:cNvSpPr/>
          <p:nvPr/>
        </p:nvSpPr>
        <p:spPr>
          <a:xfrm>
            <a:off x="5542138" y="2879000"/>
            <a:ext cx="1989300" cy="4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92" name="Google Shape;592;p30"/>
          <p:cNvSpPr/>
          <p:nvPr/>
        </p:nvSpPr>
        <p:spPr>
          <a:xfrm>
            <a:off x="5036775" y="2162975"/>
            <a:ext cx="2542500" cy="7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nsolas"/>
                <a:ea typeface="Consolas"/>
                <a:cs typeface="Consolas"/>
                <a:sym typeface="Consolas"/>
              </a:rPr>
              <a:t>Operating System</a:t>
            </a:r>
            <a:endParaRPr sz="22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93" name="Google Shape;593;p30"/>
          <p:cNvSpPr txBox="1"/>
          <p:nvPr/>
        </p:nvSpPr>
        <p:spPr>
          <a:xfrm>
            <a:off x="3850950" y="3213450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594" name="Google Shape;594;p30"/>
          <p:cNvSpPr/>
          <p:nvPr/>
        </p:nvSpPr>
        <p:spPr>
          <a:xfrm>
            <a:off x="5036775" y="1604225"/>
            <a:ext cx="2542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latin typeface="Consolas"/>
                <a:ea typeface="Consolas"/>
                <a:cs typeface="Consolas"/>
                <a:sym typeface="Consolas"/>
              </a:rPr>
              <a:t>Physical Memory</a:t>
            </a:r>
            <a:endParaRPr sz="22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96" name="Google Shape;596;p30"/>
          <p:cNvCxnSpPr/>
          <p:nvPr/>
        </p:nvCxnSpPr>
        <p:spPr>
          <a:xfrm rot="10800000" flipH="1">
            <a:off x="7628125" y="3001325"/>
            <a:ext cx="1675200" cy="1451700"/>
          </a:xfrm>
          <a:prstGeom prst="bentConnector3">
            <a:avLst>
              <a:gd name="adj1" fmla="val 29751"/>
            </a:avLst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597" name="Google Shape;597;p30"/>
          <p:cNvGraphicFramePr/>
          <p:nvPr/>
        </p:nvGraphicFramePr>
        <p:xfrm>
          <a:off x="9816588" y="2786757"/>
          <a:ext cx="1907575" cy="42669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43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98" name="Google Shape;598;p30"/>
          <p:cNvSpPr/>
          <p:nvPr/>
        </p:nvSpPr>
        <p:spPr>
          <a:xfrm>
            <a:off x="5197925" y="4167675"/>
            <a:ext cx="2379300" cy="4899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30"/>
          <p:cNvSpPr txBox="1"/>
          <p:nvPr/>
        </p:nvSpPr>
        <p:spPr>
          <a:xfrm>
            <a:off x="9303328" y="2784550"/>
            <a:ext cx="55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PTE</a:t>
            </a:r>
            <a:endParaRPr b="1">
              <a:solidFill>
                <a:srgbClr val="70AD47"/>
              </a:solidFill>
            </a:endParaRPr>
          </a:p>
        </p:txBody>
      </p:sp>
      <p:sp>
        <p:nvSpPr>
          <p:cNvPr id="600" name="Google Shape;600;p30"/>
          <p:cNvSpPr txBox="1"/>
          <p:nvPr/>
        </p:nvSpPr>
        <p:spPr>
          <a:xfrm>
            <a:off x="8248876" y="3433038"/>
            <a:ext cx="3771059" cy="430857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PTEAddr = PTRB + (VPN*size(PTE))</a:t>
            </a:r>
            <a:endParaRPr sz="16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1" name="Google Shape;601;p30"/>
          <p:cNvSpPr txBox="1"/>
          <p:nvPr/>
        </p:nvSpPr>
        <p:spPr>
          <a:xfrm>
            <a:off x="8248876" y="3952246"/>
            <a:ext cx="3762419" cy="430857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PTE = AccessMemory[PTEAddr]</a:t>
            </a:r>
            <a:endParaRPr sz="16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31"/>
          <p:cNvSpPr txBox="1">
            <a:spLocks noGrp="1"/>
          </p:cNvSpPr>
          <p:nvPr>
            <p:ph type="title"/>
          </p:nvPr>
        </p:nvSpPr>
        <p:spPr>
          <a:xfrm>
            <a:off x="285400" y="165819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– Paginación</a:t>
            </a:r>
            <a:endParaRPr dirty="0"/>
          </a:p>
        </p:txBody>
      </p:sp>
      <p:sp>
        <p:nvSpPr>
          <p:cNvPr id="608" name="Google Shape;608;p31"/>
          <p:cNvSpPr txBox="1"/>
          <p:nvPr/>
        </p:nvSpPr>
        <p:spPr>
          <a:xfrm>
            <a:off x="285400" y="1226324"/>
            <a:ext cx="10870200" cy="23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accent2"/>
                </a:solidFill>
                <a:ea typeface="Roboto"/>
                <a:cs typeface="Roboto"/>
                <a:sym typeface="Roboto"/>
              </a:rPr>
              <a:t>Pasos de la traducción de direcciones mediante paginación</a:t>
            </a:r>
            <a:endParaRPr sz="2200" b="1" dirty="0">
              <a:solidFill>
                <a:schemeClr val="accent2"/>
              </a:solidFill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Roboto"/>
              <a:buAutoNum type="arabicPeriod"/>
            </a:pPr>
            <a:r>
              <a:rPr lang="es-ES" sz="2000" dirty="0">
                <a:ea typeface="Roboto"/>
                <a:cs typeface="Roboto"/>
                <a:sym typeface="Roboto"/>
              </a:rPr>
              <a:t>Extraer el VPN de la VA</a:t>
            </a:r>
            <a:r>
              <a:rPr lang="es-ES" sz="2000" b="1" dirty="0">
                <a:ea typeface="Roboto"/>
                <a:cs typeface="Roboto"/>
                <a:sym typeface="Roboto"/>
              </a:rPr>
              <a:t> </a:t>
            </a:r>
            <a:r>
              <a:rPr lang="es-ES" sz="2000" b="1" dirty="0">
                <a:solidFill>
                  <a:schemeClr val="accent6"/>
                </a:solidFill>
                <a:ea typeface="Roboto"/>
                <a:cs typeface="Roboto"/>
                <a:sym typeface="Roboto"/>
              </a:rPr>
              <a:t>[cheap]</a:t>
            </a:r>
            <a:endParaRPr sz="2000" b="1" dirty="0">
              <a:solidFill>
                <a:schemeClr val="accent6"/>
              </a:solidFill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Roboto"/>
              <a:buAutoNum type="arabicPeriod"/>
            </a:pPr>
            <a:r>
              <a:rPr lang="es-ES" sz="2000" dirty="0">
                <a:ea typeface="Roboto"/>
                <a:cs typeface="Roboto"/>
                <a:sym typeface="Roboto"/>
              </a:rPr>
              <a:t>Calcular la dirección del PTE (PTEAddr)</a:t>
            </a:r>
            <a:r>
              <a:rPr lang="es-ES" sz="2000" b="1" dirty="0">
                <a:ea typeface="Roboto"/>
                <a:cs typeface="Roboto"/>
                <a:sym typeface="Roboto"/>
              </a:rPr>
              <a:t> </a:t>
            </a:r>
            <a:r>
              <a:rPr lang="es-ES" sz="2000" b="1" dirty="0">
                <a:solidFill>
                  <a:schemeClr val="accent6"/>
                </a:solidFill>
                <a:ea typeface="Roboto"/>
                <a:cs typeface="Roboto"/>
                <a:sym typeface="Roboto"/>
              </a:rPr>
              <a:t>[cheap]</a:t>
            </a:r>
            <a:endParaRPr sz="2000" b="1" dirty="0">
              <a:solidFill>
                <a:schemeClr val="accent6"/>
              </a:solidFill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Roboto"/>
              <a:buAutoNum type="arabicPeriod"/>
            </a:pPr>
            <a:r>
              <a:rPr lang="es-ES" sz="2000" dirty="0">
                <a:ea typeface="Roboto"/>
                <a:cs typeface="Roboto"/>
                <a:sym typeface="Roboto"/>
              </a:rPr>
              <a:t>Obtener (Fetch) el PTE</a:t>
            </a:r>
            <a:r>
              <a:rPr lang="es-ES" sz="2000" b="1" dirty="0">
                <a:ea typeface="Roboto"/>
                <a:cs typeface="Roboto"/>
                <a:sym typeface="Roboto"/>
              </a:rPr>
              <a:t> </a:t>
            </a:r>
            <a:r>
              <a:rPr lang="es-ES" sz="20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[cost]</a:t>
            </a:r>
            <a:endParaRPr sz="2000" b="1" dirty="0">
              <a:solidFill>
                <a:srgbClr val="FF0000"/>
              </a:solidFill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Roboto"/>
              <a:buAutoNum type="arabicPeriod"/>
            </a:pPr>
            <a:r>
              <a:rPr lang="es-ES" sz="2000" dirty="0">
                <a:ea typeface="Roboto"/>
                <a:cs typeface="Roboto"/>
                <a:sym typeface="Roboto"/>
              </a:rPr>
              <a:t>Extraer el PFN </a:t>
            </a:r>
            <a:r>
              <a:rPr lang="es-ES" sz="2000" b="1" dirty="0">
                <a:solidFill>
                  <a:schemeClr val="accent6"/>
                </a:solidFill>
                <a:ea typeface="Roboto"/>
                <a:cs typeface="Roboto"/>
                <a:sym typeface="Roboto"/>
              </a:rPr>
              <a:t>[cheap]</a:t>
            </a:r>
            <a:endParaRPr sz="2000" b="1" dirty="0">
              <a:solidFill>
                <a:schemeClr val="accent6"/>
              </a:solidFill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Roboto"/>
              <a:buAutoNum type="arabicPeriod"/>
            </a:pPr>
            <a:r>
              <a:rPr lang="es-ES" sz="2000" dirty="0">
                <a:ea typeface="Roboto"/>
                <a:cs typeface="Roboto"/>
                <a:sym typeface="Roboto"/>
              </a:rPr>
              <a:t>Construir la PA </a:t>
            </a:r>
            <a:r>
              <a:rPr lang="es-ES" sz="2000" b="1" dirty="0">
                <a:solidFill>
                  <a:schemeClr val="accent6"/>
                </a:solidFill>
                <a:ea typeface="Roboto"/>
                <a:cs typeface="Roboto"/>
                <a:sym typeface="Roboto"/>
              </a:rPr>
              <a:t>[cheap]</a:t>
            </a:r>
            <a:endParaRPr sz="2000" b="1" dirty="0">
              <a:solidFill>
                <a:schemeClr val="accent6"/>
              </a:solidFill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Roboto"/>
              <a:buAutoNum type="arabicPeriod"/>
            </a:pPr>
            <a:r>
              <a:rPr lang="es-ES" sz="2000" dirty="0">
                <a:ea typeface="Roboto"/>
                <a:cs typeface="Roboto"/>
                <a:sym typeface="Roboto"/>
              </a:rPr>
              <a:t>Traer el PA a un registro</a:t>
            </a:r>
            <a:r>
              <a:rPr lang="es-ES" sz="20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 [cost]</a:t>
            </a:r>
            <a:endParaRPr sz="2000" b="1" dirty="0">
              <a:solidFill>
                <a:srgbClr val="FF0000"/>
              </a:solidFill>
              <a:ea typeface="Roboto"/>
              <a:cs typeface="Roboto"/>
              <a:sym typeface="Roboto"/>
            </a:endParaRPr>
          </a:p>
        </p:txBody>
      </p:sp>
      <p:sp>
        <p:nvSpPr>
          <p:cNvPr id="609" name="Google Shape;609;p31"/>
          <p:cNvSpPr txBox="1"/>
          <p:nvPr/>
        </p:nvSpPr>
        <p:spPr>
          <a:xfrm>
            <a:off x="6535525" y="3902650"/>
            <a:ext cx="5333825" cy="2369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accent2"/>
                </a:solidFill>
                <a:ea typeface="Roboto"/>
                <a:cs typeface="Roboto"/>
                <a:sym typeface="Roboto"/>
              </a:rPr>
              <a:t>Acceso a memoria</a:t>
            </a:r>
            <a:endParaRPr sz="2200" b="1" dirty="0">
              <a:solidFill>
                <a:schemeClr val="accent2"/>
              </a:solidFill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ea typeface="Roboto"/>
                <a:cs typeface="Roboto"/>
                <a:sym typeface="Roboto"/>
              </a:rPr>
              <a:t>Cada instrucción genera dos referencias a memoria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2000" dirty="0">
                <a:ea typeface="Roboto"/>
                <a:cs typeface="Roboto"/>
                <a:sym typeface="Roboto"/>
              </a:rPr>
              <a:t>Una a la PT (Page table) para encontrar el PFN donde se encuentra la instrucción.</a:t>
            </a:r>
            <a:endParaRPr sz="2000" b="1" dirty="0">
              <a:solidFill>
                <a:schemeClr val="accent6"/>
              </a:solidFill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2000" dirty="0">
                <a:ea typeface="Roboto"/>
                <a:cs typeface="Roboto"/>
                <a:sym typeface="Roboto"/>
              </a:rPr>
              <a:t>Para traer de memoria (</a:t>
            </a:r>
            <a:r>
              <a:rPr lang="es-ES" sz="2000" dirty="0" err="1">
                <a:ea typeface="Roboto"/>
                <a:cs typeface="Roboto"/>
                <a:sym typeface="Roboto"/>
              </a:rPr>
              <a:t>fetch</a:t>
            </a:r>
            <a:r>
              <a:rPr lang="es-ES" sz="2000" dirty="0">
                <a:ea typeface="Roboto"/>
                <a:cs typeface="Roboto"/>
                <a:sym typeface="Roboto"/>
              </a:rPr>
              <a:t>) la instrucción como tal.</a:t>
            </a:r>
            <a:endParaRPr sz="2000" b="1" dirty="0">
              <a:solidFill>
                <a:srgbClr val="FF0000"/>
              </a:solidFill>
              <a:ea typeface="Roboto"/>
              <a:cs typeface="Roboto"/>
              <a:sym typeface="Roboto"/>
            </a:endParaRPr>
          </a:p>
        </p:txBody>
      </p:sp>
      <p:grpSp>
        <p:nvGrpSpPr>
          <p:cNvPr id="610" name="Google Shape;610;p31"/>
          <p:cNvGrpSpPr/>
          <p:nvPr/>
        </p:nvGrpSpPr>
        <p:grpSpPr>
          <a:xfrm>
            <a:off x="775300" y="4090574"/>
            <a:ext cx="4945200" cy="2181925"/>
            <a:chOff x="1209100" y="4220425"/>
            <a:chExt cx="4945200" cy="2181925"/>
          </a:xfrm>
        </p:grpSpPr>
        <p:grpSp>
          <p:nvGrpSpPr>
            <p:cNvPr id="611" name="Google Shape;611;p31"/>
            <p:cNvGrpSpPr/>
            <p:nvPr/>
          </p:nvGrpSpPr>
          <p:grpSpPr>
            <a:xfrm>
              <a:off x="1209100" y="4220425"/>
              <a:ext cx="4945200" cy="2181925"/>
              <a:chOff x="1209100" y="3991825"/>
              <a:chExt cx="4945200" cy="2181925"/>
            </a:xfrm>
          </p:grpSpPr>
          <p:grpSp>
            <p:nvGrpSpPr>
              <p:cNvPr id="612" name="Google Shape;612;p31"/>
              <p:cNvGrpSpPr/>
              <p:nvPr/>
            </p:nvGrpSpPr>
            <p:grpSpPr>
              <a:xfrm>
                <a:off x="1441626" y="4206925"/>
                <a:ext cx="1473949" cy="1151700"/>
                <a:chOff x="1453276" y="4206925"/>
                <a:chExt cx="1473949" cy="1151700"/>
              </a:xfrm>
            </p:grpSpPr>
            <p:sp>
              <p:nvSpPr>
                <p:cNvPr id="613" name="Google Shape;613;p31"/>
                <p:cNvSpPr/>
                <p:nvPr/>
              </p:nvSpPr>
              <p:spPr>
                <a:xfrm>
                  <a:off x="1582325" y="4206925"/>
                  <a:ext cx="1344900" cy="11517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t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>
                      <a:latin typeface="Consolas"/>
                      <a:ea typeface="Consolas"/>
                      <a:cs typeface="Consolas"/>
                      <a:sym typeface="Consolas"/>
                    </a:rPr>
                    <a:t>CPU</a:t>
                  </a:r>
                  <a:endParaRPr sz="16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grpSp>
              <p:nvGrpSpPr>
                <p:cNvPr id="614" name="Google Shape;614;p31"/>
                <p:cNvGrpSpPr/>
                <p:nvPr/>
              </p:nvGrpSpPr>
              <p:grpSpPr>
                <a:xfrm>
                  <a:off x="1453276" y="4650929"/>
                  <a:ext cx="1344951" cy="369330"/>
                  <a:chOff x="8638450" y="4491965"/>
                  <a:chExt cx="1901260" cy="548700"/>
                </a:xfrm>
              </p:grpSpPr>
              <p:sp>
                <p:nvSpPr>
                  <p:cNvPr id="615" name="Google Shape;615;p31"/>
                  <p:cNvSpPr/>
                  <p:nvPr/>
                </p:nvSpPr>
                <p:spPr>
                  <a:xfrm>
                    <a:off x="9550910" y="4570695"/>
                    <a:ext cx="988800" cy="456600"/>
                  </a:xfrm>
                  <a:prstGeom prst="rect">
                    <a:avLst/>
                  </a:prstGeom>
                  <a:solidFill>
                    <a:srgbClr val="FFF2CC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rgbClr val="FF0000"/>
                      </a:solidFill>
                    </a:endParaRPr>
                  </a:p>
                </p:txBody>
              </p:sp>
              <p:sp>
                <p:nvSpPr>
                  <p:cNvPr id="616" name="Google Shape;616;p31"/>
                  <p:cNvSpPr txBox="1"/>
                  <p:nvPr/>
                </p:nvSpPr>
                <p:spPr>
                  <a:xfrm>
                    <a:off x="8638450" y="4491965"/>
                    <a:ext cx="887100" cy="548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PTBR</a:t>
                    </a:r>
                    <a:endParaRPr sz="600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</p:grpSp>
          <p:grpSp>
            <p:nvGrpSpPr>
              <p:cNvPr id="617" name="Google Shape;617;p31"/>
              <p:cNvGrpSpPr/>
              <p:nvPr/>
            </p:nvGrpSpPr>
            <p:grpSpPr>
              <a:xfrm>
                <a:off x="4557250" y="3991825"/>
                <a:ext cx="1344900" cy="1581900"/>
                <a:chOff x="4568900" y="4206925"/>
                <a:chExt cx="1344900" cy="1581900"/>
              </a:xfrm>
            </p:grpSpPr>
            <p:sp>
              <p:nvSpPr>
                <p:cNvPr id="618" name="Google Shape;618;p31"/>
                <p:cNvSpPr/>
                <p:nvPr/>
              </p:nvSpPr>
              <p:spPr>
                <a:xfrm>
                  <a:off x="4568900" y="4206925"/>
                  <a:ext cx="1344900" cy="1581900"/>
                </a:xfrm>
                <a:prstGeom prst="rect">
                  <a:avLst/>
                </a:prstGeom>
                <a:solidFill>
                  <a:srgbClr val="B6D7A8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t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>
                      <a:latin typeface="Consolas"/>
                      <a:ea typeface="Consolas"/>
                      <a:cs typeface="Consolas"/>
                      <a:sym typeface="Consolas"/>
                    </a:rPr>
                    <a:t>Mem</a:t>
                  </a:r>
                  <a:endParaRPr sz="16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grpSp>
              <p:nvGrpSpPr>
                <p:cNvPr id="619" name="Google Shape;619;p31"/>
                <p:cNvGrpSpPr/>
                <p:nvPr/>
              </p:nvGrpSpPr>
              <p:grpSpPr>
                <a:xfrm>
                  <a:off x="4923050" y="4937450"/>
                  <a:ext cx="636600" cy="641400"/>
                  <a:chOff x="9231450" y="2884725"/>
                  <a:chExt cx="636600" cy="641400"/>
                </a:xfrm>
              </p:grpSpPr>
              <p:grpSp>
                <p:nvGrpSpPr>
                  <p:cNvPr id="620" name="Google Shape;620;p31"/>
                  <p:cNvGrpSpPr/>
                  <p:nvPr/>
                </p:nvGrpSpPr>
                <p:grpSpPr>
                  <a:xfrm>
                    <a:off x="9231450" y="2884725"/>
                    <a:ext cx="636600" cy="641400"/>
                    <a:chOff x="9231450" y="2884725"/>
                    <a:chExt cx="636600" cy="641400"/>
                  </a:xfrm>
                </p:grpSpPr>
                <p:sp>
                  <p:nvSpPr>
                    <p:cNvPr id="621" name="Google Shape;621;p31"/>
                    <p:cNvSpPr/>
                    <p:nvPr/>
                  </p:nvSpPr>
                  <p:spPr>
                    <a:xfrm>
                      <a:off x="9233850" y="2884725"/>
                      <a:ext cx="629400" cy="641400"/>
                    </a:xfrm>
                    <a:prstGeom prst="rect">
                      <a:avLst/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cxnSp>
                  <p:nvCxnSpPr>
                    <p:cNvPr id="622" name="Google Shape;622;p31"/>
                    <p:cNvCxnSpPr>
                      <a:stCxn id="621" idx="1"/>
                    </p:cNvCxnSpPr>
                    <p:nvPr/>
                  </p:nvCxnSpPr>
                  <p:spPr>
                    <a:xfrm>
                      <a:off x="9233850" y="3205425"/>
                      <a:ext cx="634200" cy="0"/>
                    </a:xfrm>
                    <a:prstGeom prst="straightConnector1">
                      <a:avLst/>
                    </a:prstGeom>
                    <a:noFill/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  <p:cxnSp>
                  <p:nvCxnSpPr>
                    <p:cNvPr id="623" name="Google Shape;623;p31"/>
                    <p:cNvCxnSpPr/>
                    <p:nvPr/>
                  </p:nvCxnSpPr>
                  <p:spPr>
                    <a:xfrm>
                      <a:off x="9233850" y="3040000"/>
                      <a:ext cx="634200" cy="0"/>
                    </a:xfrm>
                    <a:prstGeom prst="straightConnector1">
                      <a:avLst/>
                    </a:prstGeom>
                    <a:noFill/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  <p:cxnSp>
                  <p:nvCxnSpPr>
                    <p:cNvPr id="624" name="Google Shape;624;p31"/>
                    <p:cNvCxnSpPr/>
                    <p:nvPr/>
                  </p:nvCxnSpPr>
                  <p:spPr>
                    <a:xfrm>
                      <a:off x="9231450" y="3367350"/>
                      <a:ext cx="634200" cy="0"/>
                    </a:xfrm>
                    <a:prstGeom prst="straightConnector1">
                      <a:avLst/>
                    </a:prstGeom>
                    <a:noFill/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</p:grpSp>
              <p:sp>
                <p:nvSpPr>
                  <p:cNvPr id="625" name="Google Shape;625;p31"/>
                  <p:cNvSpPr txBox="1"/>
                  <p:nvPr/>
                </p:nvSpPr>
                <p:spPr>
                  <a:xfrm>
                    <a:off x="9389400" y="3042150"/>
                    <a:ext cx="320700" cy="4002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/>
                      <a:t>…</a:t>
                    </a:r>
                    <a:endParaRPr/>
                  </a:p>
                </p:txBody>
              </p:sp>
            </p:grpSp>
            <p:sp>
              <p:nvSpPr>
                <p:cNvPr id="626" name="Google Shape;626;p31"/>
                <p:cNvSpPr txBox="1"/>
                <p:nvPr/>
              </p:nvSpPr>
              <p:spPr>
                <a:xfrm>
                  <a:off x="4927551" y="4598129"/>
                  <a:ext cx="627600" cy="369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PT</a:t>
                  </a:r>
                  <a:endParaRPr sz="600" b="1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cxnSp>
            <p:nvCxnSpPr>
              <p:cNvPr id="627" name="Google Shape;627;p31"/>
              <p:cNvCxnSpPr/>
              <p:nvPr/>
            </p:nvCxnSpPr>
            <p:spPr>
              <a:xfrm>
                <a:off x="1209100" y="6173750"/>
                <a:ext cx="4945200" cy="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8" name="Google Shape;628;p31"/>
              <p:cNvCxnSpPr>
                <a:stCxn id="613" idx="2"/>
              </p:cNvCxnSpPr>
              <p:nvPr/>
            </p:nvCxnSpPr>
            <p:spPr>
              <a:xfrm>
                <a:off x="2243125" y="5358625"/>
                <a:ext cx="3900" cy="80160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9" name="Google Shape;629;p31"/>
              <p:cNvCxnSpPr>
                <a:stCxn id="618" idx="2"/>
              </p:cNvCxnSpPr>
              <p:nvPr/>
            </p:nvCxnSpPr>
            <p:spPr>
              <a:xfrm flipH="1">
                <a:off x="5227000" y="5573725"/>
                <a:ext cx="2700" cy="59220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30" name="Google Shape;630;p31"/>
            <p:cNvSpPr/>
            <p:nvPr/>
          </p:nvSpPr>
          <p:spPr>
            <a:xfrm>
              <a:off x="2725325" y="5042425"/>
              <a:ext cx="2041075" cy="429600"/>
            </a:xfrm>
            <a:custGeom>
              <a:avLst/>
              <a:gdLst/>
              <a:ahLst/>
              <a:cxnLst/>
              <a:rect l="l" t="t" r="r" b="b"/>
              <a:pathLst>
                <a:path w="81643" h="17184" extrusionOk="0">
                  <a:moveTo>
                    <a:pt x="0" y="1399"/>
                  </a:moveTo>
                  <a:cubicBezTo>
                    <a:pt x="2099" y="3343"/>
                    <a:pt x="7387" y="10497"/>
                    <a:pt x="12596" y="13063"/>
                  </a:cubicBezTo>
                  <a:cubicBezTo>
                    <a:pt x="17806" y="15629"/>
                    <a:pt x="26281" y="16173"/>
                    <a:pt x="31257" y="16795"/>
                  </a:cubicBezTo>
                  <a:cubicBezTo>
                    <a:pt x="36233" y="17417"/>
                    <a:pt x="37866" y="17106"/>
                    <a:pt x="42454" y="16795"/>
                  </a:cubicBezTo>
                  <a:cubicBezTo>
                    <a:pt x="47042" y="16484"/>
                    <a:pt x="53496" y="16717"/>
                    <a:pt x="58783" y="14929"/>
                  </a:cubicBezTo>
                  <a:cubicBezTo>
                    <a:pt x="64070" y="13141"/>
                    <a:pt x="70368" y="8553"/>
                    <a:pt x="74178" y="6065"/>
                  </a:cubicBezTo>
                  <a:cubicBezTo>
                    <a:pt x="77988" y="3577"/>
                    <a:pt x="80399" y="1011"/>
                    <a:pt x="81643" y="0"/>
                  </a:cubicBezTo>
                </a:path>
              </a:pathLst>
            </a:cu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631" name="Google Shape;631;p31"/>
            <p:cNvSpPr/>
            <p:nvPr/>
          </p:nvSpPr>
          <p:spPr>
            <a:xfrm>
              <a:off x="2667000" y="5357325"/>
              <a:ext cx="2111050" cy="386350"/>
            </a:xfrm>
            <a:custGeom>
              <a:avLst/>
              <a:gdLst/>
              <a:ahLst/>
              <a:cxnLst/>
              <a:rect l="l" t="t" r="r" b="b"/>
              <a:pathLst>
                <a:path w="84442" h="15454" extrusionOk="0">
                  <a:moveTo>
                    <a:pt x="84442" y="933"/>
                  </a:moveTo>
                  <a:cubicBezTo>
                    <a:pt x="83042" y="2022"/>
                    <a:pt x="80087" y="5366"/>
                    <a:pt x="76044" y="7465"/>
                  </a:cubicBezTo>
                  <a:cubicBezTo>
                    <a:pt x="72001" y="9564"/>
                    <a:pt x="65392" y="12285"/>
                    <a:pt x="60182" y="13529"/>
                  </a:cubicBezTo>
                  <a:cubicBezTo>
                    <a:pt x="54973" y="14773"/>
                    <a:pt x="50385" y="14696"/>
                    <a:pt x="44787" y="14929"/>
                  </a:cubicBezTo>
                  <a:cubicBezTo>
                    <a:pt x="39189" y="15162"/>
                    <a:pt x="31957" y="15862"/>
                    <a:pt x="26592" y="14929"/>
                  </a:cubicBezTo>
                  <a:cubicBezTo>
                    <a:pt x="21227" y="13996"/>
                    <a:pt x="16406" y="11119"/>
                    <a:pt x="12596" y="9331"/>
                  </a:cubicBezTo>
                  <a:cubicBezTo>
                    <a:pt x="8786" y="7543"/>
                    <a:pt x="5831" y="5754"/>
                    <a:pt x="3732" y="4199"/>
                  </a:cubicBezTo>
                  <a:cubicBezTo>
                    <a:pt x="1633" y="2644"/>
                    <a:pt x="622" y="700"/>
                    <a:pt x="0" y="0"/>
                  </a:cubicBezTo>
                </a:path>
              </a:pathLst>
            </a:cu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632" name="Google Shape;632;p31"/>
            <p:cNvSpPr/>
            <p:nvPr/>
          </p:nvSpPr>
          <p:spPr>
            <a:xfrm>
              <a:off x="2404575" y="5472025"/>
              <a:ext cx="2530925" cy="563725"/>
            </a:xfrm>
            <a:custGeom>
              <a:avLst/>
              <a:gdLst/>
              <a:ahLst/>
              <a:cxnLst/>
              <a:rect l="l" t="t" r="r" b="b"/>
              <a:pathLst>
                <a:path w="101237" h="22549" extrusionOk="0">
                  <a:moveTo>
                    <a:pt x="0" y="0"/>
                  </a:moveTo>
                  <a:cubicBezTo>
                    <a:pt x="1711" y="1633"/>
                    <a:pt x="6220" y="6842"/>
                    <a:pt x="10263" y="9797"/>
                  </a:cubicBezTo>
                  <a:cubicBezTo>
                    <a:pt x="14306" y="12752"/>
                    <a:pt x="20527" y="16095"/>
                    <a:pt x="24259" y="17728"/>
                  </a:cubicBezTo>
                  <a:cubicBezTo>
                    <a:pt x="27991" y="19361"/>
                    <a:pt x="28458" y="18817"/>
                    <a:pt x="32657" y="19594"/>
                  </a:cubicBezTo>
                  <a:cubicBezTo>
                    <a:pt x="36856" y="20372"/>
                    <a:pt x="44320" y="22082"/>
                    <a:pt x="49452" y="22393"/>
                  </a:cubicBezTo>
                  <a:cubicBezTo>
                    <a:pt x="54584" y="22704"/>
                    <a:pt x="59094" y="21771"/>
                    <a:pt x="63448" y="21460"/>
                  </a:cubicBezTo>
                  <a:cubicBezTo>
                    <a:pt x="67802" y="21149"/>
                    <a:pt x="71768" y="21227"/>
                    <a:pt x="75578" y="20527"/>
                  </a:cubicBezTo>
                  <a:cubicBezTo>
                    <a:pt x="79388" y="19827"/>
                    <a:pt x="83276" y="18661"/>
                    <a:pt x="86308" y="17261"/>
                  </a:cubicBezTo>
                  <a:cubicBezTo>
                    <a:pt x="89340" y="15861"/>
                    <a:pt x="91284" y="13762"/>
                    <a:pt x="93772" y="12129"/>
                  </a:cubicBezTo>
                  <a:cubicBezTo>
                    <a:pt x="96260" y="10496"/>
                    <a:pt x="99993" y="8242"/>
                    <a:pt x="101237" y="7464"/>
                  </a:cubicBezTo>
                </a:path>
              </a:pathLst>
            </a:cu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633" name="Google Shape;633;p31"/>
            <p:cNvSpPr/>
            <p:nvPr/>
          </p:nvSpPr>
          <p:spPr>
            <a:xfrm>
              <a:off x="2188800" y="5417600"/>
              <a:ext cx="2962475" cy="859200"/>
            </a:xfrm>
            <a:custGeom>
              <a:avLst/>
              <a:gdLst/>
              <a:ahLst/>
              <a:cxnLst/>
              <a:rect l="l" t="t" r="r" b="b"/>
              <a:pathLst>
                <a:path w="118499" h="34368" extrusionOk="0">
                  <a:moveTo>
                    <a:pt x="118499" y="12130"/>
                  </a:moveTo>
                  <a:cubicBezTo>
                    <a:pt x="117722" y="13685"/>
                    <a:pt x="115467" y="18817"/>
                    <a:pt x="113834" y="21461"/>
                  </a:cubicBezTo>
                  <a:cubicBezTo>
                    <a:pt x="112201" y="24105"/>
                    <a:pt x="111424" y="26204"/>
                    <a:pt x="108702" y="27992"/>
                  </a:cubicBezTo>
                  <a:cubicBezTo>
                    <a:pt x="105981" y="29780"/>
                    <a:pt x="101782" y="31180"/>
                    <a:pt x="97505" y="32191"/>
                  </a:cubicBezTo>
                  <a:cubicBezTo>
                    <a:pt x="93229" y="33202"/>
                    <a:pt x="88019" y="33746"/>
                    <a:pt x="83043" y="34057"/>
                  </a:cubicBezTo>
                  <a:cubicBezTo>
                    <a:pt x="78067" y="34368"/>
                    <a:pt x="73868" y="34057"/>
                    <a:pt x="67647" y="34057"/>
                  </a:cubicBezTo>
                  <a:cubicBezTo>
                    <a:pt x="61427" y="34057"/>
                    <a:pt x="52329" y="34368"/>
                    <a:pt x="45720" y="34057"/>
                  </a:cubicBezTo>
                  <a:cubicBezTo>
                    <a:pt x="39111" y="33746"/>
                    <a:pt x="32424" y="33124"/>
                    <a:pt x="27992" y="32191"/>
                  </a:cubicBezTo>
                  <a:cubicBezTo>
                    <a:pt x="23560" y="31258"/>
                    <a:pt x="21616" y="29703"/>
                    <a:pt x="19128" y="28459"/>
                  </a:cubicBezTo>
                  <a:cubicBezTo>
                    <a:pt x="16640" y="27215"/>
                    <a:pt x="14929" y="26515"/>
                    <a:pt x="13063" y="24726"/>
                  </a:cubicBezTo>
                  <a:cubicBezTo>
                    <a:pt x="11197" y="22938"/>
                    <a:pt x="9408" y="20216"/>
                    <a:pt x="7931" y="17728"/>
                  </a:cubicBezTo>
                  <a:cubicBezTo>
                    <a:pt x="6454" y="15240"/>
                    <a:pt x="5521" y="12752"/>
                    <a:pt x="4199" y="9797"/>
                  </a:cubicBezTo>
                  <a:cubicBezTo>
                    <a:pt x="2877" y="6842"/>
                    <a:pt x="700" y="1633"/>
                    <a:pt x="0" y="0"/>
                  </a:cubicBezTo>
                </a:path>
              </a:pathLst>
            </a:cu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634" name="Google Shape;634;p31"/>
            <p:cNvSpPr txBox="1"/>
            <p:nvPr/>
          </p:nvSpPr>
          <p:spPr>
            <a:xfrm>
              <a:off x="3296800" y="5188688"/>
              <a:ext cx="7698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b="1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PTEAddr</a:t>
              </a:r>
              <a:endParaRPr sz="1000" b="1" dirty="0">
                <a:solidFill>
                  <a:schemeClr val="accent5"/>
                </a:solidFill>
              </a:endParaRPr>
            </a:p>
          </p:txBody>
        </p:sp>
        <p:sp>
          <p:nvSpPr>
            <p:cNvPr id="635" name="Google Shape;635;p31"/>
            <p:cNvSpPr txBox="1"/>
            <p:nvPr/>
          </p:nvSpPr>
          <p:spPr>
            <a:xfrm>
              <a:off x="3337625" y="5472013"/>
              <a:ext cx="7698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b="1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PTE</a:t>
              </a:r>
              <a:endParaRPr sz="1000" b="1">
                <a:solidFill>
                  <a:schemeClr val="accent5"/>
                </a:solidFill>
              </a:endParaRPr>
            </a:p>
          </p:txBody>
        </p:sp>
        <p:sp>
          <p:nvSpPr>
            <p:cNvPr id="636" name="Google Shape;636;p31"/>
            <p:cNvSpPr txBox="1"/>
            <p:nvPr/>
          </p:nvSpPr>
          <p:spPr>
            <a:xfrm>
              <a:off x="3360962" y="5743663"/>
              <a:ext cx="7698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1000" b="1">
                <a:solidFill>
                  <a:schemeClr val="accent2"/>
                </a:solidFill>
              </a:endParaRPr>
            </a:p>
          </p:txBody>
        </p:sp>
        <p:sp>
          <p:nvSpPr>
            <p:cNvPr id="637" name="Google Shape;637;p31"/>
            <p:cNvSpPr txBox="1"/>
            <p:nvPr/>
          </p:nvSpPr>
          <p:spPr>
            <a:xfrm>
              <a:off x="3372637" y="6000738"/>
              <a:ext cx="7698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data</a:t>
              </a:r>
              <a:endParaRPr sz="1000" b="1">
                <a:solidFill>
                  <a:schemeClr val="accent2"/>
                </a:solidFill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32"/>
          <p:cNvSpPr txBox="1">
            <a:spLocks noGrp="1"/>
          </p:cNvSpPr>
          <p:nvPr>
            <p:ph type="title"/>
          </p:nvPr>
        </p:nvSpPr>
        <p:spPr>
          <a:xfrm>
            <a:off x="462525" y="141650"/>
            <a:ext cx="9320981" cy="784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– Paginación</a:t>
            </a:r>
            <a:endParaRPr dirty="0"/>
          </a:p>
        </p:txBody>
      </p:sp>
      <p:sp>
        <p:nvSpPr>
          <p:cNvPr id="643" name="Google Shape;643;p32"/>
          <p:cNvSpPr txBox="1">
            <a:spLocks noGrp="1"/>
          </p:cNvSpPr>
          <p:nvPr>
            <p:ph idx="1"/>
          </p:nvPr>
        </p:nvSpPr>
        <p:spPr>
          <a:xfrm>
            <a:off x="663000" y="767733"/>
            <a:ext cx="10866000" cy="58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800" b="1" dirty="0">
                <a:solidFill>
                  <a:schemeClr val="accent1"/>
                </a:solidFill>
              </a:rPr>
              <a:t>Traducción de direcciones - </a:t>
            </a:r>
            <a:r>
              <a:rPr lang="es-ES" sz="2800" b="1" dirty="0">
                <a:solidFill>
                  <a:srgbClr val="EA9999"/>
                </a:solidFill>
              </a:rPr>
              <a:t>Ejemplo paginación</a:t>
            </a:r>
            <a:endParaRPr sz="2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644" name="Google Shape;644;p32"/>
          <p:cNvGraphicFramePr/>
          <p:nvPr/>
        </p:nvGraphicFramePr>
        <p:xfrm>
          <a:off x="5446013" y="1838203"/>
          <a:ext cx="1700900" cy="461814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70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PT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PT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P2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P2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P2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645" name="Google Shape;645;p32"/>
          <p:cNvGraphicFramePr/>
          <p:nvPr>
            <p:extLst>
              <p:ext uri="{D42A27DB-BD31-4B8C-83A1-F6EECF244321}">
                <p14:modId xmlns:p14="http://schemas.microsoft.com/office/powerpoint/2010/main" val="3475233790"/>
              </p:ext>
            </p:extLst>
          </p:nvPr>
        </p:nvGraphicFramePr>
        <p:xfrm>
          <a:off x="8264250" y="1585175"/>
          <a:ext cx="2032700" cy="39621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508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8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8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46" name="Google Shape;646;p32"/>
          <p:cNvGraphicFramePr/>
          <p:nvPr>
            <p:extLst>
              <p:ext uri="{D42A27DB-BD31-4B8C-83A1-F6EECF244321}">
                <p14:modId xmlns:p14="http://schemas.microsoft.com/office/powerpoint/2010/main" val="1610326289"/>
              </p:ext>
            </p:extLst>
          </p:nvPr>
        </p:nvGraphicFramePr>
        <p:xfrm>
          <a:off x="8264250" y="2072275"/>
          <a:ext cx="2032700" cy="39621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508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8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8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47" name="Google Shape;647;p32"/>
          <p:cNvCxnSpPr/>
          <p:nvPr/>
        </p:nvCxnSpPr>
        <p:spPr>
          <a:xfrm flipH="1">
            <a:off x="7203750" y="1835025"/>
            <a:ext cx="933300" cy="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48" name="Google Shape;648;p32"/>
          <p:cNvCxnSpPr/>
          <p:nvPr/>
        </p:nvCxnSpPr>
        <p:spPr>
          <a:xfrm flipH="1">
            <a:off x="7213875" y="2231575"/>
            <a:ext cx="946500" cy="36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49" name="Google Shape;649;p32"/>
          <p:cNvSpPr/>
          <p:nvPr/>
        </p:nvSpPr>
        <p:spPr>
          <a:xfrm>
            <a:off x="7312073" y="1508475"/>
            <a:ext cx="801600" cy="39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PTBR(P1)</a:t>
            </a:r>
            <a:endParaRPr sz="1000" b="1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32"/>
          <p:cNvSpPr/>
          <p:nvPr/>
        </p:nvSpPr>
        <p:spPr>
          <a:xfrm>
            <a:off x="7312050" y="1904775"/>
            <a:ext cx="866100" cy="39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PTBR(P2)</a:t>
            </a:r>
            <a:endParaRPr sz="1000" b="1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32"/>
          <p:cNvSpPr/>
          <p:nvPr/>
        </p:nvSpPr>
        <p:spPr>
          <a:xfrm>
            <a:off x="10296950" y="1585125"/>
            <a:ext cx="866100" cy="39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PT(P1)</a:t>
            </a:r>
            <a:endParaRPr sz="1600" b="1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32"/>
          <p:cNvSpPr/>
          <p:nvPr/>
        </p:nvSpPr>
        <p:spPr>
          <a:xfrm>
            <a:off x="10296950" y="2072225"/>
            <a:ext cx="866100" cy="39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PT(P2)</a:t>
            </a:r>
            <a:endParaRPr sz="1600" b="1"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653" name="Google Shape;653;p32"/>
          <p:cNvGraphicFramePr/>
          <p:nvPr>
            <p:extLst>
              <p:ext uri="{D42A27DB-BD31-4B8C-83A1-F6EECF244321}">
                <p14:modId xmlns:p14="http://schemas.microsoft.com/office/powerpoint/2010/main" val="1652507348"/>
              </p:ext>
            </p:extLst>
          </p:nvPr>
        </p:nvGraphicFramePr>
        <p:xfrm>
          <a:off x="1627228" y="2146160"/>
          <a:ext cx="1481250" cy="158484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48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550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50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50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50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54" name="Google Shape;654;p32"/>
          <p:cNvGraphicFramePr/>
          <p:nvPr>
            <p:extLst>
              <p:ext uri="{D42A27DB-BD31-4B8C-83A1-F6EECF244321}">
                <p14:modId xmlns:p14="http://schemas.microsoft.com/office/powerpoint/2010/main" val="3440929085"/>
              </p:ext>
            </p:extLst>
          </p:nvPr>
        </p:nvGraphicFramePr>
        <p:xfrm>
          <a:off x="1715861" y="4537584"/>
          <a:ext cx="1481250" cy="158484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48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561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61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61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61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655" name="Google Shape;655;p32"/>
          <p:cNvGrpSpPr/>
          <p:nvPr/>
        </p:nvGrpSpPr>
        <p:grpSpPr>
          <a:xfrm>
            <a:off x="4621873" y="1637175"/>
            <a:ext cx="824150" cy="4881550"/>
            <a:chOff x="5578273" y="1637175"/>
            <a:chExt cx="824150" cy="4881550"/>
          </a:xfrm>
        </p:grpSpPr>
        <p:sp>
          <p:nvSpPr>
            <p:cNvPr id="656" name="Google Shape;656;p32"/>
            <p:cNvSpPr/>
            <p:nvPr/>
          </p:nvSpPr>
          <p:spPr>
            <a:xfrm>
              <a:off x="5600823" y="1637175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0 KB</a:t>
              </a:r>
              <a:endParaRPr sz="12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57" name="Google Shape;657;p32"/>
            <p:cNvSpPr/>
            <p:nvPr/>
          </p:nvSpPr>
          <p:spPr>
            <a:xfrm>
              <a:off x="5600823" y="2434775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4 KB</a:t>
              </a:r>
              <a:endParaRPr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58" name="Google Shape;658;p32"/>
            <p:cNvSpPr/>
            <p:nvPr/>
          </p:nvSpPr>
          <p:spPr>
            <a:xfrm>
              <a:off x="5600823" y="3029738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8 KB</a:t>
              </a:r>
              <a:endParaRPr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59" name="Google Shape;659;p32"/>
            <p:cNvSpPr/>
            <p:nvPr/>
          </p:nvSpPr>
          <p:spPr>
            <a:xfrm>
              <a:off x="5600823" y="3625025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12 KB</a:t>
              </a:r>
              <a:endParaRPr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60" name="Google Shape;660;p32"/>
            <p:cNvSpPr/>
            <p:nvPr/>
          </p:nvSpPr>
          <p:spPr>
            <a:xfrm>
              <a:off x="5600823" y="4278600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16 KB</a:t>
              </a:r>
              <a:endParaRPr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61" name="Google Shape;661;p32"/>
            <p:cNvSpPr/>
            <p:nvPr/>
          </p:nvSpPr>
          <p:spPr>
            <a:xfrm>
              <a:off x="5578273" y="4909175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20 KB</a:t>
              </a:r>
              <a:endParaRPr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62" name="Google Shape;662;p32"/>
            <p:cNvSpPr/>
            <p:nvPr/>
          </p:nvSpPr>
          <p:spPr>
            <a:xfrm>
              <a:off x="5578273" y="5539750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24 KB</a:t>
              </a:r>
              <a:endParaRPr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63" name="Google Shape;663;p32"/>
            <p:cNvSpPr/>
            <p:nvPr/>
          </p:nvSpPr>
          <p:spPr>
            <a:xfrm>
              <a:off x="5578273" y="6122425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28 KB</a:t>
              </a:r>
              <a:endParaRPr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664" name="Google Shape;664;p32"/>
          <p:cNvGrpSpPr/>
          <p:nvPr/>
        </p:nvGrpSpPr>
        <p:grpSpPr>
          <a:xfrm>
            <a:off x="3998701" y="2012060"/>
            <a:ext cx="860700" cy="4168563"/>
            <a:chOff x="5009623" y="2046338"/>
            <a:chExt cx="860700" cy="4168563"/>
          </a:xfrm>
        </p:grpSpPr>
        <p:sp>
          <p:nvSpPr>
            <p:cNvPr id="665" name="Google Shape;665;p32"/>
            <p:cNvSpPr/>
            <p:nvPr/>
          </p:nvSpPr>
          <p:spPr>
            <a:xfrm>
              <a:off x="5039160" y="2046338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PFN0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66" name="Google Shape;666;p32"/>
            <p:cNvSpPr/>
            <p:nvPr/>
          </p:nvSpPr>
          <p:spPr>
            <a:xfrm>
              <a:off x="5009623" y="2701513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PFN1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67" name="Google Shape;667;p32"/>
            <p:cNvSpPr/>
            <p:nvPr/>
          </p:nvSpPr>
          <p:spPr>
            <a:xfrm>
              <a:off x="5009623" y="3356688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PFN2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68" name="Google Shape;668;p32"/>
            <p:cNvSpPr/>
            <p:nvPr/>
          </p:nvSpPr>
          <p:spPr>
            <a:xfrm>
              <a:off x="5009623" y="3969463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PFN3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69" name="Google Shape;669;p32"/>
            <p:cNvSpPr/>
            <p:nvPr/>
          </p:nvSpPr>
          <p:spPr>
            <a:xfrm>
              <a:off x="5009623" y="4582388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PFN4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70" name="Google Shape;670;p32"/>
            <p:cNvSpPr/>
            <p:nvPr/>
          </p:nvSpPr>
          <p:spPr>
            <a:xfrm>
              <a:off x="5068723" y="5200500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PFN5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71" name="Google Shape;671;p32"/>
            <p:cNvSpPr/>
            <p:nvPr/>
          </p:nvSpPr>
          <p:spPr>
            <a:xfrm>
              <a:off x="5068723" y="5818600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PFN6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672" name="Google Shape;672;p32"/>
          <p:cNvGrpSpPr/>
          <p:nvPr/>
        </p:nvGrpSpPr>
        <p:grpSpPr>
          <a:xfrm>
            <a:off x="785151" y="2158300"/>
            <a:ext cx="801600" cy="1572700"/>
            <a:chOff x="1212698" y="1993825"/>
            <a:chExt cx="801600" cy="1572700"/>
          </a:xfrm>
        </p:grpSpPr>
        <p:sp>
          <p:nvSpPr>
            <p:cNvPr id="673" name="Google Shape;673;p32"/>
            <p:cNvSpPr/>
            <p:nvPr/>
          </p:nvSpPr>
          <p:spPr>
            <a:xfrm>
              <a:off x="1212698" y="1993825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VPN0</a:t>
              </a:r>
              <a:endParaRPr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74" name="Google Shape;674;p32"/>
            <p:cNvSpPr/>
            <p:nvPr/>
          </p:nvSpPr>
          <p:spPr>
            <a:xfrm>
              <a:off x="1212698" y="2377625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dirty="0">
                  <a:solidFill>
                    <a:srgbClr val="E46C0A"/>
                  </a:solidFill>
                  <a:latin typeface="Consolas"/>
                  <a:ea typeface="Consolas"/>
                  <a:cs typeface="Consolas"/>
                  <a:sym typeface="Consolas"/>
                </a:rPr>
                <a:t>VPN1</a:t>
              </a:r>
              <a:endParaRPr dirty="0">
                <a:solidFill>
                  <a:srgbClr val="E46C0A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75" name="Google Shape;675;p32"/>
            <p:cNvSpPr/>
            <p:nvPr/>
          </p:nvSpPr>
          <p:spPr>
            <a:xfrm>
              <a:off x="1212698" y="2773925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E46C0A"/>
                  </a:solidFill>
                  <a:latin typeface="Consolas"/>
                  <a:ea typeface="Consolas"/>
                  <a:cs typeface="Consolas"/>
                  <a:sym typeface="Consolas"/>
                </a:rPr>
                <a:t>VPN2</a:t>
              </a:r>
              <a:endParaRPr>
                <a:solidFill>
                  <a:srgbClr val="E46C0A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76" name="Google Shape;676;p32"/>
            <p:cNvSpPr/>
            <p:nvPr/>
          </p:nvSpPr>
          <p:spPr>
            <a:xfrm>
              <a:off x="1212698" y="3170225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VPN3</a:t>
              </a:r>
              <a:endParaRPr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677" name="Google Shape;677;p32"/>
          <p:cNvGrpSpPr/>
          <p:nvPr/>
        </p:nvGrpSpPr>
        <p:grpSpPr>
          <a:xfrm>
            <a:off x="885903" y="4561458"/>
            <a:ext cx="801600" cy="1572700"/>
            <a:chOff x="1212698" y="1993825"/>
            <a:chExt cx="801600" cy="1572700"/>
          </a:xfrm>
        </p:grpSpPr>
        <p:sp>
          <p:nvSpPr>
            <p:cNvPr id="678" name="Google Shape;678;p32"/>
            <p:cNvSpPr/>
            <p:nvPr/>
          </p:nvSpPr>
          <p:spPr>
            <a:xfrm>
              <a:off x="1212698" y="1993825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VPN0</a:t>
              </a:r>
              <a:endParaRPr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79" name="Google Shape;679;p32"/>
            <p:cNvSpPr/>
            <p:nvPr/>
          </p:nvSpPr>
          <p:spPr>
            <a:xfrm>
              <a:off x="1212698" y="2377625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VPN1</a:t>
              </a:r>
              <a:endParaRPr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80" name="Google Shape;680;p32"/>
            <p:cNvSpPr/>
            <p:nvPr/>
          </p:nvSpPr>
          <p:spPr>
            <a:xfrm>
              <a:off x="1212698" y="2773925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VPN2</a:t>
              </a:r>
              <a:endParaRPr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81" name="Google Shape;681;p32"/>
            <p:cNvSpPr/>
            <p:nvPr/>
          </p:nvSpPr>
          <p:spPr>
            <a:xfrm>
              <a:off x="1212698" y="3170225"/>
              <a:ext cx="801600" cy="3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VPN3</a:t>
              </a:r>
              <a:endParaRPr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682" name="Google Shape;682;p32"/>
          <p:cNvSpPr/>
          <p:nvPr/>
        </p:nvSpPr>
        <p:spPr>
          <a:xfrm>
            <a:off x="5512825" y="1368450"/>
            <a:ext cx="15711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Physical memory</a:t>
            </a:r>
            <a:endParaRPr sz="15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p32"/>
          <p:cNvSpPr/>
          <p:nvPr/>
        </p:nvSpPr>
        <p:spPr>
          <a:xfrm>
            <a:off x="1289065" y="1726310"/>
            <a:ext cx="21576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Address Space - P1</a:t>
            </a:r>
            <a:endParaRPr sz="15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p32"/>
          <p:cNvSpPr/>
          <p:nvPr/>
        </p:nvSpPr>
        <p:spPr>
          <a:xfrm>
            <a:off x="1320173" y="4100259"/>
            <a:ext cx="21576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Address Space - P2</a:t>
            </a:r>
            <a:endParaRPr sz="15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p32"/>
          <p:cNvSpPr/>
          <p:nvPr/>
        </p:nvSpPr>
        <p:spPr>
          <a:xfrm>
            <a:off x="7437275" y="2837400"/>
            <a:ext cx="4572000" cy="9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Asumiendo una PTE de 8-byte (size(PTE) = 8B)</a:t>
            </a:r>
            <a:r>
              <a:rPr lang="es-ES" sz="1600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r>
              <a:rPr lang="es-E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es-E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¿Que se debe saber para realizar la traducción? </a:t>
            </a:r>
            <a:endParaRPr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686" name="Google Shape;686;p32"/>
          <p:cNvGraphicFramePr/>
          <p:nvPr/>
        </p:nvGraphicFramePr>
        <p:xfrm>
          <a:off x="8566775" y="4151575"/>
          <a:ext cx="2408950" cy="1346475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50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8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PTBR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Valor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0x0000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825"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P2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0x8000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825"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87" name="Google Shape;687;p32"/>
          <p:cNvSpPr/>
          <p:nvPr/>
        </p:nvSpPr>
        <p:spPr>
          <a:xfrm>
            <a:off x="4577473" y="2035225"/>
            <a:ext cx="801600" cy="39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2 KB</a:t>
            </a:r>
            <a:endParaRPr sz="120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p33"/>
          <p:cNvSpPr txBox="1">
            <a:spLocks noGrp="1"/>
          </p:cNvSpPr>
          <p:nvPr>
            <p:ph type="title"/>
          </p:nvPr>
        </p:nvSpPr>
        <p:spPr>
          <a:xfrm>
            <a:off x="838200" y="114218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– Paginación</a:t>
            </a:r>
            <a:endParaRPr dirty="0"/>
          </a:p>
        </p:txBody>
      </p:sp>
      <p:sp>
        <p:nvSpPr>
          <p:cNvPr id="693" name="Google Shape;693;p33"/>
          <p:cNvSpPr txBox="1">
            <a:spLocks noGrp="1"/>
          </p:cNvSpPr>
          <p:nvPr>
            <p:ph idx="1"/>
          </p:nvPr>
        </p:nvSpPr>
        <p:spPr>
          <a:xfrm>
            <a:off x="487800" y="1168738"/>
            <a:ext cx="10866000" cy="632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800" b="1" dirty="0"/>
              <a:t>Traducción de direcciones - Ejemplo paginación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694" name="Google Shape;694;p33"/>
          <p:cNvGraphicFramePr/>
          <p:nvPr/>
        </p:nvGraphicFramePr>
        <p:xfrm>
          <a:off x="1859838" y="3168200"/>
          <a:ext cx="8979625" cy="301910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265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9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04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18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Proceso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Virtual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Physical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180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P2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load 0x</a:t>
                      </a:r>
                      <a:r>
                        <a:rPr lang="es-ES" sz="1600">
                          <a:solidFill>
                            <a:srgbClr val="E46C0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r>
                        <a:rPr lang="es-ES" sz="160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000</a:t>
                      </a:r>
                      <a:endParaRPr sz="1600"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load 0x0800 : PTEAddr = 0x0800 + 0*8 = 0x0800</a:t>
                      </a:r>
                      <a:endParaRPr sz="1600" b="1" dirty="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1800"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load 0x</a:t>
                      </a:r>
                      <a:r>
                        <a:rPr lang="es-ES" sz="1600">
                          <a:solidFill>
                            <a:srgbClr val="E46C0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r>
                        <a:rPr lang="es-ES" sz="160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000</a:t>
                      </a: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(PA = 0x6000 = 24 KB)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825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P2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load 0x</a:t>
                      </a:r>
                      <a:r>
                        <a:rPr lang="es-ES" sz="1600">
                          <a:solidFill>
                            <a:srgbClr val="E46C0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r>
                        <a:rPr lang="es-ES" sz="160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444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load 0x0800 : PTEAddr = 0x0800 +  1*8 = 0x0808</a:t>
                      </a:r>
                      <a:endParaRPr sz="1600" b="1" dirty="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1800"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load 0x</a:t>
                      </a:r>
                      <a:r>
                        <a:rPr lang="es-ES" sz="1600">
                          <a:solidFill>
                            <a:srgbClr val="E46C0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r>
                        <a:rPr lang="es-ES" sz="160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444 </a:t>
                      </a:r>
                      <a:endParaRPr sz="1600"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825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load 0x</a:t>
                      </a:r>
                      <a:r>
                        <a:rPr lang="es-ES" sz="1600">
                          <a:solidFill>
                            <a:schemeClr val="accent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r>
                        <a:rPr lang="es-ES" sz="160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444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load 0x0000 : PTEAddr = 0x0000 +  1*8 = 0x0008</a:t>
                      </a:r>
                      <a:endParaRPr sz="1600" b="1" dirty="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1800"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load 0x</a:t>
                      </a:r>
                      <a:r>
                        <a:rPr lang="es-ES" sz="1600">
                          <a:solidFill>
                            <a:schemeClr val="accent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r>
                        <a:rPr lang="es-ES" sz="160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444 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95" name="Google Shape;695;p33"/>
          <p:cNvGraphicFramePr/>
          <p:nvPr>
            <p:extLst>
              <p:ext uri="{D42A27DB-BD31-4B8C-83A1-F6EECF244321}">
                <p14:modId xmlns:p14="http://schemas.microsoft.com/office/powerpoint/2010/main" val="3288937993"/>
              </p:ext>
            </p:extLst>
          </p:nvPr>
        </p:nvGraphicFramePr>
        <p:xfrm>
          <a:off x="8162373" y="1915924"/>
          <a:ext cx="2032700" cy="39621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508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8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8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96" name="Google Shape;696;p33"/>
          <p:cNvGraphicFramePr/>
          <p:nvPr>
            <p:extLst>
              <p:ext uri="{D42A27DB-BD31-4B8C-83A1-F6EECF244321}">
                <p14:modId xmlns:p14="http://schemas.microsoft.com/office/powerpoint/2010/main" val="1036545293"/>
              </p:ext>
            </p:extLst>
          </p:nvPr>
        </p:nvGraphicFramePr>
        <p:xfrm>
          <a:off x="8162373" y="2403024"/>
          <a:ext cx="2032700" cy="39621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508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8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8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97" name="Google Shape;697;p33"/>
          <p:cNvCxnSpPr/>
          <p:nvPr/>
        </p:nvCxnSpPr>
        <p:spPr>
          <a:xfrm flipH="1">
            <a:off x="7101873" y="2165774"/>
            <a:ext cx="933300" cy="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98" name="Google Shape;698;p33"/>
          <p:cNvCxnSpPr/>
          <p:nvPr/>
        </p:nvCxnSpPr>
        <p:spPr>
          <a:xfrm flipH="1">
            <a:off x="7111998" y="2562324"/>
            <a:ext cx="946500" cy="36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99" name="Google Shape;699;p33"/>
          <p:cNvSpPr/>
          <p:nvPr/>
        </p:nvSpPr>
        <p:spPr>
          <a:xfrm>
            <a:off x="4553599" y="1967924"/>
            <a:ext cx="2421074" cy="39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PTBR(P1) = 0x0000</a:t>
            </a:r>
            <a:endParaRPr sz="1600" b="1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0" name="Google Shape;700;p33"/>
          <p:cNvSpPr/>
          <p:nvPr/>
        </p:nvSpPr>
        <p:spPr>
          <a:xfrm>
            <a:off x="10195073" y="1915874"/>
            <a:ext cx="866100" cy="39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PT(P1)</a:t>
            </a:r>
            <a:endParaRPr sz="1600" b="1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1" name="Google Shape;701;p33"/>
          <p:cNvSpPr/>
          <p:nvPr/>
        </p:nvSpPr>
        <p:spPr>
          <a:xfrm>
            <a:off x="10195073" y="2402974"/>
            <a:ext cx="866100" cy="39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PT(P2)</a:t>
            </a:r>
            <a:endParaRPr sz="1600" b="1"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2" name="Google Shape;702;p33"/>
          <p:cNvSpPr/>
          <p:nvPr/>
        </p:nvSpPr>
        <p:spPr>
          <a:xfrm>
            <a:off x="4553599" y="2365974"/>
            <a:ext cx="2389949" cy="39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PTBR(P2) = 0x0800</a:t>
            </a:r>
            <a:endParaRPr sz="1600" b="1"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p33"/>
          <p:cNvSpPr txBox="1"/>
          <p:nvPr/>
        </p:nvSpPr>
        <p:spPr>
          <a:xfrm>
            <a:off x="675876" y="2165827"/>
            <a:ext cx="3877723" cy="430857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PTEAddr = PTRB + (VPN*size(PTE))</a:t>
            </a:r>
            <a:endParaRPr sz="16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34"/>
          <p:cNvSpPr txBox="1">
            <a:spLocks noGrp="1"/>
          </p:cNvSpPr>
          <p:nvPr>
            <p:ph type="title"/>
          </p:nvPr>
        </p:nvSpPr>
        <p:spPr>
          <a:xfrm>
            <a:off x="838200" y="229621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– Paginación</a:t>
            </a:r>
            <a:endParaRPr dirty="0"/>
          </a:p>
        </p:txBody>
      </p:sp>
      <p:sp>
        <p:nvSpPr>
          <p:cNvPr id="709" name="Google Shape;709;p34"/>
          <p:cNvSpPr txBox="1">
            <a:spLocks noGrp="1"/>
          </p:cNvSpPr>
          <p:nvPr>
            <p:ph idx="1"/>
          </p:nvPr>
        </p:nvSpPr>
        <p:spPr>
          <a:xfrm>
            <a:off x="391886" y="1211405"/>
            <a:ext cx="11312314" cy="121739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400" b="1" dirty="0">
                <a:solidFill>
                  <a:schemeClr val="accent1"/>
                </a:solidFill>
              </a:rPr>
              <a:t>Traducción de direcciones - </a:t>
            </a:r>
            <a:r>
              <a:rPr lang="es-ES" sz="2400" b="1" dirty="0">
                <a:solidFill>
                  <a:srgbClr val="EA9999"/>
                </a:solidFill>
              </a:rPr>
              <a:t>Problemas de la paginación</a:t>
            </a:r>
            <a:endParaRPr sz="2000" dirty="0">
              <a:solidFill>
                <a:srgbClr val="EA9999"/>
              </a:solidFill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200" dirty="0"/>
              <a:t>Lentitud en el proceso debido a los accesos a la tabla de página.</a:t>
            </a:r>
            <a:endParaRPr sz="22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200" dirty="0"/>
              <a:t>Gasto de memoria (cada proceso tiene su propia tabla de página).</a:t>
            </a: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710" name="Google Shape;710;p34"/>
          <p:cNvGrpSpPr/>
          <p:nvPr/>
        </p:nvGrpSpPr>
        <p:grpSpPr>
          <a:xfrm>
            <a:off x="3727602" y="3464670"/>
            <a:ext cx="4945200" cy="2181925"/>
            <a:chOff x="1209100" y="4220425"/>
            <a:chExt cx="4945200" cy="2181925"/>
          </a:xfrm>
        </p:grpSpPr>
        <p:grpSp>
          <p:nvGrpSpPr>
            <p:cNvPr id="711" name="Google Shape;711;p34"/>
            <p:cNvGrpSpPr/>
            <p:nvPr/>
          </p:nvGrpSpPr>
          <p:grpSpPr>
            <a:xfrm>
              <a:off x="1209100" y="4220425"/>
              <a:ext cx="4945200" cy="2181925"/>
              <a:chOff x="1209100" y="3991825"/>
              <a:chExt cx="4945200" cy="2181925"/>
            </a:xfrm>
          </p:grpSpPr>
          <p:grpSp>
            <p:nvGrpSpPr>
              <p:cNvPr id="712" name="Google Shape;712;p34"/>
              <p:cNvGrpSpPr/>
              <p:nvPr/>
            </p:nvGrpSpPr>
            <p:grpSpPr>
              <a:xfrm>
                <a:off x="1441626" y="4206925"/>
                <a:ext cx="1473949" cy="1151700"/>
                <a:chOff x="1453276" y="4206925"/>
                <a:chExt cx="1473949" cy="1151700"/>
              </a:xfrm>
            </p:grpSpPr>
            <p:sp>
              <p:nvSpPr>
                <p:cNvPr id="713" name="Google Shape;713;p34"/>
                <p:cNvSpPr/>
                <p:nvPr/>
              </p:nvSpPr>
              <p:spPr>
                <a:xfrm>
                  <a:off x="1582325" y="4206925"/>
                  <a:ext cx="1344900" cy="11517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t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>
                      <a:latin typeface="Consolas"/>
                      <a:ea typeface="Consolas"/>
                      <a:cs typeface="Consolas"/>
                      <a:sym typeface="Consolas"/>
                    </a:rPr>
                    <a:t>CPU</a:t>
                  </a:r>
                  <a:endParaRPr sz="16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grpSp>
              <p:nvGrpSpPr>
                <p:cNvPr id="714" name="Google Shape;714;p34"/>
                <p:cNvGrpSpPr/>
                <p:nvPr/>
              </p:nvGrpSpPr>
              <p:grpSpPr>
                <a:xfrm>
                  <a:off x="1453276" y="4650929"/>
                  <a:ext cx="1344951" cy="369330"/>
                  <a:chOff x="8638450" y="4491965"/>
                  <a:chExt cx="1901260" cy="548700"/>
                </a:xfrm>
              </p:grpSpPr>
              <p:sp>
                <p:nvSpPr>
                  <p:cNvPr id="715" name="Google Shape;715;p34"/>
                  <p:cNvSpPr/>
                  <p:nvPr/>
                </p:nvSpPr>
                <p:spPr>
                  <a:xfrm>
                    <a:off x="9550910" y="4570695"/>
                    <a:ext cx="988800" cy="456600"/>
                  </a:xfrm>
                  <a:prstGeom prst="rect">
                    <a:avLst/>
                  </a:prstGeom>
                  <a:solidFill>
                    <a:srgbClr val="FFF2CC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rgbClr val="FF0000"/>
                      </a:solidFill>
                    </a:endParaRPr>
                  </a:p>
                </p:txBody>
              </p:sp>
              <p:sp>
                <p:nvSpPr>
                  <p:cNvPr id="716" name="Google Shape;716;p34"/>
                  <p:cNvSpPr txBox="1"/>
                  <p:nvPr/>
                </p:nvSpPr>
                <p:spPr>
                  <a:xfrm>
                    <a:off x="8638450" y="4491965"/>
                    <a:ext cx="887100" cy="548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PTBR</a:t>
                    </a:r>
                    <a:endParaRPr sz="600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</p:grpSp>
          <p:grpSp>
            <p:nvGrpSpPr>
              <p:cNvPr id="717" name="Google Shape;717;p34"/>
              <p:cNvGrpSpPr/>
              <p:nvPr/>
            </p:nvGrpSpPr>
            <p:grpSpPr>
              <a:xfrm>
                <a:off x="4557250" y="3991825"/>
                <a:ext cx="1344900" cy="1581900"/>
                <a:chOff x="4568900" y="4206925"/>
                <a:chExt cx="1344900" cy="1581900"/>
              </a:xfrm>
            </p:grpSpPr>
            <p:sp>
              <p:nvSpPr>
                <p:cNvPr id="718" name="Google Shape;718;p34"/>
                <p:cNvSpPr/>
                <p:nvPr/>
              </p:nvSpPr>
              <p:spPr>
                <a:xfrm>
                  <a:off x="4568900" y="4206925"/>
                  <a:ext cx="1344900" cy="1581900"/>
                </a:xfrm>
                <a:prstGeom prst="rect">
                  <a:avLst/>
                </a:prstGeom>
                <a:solidFill>
                  <a:srgbClr val="B6D7A8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t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>
                      <a:latin typeface="Consolas"/>
                      <a:ea typeface="Consolas"/>
                      <a:cs typeface="Consolas"/>
                      <a:sym typeface="Consolas"/>
                    </a:rPr>
                    <a:t>Mem</a:t>
                  </a:r>
                  <a:endParaRPr sz="16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grpSp>
              <p:nvGrpSpPr>
                <p:cNvPr id="719" name="Google Shape;719;p34"/>
                <p:cNvGrpSpPr/>
                <p:nvPr/>
              </p:nvGrpSpPr>
              <p:grpSpPr>
                <a:xfrm>
                  <a:off x="4923050" y="4937450"/>
                  <a:ext cx="636600" cy="641400"/>
                  <a:chOff x="9231450" y="2884725"/>
                  <a:chExt cx="636600" cy="641400"/>
                </a:xfrm>
              </p:grpSpPr>
              <p:grpSp>
                <p:nvGrpSpPr>
                  <p:cNvPr id="720" name="Google Shape;720;p34"/>
                  <p:cNvGrpSpPr/>
                  <p:nvPr/>
                </p:nvGrpSpPr>
                <p:grpSpPr>
                  <a:xfrm>
                    <a:off x="9231450" y="2884725"/>
                    <a:ext cx="636600" cy="641400"/>
                    <a:chOff x="9231450" y="2884725"/>
                    <a:chExt cx="636600" cy="641400"/>
                  </a:xfrm>
                </p:grpSpPr>
                <p:sp>
                  <p:nvSpPr>
                    <p:cNvPr id="721" name="Google Shape;721;p34"/>
                    <p:cNvSpPr/>
                    <p:nvPr/>
                  </p:nvSpPr>
                  <p:spPr>
                    <a:xfrm>
                      <a:off x="9233850" y="2884725"/>
                      <a:ext cx="629400" cy="641400"/>
                    </a:xfrm>
                    <a:prstGeom prst="rect">
                      <a:avLst/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cxnSp>
                  <p:nvCxnSpPr>
                    <p:cNvPr id="722" name="Google Shape;722;p34"/>
                    <p:cNvCxnSpPr>
                      <a:stCxn id="721" idx="1"/>
                    </p:cNvCxnSpPr>
                    <p:nvPr/>
                  </p:nvCxnSpPr>
                  <p:spPr>
                    <a:xfrm>
                      <a:off x="9233850" y="3205425"/>
                      <a:ext cx="634200" cy="0"/>
                    </a:xfrm>
                    <a:prstGeom prst="straightConnector1">
                      <a:avLst/>
                    </a:prstGeom>
                    <a:noFill/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  <p:cxnSp>
                  <p:nvCxnSpPr>
                    <p:cNvPr id="723" name="Google Shape;723;p34"/>
                    <p:cNvCxnSpPr/>
                    <p:nvPr/>
                  </p:nvCxnSpPr>
                  <p:spPr>
                    <a:xfrm>
                      <a:off x="9233850" y="3040000"/>
                      <a:ext cx="634200" cy="0"/>
                    </a:xfrm>
                    <a:prstGeom prst="straightConnector1">
                      <a:avLst/>
                    </a:prstGeom>
                    <a:noFill/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  <p:cxnSp>
                  <p:nvCxnSpPr>
                    <p:cNvPr id="724" name="Google Shape;724;p34"/>
                    <p:cNvCxnSpPr/>
                    <p:nvPr/>
                  </p:nvCxnSpPr>
                  <p:spPr>
                    <a:xfrm>
                      <a:off x="9231450" y="3367350"/>
                      <a:ext cx="634200" cy="0"/>
                    </a:xfrm>
                    <a:prstGeom prst="straightConnector1">
                      <a:avLst/>
                    </a:prstGeom>
                    <a:noFill/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</p:grpSp>
              <p:sp>
                <p:nvSpPr>
                  <p:cNvPr id="725" name="Google Shape;725;p34"/>
                  <p:cNvSpPr txBox="1"/>
                  <p:nvPr/>
                </p:nvSpPr>
                <p:spPr>
                  <a:xfrm>
                    <a:off x="9389400" y="3042150"/>
                    <a:ext cx="320700" cy="4002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/>
                      <a:t>…</a:t>
                    </a:r>
                    <a:endParaRPr/>
                  </a:p>
                </p:txBody>
              </p:sp>
            </p:grpSp>
            <p:sp>
              <p:nvSpPr>
                <p:cNvPr id="726" name="Google Shape;726;p34"/>
                <p:cNvSpPr txBox="1"/>
                <p:nvPr/>
              </p:nvSpPr>
              <p:spPr>
                <a:xfrm>
                  <a:off x="4927551" y="4598129"/>
                  <a:ext cx="627600" cy="369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PT</a:t>
                  </a:r>
                  <a:endParaRPr sz="600" b="1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cxnSp>
            <p:nvCxnSpPr>
              <p:cNvPr id="727" name="Google Shape;727;p34"/>
              <p:cNvCxnSpPr/>
              <p:nvPr/>
            </p:nvCxnSpPr>
            <p:spPr>
              <a:xfrm>
                <a:off x="1209100" y="6173750"/>
                <a:ext cx="4945200" cy="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8" name="Google Shape;728;p34"/>
              <p:cNvCxnSpPr>
                <a:stCxn id="713" idx="2"/>
              </p:cNvCxnSpPr>
              <p:nvPr/>
            </p:nvCxnSpPr>
            <p:spPr>
              <a:xfrm>
                <a:off x="2243125" y="5358625"/>
                <a:ext cx="3900" cy="80160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9" name="Google Shape;729;p34"/>
              <p:cNvCxnSpPr>
                <a:stCxn id="718" idx="2"/>
              </p:cNvCxnSpPr>
              <p:nvPr/>
            </p:nvCxnSpPr>
            <p:spPr>
              <a:xfrm flipH="1">
                <a:off x="5227000" y="5573725"/>
                <a:ext cx="2700" cy="59220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730" name="Google Shape;730;p34"/>
            <p:cNvSpPr/>
            <p:nvPr/>
          </p:nvSpPr>
          <p:spPr>
            <a:xfrm>
              <a:off x="2725325" y="5042425"/>
              <a:ext cx="2041075" cy="429600"/>
            </a:xfrm>
            <a:custGeom>
              <a:avLst/>
              <a:gdLst/>
              <a:ahLst/>
              <a:cxnLst/>
              <a:rect l="l" t="t" r="r" b="b"/>
              <a:pathLst>
                <a:path w="81643" h="17184" extrusionOk="0">
                  <a:moveTo>
                    <a:pt x="0" y="1399"/>
                  </a:moveTo>
                  <a:cubicBezTo>
                    <a:pt x="2099" y="3343"/>
                    <a:pt x="7387" y="10497"/>
                    <a:pt x="12596" y="13063"/>
                  </a:cubicBezTo>
                  <a:cubicBezTo>
                    <a:pt x="17806" y="15629"/>
                    <a:pt x="26281" y="16173"/>
                    <a:pt x="31257" y="16795"/>
                  </a:cubicBezTo>
                  <a:cubicBezTo>
                    <a:pt x="36233" y="17417"/>
                    <a:pt x="37866" y="17106"/>
                    <a:pt x="42454" y="16795"/>
                  </a:cubicBezTo>
                  <a:cubicBezTo>
                    <a:pt x="47042" y="16484"/>
                    <a:pt x="53496" y="16717"/>
                    <a:pt x="58783" y="14929"/>
                  </a:cubicBezTo>
                  <a:cubicBezTo>
                    <a:pt x="64070" y="13141"/>
                    <a:pt x="70368" y="8553"/>
                    <a:pt x="74178" y="6065"/>
                  </a:cubicBezTo>
                  <a:cubicBezTo>
                    <a:pt x="77988" y="3577"/>
                    <a:pt x="80399" y="1011"/>
                    <a:pt x="81643" y="0"/>
                  </a:cubicBezTo>
                </a:path>
              </a:pathLst>
            </a:cu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731" name="Google Shape;731;p34"/>
            <p:cNvSpPr/>
            <p:nvPr/>
          </p:nvSpPr>
          <p:spPr>
            <a:xfrm>
              <a:off x="2667000" y="5357325"/>
              <a:ext cx="2111050" cy="386350"/>
            </a:xfrm>
            <a:custGeom>
              <a:avLst/>
              <a:gdLst/>
              <a:ahLst/>
              <a:cxnLst/>
              <a:rect l="l" t="t" r="r" b="b"/>
              <a:pathLst>
                <a:path w="84442" h="15454" extrusionOk="0">
                  <a:moveTo>
                    <a:pt x="84442" y="933"/>
                  </a:moveTo>
                  <a:cubicBezTo>
                    <a:pt x="83042" y="2022"/>
                    <a:pt x="80087" y="5366"/>
                    <a:pt x="76044" y="7465"/>
                  </a:cubicBezTo>
                  <a:cubicBezTo>
                    <a:pt x="72001" y="9564"/>
                    <a:pt x="65392" y="12285"/>
                    <a:pt x="60182" y="13529"/>
                  </a:cubicBezTo>
                  <a:cubicBezTo>
                    <a:pt x="54973" y="14773"/>
                    <a:pt x="50385" y="14696"/>
                    <a:pt x="44787" y="14929"/>
                  </a:cubicBezTo>
                  <a:cubicBezTo>
                    <a:pt x="39189" y="15162"/>
                    <a:pt x="31957" y="15862"/>
                    <a:pt x="26592" y="14929"/>
                  </a:cubicBezTo>
                  <a:cubicBezTo>
                    <a:pt x="21227" y="13996"/>
                    <a:pt x="16406" y="11119"/>
                    <a:pt x="12596" y="9331"/>
                  </a:cubicBezTo>
                  <a:cubicBezTo>
                    <a:pt x="8786" y="7543"/>
                    <a:pt x="5831" y="5754"/>
                    <a:pt x="3732" y="4199"/>
                  </a:cubicBezTo>
                  <a:cubicBezTo>
                    <a:pt x="1633" y="2644"/>
                    <a:pt x="622" y="700"/>
                    <a:pt x="0" y="0"/>
                  </a:cubicBezTo>
                </a:path>
              </a:pathLst>
            </a:cu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732" name="Google Shape;732;p34"/>
            <p:cNvSpPr/>
            <p:nvPr/>
          </p:nvSpPr>
          <p:spPr>
            <a:xfrm>
              <a:off x="2404575" y="5472025"/>
              <a:ext cx="2530925" cy="563725"/>
            </a:xfrm>
            <a:custGeom>
              <a:avLst/>
              <a:gdLst/>
              <a:ahLst/>
              <a:cxnLst/>
              <a:rect l="l" t="t" r="r" b="b"/>
              <a:pathLst>
                <a:path w="101237" h="22549" extrusionOk="0">
                  <a:moveTo>
                    <a:pt x="0" y="0"/>
                  </a:moveTo>
                  <a:cubicBezTo>
                    <a:pt x="1711" y="1633"/>
                    <a:pt x="6220" y="6842"/>
                    <a:pt x="10263" y="9797"/>
                  </a:cubicBezTo>
                  <a:cubicBezTo>
                    <a:pt x="14306" y="12752"/>
                    <a:pt x="20527" y="16095"/>
                    <a:pt x="24259" y="17728"/>
                  </a:cubicBezTo>
                  <a:cubicBezTo>
                    <a:pt x="27991" y="19361"/>
                    <a:pt x="28458" y="18817"/>
                    <a:pt x="32657" y="19594"/>
                  </a:cubicBezTo>
                  <a:cubicBezTo>
                    <a:pt x="36856" y="20372"/>
                    <a:pt x="44320" y="22082"/>
                    <a:pt x="49452" y="22393"/>
                  </a:cubicBezTo>
                  <a:cubicBezTo>
                    <a:pt x="54584" y="22704"/>
                    <a:pt x="59094" y="21771"/>
                    <a:pt x="63448" y="21460"/>
                  </a:cubicBezTo>
                  <a:cubicBezTo>
                    <a:pt x="67802" y="21149"/>
                    <a:pt x="71768" y="21227"/>
                    <a:pt x="75578" y="20527"/>
                  </a:cubicBezTo>
                  <a:cubicBezTo>
                    <a:pt x="79388" y="19827"/>
                    <a:pt x="83276" y="18661"/>
                    <a:pt x="86308" y="17261"/>
                  </a:cubicBezTo>
                  <a:cubicBezTo>
                    <a:pt x="89340" y="15861"/>
                    <a:pt x="91284" y="13762"/>
                    <a:pt x="93772" y="12129"/>
                  </a:cubicBezTo>
                  <a:cubicBezTo>
                    <a:pt x="96260" y="10496"/>
                    <a:pt x="99993" y="8242"/>
                    <a:pt x="101237" y="7464"/>
                  </a:cubicBezTo>
                </a:path>
              </a:pathLst>
            </a:cu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733" name="Google Shape;733;p34"/>
            <p:cNvSpPr/>
            <p:nvPr/>
          </p:nvSpPr>
          <p:spPr>
            <a:xfrm>
              <a:off x="2188800" y="5417600"/>
              <a:ext cx="2962475" cy="859200"/>
            </a:xfrm>
            <a:custGeom>
              <a:avLst/>
              <a:gdLst/>
              <a:ahLst/>
              <a:cxnLst/>
              <a:rect l="l" t="t" r="r" b="b"/>
              <a:pathLst>
                <a:path w="118499" h="34368" extrusionOk="0">
                  <a:moveTo>
                    <a:pt x="118499" y="12130"/>
                  </a:moveTo>
                  <a:cubicBezTo>
                    <a:pt x="117722" y="13685"/>
                    <a:pt x="115467" y="18817"/>
                    <a:pt x="113834" y="21461"/>
                  </a:cubicBezTo>
                  <a:cubicBezTo>
                    <a:pt x="112201" y="24105"/>
                    <a:pt x="111424" y="26204"/>
                    <a:pt x="108702" y="27992"/>
                  </a:cubicBezTo>
                  <a:cubicBezTo>
                    <a:pt x="105981" y="29780"/>
                    <a:pt x="101782" y="31180"/>
                    <a:pt x="97505" y="32191"/>
                  </a:cubicBezTo>
                  <a:cubicBezTo>
                    <a:pt x="93229" y="33202"/>
                    <a:pt x="88019" y="33746"/>
                    <a:pt x="83043" y="34057"/>
                  </a:cubicBezTo>
                  <a:cubicBezTo>
                    <a:pt x="78067" y="34368"/>
                    <a:pt x="73868" y="34057"/>
                    <a:pt x="67647" y="34057"/>
                  </a:cubicBezTo>
                  <a:cubicBezTo>
                    <a:pt x="61427" y="34057"/>
                    <a:pt x="52329" y="34368"/>
                    <a:pt x="45720" y="34057"/>
                  </a:cubicBezTo>
                  <a:cubicBezTo>
                    <a:pt x="39111" y="33746"/>
                    <a:pt x="32424" y="33124"/>
                    <a:pt x="27992" y="32191"/>
                  </a:cubicBezTo>
                  <a:cubicBezTo>
                    <a:pt x="23560" y="31258"/>
                    <a:pt x="21616" y="29703"/>
                    <a:pt x="19128" y="28459"/>
                  </a:cubicBezTo>
                  <a:cubicBezTo>
                    <a:pt x="16640" y="27215"/>
                    <a:pt x="14929" y="26515"/>
                    <a:pt x="13063" y="24726"/>
                  </a:cubicBezTo>
                  <a:cubicBezTo>
                    <a:pt x="11197" y="22938"/>
                    <a:pt x="9408" y="20216"/>
                    <a:pt x="7931" y="17728"/>
                  </a:cubicBezTo>
                  <a:cubicBezTo>
                    <a:pt x="6454" y="15240"/>
                    <a:pt x="5521" y="12752"/>
                    <a:pt x="4199" y="9797"/>
                  </a:cubicBezTo>
                  <a:cubicBezTo>
                    <a:pt x="2877" y="6842"/>
                    <a:pt x="700" y="1633"/>
                    <a:pt x="0" y="0"/>
                  </a:cubicBezTo>
                </a:path>
              </a:pathLst>
            </a:cu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734" name="Google Shape;734;p34"/>
            <p:cNvSpPr txBox="1"/>
            <p:nvPr/>
          </p:nvSpPr>
          <p:spPr>
            <a:xfrm>
              <a:off x="3296800" y="5188688"/>
              <a:ext cx="7698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b="1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PTEAddr</a:t>
              </a:r>
              <a:endParaRPr sz="1000" b="1" dirty="0">
                <a:solidFill>
                  <a:schemeClr val="accent5"/>
                </a:solidFill>
              </a:endParaRPr>
            </a:p>
          </p:txBody>
        </p:sp>
        <p:sp>
          <p:nvSpPr>
            <p:cNvPr id="735" name="Google Shape;735;p34"/>
            <p:cNvSpPr txBox="1"/>
            <p:nvPr/>
          </p:nvSpPr>
          <p:spPr>
            <a:xfrm>
              <a:off x="3337625" y="5472013"/>
              <a:ext cx="7698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b="1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PTE</a:t>
              </a:r>
              <a:endParaRPr sz="1000" b="1">
                <a:solidFill>
                  <a:schemeClr val="accent5"/>
                </a:solidFill>
              </a:endParaRPr>
            </a:p>
          </p:txBody>
        </p:sp>
        <p:sp>
          <p:nvSpPr>
            <p:cNvPr id="736" name="Google Shape;736;p34"/>
            <p:cNvSpPr txBox="1"/>
            <p:nvPr/>
          </p:nvSpPr>
          <p:spPr>
            <a:xfrm>
              <a:off x="3360962" y="5743663"/>
              <a:ext cx="7698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1000" b="1">
                <a:solidFill>
                  <a:schemeClr val="accent2"/>
                </a:solidFill>
              </a:endParaRPr>
            </a:p>
          </p:txBody>
        </p:sp>
        <p:sp>
          <p:nvSpPr>
            <p:cNvPr id="737" name="Google Shape;737;p34"/>
            <p:cNvSpPr txBox="1"/>
            <p:nvPr/>
          </p:nvSpPr>
          <p:spPr>
            <a:xfrm>
              <a:off x="3372637" y="6000738"/>
              <a:ext cx="7698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data</a:t>
              </a:r>
              <a:endParaRPr sz="1000" b="1">
                <a:solidFill>
                  <a:schemeClr val="accent2"/>
                </a:solidFill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35"/>
          <p:cNvSpPr txBox="1">
            <a:spLocks noGrp="1"/>
          </p:cNvSpPr>
          <p:nvPr>
            <p:ph type="title"/>
          </p:nvPr>
        </p:nvSpPr>
        <p:spPr>
          <a:xfrm>
            <a:off x="575187" y="153953"/>
            <a:ext cx="11129011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– Trazas de memoria</a:t>
            </a:r>
            <a:endParaRPr dirty="0"/>
          </a:p>
        </p:txBody>
      </p:sp>
      <p:sp>
        <p:nvSpPr>
          <p:cNvPr id="743" name="Google Shape;743;p35"/>
          <p:cNvSpPr txBox="1">
            <a:spLocks noGrp="1"/>
          </p:cNvSpPr>
          <p:nvPr>
            <p:ph idx="1"/>
          </p:nvPr>
        </p:nvSpPr>
        <p:spPr>
          <a:xfrm>
            <a:off x="663000" y="1184360"/>
            <a:ext cx="10866000" cy="523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400" b="1" dirty="0">
                <a:solidFill>
                  <a:schemeClr val="accent1"/>
                </a:solidFill>
              </a:rPr>
              <a:t>Traducción de direcciones - </a:t>
            </a:r>
            <a:r>
              <a:rPr lang="es-ES" sz="2400" b="1" dirty="0">
                <a:solidFill>
                  <a:srgbClr val="EA9999"/>
                </a:solidFill>
              </a:rPr>
              <a:t>Trazas de memoria</a:t>
            </a:r>
            <a:endParaRPr sz="2000" dirty="0">
              <a:solidFill>
                <a:srgbClr val="EA999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744" name="Google Shape;744;p35"/>
          <p:cNvSpPr txBox="1"/>
          <p:nvPr/>
        </p:nvSpPr>
        <p:spPr>
          <a:xfrm>
            <a:off x="837250" y="2575051"/>
            <a:ext cx="4701000" cy="11697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int array[1000]; 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... 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for (i = 0; i &lt; 1000; i++) 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 array[i] = 0;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5" name="Google Shape;745;p35"/>
          <p:cNvSpPr txBox="1"/>
          <p:nvPr/>
        </p:nvSpPr>
        <p:spPr>
          <a:xfrm>
            <a:off x="6247625" y="2039688"/>
            <a:ext cx="4572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ea typeface="Roboto"/>
                <a:cs typeface="Roboto"/>
                <a:sym typeface="Roboto"/>
              </a:rPr>
              <a:t>Compilación y ejecución</a:t>
            </a:r>
            <a:endParaRPr sz="1200" b="1" dirty="0"/>
          </a:p>
        </p:txBody>
      </p:sp>
      <p:sp>
        <p:nvSpPr>
          <p:cNvPr id="746" name="Google Shape;746;p35"/>
          <p:cNvSpPr txBox="1"/>
          <p:nvPr/>
        </p:nvSpPr>
        <p:spPr>
          <a:xfrm>
            <a:off x="844255" y="4295113"/>
            <a:ext cx="612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ea typeface="Roboto"/>
                <a:cs typeface="Roboto"/>
                <a:sym typeface="Roboto"/>
              </a:rPr>
              <a:t>Código ensamblador resultante</a:t>
            </a:r>
            <a:endParaRPr sz="1200" b="1" dirty="0"/>
          </a:p>
        </p:txBody>
      </p:sp>
      <p:sp>
        <p:nvSpPr>
          <p:cNvPr id="747" name="Google Shape;747;p35"/>
          <p:cNvSpPr txBox="1"/>
          <p:nvPr/>
        </p:nvSpPr>
        <p:spPr>
          <a:xfrm>
            <a:off x="6247625" y="2574116"/>
            <a:ext cx="4701000" cy="6771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>
                <a:latin typeface="Consolas"/>
                <a:ea typeface="Consolas"/>
                <a:cs typeface="Consolas"/>
                <a:sym typeface="Consolas"/>
              </a:rPr>
              <a:t>prompt&gt; gcc –o array array.c –Wall –o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latin typeface="Consolas"/>
                <a:ea typeface="Consolas"/>
                <a:cs typeface="Consolas"/>
                <a:sym typeface="Consolas"/>
              </a:rPr>
              <a:t>prompt&gt;./array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8" name="Google Shape;748;p35"/>
          <p:cNvSpPr txBox="1"/>
          <p:nvPr/>
        </p:nvSpPr>
        <p:spPr>
          <a:xfrm>
            <a:off x="903555" y="4859037"/>
            <a:ext cx="10100400" cy="11697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0x1024</a:t>
            </a:r>
            <a:r>
              <a:rPr lang="es-ES" sz="1600">
                <a:latin typeface="Consolas"/>
                <a:ea typeface="Consolas"/>
                <a:cs typeface="Consolas"/>
                <a:sym typeface="Consolas"/>
              </a:rPr>
              <a:t> movl $0x0,(%edi,%eax,4)    </a:t>
            </a:r>
            <a:endParaRPr sz="1600">
              <a:solidFill>
                <a:srgbClr val="0B6937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0x1028</a:t>
            </a:r>
            <a:r>
              <a:rPr lang="es-ES" sz="1600">
                <a:latin typeface="Consolas"/>
                <a:ea typeface="Consolas"/>
                <a:cs typeface="Consolas"/>
                <a:sym typeface="Consolas"/>
              </a:rPr>
              <a:t> incl %eax                  </a:t>
            </a:r>
            <a:endParaRPr sz="1600">
              <a:solidFill>
                <a:srgbClr val="0B6937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0x102c</a:t>
            </a:r>
            <a:r>
              <a:rPr lang="es-ES" sz="1600">
                <a:latin typeface="Consolas"/>
                <a:ea typeface="Consolas"/>
                <a:cs typeface="Consolas"/>
                <a:sym typeface="Consolas"/>
              </a:rPr>
              <a:t> cmpl $0x03e8,%eax          </a:t>
            </a:r>
            <a:endParaRPr sz="1600">
              <a:solidFill>
                <a:srgbClr val="0B6937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0x1030</a:t>
            </a:r>
            <a:r>
              <a:rPr lang="es-ES" sz="1600">
                <a:latin typeface="Consolas"/>
                <a:ea typeface="Consolas"/>
                <a:cs typeface="Consolas"/>
                <a:sym typeface="Consolas"/>
              </a:rPr>
              <a:t> jne 0x1024                 </a:t>
            </a:r>
            <a:endParaRPr sz="1600">
              <a:solidFill>
                <a:srgbClr val="0B6937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9" name="Google Shape;749;p35"/>
          <p:cNvSpPr txBox="1"/>
          <p:nvPr/>
        </p:nvSpPr>
        <p:spPr>
          <a:xfrm>
            <a:off x="837250" y="2086118"/>
            <a:ext cx="3000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ea typeface="Roboto"/>
                <a:cs typeface="Roboto"/>
                <a:sym typeface="Roboto"/>
              </a:rPr>
              <a:t>Código</a:t>
            </a:r>
            <a:endParaRPr b="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36"/>
          <p:cNvSpPr txBox="1">
            <a:spLocks noGrp="1"/>
          </p:cNvSpPr>
          <p:nvPr>
            <p:ph type="title"/>
          </p:nvPr>
        </p:nvSpPr>
        <p:spPr>
          <a:xfrm>
            <a:off x="683101" y="143725"/>
            <a:ext cx="108660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– Trazas de memoria</a:t>
            </a:r>
            <a:endParaRPr dirty="0"/>
          </a:p>
        </p:txBody>
      </p:sp>
      <p:sp>
        <p:nvSpPr>
          <p:cNvPr id="756" name="Google Shape;756;p36"/>
          <p:cNvSpPr txBox="1"/>
          <p:nvPr/>
        </p:nvSpPr>
        <p:spPr>
          <a:xfrm>
            <a:off x="554717" y="1742899"/>
            <a:ext cx="36855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0x1024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s-ES" sz="1600" dirty="0" err="1">
                <a:latin typeface="Consolas"/>
                <a:ea typeface="Consolas"/>
                <a:cs typeface="Consolas"/>
                <a:sym typeface="Consolas"/>
              </a:rPr>
              <a:t>movl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$0x0,(%edi,%eax,4)    </a:t>
            </a:r>
            <a:endParaRPr sz="1600" dirty="0">
              <a:solidFill>
                <a:srgbClr val="0B6937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0x1028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s-ES" sz="1600" dirty="0" err="1">
                <a:latin typeface="Consolas"/>
                <a:ea typeface="Consolas"/>
                <a:cs typeface="Consolas"/>
                <a:sym typeface="Consolas"/>
              </a:rPr>
              <a:t>incl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%</a:t>
            </a:r>
            <a:r>
              <a:rPr lang="es-ES" sz="1600" dirty="0" err="1">
                <a:latin typeface="Consolas"/>
                <a:ea typeface="Consolas"/>
                <a:cs typeface="Consolas"/>
                <a:sym typeface="Consolas"/>
              </a:rPr>
              <a:t>eax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                 </a:t>
            </a:r>
            <a:endParaRPr sz="1600" dirty="0">
              <a:solidFill>
                <a:srgbClr val="0B6937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0x102c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s-ES" sz="1600" dirty="0" err="1">
                <a:latin typeface="Consolas"/>
                <a:ea typeface="Consolas"/>
                <a:cs typeface="Consolas"/>
                <a:sym typeface="Consolas"/>
              </a:rPr>
              <a:t>cmpl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$0x03e8,%eax          </a:t>
            </a:r>
            <a:endParaRPr sz="1600" dirty="0">
              <a:solidFill>
                <a:srgbClr val="0B6937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0x1030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s-ES" sz="1600" dirty="0" err="1">
                <a:latin typeface="Consolas"/>
                <a:ea typeface="Consolas"/>
                <a:cs typeface="Consolas"/>
                <a:sym typeface="Consolas"/>
              </a:rPr>
              <a:t>jne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0x1024                 </a:t>
            </a:r>
            <a:endParaRPr sz="1600" dirty="0">
              <a:solidFill>
                <a:srgbClr val="0B6937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757" name="Google Shape;7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6234" y="1942259"/>
            <a:ext cx="5631049" cy="43263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58" name="Google Shape;758;p36"/>
          <p:cNvGraphicFramePr/>
          <p:nvPr>
            <p:extLst>
              <p:ext uri="{D42A27DB-BD31-4B8C-83A1-F6EECF244321}">
                <p14:modId xmlns:p14="http://schemas.microsoft.com/office/powerpoint/2010/main" val="135883200"/>
              </p:ext>
            </p:extLst>
          </p:nvPr>
        </p:nvGraphicFramePr>
        <p:xfrm>
          <a:off x="554717" y="4105409"/>
          <a:ext cx="4940573" cy="237729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2545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07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4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Instrucción</a:t>
                      </a:r>
                      <a:endParaRPr b="1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Fetch inst</a:t>
                      </a:r>
                      <a:endParaRPr b="1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chemeClr val="dk1"/>
                          </a:solidFill>
                          <a:latin typeface="+mn-lt"/>
                          <a:ea typeface="Roboto"/>
                          <a:cs typeface="Roboto"/>
                          <a:sym typeface="Roboto"/>
                        </a:rPr>
                        <a:t>Mem Access</a:t>
                      </a:r>
                      <a:endParaRPr b="1">
                        <a:solidFill>
                          <a:schemeClr val="dk1"/>
                        </a:solidFill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Consolas"/>
                          <a:cs typeface="Consolas"/>
                          <a:sym typeface="Consolas"/>
                        </a:rPr>
                        <a:t>movl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Consolas"/>
                          <a:cs typeface="Consolas"/>
                          <a:sym typeface="Consolas"/>
                        </a:rPr>
                        <a:t> $0x0,(%edi,%eax,4)</a:t>
                      </a:r>
                      <a:endParaRPr sz="1400"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 panose="020B0609020204030204" pitchFamily="49" charset="0"/>
                        </a:rPr>
                        <a:t>2</a:t>
                      </a:r>
                      <a:endParaRPr sz="1400"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 panose="020B0609020204030204" pitchFamily="49" charset="0"/>
                        </a:rPr>
                        <a:t>2</a:t>
                      </a:r>
                      <a:endParaRPr sz="1400"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Consolas"/>
                          <a:cs typeface="Consolas"/>
                          <a:sym typeface="Consolas"/>
                        </a:rPr>
                        <a:t>incl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Consolas"/>
                          <a:cs typeface="Consolas"/>
                          <a:sym typeface="Consolas"/>
                        </a:rPr>
                        <a:t> %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Consolas"/>
                          <a:cs typeface="Consolas"/>
                          <a:sym typeface="Consolas"/>
                        </a:rPr>
                        <a:t>eax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Consolas"/>
                          <a:cs typeface="Consolas"/>
                          <a:sym typeface="Consolas"/>
                        </a:rPr>
                        <a:t>     </a:t>
                      </a:r>
                      <a:endParaRPr sz="1400"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endParaRPr sz="1400">
                        <a:solidFill>
                          <a:schemeClr val="dk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Consolas"/>
                          <a:cs typeface="Consolas"/>
                          <a:sym typeface="Consolas"/>
                        </a:rPr>
                        <a:t>cmpl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Consolas"/>
                          <a:cs typeface="Consolas"/>
                          <a:sym typeface="Consolas"/>
                        </a:rPr>
                        <a:t> $0x03e8,%eax</a:t>
                      </a:r>
                      <a:endParaRPr sz="1400"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endParaRPr sz="1400" dirty="0">
                        <a:solidFill>
                          <a:schemeClr val="dk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Consolas"/>
                          <a:cs typeface="Consolas"/>
                          <a:sym typeface="Consolas"/>
                        </a:rPr>
                        <a:t>jne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Consolas"/>
                          <a:cs typeface="Consolas"/>
                          <a:sym typeface="Consolas"/>
                        </a:rPr>
                        <a:t> 0x1024</a:t>
                      </a:r>
                      <a:endParaRPr sz="1400"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 panose="020B0609020204030204" pitchFamily="49" charset="0"/>
                        </a:rPr>
                        <a:t>2</a:t>
                      </a:r>
                      <a:endParaRPr sz="1400"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59" name="Google Shape;759;p36"/>
          <p:cNvSpPr/>
          <p:nvPr/>
        </p:nvSpPr>
        <p:spPr>
          <a:xfrm>
            <a:off x="4629442" y="1469288"/>
            <a:ext cx="772700" cy="1716925"/>
          </a:xfrm>
          <a:custGeom>
            <a:avLst/>
            <a:gdLst/>
            <a:ahLst/>
            <a:cxnLst/>
            <a:rect l="l" t="t" r="r" b="b"/>
            <a:pathLst>
              <a:path w="30908" h="68677" extrusionOk="0">
                <a:moveTo>
                  <a:pt x="0" y="56002"/>
                </a:moveTo>
                <a:cubicBezTo>
                  <a:pt x="855" y="57635"/>
                  <a:pt x="2411" y="63701"/>
                  <a:pt x="5132" y="65800"/>
                </a:cubicBezTo>
                <a:cubicBezTo>
                  <a:pt x="7854" y="67900"/>
                  <a:pt x="13141" y="68755"/>
                  <a:pt x="16329" y="68599"/>
                </a:cubicBezTo>
                <a:cubicBezTo>
                  <a:pt x="19517" y="68444"/>
                  <a:pt x="22161" y="67900"/>
                  <a:pt x="24260" y="64867"/>
                </a:cubicBezTo>
                <a:cubicBezTo>
                  <a:pt x="26359" y="61835"/>
                  <a:pt x="27837" y="55925"/>
                  <a:pt x="28925" y="50404"/>
                </a:cubicBezTo>
                <a:cubicBezTo>
                  <a:pt x="30014" y="44883"/>
                  <a:pt x="31024" y="37575"/>
                  <a:pt x="30791" y="31743"/>
                </a:cubicBezTo>
                <a:cubicBezTo>
                  <a:pt x="30558" y="25911"/>
                  <a:pt x="28769" y="19768"/>
                  <a:pt x="27525" y="15414"/>
                </a:cubicBezTo>
                <a:cubicBezTo>
                  <a:pt x="26281" y="11060"/>
                  <a:pt x="25425" y="8183"/>
                  <a:pt x="23326" y="5617"/>
                </a:cubicBezTo>
                <a:cubicBezTo>
                  <a:pt x="21227" y="3051"/>
                  <a:pt x="18195" y="-59"/>
                  <a:pt x="14929" y="19"/>
                </a:cubicBezTo>
                <a:cubicBezTo>
                  <a:pt x="11663" y="97"/>
                  <a:pt x="5598" y="5073"/>
                  <a:pt x="3732" y="6084"/>
                </a:cubicBezTo>
              </a:path>
            </a:pathLst>
          </a:custGeom>
          <a:noFill/>
          <a:ln w="19050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760" name="Google Shape;760;p36"/>
          <p:cNvSpPr txBox="1"/>
          <p:nvPr/>
        </p:nvSpPr>
        <p:spPr>
          <a:xfrm>
            <a:off x="4240217" y="2050712"/>
            <a:ext cx="95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Análisis:</a:t>
            </a:r>
            <a:endParaRPr sz="1200" b="1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5 ciclos</a:t>
            </a:r>
            <a:endParaRPr sz="1000"/>
          </a:p>
        </p:txBody>
      </p:sp>
      <p:sp>
        <p:nvSpPr>
          <p:cNvPr id="761" name="Google Shape;761;p36"/>
          <p:cNvSpPr txBox="1"/>
          <p:nvPr/>
        </p:nvSpPr>
        <p:spPr>
          <a:xfrm>
            <a:off x="554717" y="3370095"/>
            <a:ext cx="46419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5 ciclos * 10 accesos/1 ciclo = </a:t>
            </a:r>
            <a:r>
              <a:rPr lang="es-ES" sz="18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50 accesos</a:t>
            </a:r>
            <a:endParaRPr sz="1800" b="1" dirty="0">
              <a:ea typeface="Roboto"/>
              <a:cs typeface="Roboto"/>
              <a:sym typeface="Roboto"/>
            </a:endParaRPr>
          </a:p>
        </p:txBody>
      </p:sp>
      <p:sp>
        <p:nvSpPr>
          <p:cNvPr id="762" name="Google Shape;762;p36"/>
          <p:cNvSpPr/>
          <p:nvPr/>
        </p:nvSpPr>
        <p:spPr>
          <a:xfrm rot="465539">
            <a:off x="6932599" y="2292769"/>
            <a:ext cx="1002175" cy="1403880"/>
          </a:xfrm>
          <a:prstGeom prst="ellipse">
            <a:avLst/>
          </a:prstGeom>
          <a:noFill/>
          <a:ln w="19050" cap="flat" cmpd="sng">
            <a:solidFill>
              <a:srgbClr val="E46C0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3" name="Google Shape;763;p36"/>
          <p:cNvSpPr/>
          <p:nvPr/>
        </p:nvSpPr>
        <p:spPr>
          <a:xfrm rot="5027734">
            <a:off x="7415553" y="4131409"/>
            <a:ext cx="377511" cy="653049"/>
          </a:xfrm>
          <a:prstGeom prst="ellipse">
            <a:avLst/>
          </a:prstGeom>
          <a:noFill/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36"/>
          <p:cNvSpPr/>
          <p:nvPr/>
        </p:nvSpPr>
        <p:spPr>
          <a:xfrm rot="5027410">
            <a:off x="7314457" y="5181205"/>
            <a:ext cx="407692" cy="825058"/>
          </a:xfrm>
          <a:prstGeom prst="ellipse">
            <a:avLst/>
          </a:prstGeom>
          <a:noFill/>
          <a:ln w="19050" cap="flat" cmpd="sng">
            <a:solidFill>
              <a:srgbClr val="0B693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765" name="Google Shape;765;p36"/>
          <p:cNvSpPr txBox="1"/>
          <p:nvPr/>
        </p:nvSpPr>
        <p:spPr>
          <a:xfrm>
            <a:off x="7790759" y="2003934"/>
            <a:ext cx="7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Patrón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766" name="Google Shape;766;p36"/>
          <p:cNvSpPr txBox="1"/>
          <p:nvPr/>
        </p:nvSpPr>
        <p:spPr>
          <a:xfrm>
            <a:off x="7849859" y="3811747"/>
            <a:ext cx="7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Patrón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67" name="Google Shape;767;p36"/>
          <p:cNvSpPr txBox="1"/>
          <p:nvPr/>
        </p:nvSpPr>
        <p:spPr>
          <a:xfrm>
            <a:off x="7949309" y="5060497"/>
            <a:ext cx="772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Patrón</a:t>
            </a:r>
            <a:endParaRPr>
              <a:solidFill>
                <a:srgbClr val="0B6937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37"/>
          <p:cNvSpPr txBox="1">
            <a:spLocks noGrp="1"/>
          </p:cNvSpPr>
          <p:nvPr>
            <p:ph type="title"/>
          </p:nvPr>
        </p:nvSpPr>
        <p:spPr>
          <a:xfrm>
            <a:off x="759750" y="60425"/>
            <a:ext cx="110229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– Trazas de memoria</a:t>
            </a:r>
            <a:endParaRPr dirty="0"/>
          </a:p>
        </p:txBody>
      </p:sp>
      <p:pic>
        <p:nvPicPr>
          <p:cNvPr id="774" name="Google Shape;774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7375" y="2398413"/>
            <a:ext cx="4180924" cy="4243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75" name="Google Shape;775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27196" y="2402949"/>
            <a:ext cx="4180925" cy="4234114"/>
          </a:xfrm>
          <a:prstGeom prst="rect">
            <a:avLst/>
          </a:prstGeom>
          <a:noFill/>
          <a:ln>
            <a:noFill/>
          </a:ln>
        </p:spPr>
      </p:pic>
      <p:sp>
        <p:nvSpPr>
          <p:cNvPr id="776" name="Google Shape;776;p37"/>
          <p:cNvSpPr txBox="1"/>
          <p:nvPr/>
        </p:nvSpPr>
        <p:spPr>
          <a:xfrm>
            <a:off x="2001325" y="1505601"/>
            <a:ext cx="3000000" cy="892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0B6937"/>
                </a:solidFill>
                <a:ea typeface="Roboto"/>
                <a:cs typeface="Roboto"/>
                <a:sym typeface="Roboto"/>
              </a:rPr>
              <a:t>Localidad espacial </a:t>
            </a:r>
            <a:endParaRPr sz="2400" b="1" dirty="0">
              <a:solidFill>
                <a:srgbClr val="0B6937"/>
              </a:solidFill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Acceso secuencial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777" name="Google Shape;777;p37"/>
          <p:cNvSpPr txBox="1"/>
          <p:nvPr/>
        </p:nvSpPr>
        <p:spPr>
          <a:xfrm>
            <a:off x="7040600" y="1385988"/>
            <a:ext cx="3942300" cy="892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>
                <a:solidFill>
                  <a:srgbClr val="0B6937"/>
                </a:solidFill>
                <a:ea typeface="Roboto"/>
                <a:cs typeface="Roboto"/>
                <a:sym typeface="Roboto"/>
              </a:rPr>
              <a:t>Localidad Temporal</a:t>
            </a:r>
            <a:endParaRPr sz="2400" b="1">
              <a:solidFill>
                <a:srgbClr val="0B6937"/>
              </a:solidFill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chemeClr val="dk1"/>
                </a:solidFill>
                <a:ea typeface="Roboto"/>
                <a:cs typeface="Roboto"/>
                <a:sym typeface="Roboto"/>
              </a:rPr>
              <a:t>Acceso aleatorio repetido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39"/>
          <p:cNvSpPr txBox="1">
            <a:spLocks noGrp="1"/>
          </p:cNvSpPr>
          <p:nvPr>
            <p:ph type="title"/>
          </p:nvPr>
        </p:nvSpPr>
        <p:spPr>
          <a:xfrm>
            <a:off x="508000" y="96038"/>
            <a:ext cx="87126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Contextualización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792" name="Google Shape;792;p39"/>
          <p:cNvSpPr txBox="1">
            <a:spLocks noGrp="1"/>
          </p:cNvSpPr>
          <p:nvPr>
            <p:ph type="body" idx="1"/>
          </p:nvPr>
        </p:nvSpPr>
        <p:spPr>
          <a:xfrm>
            <a:off x="508000" y="967040"/>
            <a:ext cx="11328350" cy="59083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b="1" dirty="0">
                <a:latin typeface="+mn-lt"/>
              </a:rPr>
              <a:t>Pregunta clave</a:t>
            </a:r>
            <a:endParaRPr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b="1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793" name="Google Shape;793;p39"/>
          <p:cNvSpPr txBox="1"/>
          <p:nvPr/>
        </p:nvSpPr>
        <p:spPr>
          <a:xfrm>
            <a:off x="624114" y="1557873"/>
            <a:ext cx="11212236" cy="1908184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ea typeface="Roboto"/>
                <a:cs typeface="Roboto"/>
                <a:sym typeface="Roboto"/>
              </a:rPr>
              <a:t>¿Cómo mejorar la traducción de direcciones?</a:t>
            </a:r>
            <a:endParaRPr sz="2400" b="1" dirty="0"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ES" sz="2200" dirty="0">
                <a:ea typeface="Roboto"/>
                <a:cs typeface="Roboto"/>
                <a:sym typeface="Roboto"/>
              </a:rPr>
              <a:t>¿Cómo podemos acelerar la traducción de direcciones evitando la referencia adicional a memoria necesaria cuando se usa paginación?</a:t>
            </a:r>
            <a:endParaRPr sz="2200" dirty="0"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ES" sz="2200" dirty="0">
                <a:ea typeface="Roboto"/>
                <a:cs typeface="Roboto"/>
                <a:sym typeface="Roboto"/>
              </a:rPr>
              <a:t>¿Que soporte de hardware es necesario?</a:t>
            </a:r>
            <a:endParaRPr sz="2200" dirty="0"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s-ES" sz="2200" dirty="0">
                <a:ea typeface="Roboto"/>
                <a:cs typeface="Roboto"/>
                <a:sym typeface="Roboto"/>
              </a:rPr>
              <a:t>¿Qué es lo que tiene que hacer el sistema operativo en este caso?</a:t>
            </a:r>
            <a:endParaRPr sz="2200" dirty="0">
              <a:ea typeface="Roboto"/>
              <a:cs typeface="Roboto"/>
              <a:sym typeface="Roboto"/>
            </a:endParaRPr>
          </a:p>
        </p:txBody>
      </p:sp>
      <p:pic>
        <p:nvPicPr>
          <p:cNvPr id="794" name="Google Shape;794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71801" y="3949950"/>
            <a:ext cx="2518350" cy="2550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5" name="Google Shape;795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17378" y="3949950"/>
            <a:ext cx="2633431" cy="2550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41"/>
          <p:cNvSpPr txBox="1">
            <a:spLocks noGrp="1"/>
          </p:cNvSpPr>
          <p:nvPr>
            <p:ph type="title"/>
          </p:nvPr>
        </p:nvSpPr>
        <p:spPr>
          <a:xfrm>
            <a:off x="592186" y="234575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TLB (Translation Lookaside Buffer)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07" name="Google Shape;807;p41"/>
          <p:cNvSpPr txBox="1">
            <a:spLocks noGrp="1"/>
          </p:cNvSpPr>
          <p:nvPr>
            <p:ph type="body" idx="1"/>
          </p:nvPr>
        </p:nvSpPr>
        <p:spPr>
          <a:xfrm>
            <a:off x="463696" y="1464875"/>
            <a:ext cx="6288187" cy="3961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Aspectos claves</a:t>
            </a:r>
            <a:endParaRPr sz="24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200" dirty="0">
                <a:latin typeface="+mn-lt"/>
              </a:rPr>
              <a:t>La </a:t>
            </a:r>
            <a:r>
              <a:rPr lang="es-ES" sz="2200" b="1" dirty="0">
                <a:latin typeface="+mn-lt"/>
              </a:rPr>
              <a:t>TLB</a:t>
            </a:r>
            <a:r>
              <a:rPr lang="es-ES" sz="2200" dirty="0">
                <a:latin typeface="+mn-lt"/>
              </a:rPr>
              <a:t> es una memoria cache </a:t>
            </a:r>
            <a:r>
              <a:rPr lang="es-ES" sz="2200" dirty="0" err="1">
                <a:latin typeface="+mn-lt"/>
              </a:rPr>
              <a:t>on</a:t>
            </a:r>
            <a:r>
              <a:rPr lang="es-ES" sz="2200" dirty="0">
                <a:latin typeface="+mn-lt"/>
              </a:rPr>
              <a:t> chip (En la CPU).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200" dirty="0">
                <a:latin typeface="+mn-lt"/>
              </a:rPr>
              <a:t>Pequeña y rápida.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200" dirty="0">
                <a:latin typeface="+mn-lt"/>
              </a:rPr>
              <a:t>Mantiene las direcciones más populares de la tabla de página (PT).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200" dirty="0">
                <a:latin typeface="+mn-lt"/>
              </a:rPr>
              <a:t>Tamaños típicos: 16 ~ 256 entradas. 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200" dirty="0">
                <a:latin typeface="+mn-lt"/>
              </a:rPr>
              <a:t>Usualmente es full asociativo (todas las entradas son comparadas en paralelo), pero puede haber asociatividad para reducir la latencia.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pSp>
        <p:nvGrpSpPr>
          <p:cNvPr id="808" name="Google Shape;808;p41"/>
          <p:cNvGrpSpPr/>
          <p:nvPr/>
        </p:nvGrpSpPr>
        <p:grpSpPr>
          <a:xfrm>
            <a:off x="6982425" y="1992975"/>
            <a:ext cx="4945200" cy="2462425"/>
            <a:chOff x="3308475" y="3275925"/>
            <a:chExt cx="4945200" cy="2462425"/>
          </a:xfrm>
        </p:grpSpPr>
        <p:grpSp>
          <p:nvGrpSpPr>
            <p:cNvPr id="809" name="Google Shape;809;p41"/>
            <p:cNvGrpSpPr/>
            <p:nvPr/>
          </p:nvGrpSpPr>
          <p:grpSpPr>
            <a:xfrm>
              <a:off x="4019950" y="3473025"/>
              <a:ext cx="1344684" cy="1582059"/>
              <a:chOff x="1842634" y="4206918"/>
              <a:chExt cx="801600" cy="1256400"/>
            </a:xfrm>
          </p:grpSpPr>
          <p:sp>
            <p:nvSpPr>
              <p:cNvPr id="810" name="Google Shape;810;p41"/>
              <p:cNvSpPr/>
              <p:nvPr/>
            </p:nvSpPr>
            <p:spPr>
              <a:xfrm>
                <a:off x="1842634" y="4206918"/>
                <a:ext cx="801600" cy="1256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sz="16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811" name="Google Shape;811;p41"/>
              <p:cNvSpPr txBox="1"/>
              <p:nvPr/>
            </p:nvSpPr>
            <p:spPr>
              <a:xfrm>
                <a:off x="2083476" y="4509669"/>
                <a:ext cx="342600" cy="29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 b="1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TLB</a:t>
                </a:r>
                <a:endParaRPr sz="6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  <p:sp>
          <p:nvSpPr>
            <p:cNvPr id="812" name="Google Shape;812;p41"/>
            <p:cNvSpPr/>
            <p:nvPr/>
          </p:nvSpPr>
          <p:spPr>
            <a:xfrm>
              <a:off x="6656625" y="3275925"/>
              <a:ext cx="1344900" cy="1862400"/>
            </a:xfrm>
            <a:prstGeom prst="rect">
              <a:avLst/>
            </a:prstGeom>
            <a:solidFill>
              <a:srgbClr val="B6D7A8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latin typeface="Consolas"/>
                  <a:ea typeface="Consolas"/>
                  <a:cs typeface="Consolas"/>
                  <a:sym typeface="Consolas"/>
                </a:rPr>
                <a:t>Mem</a:t>
              </a:r>
              <a:endParaRPr sz="16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813" name="Google Shape;813;p41"/>
            <p:cNvGrpSpPr/>
            <p:nvPr/>
          </p:nvGrpSpPr>
          <p:grpSpPr>
            <a:xfrm>
              <a:off x="7010775" y="4286950"/>
              <a:ext cx="636600" cy="641400"/>
              <a:chOff x="9231450" y="2884725"/>
              <a:chExt cx="636600" cy="641400"/>
            </a:xfrm>
          </p:grpSpPr>
          <p:grpSp>
            <p:nvGrpSpPr>
              <p:cNvPr id="814" name="Google Shape;814;p41"/>
              <p:cNvGrpSpPr/>
              <p:nvPr/>
            </p:nvGrpSpPr>
            <p:grpSpPr>
              <a:xfrm>
                <a:off x="9231450" y="2884725"/>
                <a:ext cx="636600" cy="641400"/>
                <a:chOff x="9231450" y="2884725"/>
                <a:chExt cx="636600" cy="641400"/>
              </a:xfrm>
            </p:grpSpPr>
            <p:sp>
              <p:nvSpPr>
                <p:cNvPr id="815" name="Google Shape;815;p41"/>
                <p:cNvSpPr/>
                <p:nvPr/>
              </p:nvSpPr>
              <p:spPr>
                <a:xfrm>
                  <a:off x="9233850" y="2884725"/>
                  <a:ext cx="629400" cy="641400"/>
                </a:xfrm>
                <a:prstGeom prst="rect">
                  <a:avLst/>
                </a:prstGeom>
                <a:solidFill>
                  <a:schemeClr val="lt2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16" name="Google Shape;816;p41"/>
                <p:cNvCxnSpPr>
                  <a:stCxn id="815" idx="1"/>
                </p:cNvCxnSpPr>
                <p:nvPr/>
              </p:nvCxnSpPr>
              <p:spPr>
                <a:xfrm>
                  <a:off x="9233850" y="3205425"/>
                  <a:ext cx="634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17" name="Google Shape;817;p41"/>
                <p:cNvCxnSpPr/>
                <p:nvPr/>
              </p:nvCxnSpPr>
              <p:spPr>
                <a:xfrm>
                  <a:off x="9233850" y="3040000"/>
                  <a:ext cx="634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18" name="Google Shape;818;p41"/>
                <p:cNvCxnSpPr/>
                <p:nvPr/>
              </p:nvCxnSpPr>
              <p:spPr>
                <a:xfrm>
                  <a:off x="9231450" y="3367350"/>
                  <a:ext cx="634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819" name="Google Shape;819;p41"/>
              <p:cNvSpPr txBox="1"/>
              <p:nvPr/>
            </p:nvSpPr>
            <p:spPr>
              <a:xfrm>
                <a:off x="9389400" y="3042150"/>
                <a:ext cx="320700" cy="4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/>
                  <a:t>…</a:t>
                </a:r>
                <a:endParaRPr/>
              </a:p>
            </p:txBody>
          </p:sp>
        </p:grpSp>
        <p:sp>
          <p:nvSpPr>
            <p:cNvPr id="820" name="Google Shape;820;p41"/>
            <p:cNvSpPr txBox="1"/>
            <p:nvPr/>
          </p:nvSpPr>
          <p:spPr>
            <a:xfrm>
              <a:off x="7015276" y="3947629"/>
              <a:ext cx="627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PT</a:t>
              </a:r>
              <a:endParaRPr sz="6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821" name="Google Shape;821;p41"/>
            <p:cNvCxnSpPr/>
            <p:nvPr/>
          </p:nvCxnSpPr>
          <p:spPr>
            <a:xfrm>
              <a:off x="3308475" y="5738350"/>
              <a:ext cx="49452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2" name="Google Shape;822;p41"/>
            <p:cNvCxnSpPr>
              <a:stCxn id="810" idx="2"/>
            </p:cNvCxnSpPr>
            <p:nvPr/>
          </p:nvCxnSpPr>
          <p:spPr>
            <a:xfrm flipH="1">
              <a:off x="4684792" y="5055084"/>
              <a:ext cx="7500" cy="6756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3" name="Google Shape;823;p41"/>
            <p:cNvCxnSpPr>
              <a:stCxn id="812" idx="2"/>
            </p:cNvCxnSpPr>
            <p:nvPr/>
          </p:nvCxnSpPr>
          <p:spPr>
            <a:xfrm flipH="1">
              <a:off x="7326375" y="5138325"/>
              <a:ext cx="2700" cy="5922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824" name="Google Shape;824;p41"/>
            <p:cNvGrpSpPr/>
            <p:nvPr/>
          </p:nvGrpSpPr>
          <p:grpSpPr>
            <a:xfrm>
              <a:off x="4394975" y="4171100"/>
              <a:ext cx="636600" cy="641400"/>
              <a:chOff x="9231450" y="2884725"/>
              <a:chExt cx="636600" cy="641400"/>
            </a:xfrm>
          </p:grpSpPr>
          <p:grpSp>
            <p:nvGrpSpPr>
              <p:cNvPr id="825" name="Google Shape;825;p41"/>
              <p:cNvGrpSpPr/>
              <p:nvPr/>
            </p:nvGrpSpPr>
            <p:grpSpPr>
              <a:xfrm>
                <a:off x="9231450" y="2884725"/>
                <a:ext cx="636600" cy="641400"/>
                <a:chOff x="9231450" y="2884725"/>
                <a:chExt cx="636600" cy="641400"/>
              </a:xfrm>
            </p:grpSpPr>
            <p:sp>
              <p:nvSpPr>
                <p:cNvPr id="826" name="Google Shape;826;p41"/>
                <p:cNvSpPr/>
                <p:nvPr/>
              </p:nvSpPr>
              <p:spPr>
                <a:xfrm>
                  <a:off x="9233850" y="2884725"/>
                  <a:ext cx="629400" cy="641400"/>
                </a:xfrm>
                <a:prstGeom prst="rect">
                  <a:avLst/>
                </a:prstGeom>
                <a:solidFill>
                  <a:srgbClr val="FFF2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27" name="Google Shape;827;p41"/>
                <p:cNvCxnSpPr>
                  <a:stCxn id="826" idx="1"/>
                </p:cNvCxnSpPr>
                <p:nvPr/>
              </p:nvCxnSpPr>
              <p:spPr>
                <a:xfrm>
                  <a:off x="9233850" y="3205425"/>
                  <a:ext cx="634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28" name="Google Shape;828;p41"/>
                <p:cNvCxnSpPr/>
                <p:nvPr/>
              </p:nvCxnSpPr>
              <p:spPr>
                <a:xfrm>
                  <a:off x="9233850" y="3040000"/>
                  <a:ext cx="634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29" name="Google Shape;829;p41"/>
                <p:cNvCxnSpPr/>
                <p:nvPr/>
              </p:nvCxnSpPr>
              <p:spPr>
                <a:xfrm>
                  <a:off x="9231450" y="3367350"/>
                  <a:ext cx="634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830" name="Google Shape;830;p41"/>
              <p:cNvSpPr txBox="1"/>
              <p:nvPr/>
            </p:nvSpPr>
            <p:spPr>
              <a:xfrm>
                <a:off x="9389400" y="3042150"/>
                <a:ext cx="320700" cy="4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/>
                  <a:t>…</a:t>
                </a:r>
                <a:endParaRPr/>
              </a:p>
            </p:txBody>
          </p:sp>
        </p:grpSp>
      </p:grpSp>
      <p:cxnSp>
        <p:nvCxnSpPr>
          <p:cNvPr id="831" name="Google Shape;831;p41"/>
          <p:cNvCxnSpPr/>
          <p:nvPr/>
        </p:nvCxnSpPr>
        <p:spPr>
          <a:xfrm flipH="1">
            <a:off x="8626950" y="1671725"/>
            <a:ext cx="758100" cy="12714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32" name="Google Shape;832;p41"/>
          <p:cNvSpPr txBox="1"/>
          <p:nvPr/>
        </p:nvSpPr>
        <p:spPr>
          <a:xfrm>
            <a:off x="9326750" y="1429150"/>
            <a:ext cx="841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Cache</a:t>
            </a:r>
            <a:endParaRPr sz="80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3" name="Google Shape;833;p41"/>
          <p:cNvSpPr txBox="1"/>
          <p:nvPr/>
        </p:nvSpPr>
        <p:spPr>
          <a:xfrm>
            <a:off x="8715200" y="4560700"/>
            <a:ext cx="20643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Memory </a:t>
            </a:r>
            <a:r>
              <a:rPr lang="es-ES" sz="16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Interconnection</a:t>
            </a:r>
            <a:endParaRPr sz="10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4" name="Google Shape;834;p41"/>
          <p:cNvSpPr txBox="1"/>
          <p:nvPr/>
        </p:nvSpPr>
        <p:spPr>
          <a:xfrm>
            <a:off x="8626950" y="3881175"/>
            <a:ext cx="2064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PTEs más populares son transferidas más a menudo</a:t>
            </a:r>
            <a:endParaRPr sz="40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35" name="Google Shape;835;p41"/>
          <p:cNvCxnSpPr/>
          <p:nvPr/>
        </p:nvCxnSpPr>
        <p:spPr>
          <a:xfrm rot="10800000">
            <a:off x="9198300" y="4377600"/>
            <a:ext cx="1084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TLB (Translation Lookaside Buffer)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842" name="Google Shape;842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4000" y="1808862"/>
            <a:ext cx="9715551" cy="4367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43"/>
          <p:cNvSpPr txBox="1">
            <a:spLocks noGrp="1"/>
          </p:cNvSpPr>
          <p:nvPr>
            <p:ph type="title"/>
          </p:nvPr>
        </p:nvSpPr>
        <p:spPr>
          <a:xfrm>
            <a:off x="333829" y="96038"/>
            <a:ext cx="888682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TLB (Translation Lookaside Buffer)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48" name="Google Shape;848;p43"/>
          <p:cNvSpPr txBox="1">
            <a:spLocks noGrp="1"/>
          </p:cNvSpPr>
          <p:nvPr>
            <p:ph type="body" idx="1"/>
          </p:nvPr>
        </p:nvSpPr>
        <p:spPr>
          <a:xfrm>
            <a:off x="333829" y="964068"/>
            <a:ext cx="11316396" cy="1332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Contenido de una entrada TLB</a:t>
            </a:r>
            <a:endParaRPr sz="24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A diferencia de una entrada de una tabla de página (</a:t>
            </a:r>
            <a:r>
              <a:rPr lang="es-ES" sz="2200" b="1" dirty="0">
                <a:solidFill>
                  <a:srgbClr val="E46C0A"/>
                </a:solidFill>
                <a:latin typeface="+mn-lt"/>
                <a:ea typeface="Consolas"/>
                <a:cs typeface="Consolas"/>
                <a:sym typeface="Consolas"/>
              </a:rPr>
              <a:t>PTE = PFN + Other bits</a:t>
            </a:r>
            <a:r>
              <a:rPr lang="es-ES" sz="2200" dirty="0">
                <a:latin typeface="+mn-lt"/>
              </a:rPr>
              <a:t>), una entrada de una TLB (</a:t>
            </a:r>
            <a:r>
              <a:rPr lang="es-ES" sz="2200" b="1" dirty="0">
                <a:latin typeface="+mn-lt"/>
              </a:rPr>
              <a:t>TLB Entry</a:t>
            </a:r>
            <a:r>
              <a:rPr lang="es-ES" sz="2200" dirty="0">
                <a:latin typeface="+mn-lt"/>
              </a:rPr>
              <a:t>) contiene la siguiente forma: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849" name="Google Shape;849;p43"/>
          <p:cNvSpPr txBox="1"/>
          <p:nvPr/>
        </p:nvSpPr>
        <p:spPr>
          <a:xfrm>
            <a:off x="916650" y="2442091"/>
            <a:ext cx="5620500" cy="5232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E46C0A"/>
                </a:solidFill>
                <a:latin typeface="Consolas"/>
                <a:ea typeface="Consolas"/>
                <a:cs typeface="Consolas"/>
                <a:sym typeface="Consolas"/>
              </a:rPr>
              <a:t>TLB Entry = </a:t>
            </a:r>
            <a:r>
              <a:rPr lang="es-ES" sz="2200" b="1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r>
              <a:rPr lang="es-ES" sz="2200" b="1" dirty="0">
                <a:solidFill>
                  <a:srgbClr val="E46C0A"/>
                </a:solidFill>
                <a:latin typeface="Consolas"/>
                <a:ea typeface="Consolas"/>
                <a:cs typeface="Consolas"/>
                <a:sym typeface="Consolas"/>
              </a:rPr>
              <a:t> + PFN + Other bits</a:t>
            </a:r>
            <a:endParaRPr dirty="0"/>
          </a:p>
        </p:txBody>
      </p:sp>
      <p:graphicFrame>
        <p:nvGraphicFramePr>
          <p:cNvPr id="850" name="Google Shape;850;p43"/>
          <p:cNvGraphicFramePr/>
          <p:nvPr/>
        </p:nvGraphicFramePr>
        <p:xfrm>
          <a:off x="6819975" y="2496725"/>
          <a:ext cx="4851825" cy="47241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44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0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2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19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9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Other bits</a:t>
                      </a:r>
                      <a:endParaRPr sz="19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851" name="Google Shape;851;p43"/>
          <p:cNvGrpSpPr/>
          <p:nvPr/>
        </p:nvGrpSpPr>
        <p:grpSpPr>
          <a:xfrm>
            <a:off x="6794925" y="3058325"/>
            <a:ext cx="4923950" cy="1268400"/>
            <a:chOff x="1275575" y="4284000"/>
            <a:chExt cx="4923950" cy="1268400"/>
          </a:xfrm>
        </p:grpSpPr>
        <p:grpSp>
          <p:nvGrpSpPr>
            <p:cNvPr id="852" name="Google Shape;852;p43"/>
            <p:cNvGrpSpPr/>
            <p:nvPr/>
          </p:nvGrpSpPr>
          <p:grpSpPr>
            <a:xfrm>
              <a:off x="1275575" y="4284000"/>
              <a:ext cx="1449900" cy="945150"/>
              <a:chOff x="1275575" y="4284000"/>
              <a:chExt cx="1449900" cy="945150"/>
            </a:xfrm>
          </p:grpSpPr>
          <p:sp>
            <p:nvSpPr>
              <p:cNvPr id="853" name="Google Shape;853;p43"/>
              <p:cNvSpPr txBox="1"/>
              <p:nvPr/>
            </p:nvSpPr>
            <p:spPr>
              <a:xfrm>
                <a:off x="1300625" y="4397850"/>
                <a:ext cx="1282500" cy="831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Virtual Page Number </a:t>
                </a:r>
                <a:r>
                  <a:rPr lang="es-ES">
                    <a:solidFill>
                      <a:srgbClr val="FF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(Tag) </a:t>
                </a:r>
                <a:endParaRPr>
                  <a:solidFill>
                    <a:srgbClr val="FF0000"/>
                  </a:solidFill>
                </a:endParaRPr>
              </a:p>
            </p:txBody>
          </p:sp>
          <p:sp>
            <p:nvSpPr>
              <p:cNvPr id="854" name="Google Shape;854;p43"/>
              <p:cNvSpPr/>
              <p:nvPr/>
            </p:nvSpPr>
            <p:spPr>
              <a:xfrm rot="-5400000">
                <a:off x="1889675" y="3669900"/>
                <a:ext cx="221700" cy="1449900"/>
              </a:xfrm>
              <a:prstGeom prst="leftBrace">
                <a:avLst>
                  <a:gd name="adj1" fmla="val 50000"/>
                  <a:gd name="adj2" fmla="val 50000"/>
                </a:avLst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55" name="Google Shape;855;p43"/>
            <p:cNvGrpSpPr/>
            <p:nvPr/>
          </p:nvGrpSpPr>
          <p:grpSpPr>
            <a:xfrm>
              <a:off x="2757600" y="4284775"/>
              <a:ext cx="1355700" cy="836525"/>
              <a:chOff x="2757600" y="4284775"/>
              <a:chExt cx="1355700" cy="836525"/>
            </a:xfrm>
          </p:grpSpPr>
          <p:sp>
            <p:nvSpPr>
              <p:cNvPr id="856" name="Google Shape;856;p43"/>
              <p:cNvSpPr txBox="1"/>
              <p:nvPr/>
            </p:nvSpPr>
            <p:spPr>
              <a:xfrm>
                <a:off x="2758725" y="4505700"/>
                <a:ext cx="1282500" cy="615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Page Frame Number</a:t>
                </a:r>
                <a:endParaRPr/>
              </a:p>
            </p:txBody>
          </p:sp>
          <p:sp>
            <p:nvSpPr>
              <p:cNvPr id="857" name="Google Shape;857;p43"/>
              <p:cNvSpPr/>
              <p:nvPr/>
            </p:nvSpPr>
            <p:spPr>
              <a:xfrm rot="-5400000">
                <a:off x="3324600" y="3717775"/>
                <a:ext cx="221700" cy="1355700"/>
              </a:xfrm>
              <a:prstGeom prst="leftBrace">
                <a:avLst>
                  <a:gd name="adj1" fmla="val 50000"/>
                  <a:gd name="adj2" fmla="val 50000"/>
                </a:avLst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58" name="Google Shape;858;p43"/>
            <p:cNvGrpSpPr/>
            <p:nvPr/>
          </p:nvGrpSpPr>
          <p:grpSpPr>
            <a:xfrm>
              <a:off x="4122975" y="4297225"/>
              <a:ext cx="2076550" cy="1255175"/>
              <a:chOff x="4122975" y="4297225"/>
              <a:chExt cx="2076550" cy="1255175"/>
            </a:xfrm>
          </p:grpSpPr>
          <p:sp>
            <p:nvSpPr>
              <p:cNvPr id="859" name="Google Shape;859;p43"/>
              <p:cNvSpPr txBox="1"/>
              <p:nvPr/>
            </p:nvSpPr>
            <p:spPr>
              <a:xfrm>
                <a:off x="4145425" y="4505700"/>
                <a:ext cx="2054100" cy="104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180000" lvl="0" indent="-174625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onsolas"/>
                  <a:buChar char="●"/>
                </a:pPr>
                <a:r>
                  <a:rPr lang="es-ES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V: Valid</a:t>
                </a:r>
                <a:endParaRPr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  <a:p>
                <a:pPr marL="180000" lvl="0" indent="-174625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onsolas"/>
                  <a:buChar char="●"/>
                </a:pPr>
                <a:r>
                  <a:rPr lang="es-ES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R: Reference</a:t>
                </a:r>
                <a:endParaRPr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  <a:p>
                <a:pPr marL="180000" lvl="0" indent="-174625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onsolas"/>
                  <a:buChar char="●"/>
                </a:pPr>
                <a:r>
                  <a:rPr lang="es-ES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M: </a:t>
                </a:r>
                <a:r>
                  <a:rPr lang="es-ES" dirty="0" err="1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Modif</a:t>
                </a:r>
                <a:endParaRPr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  <a:p>
                <a:pPr marL="180000" lvl="0" indent="-174625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onsolas"/>
                  <a:buChar char="●"/>
                </a:pPr>
                <a:r>
                  <a:rPr lang="es-ES" dirty="0" err="1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Prot</a:t>
                </a:r>
                <a:r>
                  <a:rPr lang="es-ES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: </a:t>
                </a:r>
                <a:r>
                  <a:rPr lang="es-ES" dirty="0" err="1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Protection</a:t>
                </a:r>
                <a:endParaRPr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860" name="Google Shape;860;p43"/>
              <p:cNvSpPr/>
              <p:nvPr/>
            </p:nvSpPr>
            <p:spPr>
              <a:xfrm rot="-5400000">
                <a:off x="5016075" y="3404125"/>
                <a:ext cx="221700" cy="2007900"/>
              </a:xfrm>
              <a:prstGeom prst="leftBrace">
                <a:avLst>
                  <a:gd name="adj1" fmla="val 50000"/>
                  <a:gd name="adj2" fmla="val 50000"/>
                </a:avLst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861" name="Google Shape;86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81085" y="4704378"/>
            <a:ext cx="7229840" cy="177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45"/>
          <p:cNvSpPr txBox="1">
            <a:spLocks noGrp="1"/>
          </p:cNvSpPr>
          <p:nvPr>
            <p:ph type="title"/>
          </p:nvPr>
        </p:nvSpPr>
        <p:spPr>
          <a:xfrm>
            <a:off x="737419" y="96038"/>
            <a:ext cx="8483231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Address Translation usando TLB</a:t>
            </a:r>
            <a:endParaRPr sz="3200" b="1" dirty="0">
              <a:solidFill>
                <a:schemeClr val="tx1"/>
              </a:solidFill>
              <a:latin typeface="+mj-lt"/>
              <a:sym typeface="Roboto Slab"/>
            </a:endParaRPr>
          </a:p>
        </p:txBody>
      </p:sp>
      <p:sp>
        <p:nvSpPr>
          <p:cNvPr id="873" name="Google Shape;873;p45"/>
          <p:cNvSpPr txBox="1">
            <a:spLocks noGrp="1"/>
          </p:cNvSpPr>
          <p:nvPr>
            <p:ph type="body" idx="1"/>
          </p:nvPr>
        </p:nvSpPr>
        <p:spPr>
          <a:xfrm>
            <a:off x="464458" y="1045538"/>
            <a:ext cx="11447362" cy="628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latin typeface="+mn-lt"/>
              </a:rPr>
              <a:t>Hardware de traducción con TLB</a:t>
            </a:r>
            <a:endParaRPr sz="28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874" name="Google Shape;874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4100" y="1701497"/>
            <a:ext cx="10094650" cy="4862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p46"/>
          <p:cNvSpPr txBox="1">
            <a:spLocks noGrp="1"/>
          </p:cNvSpPr>
          <p:nvPr>
            <p:ph type="title"/>
          </p:nvPr>
        </p:nvSpPr>
        <p:spPr>
          <a:xfrm>
            <a:off x="528382" y="96038"/>
            <a:ext cx="8692268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Address Translation usando TLB</a:t>
            </a:r>
            <a:endParaRPr sz="3200" b="1" dirty="0">
              <a:solidFill>
                <a:schemeClr val="tx1"/>
              </a:solidFill>
              <a:latin typeface="+mj-lt"/>
              <a:sym typeface="Roboto Slab"/>
            </a:endParaRPr>
          </a:p>
        </p:txBody>
      </p:sp>
      <p:sp>
        <p:nvSpPr>
          <p:cNvPr id="880" name="Google Shape;880;p46"/>
          <p:cNvSpPr txBox="1">
            <a:spLocks noGrp="1"/>
          </p:cNvSpPr>
          <p:nvPr>
            <p:ph type="body" idx="1"/>
          </p:nvPr>
        </p:nvSpPr>
        <p:spPr>
          <a:xfrm>
            <a:off x="528382" y="1178962"/>
            <a:ext cx="5097600" cy="472039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6">
                    <a:lumMod val="75000"/>
                  </a:schemeClr>
                </a:solidFill>
                <a:latin typeface="+mn-lt"/>
              </a:rPr>
              <a:t>Caso Hit</a:t>
            </a:r>
            <a:endParaRPr sz="2400" b="1" dirty="0">
              <a:solidFill>
                <a:schemeClr val="accent6">
                  <a:lumMod val="75000"/>
                </a:schemeClr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Se elimina la necesidad de acceder a memoria física:</a:t>
            </a:r>
            <a:endParaRPr sz="22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El procesador envía la VA a la MMU.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La MMU extrae la VPN de la VA.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Se verifica que la VPN se encuentre en la TLB, como en este caso esto es verdadero (</a:t>
            </a:r>
            <a:r>
              <a:rPr lang="es-ES" sz="2000" b="1" dirty="0">
                <a:solidFill>
                  <a:srgbClr val="0B6937"/>
                </a:solidFill>
                <a:latin typeface="+mn-lt"/>
              </a:rPr>
              <a:t>TLB hit</a:t>
            </a:r>
            <a:r>
              <a:rPr lang="es-ES" sz="2000" dirty="0">
                <a:latin typeface="+mn-lt"/>
              </a:rPr>
              <a:t>), se obtiene la PTE.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Se extrae la PFN de la PTE y se procede a formar la dirección física (PA) asociada a la dirección virtual.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Con la dirección física obtenida, se procede a cargar el dato que allí se encuentra a la CPU.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881" name="Google Shape;881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15294" y="1935565"/>
            <a:ext cx="5748324" cy="3440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47"/>
          <p:cNvSpPr txBox="1">
            <a:spLocks noGrp="1"/>
          </p:cNvSpPr>
          <p:nvPr>
            <p:ph type="title"/>
          </p:nvPr>
        </p:nvSpPr>
        <p:spPr>
          <a:xfrm>
            <a:off x="449943" y="96038"/>
            <a:ext cx="8770707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Address Translation usando TLB</a:t>
            </a:r>
            <a:endParaRPr sz="3200" b="1" dirty="0">
              <a:solidFill>
                <a:schemeClr val="tx1"/>
              </a:solidFill>
              <a:latin typeface="+mj-lt"/>
              <a:ea typeface="Roboto Slab"/>
              <a:cs typeface="Roboto Slab"/>
              <a:sym typeface="Roboto Slab"/>
            </a:endParaRPr>
          </a:p>
        </p:txBody>
      </p:sp>
      <p:sp>
        <p:nvSpPr>
          <p:cNvPr id="887" name="Google Shape;887;p47"/>
          <p:cNvSpPr txBox="1">
            <a:spLocks noGrp="1"/>
          </p:cNvSpPr>
          <p:nvPr>
            <p:ph type="body" idx="1"/>
          </p:nvPr>
        </p:nvSpPr>
        <p:spPr>
          <a:xfrm>
            <a:off x="339213" y="899062"/>
            <a:ext cx="6105832" cy="5862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C00000"/>
                </a:solidFill>
                <a:latin typeface="+mn-lt"/>
              </a:rPr>
              <a:t>Caso Miss</a:t>
            </a:r>
            <a:endParaRPr sz="2400" b="1" dirty="0">
              <a:solidFill>
                <a:srgbClr val="C00000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En este caso, se da un acceso adicional a memoria (más exactamente a la PT). </a:t>
            </a:r>
            <a:r>
              <a:rPr lang="es-MX" sz="2200" dirty="0">
                <a:latin typeface="+mn-lt"/>
              </a:rPr>
              <a:t>En programas con buena localidad, los TLB misses son poco frecuentes</a:t>
            </a:r>
            <a:r>
              <a:rPr lang="es-ES" sz="2200" dirty="0">
                <a:latin typeface="+mn-lt"/>
              </a:rPr>
              <a:t>:</a:t>
            </a:r>
            <a:endParaRPr sz="22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El procesador envía la VA a la MMU.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La MMU extrae la VPN de la VA.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Se verifica que la VPN se encuentre en la TLB, como en este caso no se encuentra (</a:t>
            </a:r>
            <a:r>
              <a:rPr lang="es-ES" sz="2000" b="1" dirty="0">
                <a:solidFill>
                  <a:srgbClr val="0B6937"/>
                </a:solidFill>
                <a:latin typeface="+mn-lt"/>
              </a:rPr>
              <a:t>TLB miss</a:t>
            </a:r>
            <a:r>
              <a:rPr lang="es-ES" sz="2000" dirty="0">
                <a:latin typeface="+mn-lt"/>
              </a:rPr>
              <a:t>), se tiene que acceder a la PT.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Una vez al obtiene el PFN (al acceder a la PT) asociado al VPN deseado, se procede a la actualización de la TLB.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Se realiza nuevamente la búsqueda original en la TLB ya actualizada produciéndose un TLB Hit lo cual hace posible formar la dirección física deseada.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Con la dirección física obtenida, se procede a cargar el dato que allí se encuentra a la CPU.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888" name="Google Shape;888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49695" y="1792433"/>
            <a:ext cx="5441974" cy="32731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Google Shape;893;p48"/>
          <p:cNvSpPr txBox="1">
            <a:spLocks noGrp="1"/>
          </p:cNvSpPr>
          <p:nvPr>
            <p:ph type="title"/>
          </p:nvPr>
        </p:nvSpPr>
        <p:spPr>
          <a:xfrm>
            <a:off x="435429" y="96038"/>
            <a:ext cx="8785221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Address Translation usando TLB</a:t>
            </a:r>
            <a:endParaRPr sz="3200" b="1" dirty="0">
              <a:solidFill>
                <a:schemeClr val="tx1"/>
              </a:solidFill>
              <a:latin typeface="+mj-lt"/>
              <a:sym typeface="Roboto Slab"/>
            </a:endParaRPr>
          </a:p>
        </p:txBody>
      </p:sp>
      <p:sp>
        <p:nvSpPr>
          <p:cNvPr id="894" name="Google Shape;894;p48"/>
          <p:cNvSpPr txBox="1">
            <a:spLocks noGrp="1"/>
          </p:cNvSpPr>
          <p:nvPr>
            <p:ph type="body" idx="1"/>
          </p:nvPr>
        </p:nvSpPr>
        <p:spPr>
          <a:xfrm>
            <a:off x="435429" y="905600"/>
            <a:ext cx="11008671" cy="62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Control Flow Basic Algorithm (Pseudocódigo)</a:t>
            </a:r>
            <a:endParaRPr sz="18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</p:txBody>
      </p:sp>
      <p:grpSp>
        <p:nvGrpSpPr>
          <p:cNvPr id="895" name="Google Shape;895;p48"/>
          <p:cNvGrpSpPr/>
          <p:nvPr/>
        </p:nvGrpSpPr>
        <p:grpSpPr>
          <a:xfrm>
            <a:off x="776700" y="1660000"/>
            <a:ext cx="6531400" cy="4863900"/>
            <a:chOff x="1255750" y="1531700"/>
            <a:chExt cx="6531400" cy="4863900"/>
          </a:xfrm>
        </p:grpSpPr>
        <p:sp>
          <p:nvSpPr>
            <p:cNvPr id="896" name="Google Shape;896;p48"/>
            <p:cNvSpPr txBox="1"/>
            <p:nvPr/>
          </p:nvSpPr>
          <p:spPr>
            <a:xfrm>
              <a:off x="1982750" y="1531700"/>
              <a:ext cx="5804400" cy="48639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VPN = (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VirtualAddress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&amp; VPN MASK) &gt;&gt; SHIFT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Success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TlbEntry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) =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TLB_Lookup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(VPN)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if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(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Success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== True) // TLB Hit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if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(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CanAccess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TlbEntry.ProtectBits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) == True)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  Offset =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VirtualAddress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&amp; OFFSET_MASK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 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PhysAddr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= (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TlbEntry.PFN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&lt;&lt; SHIFT) | Offset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  Register = AccessMemory(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PhysAddr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else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 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RaiseException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(PROTECTION_FAULT)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else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// TLB Miss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PTEAddr = PTBR + (VPN *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sizeof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(PTE))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PTE = AccessMemory(PTEAddr)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if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(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PTE.Valid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== False)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   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RaiseException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(SEGMENTATION_FAULT)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else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if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(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CanAccess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PTE.ProtectBits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) == False)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 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RaiseException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(PROTECTION_FAULT)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else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 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TLB_Insert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(VPN, PTE.PFN,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PTE.ProtectBits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 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RetryInstruction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()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897" name="Google Shape;897;p48"/>
            <p:cNvSpPr txBox="1"/>
            <p:nvPr/>
          </p:nvSpPr>
          <p:spPr>
            <a:xfrm>
              <a:off x="1255750" y="1531700"/>
              <a:ext cx="641700" cy="486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FCE5CD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600">
                <a:highlight>
                  <a:srgbClr val="FCE5CD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FCE5CD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600">
                <a:highlight>
                  <a:srgbClr val="FCE5CD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D9EAD3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600">
                <a:highlight>
                  <a:srgbClr val="D9EAD3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D9EAD3"/>
                  </a:highlight>
                  <a:latin typeface="Consolas"/>
                  <a:ea typeface="Consolas"/>
                  <a:cs typeface="Consolas"/>
                  <a:sym typeface="Consolas"/>
                </a:rPr>
                <a:t>4</a:t>
              </a:r>
              <a:endParaRPr sz="1600">
                <a:highlight>
                  <a:srgbClr val="D9EAD3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D9EAD3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sz="1600">
                <a:highlight>
                  <a:srgbClr val="D9EAD3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D9EAD3"/>
                  </a:highlight>
                  <a:latin typeface="Consolas"/>
                  <a:ea typeface="Consolas"/>
                  <a:cs typeface="Consolas"/>
                  <a:sym typeface="Consolas"/>
                </a:rPr>
                <a:t>6</a:t>
              </a:r>
              <a:endParaRPr sz="1600">
                <a:highlight>
                  <a:srgbClr val="D9EAD3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D9EAD3"/>
                  </a:highlight>
                  <a:latin typeface="Consolas"/>
                  <a:ea typeface="Consolas"/>
                  <a:cs typeface="Consolas"/>
                  <a:sym typeface="Consolas"/>
                </a:rPr>
                <a:t>7</a:t>
              </a:r>
              <a:endParaRPr sz="1600">
                <a:highlight>
                  <a:srgbClr val="D9EAD3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C9DAF8"/>
                  </a:highlight>
                  <a:latin typeface="Consolas"/>
                  <a:ea typeface="Consolas"/>
                  <a:cs typeface="Consolas"/>
                  <a:sym typeface="Consolas"/>
                </a:rPr>
                <a:t>8</a:t>
              </a:r>
              <a:endParaRPr sz="1600">
                <a:highlight>
                  <a:srgbClr val="C9DAF8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C9DAF8"/>
                  </a:highlight>
                  <a:latin typeface="Consolas"/>
                  <a:ea typeface="Consolas"/>
                  <a:cs typeface="Consolas"/>
                  <a:sym typeface="Consolas"/>
                </a:rPr>
                <a:t>9</a:t>
              </a:r>
              <a:endParaRPr sz="1600">
                <a:highlight>
                  <a:srgbClr val="C9DAF8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F4CCCC"/>
                  </a:highlight>
                  <a:latin typeface="Consolas"/>
                  <a:ea typeface="Consolas"/>
                  <a:cs typeface="Consolas"/>
                  <a:sym typeface="Consolas"/>
                </a:rPr>
                <a:t>10</a:t>
              </a:r>
              <a:endParaRPr sz="1600">
                <a:highlight>
                  <a:srgbClr val="F4CCCC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F4CCCC"/>
                  </a:highlight>
                  <a:latin typeface="Consolas"/>
                  <a:ea typeface="Consolas"/>
                  <a:cs typeface="Consolas"/>
                  <a:sym typeface="Consolas"/>
                </a:rPr>
                <a:t>11</a:t>
              </a:r>
              <a:endParaRPr sz="1600">
                <a:highlight>
                  <a:srgbClr val="F4CCCC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F4CCCC"/>
                  </a:highlight>
                  <a:latin typeface="Consolas"/>
                  <a:ea typeface="Consolas"/>
                  <a:cs typeface="Consolas"/>
                  <a:sym typeface="Consolas"/>
                </a:rPr>
                <a:t>12</a:t>
              </a:r>
              <a:endParaRPr sz="1600">
                <a:highlight>
                  <a:srgbClr val="F4CCCC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CFE2F3"/>
                  </a:highlight>
                  <a:latin typeface="Consolas"/>
                  <a:ea typeface="Consolas"/>
                  <a:cs typeface="Consolas"/>
                  <a:sym typeface="Consolas"/>
                </a:rPr>
                <a:t>13</a:t>
              </a:r>
              <a:endParaRPr sz="1600">
                <a:highlight>
                  <a:srgbClr val="CFE2F3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CFE2F3"/>
                  </a:highlight>
                  <a:latin typeface="Consolas"/>
                  <a:ea typeface="Consolas"/>
                  <a:cs typeface="Consolas"/>
                  <a:sym typeface="Consolas"/>
                </a:rPr>
                <a:t>14</a:t>
              </a:r>
              <a:endParaRPr sz="1600">
                <a:highlight>
                  <a:srgbClr val="CFE2F3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CFE2F3"/>
                  </a:highlight>
                  <a:latin typeface="Consolas"/>
                  <a:ea typeface="Consolas"/>
                  <a:cs typeface="Consolas"/>
                  <a:sym typeface="Consolas"/>
                </a:rPr>
                <a:t>15</a:t>
              </a:r>
              <a:endParaRPr sz="1600">
                <a:highlight>
                  <a:srgbClr val="CFE2F3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CFE2F3"/>
                  </a:highlight>
                  <a:latin typeface="Consolas"/>
                  <a:ea typeface="Consolas"/>
                  <a:cs typeface="Consolas"/>
                  <a:sym typeface="Consolas"/>
                </a:rPr>
                <a:t>16</a:t>
              </a:r>
              <a:endParaRPr sz="1600">
                <a:highlight>
                  <a:srgbClr val="CFE2F3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CFE2F3"/>
                  </a:highlight>
                  <a:latin typeface="Consolas"/>
                  <a:ea typeface="Consolas"/>
                  <a:cs typeface="Consolas"/>
                  <a:sym typeface="Consolas"/>
                </a:rPr>
                <a:t>17</a:t>
              </a:r>
              <a:endParaRPr sz="1600">
                <a:highlight>
                  <a:srgbClr val="CFE2F3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F4CCCC"/>
                  </a:highlight>
                  <a:latin typeface="Consolas"/>
                  <a:ea typeface="Consolas"/>
                  <a:cs typeface="Consolas"/>
                  <a:sym typeface="Consolas"/>
                </a:rPr>
                <a:t>18</a:t>
              </a:r>
              <a:endParaRPr sz="1600">
                <a:highlight>
                  <a:srgbClr val="F4CCCC"/>
                </a:highlight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highlight>
                    <a:srgbClr val="F4CCCC"/>
                  </a:highlight>
                  <a:latin typeface="Consolas"/>
                  <a:ea typeface="Consolas"/>
                  <a:cs typeface="Consolas"/>
                  <a:sym typeface="Consolas"/>
                </a:rPr>
                <a:t>19</a:t>
              </a:r>
              <a:endParaRPr sz="1600">
                <a:highlight>
                  <a:srgbClr val="F4CCCC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898" name="Google Shape;898;p48"/>
          <p:cNvSpPr txBox="1"/>
          <p:nvPr/>
        </p:nvSpPr>
        <p:spPr>
          <a:xfrm>
            <a:off x="7542250" y="1660000"/>
            <a:ext cx="4501800" cy="16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Resumen Algoritmo</a:t>
            </a: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20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onsolas"/>
              <a:buChar char="●"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Instrucciones </a:t>
            </a:r>
            <a:r>
              <a:rPr lang="es-E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comunes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s-ES" sz="1800" dirty="0">
                <a:solidFill>
                  <a:schemeClr val="dk1"/>
                </a:solidFill>
                <a:highlight>
                  <a:srgbClr val="FCE5CD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onsolas"/>
              <a:buChar char="●"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Instrucciones </a:t>
            </a:r>
            <a:r>
              <a:rPr lang="es-ES" sz="1800" dirty="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hit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s-ES" sz="1800" dirty="0">
                <a:solidFill>
                  <a:schemeClr val="dk1"/>
                </a:solidFill>
                <a:highlight>
                  <a:srgbClr val="D9EAD3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onsolas"/>
              <a:buChar char="●"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Instrucciones </a:t>
            </a:r>
            <a:r>
              <a:rPr lang="es-ES" sz="18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miss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s-ES" sz="1800" dirty="0">
                <a:solidFill>
                  <a:schemeClr val="dk1"/>
                </a:solidFill>
                <a:highlight>
                  <a:srgbClr val="F4CCCC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onsolas"/>
              <a:buChar char="●"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Instrucciones </a:t>
            </a:r>
            <a:r>
              <a:rPr lang="es-ES" sz="18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interrupción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s-ES" sz="1800" dirty="0">
                <a:solidFill>
                  <a:schemeClr val="dk1"/>
                </a:solidFill>
                <a:highlight>
                  <a:srgbClr val="C9DAF8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Google Shape;903;p4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Address Translation usando TLB</a:t>
            </a:r>
            <a:endParaRPr sz="3200" b="1" dirty="0">
              <a:solidFill>
                <a:schemeClr val="tx1"/>
              </a:solidFill>
              <a:latin typeface="+mj-lt"/>
              <a:sym typeface="Roboto Slab"/>
            </a:endParaRPr>
          </a:p>
        </p:txBody>
      </p:sp>
      <p:sp>
        <p:nvSpPr>
          <p:cNvPr id="904" name="Google Shape;904;p49"/>
          <p:cNvSpPr txBox="1">
            <a:spLocks noGrp="1"/>
          </p:cNvSpPr>
          <p:nvPr>
            <p:ph type="body" idx="1"/>
          </p:nvPr>
        </p:nvSpPr>
        <p:spPr>
          <a:xfrm>
            <a:off x="916650" y="905600"/>
            <a:ext cx="10696200" cy="62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latin typeface="+mn-lt"/>
              </a:rPr>
              <a:t>Control Flow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905" name="Google Shape;905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8650" y="1719100"/>
            <a:ext cx="10032526" cy="4361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50"/>
          <p:cNvSpPr txBox="1">
            <a:spLocks noGrp="1"/>
          </p:cNvSpPr>
          <p:nvPr>
            <p:ph type="title"/>
          </p:nvPr>
        </p:nvSpPr>
        <p:spPr>
          <a:xfrm>
            <a:off x="381025" y="163663"/>
            <a:ext cx="8827975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Address Translation usando TLB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11" name="Google Shape;911;p50"/>
          <p:cNvSpPr txBox="1">
            <a:spLocks noGrp="1"/>
          </p:cNvSpPr>
          <p:nvPr>
            <p:ph type="body" idx="1"/>
          </p:nvPr>
        </p:nvSpPr>
        <p:spPr>
          <a:xfrm>
            <a:off x="4670675" y="973275"/>
            <a:ext cx="7140300" cy="1328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Accediendo a un arreglo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</a:rPr>
              <a:t>A continuación se muestra como una TLB puede mejorar el desempeño en la traducción de direcciones</a:t>
            </a: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912" name="Google Shape;912;p50"/>
          <p:cNvGraphicFramePr/>
          <p:nvPr>
            <p:extLst>
              <p:ext uri="{D42A27DB-BD31-4B8C-83A1-F6EECF244321}">
                <p14:modId xmlns:p14="http://schemas.microsoft.com/office/powerpoint/2010/main" val="2486480567"/>
              </p:ext>
            </p:extLst>
          </p:nvPr>
        </p:nvGraphicFramePr>
        <p:xfrm>
          <a:off x="972113" y="1331264"/>
          <a:ext cx="2747000" cy="536400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68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0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9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00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01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02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03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04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05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06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a[0]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a[1]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a[2]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07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a[3]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a[4]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a[5]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a[6]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08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a[7]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a[8]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a[9]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09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10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11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12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13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14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VNP = 15</a:t>
                      </a:r>
                      <a:endParaRPr sz="100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13" name="Google Shape;913;p50"/>
          <p:cNvSpPr txBox="1"/>
          <p:nvPr/>
        </p:nvSpPr>
        <p:spPr>
          <a:xfrm>
            <a:off x="1554063" y="1039214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00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14" name="Google Shape;914;p50"/>
          <p:cNvSpPr txBox="1"/>
          <p:nvPr/>
        </p:nvSpPr>
        <p:spPr>
          <a:xfrm>
            <a:off x="2044688" y="1039214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04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15" name="Google Shape;915;p50"/>
          <p:cNvSpPr txBox="1"/>
          <p:nvPr/>
        </p:nvSpPr>
        <p:spPr>
          <a:xfrm>
            <a:off x="2535313" y="1039214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08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16" name="Google Shape;916;p50"/>
          <p:cNvSpPr txBox="1"/>
          <p:nvPr/>
        </p:nvSpPr>
        <p:spPr>
          <a:xfrm>
            <a:off x="3025938" y="1039214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17" name="Google Shape;917;p50"/>
          <p:cNvSpPr txBox="1"/>
          <p:nvPr/>
        </p:nvSpPr>
        <p:spPr>
          <a:xfrm>
            <a:off x="3516563" y="1039214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16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18" name="Google Shape;918;p50"/>
          <p:cNvSpPr txBox="1"/>
          <p:nvPr/>
        </p:nvSpPr>
        <p:spPr>
          <a:xfrm>
            <a:off x="2415613" y="842814"/>
            <a:ext cx="642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>
              <a:solidFill>
                <a:srgbClr val="FF0000"/>
              </a:solidFill>
            </a:endParaRPr>
          </a:p>
        </p:txBody>
      </p:sp>
      <p:grpSp>
        <p:nvGrpSpPr>
          <p:cNvPr id="919" name="Google Shape;919;p50"/>
          <p:cNvGrpSpPr/>
          <p:nvPr/>
        </p:nvGrpSpPr>
        <p:grpSpPr>
          <a:xfrm>
            <a:off x="6137913" y="2574525"/>
            <a:ext cx="4205825" cy="1177450"/>
            <a:chOff x="6613800" y="2582275"/>
            <a:chExt cx="4205825" cy="1177450"/>
          </a:xfrm>
        </p:grpSpPr>
        <p:sp>
          <p:nvSpPr>
            <p:cNvPr id="920" name="Google Shape;920;p50"/>
            <p:cNvSpPr txBox="1"/>
            <p:nvPr/>
          </p:nvSpPr>
          <p:spPr>
            <a:xfrm>
              <a:off x="6997925" y="2582275"/>
              <a:ext cx="3821700" cy="11697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int sum = 0;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for (i = 0; i &lt; 10; i++) {  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sum += a[i];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}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921" name="Google Shape;921;p50"/>
            <p:cNvSpPr txBox="1"/>
            <p:nvPr/>
          </p:nvSpPr>
          <p:spPr>
            <a:xfrm>
              <a:off x="6613800" y="2590025"/>
              <a:ext cx="321900" cy="116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4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922" name="Google Shape;922;p50"/>
          <p:cNvSpPr txBox="1"/>
          <p:nvPr/>
        </p:nvSpPr>
        <p:spPr>
          <a:xfrm>
            <a:off x="4647288" y="3947250"/>
            <a:ext cx="7187100" cy="2528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ea typeface="Roboto"/>
                <a:cs typeface="Roboto"/>
                <a:sym typeface="Roboto"/>
              </a:rPr>
              <a:t>Suposiciones (continuación)</a:t>
            </a:r>
            <a:r>
              <a:rPr lang="es-ES" sz="2400" dirty="0">
                <a:ea typeface="Roboto"/>
                <a:cs typeface="Roboto"/>
                <a:sym typeface="Roboto"/>
              </a:rPr>
              <a:t>:</a:t>
            </a:r>
            <a:endParaRPr sz="2400" dirty="0"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AutoNum type="arabicPeriod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Se tiene un array de diez elementos tipo int: 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○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size(int) = 4B → size(array) = 40 B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AutoNum type="arabicPeriod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La dirección base del arreglo a es 100: &amp;a[0] =  100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AutoNum type="arabicPeriod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Address Space: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○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Número de bits de direcciones: n(VA) = 8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○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Tamaño de la memoria: 2^8 = 256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p51"/>
          <p:cNvSpPr txBox="1">
            <a:spLocks noGrp="1"/>
          </p:cNvSpPr>
          <p:nvPr>
            <p:ph type="title"/>
          </p:nvPr>
        </p:nvSpPr>
        <p:spPr>
          <a:xfrm>
            <a:off x="905000" y="163663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latin typeface="+mj-lt"/>
              </a:rPr>
              <a:t>Address Translation usando TLB</a:t>
            </a:r>
            <a:endParaRPr dirty="0">
              <a:latin typeface="+mj-lt"/>
            </a:endParaRPr>
          </a:p>
        </p:txBody>
      </p:sp>
      <p:sp>
        <p:nvSpPr>
          <p:cNvPr id="928" name="Google Shape;928;p51"/>
          <p:cNvSpPr txBox="1">
            <a:spLocks noGrp="1"/>
          </p:cNvSpPr>
          <p:nvPr>
            <p:ph type="body" idx="1"/>
          </p:nvPr>
        </p:nvSpPr>
        <p:spPr>
          <a:xfrm>
            <a:off x="4670675" y="973275"/>
            <a:ext cx="7140300" cy="1328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Accediendo a un arreglo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</a:rPr>
              <a:t>A continuación se muestra como una TLB puede mejorar el desempeño en la traducción de direcciones</a:t>
            </a: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929" name="Google Shape;929;p51"/>
          <p:cNvGraphicFramePr/>
          <p:nvPr>
            <p:extLst>
              <p:ext uri="{D42A27DB-BD31-4B8C-83A1-F6EECF244321}">
                <p14:modId xmlns:p14="http://schemas.microsoft.com/office/powerpoint/2010/main" val="2340645624"/>
              </p:ext>
            </p:extLst>
          </p:nvPr>
        </p:nvGraphicFramePr>
        <p:xfrm>
          <a:off x="788938" y="1328993"/>
          <a:ext cx="2747000" cy="536400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68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0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9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00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01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02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03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04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05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06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a[0]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a[1]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a[2]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07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a[3]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a[4]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a[5]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a[6]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08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a[7]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a[8]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a[9]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09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10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11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12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13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14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15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30" name="Google Shape;930;p51"/>
          <p:cNvSpPr txBox="1"/>
          <p:nvPr/>
        </p:nvSpPr>
        <p:spPr>
          <a:xfrm>
            <a:off x="1370888" y="1036943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00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31" name="Google Shape;931;p51"/>
          <p:cNvSpPr txBox="1"/>
          <p:nvPr/>
        </p:nvSpPr>
        <p:spPr>
          <a:xfrm>
            <a:off x="1861513" y="1036943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04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32" name="Google Shape;932;p51"/>
          <p:cNvSpPr txBox="1"/>
          <p:nvPr/>
        </p:nvSpPr>
        <p:spPr>
          <a:xfrm>
            <a:off x="2352138" y="1036943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08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33" name="Google Shape;933;p51"/>
          <p:cNvSpPr txBox="1"/>
          <p:nvPr/>
        </p:nvSpPr>
        <p:spPr>
          <a:xfrm>
            <a:off x="2842763" y="1036943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34" name="Google Shape;934;p51"/>
          <p:cNvSpPr txBox="1"/>
          <p:nvPr/>
        </p:nvSpPr>
        <p:spPr>
          <a:xfrm>
            <a:off x="3333388" y="1036943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16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35" name="Google Shape;935;p51"/>
          <p:cNvSpPr txBox="1"/>
          <p:nvPr/>
        </p:nvSpPr>
        <p:spPr>
          <a:xfrm>
            <a:off x="2232438" y="840543"/>
            <a:ext cx="642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>
              <a:solidFill>
                <a:srgbClr val="FF0000"/>
              </a:solidFill>
            </a:endParaRPr>
          </a:p>
        </p:txBody>
      </p:sp>
      <p:grpSp>
        <p:nvGrpSpPr>
          <p:cNvPr id="936" name="Google Shape;936;p51"/>
          <p:cNvGrpSpPr/>
          <p:nvPr/>
        </p:nvGrpSpPr>
        <p:grpSpPr>
          <a:xfrm>
            <a:off x="6137913" y="2574525"/>
            <a:ext cx="4205825" cy="1177450"/>
            <a:chOff x="6613800" y="2582275"/>
            <a:chExt cx="4205825" cy="1177450"/>
          </a:xfrm>
        </p:grpSpPr>
        <p:sp>
          <p:nvSpPr>
            <p:cNvPr id="937" name="Google Shape;937;p51"/>
            <p:cNvSpPr txBox="1"/>
            <p:nvPr/>
          </p:nvSpPr>
          <p:spPr>
            <a:xfrm>
              <a:off x="6997925" y="2582275"/>
              <a:ext cx="3821700" cy="1169700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int sum = 0;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for (i = 0; i &lt; 10; i++) {  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sum += a[i];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}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938" name="Google Shape;938;p51"/>
            <p:cNvSpPr txBox="1"/>
            <p:nvPr/>
          </p:nvSpPr>
          <p:spPr>
            <a:xfrm>
              <a:off x="6613800" y="2590025"/>
              <a:ext cx="321900" cy="116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4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939" name="Google Shape;939;p51"/>
          <p:cNvSpPr txBox="1"/>
          <p:nvPr/>
        </p:nvSpPr>
        <p:spPr>
          <a:xfrm>
            <a:off x="4647288" y="3947250"/>
            <a:ext cx="7187100" cy="1605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Roboto"/>
                <a:ea typeface="Roboto"/>
                <a:cs typeface="Roboto"/>
                <a:sym typeface="Roboto"/>
              </a:rPr>
              <a:t>Suposiciones</a:t>
            </a:r>
            <a:r>
              <a:rPr lang="es-ES" sz="2400" dirty="0">
                <a:latin typeface="Roboto"/>
                <a:ea typeface="Roboto"/>
                <a:cs typeface="Roboto"/>
                <a:sym typeface="Roboto"/>
              </a:rPr>
              <a:t>:</a:t>
            </a:r>
            <a:endParaRPr sz="24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AutoNum type="arabicPeriod" startAt="4"/>
            </a:pPr>
            <a:r>
              <a:rPr lang="es-ES" sz="2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Páginas: </a:t>
            </a:r>
            <a:endParaRPr sz="20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○"/>
            </a:pPr>
            <a:r>
              <a:rPr lang="es-ES" sz="2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size(page) = 16 B</a:t>
            </a:r>
            <a:endParaRPr sz="20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○"/>
            </a:pPr>
            <a:r>
              <a:rPr lang="es-ES" sz="20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num_paginas</a:t>
            </a:r>
            <a:r>
              <a:rPr lang="es-ES" sz="2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size(VA)/size(page) = 256/16 = 16</a:t>
            </a:r>
            <a:endParaRPr sz="20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p52"/>
          <p:cNvSpPr txBox="1">
            <a:spLocks noGrp="1"/>
          </p:cNvSpPr>
          <p:nvPr>
            <p:ph type="title"/>
          </p:nvPr>
        </p:nvSpPr>
        <p:spPr>
          <a:xfrm>
            <a:off x="905000" y="163663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Address Translation usando TLB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45" name="Google Shape;945;p52"/>
          <p:cNvSpPr txBox="1">
            <a:spLocks noGrp="1"/>
          </p:cNvSpPr>
          <p:nvPr>
            <p:ph type="body" idx="1"/>
          </p:nvPr>
        </p:nvSpPr>
        <p:spPr>
          <a:xfrm>
            <a:off x="4670675" y="973275"/>
            <a:ext cx="7140300" cy="581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rgbClr val="70AD47"/>
                </a:solidFill>
                <a:latin typeface="+mn-lt"/>
              </a:rPr>
              <a:t>Ejemplo - Accediendo a un arreglo</a:t>
            </a: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946" name="Google Shape;946;p52"/>
          <p:cNvGraphicFramePr/>
          <p:nvPr>
            <p:extLst>
              <p:ext uri="{D42A27DB-BD31-4B8C-83A1-F6EECF244321}">
                <p14:modId xmlns:p14="http://schemas.microsoft.com/office/powerpoint/2010/main" val="432583171"/>
              </p:ext>
            </p:extLst>
          </p:nvPr>
        </p:nvGraphicFramePr>
        <p:xfrm>
          <a:off x="1144975" y="1405225"/>
          <a:ext cx="2747000" cy="536400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68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0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9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00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01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02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03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04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05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06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a[0]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a[1]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a[2]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07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a[3]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a[4]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a[5]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a[6]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08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a[7]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a[8]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a[9]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09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10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11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12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13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14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15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47" name="Google Shape;947;p52"/>
          <p:cNvSpPr txBox="1"/>
          <p:nvPr/>
        </p:nvSpPr>
        <p:spPr>
          <a:xfrm>
            <a:off x="1726925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00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48" name="Google Shape;948;p52"/>
          <p:cNvSpPr txBox="1"/>
          <p:nvPr/>
        </p:nvSpPr>
        <p:spPr>
          <a:xfrm>
            <a:off x="2217550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04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49" name="Google Shape;949;p52"/>
          <p:cNvSpPr txBox="1"/>
          <p:nvPr/>
        </p:nvSpPr>
        <p:spPr>
          <a:xfrm>
            <a:off x="2708175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08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50" name="Google Shape;950;p52"/>
          <p:cNvSpPr txBox="1"/>
          <p:nvPr/>
        </p:nvSpPr>
        <p:spPr>
          <a:xfrm>
            <a:off x="3198800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51" name="Google Shape;951;p52"/>
          <p:cNvSpPr txBox="1"/>
          <p:nvPr/>
        </p:nvSpPr>
        <p:spPr>
          <a:xfrm>
            <a:off x="3689425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16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52" name="Google Shape;952;p52"/>
          <p:cNvSpPr txBox="1"/>
          <p:nvPr/>
        </p:nvSpPr>
        <p:spPr>
          <a:xfrm>
            <a:off x="2588475" y="916775"/>
            <a:ext cx="642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53" name="Google Shape;953;p52"/>
          <p:cNvSpPr txBox="1"/>
          <p:nvPr/>
        </p:nvSpPr>
        <p:spPr>
          <a:xfrm>
            <a:off x="4763913" y="1740475"/>
            <a:ext cx="7187100" cy="989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ea typeface="Roboto"/>
                <a:cs typeface="Roboto"/>
                <a:sym typeface="Roboto"/>
              </a:rPr>
              <a:t>Pregunta</a:t>
            </a:r>
            <a:r>
              <a:rPr lang="es-ES" sz="2400" dirty="0">
                <a:ea typeface="Roboto"/>
                <a:cs typeface="Roboto"/>
                <a:sym typeface="Roboto"/>
              </a:rPr>
              <a:t>:</a:t>
            </a:r>
            <a:endParaRPr sz="2400" dirty="0"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¿Cual es el offset asociado a la dirección de 100?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53"/>
          <p:cNvSpPr txBox="1">
            <a:spLocks noGrp="1"/>
          </p:cNvSpPr>
          <p:nvPr>
            <p:ph type="title"/>
          </p:nvPr>
        </p:nvSpPr>
        <p:spPr>
          <a:xfrm>
            <a:off x="905000" y="163663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Address Translation usando TLB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59" name="Google Shape;959;p53"/>
          <p:cNvSpPr txBox="1">
            <a:spLocks noGrp="1"/>
          </p:cNvSpPr>
          <p:nvPr>
            <p:ph type="body" idx="1"/>
          </p:nvPr>
        </p:nvSpPr>
        <p:spPr>
          <a:xfrm>
            <a:off x="3994200" y="973275"/>
            <a:ext cx="7140300" cy="581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latin typeface="+mn-lt"/>
              </a:rPr>
              <a:t>Ejemplo - Accediendo a un arreglo</a:t>
            </a: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960" name="Google Shape;960;p53"/>
          <p:cNvGraphicFramePr/>
          <p:nvPr>
            <p:extLst>
              <p:ext uri="{D42A27DB-BD31-4B8C-83A1-F6EECF244321}">
                <p14:modId xmlns:p14="http://schemas.microsoft.com/office/powerpoint/2010/main" val="2410145979"/>
              </p:ext>
            </p:extLst>
          </p:nvPr>
        </p:nvGraphicFramePr>
        <p:xfrm>
          <a:off x="840175" y="1405225"/>
          <a:ext cx="2747000" cy="536400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68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0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9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00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01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02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03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04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05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06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a[0]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a[1]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a[2]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07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a[3]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a[4]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a[5]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a[6]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08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a[7]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a[8]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a[9]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09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10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11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12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13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14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15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61" name="Google Shape;961;p53"/>
          <p:cNvSpPr txBox="1"/>
          <p:nvPr/>
        </p:nvSpPr>
        <p:spPr>
          <a:xfrm>
            <a:off x="1422125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00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62" name="Google Shape;962;p53"/>
          <p:cNvSpPr txBox="1"/>
          <p:nvPr/>
        </p:nvSpPr>
        <p:spPr>
          <a:xfrm>
            <a:off x="1912750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04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63" name="Google Shape;963;p53"/>
          <p:cNvSpPr txBox="1"/>
          <p:nvPr/>
        </p:nvSpPr>
        <p:spPr>
          <a:xfrm>
            <a:off x="2403375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08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64" name="Google Shape;964;p53"/>
          <p:cNvSpPr txBox="1"/>
          <p:nvPr/>
        </p:nvSpPr>
        <p:spPr>
          <a:xfrm>
            <a:off x="2894000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65" name="Google Shape;965;p53"/>
          <p:cNvSpPr txBox="1"/>
          <p:nvPr/>
        </p:nvSpPr>
        <p:spPr>
          <a:xfrm>
            <a:off x="3384625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16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66" name="Google Shape;966;p53"/>
          <p:cNvSpPr txBox="1"/>
          <p:nvPr/>
        </p:nvSpPr>
        <p:spPr>
          <a:xfrm>
            <a:off x="2283675" y="916775"/>
            <a:ext cx="642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67" name="Google Shape;967;p53"/>
          <p:cNvSpPr txBox="1"/>
          <p:nvPr/>
        </p:nvSpPr>
        <p:spPr>
          <a:xfrm>
            <a:off x="3877512" y="1740475"/>
            <a:ext cx="7617801" cy="959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ea typeface="Roboto"/>
                <a:cs typeface="Roboto"/>
                <a:sym typeface="Roboto"/>
              </a:rPr>
              <a:t>Pregunta</a:t>
            </a:r>
            <a:r>
              <a:rPr lang="es-ES" sz="2200" dirty="0">
                <a:ea typeface="Roboto"/>
                <a:cs typeface="Roboto"/>
                <a:sym typeface="Roboto"/>
              </a:rPr>
              <a:t>:</a:t>
            </a:r>
            <a:endParaRPr sz="2200" dirty="0"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¿Cual es el offset asociado a la dirección de 100?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53"/>
          <p:cNvSpPr txBox="1"/>
          <p:nvPr/>
        </p:nvSpPr>
        <p:spPr>
          <a:xfrm>
            <a:off x="3788125" y="2818775"/>
            <a:ext cx="8304000" cy="1528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ea typeface="Roboto"/>
                <a:cs typeface="Roboto"/>
                <a:sym typeface="Roboto"/>
              </a:rPr>
              <a:t>Solución</a:t>
            </a:r>
            <a:r>
              <a:rPr lang="es-ES" sz="2200" dirty="0">
                <a:ea typeface="Roboto"/>
                <a:cs typeface="Roboto"/>
                <a:sym typeface="Roboto"/>
              </a:rPr>
              <a:t>:</a:t>
            </a:r>
            <a:endParaRPr sz="2200" dirty="0">
              <a:ea typeface="Roboto"/>
              <a:cs typeface="Roboto"/>
              <a:sym typeface="Roboto"/>
            </a:endParaRPr>
          </a:p>
          <a:p>
            <a:pPr marL="457200" lvl="0" indent="-34925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onsolas"/>
              <a:buChar char="●"/>
            </a:pPr>
            <a:r>
              <a:rPr lang="es-ES" sz="19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size(page) = 16 → n(offset) = log2(16) = log2(2^4) = 4 </a:t>
            </a:r>
            <a:endParaRPr sz="19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onsolas"/>
              <a:buChar char="●"/>
            </a:pPr>
            <a:r>
              <a:rPr lang="es-ES" sz="19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n(VA) = 8</a:t>
            </a:r>
            <a:endParaRPr sz="19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onsolas"/>
              <a:buChar char="●"/>
            </a:pPr>
            <a:r>
              <a:rPr lang="es-ES" sz="19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n(VPN) = n(VA) - n(offset) = 8 - 4 = 4</a:t>
            </a:r>
            <a:endParaRPr sz="19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69" name="Google Shape;969;p53"/>
          <p:cNvSpPr txBox="1"/>
          <p:nvPr/>
        </p:nvSpPr>
        <p:spPr>
          <a:xfrm>
            <a:off x="3924225" y="4639975"/>
            <a:ext cx="4306200" cy="11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9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 = 100 = </a:t>
            </a:r>
            <a:r>
              <a:rPr lang="es-ES" sz="190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s-ES" sz="19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1100100 = </a:t>
            </a:r>
            <a:r>
              <a:rPr lang="es-ES" sz="190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0110</a:t>
            </a:r>
            <a:r>
              <a:rPr lang="es-ES" sz="19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0100</a:t>
            </a:r>
            <a:endParaRPr sz="190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925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onsolas"/>
              <a:buChar char="●"/>
            </a:pPr>
            <a:r>
              <a:rPr lang="es-ES" sz="19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VPN = 0110 = 6 </a:t>
            </a:r>
            <a:endParaRPr sz="19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onsolas"/>
              <a:buChar char="●"/>
            </a:pPr>
            <a:r>
              <a:rPr lang="es-ES" sz="19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 = 0100 = 4</a:t>
            </a:r>
            <a:endParaRPr sz="19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970" name="Google Shape;970;p53"/>
          <p:cNvGraphicFramePr/>
          <p:nvPr/>
        </p:nvGraphicFramePr>
        <p:xfrm>
          <a:off x="8679375" y="4875788"/>
          <a:ext cx="2937400" cy="79400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67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7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7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71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71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71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20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8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Google Shape;975;p54"/>
          <p:cNvSpPr txBox="1">
            <a:spLocks noGrp="1"/>
          </p:cNvSpPr>
          <p:nvPr>
            <p:ph type="title"/>
          </p:nvPr>
        </p:nvSpPr>
        <p:spPr>
          <a:xfrm>
            <a:off x="905000" y="163663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Address Translation usando TLB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76" name="Google Shape;976;p54"/>
          <p:cNvSpPr txBox="1">
            <a:spLocks noGrp="1"/>
          </p:cNvSpPr>
          <p:nvPr>
            <p:ph type="body" idx="1"/>
          </p:nvPr>
        </p:nvSpPr>
        <p:spPr>
          <a:xfrm>
            <a:off x="4334850" y="991675"/>
            <a:ext cx="7382700" cy="581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latin typeface="+mn-lt"/>
              </a:rPr>
              <a:t>Ejemplo - Accediendo a un arreglo</a:t>
            </a: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977" name="Google Shape;977;p54"/>
          <p:cNvGraphicFramePr/>
          <p:nvPr>
            <p:extLst>
              <p:ext uri="{D42A27DB-BD31-4B8C-83A1-F6EECF244321}">
                <p14:modId xmlns:p14="http://schemas.microsoft.com/office/powerpoint/2010/main" val="70546920"/>
              </p:ext>
            </p:extLst>
          </p:nvPr>
        </p:nvGraphicFramePr>
        <p:xfrm>
          <a:off x="1144975" y="1405225"/>
          <a:ext cx="2747000" cy="536400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68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0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9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00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01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02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03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04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05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06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a[0]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a[1]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a[2]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07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a[3]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a[4]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a[5]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a[6]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08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a[7]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a[8]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a[9]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09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10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11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12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13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14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15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78" name="Google Shape;978;p54"/>
          <p:cNvSpPr txBox="1"/>
          <p:nvPr/>
        </p:nvSpPr>
        <p:spPr>
          <a:xfrm>
            <a:off x="1726925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00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79" name="Google Shape;979;p54"/>
          <p:cNvSpPr txBox="1"/>
          <p:nvPr/>
        </p:nvSpPr>
        <p:spPr>
          <a:xfrm>
            <a:off x="2217550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04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80" name="Google Shape;980;p54"/>
          <p:cNvSpPr txBox="1"/>
          <p:nvPr/>
        </p:nvSpPr>
        <p:spPr>
          <a:xfrm>
            <a:off x="2708175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08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81" name="Google Shape;981;p54"/>
          <p:cNvSpPr txBox="1"/>
          <p:nvPr/>
        </p:nvSpPr>
        <p:spPr>
          <a:xfrm>
            <a:off x="3198800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82" name="Google Shape;982;p54"/>
          <p:cNvSpPr txBox="1"/>
          <p:nvPr/>
        </p:nvSpPr>
        <p:spPr>
          <a:xfrm>
            <a:off x="3689425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16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83" name="Google Shape;983;p54"/>
          <p:cNvSpPr txBox="1"/>
          <p:nvPr/>
        </p:nvSpPr>
        <p:spPr>
          <a:xfrm>
            <a:off x="2588475" y="916775"/>
            <a:ext cx="642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84" name="Google Shape;984;p54"/>
          <p:cNvSpPr txBox="1"/>
          <p:nvPr/>
        </p:nvSpPr>
        <p:spPr>
          <a:xfrm>
            <a:off x="4334851" y="1601425"/>
            <a:ext cx="7604400" cy="1297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ea typeface="Roboto"/>
                <a:cs typeface="Roboto"/>
                <a:sym typeface="Roboto"/>
              </a:rPr>
              <a:t>Pregunta</a:t>
            </a:r>
            <a:r>
              <a:rPr lang="es-ES" sz="2400" dirty="0">
                <a:ea typeface="Roboto"/>
                <a:cs typeface="Roboto"/>
                <a:sym typeface="Roboto"/>
              </a:rPr>
              <a:t>:</a:t>
            </a:r>
            <a:endParaRPr sz="2400" dirty="0"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Asumiendo una TLB de una sola entrada, ¿Cuantos </a:t>
            </a:r>
            <a:r>
              <a:rPr lang="es-ES" sz="20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TLB miss</a:t>
            </a: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y </a:t>
            </a:r>
            <a:r>
              <a:rPr lang="es-ES" sz="20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TLB hits</a:t>
            </a: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se presentan en este ejemplo?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graphicFrame>
        <p:nvGraphicFramePr>
          <p:cNvPr id="985" name="Google Shape;985;p54"/>
          <p:cNvGraphicFramePr/>
          <p:nvPr>
            <p:extLst>
              <p:ext uri="{D42A27DB-BD31-4B8C-83A1-F6EECF244321}">
                <p14:modId xmlns:p14="http://schemas.microsoft.com/office/powerpoint/2010/main" val="3870623672"/>
              </p:ext>
            </p:extLst>
          </p:nvPr>
        </p:nvGraphicFramePr>
        <p:xfrm>
          <a:off x="4497700" y="3603424"/>
          <a:ext cx="1471550" cy="88386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35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5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86" name="Google Shape;986;p54"/>
          <p:cNvGraphicFramePr/>
          <p:nvPr>
            <p:extLst>
              <p:ext uri="{D42A27DB-BD31-4B8C-83A1-F6EECF244321}">
                <p14:modId xmlns:p14="http://schemas.microsoft.com/office/powerpoint/2010/main" val="1597448716"/>
              </p:ext>
            </p:extLst>
          </p:nvPr>
        </p:nvGraphicFramePr>
        <p:xfrm>
          <a:off x="7000930" y="3594444"/>
          <a:ext cx="867390" cy="252966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867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4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PFN_x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 err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PFN_y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 err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PFN_z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87" name="Google Shape;987;p54"/>
          <p:cNvSpPr txBox="1"/>
          <p:nvPr/>
        </p:nvSpPr>
        <p:spPr>
          <a:xfrm>
            <a:off x="4947725" y="3020363"/>
            <a:ext cx="57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TLB</a:t>
            </a:r>
            <a:endParaRPr sz="18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p54"/>
          <p:cNvSpPr txBox="1"/>
          <p:nvPr/>
        </p:nvSpPr>
        <p:spPr>
          <a:xfrm>
            <a:off x="7075625" y="3074113"/>
            <a:ext cx="57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PT</a:t>
            </a:r>
            <a:endParaRPr sz="18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989" name="Google Shape;989;p54"/>
          <p:cNvGrpSpPr/>
          <p:nvPr/>
        </p:nvGrpSpPr>
        <p:grpSpPr>
          <a:xfrm>
            <a:off x="6364750" y="3550200"/>
            <a:ext cx="571525" cy="2411725"/>
            <a:chOff x="8965125" y="3668475"/>
            <a:chExt cx="571525" cy="2411725"/>
          </a:xfrm>
        </p:grpSpPr>
        <p:sp>
          <p:nvSpPr>
            <p:cNvPr id="990" name="Google Shape;990;p54"/>
            <p:cNvSpPr txBox="1"/>
            <p:nvPr/>
          </p:nvSpPr>
          <p:spPr>
            <a:xfrm>
              <a:off x="8965125" y="4064675"/>
              <a:ext cx="571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991" name="Google Shape;991;p54"/>
            <p:cNvSpPr txBox="1"/>
            <p:nvPr/>
          </p:nvSpPr>
          <p:spPr>
            <a:xfrm>
              <a:off x="9133100" y="4474125"/>
              <a:ext cx="40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6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992" name="Google Shape;992;p54"/>
            <p:cNvSpPr txBox="1"/>
            <p:nvPr/>
          </p:nvSpPr>
          <p:spPr>
            <a:xfrm>
              <a:off x="9133100" y="4883575"/>
              <a:ext cx="40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7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993" name="Google Shape;993;p54"/>
            <p:cNvSpPr txBox="1"/>
            <p:nvPr/>
          </p:nvSpPr>
          <p:spPr>
            <a:xfrm>
              <a:off x="9133100" y="5283775"/>
              <a:ext cx="40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8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994" name="Google Shape;994;p54"/>
            <p:cNvSpPr txBox="1"/>
            <p:nvPr/>
          </p:nvSpPr>
          <p:spPr>
            <a:xfrm>
              <a:off x="8965150" y="3668475"/>
              <a:ext cx="571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VPN</a:t>
              </a:r>
              <a:endParaRPr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995" name="Google Shape;995;p54"/>
            <p:cNvSpPr txBox="1"/>
            <p:nvPr/>
          </p:nvSpPr>
          <p:spPr>
            <a:xfrm>
              <a:off x="8965138" y="5680000"/>
              <a:ext cx="571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aphicFrame>
        <p:nvGraphicFramePr>
          <p:cNvPr id="996" name="Google Shape;996;p54"/>
          <p:cNvGraphicFramePr/>
          <p:nvPr>
            <p:extLst>
              <p:ext uri="{D42A27DB-BD31-4B8C-83A1-F6EECF244321}">
                <p14:modId xmlns:p14="http://schemas.microsoft.com/office/powerpoint/2010/main" val="923941342"/>
              </p:ext>
            </p:extLst>
          </p:nvPr>
        </p:nvGraphicFramePr>
        <p:xfrm>
          <a:off x="8401650" y="3020375"/>
          <a:ext cx="3385375" cy="371844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54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4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5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/>
                        <a:t>Dato</a:t>
                      </a:r>
                      <a:endParaRPr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/>
                        <a:t>VPN</a:t>
                      </a:r>
                      <a:endParaRPr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/>
                        <a:t>Resultado (M/H)</a:t>
                      </a:r>
                      <a:endParaRPr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a[0]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a[1]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a[2]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a[3]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a[4]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a[5]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a[6]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a[7]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a[8]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a[9]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55"/>
          <p:cNvSpPr txBox="1">
            <a:spLocks noGrp="1"/>
          </p:cNvSpPr>
          <p:nvPr>
            <p:ph type="title"/>
          </p:nvPr>
        </p:nvSpPr>
        <p:spPr>
          <a:xfrm>
            <a:off x="905000" y="163663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Address Translation usando TLB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02" name="Google Shape;1002;p55"/>
          <p:cNvSpPr txBox="1">
            <a:spLocks noGrp="1"/>
          </p:cNvSpPr>
          <p:nvPr>
            <p:ph type="body" idx="1"/>
          </p:nvPr>
        </p:nvSpPr>
        <p:spPr>
          <a:xfrm>
            <a:off x="3961625" y="991675"/>
            <a:ext cx="7755900" cy="581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latin typeface="+mn-lt"/>
              </a:rPr>
              <a:t>Ejemplo - Accediendo a un arreglo</a:t>
            </a: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1003" name="Google Shape;1003;p55"/>
          <p:cNvGraphicFramePr/>
          <p:nvPr>
            <p:extLst>
              <p:ext uri="{D42A27DB-BD31-4B8C-83A1-F6EECF244321}">
                <p14:modId xmlns:p14="http://schemas.microsoft.com/office/powerpoint/2010/main" val="1098347131"/>
              </p:ext>
            </p:extLst>
          </p:nvPr>
        </p:nvGraphicFramePr>
        <p:xfrm>
          <a:off x="905000" y="1405225"/>
          <a:ext cx="2747000" cy="536400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68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0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9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00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01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02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03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04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05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06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a[0]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a[1]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a[2]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07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a[3]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a[4]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a[5]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a[6]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08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a[7]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a[8]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a[9]</a:t>
                      </a: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09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10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11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12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13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14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7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 dirty="0">
                          <a:solidFill>
                            <a:schemeClr val="accent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15</a:t>
                      </a:r>
                      <a:endParaRPr sz="1000" dirty="0">
                        <a:solidFill>
                          <a:schemeClr val="accent6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004" name="Google Shape;1004;p55"/>
          <p:cNvSpPr txBox="1"/>
          <p:nvPr/>
        </p:nvSpPr>
        <p:spPr>
          <a:xfrm>
            <a:off x="1486950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00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1005" name="Google Shape;1005;p55"/>
          <p:cNvSpPr txBox="1"/>
          <p:nvPr/>
        </p:nvSpPr>
        <p:spPr>
          <a:xfrm>
            <a:off x="1977575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04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1006" name="Google Shape;1006;p55"/>
          <p:cNvSpPr txBox="1"/>
          <p:nvPr/>
        </p:nvSpPr>
        <p:spPr>
          <a:xfrm>
            <a:off x="2468200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08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1007" name="Google Shape;1007;p55"/>
          <p:cNvSpPr txBox="1"/>
          <p:nvPr/>
        </p:nvSpPr>
        <p:spPr>
          <a:xfrm>
            <a:off x="2958825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1008" name="Google Shape;1008;p55"/>
          <p:cNvSpPr txBox="1"/>
          <p:nvPr/>
        </p:nvSpPr>
        <p:spPr>
          <a:xfrm>
            <a:off x="3449450" y="1113175"/>
            <a:ext cx="40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16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1009" name="Google Shape;1009;p55"/>
          <p:cNvSpPr txBox="1"/>
          <p:nvPr/>
        </p:nvSpPr>
        <p:spPr>
          <a:xfrm>
            <a:off x="2348500" y="916775"/>
            <a:ext cx="642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1010" name="Google Shape;1010;p55"/>
          <p:cNvSpPr txBox="1"/>
          <p:nvPr/>
        </p:nvSpPr>
        <p:spPr>
          <a:xfrm>
            <a:off x="3961625" y="1467862"/>
            <a:ext cx="7977600" cy="1297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ea typeface="Roboto"/>
                <a:cs typeface="Roboto"/>
                <a:sym typeface="Roboto"/>
              </a:rPr>
              <a:t>Pregunta</a:t>
            </a:r>
            <a:r>
              <a:rPr lang="es-ES" sz="2400" dirty="0">
                <a:ea typeface="Roboto"/>
                <a:cs typeface="Roboto"/>
                <a:sym typeface="Roboto"/>
              </a:rPr>
              <a:t>:</a:t>
            </a:r>
            <a:endParaRPr sz="2400" dirty="0"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Asumiendo una TLB de una sola entrada, ¿Cuantos </a:t>
            </a:r>
            <a:r>
              <a:rPr lang="es-ES" sz="20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TLB miss</a:t>
            </a: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y </a:t>
            </a:r>
            <a:r>
              <a:rPr lang="es-ES" sz="20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TLB hits</a:t>
            </a: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se presentan en este ejemplo?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graphicFrame>
        <p:nvGraphicFramePr>
          <p:cNvPr id="1011" name="Google Shape;1011;p55"/>
          <p:cNvGraphicFramePr/>
          <p:nvPr>
            <p:extLst>
              <p:ext uri="{D42A27DB-BD31-4B8C-83A1-F6EECF244321}">
                <p14:modId xmlns:p14="http://schemas.microsoft.com/office/powerpoint/2010/main" val="358445816"/>
              </p:ext>
            </p:extLst>
          </p:nvPr>
        </p:nvGraphicFramePr>
        <p:xfrm>
          <a:off x="4406000" y="3504567"/>
          <a:ext cx="1422313" cy="155442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492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14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4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strike="sngStrike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?</a:t>
                      </a:r>
                      <a:endParaRPr sz="1600" strike="sng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strike="sngStrike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600" strike="sng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strike="sngStrike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strike="sng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strike="sngStrike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?</a:t>
                      </a:r>
                      <a:endParaRPr sz="1600" strike="sngStrike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strike="sngStrike" dirty="0" err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PFN_x</a:t>
                      </a:r>
                      <a:endParaRPr sz="1600" strike="sngStrike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strike="sngStrike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PFN_Y</a:t>
                      </a:r>
                      <a:endParaRPr sz="1600" strike="sngStrike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PFN_Z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12" name="Google Shape;1012;p55"/>
          <p:cNvGraphicFramePr/>
          <p:nvPr>
            <p:extLst>
              <p:ext uri="{D42A27DB-BD31-4B8C-83A1-F6EECF244321}">
                <p14:modId xmlns:p14="http://schemas.microsoft.com/office/powerpoint/2010/main" val="316762499"/>
              </p:ext>
            </p:extLst>
          </p:nvPr>
        </p:nvGraphicFramePr>
        <p:xfrm>
          <a:off x="7215125" y="3503237"/>
          <a:ext cx="868762" cy="256014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868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PFN_x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PFN_y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PFN_z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13" name="Google Shape;1013;p55"/>
          <p:cNvSpPr txBox="1"/>
          <p:nvPr/>
        </p:nvSpPr>
        <p:spPr>
          <a:xfrm>
            <a:off x="4891450" y="3009512"/>
            <a:ext cx="57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TLB</a:t>
            </a:r>
            <a:endParaRPr sz="18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14" name="Google Shape;1014;p55"/>
          <p:cNvSpPr txBox="1"/>
          <p:nvPr/>
        </p:nvSpPr>
        <p:spPr>
          <a:xfrm>
            <a:off x="7297250" y="3027150"/>
            <a:ext cx="57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PT</a:t>
            </a:r>
            <a:endParaRPr sz="18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15" name="Google Shape;1015;p55"/>
          <p:cNvGrpSpPr/>
          <p:nvPr/>
        </p:nvGrpSpPr>
        <p:grpSpPr>
          <a:xfrm>
            <a:off x="6586375" y="3503237"/>
            <a:ext cx="571525" cy="2411725"/>
            <a:chOff x="8965125" y="3668475"/>
            <a:chExt cx="571525" cy="2411725"/>
          </a:xfrm>
        </p:grpSpPr>
        <p:sp>
          <p:nvSpPr>
            <p:cNvPr id="1016" name="Google Shape;1016;p55"/>
            <p:cNvSpPr txBox="1"/>
            <p:nvPr/>
          </p:nvSpPr>
          <p:spPr>
            <a:xfrm>
              <a:off x="8965125" y="4064675"/>
              <a:ext cx="571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017" name="Google Shape;1017;p55"/>
            <p:cNvSpPr txBox="1"/>
            <p:nvPr/>
          </p:nvSpPr>
          <p:spPr>
            <a:xfrm>
              <a:off x="9133100" y="4474125"/>
              <a:ext cx="40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6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018" name="Google Shape;1018;p55"/>
            <p:cNvSpPr txBox="1"/>
            <p:nvPr/>
          </p:nvSpPr>
          <p:spPr>
            <a:xfrm>
              <a:off x="9133100" y="4883575"/>
              <a:ext cx="40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7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019" name="Google Shape;1019;p55"/>
            <p:cNvSpPr txBox="1"/>
            <p:nvPr/>
          </p:nvSpPr>
          <p:spPr>
            <a:xfrm>
              <a:off x="9133100" y="5283775"/>
              <a:ext cx="40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8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020" name="Google Shape;1020;p55"/>
            <p:cNvSpPr txBox="1"/>
            <p:nvPr/>
          </p:nvSpPr>
          <p:spPr>
            <a:xfrm>
              <a:off x="8965150" y="3668475"/>
              <a:ext cx="571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VPN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021" name="Google Shape;1021;p55"/>
            <p:cNvSpPr txBox="1"/>
            <p:nvPr/>
          </p:nvSpPr>
          <p:spPr>
            <a:xfrm>
              <a:off x="8965138" y="5680000"/>
              <a:ext cx="571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aphicFrame>
        <p:nvGraphicFramePr>
          <p:cNvPr id="1022" name="Google Shape;1022;p55"/>
          <p:cNvGraphicFramePr/>
          <p:nvPr>
            <p:extLst>
              <p:ext uri="{D42A27DB-BD31-4B8C-83A1-F6EECF244321}">
                <p14:modId xmlns:p14="http://schemas.microsoft.com/office/powerpoint/2010/main" val="1332811518"/>
              </p:ext>
            </p:extLst>
          </p:nvPr>
        </p:nvGraphicFramePr>
        <p:xfrm>
          <a:off x="8701968" y="2870857"/>
          <a:ext cx="3116463" cy="38098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809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4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2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/>
                        <a:t>Dato</a:t>
                      </a:r>
                      <a:endParaRPr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/>
                        <a:t>VPN</a:t>
                      </a:r>
                      <a:endParaRPr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/>
                        <a:t>Resultado (M/H)</a:t>
                      </a:r>
                      <a:endParaRPr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highlight>
                            <a:srgbClr val="F4CCCC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a[0]</a:t>
                      </a:r>
                      <a:endParaRPr sz="1600" dirty="0">
                        <a:highlight>
                          <a:srgbClr val="F4CCCC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highlight>
                            <a:srgbClr val="D9EAD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a[1]</a:t>
                      </a:r>
                      <a:endParaRPr sz="1600" dirty="0">
                        <a:solidFill>
                          <a:schemeClr val="dk1"/>
                        </a:solidFill>
                        <a:highlight>
                          <a:srgbClr val="D9EAD3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highlight>
                            <a:srgbClr val="D9EAD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a[2]</a:t>
                      </a:r>
                      <a:endParaRPr sz="1600" dirty="0">
                        <a:solidFill>
                          <a:schemeClr val="dk1"/>
                        </a:solidFill>
                        <a:highlight>
                          <a:srgbClr val="D9EAD3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sz="16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sz="1600"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sz="1600"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highlight>
                            <a:srgbClr val="F4CCCC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a[3]</a:t>
                      </a:r>
                      <a:endParaRPr sz="1600">
                        <a:solidFill>
                          <a:schemeClr val="dk1"/>
                        </a:solidFill>
                        <a:highlight>
                          <a:srgbClr val="F4CCCC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highlight>
                            <a:srgbClr val="D9EAD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a[4]</a:t>
                      </a:r>
                      <a:endParaRPr sz="1600">
                        <a:solidFill>
                          <a:schemeClr val="dk1"/>
                        </a:solidFill>
                        <a:highlight>
                          <a:srgbClr val="D9EAD3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highlight>
                            <a:srgbClr val="D9EAD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a[5]</a:t>
                      </a:r>
                      <a:endParaRPr sz="1600">
                        <a:solidFill>
                          <a:schemeClr val="dk1"/>
                        </a:solidFill>
                        <a:highlight>
                          <a:srgbClr val="D9EAD3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highlight>
                            <a:srgbClr val="D9EAD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a[6]</a:t>
                      </a:r>
                      <a:endParaRPr sz="1600">
                        <a:solidFill>
                          <a:schemeClr val="dk1"/>
                        </a:solidFill>
                        <a:highlight>
                          <a:srgbClr val="D9EAD3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sz="1600" dirty="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sz="1600" dirty="0"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sz="1600" dirty="0"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sz="1600" dirty="0"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highlight>
                            <a:srgbClr val="F4CCCC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a[7]</a:t>
                      </a:r>
                      <a:endParaRPr>
                        <a:solidFill>
                          <a:schemeClr val="dk1"/>
                        </a:solidFill>
                        <a:highlight>
                          <a:srgbClr val="F4CCCC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highlight>
                            <a:srgbClr val="D9EAD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a[8]</a:t>
                      </a:r>
                      <a:endParaRPr>
                        <a:solidFill>
                          <a:schemeClr val="dk1"/>
                        </a:solidFill>
                        <a:highlight>
                          <a:srgbClr val="D9EAD3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highlight>
                            <a:srgbClr val="D9EAD3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a[9]</a:t>
                      </a:r>
                      <a:endParaRPr>
                        <a:solidFill>
                          <a:schemeClr val="dk1"/>
                        </a:solidFill>
                        <a:highlight>
                          <a:srgbClr val="D9EAD3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dirty="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dirty="0"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dirty="0"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23" name="Google Shape;1023;p55"/>
          <p:cNvSpPr txBox="1"/>
          <p:nvPr/>
        </p:nvSpPr>
        <p:spPr>
          <a:xfrm>
            <a:off x="5901325" y="3969175"/>
            <a:ext cx="403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M</a:t>
            </a:r>
            <a:endParaRPr sz="1200"/>
          </a:p>
        </p:txBody>
      </p:sp>
      <p:sp>
        <p:nvSpPr>
          <p:cNvPr id="1024" name="Google Shape;1024;p55"/>
          <p:cNvSpPr txBox="1"/>
          <p:nvPr/>
        </p:nvSpPr>
        <p:spPr>
          <a:xfrm>
            <a:off x="5889625" y="4193675"/>
            <a:ext cx="571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HH</a:t>
            </a:r>
            <a:r>
              <a:rPr lang="es-ES" sz="12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M</a:t>
            </a:r>
            <a:endParaRPr sz="1200">
              <a:solidFill>
                <a:srgbClr val="FF0000"/>
              </a:solidFill>
            </a:endParaRPr>
          </a:p>
        </p:txBody>
      </p:sp>
      <p:sp>
        <p:nvSpPr>
          <p:cNvPr id="1025" name="Google Shape;1025;p55"/>
          <p:cNvSpPr txBox="1"/>
          <p:nvPr/>
        </p:nvSpPr>
        <p:spPr>
          <a:xfrm>
            <a:off x="5936325" y="4399950"/>
            <a:ext cx="571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HHH</a:t>
            </a:r>
            <a:r>
              <a:rPr lang="es-ES" sz="12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M</a:t>
            </a:r>
            <a:endParaRPr sz="1200">
              <a:solidFill>
                <a:srgbClr val="FF0000"/>
              </a:solidFill>
            </a:endParaRPr>
          </a:p>
        </p:txBody>
      </p:sp>
      <p:sp>
        <p:nvSpPr>
          <p:cNvPr id="1026" name="Google Shape;1026;p55"/>
          <p:cNvSpPr txBox="1"/>
          <p:nvPr/>
        </p:nvSpPr>
        <p:spPr>
          <a:xfrm>
            <a:off x="5854650" y="4602075"/>
            <a:ext cx="571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HH</a:t>
            </a:r>
            <a:endParaRPr sz="1200">
              <a:solidFill>
                <a:srgbClr val="FF0000"/>
              </a:solidFill>
            </a:endParaRPr>
          </a:p>
        </p:txBody>
      </p:sp>
      <p:sp>
        <p:nvSpPr>
          <p:cNvPr id="1027" name="Google Shape;1027;p55"/>
          <p:cNvSpPr txBox="1"/>
          <p:nvPr/>
        </p:nvSpPr>
        <p:spPr>
          <a:xfrm>
            <a:off x="4370770" y="5157781"/>
            <a:ext cx="1471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M</a:t>
            </a: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: Miss 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(3)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H</a:t>
            </a:r>
            <a:r>
              <a:rPr lang="es-ES" sz="16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: Hit 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(7)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p56"/>
          <p:cNvSpPr txBox="1">
            <a:spLocks noGrp="1"/>
          </p:cNvSpPr>
          <p:nvPr>
            <p:ph type="title"/>
          </p:nvPr>
        </p:nvSpPr>
        <p:spPr>
          <a:xfrm>
            <a:off x="905000" y="163663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Address Translation usando TLB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33" name="Google Shape;1033;p56"/>
          <p:cNvSpPr txBox="1">
            <a:spLocks noGrp="1"/>
          </p:cNvSpPr>
          <p:nvPr>
            <p:ph type="body" idx="1"/>
          </p:nvPr>
        </p:nvSpPr>
        <p:spPr>
          <a:xfrm>
            <a:off x="905000" y="984725"/>
            <a:ext cx="7755900" cy="581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latin typeface="+mn-lt"/>
              </a:rPr>
              <a:t>Ejemplo - Accediendo a un arreglo</a:t>
            </a:r>
            <a:endParaRPr sz="22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1034" name="Google Shape;1034;p56"/>
          <p:cNvSpPr txBox="1"/>
          <p:nvPr/>
        </p:nvSpPr>
        <p:spPr>
          <a:xfrm>
            <a:off x="905000" y="1663551"/>
            <a:ext cx="5018100" cy="1667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ea typeface="Roboto"/>
                <a:cs typeface="Roboto"/>
                <a:sym typeface="Roboto"/>
              </a:rPr>
              <a:t>Pregunta</a:t>
            </a:r>
            <a:r>
              <a:rPr lang="es-ES" sz="2400" dirty="0">
                <a:ea typeface="Roboto"/>
                <a:cs typeface="Roboto"/>
                <a:sym typeface="Roboto"/>
              </a:rPr>
              <a:t>:</a:t>
            </a:r>
            <a:endParaRPr sz="2400" dirty="0"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Asumiendo una TLB de una sola entrada, ¿Cuantos </a:t>
            </a:r>
            <a:r>
              <a:rPr lang="es-ES" sz="20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TLB miss</a:t>
            </a: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y </a:t>
            </a:r>
            <a:r>
              <a:rPr lang="es-ES" sz="20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TLB hits</a:t>
            </a: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se presentan en este ejemplo?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graphicFrame>
        <p:nvGraphicFramePr>
          <p:cNvPr id="1035" name="Google Shape;1035;p56"/>
          <p:cNvGraphicFramePr/>
          <p:nvPr>
            <p:extLst>
              <p:ext uri="{D42A27DB-BD31-4B8C-83A1-F6EECF244321}">
                <p14:modId xmlns:p14="http://schemas.microsoft.com/office/powerpoint/2010/main" val="2615689655"/>
              </p:ext>
            </p:extLst>
          </p:nvPr>
        </p:nvGraphicFramePr>
        <p:xfrm>
          <a:off x="1004600" y="4024263"/>
          <a:ext cx="1450375" cy="158490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5439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63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strike="sngStrike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?</a:t>
                      </a:r>
                      <a:endParaRPr sz="1600" strike="sngStrike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strike="sngStrike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600" strike="sngStrike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strike="sngStrike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strike="sngStrike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strike="sngStrike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?</a:t>
                      </a:r>
                      <a:endParaRPr sz="1600" strike="sngStrike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strike="sngStrike" dirty="0" err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PFN_x</a:t>
                      </a:r>
                      <a:endParaRPr sz="1600" strike="sngStrike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strike="sngStrike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PFN_Y</a:t>
                      </a:r>
                      <a:endParaRPr sz="1600" strike="sngStrike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PFN_Z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36" name="Google Shape;1036;p56"/>
          <p:cNvGraphicFramePr/>
          <p:nvPr>
            <p:extLst>
              <p:ext uri="{D42A27DB-BD31-4B8C-83A1-F6EECF244321}">
                <p14:modId xmlns:p14="http://schemas.microsoft.com/office/powerpoint/2010/main" val="1090515431"/>
              </p:ext>
            </p:extLst>
          </p:nvPr>
        </p:nvGraphicFramePr>
        <p:xfrm>
          <a:off x="4063850" y="3909800"/>
          <a:ext cx="901000" cy="256014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90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PFN_x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PFN_y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PFN_z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37" name="Google Shape;1037;p56"/>
          <p:cNvSpPr txBox="1"/>
          <p:nvPr/>
        </p:nvSpPr>
        <p:spPr>
          <a:xfrm>
            <a:off x="1541875" y="3508800"/>
            <a:ext cx="57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TLB</a:t>
            </a:r>
            <a:endParaRPr sz="18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8" name="Google Shape;1038;p56"/>
          <p:cNvSpPr txBox="1"/>
          <p:nvPr/>
        </p:nvSpPr>
        <p:spPr>
          <a:xfrm>
            <a:off x="4145975" y="3433713"/>
            <a:ext cx="57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PT</a:t>
            </a:r>
            <a:endParaRPr sz="18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39" name="Google Shape;1039;p56"/>
          <p:cNvGrpSpPr/>
          <p:nvPr/>
        </p:nvGrpSpPr>
        <p:grpSpPr>
          <a:xfrm>
            <a:off x="3435100" y="3909800"/>
            <a:ext cx="571525" cy="2411725"/>
            <a:chOff x="8965125" y="3668475"/>
            <a:chExt cx="571525" cy="2411725"/>
          </a:xfrm>
        </p:grpSpPr>
        <p:sp>
          <p:nvSpPr>
            <p:cNvPr id="1040" name="Google Shape;1040;p56"/>
            <p:cNvSpPr txBox="1"/>
            <p:nvPr/>
          </p:nvSpPr>
          <p:spPr>
            <a:xfrm>
              <a:off x="8965125" y="4064675"/>
              <a:ext cx="571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041" name="Google Shape;1041;p56"/>
            <p:cNvSpPr txBox="1"/>
            <p:nvPr/>
          </p:nvSpPr>
          <p:spPr>
            <a:xfrm>
              <a:off x="9133100" y="4474125"/>
              <a:ext cx="40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6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042" name="Google Shape;1042;p56"/>
            <p:cNvSpPr txBox="1"/>
            <p:nvPr/>
          </p:nvSpPr>
          <p:spPr>
            <a:xfrm>
              <a:off x="9133100" y="4883575"/>
              <a:ext cx="40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7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043" name="Google Shape;1043;p56"/>
            <p:cNvSpPr txBox="1"/>
            <p:nvPr/>
          </p:nvSpPr>
          <p:spPr>
            <a:xfrm>
              <a:off x="9133100" y="5283775"/>
              <a:ext cx="403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8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044" name="Google Shape;1044;p56"/>
            <p:cNvSpPr txBox="1"/>
            <p:nvPr/>
          </p:nvSpPr>
          <p:spPr>
            <a:xfrm>
              <a:off x="8965150" y="3668475"/>
              <a:ext cx="571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VPN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045" name="Google Shape;1045;p56"/>
            <p:cNvSpPr txBox="1"/>
            <p:nvPr/>
          </p:nvSpPr>
          <p:spPr>
            <a:xfrm>
              <a:off x="8965138" y="5680000"/>
              <a:ext cx="571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1046" name="Google Shape;1046;p56"/>
          <p:cNvSpPr txBox="1"/>
          <p:nvPr/>
        </p:nvSpPr>
        <p:spPr>
          <a:xfrm>
            <a:off x="2551750" y="4468463"/>
            <a:ext cx="403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M</a:t>
            </a:r>
            <a:endParaRPr sz="1200"/>
          </a:p>
        </p:txBody>
      </p:sp>
      <p:sp>
        <p:nvSpPr>
          <p:cNvPr id="1047" name="Google Shape;1047;p56"/>
          <p:cNvSpPr txBox="1"/>
          <p:nvPr/>
        </p:nvSpPr>
        <p:spPr>
          <a:xfrm>
            <a:off x="2540050" y="4692963"/>
            <a:ext cx="571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HH</a:t>
            </a:r>
            <a:r>
              <a:rPr lang="es-ES" sz="12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M</a:t>
            </a:r>
            <a:endParaRPr sz="1200">
              <a:solidFill>
                <a:srgbClr val="FF0000"/>
              </a:solidFill>
            </a:endParaRPr>
          </a:p>
        </p:txBody>
      </p:sp>
      <p:sp>
        <p:nvSpPr>
          <p:cNvPr id="1048" name="Google Shape;1048;p56"/>
          <p:cNvSpPr txBox="1"/>
          <p:nvPr/>
        </p:nvSpPr>
        <p:spPr>
          <a:xfrm>
            <a:off x="2586750" y="4899238"/>
            <a:ext cx="571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HHH</a:t>
            </a:r>
            <a:r>
              <a:rPr lang="es-ES" sz="12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M</a:t>
            </a:r>
            <a:endParaRPr sz="1200">
              <a:solidFill>
                <a:srgbClr val="FF0000"/>
              </a:solidFill>
            </a:endParaRPr>
          </a:p>
        </p:txBody>
      </p:sp>
      <p:sp>
        <p:nvSpPr>
          <p:cNvPr id="1049" name="Google Shape;1049;p56"/>
          <p:cNvSpPr txBox="1"/>
          <p:nvPr/>
        </p:nvSpPr>
        <p:spPr>
          <a:xfrm>
            <a:off x="2505075" y="5101363"/>
            <a:ext cx="571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HH</a:t>
            </a:r>
            <a:endParaRPr sz="1200">
              <a:solidFill>
                <a:srgbClr val="FF0000"/>
              </a:solidFill>
            </a:endParaRPr>
          </a:p>
        </p:txBody>
      </p:sp>
      <p:sp>
        <p:nvSpPr>
          <p:cNvPr id="1050" name="Google Shape;1050;p56"/>
          <p:cNvSpPr txBox="1"/>
          <p:nvPr/>
        </p:nvSpPr>
        <p:spPr>
          <a:xfrm>
            <a:off x="924104" y="5677550"/>
            <a:ext cx="1471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M</a:t>
            </a: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: Miss 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(3)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H</a:t>
            </a:r>
            <a:r>
              <a:rPr lang="es-ES" sz="16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: Hit 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(7)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051" name="Google Shape;1051;p56"/>
          <p:cNvGraphicFramePr/>
          <p:nvPr/>
        </p:nvGraphicFramePr>
        <p:xfrm>
          <a:off x="6251789" y="2042250"/>
          <a:ext cx="5274425" cy="164583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44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4622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Acceso a[i]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H/M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52" name="Google Shape;1052;p56"/>
          <p:cNvGraphicFramePr/>
          <p:nvPr>
            <p:extLst>
              <p:ext uri="{D42A27DB-BD31-4B8C-83A1-F6EECF244321}">
                <p14:modId xmlns:p14="http://schemas.microsoft.com/office/powerpoint/2010/main" val="2827578792"/>
              </p:ext>
            </p:extLst>
          </p:nvPr>
        </p:nvGraphicFramePr>
        <p:xfrm>
          <a:off x="6997450" y="3784187"/>
          <a:ext cx="3895575" cy="128007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686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3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rgbClr val="0B6937"/>
                          </a:solidFill>
                        </a:rPr>
                        <a:t>Hits</a:t>
                      </a:r>
                      <a:endParaRPr sz="1600" b="1">
                        <a:solidFill>
                          <a:srgbClr val="0B6937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7 (70%)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rgbClr val="FF0000"/>
                          </a:solidFill>
                        </a:rPr>
                        <a:t>Miss</a:t>
                      </a:r>
                      <a:endParaRPr sz="1600" b="1">
                        <a:solidFill>
                          <a:srgbClr val="FF0000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</a:rPr>
                        <a:t>3 (30%) 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Total</a:t>
                      </a:r>
                      <a:endParaRPr sz="16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/>
                        <a:t>10 (100%)</a:t>
                      </a:r>
                      <a:endParaRPr sz="16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rgbClr val="0B6937"/>
                          </a:solidFill>
                        </a:rPr>
                        <a:t>TLB Hit </a:t>
                      </a:r>
                      <a:r>
                        <a:rPr lang="es-ES" sz="1600" b="1" dirty="0" err="1">
                          <a:solidFill>
                            <a:srgbClr val="0B6937"/>
                          </a:solidFill>
                        </a:rPr>
                        <a:t>rate</a:t>
                      </a:r>
                      <a:r>
                        <a:rPr lang="es-ES" sz="1600" b="1" dirty="0">
                          <a:solidFill>
                            <a:srgbClr val="0B6937"/>
                          </a:solidFill>
                        </a:rPr>
                        <a:t> = 70%</a:t>
                      </a:r>
                      <a:endParaRPr sz="1600" b="1" dirty="0">
                        <a:solidFill>
                          <a:srgbClr val="0B6937"/>
                        </a:solidFill>
                      </a:endParaRPr>
                    </a:p>
                  </a:txBody>
                  <a:tcPr marL="91425" marR="91425" marT="91425" marB="91425"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53" name="Google Shape;1053;p56"/>
          <p:cNvSpPr txBox="1"/>
          <p:nvPr/>
        </p:nvSpPr>
        <p:spPr>
          <a:xfrm>
            <a:off x="9013825" y="3844300"/>
            <a:ext cx="147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rPr>
              <a:t>Estadísticas</a:t>
            </a:r>
            <a:endParaRPr sz="1200" b="1" dirty="0">
              <a:solidFill>
                <a:schemeClr val="accent5"/>
              </a:solidFill>
            </a:endParaRPr>
          </a:p>
        </p:txBody>
      </p:sp>
      <p:sp>
        <p:nvSpPr>
          <p:cNvPr id="1054" name="Google Shape;1054;p56"/>
          <p:cNvSpPr txBox="1"/>
          <p:nvPr/>
        </p:nvSpPr>
        <p:spPr>
          <a:xfrm>
            <a:off x="6053425" y="5268538"/>
            <a:ext cx="5920800" cy="12362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ea typeface="Roboto"/>
                <a:cs typeface="Roboto"/>
                <a:sym typeface="Roboto"/>
              </a:rPr>
              <a:t>Conclusión</a:t>
            </a:r>
            <a:endParaRPr sz="2000" b="1" dirty="0"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Las TLB mejoran el desempeño debido a los principios de localidad espacial y temporal</a:t>
            </a:r>
            <a:endParaRPr sz="18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p57"/>
          <p:cNvSpPr txBox="1">
            <a:spLocks noGrp="1"/>
          </p:cNvSpPr>
          <p:nvPr>
            <p:ph type="title"/>
          </p:nvPr>
        </p:nvSpPr>
        <p:spPr>
          <a:xfrm>
            <a:off x="412955" y="96038"/>
            <a:ext cx="8807695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Address Translation usando TLB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60" name="Google Shape;1060;p57"/>
          <p:cNvSpPr txBox="1">
            <a:spLocks noGrp="1"/>
          </p:cNvSpPr>
          <p:nvPr>
            <p:ph type="body" idx="1"/>
          </p:nvPr>
        </p:nvSpPr>
        <p:spPr>
          <a:xfrm>
            <a:off x="412955" y="833325"/>
            <a:ext cx="11155495" cy="67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Principios de localidad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</p:txBody>
      </p:sp>
      <p:graphicFrame>
        <p:nvGraphicFramePr>
          <p:cNvPr id="1061" name="Google Shape;1061;p57"/>
          <p:cNvGraphicFramePr/>
          <p:nvPr>
            <p:extLst>
              <p:ext uri="{D42A27DB-BD31-4B8C-83A1-F6EECF244321}">
                <p14:modId xmlns:p14="http://schemas.microsoft.com/office/powerpoint/2010/main" val="1837707138"/>
              </p:ext>
            </p:extLst>
          </p:nvPr>
        </p:nvGraphicFramePr>
        <p:xfrm>
          <a:off x="412955" y="1508325"/>
          <a:ext cx="11665973" cy="3992815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5737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28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+mn-lt"/>
                          <a:ea typeface="Roboto"/>
                          <a:cs typeface="Roboto"/>
                          <a:sym typeface="Roboto"/>
                        </a:rPr>
                        <a:t>Localidad Temporal</a:t>
                      </a:r>
                      <a:endParaRPr sz="2000" b="1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>
                          <a:latin typeface="+mn-lt"/>
                          <a:ea typeface="Roboto"/>
                          <a:cs typeface="Roboto"/>
                          <a:sym typeface="Roboto"/>
                        </a:rPr>
                        <a:t>Localidad espacial</a:t>
                      </a:r>
                      <a:endParaRPr sz="2000" b="1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20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Una instrucción o dato que ha sido accedido recientemente es probable que vuelva a ser accedido pronto.</a:t>
                      </a:r>
                      <a:endParaRPr sz="18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429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800"/>
                        <a:buFont typeface="Roboto"/>
                        <a:buChar char="●"/>
                      </a:pPr>
                      <a:r>
                        <a:rPr lang="es-ES" sz="1800" b="1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Ejemplo</a:t>
                      </a:r>
                      <a:r>
                        <a:rPr lang="es-ES" sz="1800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: Ciclo</a:t>
                      </a:r>
                      <a:endParaRPr sz="18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Si un programa accede a una dirección de memoria x, probablemente pronto accederá a una dirección cercana a x.</a:t>
                      </a:r>
                      <a:endParaRPr sz="18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429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800"/>
                        <a:buFont typeface="Roboto"/>
                        <a:buChar char="●"/>
                      </a:pPr>
                      <a:r>
                        <a:rPr lang="es-ES" sz="1800" b="1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Ejemplo</a:t>
                      </a:r>
                      <a:r>
                        <a:rPr lang="es-ES" sz="1800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: Array</a:t>
                      </a:r>
                      <a:endParaRPr sz="18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062" name="Google Shape;1062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8600" y="3219451"/>
            <a:ext cx="3914201" cy="2342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3" name="Google Shape;1063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15650" y="3363100"/>
            <a:ext cx="4070500" cy="219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p57"/>
          <p:cNvSpPr txBox="1"/>
          <p:nvPr/>
        </p:nvSpPr>
        <p:spPr>
          <a:xfrm>
            <a:off x="864651" y="6024675"/>
            <a:ext cx="95763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ea typeface="Roboto"/>
                <a:cs typeface="Roboto"/>
                <a:sym typeface="Roboto"/>
              </a:rPr>
              <a:t>Al ser pequeñas y rápidas las memoria caché aprovechan estos principios.</a:t>
            </a:r>
            <a:endParaRPr sz="16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Google Shape;1069;p58"/>
          <p:cNvSpPr txBox="1">
            <a:spLocks noGrp="1"/>
          </p:cNvSpPr>
          <p:nvPr>
            <p:ph type="title"/>
          </p:nvPr>
        </p:nvSpPr>
        <p:spPr>
          <a:xfrm>
            <a:off x="485850" y="96038"/>
            <a:ext cx="87348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Address Translation usando TLB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70" name="Google Shape;1070;p58"/>
          <p:cNvSpPr txBox="1">
            <a:spLocks noGrp="1"/>
          </p:cNvSpPr>
          <p:nvPr>
            <p:ph type="body" idx="1"/>
          </p:nvPr>
        </p:nvSpPr>
        <p:spPr>
          <a:xfrm>
            <a:off x="485850" y="1045538"/>
            <a:ext cx="11220300" cy="5165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1"/>
                </a:solidFill>
                <a:latin typeface="+mn-lt"/>
              </a:rPr>
              <a:t>Importancia del tamaño de la página</a:t>
            </a:r>
            <a:endParaRPr sz="2400" dirty="0">
              <a:solidFill>
                <a:schemeClr val="accent1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200" dirty="0">
                <a:latin typeface="+mn-lt"/>
              </a:rPr>
              <a:t>A mayor tamaño de la página, menor cantidad de TLB misses.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200" dirty="0">
                <a:latin typeface="+mn-lt"/>
              </a:rPr>
              <a:t>Con un tamaño de página grande (por ejemplo 4KB), la tasa de Hits mejora y por lo tanto, también el desempeño. (Hit </a:t>
            </a:r>
            <a:r>
              <a:rPr lang="es-ES" sz="2200" dirty="0" err="1">
                <a:latin typeface="+mn-lt"/>
              </a:rPr>
              <a:t>rate</a:t>
            </a:r>
            <a:r>
              <a:rPr lang="es-ES" sz="2200" dirty="0">
                <a:latin typeface="+mn-lt"/>
              </a:rPr>
              <a:t> → 100%).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b="1" dirty="0">
              <a:latin typeface="+mn-lt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1071" name="Google Shape;1071;p58"/>
          <p:cNvGraphicFramePr/>
          <p:nvPr>
            <p:extLst>
              <p:ext uri="{D42A27DB-BD31-4B8C-83A1-F6EECF244321}">
                <p14:modId xmlns:p14="http://schemas.microsoft.com/office/powerpoint/2010/main" val="3579506884"/>
              </p:ext>
            </p:extLst>
          </p:nvPr>
        </p:nvGraphicFramePr>
        <p:xfrm>
          <a:off x="2597562" y="2394486"/>
          <a:ext cx="6996875" cy="1371525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95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Page Size</a:t>
                      </a:r>
                      <a:endParaRPr sz="1800" b="1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TLB Misses</a:t>
                      </a:r>
                      <a:endParaRPr sz="1800" b="1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Hit Rate</a:t>
                      </a:r>
                      <a:endParaRPr sz="1800"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endParaRPr sz="18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sz="18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Roboto"/>
                          <a:ea typeface="Roboto"/>
                          <a:cs typeface="Roboto"/>
                          <a:sym typeface="Roboto"/>
                        </a:rPr>
                        <a:t>70 %</a:t>
                      </a:r>
                      <a:endParaRPr sz="18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Roboto"/>
                          <a:ea typeface="Roboto"/>
                          <a:cs typeface="Roboto"/>
                          <a:sym typeface="Roboto"/>
                        </a:rPr>
                        <a:t>32</a:t>
                      </a:r>
                      <a:endParaRPr sz="18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 sz="18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80 %</a:t>
                      </a:r>
                      <a:endParaRPr sz="18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Google Shape;1082;p60"/>
          <p:cNvSpPr txBox="1">
            <a:spLocks noGrp="1"/>
          </p:cNvSpPr>
          <p:nvPr>
            <p:ph type="title"/>
          </p:nvPr>
        </p:nvSpPr>
        <p:spPr>
          <a:xfrm>
            <a:off x="551543" y="163605"/>
            <a:ext cx="10802257" cy="1028272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¿Quién maneja las TLB Miss?</a:t>
            </a:r>
            <a:endParaRPr dirty="0"/>
          </a:p>
        </p:txBody>
      </p:sp>
      <p:sp>
        <p:nvSpPr>
          <p:cNvPr id="1083" name="Google Shape;1083;p60"/>
          <p:cNvSpPr txBox="1">
            <a:spLocks noGrp="1"/>
          </p:cNvSpPr>
          <p:nvPr>
            <p:ph idx="1"/>
          </p:nvPr>
        </p:nvSpPr>
        <p:spPr>
          <a:xfrm>
            <a:off x="551543" y="1120362"/>
            <a:ext cx="11451438" cy="249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Opción 1 - Hardware-</a:t>
            </a:r>
            <a:r>
              <a:rPr lang="es-ES" sz="2400" b="1" dirty="0" err="1"/>
              <a:t>managed</a:t>
            </a:r>
            <a:r>
              <a:rPr lang="es-ES" sz="2400" b="1" dirty="0"/>
              <a:t> TLB (x86, ARM)  </a:t>
            </a:r>
            <a:endParaRPr sz="2400" dirty="0"/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El hardware conoce donde se encuentran las Page tables (PT) en memoria.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Cuando sucede un TLB Miss, el Hardware se </a:t>
            </a:r>
            <a:r>
              <a:rPr lang="es-ES" sz="2000" b="1" dirty="0"/>
              <a:t>mueve</a:t>
            </a:r>
            <a:r>
              <a:rPr lang="es-ES" sz="2000" dirty="0"/>
              <a:t> a través de la PT, </a:t>
            </a:r>
            <a:r>
              <a:rPr lang="es-ES" sz="2000" b="1" dirty="0"/>
              <a:t>encuentra</a:t>
            </a:r>
            <a:r>
              <a:rPr lang="es-ES" sz="2000" dirty="0"/>
              <a:t> la PTE correcta y </a:t>
            </a:r>
            <a:r>
              <a:rPr lang="es-ES" sz="2000" b="1" dirty="0"/>
              <a:t>extrae</a:t>
            </a:r>
            <a:r>
              <a:rPr lang="es-ES" sz="2000" dirty="0"/>
              <a:t> la traducción deseada para luego </a:t>
            </a:r>
            <a:r>
              <a:rPr lang="es-ES" sz="2000" b="1" dirty="0"/>
              <a:t>actualizar</a:t>
            </a:r>
            <a:r>
              <a:rPr lang="es-ES" sz="2000" dirty="0"/>
              <a:t> la TLB. Luego la instrucción se vuelve a ejecutar.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El hardware especifica el formato exacto de la PT.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Uso de los registros de Hardware (PTBR).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084" name="Google Shape;1084;p60"/>
          <p:cNvGraphicFramePr/>
          <p:nvPr/>
        </p:nvGraphicFramePr>
        <p:xfrm>
          <a:off x="5400625" y="4222125"/>
          <a:ext cx="2076050" cy="2026855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2076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772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5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85" name="Google Shape;1085;p60"/>
          <p:cNvSpPr/>
          <p:nvPr/>
        </p:nvSpPr>
        <p:spPr>
          <a:xfrm>
            <a:off x="1745575" y="3922775"/>
            <a:ext cx="1971000" cy="1350864"/>
          </a:xfrm>
          <a:prstGeom prst="irregularSeal1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TLB Miss</a:t>
            </a:r>
            <a:endParaRPr sz="1600" b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6" name="Google Shape;1086;p60"/>
          <p:cNvSpPr/>
          <p:nvPr/>
        </p:nvSpPr>
        <p:spPr>
          <a:xfrm>
            <a:off x="4156300" y="4222125"/>
            <a:ext cx="804600" cy="40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PTBR</a:t>
            </a:r>
            <a:endParaRPr sz="1800" b="1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7" name="Google Shape;1087;p60"/>
          <p:cNvCxnSpPr>
            <a:stCxn id="1086" idx="3"/>
          </p:cNvCxnSpPr>
          <p:nvPr/>
        </p:nvCxnSpPr>
        <p:spPr>
          <a:xfrm rot="10800000" flipH="1">
            <a:off x="4960900" y="4424175"/>
            <a:ext cx="400200" cy="21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88" name="Google Shape;1088;p60"/>
          <p:cNvSpPr/>
          <p:nvPr/>
        </p:nvSpPr>
        <p:spPr>
          <a:xfrm>
            <a:off x="7527775" y="4935325"/>
            <a:ext cx="644400" cy="40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PTE</a:t>
            </a:r>
            <a:endParaRPr sz="1800" b="1">
              <a:solidFill>
                <a:srgbClr val="0B6937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9" name="Google Shape;1089;p60"/>
          <p:cNvSpPr/>
          <p:nvPr/>
        </p:nvSpPr>
        <p:spPr>
          <a:xfrm>
            <a:off x="8172175" y="4935326"/>
            <a:ext cx="3728511" cy="408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(Select PTE y Update TLB)</a:t>
            </a:r>
            <a:endParaRPr b="1"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p61"/>
          <p:cNvSpPr txBox="1">
            <a:spLocks noGrp="1"/>
          </p:cNvSpPr>
          <p:nvPr>
            <p:ph type="title"/>
          </p:nvPr>
        </p:nvSpPr>
        <p:spPr>
          <a:xfrm>
            <a:off x="380999" y="138612"/>
            <a:ext cx="11164799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¿Quién maneja las TLB Miss?</a:t>
            </a:r>
            <a:endParaRPr dirty="0"/>
          </a:p>
        </p:txBody>
      </p:sp>
      <p:sp>
        <p:nvSpPr>
          <p:cNvPr id="1095" name="Google Shape;1095;p61"/>
          <p:cNvSpPr txBox="1">
            <a:spLocks noGrp="1"/>
          </p:cNvSpPr>
          <p:nvPr>
            <p:ph idx="1"/>
          </p:nvPr>
        </p:nvSpPr>
        <p:spPr>
          <a:xfrm>
            <a:off x="513600" y="977352"/>
            <a:ext cx="11164800" cy="199024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Opción 2 - Software-</a:t>
            </a:r>
            <a:r>
              <a:rPr lang="es-ES" sz="2400" b="1" dirty="0" err="1"/>
              <a:t>managed</a:t>
            </a:r>
            <a:r>
              <a:rPr lang="es-ES" sz="2400" b="1" dirty="0"/>
              <a:t> TLB (MIPS,...)</a:t>
            </a:r>
            <a:endParaRPr sz="2400" dirty="0"/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Cuando sucede un TLB miss, el hardware lanza la excepción.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La excepción es manejada por el </a:t>
            </a:r>
            <a:r>
              <a:rPr lang="es-ES" sz="2000" dirty="0" err="1"/>
              <a:t>Trap</a:t>
            </a:r>
            <a:r>
              <a:rPr lang="es-ES" sz="2000" dirty="0"/>
              <a:t> </a:t>
            </a:r>
            <a:r>
              <a:rPr lang="es-ES" sz="2000" dirty="0" err="1"/>
              <a:t>handler</a:t>
            </a:r>
            <a:r>
              <a:rPr lang="es-ES" sz="2000" dirty="0"/>
              <a:t>.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En este caso la instrucción </a:t>
            </a:r>
            <a:r>
              <a:rPr lang="es-ES" sz="2000" b="1" dirty="0" err="1">
                <a:solidFill>
                  <a:schemeClr val="accent2"/>
                </a:solidFill>
              </a:rPr>
              <a:t>return</a:t>
            </a:r>
            <a:r>
              <a:rPr lang="es-ES" sz="2000" b="1" dirty="0">
                <a:solidFill>
                  <a:schemeClr val="accent2"/>
                </a:solidFill>
              </a:rPr>
              <a:t> </a:t>
            </a:r>
            <a:r>
              <a:rPr lang="es-ES" sz="2000" b="1" dirty="0" err="1">
                <a:solidFill>
                  <a:schemeClr val="accent2"/>
                </a:solidFill>
              </a:rPr>
              <a:t>to</a:t>
            </a:r>
            <a:r>
              <a:rPr lang="es-ES" sz="2000" b="1" dirty="0">
                <a:solidFill>
                  <a:schemeClr val="accent2"/>
                </a:solidFill>
              </a:rPr>
              <a:t> </a:t>
            </a:r>
            <a:r>
              <a:rPr lang="es-ES" sz="2000" b="1" dirty="0" err="1">
                <a:solidFill>
                  <a:schemeClr val="accent2"/>
                </a:solidFill>
              </a:rPr>
              <a:t>trap</a:t>
            </a:r>
            <a:r>
              <a:rPr lang="es-ES" sz="2000" dirty="0"/>
              <a:t> es un poco </a:t>
            </a:r>
            <a:r>
              <a:rPr lang="es-ES" sz="2000" b="1" dirty="0">
                <a:solidFill>
                  <a:srgbClr val="FF0000"/>
                </a:solidFill>
              </a:rPr>
              <a:t>diferente</a:t>
            </a:r>
            <a:r>
              <a:rPr lang="es-ES" sz="2000" dirty="0"/>
              <a:t> al caso tradicional ya que en este caso el hardware debe continuar la ejecución en la instrucción causante del </a:t>
            </a:r>
            <a:r>
              <a:rPr lang="es-ES" sz="2000" dirty="0" err="1"/>
              <a:t>trap</a:t>
            </a:r>
            <a:r>
              <a:rPr lang="es-ES" sz="2000" dirty="0"/>
              <a:t> (y no después).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096" name="Google Shape;1096;p61"/>
          <p:cNvGraphicFramePr/>
          <p:nvPr/>
        </p:nvGraphicFramePr>
        <p:xfrm>
          <a:off x="2519800" y="3254075"/>
          <a:ext cx="1308225" cy="136564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308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59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54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97" name="Google Shape;1097;p61"/>
          <p:cNvGraphicFramePr/>
          <p:nvPr/>
        </p:nvGraphicFramePr>
        <p:xfrm>
          <a:off x="4619975" y="5039325"/>
          <a:ext cx="1308225" cy="136564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308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59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54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98" name="Google Shape;1098;p61"/>
          <p:cNvSpPr/>
          <p:nvPr/>
        </p:nvSpPr>
        <p:spPr>
          <a:xfrm>
            <a:off x="4194850" y="2934887"/>
            <a:ext cx="1971000" cy="1350864"/>
          </a:xfrm>
          <a:prstGeom prst="irregularSeal1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TLB Miss</a:t>
            </a:r>
            <a:endParaRPr sz="1600" b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99" name="Google Shape;1099;p61"/>
          <p:cNvCxnSpPr/>
          <p:nvPr/>
        </p:nvCxnSpPr>
        <p:spPr>
          <a:xfrm>
            <a:off x="1818050" y="4826675"/>
            <a:ext cx="9241200" cy="570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00" name="Google Shape;1100;p61"/>
          <p:cNvCxnSpPr/>
          <p:nvPr/>
        </p:nvCxnSpPr>
        <p:spPr>
          <a:xfrm>
            <a:off x="3926625" y="4016050"/>
            <a:ext cx="594900" cy="15747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1" name="Google Shape;1101;p61"/>
          <p:cNvSpPr/>
          <p:nvPr/>
        </p:nvSpPr>
        <p:spPr>
          <a:xfrm>
            <a:off x="4264900" y="4285750"/>
            <a:ext cx="664800" cy="34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 err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Trap</a:t>
            </a:r>
            <a:endParaRPr sz="1600" b="1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2" name="Google Shape;1102;p61"/>
          <p:cNvSpPr/>
          <p:nvPr/>
        </p:nvSpPr>
        <p:spPr>
          <a:xfrm>
            <a:off x="6165850" y="5182450"/>
            <a:ext cx="4618800" cy="12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Trap handler</a:t>
            </a:r>
            <a:endParaRPr sz="1600" b="1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AutoNum type="arabicPeriod"/>
            </a:pPr>
            <a:r>
              <a:rPr lang="es-ES" sz="16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Búsqueda de la PTE en la PT.</a:t>
            </a:r>
            <a:endParaRPr sz="16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AutoNum type="arabicPeriod"/>
            </a:pPr>
            <a:r>
              <a:rPr lang="es-ES" sz="16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Actualizar PTE</a:t>
            </a:r>
            <a:endParaRPr sz="16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AutoNum type="arabicPeriod"/>
            </a:pPr>
            <a:r>
              <a:rPr lang="es-ES" sz="16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Retornar</a:t>
            </a:r>
            <a:endParaRPr sz="16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103" name="Google Shape;1103;p61"/>
          <p:cNvGrpSpPr/>
          <p:nvPr/>
        </p:nvGrpSpPr>
        <p:grpSpPr>
          <a:xfrm>
            <a:off x="2060500" y="3829475"/>
            <a:ext cx="4956900" cy="2845800"/>
            <a:chOff x="2060500" y="3829475"/>
            <a:chExt cx="4956900" cy="2845800"/>
          </a:xfrm>
        </p:grpSpPr>
        <p:cxnSp>
          <p:nvCxnSpPr>
            <p:cNvPr id="1104" name="Google Shape;1104;p61"/>
            <p:cNvCxnSpPr/>
            <p:nvPr/>
          </p:nvCxnSpPr>
          <p:spPr>
            <a:xfrm flipH="1">
              <a:off x="2060500" y="6337050"/>
              <a:ext cx="4956900" cy="338100"/>
            </a:xfrm>
            <a:prstGeom prst="bentConnector3">
              <a:avLst>
                <a:gd name="adj1" fmla="val 0"/>
              </a:avLst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05" name="Google Shape;1105;p61"/>
            <p:cNvCxnSpPr/>
            <p:nvPr/>
          </p:nvCxnSpPr>
          <p:spPr>
            <a:xfrm rot="-5400000">
              <a:off x="865000" y="5024975"/>
              <a:ext cx="2845800" cy="454800"/>
            </a:xfrm>
            <a:prstGeom prst="bentConnector3">
              <a:avLst>
                <a:gd name="adj1" fmla="val 100001"/>
              </a:avLst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1106" name="Google Shape;1106;p61"/>
          <p:cNvSpPr/>
          <p:nvPr/>
        </p:nvSpPr>
        <p:spPr>
          <a:xfrm>
            <a:off x="2119650" y="5505275"/>
            <a:ext cx="2075200" cy="36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 err="1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Return-from-Trap</a:t>
            </a:r>
            <a:endParaRPr sz="1600" b="1"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p61"/>
          <p:cNvSpPr/>
          <p:nvPr/>
        </p:nvSpPr>
        <p:spPr>
          <a:xfrm>
            <a:off x="916650" y="3096875"/>
            <a:ext cx="1308300" cy="34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Instrucción</a:t>
            </a:r>
            <a:endParaRPr sz="100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culpable</a:t>
            </a:r>
            <a:endParaRPr sz="100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08" name="Google Shape;1108;p61"/>
          <p:cNvCxnSpPr>
            <a:stCxn id="1107" idx="3"/>
          </p:cNvCxnSpPr>
          <p:nvPr/>
        </p:nvCxnSpPr>
        <p:spPr>
          <a:xfrm>
            <a:off x="2224950" y="3269075"/>
            <a:ext cx="243900" cy="4554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9" name="Google Shape;1109;p61"/>
          <p:cNvSpPr/>
          <p:nvPr/>
        </p:nvSpPr>
        <p:spPr>
          <a:xfrm>
            <a:off x="2387226" y="4354788"/>
            <a:ext cx="1744362" cy="949482"/>
          </a:xfrm>
          <a:prstGeom prst="irregularSeal1">
            <a:avLst/>
          </a:prstGeom>
          <a:solidFill>
            <a:srgbClr val="FFFF00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TLB Hit</a:t>
            </a:r>
            <a:endParaRPr sz="1600" b="1">
              <a:solidFill>
                <a:srgbClr val="70AD47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0" name="Google Shape;1110;p61"/>
          <p:cNvCxnSpPr/>
          <p:nvPr/>
        </p:nvCxnSpPr>
        <p:spPr>
          <a:xfrm>
            <a:off x="2632000" y="3841100"/>
            <a:ext cx="303300" cy="73470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Google Shape;1115;p62"/>
          <p:cNvSpPr txBox="1">
            <a:spLocks noGrp="1"/>
          </p:cNvSpPr>
          <p:nvPr>
            <p:ph type="title"/>
          </p:nvPr>
        </p:nvSpPr>
        <p:spPr>
          <a:xfrm>
            <a:off x="838200" y="195827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¿Quién maneja las TLB Miss?</a:t>
            </a:r>
            <a:endParaRPr/>
          </a:p>
        </p:txBody>
      </p:sp>
      <p:sp>
        <p:nvSpPr>
          <p:cNvPr id="1116" name="Google Shape;1116;p62"/>
          <p:cNvSpPr txBox="1">
            <a:spLocks noGrp="1"/>
          </p:cNvSpPr>
          <p:nvPr>
            <p:ph idx="1"/>
          </p:nvPr>
        </p:nvSpPr>
        <p:spPr>
          <a:xfrm>
            <a:off x="838200" y="1305025"/>
            <a:ext cx="11164800" cy="734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Opción 2 - Software-</a:t>
            </a:r>
            <a:r>
              <a:rPr lang="es-ES" sz="2400" b="1" dirty="0" err="1"/>
              <a:t>managed</a:t>
            </a:r>
            <a:r>
              <a:rPr lang="es-ES" sz="2400" b="1" dirty="0"/>
              <a:t> TLB (MIPS,...)</a:t>
            </a: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117" name="Google Shape;1117;p62"/>
          <p:cNvGrpSpPr/>
          <p:nvPr/>
        </p:nvGrpSpPr>
        <p:grpSpPr>
          <a:xfrm>
            <a:off x="1944915" y="2039725"/>
            <a:ext cx="7663543" cy="3231624"/>
            <a:chOff x="1255750" y="1531700"/>
            <a:chExt cx="6727534" cy="3231624"/>
          </a:xfrm>
        </p:grpSpPr>
        <p:sp>
          <p:nvSpPr>
            <p:cNvPr id="1118" name="Google Shape;1118;p62"/>
            <p:cNvSpPr txBox="1"/>
            <p:nvPr/>
          </p:nvSpPr>
          <p:spPr>
            <a:xfrm>
              <a:off x="1982751" y="1531700"/>
              <a:ext cx="6000533" cy="3231624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VPN = (</a:t>
              </a: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VirtualAddress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 &amp; VPN_MASK) &gt;&gt; SHIFT</a:t>
              </a:r>
              <a:endParaRPr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Success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TlbEntry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) = </a:t>
              </a: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TLB_Lookup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(VPN)</a:t>
              </a:r>
              <a:endParaRPr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if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 (</a:t>
              </a: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Success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 == True) // TLB Hit</a:t>
              </a:r>
              <a:endParaRPr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  </a:t>
              </a: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if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 (</a:t>
              </a: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CanAccess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TlbEntry.ProtectBits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) == True)</a:t>
              </a:r>
              <a:endParaRPr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    Offset = </a:t>
              </a: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VirtualAddress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 &amp; OFFSET_MASK</a:t>
              </a:r>
              <a:endParaRPr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    </a:t>
              </a: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PhysAddr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 = (</a:t>
              </a: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TlbEntry.PFN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 &lt;&lt; SHIFT) | Offset</a:t>
              </a:r>
              <a:endParaRPr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    Register = AccessMemory(</a:t>
              </a: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PhysAddr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  </a:t>
              </a: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else</a:t>
              </a:r>
              <a:endParaRPr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    </a:t>
              </a: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RaiseException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(PROTECTION_FAULT)</a:t>
              </a:r>
              <a:endParaRPr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else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 // TLB Miss</a:t>
              </a:r>
              <a:endParaRPr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  </a:t>
              </a:r>
              <a:r>
                <a:rPr lang="es-ES" dirty="0" err="1">
                  <a:latin typeface="Consolas"/>
                  <a:ea typeface="Consolas"/>
                  <a:cs typeface="Consolas"/>
                  <a:sym typeface="Consolas"/>
                </a:rPr>
                <a:t>RaiseException</a:t>
              </a:r>
              <a:r>
                <a:rPr lang="es-ES" dirty="0">
                  <a:latin typeface="Consolas"/>
                  <a:ea typeface="Consolas"/>
                  <a:cs typeface="Consolas"/>
                  <a:sym typeface="Consolas"/>
                </a:rPr>
                <a:t>(TLB_MISS)</a:t>
              </a:r>
              <a:endParaRPr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119" name="Google Shape;1119;p62"/>
            <p:cNvSpPr txBox="1"/>
            <p:nvPr/>
          </p:nvSpPr>
          <p:spPr>
            <a:xfrm>
              <a:off x="1255750" y="1531700"/>
              <a:ext cx="641700" cy="323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4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6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7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8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9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10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11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1120" name="Google Shape;1120;p62"/>
          <p:cNvSpPr txBox="1"/>
          <p:nvPr/>
        </p:nvSpPr>
        <p:spPr>
          <a:xfrm>
            <a:off x="4229850" y="5552975"/>
            <a:ext cx="4381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latin typeface="Roboto"/>
                <a:ea typeface="Roboto"/>
                <a:cs typeface="Roboto"/>
                <a:sym typeface="Roboto"/>
              </a:rPr>
              <a:t>TLB Control Flow Algorithm (OS Handled) </a:t>
            </a:r>
            <a:endParaRPr sz="1600" b="1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p64"/>
          <p:cNvSpPr txBox="1">
            <a:spLocks noGrp="1"/>
          </p:cNvSpPr>
          <p:nvPr>
            <p:ph type="title"/>
          </p:nvPr>
        </p:nvSpPr>
        <p:spPr>
          <a:xfrm>
            <a:off x="368750" y="84437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Contenido de una entrada TLB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35" name="Google Shape;1135;p64"/>
          <p:cNvSpPr txBox="1">
            <a:spLocks noGrp="1"/>
          </p:cNvSpPr>
          <p:nvPr>
            <p:ph type="body" idx="1"/>
          </p:nvPr>
        </p:nvSpPr>
        <p:spPr>
          <a:xfrm>
            <a:off x="6492525" y="1045550"/>
            <a:ext cx="5516700" cy="3441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1"/>
                </a:solidFill>
                <a:latin typeface="+mn-lt"/>
              </a:rPr>
              <a:t>Sobre las TLB</a:t>
            </a:r>
            <a:endParaRPr sz="2400" b="1" dirty="0">
              <a:solidFill>
                <a:schemeClr val="accent1"/>
              </a:solidFill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Memoria cache completamente asociativa.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Cualquier traducción puede estar en cualquier lugar de la TLB (aleatoria).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La búsqueda se hace de manera paralela.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Una TLB típica puede tener 32, 64 0 128 entradas (TLB </a:t>
            </a:r>
            <a:r>
              <a:rPr lang="es-ES" sz="2200" dirty="0" err="1">
                <a:latin typeface="+mn-lt"/>
              </a:rPr>
              <a:t>entry</a:t>
            </a:r>
            <a:r>
              <a:rPr lang="es-ES" sz="2200" dirty="0">
                <a:latin typeface="+mn-lt"/>
              </a:rPr>
              <a:t>)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b="1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rgbClr val="F8A02B"/>
              </a:solidFill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2"/>
              </a:solidFill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136" name="Google Shape;1136;p64"/>
          <p:cNvGraphicFramePr/>
          <p:nvPr/>
        </p:nvGraphicFramePr>
        <p:xfrm>
          <a:off x="3823275" y="3228588"/>
          <a:ext cx="2103300" cy="320137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05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8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8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37" name="Google Shape;1137;p64"/>
          <p:cNvSpPr txBox="1"/>
          <p:nvPr/>
        </p:nvSpPr>
        <p:spPr>
          <a:xfrm>
            <a:off x="4528425" y="6240538"/>
            <a:ext cx="57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TLB</a:t>
            </a:r>
            <a:endParaRPr sz="18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38" name="Google Shape;1138;p64"/>
          <p:cNvSpPr/>
          <p:nvPr/>
        </p:nvSpPr>
        <p:spPr>
          <a:xfrm>
            <a:off x="3016900" y="3739425"/>
            <a:ext cx="361500" cy="349200"/>
          </a:xfrm>
          <a:prstGeom prst="ellipse">
            <a:avLst/>
          </a:prstGeom>
          <a:solidFill>
            <a:srgbClr val="EAD1D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Consolas"/>
                <a:ea typeface="Consolas"/>
                <a:cs typeface="Consolas"/>
                <a:sym typeface="Consolas"/>
              </a:rPr>
              <a:t>=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39" name="Google Shape;1139;p64"/>
          <p:cNvSpPr/>
          <p:nvPr/>
        </p:nvSpPr>
        <p:spPr>
          <a:xfrm>
            <a:off x="3028550" y="4137888"/>
            <a:ext cx="361500" cy="349200"/>
          </a:xfrm>
          <a:prstGeom prst="ellipse">
            <a:avLst/>
          </a:prstGeom>
          <a:solidFill>
            <a:srgbClr val="EAD1D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Consolas"/>
                <a:ea typeface="Consolas"/>
                <a:cs typeface="Consolas"/>
                <a:sym typeface="Consolas"/>
              </a:rPr>
              <a:t>=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0" name="Google Shape;1140;p64"/>
          <p:cNvSpPr/>
          <p:nvPr/>
        </p:nvSpPr>
        <p:spPr>
          <a:xfrm>
            <a:off x="3016900" y="4556300"/>
            <a:ext cx="361500" cy="349200"/>
          </a:xfrm>
          <a:prstGeom prst="ellipse">
            <a:avLst/>
          </a:prstGeom>
          <a:solidFill>
            <a:srgbClr val="EAD1D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Consolas"/>
                <a:ea typeface="Consolas"/>
                <a:cs typeface="Consolas"/>
                <a:sym typeface="Consolas"/>
              </a:rPr>
              <a:t>=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1" name="Google Shape;1141;p64"/>
          <p:cNvSpPr/>
          <p:nvPr/>
        </p:nvSpPr>
        <p:spPr>
          <a:xfrm>
            <a:off x="3029350" y="4979163"/>
            <a:ext cx="361500" cy="349200"/>
          </a:xfrm>
          <a:prstGeom prst="ellipse">
            <a:avLst/>
          </a:prstGeom>
          <a:solidFill>
            <a:srgbClr val="EAD1D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Consolas"/>
                <a:ea typeface="Consolas"/>
                <a:cs typeface="Consolas"/>
                <a:sym typeface="Consolas"/>
              </a:rPr>
              <a:t>=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2" name="Google Shape;1142;p64"/>
          <p:cNvSpPr/>
          <p:nvPr/>
        </p:nvSpPr>
        <p:spPr>
          <a:xfrm>
            <a:off x="3029350" y="5393275"/>
            <a:ext cx="361500" cy="349200"/>
          </a:xfrm>
          <a:prstGeom prst="ellipse">
            <a:avLst/>
          </a:prstGeom>
          <a:solidFill>
            <a:srgbClr val="EAD1D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Consolas"/>
                <a:ea typeface="Consolas"/>
                <a:cs typeface="Consolas"/>
                <a:sym typeface="Consolas"/>
              </a:rPr>
              <a:t>=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3" name="Google Shape;1143;p64"/>
          <p:cNvSpPr/>
          <p:nvPr/>
        </p:nvSpPr>
        <p:spPr>
          <a:xfrm>
            <a:off x="3023525" y="5853225"/>
            <a:ext cx="361500" cy="349200"/>
          </a:xfrm>
          <a:prstGeom prst="ellipse">
            <a:avLst/>
          </a:prstGeom>
          <a:solidFill>
            <a:srgbClr val="EAD1D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Consolas"/>
                <a:ea typeface="Consolas"/>
                <a:cs typeface="Consolas"/>
                <a:sym typeface="Consolas"/>
              </a:rPr>
              <a:t>=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44" name="Google Shape;1144;p64"/>
          <p:cNvCxnSpPr>
            <a:stCxn id="1138" idx="6"/>
          </p:cNvCxnSpPr>
          <p:nvPr/>
        </p:nvCxnSpPr>
        <p:spPr>
          <a:xfrm>
            <a:off x="3378400" y="3914025"/>
            <a:ext cx="427800" cy="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5" name="Google Shape;1145;p64"/>
          <p:cNvCxnSpPr/>
          <p:nvPr/>
        </p:nvCxnSpPr>
        <p:spPr>
          <a:xfrm rot="10800000" flipH="1">
            <a:off x="3397900" y="4306725"/>
            <a:ext cx="420600" cy="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6" name="Google Shape;1146;p64"/>
          <p:cNvCxnSpPr/>
          <p:nvPr/>
        </p:nvCxnSpPr>
        <p:spPr>
          <a:xfrm>
            <a:off x="3385775" y="4732000"/>
            <a:ext cx="427800" cy="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7" name="Google Shape;1147;p64"/>
          <p:cNvCxnSpPr/>
          <p:nvPr/>
        </p:nvCxnSpPr>
        <p:spPr>
          <a:xfrm>
            <a:off x="3392375" y="5158475"/>
            <a:ext cx="427800" cy="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8" name="Google Shape;1148;p64"/>
          <p:cNvCxnSpPr/>
          <p:nvPr/>
        </p:nvCxnSpPr>
        <p:spPr>
          <a:xfrm>
            <a:off x="3378400" y="5578600"/>
            <a:ext cx="427800" cy="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9" name="Google Shape;1149;p64"/>
          <p:cNvCxnSpPr/>
          <p:nvPr/>
        </p:nvCxnSpPr>
        <p:spPr>
          <a:xfrm>
            <a:off x="3392375" y="6039525"/>
            <a:ext cx="427800" cy="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0" name="Google Shape;1150;p64"/>
          <p:cNvCxnSpPr/>
          <p:nvPr/>
        </p:nvCxnSpPr>
        <p:spPr>
          <a:xfrm rot="10800000" flipH="1">
            <a:off x="6430425" y="5392450"/>
            <a:ext cx="746400" cy="5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51" name="Google Shape;1151;p64"/>
          <p:cNvSpPr/>
          <p:nvPr/>
        </p:nvSpPr>
        <p:spPr>
          <a:xfrm>
            <a:off x="7176825" y="5132650"/>
            <a:ext cx="635700" cy="525300"/>
          </a:xfrm>
          <a:prstGeom prst="diamond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Consolas"/>
                <a:ea typeface="Consolas"/>
                <a:cs typeface="Consolas"/>
                <a:sym typeface="Consolas"/>
              </a:rPr>
              <a:t>=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52" name="Google Shape;1152;p64"/>
          <p:cNvCxnSpPr/>
          <p:nvPr/>
        </p:nvCxnSpPr>
        <p:spPr>
          <a:xfrm rot="10800000" flipH="1">
            <a:off x="7812525" y="5392450"/>
            <a:ext cx="746400" cy="5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3" name="Google Shape;1153;p64"/>
          <p:cNvCxnSpPr>
            <a:stCxn id="1151" idx="2"/>
          </p:cNvCxnSpPr>
          <p:nvPr/>
        </p:nvCxnSpPr>
        <p:spPr>
          <a:xfrm flipH="1">
            <a:off x="7483875" y="5657950"/>
            <a:ext cx="10800" cy="597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54" name="Google Shape;1154;p64"/>
          <p:cNvSpPr txBox="1"/>
          <p:nvPr/>
        </p:nvSpPr>
        <p:spPr>
          <a:xfrm>
            <a:off x="6854025" y="6240550"/>
            <a:ext cx="127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TLB Miss</a:t>
            </a:r>
            <a:endParaRPr sz="1800" b="1">
              <a:solidFill>
                <a:srgbClr val="FF0000"/>
              </a:solidFill>
            </a:endParaRPr>
          </a:p>
        </p:txBody>
      </p:sp>
      <p:sp>
        <p:nvSpPr>
          <p:cNvPr id="1155" name="Google Shape;1155;p64"/>
          <p:cNvSpPr txBox="1"/>
          <p:nvPr/>
        </p:nvSpPr>
        <p:spPr>
          <a:xfrm>
            <a:off x="8965925" y="5164450"/>
            <a:ext cx="127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TLB Hit</a:t>
            </a:r>
            <a:endParaRPr sz="1800" b="1">
              <a:solidFill>
                <a:schemeClr val="accent6"/>
              </a:solidFill>
            </a:endParaRPr>
          </a:p>
        </p:txBody>
      </p:sp>
      <p:pic>
        <p:nvPicPr>
          <p:cNvPr id="1156" name="Google Shape;1156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34775" y="5204084"/>
            <a:ext cx="361500" cy="382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7" name="Google Shape;1157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92525" y="6282957"/>
            <a:ext cx="361500" cy="3768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58" name="Google Shape;1158;p64"/>
          <p:cNvCxnSpPr/>
          <p:nvPr/>
        </p:nvCxnSpPr>
        <p:spPr>
          <a:xfrm>
            <a:off x="2597025" y="3914975"/>
            <a:ext cx="4200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59" name="Google Shape;1159;p64"/>
          <p:cNvCxnSpPr/>
          <p:nvPr/>
        </p:nvCxnSpPr>
        <p:spPr>
          <a:xfrm>
            <a:off x="2597025" y="4311300"/>
            <a:ext cx="4200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60" name="Google Shape;1160;p64"/>
          <p:cNvCxnSpPr/>
          <p:nvPr/>
        </p:nvCxnSpPr>
        <p:spPr>
          <a:xfrm>
            <a:off x="2603625" y="4737775"/>
            <a:ext cx="4200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61" name="Google Shape;1161;p64"/>
          <p:cNvCxnSpPr/>
          <p:nvPr/>
        </p:nvCxnSpPr>
        <p:spPr>
          <a:xfrm>
            <a:off x="2597025" y="5148100"/>
            <a:ext cx="4200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62" name="Google Shape;1162;p64"/>
          <p:cNvCxnSpPr/>
          <p:nvPr/>
        </p:nvCxnSpPr>
        <p:spPr>
          <a:xfrm>
            <a:off x="2603625" y="5558425"/>
            <a:ext cx="4200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63" name="Google Shape;1163;p64"/>
          <p:cNvCxnSpPr/>
          <p:nvPr/>
        </p:nvCxnSpPr>
        <p:spPr>
          <a:xfrm>
            <a:off x="2603625" y="6026625"/>
            <a:ext cx="4200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64" name="Google Shape;1164;p64"/>
          <p:cNvCxnSpPr/>
          <p:nvPr/>
        </p:nvCxnSpPr>
        <p:spPr>
          <a:xfrm rot="10800000">
            <a:off x="2596950" y="3456375"/>
            <a:ext cx="23400" cy="2571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165" name="Google Shape;1165;p64"/>
          <p:cNvGraphicFramePr/>
          <p:nvPr/>
        </p:nvGraphicFramePr>
        <p:xfrm>
          <a:off x="2256075" y="1781513"/>
          <a:ext cx="2103300" cy="45717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05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8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6" name="Google Shape;1166;p64"/>
          <p:cNvGraphicFramePr/>
          <p:nvPr/>
        </p:nvGraphicFramePr>
        <p:xfrm>
          <a:off x="2256075" y="2943088"/>
          <a:ext cx="705150" cy="45717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05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167" name="Google Shape;1167;p64"/>
          <p:cNvCxnSpPr/>
          <p:nvPr/>
        </p:nvCxnSpPr>
        <p:spPr>
          <a:xfrm>
            <a:off x="2632000" y="2231575"/>
            <a:ext cx="0" cy="699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68" name="Google Shape;1168;p64"/>
          <p:cNvSpPr txBox="1"/>
          <p:nvPr/>
        </p:nvSpPr>
        <p:spPr>
          <a:xfrm>
            <a:off x="1684575" y="1745425"/>
            <a:ext cx="57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p6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Contenido de una entrada TLB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74" name="Google Shape;1174;p65"/>
          <p:cNvSpPr txBox="1">
            <a:spLocks noGrp="1"/>
          </p:cNvSpPr>
          <p:nvPr>
            <p:ph type="body" idx="1"/>
          </p:nvPr>
        </p:nvSpPr>
        <p:spPr>
          <a:xfrm>
            <a:off x="383458" y="847275"/>
            <a:ext cx="11577484" cy="323802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Entrada TLB</a:t>
            </a:r>
            <a:endParaRPr sz="2400" b="1" dirty="0">
              <a:latin typeface="+mn-lt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1800"/>
              <a:buChar char="●"/>
            </a:pPr>
            <a:r>
              <a:rPr lang="es-ES" sz="2000" b="1" dirty="0">
                <a:solidFill>
                  <a:schemeClr val="accent2"/>
                </a:solidFill>
                <a:latin typeface="+mn-lt"/>
              </a:rPr>
              <a:t>V (Valid)</a:t>
            </a:r>
            <a:r>
              <a:rPr lang="es-ES" sz="2000" dirty="0">
                <a:solidFill>
                  <a:schemeClr val="accent2"/>
                </a:solidFill>
                <a:latin typeface="+mn-lt"/>
              </a:rPr>
              <a:t>:</a:t>
            </a:r>
            <a:r>
              <a:rPr lang="es-ES" sz="2000" dirty="0">
                <a:latin typeface="+mn-lt"/>
              </a:rPr>
              <a:t> bit que dice si un PTE puede o no ser usada. Se evalúa cada vez que una dirección virtual es usada.</a:t>
            </a:r>
            <a:endParaRPr sz="2000" dirty="0">
              <a:latin typeface="+mn-lt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-ES" sz="2000" b="1" dirty="0">
                <a:solidFill>
                  <a:schemeClr val="accent2"/>
                </a:solidFill>
                <a:latin typeface="+mn-lt"/>
              </a:rPr>
              <a:t>D (</a:t>
            </a:r>
            <a:r>
              <a:rPr lang="es-ES" sz="2000" b="1" dirty="0" err="1">
                <a:solidFill>
                  <a:schemeClr val="accent2"/>
                </a:solidFill>
                <a:latin typeface="+mn-lt"/>
              </a:rPr>
              <a:t>Dirt</a:t>
            </a:r>
            <a:r>
              <a:rPr lang="es-ES" sz="2000" b="1" dirty="0">
                <a:solidFill>
                  <a:schemeClr val="accent2"/>
                </a:solidFill>
                <a:latin typeface="+mn-lt"/>
              </a:rPr>
              <a:t>)</a:t>
            </a:r>
            <a:r>
              <a:rPr lang="es-ES" sz="2000" dirty="0">
                <a:solidFill>
                  <a:schemeClr val="accent2"/>
                </a:solidFill>
                <a:latin typeface="+mn-lt"/>
              </a:rPr>
              <a:t>:</a:t>
            </a:r>
            <a:r>
              <a:rPr lang="es-ES" sz="2000" dirty="0">
                <a:latin typeface="+mn-lt"/>
              </a:rPr>
              <a:t> Indica si la salida ha sido modificada (Una operación </a:t>
            </a:r>
            <a:r>
              <a:rPr lang="es-ES" sz="2000" dirty="0" err="1">
                <a:latin typeface="+mn-lt"/>
              </a:rPr>
              <a:t>write</a:t>
            </a:r>
            <a:r>
              <a:rPr lang="es-ES" sz="2000" dirty="0">
                <a:latin typeface="+mn-lt"/>
              </a:rPr>
              <a:t> ocurre sobre esta).</a:t>
            </a:r>
            <a:endParaRPr sz="2000" dirty="0">
              <a:latin typeface="+mn-lt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-ES" sz="2000" b="1" dirty="0">
                <a:solidFill>
                  <a:schemeClr val="accent2"/>
                </a:solidFill>
                <a:latin typeface="+mn-lt"/>
              </a:rPr>
              <a:t>R (Reference)</a:t>
            </a:r>
            <a:r>
              <a:rPr lang="es-ES" sz="2000" dirty="0">
                <a:solidFill>
                  <a:schemeClr val="accent2"/>
                </a:solidFill>
                <a:latin typeface="+mn-lt"/>
              </a:rPr>
              <a:t>:</a:t>
            </a:r>
            <a:r>
              <a:rPr lang="es-ES" sz="2000" dirty="0">
                <a:latin typeface="+mn-lt"/>
              </a:rPr>
              <a:t> Indica si la página ha sido accedida. Es llevada a 1 (set) cuando la página ha sido leída o escrita. Es útil ya que:</a:t>
            </a:r>
            <a:endParaRPr sz="2000" dirty="0">
              <a:latin typeface="+mn-lt"/>
            </a:endParaRPr>
          </a:p>
          <a:p>
            <a:pPr marL="91440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s-ES" sz="2000" dirty="0">
                <a:latin typeface="+mn-lt"/>
              </a:rPr>
              <a:t>Rastrea el acceso a la página.</a:t>
            </a:r>
            <a:endParaRPr sz="2000" dirty="0">
              <a:latin typeface="+mn-lt"/>
            </a:endParaRPr>
          </a:p>
          <a:p>
            <a:pPr marL="91440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s-ES" sz="2000" dirty="0">
                <a:latin typeface="+mn-lt"/>
              </a:rPr>
              <a:t>Determina la popularidad de la página.</a:t>
            </a:r>
            <a:endParaRPr sz="2000" dirty="0">
              <a:latin typeface="+mn-lt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-ES" sz="2000" b="1" dirty="0">
                <a:solidFill>
                  <a:schemeClr val="accent2"/>
                </a:solidFill>
                <a:latin typeface="+mn-lt"/>
              </a:rPr>
              <a:t>P (</a:t>
            </a:r>
            <a:r>
              <a:rPr lang="es-ES" sz="2000" b="1" dirty="0" err="1">
                <a:solidFill>
                  <a:schemeClr val="accent2"/>
                </a:solidFill>
                <a:latin typeface="+mn-lt"/>
              </a:rPr>
              <a:t>Protection</a:t>
            </a:r>
            <a:r>
              <a:rPr lang="es-ES" sz="2000" b="1" dirty="0">
                <a:solidFill>
                  <a:schemeClr val="accent2"/>
                </a:solidFill>
                <a:latin typeface="+mn-lt"/>
              </a:rPr>
              <a:t>)</a:t>
            </a:r>
            <a:r>
              <a:rPr lang="es-ES" sz="2000" dirty="0">
                <a:solidFill>
                  <a:schemeClr val="accent2"/>
                </a:solidFill>
                <a:latin typeface="+mn-lt"/>
              </a:rPr>
              <a:t>:</a:t>
            </a:r>
            <a:r>
              <a:rPr lang="es-ES" sz="2000" dirty="0">
                <a:latin typeface="+mn-lt"/>
              </a:rPr>
              <a:t> Bits que controlan las operaciones que son permitidas (R, W, X, </a:t>
            </a:r>
            <a:r>
              <a:rPr lang="es-ES" sz="2000" dirty="0" err="1">
                <a:latin typeface="+mn-lt"/>
              </a:rPr>
              <a:t>User</a:t>
            </a:r>
            <a:r>
              <a:rPr lang="es-ES" sz="2000" dirty="0">
                <a:latin typeface="+mn-lt"/>
              </a:rPr>
              <a:t>/</a:t>
            </a:r>
            <a:r>
              <a:rPr lang="es-ES" sz="2000" dirty="0" err="1">
                <a:latin typeface="+mn-lt"/>
              </a:rPr>
              <a:t>Kernel</a:t>
            </a:r>
            <a:r>
              <a:rPr lang="es-ES" sz="2000" dirty="0">
                <a:latin typeface="+mn-lt"/>
              </a:rPr>
              <a:t>, </a:t>
            </a:r>
            <a:r>
              <a:rPr lang="es-ES" sz="2000" dirty="0" err="1">
                <a:latin typeface="+mn-lt"/>
              </a:rPr>
              <a:t>etc</a:t>
            </a:r>
            <a:r>
              <a:rPr lang="es-ES" sz="2000" dirty="0">
                <a:latin typeface="+mn-lt"/>
              </a:rPr>
              <a:t>).</a:t>
            </a:r>
            <a:endParaRPr sz="2000" dirty="0">
              <a:latin typeface="+mn-lt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-ES" sz="2000" b="1" dirty="0">
                <a:solidFill>
                  <a:schemeClr val="accent2"/>
                </a:solidFill>
                <a:latin typeface="+mn-lt"/>
              </a:rPr>
              <a:t>P (</a:t>
            </a:r>
            <a:r>
              <a:rPr lang="es-ES" sz="2000" b="1" dirty="0" err="1">
                <a:solidFill>
                  <a:schemeClr val="accent2"/>
                </a:solidFill>
                <a:latin typeface="+mn-lt"/>
              </a:rPr>
              <a:t>Present</a:t>
            </a:r>
            <a:r>
              <a:rPr lang="es-ES" sz="2000" b="1" dirty="0">
                <a:solidFill>
                  <a:schemeClr val="accent2"/>
                </a:solidFill>
                <a:latin typeface="+mn-lt"/>
              </a:rPr>
              <a:t>)</a:t>
            </a:r>
            <a:r>
              <a:rPr lang="es-ES" sz="2000" dirty="0">
                <a:solidFill>
                  <a:schemeClr val="accent2"/>
                </a:solidFill>
                <a:latin typeface="+mn-lt"/>
              </a:rPr>
              <a:t>:</a:t>
            </a:r>
            <a:r>
              <a:rPr lang="es-ES" sz="2000" dirty="0">
                <a:latin typeface="+mn-lt"/>
              </a:rPr>
              <a:t>   Indica si la página se encuentra en memoria física o en el disco.</a:t>
            </a:r>
            <a:endParaRPr sz="2000" dirty="0">
              <a:latin typeface="+mn-lt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-ES" sz="2000" b="1" dirty="0">
                <a:solidFill>
                  <a:schemeClr val="accent2"/>
                </a:solidFill>
                <a:latin typeface="+mn-lt"/>
              </a:rPr>
              <a:t>ASID (Address Space Identifier)</a:t>
            </a:r>
            <a:r>
              <a:rPr lang="es-ES" sz="2000" dirty="0">
                <a:solidFill>
                  <a:schemeClr val="accent2"/>
                </a:solidFill>
                <a:latin typeface="+mn-lt"/>
              </a:rPr>
              <a:t>:</a:t>
            </a:r>
            <a:r>
              <a:rPr lang="es-ES" sz="2000" dirty="0">
                <a:latin typeface="+mn-lt"/>
              </a:rPr>
              <a:t> Lo veremos en breve.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b="1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rgbClr val="F8A02B"/>
              </a:solidFill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2"/>
              </a:solidFill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aphicFrame>
        <p:nvGraphicFramePr>
          <p:cNvPr id="1175" name="Google Shape;1175;p65"/>
          <p:cNvGraphicFramePr/>
          <p:nvPr>
            <p:extLst>
              <p:ext uri="{D42A27DB-BD31-4B8C-83A1-F6EECF244321}">
                <p14:modId xmlns:p14="http://schemas.microsoft.com/office/powerpoint/2010/main" val="772002085"/>
              </p:ext>
            </p:extLst>
          </p:nvPr>
        </p:nvGraphicFramePr>
        <p:xfrm>
          <a:off x="2642725" y="4899570"/>
          <a:ext cx="4851825" cy="45717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44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0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1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Other bits</a:t>
                      </a:r>
                      <a:endParaRPr sz="18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6" name="Google Shape;1176;p65"/>
          <p:cNvGraphicFramePr/>
          <p:nvPr>
            <p:extLst>
              <p:ext uri="{D42A27DB-BD31-4B8C-83A1-F6EECF244321}">
                <p14:modId xmlns:p14="http://schemas.microsoft.com/office/powerpoint/2010/main" val="2055495527"/>
              </p:ext>
            </p:extLst>
          </p:nvPr>
        </p:nvGraphicFramePr>
        <p:xfrm>
          <a:off x="4506088" y="6020020"/>
          <a:ext cx="6893550" cy="45717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54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5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08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5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</a:t>
                      </a:r>
                      <a:endParaRPr sz="1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</a:t>
                      </a:r>
                      <a:endParaRPr sz="1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</a:t>
                      </a:r>
                      <a:endParaRPr sz="1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endParaRPr sz="1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Other bits</a:t>
                      </a:r>
                      <a:endParaRPr sz="18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177" name="Google Shape;1177;p65"/>
          <p:cNvCxnSpPr/>
          <p:nvPr/>
        </p:nvCxnSpPr>
        <p:spPr>
          <a:xfrm>
            <a:off x="4124900" y="5440095"/>
            <a:ext cx="349800" cy="5133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8" name="Google Shape;1178;p65"/>
          <p:cNvCxnSpPr/>
          <p:nvPr/>
        </p:nvCxnSpPr>
        <p:spPr>
          <a:xfrm>
            <a:off x="7577225" y="5381770"/>
            <a:ext cx="3662100" cy="583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79" name="Google Shape;1179;p65"/>
          <p:cNvSpPr txBox="1"/>
          <p:nvPr/>
        </p:nvSpPr>
        <p:spPr>
          <a:xfrm>
            <a:off x="1092450" y="4897308"/>
            <a:ext cx="1457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TLB Entry</a:t>
            </a:r>
            <a:endParaRPr b="1" dirty="0"/>
          </a:p>
        </p:txBody>
      </p:sp>
      <p:sp>
        <p:nvSpPr>
          <p:cNvPr id="1180" name="Google Shape;1180;p65"/>
          <p:cNvSpPr txBox="1"/>
          <p:nvPr/>
        </p:nvSpPr>
        <p:spPr>
          <a:xfrm>
            <a:off x="2854375" y="6036733"/>
            <a:ext cx="1457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PTE</a:t>
            </a:r>
            <a:endParaRPr b="1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Google Shape;1191;p67"/>
          <p:cNvSpPr txBox="1">
            <a:spLocks noGrp="1"/>
          </p:cNvSpPr>
          <p:nvPr>
            <p:ph type="title"/>
          </p:nvPr>
        </p:nvSpPr>
        <p:spPr>
          <a:xfrm>
            <a:off x="341463" y="96038"/>
            <a:ext cx="887918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TLB y Context switch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92" name="Google Shape;1192;p67"/>
          <p:cNvSpPr txBox="1">
            <a:spLocks noGrp="1"/>
          </p:cNvSpPr>
          <p:nvPr>
            <p:ph type="body" idx="1"/>
          </p:nvPr>
        </p:nvSpPr>
        <p:spPr>
          <a:xfrm>
            <a:off x="341463" y="1045538"/>
            <a:ext cx="11185800" cy="3157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El TLB es una estructura de hardware (memoria cache) </a:t>
            </a:r>
            <a:r>
              <a:rPr lang="es-ES" sz="2400" b="1" dirty="0">
                <a:solidFill>
                  <a:schemeClr val="accent6"/>
                </a:solidFill>
                <a:latin typeface="+mn-lt"/>
              </a:rPr>
              <a:t>compartida por todos los procesos</a:t>
            </a:r>
            <a:r>
              <a:rPr lang="es-ES" sz="2400" dirty="0">
                <a:latin typeface="+mn-lt"/>
              </a:rPr>
              <a:t>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Las traducciones para el proceso en ejecución, </a:t>
            </a:r>
            <a:r>
              <a:rPr lang="es-ES" sz="2400" b="1" dirty="0">
                <a:solidFill>
                  <a:srgbClr val="FF0000"/>
                </a:solidFill>
                <a:latin typeface="+mn-lt"/>
              </a:rPr>
              <a:t>no tienen sentido</a:t>
            </a:r>
            <a:r>
              <a:rPr lang="es-ES" sz="2400" dirty="0">
                <a:latin typeface="+mn-lt"/>
              </a:rPr>
              <a:t> para los demás procesos.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Es necesario que cuando se cambie de un proceso a otro; el hardware, el software o ambos, tengan en cuenta este detalle para asegurarse de que el proceso que está a punto de ejecutarse, no acceda de manera accidental la información de algún proceso ejecutado previamente.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Google Shape;1197;p68"/>
          <p:cNvSpPr txBox="1">
            <a:spLocks noGrp="1"/>
          </p:cNvSpPr>
          <p:nvPr>
            <p:ph type="title"/>
          </p:nvPr>
        </p:nvSpPr>
        <p:spPr>
          <a:xfrm>
            <a:off x="624114" y="96038"/>
            <a:ext cx="859653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TLB y Context switch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98" name="Google Shape;1198;p68"/>
          <p:cNvSpPr txBox="1">
            <a:spLocks noGrp="1"/>
          </p:cNvSpPr>
          <p:nvPr>
            <p:ph type="body" idx="1"/>
          </p:nvPr>
        </p:nvSpPr>
        <p:spPr>
          <a:xfrm>
            <a:off x="624114" y="928925"/>
            <a:ext cx="11478336" cy="1232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</a:t>
            </a:r>
            <a:r>
              <a:rPr lang="es-ES" sz="2400" dirty="0">
                <a:latin typeface="+mn-lt"/>
              </a:rPr>
              <a:t>: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Se tienen dos procesos (P1 y P2) con las siguientes PT y la siguiente TLB.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1199" name="Google Shape;1199;p68"/>
          <p:cNvSpPr/>
          <p:nvPr/>
        </p:nvSpPr>
        <p:spPr>
          <a:xfrm>
            <a:off x="979157" y="3115888"/>
            <a:ext cx="606600" cy="653100"/>
          </a:xfrm>
          <a:prstGeom prst="ellipse">
            <a:avLst/>
          </a:prstGeom>
          <a:solidFill>
            <a:srgbClr val="CFE2F3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latin typeface="Consolas"/>
                <a:ea typeface="Consolas"/>
                <a:cs typeface="Consolas"/>
                <a:sym typeface="Consolas"/>
              </a:rPr>
              <a:t>P1</a:t>
            </a:r>
            <a:endParaRPr sz="17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0" name="Google Shape;1200;p68"/>
          <p:cNvSpPr/>
          <p:nvPr/>
        </p:nvSpPr>
        <p:spPr>
          <a:xfrm>
            <a:off x="979157" y="4842801"/>
            <a:ext cx="606600" cy="653100"/>
          </a:xfrm>
          <a:prstGeom prst="ellipse">
            <a:avLst/>
          </a:prstGeom>
          <a:solidFill>
            <a:srgbClr val="F4CCCC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latin typeface="Consolas"/>
                <a:ea typeface="Consolas"/>
                <a:cs typeface="Consolas"/>
                <a:sym typeface="Consolas"/>
              </a:rPr>
              <a:t>P2</a:t>
            </a:r>
            <a:endParaRPr sz="1700" b="1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201" name="Google Shape;1201;p68"/>
          <p:cNvGraphicFramePr/>
          <p:nvPr>
            <p:extLst>
              <p:ext uri="{D42A27DB-BD31-4B8C-83A1-F6EECF244321}">
                <p14:modId xmlns:p14="http://schemas.microsoft.com/office/powerpoint/2010/main" val="3294362305"/>
              </p:ext>
            </p:extLst>
          </p:nvPr>
        </p:nvGraphicFramePr>
        <p:xfrm>
          <a:off x="1902507" y="2848126"/>
          <a:ext cx="1833050" cy="137151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916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6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00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PT P1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202" name="Google Shape;1202;p68"/>
          <p:cNvGraphicFramePr/>
          <p:nvPr>
            <p:extLst>
              <p:ext uri="{D42A27DB-BD31-4B8C-83A1-F6EECF244321}">
                <p14:modId xmlns:p14="http://schemas.microsoft.com/office/powerpoint/2010/main" val="1051459844"/>
              </p:ext>
            </p:extLst>
          </p:nvPr>
        </p:nvGraphicFramePr>
        <p:xfrm>
          <a:off x="1902507" y="4575038"/>
          <a:ext cx="1833050" cy="137151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916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6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00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PT P2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170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03" name="Google Shape;1203;p68"/>
          <p:cNvSpPr txBox="1"/>
          <p:nvPr/>
        </p:nvSpPr>
        <p:spPr>
          <a:xfrm>
            <a:off x="4258900" y="2042725"/>
            <a:ext cx="7476300" cy="587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¿Que pasa cuando se da un cambio de contexto?</a:t>
            </a:r>
            <a:endParaRPr sz="2200" b="1" dirty="0">
              <a:solidFill>
                <a:srgbClr val="FF0000"/>
              </a:solidFill>
              <a:ea typeface="Roboto"/>
              <a:cs typeface="Roboto"/>
              <a:sym typeface="Roboto"/>
            </a:endParaRPr>
          </a:p>
        </p:txBody>
      </p:sp>
      <p:sp>
        <p:nvSpPr>
          <p:cNvPr id="1204" name="Google Shape;1204;p68"/>
          <p:cNvSpPr txBox="1"/>
          <p:nvPr/>
        </p:nvSpPr>
        <p:spPr>
          <a:xfrm>
            <a:off x="4334850" y="2735125"/>
            <a:ext cx="7266000" cy="1172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Problema</a:t>
            </a:r>
            <a:r>
              <a:rPr lang="es-ES" sz="2000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: </a:t>
            </a: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Se tiene la misma tabla para todos los procesos; sin embargo, no se puede distinguir qué entrada se asocia a cada proceso.</a:t>
            </a:r>
            <a:endParaRPr sz="22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grpSp>
        <p:nvGrpSpPr>
          <p:cNvPr id="1205" name="Google Shape;1205;p68"/>
          <p:cNvGrpSpPr/>
          <p:nvPr/>
        </p:nvGrpSpPr>
        <p:grpSpPr>
          <a:xfrm>
            <a:off x="5512850" y="4575038"/>
            <a:ext cx="2134500" cy="956400"/>
            <a:chOff x="4579775" y="2908050"/>
            <a:chExt cx="2134500" cy="956400"/>
          </a:xfrm>
        </p:grpSpPr>
        <p:cxnSp>
          <p:nvCxnSpPr>
            <p:cNvPr id="1206" name="Google Shape;1206;p68"/>
            <p:cNvCxnSpPr/>
            <p:nvPr/>
          </p:nvCxnSpPr>
          <p:spPr>
            <a:xfrm>
              <a:off x="4579775" y="2908050"/>
              <a:ext cx="2134500" cy="956400"/>
            </a:xfrm>
            <a:prstGeom prst="bentConnector3">
              <a:avLst>
                <a:gd name="adj1" fmla="val 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07" name="Google Shape;1207;p68"/>
            <p:cNvSpPr/>
            <p:nvPr/>
          </p:nvSpPr>
          <p:spPr>
            <a:xfrm>
              <a:off x="4582750" y="3290025"/>
              <a:ext cx="501600" cy="571500"/>
            </a:xfrm>
            <a:prstGeom prst="rect">
              <a:avLst/>
            </a:prstGeom>
            <a:solidFill>
              <a:srgbClr val="CFE2F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P1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208" name="Google Shape;1208;p68"/>
            <p:cNvSpPr/>
            <p:nvPr/>
          </p:nvSpPr>
          <p:spPr>
            <a:xfrm>
              <a:off x="5084225" y="3290025"/>
              <a:ext cx="501600" cy="5715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P2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209" name="Google Shape;1209;p68"/>
            <p:cNvSpPr txBox="1"/>
            <p:nvPr/>
          </p:nvSpPr>
          <p:spPr>
            <a:xfrm>
              <a:off x="5701600" y="3336675"/>
              <a:ext cx="501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aphicFrame>
        <p:nvGraphicFramePr>
          <p:cNvPr id="1210" name="Google Shape;1210;p68"/>
          <p:cNvGraphicFramePr/>
          <p:nvPr>
            <p:extLst>
              <p:ext uri="{D42A27DB-BD31-4B8C-83A1-F6EECF244321}">
                <p14:modId xmlns:p14="http://schemas.microsoft.com/office/powerpoint/2010/main" val="3687765297"/>
              </p:ext>
            </p:extLst>
          </p:nvPr>
        </p:nvGraphicFramePr>
        <p:xfrm>
          <a:off x="8445537" y="4040163"/>
          <a:ext cx="3050775" cy="21334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05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5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5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5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valid</a:t>
                      </a:r>
                      <a:endParaRPr sz="16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rwx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170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rwx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11" name="Google Shape;1211;p68"/>
          <p:cNvSpPr txBox="1"/>
          <p:nvPr/>
        </p:nvSpPr>
        <p:spPr>
          <a:xfrm>
            <a:off x="11600850" y="4458925"/>
            <a:ext cx="338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?</a:t>
            </a:r>
            <a:endParaRPr b="1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2" name="Google Shape;1212;p68"/>
          <p:cNvSpPr txBox="1"/>
          <p:nvPr/>
        </p:nvSpPr>
        <p:spPr>
          <a:xfrm>
            <a:off x="11600850" y="5251350"/>
            <a:ext cx="338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?</a:t>
            </a:r>
            <a:endParaRPr b="1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Google Shape;1217;p69"/>
          <p:cNvSpPr txBox="1">
            <a:spLocks noGrp="1"/>
          </p:cNvSpPr>
          <p:nvPr>
            <p:ph type="title"/>
          </p:nvPr>
        </p:nvSpPr>
        <p:spPr>
          <a:xfrm>
            <a:off x="508000" y="96038"/>
            <a:ext cx="87126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TLB y Context switch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18" name="Google Shape;1218;p69"/>
          <p:cNvSpPr txBox="1">
            <a:spLocks noGrp="1"/>
          </p:cNvSpPr>
          <p:nvPr>
            <p:ph type="body" idx="1"/>
          </p:nvPr>
        </p:nvSpPr>
        <p:spPr>
          <a:xfrm>
            <a:off x="508000" y="928925"/>
            <a:ext cx="10951497" cy="65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Paso a paso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</p:txBody>
      </p:sp>
      <p:grpSp>
        <p:nvGrpSpPr>
          <p:cNvPr id="1219" name="Google Shape;1219;p69"/>
          <p:cNvGrpSpPr/>
          <p:nvPr/>
        </p:nvGrpSpPr>
        <p:grpSpPr>
          <a:xfrm>
            <a:off x="1314075" y="2824688"/>
            <a:ext cx="2134500" cy="956400"/>
            <a:chOff x="4579775" y="2908050"/>
            <a:chExt cx="2134500" cy="956400"/>
          </a:xfrm>
        </p:grpSpPr>
        <p:cxnSp>
          <p:nvCxnSpPr>
            <p:cNvPr id="1220" name="Google Shape;1220;p69"/>
            <p:cNvCxnSpPr/>
            <p:nvPr/>
          </p:nvCxnSpPr>
          <p:spPr>
            <a:xfrm>
              <a:off x="4579775" y="2908050"/>
              <a:ext cx="2134500" cy="956400"/>
            </a:xfrm>
            <a:prstGeom prst="bentConnector3">
              <a:avLst>
                <a:gd name="adj1" fmla="val 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21" name="Google Shape;1221;p69"/>
            <p:cNvSpPr/>
            <p:nvPr/>
          </p:nvSpPr>
          <p:spPr>
            <a:xfrm>
              <a:off x="4582750" y="3290025"/>
              <a:ext cx="501600" cy="571500"/>
            </a:xfrm>
            <a:prstGeom prst="rect">
              <a:avLst/>
            </a:prstGeom>
            <a:solidFill>
              <a:srgbClr val="CFE2F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P1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222" name="Google Shape;1222;p69"/>
            <p:cNvSpPr/>
            <p:nvPr/>
          </p:nvSpPr>
          <p:spPr>
            <a:xfrm>
              <a:off x="5084225" y="3290025"/>
              <a:ext cx="501600" cy="5715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P2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223" name="Google Shape;1223;p69"/>
            <p:cNvSpPr txBox="1"/>
            <p:nvPr/>
          </p:nvSpPr>
          <p:spPr>
            <a:xfrm>
              <a:off x="5701600" y="3336675"/>
              <a:ext cx="501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pic>
        <p:nvPicPr>
          <p:cNvPr id="1224" name="Google Shape;1224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4075" y="3911075"/>
            <a:ext cx="496850" cy="496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5" name="Google Shape;1225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3525" y="1835025"/>
            <a:ext cx="7648724" cy="41168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Google Shape;1230;p70"/>
          <p:cNvSpPr txBox="1">
            <a:spLocks noGrp="1"/>
          </p:cNvSpPr>
          <p:nvPr>
            <p:ph type="title"/>
          </p:nvPr>
        </p:nvSpPr>
        <p:spPr>
          <a:xfrm>
            <a:off x="420914" y="96038"/>
            <a:ext cx="879973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TLB y Context switch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31" name="Google Shape;1231;p70"/>
          <p:cNvSpPr txBox="1">
            <a:spLocks noGrp="1"/>
          </p:cNvSpPr>
          <p:nvPr>
            <p:ph type="body" idx="1"/>
          </p:nvPr>
        </p:nvSpPr>
        <p:spPr>
          <a:xfrm>
            <a:off x="430076" y="928925"/>
            <a:ext cx="11672374" cy="65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Paso a paso</a:t>
            </a: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</p:txBody>
      </p:sp>
      <p:grpSp>
        <p:nvGrpSpPr>
          <p:cNvPr id="1232" name="Google Shape;1232;p70"/>
          <p:cNvGrpSpPr/>
          <p:nvPr/>
        </p:nvGrpSpPr>
        <p:grpSpPr>
          <a:xfrm>
            <a:off x="1232425" y="3101825"/>
            <a:ext cx="2134500" cy="956400"/>
            <a:chOff x="4579775" y="2908050"/>
            <a:chExt cx="2134500" cy="956400"/>
          </a:xfrm>
        </p:grpSpPr>
        <p:cxnSp>
          <p:nvCxnSpPr>
            <p:cNvPr id="1233" name="Google Shape;1233;p70"/>
            <p:cNvCxnSpPr/>
            <p:nvPr/>
          </p:nvCxnSpPr>
          <p:spPr>
            <a:xfrm>
              <a:off x="4579775" y="2908050"/>
              <a:ext cx="2134500" cy="956400"/>
            </a:xfrm>
            <a:prstGeom prst="bentConnector3">
              <a:avLst>
                <a:gd name="adj1" fmla="val 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34" name="Google Shape;1234;p70"/>
            <p:cNvSpPr/>
            <p:nvPr/>
          </p:nvSpPr>
          <p:spPr>
            <a:xfrm>
              <a:off x="4582750" y="3290025"/>
              <a:ext cx="501600" cy="571500"/>
            </a:xfrm>
            <a:prstGeom prst="rect">
              <a:avLst/>
            </a:prstGeom>
            <a:solidFill>
              <a:srgbClr val="CFE2F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P1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235" name="Google Shape;1235;p70"/>
            <p:cNvSpPr/>
            <p:nvPr/>
          </p:nvSpPr>
          <p:spPr>
            <a:xfrm>
              <a:off x="5084225" y="3290025"/>
              <a:ext cx="501600" cy="5715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P2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236" name="Google Shape;1236;p70"/>
            <p:cNvSpPr txBox="1"/>
            <p:nvPr/>
          </p:nvSpPr>
          <p:spPr>
            <a:xfrm>
              <a:off x="5701600" y="3336675"/>
              <a:ext cx="501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1237" name="Google Shape;1237;p70"/>
          <p:cNvSpPr/>
          <p:nvPr/>
        </p:nvSpPr>
        <p:spPr>
          <a:xfrm>
            <a:off x="1547325" y="3081041"/>
            <a:ext cx="384900" cy="410150"/>
          </a:xfrm>
          <a:custGeom>
            <a:avLst/>
            <a:gdLst/>
            <a:ahLst/>
            <a:cxnLst/>
            <a:rect l="l" t="t" r="r" b="b"/>
            <a:pathLst>
              <a:path w="15396" h="16406" extrusionOk="0">
                <a:moveTo>
                  <a:pt x="0" y="16406"/>
                </a:moveTo>
                <a:cubicBezTo>
                  <a:pt x="233" y="15007"/>
                  <a:pt x="778" y="10497"/>
                  <a:pt x="1400" y="8009"/>
                </a:cubicBezTo>
                <a:cubicBezTo>
                  <a:pt x="2022" y="5521"/>
                  <a:pt x="2333" y="2721"/>
                  <a:pt x="3732" y="1477"/>
                </a:cubicBezTo>
                <a:cubicBezTo>
                  <a:pt x="5132" y="233"/>
                  <a:pt x="8164" y="-389"/>
                  <a:pt x="9797" y="544"/>
                </a:cubicBezTo>
                <a:cubicBezTo>
                  <a:pt x="11430" y="1477"/>
                  <a:pt x="12596" y="4743"/>
                  <a:pt x="13529" y="7076"/>
                </a:cubicBezTo>
                <a:cubicBezTo>
                  <a:pt x="14462" y="9409"/>
                  <a:pt x="15085" y="13296"/>
                  <a:pt x="15396" y="14540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238" name="Google Shape;1238;p70"/>
          <p:cNvSpPr txBox="1"/>
          <p:nvPr/>
        </p:nvSpPr>
        <p:spPr>
          <a:xfrm>
            <a:off x="1290675" y="2526950"/>
            <a:ext cx="8982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Context switch</a:t>
            </a:r>
            <a:endParaRPr sz="12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239" name="Google Shape;1239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51050" y="1582025"/>
            <a:ext cx="8110874" cy="4207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p71"/>
          <p:cNvSpPr txBox="1">
            <a:spLocks noGrp="1"/>
          </p:cNvSpPr>
          <p:nvPr>
            <p:ph type="title"/>
          </p:nvPr>
        </p:nvSpPr>
        <p:spPr>
          <a:xfrm>
            <a:off x="537029" y="96038"/>
            <a:ext cx="868362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TLB y Context switch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45" name="Google Shape;1245;p71"/>
          <p:cNvSpPr txBox="1">
            <a:spLocks noGrp="1"/>
          </p:cNvSpPr>
          <p:nvPr>
            <p:ph type="body" idx="1"/>
          </p:nvPr>
        </p:nvSpPr>
        <p:spPr>
          <a:xfrm>
            <a:off x="638629" y="928925"/>
            <a:ext cx="11463821" cy="65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latin typeface="+mn-lt"/>
              </a:rPr>
              <a:t>Paso a paso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1246" name="Google Shape;1246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27550" y="1667650"/>
            <a:ext cx="7895224" cy="4249526"/>
          </a:xfrm>
          <a:prstGeom prst="rect">
            <a:avLst/>
          </a:prstGeom>
          <a:noFill/>
          <a:ln>
            <a:noFill/>
          </a:ln>
        </p:spPr>
      </p:pic>
      <p:sp>
        <p:nvSpPr>
          <p:cNvPr id="1247" name="Google Shape;1247;p71"/>
          <p:cNvSpPr/>
          <p:nvPr/>
        </p:nvSpPr>
        <p:spPr>
          <a:xfrm>
            <a:off x="987499" y="2441500"/>
            <a:ext cx="2419377" cy="2577600"/>
          </a:xfrm>
          <a:prstGeom prst="roundRect">
            <a:avLst>
              <a:gd name="adj" fmla="val 10596"/>
            </a:avLst>
          </a:prstGeom>
          <a:solidFill>
            <a:srgbClr val="FFFF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solidFill>
                  <a:srgbClr val="FF0000"/>
                </a:solidFill>
                <a:ea typeface="Roboto"/>
                <a:cs typeface="Roboto"/>
                <a:sym typeface="Roboto"/>
              </a:rPr>
              <a:t>Problema</a:t>
            </a:r>
            <a:r>
              <a:rPr lang="es-ES" sz="2000">
                <a:solidFill>
                  <a:srgbClr val="FF0000"/>
                </a:solidFill>
                <a:ea typeface="Roboto"/>
                <a:cs typeface="Roboto"/>
                <a:sym typeface="Roboto"/>
              </a:rPr>
              <a:t>:</a:t>
            </a:r>
            <a:endParaRPr sz="2000">
              <a:solidFill>
                <a:srgbClr val="FF0000"/>
              </a:solidFill>
              <a:ea typeface="Roboto"/>
              <a:cs typeface="Roboto"/>
              <a:sym typeface="Roboto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ea typeface="Roboto"/>
                <a:cs typeface="Roboto"/>
                <a:sym typeface="Roboto"/>
              </a:rPr>
              <a:t>Ambos procesos tienen entradas en la TLB pero no se puede distinguir cuál entrada está asociada a cada proceso.</a:t>
            </a:r>
            <a:endParaRPr sz="1800"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72"/>
          <p:cNvSpPr txBox="1">
            <a:spLocks noGrp="1"/>
          </p:cNvSpPr>
          <p:nvPr>
            <p:ph type="title"/>
          </p:nvPr>
        </p:nvSpPr>
        <p:spPr>
          <a:xfrm>
            <a:off x="537029" y="96038"/>
            <a:ext cx="868362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TLB y Context switch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53" name="Google Shape;1253;p72"/>
          <p:cNvSpPr txBox="1">
            <a:spLocks noGrp="1"/>
          </p:cNvSpPr>
          <p:nvPr>
            <p:ph type="body" idx="1"/>
          </p:nvPr>
        </p:nvSpPr>
        <p:spPr>
          <a:xfrm>
            <a:off x="537029" y="928925"/>
            <a:ext cx="11565421" cy="1460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b="1" dirty="0">
                <a:solidFill>
                  <a:schemeClr val="accent5"/>
                </a:solidFill>
                <a:latin typeface="+mn-lt"/>
              </a:rPr>
              <a:t>Solucionando el problema</a:t>
            </a:r>
            <a:endParaRPr b="1" dirty="0">
              <a:solidFill>
                <a:schemeClr val="accent5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70AD47"/>
                </a:solidFill>
                <a:latin typeface="+mn-lt"/>
              </a:rPr>
              <a:t>Solución 1 - Vaciar (flush) la TLB en los cambios de contexto</a:t>
            </a:r>
            <a:endParaRPr sz="2400" b="1" dirty="0">
              <a:solidFill>
                <a:srgbClr val="70AD47"/>
              </a:solidFill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>
                <a:latin typeface="+mn-lt"/>
              </a:rPr>
              <a:t>Flush</a:t>
            </a:r>
            <a:r>
              <a:rPr lang="es-ES" sz="2200" dirty="0">
                <a:latin typeface="+mn-lt"/>
              </a:rPr>
              <a:t>: Establecer todos los bits de validez (</a:t>
            </a:r>
            <a:r>
              <a:rPr lang="es-ES" sz="2200" b="1" dirty="0">
                <a:latin typeface="+mn-lt"/>
              </a:rPr>
              <a:t>V</a:t>
            </a:r>
            <a:r>
              <a:rPr lang="es-ES" sz="2200" dirty="0">
                <a:latin typeface="+mn-lt"/>
              </a:rPr>
              <a:t>) a </a:t>
            </a:r>
            <a:r>
              <a:rPr lang="es-ES" sz="2200" b="1" dirty="0">
                <a:latin typeface="+mn-lt"/>
              </a:rPr>
              <a:t>cero</a:t>
            </a:r>
            <a:r>
              <a:rPr lang="es-ES" sz="2200" dirty="0">
                <a:latin typeface="+mn-lt"/>
              </a:rPr>
              <a:t> (0).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pSp>
        <p:nvGrpSpPr>
          <p:cNvPr id="1254" name="Google Shape;1254;p72"/>
          <p:cNvGrpSpPr/>
          <p:nvPr/>
        </p:nvGrpSpPr>
        <p:grpSpPr>
          <a:xfrm>
            <a:off x="1290750" y="2964638"/>
            <a:ext cx="2134500" cy="956400"/>
            <a:chOff x="4579775" y="2908050"/>
            <a:chExt cx="2134500" cy="956400"/>
          </a:xfrm>
        </p:grpSpPr>
        <p:cxnSp>
          <p:nvCxnSpPr>
            <p:cNvPr id="1255" name="Google Shape;1255;p72"/>
            <p:cNvCxnSpPr/>
            <p:nvPr/>
          </p:nvCxnSpPr>
          <p:spPr>
            <a:xfrm>
              <a:off x="4579775" y="2908050"/>
              <a:ext cx="2134500" cy="956400"/>
            </a:xfrm>
            <a:prstGeom prst="bentConnector3">
              <a:avLst>
                <a:gd name="adj1" fmla="val 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56" name="Google Shape;1256;p72"/>
            <p:cNvSpPr/>
            <p:nvPr/>
          </p:nvSpPr>
          <p:spPr>
            <a:xfrm>
              <a:off x="4582750" y="3290025"/>
              <a:ext cx="501600" cy="571500"/>
            </a:xfrm>
            <a:prstGeom prst="rect">
              <a:avLst/>
            </a:prstGeom>
            <a:solidFill>
              <a:srgbClr val="CFE2F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P1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257" name="Google Shape;1257;p72"/>
            <p:cNvSpPr/>
            <p:nvPr/>
          </p:nvSpPr>
          <p:spPr>
            <a:xfrm>
              <a:off x="5084225" y="3290025"/>
              <a:ext cx="501600" cy="5715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P2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258" name="Google Shape;1258;p72"/>
            <p:cNvSpPr txBox="1"/>
            <p:nvPr/>
          </p:nvSpPr>
          <p:spPr>
            <a:xfrm>
              <a:off x="5701600" y="3336675"/>
              <a:ext cx="501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pic>
        <p:nvPicPr>
          <p:cNvPr id="1259" name="Google Shape;1259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0750" y="4051025"/>
            <a:ext cx="496850" cy="4968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60" name="Google Shape;1260;p72"/>
          <p:cNvGrpSpPr/>
          <p:nvPr/>
        </p:nvGrpSpPr>
        <p:grpSpPr>
          <a:xfrm>
            <a:off x="4941738" y="2964638"/>
            <a:ext cx="2134500" cy="956400"/>
            <a:chOff x="4579775" y="2908050"/>
            <a:chExt cx="2134500" cy="956400"/>
          </a:xfrm>
        </p:grpSpPr>
        <p:cxnSp>
          <p:nvCxnSpPr>
            <p:cNvPr id="1261" name="Google Shape;1261;p72"/>
            <p:cNvCxnSpPr/>
            <p:nvPr/>
          </p:nvCxnSpPr>
          <p:spPr>
            <a:xfrm>
              <a:off x="4579775" y="2908050"/>
              <a:ext cx="2134500" cy="956400"/>
            </a:xfrm>
            <a:prstGeom prst="bentConnector3">
              <a:avLst>
                <a:gd name="adj1" fmla="val 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62" name="Google Shape;1262;p72"/>
            <p:cNvSpPr/>
            <p:nvPr/>
          </p:nvSpPr>
          <p:spPr>
            <a:xfrm>
              <a:off x="4582750" y="3290025"/>
              <a:ext cx="501600" cy="571500"/>
            </a:xfrm>
            <a:prstGeom prst="rect">
              <a:avLst/>
            </a:prstGeom>
            <a:solidFill>
              <a:srgbClr val="CFE2F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P1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263" name="Google Shape;1263;p72"/>
            <p:cNvSpPr/>
            <p:nvPr/>
          </p:nvSpPr>
          <p:spPr>
            <a:xfrm>
              <a:off x="5084225" y="3290025"/>
              <a:ext cx="501600" cy="5715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P2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264" name="Google Shape;1264;p72"/>
            <p:cNvSpPr txBox="1"/>
            <p:nvPr/>
          </p:nvSpPr>
          <p:spPr>
            <a:xfrm>
              <a:off x="5701600" y="3336675"/>
              <a:ext cx="501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1265" name="Google Shape;1265;p72"/>
          <p:cNvSpPr/>
          <p:nvPr/>
        </p:nvSpPr>
        <p:spPr>
          <a:xfrm>
            <a:off x="5256638" y="2943853"/>
            <a:ext cx="384900" cy="410150"/>
          </a:xfrm>
          <a:custGeom>
            <a:avLst/>
            <a:gdLst/>
            <a:ahLst/>
            <a:cxnLst/>
            <a:rect l="l" t="t" r="r" b="b"/>
            <a:pathLst>
              <a:path w="15396" h="16406" extrusionOk="0">
                <a:moveTo>
                  <a:pt x="0" y="16406"/>
                </a:moveTo>
                <a:cubicBezTo>
                  <a:pt x="233" y="15007"/>
                  <a:pt x="778" y="10497"/>
                  <a:pt x="1400" y="8009"/>
                </a:cubicBezTo>
                <a:cubicBezTo>
                  <a:pt x="2022" y="5521"/>
                  <a:pt x="2333" y="2721"/>
                  <a:pt x="3732" y="1477"/>
                </a:cubicBezTo>
                <a:cubicBezTo>
                  <a:pt x="5132" y="233"/>
                  <a:pt x="8164" y="-389"/>
                  <a:pt x="9797" y="544"/>
                </a:cubicBezTo>
                <a:cubicBezTo>
                  <a:pt x="11430" y="1477"/>
                  <a:pt x="12596" y="4743"/>
                  <a:pt x="13529" y="7076"/>
                </a:cubicBezTo>
                <a:cubicBezTo>
                  <a:pt x="14462" y="9409"/>
                  <a:pt x="15085" y="13296"/>
                  <a:pt x="15396" y="14540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266" name="Google Shape;1266;p72"/>
          <p:cNvSpPr txBox="1"/>
          <p:nvPr/>
        </p:nvSpPr>
        <p:spPr>
          <a:xfrm>
            <a:off x="4999988" y="2389763"/>
            <a:ext cx="8982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Context switch</a:t>
            </a:r>
            <a:endParaRPr sz="12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267" name="Google Shape;1267;p72"/>
          <p:cNvGrpSpPr/>
          <p:nvPr/>
        </p:nvGrpSpPr>
        <p:grpSpPr>
          <a:xfrm>
            <a:off x="8405689" y="2964650"/>
            <a:ext cx="2134500" cy="956400"/>
            <a:chOff x="4579775" y="2908050"/>
            <a:chExt cx="2134500" cy="956400"/>
          </a:xfrm>
        </p:grpSpPr>
        <p:cxnSp>
          <p:nvCxnSpPr>
            <p:cNvPr id="1268" name="Google Shape;1268;p72"/>
            <p:cNvCxnSpPr/>
            <p:nvPr/>
          </p:nvCxnSpPr>
          <p:spPr>
            <a:xfrm>
              <a:off x="4579775" y="2908050"/>
              <a:ext cx="2134500" cy="956400"/>
            </a:xfrm>
            <a:prstGeom prst="bentConnector3">
              <a:avLst>
                <a:gd name="adj1" fmla="val 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69" name="Google Shape;1269;p72"/>
            <p:cNvSpPr/>
            <p:nvPr/>
          </p:nvSpPr>
          <p:spPr>
            <a:xfrm>
              <a:off x="4582750" y="3290025"/>
              <a:ext cx="501600" cy="571500"/>
            </a:xfrm>
            <a:prstGeom prst="rect">
              <a:avLst/>
            </a:prstGeom>
            <a:solidFill>
              <a:srgbClr val="CFE2F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P1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270" name="Google Shape;1270;p72"/>
            <p:cNvSpPr/>
            <p:nvPr/>
          </p:nvSpPr>
          <p:spPr>
            <a:xfrm>
              <a:off x="5084225" y="3290025"/>
              <a:ext cx="501600" cy="5715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P2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271" name="Google Shape;1271;p72"/>
            <p:cNvSpPr txBox="1"/>
            <p:nvPr/>
          </p:nvSpPr>
          <p:spPr>
            <a:xfrm>
              <a:off x="5701600" y="3336675"/>
              <a:ext cx="501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pic>
        <p:nvPicPr>
          <p:cNvPr id="1272" name="Google Shape;1272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18889" y="4051025"/>
            <a:ext cx="496850" cy="4968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73" name="Google Shape;1273;p72"/>
          <p:cNvGraphicFramePr/>
          <p:nvPr>
            <p:extLst>
              <p:ext uri="{D42A27DB-BD31-4B8C-83A1-F6EECF244321}">
                <p14:modId xmlns:p14="http://schemas.microsoft.com/office/powerpoint/2010/main" val="1807458455"/>
              </p:ext>
            </p:extLst>
          </p:nvPr>
        </p:nvGraphicFramePr>
        <p:xfrm>
          <a:off x="1151800" y="4794450"/>
          <a:ext cx="2496975" cy="18286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60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valid</a:t>
                      </a:r>
                      <a:endParaRPr sz="12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100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rwx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74" name="Google Shape;1274;p72"/>
          <p:cNvGraphicFramePr/>
          <p:nvPr>
            <p:extLst>
              <p:ext uri="{D42A27DB-BD31-4B8C-83A1-F6EECF244321}">
                <p14:modId xmlns:p14="http://schemas.microsoft.com/office/powerpoint/2010/main" val="1618217772"/>
              </p:ext>
            </p:extLst>
          </p:nvPr>
        </p:nvGraphicFramePr>
        <p:xfrm>
          <a:off x="4802800" y="4794450"/>
          <a:ext cx="2496975" cy="18286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60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valid</a:t>
                      </a:r>
                      <a:endParaRPr sz="12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100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2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rwx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2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170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2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rwx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2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75" name="Google Shape;1275;p72"/>
          <p:cNvGraphicFramePr/>
          <p:nvPr>
            <p:extLst>
              <p:ext uri="{D42A27DB-BD31-4B8C-83A1-F6EECF244321}">
                <p14:modId xmlns:p14="http://schemas.microsoft.com/office/powerpoint/2010/main" val="3229694981"/>
              </p:ext>
            </p:extLst>
          </p:nvPr>
        </p:nvGraphicFramePr>
        <p:xfrm>
          <a:off x="8266764" y="4794450"/>
          <a:ext cx="2496975" cy="18286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60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valid</a:t>
                      </a:r>
                      <a:endParaRPr sz="12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100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2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rwx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2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170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200">
                        <a:solidFill>
                          <a:srgbClr val="0B693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rwx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2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76" name="Google Shape;1276;p72"/>
          <p:cNvSpPr/>
          <p:nvPr/>
        </p:nvSpPr>
        <p:spPr>
          <a:xfrm>
            <a:off x="4054925" y="4167725"/>
            <a:ext cx="1259658" cy="837324"/>
          </a:xfrm>
          <a:prstGeom prst="irregularSeal1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Flush</a:t>
            </a:r>
            <a:endParaRPr sz="1400" b="1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Google Shape;1281;p73"/>
          <p:cNvSpPr txBox="1">
            <a:spLocks noGrp="1"/>
          </p:cNvSpPr>
          <p:nvPr>
            <p:ph type="title"/>
          </p:nvPr>
        </p:nvSpPr>
        <p:spPr>
          <a:xfrm>
            <a:off x="420914" y="96038"/>
            <a:ext cx="879973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TLB y Context switch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82" name="Google Shape;1282;p73"/>
          <p:cNvSpPr txBox="1">
            <a:spLocks noGrp="1"/>
          </p:cNvSpPr>
          <p:nvPr>
            <p:ph type="body" idx="1"/>
          </p:nvPr>
        </p:nvSpPr>
        <p:spPr>
          <a:xfrm>
            <a:off x="420914" y="928925"/>
            <a:ext cx="11681536" cy="3238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5"/>
                </a:solidFill>
                <a:latin typeface="+mn-lt"/>
              </a:rPr>
              <a:t>Solucionando el problema</a:t>
            </a:r>
            <a:endParaRPr sz="2800" b="1" dirty="0">
              <a:solidFill>
                <a:schemeClr val="accent5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70AD47"/>
                </a:solidFill>
                <a:latin typeface="+mn-lt"/>
              </a:rPr>
              <a:t>Solución 1 - Vaciado (vaciado) de la TLB - </a:t>
            </a:r>
            <a:r>
              <a:rPr lang="es-ES" sz="2400" b="1" dirty="0">
                <a:solidFill>
                  <a:srgbClr val="FF0000"/>
                </a:solidFill>
                <a:latin typeface="+mn-lt"/>
              </a:rPr>
              <a:t>Consecuencias del vaciado</a:t>
            </a:r>
            <a:endParaRPr sz="2400" b="1" dirty="0">
              <a:solidFill>
                <a:srgbClr val="FF0000"/>
              </a:solidFill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2200" dirty="0">
                <a:latin typeface="+mn-lt"/>
              </a:rPr>
              <a:t>Un proceso nunca encontrará accidentalmente traducciones incorrectas en la TLB.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2200" dirty="0">
                <a:latin typeface="+mn-lt"/>
              </a:rPr>
              <a:t>El </a:t>
            </a:r>
            <a:r>
              <a:rPr lang="es-ES" sz="2200" b="1" dirty="0" err="1">
                <a:solidFill>
                  <a:srgbClr val="FF0000"/>
                </a:solidFill>
                <a:latin typeface="+mn-lt"/>
              </a:rPr>
              <a:t>flushing</a:t>
            </a:r>
            <a:r>
              <a:rPr lang="es-ES" sz="2200" dirty="0">
                <a:latin typeface="+mn-lt"/>
              </a:rPr>
              <a:t> es costoso pues se pierden todas las traducciones recientemente cargadas a la TLB: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ctr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context switch [up] → TLB miss [up] → Costo [up]</a:t>
            </a:r>
            <a:endParaRPr sz="2200" b="1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7" name="Google Shape;1287;p74"/>
          <p:cNvSpPr txBox="1">
            <a:spLocks noGrp="1"/>
          </p:cNvSpPr>
          <p:nvPr>
            <p:ph type="title"/>
          </p:nvPr>
        </p:nvSpPr>
        <p:spPr>
          <a:xfrm>
            <a:off x="304801" y="96038"/>
            <a:ext cx="89158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TLB y Context switch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88" name="Google Shape;1288;p74"/>
          <p:cNvSpPr txBox="1">
            <a:spLocks noGrp="1"/>
          </p:cNvSpPr>
          <p:nvPr>
            <p:ph type="body" idx="1"/>
          </p:nvPr>
        </p:nvSpPr>
        <p:spPr>
          <a:xfrm>
            <a:off x="304801" y="928925"/>
            <a:ext cx="11797649" cy="316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5"/>
                </a:solidFill>
                <a:latin typeface="+mn-lt"/>
              </a:rPr>
              <a:t>Solucionando el problema</a:t>
            </a:r>
            <a:endParaRPr sz="2800" b="1" dirty="0">
              <a:solidFill>
                <a:schemeClr val="accent5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70AD47"/>
                </a:solidFill>
                <a:latin typeface="+mn-lt"/>
              </a:rPr>
              <a:t>Solución 2 - Proveer un campo Address Space Identifier (ASID) en el TLB</a:t>
            </a:r>
            <a:endParaRPr sz="2400" b="1" dirty="0">
              <a:solidFill>
                <a:srgbClr val="70AD47"/>
              </a:solidFill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>
                <a:latin typeface="+mn-lt"/>
              </a:rPr>
              <a:t>ASID (Address Space Identifier)</a:t>
            </a:r>
            <a:r>
              <a:rPr lang="es-ES" sz="2200" dirty="0">
                <a:latin typeface="+mn-lt"/>
              </a:rPr>
              <a:t>: Campo de 8 bits en la TLB.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Permite diferenciar un proceso de otro en la TLB.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Gracias a este campo, varios procesos pueden compartir la TLB (manteniendo sus instrucciones) sin ninguna confusión.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Soluciona el problema de </a:t>
            </a:r>
            <a:r>
              <a:rPr lang="es-ES" sz="2200" b="1" dirty="0" err="1">
                <a:latin typeface="+mn-lt"/>
              </a:rPr>
              <a:t>overhead</a:t>
            </a:r>
            <a:r>
              <a:rPr lang="es-ES" sz="2200" dirty="0">
                <a:latin typeface="+mn-lt"/>
              </a:rPr>
              <a:t> debido a la técnica de vaciado (</a:t>
            </a:r>
            <a:r>
              <a:rPr lang="es-ES" sz="2200" b="1" dirty="0" err="1">
                <a:latin typeface="+mn-lt"/>
              </a:rPr>
              <a:t>flushing</a:t>
            </a:r>
            <a:r>
              <a:rPr lang="es-ES" sz="2200" dirty="0">
                <a:latin typeface="+mn-lt"/>
              </a:rPr>
              <a:t>) de la TLB.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1289" name="Google Shape;1289;p74"/>
          <p:cNvGraphicFramePr/>
          <p:nvPr>
            <p:extLst>
              <p:ext uri="{D42A27DB-BD31-4B8C-83A1-F6EECF244321}">
                <p14:modId xmlns:p14="http://schemas.microsoft.com/office/powerpoint/2010/main" val="2971856239"/>
              </p:ext>
            </p:extLst>
          </p:nvPr>
        </p:nvGraphicFramePr>
        <p:xfrm>
          <a:off x="4650321" y="4097825"/>
          <a:ext cx="3941425" cy="22858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51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1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5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1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51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54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valid</a:t>
                      </a:r>
                      <a:endParaRPr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</a:t>
                      </a:r>
                      <a:endParaRPr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FF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ASID</a:t>
                      </a:r>
                      <a:endParaRPr b="1">
                        <a:solidFill>
                          <a:srgbClr val="FFFF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5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05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05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05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Google Shape;1294;p75"/>
          <p:cNvSpPr txBox="1">
            <a:spLocks noGrp="1"/>
          </p:cNvSpPr>
          <p:nvPr>
            <p:ph type="title"/>
          </p:nvPr>
        </p:nvSpPr>
        <p:spPr>
          <a:xfrm>
            <a:off x="362857" y="96038"/>
            <a:ext cx="8857793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TLB y Context switch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95" name="Google Shape;1295;p75"/>
          <p:cNvSpPr txBox="1">
            <a:spLocks noGrp="1"/>
          </p:cNvSpPr>
          <p:nvPr>
            <p:ph type="body" idx="1"/>
          </p:nvPr>
        </p:nvSpPr>
        <p:spPr>
          <a:xfrm>
            <a:off x="522515" y="928925"/>
            <a:ext cx="11579936" cy="1139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5"/>
                </a:solidFill>
                <a:latin typeface="+mn-lt"/>
              </a:rPr>
              <a:t>Solucionando el problema</a:t>
            </a:r>
            <a:endParaRPr sz="2800" b="1" dirty="0">
              <a:solidFill>
                <a:schemeClr val="accent5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70AD47"/>
                </a:solidFill>
                <a:latin typeface="+mn-lt"/>
              </a:rPr>
              <a:t>Proveer un campo Address Space Identifier (ASID) en el TLB - Ejemplo</a:t>
            </a:r>
            <a:endParaRPr sz="2000" dirty="0">
              <a:solidFill>
                <a:srgbClr val="FF00FF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1296" name="Google Shape;1296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1575" y="2173250"/>
            <a:ext cx="7727101" cy="4252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301;p76"/>
          <p:cNvSpPr txBox="1">
            <a:spLocks noGrp="1"/>
          </p:cNvSpPr>
          <p:nvPr>
            <p:ph type="title"/>
          </p:nvPr>
        </p:nvSpPr>
        <p:spPr>
          <a:xfrm>
            <a:off x="478971" y="96038"/>
            <a:ext cx="8741679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TLB y Context switch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02" name="Google Shape;1302;p76"/>
          <p:cNvSpPr txBox="1">
            <a:spLocks noGrp="1"/>
          </p:cNvSpPr>
          <p:nvPr>
            <p:ph type="body" idx="1"/>
          </p:nvPr>
        </p:nvSpPr>
        <p:spPr>
          <a:xfrm>
            <a:off x="478971" y="928925"/>
            <a:ext cx="11623479" cy="1139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5"/>
                </a:solidFill>
                <a:latin typeface="+mn-lt"/>
              </a:rPr>
              <a:t>Solucionando el problema</a:t>
            </a:r>
            <a:endParaRPr sz="2800" b="1" dirty="0">
              <a:solidFill>
                <a:schemeClr val="accent5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70AD47"/>
                </a:solidFill>
                <a:latin typeface="+mn-lt"/>
              </a:rPr>
              <a:t>Proveer un campo Address Space Identifier (ASID) en el TLB - Ejemplo</a:t>
            </a:r>
            <a:endParaRPr sz="2000" dirty="0">
              <a:solidFill>
                <a:srgbClr val="FF00FF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1303" name="Google Shape;1303;p76"/>
          <p:cNvGraphicFramePr/>
          <p:nvPr/>
        </p:nvGraphicFramePr>
        <p:xfrm>
          <a:off x="1129275" y="4351250"/>
          <a:ext cx="3920875" cy="21334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84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4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4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4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valid</a:t>
                      </a:r>
                      <a:endParaRPr sz="16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ASID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rwx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rwx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04" name="Google Shape;1304;p76"/>
          <p:cNvSpPr/>
          <p:nvPr/>
        </p:nvSpPr>
        <p:spPr>
          <a:xfrm>
            <a:off x="1742500" y="2124950"/>
            <a:ext cx="606600" cy="653100"/>
          </a:xfrm>
          <a:prstGeom prst="ellipse">
            <a:avLst/>
          </a:prstGeom>
          <a:solidFill>
            <a:srgbClr val="CFE2F3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latin typeface="Consolas"/>
                <a:ea typeface="Consolas"/>
                <a:cs typeface="Consolas"/>
                <a:sym typeface="Consolas"/>
              </a:rPr>
              <a:t>P1</a:t>
            </a:r>
            <a:endParaRPr sz="17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5" name="Google Shape;1305;p76"/>
          <p:cNvSpPr/>
          <p:nvPr/>
        </p:nvSpPr>
        <p:spPr>
          <a:xfrm>
            <a:off x="3748675" y="2181588"/>
            <a:ext cx="606600" cy="653100"/>
          </a:xfrm>
          <a:prstGeom prst="ellipse">
            <a:avLst/>
          </a:prstGeom>
          <a:solidFill>
            <a:srgbClr val="F4CCCC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latin typeface="Consolas"/>
                <a:ea typeface="Consolas"/>
                <a:cs typeface="Consolas"/>
                <a:sym typeface="Consolas"/>
              </a:rPr>
              <a:t>P2</a:t>
            </a:r>
            <a:endParaRPr sz="1700" b="1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306" name="Google Shape;1306;p76"/>
          <p:cNvGraphicFramePr/>
          <p:nvPr/>
        </p:nvGraphicFramePr>
        <p:xfrm>
          <a:off x="1129275" y="2834675"/>
          <a:ext cx="1833050" cy="137151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916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6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00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PT P1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307" name="Google Shape;1307;p76"/>
          <p:cNvGraphicFramePr/>
          <p:nvPr/>
        </p:nvGraphicFramePr>
        <p:xfrm>
          <a:off x="3135450" y="2834688"/>
          <a:ext cx="1833050" cy="137151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916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6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00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PT P2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08" name="Google Shape;1308;p76"/>
          <p:cNvSpPr txBox="1"/>
          <p:nvPr/>
        </p:nvSpPr>
        <p:spPr>
          <a:xfrm>
            <a:off x="5512825" y="2938238"/>
            <a:ext cx="6379800" cy="864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latin typeface="+mj-lt"/>
                <a:ea typeface="Roboto"/>
                <a:cs typeface="Roboto"/>
                <a:sym typeface="Roboto"/>
              </a:rPr>
              <a:t>Es común que procesos distintos compartan segmentos de código (</a:t>
            </a:r>
            <a:r>
              <a:rPr lang="es-ES" sz="2000" dirty="0" err="1">
                <a:solidFill>
                  <a:schemeClr val="dk1"/>
                </a:solidFill>
                <a:latin typeface="+mj-lt"/>
                <a:ea typeface="Roboto"/>
                <a:cs typeface="Roboto"/>
                <a:sym typeface="Roboto"/>
              </a:rPr>
              <a:t>binaries</a:t>
            </a:r>
            <a:r>
              <a:rPr lang="es-ES" sz="2000" dirty="0">
                <a:solidFill>
                  <a:schemeClr val="dk1"/>
                </a:solidFill>
                <a:latin typeface="+mj-lt"/>
                <a:ea typeface="Roboto"/>
                <a:cs typeface="Roboto"/>
                <a:sym typeface="Roboto"/>
              </a:rPr>
              <a:t>, </a:t>
            </a:r>
            <a:r>
              <a:rPr lang="es-ES" sz="2000" dirty="0" err="1">
                <a:solidFill>
                  <a:schemeClr val="dk1"/>
                </a:solidFill>
                <a:latin typeface="+mj-lt"/>
                <a:ea typeface="Roboto"/>
                <a:cs typeface="Roboto"/>
                <a:sym typeface="Roboto"/>
              </a:rPr>
              <a:t>shared</a:t>
            </a:r>
            <a:r>
              <a:rPr lang="es-ES" sz="2000" dirty="0">
                <a:solidFill>
                  <a:schemeClr val="dk1"/>
                </a:solidFill>
                <a:latin typeface="+mj-lt"/>
                <a:ea typeface="Roboto"/>
                <a:cs typeface="Roboto"/>
                <a:sym typeface="Roboto"/>
              </a:rPr>
              <a:t> </a:t>
            </a:r>
            <a:r>
              <a:rPr lang="es-ES" sz="2000" dirty="0" err="1">
                <a:solidFill>
                  <a:schemeClr val="dk1"/>
                </a:solidFill>
                <a:latin typeface="+mj-lt"/>
                <a:ea typeface="Roboto"/>
                <a:cs typeface="Roboto"/>
                <a:sym typeface="Roboto"/>
              </a:rPr>
              <a:t>libraries</a:t>
            </a:r>
            <a:r>
              <a:rPr lang="es-ES" sz="2000" dirty="0">
                <a:solidFill>
                  <a:schemeClr val="dk1"/>
                </a:solidFill>
                <a:latin typeface="+mj-lt"/>
                <a:ea typeface="Roboto"/>
                <a:cs typeface="Roboto"/>
                <a:sym typeface="Roboto"/>
              </a:rPr>
              <a:t>).</a:t>
            </a:r>
            <a:endParaRPr sz="2000" dirty="0">
              <a:solidFill>
                <a:schemeClr val="dk1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  <p:sp>
        <p:nvSpPr>
          <p:cNvPr id="1309" name="Google Shape;1309;p76"/>
          <p:cNvSpPr/>
          <p:nvPr/>
        </p:nvSpPr>
        <p:spPr>
          <a:xfrm>
            <a:off x="5833525" y="5494165"/>
            <a:ext cx="5738400" cy="800400"/>
          </a:xfrm>
          <a:prstGeom prst="roundRect">
            <a:avLst>
              <a:gd name="adj" fmla="val 21858"/>
            </a:avLst>
          </a:prstGeom>
          <a:solidFill>
            <a:srgbClr val="FFFF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ea typeface="Roboto"/>
                <a:cs typeface="Roboto"/>
                <a:sym typeface="Roboto"/>
              </a:rPr>
              <a:t>Compartir páginas es </a:t>
            </a:r>
            <a:r>
              <a:rPr lang="es-ES" sz="2000" b="1">
                <a:solidFill>
                  <a:srgbClr val="FF0000"/>
                </a:solidFill>
                <a:ea typeface="Roboto"/>
                <a:cs typeface="Roboto"/>
                <a:sym typeface="Roboto"/>
              </a:rPr>
              <a:t>útil</a:t>
            </a:r>
            <a:r>
              <a:rPr lang="es-ES" sz="2000">
                <a:ea typeface="Roboto"/>
                <a:cs typeface="Roboto"/>
                <a:sym typeface="Roboto"/>
              </a:rPr>
              <a:t> porque reduce el número de frames en uso.</a:t>
            </a:r>
            <a:endParaRPr sz="2000">
              <a:ea typeface="Roboto"/>
              <a:cs typeface="Roboto"/>
              <a:sym typeface="Roboto"/>
            </a:endParaRPr>
          </a:p>
        </p:txBody>
      </p:sp>
      <p:sp>
        <p:nvSpPr>
          <p:cNvPr id="1310" name="Google Shape;1310;p76"/>
          <p:cNvSpPr txBox="1"/>
          <p:nvPr/>
        </p:nvSpPr>
        <p:spPr>
          <a:xfrm>
            <a:off x="5704114" y="4351250"/>
            <a:ext cx="6013536" cy="864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rgbClr val="C00000"/>
                </a:solidFill>
                <a:ea typeface="Roboto"/>
                <a:cs typeface="Roboto"/>
                <a:sym typeface="Roboto"/>
              </a:rPr>
              <a:t>¿Qué pasa cuando dos procesos apuntan a un mismo </a:t>
            </a:r>
            <a:r>
              <a:rPr lang="es-ES" sz="2000" b="1" dirty="0" err="1">
                <a:solidFill>
                  <a:srgbClr val="C00000"/>
                </a:solidFill>
                <a:ea typeface="Roboto"/>
                <a:cs typeface="Roboto"/>
                <a:sym typeface="Roboto"/>
              </a:rPr>
              <a:t>frame</a:t>
            </a:r>
            <a:r>
              <a:rPr lang="es-ES" sz="2000" b="1" dirty="0">
                <a:solidFill>
                  <a:srgbClr val="C00000"/>
                </a:solidFill>
                <a:ea typeface="Roboto"/>
                <a:cs typeface="Roboto"/>
                <a:sym typeface="Roboto"/>
              </a:rPr>
              <a:t> (PFN)?</a:t>
            </a:r>
            <a:endParaRPr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Google Shape;1321;p78"/>
          <p:cNvSpPr txBox="1">
            <a:spLocks noGrp="1"/>
          </p:cNvSpPr>
          <p:nvPr>
            <p:ph type="title"/>
          </p:nvPr>
        </p:nvSpPr>
        <p:spPr>
          <a:xfrm>
            <a:off x="377371" y="96038"/>
            <a:ext cx="8843279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Políticas de reemplazo</a:t>
            </a:r>
            <a:endParaRPr sz="3200" b="1" dirty="0">
              <a:solidFill>
                <a:schemeClr val="tx1"/>
              </a:solidFill>
              <a:latin typeface="+mj-lt"/>
              <a:ea typeface="Roboto Slab"/>
              <a:cs typeface="Roboto Slab"/>
              <a:sym typeface="Roboto Slab"/>
            </a:endParaRPr>
          </a:p>
        </p:txBody>
      </p:sp>
      <p:sp>
        <p:nvSpPr>
          <p:cNvPr id="1322" name="Google Shape;1322;p78"/>
          <p:cNvSpPr txBox="1"/>
          <p:nvPr/>
        </p:nvSpPr>
        <p:spPr>
          <a:xfrm>
            <a:off x="537029" y="843525"/>
            <a:ext cx="11470921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Una </a:t>
            </a:r>
            <a:r>
              <a:rPr lang="es-ES" sz="2200" b="1" dirty="0">
                <a:solidFill>
                  <a:schemeClr val="accent2"/>
                </a:solidFill>
                <a:ea typeface="Roboto"/>
                <a:cs typeface="Roboto"/>
                <a:sym typeface="Roboto"/>
              </a:rPr>
              <a:t>política de reemplazo</a:t>
            </a: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en este caso, consiste en el procedimiento llevado a cabo para reemplazar una entrada antigua en la TLB (cache) por una nueva.</a:t>
            </a:r>
            <a:endParaRPr sz="22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graphicFrame>
        <p:nvGraphicFramePr>
          <p:cNvPr id="1323" name="Google Shape;1323;p78"/>
          <p:cNvGraphicFramePr/>
          <p:nvPr/>
        </p:nvGraphicFramePr>
        <p:xfrm>
          <a:off x="3346050" y="2933513"/>
          <a:ext cx="2103300" cy="320137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05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8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8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24" name="Google Shape;1324;p78"/>
          <p:cNvSpPr txBox="1"/>
          <p:nvPr/>
        </p:nvSpPr>
        <p:spPr>
          <a:xfrm>
            <a:off x="4146450" y="5945463"/>
            <a:ext cx="57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TLB</a:t>
            </a:r>
            <a:endParaRPr sz="18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p78"/>
          <p:cNvSpPr/>
          <p:nvPr/>
        </p:nvSpPr>
        <p:spPr>
          <a:xfrm>
            <a:off x="2539675" y="3444350"/>
            <a:ext cx="361500" cy="349200"/>
          </a:xfrm>
          <a:prstGeom prst="ellipse">
            <a:avLst/>
          </a:prstGeom>
          <a:solidFill>
            <a:srgbClr val="EAD1D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Consolas"/>
                <a:ea typeface="Consolas"/>
                <a:cs typeface="Consolas"/>
                <a:sym typeface="Consolas"/>
              </a:rPr>
              <a:t>=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p78"/>
          <p:cNvSpPr/>
          <p:nvPr/>
        </p:nvSpPr>
        <p:spPr>
          <a:xfrm>
            <a:off x="2551325" y="3842813"/>
            <a:ext cx="361500" cy="349200"/>
          </a:xfrm>
          <a:prstGeom prst="ellipse">
            <a:avLst/>
          </a:prstGeom>
          <a:solidFill>
            <a:srgbClr val="EAD1D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Consolas"/>
                <a:ea typeface="Consolas"/>
                <a:cs typeface="Consolas"/>
                <a:sym typeface="Consolas"/>
              </a:rPr>
              <a:t>=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p78"/>
          <p:cNvSpPr/>
          <p:nvPr/>
        </p:nvSpPr>
        <p:spPr>
          <a:xfrm>
            <a:off x="2539675" y="4261225"/>
            <a:ext cx="361500" cy="349200"/>
          </a:xfrm>
          <a:prstGeom prst="ellipse">
            <a:avLst/>
          </a:prstGeom>
          <a:solidFill>
            <a:srgbClr val="EAD1D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Consolas"/>
                <a:ea typeface="Consolas"/>
                <a:cs typeface="Consolas"/>
                <a:sym typeface="Consolas"/>
              </a:rPr>
              <a:t>=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p78"/>
          <p:cNvSpPr/>
          <p:nvPr/>
        </p:nvSpPr>
        <p:spPr>
          <a:xfrm>
            <a:off x="2552125" y="4684088"/>
            <a:ext cx="361500" cy="349200"/>
          </a:xfrm>
          <a:prstGeom prst="ellipse">
            <a:avLst/>
          </a:prstGeom>
          <a:solidFill>
            <a:srgbClr val="EAD1D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Consolas"/>
                <a:ea typeface="Consolas"/>
                <a:cs typeface="Consolas"/>
                <a:sym typeface="Consolas"/>
              </a:rPr>
              <a:t>=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p78"/>
          <p:cNvSpPr/>
          <p:nvPr/>
        </p:nvSpPr>
        <p:spPr>
          <a:xfrm>
            <a:off x="2552125" y="5098200"/>
            <a:ext cx="361500" cy="349200"/>
          </a:xfrm>
          <a:prstGeom prst="ellipse">
            <a:avLst/>
          </a:prstGeom>
          <a:solidFill>
            <a:srgbClr val="EAD1D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Consolas"/>
                <a:ea typeface="Consolas"/>
                <a:cs typeface="Consolas"/>
                <a:sym typeface="Consolas"/>
              </a:rPr>
              <a:t>=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p78"/>
          <p:cNvSpPr/>
          <p:nvPr/>
        </p:nvSpPr>
        <p:spPr>
          <a:xfrm>
            <a:off x="2546300" y="5558150"/>
            <a:ext cx="361500" cy="349200"/>
          </a:xfrm>
          <a:prstGeom prst="ellipse">
            <a:avLst/>
          </a:prstGeom>
          <a:solidFill>
            <a:srgbClr val="EAD1D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Consolas"/>
                <a:ea typeface="Consolas"/>
                <a:cs typeface="Consolas"/>
                <a:sym typeface="Consolas"/>
              </a:rPr>
              <a:t>=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1" name="Google Shape;1331;p78"/>
          <p:cNvCxnSpPr>
            <a:stCxn id="1325" idx="6"/>
          </p:cNvCxnSpPr>
          <p:nvPr/>
        </p:nvCxnSpPr>
        <p:spPr>
          <a:xfrm>
            <a:off x="2901175" y="3618950"/>
            <a:ext cx="427800" cy="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2" name="Google Shape;1332;p78"/>
          <p:cNvCxnSpPr/>
          <p:nvPr/>
        </p:nvCxnSpPr>
        <p:spPr>
          <a:xfrm rot="10800000" flipH="1">
            <a:off x="2920675" y="4011650"/>
            <a:ext cx="420600" cy="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3" name="Google Shape;1333;p78"/>
          <p:cNvCxnSpPr/>
          <p:nvPr/>
        </p:nvCxnSpPr>
        <p:spPr>
          <a:xfrm>
            <a:off x="2908550" y="4436925"/>
            <a:ext cx="427800" cy="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4" name="Google Shape;1334;p78"/>
          <p:cNvCxnSpPr/>
          <p:nvPr/>
        </p:nvCxnSpPr>
        <p:spPr>
          <a:xfrm>
            <a:off x="2915150" y="4863400"/>
            <a:ext cx="427800" cy="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5" name="Google Shape;1335;p78"/>
          <p:cNvCxnSpPr/>
          <p:nvPr/>
        </p:nvCxnSpPr>
        <p:spPr>
          <a:xfrm>
            <a:off x="2901175" y="5283525"/>
            <a:ext cx="427800" cy="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6" name="Google Shape;1336;p78"/>
          <p:cNvCxnSpPr/>
          <p:nvPr/>
        </p:nvCxnSpPr>
        <p:spPr>
          <a:xfrm>
            <a:off x="2915150" y="5744450"/>
            <a:ext cx="427800" cy="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7" name="Google Shape;1337;p78"/>
          <p:cNvCxnSpPr/>
          <p:nvPr/>
        </p:nvCxnSpPr>
        <p:spPr>
          <a:xfrm>
            <a:off x="5797550" y="4192025"/>
            <a:ext cx="216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38" name="Google Shape;1338;p78"/>
          <p:cNvSpPr txBox="1"/>
          <p:nvPr/>
        </p:nvSpPr>
        <p:spPr>
          <a:xfrm>
            <a:off x="6350850" y="3631075"/>
            <a:ext cx="127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TLB Miss</a:t>
            </a:r>
            <a:endParaRPr sz="1800" b="1">
              <a:solidFill>
                <a:srgbClr val="FF0000"/>
              </a:solidFill>
            </a:endParaRPr>
          </a:p>
        </p:txBody>
      </p:sp>
      <p:pic>
        <p:nvPicPr>
          <p:cNvPr id="1339" name="Google Shape;1339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94225" y="3673495"/>
            <a:ext cx="361500" cy="3768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40" name="Google Shape;1340;p78"/>
          <p:cNvCxnSpPr/>
          <p:nvPr/>
        </p:nvCxnSpPr>
        <p:spPr>
          <a:xfrm>
            <a:off x="2119800" y="3619900"/>
            <a:ext cx="4200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41" name="Google Shape;1341;p78"/>
          <p:cNvCxnSpPr/>
          <p:nvPr/>
        </p:nvCxnSpPr>
        <p:spPr>
          <a:xfrm>
            <a:off x="2119800" y="4016225"/>
            <a:ext cx="4200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42" name="Google Shape;1342;p78"/>
          <p:cNvCxnSpPr/>
          <p:nvPr/>
        </p:nvCxnSpPr>
        <p:spPr>
          <a:xfrm>
            <a:off x="2126400" y="4442700"/>
            <a:ext cx="4200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43" name="Google Shape;1343;p78"/>
          <p:cNvCxnSpPr/>
          <p:nvPr/>
        </p:nvCxnSpPr>
        <p:spPr>
          <a:xfrm>
            <a:off x="2119800" y="4853025"/>
            <a:ext cx="4200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44" name="Google Shape;1344;p78"/>
          <p:cNvCxnSpPr/>
          <p:nvPr/>
        </p:nvCxnSpPr>
        <p:spPr>
          <a:xfrm>
            <a:off x="2126400" y="5263350"/>
            <a:ext cx="4200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45" name="Google Shape;1345;p78"/>
          <p:cNvCxnSpPr/>
          <p:nvPr/>
        </p:nvCxnSpPr>
        <p:spPr>
          <a:xfrm>
            <a:off x="2126400" y="5731550"/>
            <a:ext cx="4200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46" name="Google Shape;1346;p78"/>
          <p:cNvCxnSpPr/>
          <p:nvPr/>
        </p:nvCxnSpPr>
        <p:spPr>
          <a:xfrm rot="10800000">
            <a:off x="2119725" y="3161300"/>
            <a:ext cx="23400" cy="2571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347" name="Google Shape;1347;p78"/>
          <p:cNvGraphicFramePr/>
          <p:nvPr/>
        </p:nvGraphicFramePr>
        <p:xfrm>
          <a:off x="1743875" y="1801338"/>
          <a:ext cx="2103300" cy="45717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05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8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8" name="Google Shape;1348;p78"/>
          <p:cNvGraphicFramePr/>
          <p:nvPr/>
        </p:nvGraphicFramePr>
        <p:xfrm>
          <a:off x="1778850" y="2648013"/>
          <a:ext cx="705150" cy="45717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05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349" name="Google Shape;1349;p78"/>
          <p:cNvCxnSpPr/>
          <p:nvPr/>
        </p:nvCxnSpPr>
        <p:spPr>
          <a:xfrm flipH="1">
            <a:off x="2154800" y="2244725"/>
            <a:ext cx="4200" cy="391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50" name="Google Shape;1350;p78"/>
          <p:cNvSpPr txBox="1"/>
          <p:nvPr/>
        </p:nvSpPr>
        <p:spPr>
          <a:xfrm>
            <a:off x="1172375" y="1783300"/>
            <a:ext cx="57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351" name="Google Shape;1351;p78"/>
          <p:cNvGraphicFramePr/>
          <p:nvPr/>
        </p:nvGraphicFramePr>
        <p:xfrm>
          <a:off x="8964063" y="3056532"/>
          <a:ext cx="2336425" cy="298683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86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other</a:t>
                      </a: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bits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other</a:t>
                      </a: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bits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 err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other</a:t>
                      </a: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bits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 err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other</a:t>
                      </a: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bits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other</a:t>
                      </a: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bits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 err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other</a:t>
                      </a: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bits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 err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other</a:t>
                      </a: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bits</a:t>
                      </a:r>
                      <a:endParaRPr sz="16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52" name="Google Shape;1352;p78"/>
          <p:cNvSpPr/>
          <p:nvPr/>
        </p:nvSpPr>
        <p:spPr>
          <a:xfrm>
            <a:off x="9137625" y="2613263"/>
            <a:ext cx="1989300" cy="4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353" name="Google Shape;1353;p78"/>
          <p:cNvGraphicFramePr/>
          <p:nvPr/>
        </p:nvGraphicFramePr>
        <p:xfrm>
          <a:off x="7182900" y="4788913"/>
          <a:ext cx="705150" cy="45717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705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5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4" name="Google Shape;1354;p78"/>
          <p:cNvGraphicFramePr/>
          <p:nvPr/>
        </p:nvGraphicFramePr>
        <p:xfrm>
          <a:off x="5817888" y="6265833"/>
          <a:ext cx="2336425" cy="45717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86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 err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other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bits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55" name="Google Shape;1355;p78"/>
          <p:cNvSpPr/>
          <p:nvPr/>
        </p:nvSpPr>
        <p:spPr>
          <a:xfrm>
            <a:off x="8083800" y="4909175"/>
            <a:ext cx="361500" cy="1851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6" name="Google Shape;1356;p78"/>
          <p:cNvGrpSpPr/>
          <p:nvPr/>
        </p:nvGrpSpPr>
        <p:grpSpPr>
          <a:xfrm>
            <a:off x="4435550" y="4498975"/>
            <a:ext cx="6924600" cy="2286000"/>
            <a:chOff x="4435550" y="4346575"/>
            <a:chExt cx="6924600" cy="2286000"/>
          </a:xfrm>
        </p:grpSpPr>
        <p:cxnSp>
          <p:nvCxnSpPr>
            <p:cNvPr id="1357" name="Google Shape;1357;p78"/>
            <p:cNvCxnSpPr/>
            <p:nvPr/>
          </p:nvCxnSpPr>
          <p:spPr>
            <a:xfrm flipH="1">
              <a:off x="4435550" y="4346575"/>
              <a:ext cx="6924600" cy="2286000"/>
            </a:xfrm>
            <a:prstGeom prst="bentConnector3">
              <a:avLst>
                <a:gd name="adj1" fmla="val -674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58" name="Google Shape;1358;p78"/>
            <p:cNvCxnSpPr/>
            <p:nvPr/>
          </p:nvCxnSpPr>
          <p:spPr>
            <a:xfrm rot="10800000">
              <a:off x="4445100" y="6261063"/>
              <a:ext cx="0" cy="3621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359" name="Google Shape;1359;p78"/>
          <p:cNvGrpSpPr/>
          <p:nvPr/>
        </p:nvGrpSpPr>
        <p:grpSpPr>
          <a:xfrm>
            <a:off x="8130000" y="3056525"/>
            <a:ext cx="818275" cy="2995650"/>
            <a:chOff x="8130000" y="2904125"/>
            <a:chExt cx="818275" cy="2995650"/>
          </a:xfrm>
        </p:grpSpPr>
        <p:sp>
          <p:nvSpPr>
            <p:cNvPr id="1360" name="Google Shape;1360;p78"/>
            <p:cNvSpPr txBox="1"/>
            <p:nvPr/>
          </p:nvSpPr>
          <p:spPr>
            <a:xfrm>
              <a:off x="8130000" y="2904125"/>
              <a:ext cx="7932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VPN:0</a:t>
              </a:r>
              <a:endParaRPr b="1">
                <a:solidFill>
                  <a:schemeClr val="dk1"/>
                </a:solidFill>
              </a:endParaRPr>
            </a:p>
          </p:txBody>
        </p:sp>
        <p:sp>
          <p:nvSpPr>
            <p:cNvPr id="1361" name="Google Shape;1361;p78"/>
            <p:cNvSpPr txBox="1"/>
            <p:nvPr/>
          </p:nvSpPr>
          <p:spPr>
            <a:xfrm>
              <a:off x="8286913" y="3330825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b="1">
                <a:solidFill>
                  <a:schemeClr val="dk1"/>
                </a:solidFill>
              </a:endParaRPr>
            </a:p>
          </p:txBody>
        </p:sp>
        <p:sp>
          <p:nvSpPr>
            <p:cNvPr id="1362" name="Google Shape;1362;p78"/>
            <p:cNvSpPr txBox="1"/>
            <p:nvPr/>
          </p:nvSpPr>
          <p:spPr>
            <a:xfrm>
              <a:off x="8286900" y="3761925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b="1">
                <a:solidFill>
                  <a:schemeClr val="dk1"/>
                </a:solidFill>
              </a:endParaRPr>
            </a:p>
          </p:txBody>
        </p:sp>
        <p:sp>
          <p:nvSpPr>
            <p:cNvPr id="1363" name="Google Shape;1363;p78"/>
            <p:cNvSpPr txBox="1"/>
            <p:nvPr/>
          </p:nvSpPr>
          <p:spPr>
            <a:xfrm>
              <a:off x="8286900" y="4157475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b="1">
                <a:solidFill>
                  <a:schemeClr val="dk1"/>
                </a:solidFill>
              </a:endParaRPr>
            </a:p>
          </p:txBody>
        </p:sp>
        <p:sp>
          <p:nvSpPr>
            <p:cNvPr id="1364" name="Google Shape;1364;p78"/>
            <p:cNvSpPr txBox="1"/>
            <p:nvPr/>
          </p:nvSpPr>
          <p:spPr>
            <a:xfrm>
              <a:off x="8286925" y="5037575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b="1">
                <a:solidFill>
                  <a:schemeClr val="dk1"/>
                </a:solidFill>
              </a:endParaRPr>
            </a:p>
          </p:txBody>
        </p:sp>
        <p:sp>
          <p:nvSpPr>
            <p:cNvPr id="1365" name="Google Shape;1365;p78"/>
            <p:cNvSpPr txBox="1"/>
            <p:nvPr/>
          </p:nvSpPr>
          <p:spPr>
            <a:xfrm>
              <a:off x="8277375" y="4595625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b="1">
                <a:solidFill>
                  <a:schemeClr val="accent6"/>
                </a:solidFill>
              </a:endParaRPr>
            </a:p>
          </p:txBody>
        </p:sp>
        <p:sp>
          <p:nvSpPr>
            <p:cNvPr id="1366" name="Google Shape;1366;p78"/>
            <p:cNvSpPr txBox="1"/>
            <p:nvPr/>
          </p:nvSpPr>
          <p:spPr>
            <a:xfrm>
              <a:off x="8311975" y="5468675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N-1</a:t>
              </a:r>
              <a:endParaRPr b="1">
                <a:solidFill>
                  <a:schemeClr val="dk1"/>
                </a:solidFill>
              </a:endParaRP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1" name="Google Shape;1371;p79"/>
          <p:cNvSpPr txBox="1">
            <a:spLocks noGrp="1"/>
          </p:cNvSpPr>
          <p:nvPr>
            <p:ph type="title"/>
          </p:nvPr>
        </p:nvSpPr>
        <p:spPr>
          <a:xfrm>
            <a:off x="392550" y="96038"/>
            <a:ext cx="88281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Políticas de reemplazo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73" name="Google Shape;1373;p79"/>
          <p:cNvSpPr txBox="1"/>
          <p:nvPr/>
        </p:nvSpPr>
        <p:spPr>
          <a:xfrm>
            <a:off x="392550" y="881750"/>
            <a:ext cx="11406900" cy="954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600" b="1" dirty="0">
                <a:solidFill>
                  <a:schemeClr val="accent2"/>
                </a:solidFill>
                <a:ea typeface="Roboto"/>
                <a:cs typeface="Roboto"/>
                <a:sym typeface="Roboto"/>
              </a:rPr>
              <a:t>Objetivo de la política de reemplazo</a:t>
            </a:r>
            <a:endParaRPr sz="2600" b="1" dirty="0">
              <a:solidFill>
                <a:schemeClr val="accent2"/>
              </a:solidFill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Reducir la tasa de miss aumentando por consiguiente la tasa de hits.</a:t>
            </a:r>
            <a:endParaRPr sz="24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sp>
        <p:nvSpPr>
          <p:cNvPr id="1374" name="Google Shape;1374;p79"/>
          <p:cNvSpPr txBox="1"/>
          <p:nvPr/>
        </p:nvSpPr>
        <p:spPr>
          <a:xfrm>
            <a:off x="5553075" y="2514775"/>
            <a:ext cx="5769000" cy="1600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6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¿Cómo hacer el reemplazo?</a:t>
            </a:r>
            <a:endParaRPr sz="2600" b="1" dirty="0">
              <a:solidFill>
                <a:srgbClr val="FF0000"/>
              </a:solidFill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Hay diferentes políticas, algunas son:</a:t>
            </a:r>
            <a:endParaRPr sz="22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Roboto"/>
              <a:buAutoNum type="arabicPeriod"/>
            </a:pP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Least Recently Used (LRU).</a:t>
            </a:r>
            <a:endParaRPr sz="22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Roboto"/>
              <a:buAutoNum type="arabicPeriod"/>
            </a:pP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Random (aleatorio).</a:t>
            </a:r>
            <a:endParaRPr sz="22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pic>
        <p:nvPicPr>
          <p:cNvPr id="1375" name="Google Shape;1375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35273" y="2251405"/>
            <a:ext cx="2363575" cy="338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0" name="Google Shape;1380;p80"/>
          <p:cNvSpPr txBox="1">
            <a:spLocks noGrp="1"/>
          </p:cNvSpPr>
          <p:nvPr>
            <p:ph type="title"/>
          </p:nvPr>
        </p:nvSpPr>
        <p:spPr>
          <a:xfrm>
            <a:off x="392550" y="96038"/>
            <a:ext cx="88281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Políticas de reemplazo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82" name="Google Shape;1382;p80"/>
          <p:cNvSpPr txBox="1"/>
          <p:nvPr/>
        </p:nvSpPr>
        <p:spPr>
          <a:xfrm>
            <a:off x="551543" y="881750"/>
            <a:ext cx="11247907" cy="12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ea typeface="Roboto"/>
                <a:cs typeface="Roboto"/>
                <a:sym typeface="Roboto"/>
              </a:rPr>
              <a:t>LRU (Least Recently Used)</a:t>
            </a:r>
            <a:endParaRPr sz="2400" b="1" dirty="0"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Reemplaza la entrada de la TLB que no haya sido usada recientemente (la que lleva más tiempo sin ser accedida).</a:t>
            </a:r>
            <a:endParaRPr sz="22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sp>
        <p:nvSpPr>
          <p:cNvPr id="1383" name="Google Shape;1383;p80"/>
          <p:cNvSpPr txBox="1"/>
          <p:nvPr/>
        </p:nvSpPr>
        <p:spPr>
          <a:xfrm>
            <a:off x="635118" y="2206550"/>
            <a:ext cx="11247907" cy="1754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ea typeface="Roboto"/>
                <a:cs typeface="Roboto"/>
                <a:sym typeface="Roboto"/>
              </a:rPr>
              <a:t>Ejemplo:</a:t>
            </a:r>
            <a:endParaRPr sz="2200" b="1" dirty="0"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Asuma que se tiene una TLB de tres entradas, y que el acceso a memoria (principal) se está realizando de acuerdo al orden presentado en la siguiente traza: 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7, 0, 1, 2, 0, 3, 0, 4, 2, 3, 0, 3, 2, 1, 2  </a:t>
            </a:r>
            <a:endParaRPr sz="20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384" name="Google Shape;1384;p80"/>
          <p:cNvGraphicFramePr/>
          <p:nvPr/>
        </p:nvGraphicFramePr>
        <p:xfrm>
          <a:off x="1079925" y="5032863"/>
          <a:ext cx="2361375" cy="137151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978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Page Frame →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385" name="Google Shape;1385;p80"/>
          <p:cNvGraphicFramePr/>
          <p:nvPr/>
        </p:nvGraphicFramePr>
        <p:xfrm>
          <a:off x="846675" y="4298950"/>
          <a:ext cx="8658025" cy="45717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2230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853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Reference row →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0" name="Google Shape;1390;p81"/>
          <p:cNvSpPr txBox="1">
            <a:spLocks noGrp="1"/>
          </p:cNvSpPr>
          <p:nvPr>
            <p:ph type="title"/>
          </p:nvPr>
        </p:nvSpPr>
        <p:spPr>
          <a:xfrm>
            <a:off x="392550" y="96038"/>
            <a:ext cx="88281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Políticas de reemplazo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92" name="Google Shape;1392;p81"/>
          <p:cNvSpPr txBox="1"/>
          <p:nvPr/>
        </p:nvSpPr>
        <p:spPr>
          <a:xfrm>
            <a:off x="392550" y="881750"/>
            <a:ext cx="11406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2"/>
                </a:solidFill>
                <a:ea typeface="Roboto"/>
                <a:cs typeface="Roboto"/>
                <a:sym typeface="Roboto"/>
              </a:rPr>
              <a:t>LRU (Least Recently Used)</a:t>
            </a:r>
            <a:endParaRPr sz="22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sp>
        <p:nvSpPr>
          <p:cNvPr id="1393" name="Google Shape;1393;p81"/>
          <p:cNvSpPr txBox="1"/>
          <p:nvPr/>
        </p:nvSpPr>
        <p:spPr>
          <a:xfrm>
            <a:off x="452775" y="1553400"/>
            <a:ext cx="11406900" cy="1754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Ejemplo:</a:t>
            </a:r>
            <a:endParaRPr sz="2200" b="1" dirty="0">
              <a:solidFill>
                <a:srgbClr val="FF0000"/>
              </a:solidFill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Asuma que se tiene una TLB de tres entradas, y que el acceso a memoria (principal) se está realizando de acuerdo al orden presentado en la siguiente traza: 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7, 0, 1, 2, 0, 3, 0, 4, 2, 3, 0, 3, 2, 1, 2  </a:t>
            </a:r>
            <a:endParaRPr sz="20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394" name="Google Shape;1394;p81"/>
          <p:cNvGraphicFramePr/>
          <p:nvPr/>
        </p:nvGraphicFramePr>
        <p:xfrm>
          <a:off x="846675" y="4356388"/>
          <a:ext cx="2361375" cy="18286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978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Page Frame →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95" name="Google Shape;1395;p81"/>
          <p:cNvGraphicFramePr/>
          <p:nvPr/>
        </p:nvGraphicFramePr>
        <p:xfrm>
          <a:off x="822850" y="3704935"/>
          <a:ext cx="10071575" cy="73149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93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2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2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23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23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423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423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423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42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423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423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423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4232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4232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635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Reference row →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6" name="Google Shape;1396;p81"/>
          <p:cNvGraphicFramePr/>
          <p:nvPr/>
        </p:nvGraphicFramePr>
        <p:xfrm>
          <a:off x="3375763" y="4356400"/>
          <a:ext cx="382850" cy="18286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97" name="Google Shape;1397;p81"/>
          <p:cNvGraphicFramePr/>
          <p:nvPr/>
        </p:nvGraphicFramePr>
        <p:xfrm>
          <a:off x="3926350" y="4356400"/>
          <a:ext cx="382850" cy="18286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98" name="Google Shape;1398;p81"/>
          <p:cNvGraphicFramePr/>
          <p:nvPr/>
        </p:nvGraphicFramePr>
        <p:xfrm>
          <a:off x="4476913" y="4356400"/>
          <a:ext cx="382850" cy="18286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99" name="Google Shape;1399;p81"/>
          <p:cNvGraphicFramePr/>
          <p:nvPr/>
        </p:nvGraphicFramePr>
        <p:xfrm>
          <a:off x="5027500" y="4356400"/>
          <a:ext cx="382850" cy="18286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00" name="Google Shape;1400;p81"/>
          <p:cNvGraphicFramePr/>
          <p:nvPr/>
        </p:nvGraphicFramePr>
        <p:xfrm>
          <a:off x="5547463" y="4356400"/>
          <a:ext cx="382850" cy="18286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01" name="Google Shape;1401;p81"/>
          <p:cNvGraphicFramePr/>
          <p:nvPr/>
        </p:nvGraphicFramePr>
        <p:xfrm>
          <a:off x="6098050" y="4356400"/>
          <a:ext cx="382850" cy="18286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02" name="Google Shape;1402;p81"/>
          <p:cNvGraphicFramePr/>
          <p:nvPr/>
        </p:nvGraphicFramePr>
        <p:xfrm>
          <a:off x="6648613" y="4356400"/>
          <a:ext cx="382850" cy="18286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03" name="Google Shape;1403;p81"/>
          <p:cNvGraphicFramePr/>
          <p:nvPr/>
        </p:nvGraphicFramePr>
        <p:xfrm>
          <a:off x="7199200" y="4356400"/>
          <a:ext cx="382850" cy="18286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04" name="Google Shape;1404;p81"/>
          <p:cNvGraphicFramePr/>
          <p:nvPr/>
        </p:nvGraphicFramePr>
        <p:xfrm>
          <a:off x="7719163" y="4356400"/>
          <a:ext cx="382850" cy="18286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05" name="Google Shape;1405;p81"/>
          <p:cNvGraphicFramePr/>
          <p:nvPr/>
        </p:nvGraphicFramePr>
        <p:xfrm>
          <a:off x="8269750" y="4356400"/>
          <a:ext cx="382850" cy="18286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06" name="Google Shape;1406;p81"/>
          <p:cNvGraphicFramePr/>
          <p:nvPr/>
        </p:nvGraphicFramePr>
        <p:xfrm>
          <a:off x="8820313" y="4356400"/>
          <a:ext cx="382850" cy="18286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07" name="Google Shape;1407;p81"/>
          <p:cNvGraphicFramePr/>
          <p:nvPr/>
        </p:nvGraphicFramePr>
        <p:xfrm>
          <a:off x="9370900" y="4356400"/>
          <a:ext cx="382850" cy="18286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08" name="Google Shape;1408;p81"/>
          <p:cNvGraphicFramePr/>
          <p:nvPr/>
        </p:nvGraphicFramePr>
        <p:xfrm>
          <a:off x="9890863" y="4356400"/>
          <a:ext cx="382850" cy="18286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09" name="Google Shape;1409;p81"/>
          <p:cNvGraphicFramePr/>
          <p:nvPr/>
        </p:nvGraphicFramePr>
        <p:xfrm>
          <a:off x="10441450" y="4356400"/>
          <a:ext cx="382850" cy="182868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Google Shape;1414;p82"/>
          <p:cNvSpPr txBox="1">
            <a:spLocks noGrp="1"/>
          </p:cNvSpPr>
          <p:nvPr>
            <p:ph type="title"/>
          </p:nvPr>
        </p:nvSpPr>
        <p:spPr>
          <a:xfrm>
            <a:off x="406400" y="96038"/>
            <a:ext cx="881425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Políticas de reemplazo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415" name="Google Shape;1415;p82"/>
          <p:cNvSpPr txBox="1"/>
          <p:nvPr/>
        </p:nvSpPr>
        <p:spPr>
          <a:xfrm>
            <a:off x="246744" y="980550"/>
            <a:ext cx="11154500" cy="892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2"/>
                </a:solidFill>
                <a:ea typeface="Roboto"/>
                <a:cs typeface="Roboto"/>
                <a:sym typeface="Roboto"/>
              </a:rPr>
              <a:t>Random</a:t>
            </a:r>
            <a:endParaRPr sz="2400" b="1" dirty="0">
              <a:solidFill>
                <a:schemeClr val="accent2"/>
              </a:solidFill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Realiza un reemplazo seleccionando una entrada al azar de la TLB.</a:t>
            </a:r>
            <a:endParaRPr sz="22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sp>
        <p:nvSpPr>
          <p:cNvPr id="1416" name="Google Shape;1416;p82"/>
          <p:cNvSpPr txBox="1"/>
          <p:nvPr/>
        </p:nvSpPr>
        <p:spPr>
          <a:xfrm>
            <a:off x="246744" y="2206550"/>
            <a:ext cx="11636282" cy="1754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FF0000"/>
                </a:solidFill>
                <a:ea typeface="Roboto"/>
                <a:cs typeface="Roboto"/>
                <a:sym typeface="Roboto"/>
              </a:rPr>
              <a:t>Ejemplo:</a:t>
            </a:r>
            <a:endParaRPr sz="2200" b="1" dirty="0">
              <a:solidFill>
                <a:srgbClr val="FF0000"/>
              </a:solidFill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Asuma que se tiene una TLB de tres entradas, y que el acceso a memoria (principal) se está realizando de acuerdo al orden presentado en la siguiente traza: 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7, 0, 1, 2, 0, 3, 0, 4, 2, 3, 0, 3, 2, 1, 2  </a:t>
            </a:r>
            <a:endParaRPr sz="20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417" name="Google Shape;1417;p82"/>
          <p:cNvGraphicFramePr/>
          <p:nvPr/>
        </p:nvGraphicFramePr>
        <p:xfrm>
          <a:off x="2163225" y="5028363"/>
          <a:ext cx="2361375" cy="137151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978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Page Frame →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18" name="Google Shape;1418;p82"/>
          <p:cNvGraphicFramePr/>
          <p:nvPr/>
        </p:nvGraphicFramePr>
        <p:xfrm>
          <a:off x="1929975" y="4294450"/>
          <a:ext cx="8658025" cy="45717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2230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316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853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Reference row →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419" name="Google Shape;1419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37851" y="5569250"/>
            <a:ext cx="558500" cy="55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Google Shape;1424;p83"/>
          <p:cNvSpPr txBox="1">
            <a:spLocks noGrp="1"/>
          </p:cNvSpPr>
          <p:nvPr>
            <p:ph type="title"/>
          </p:nvPr>
        </p:nvSpPr>
        <p:spPr>
          <a:xfrm>
            <a:off x="392550" y="96038"/>
            <a:ext cx="88281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Políticas de reemplazo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425" name="Google Shape;1425;p83"/>
          <p:cNvSpPr txBox="1"/>
          <p:nvPr/>
        </p:nvSpPr>
        <p:spPr>
          <a:xfrm>
            <a:off x="788350" y="6550200"/>
            <a:ext cx="5699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800" b="1" dirty="0">
                <a:latin typeface="Roboto"/>
                <a:ea typeface="Roboto"/>
                <a:cs typeface="Roboto"/>
                <a:sym typeface="Roboto"/>
              </a:rPr>
              <a:t>Nota</a:t>
            </a:r>
            <a:r>
              <a:rPr lang="es-ES" sz="800" dirty="0">
                <a:latin typeface="Roboto"/>
                <a:ea typeface="Roboto"/>
                <a:cs typeface="Roboto"/>
                <a:sym typeface="Roboto"/>
              </a:rPr>
              <a:t>: Se uso un generador de </a:t>
            </a:r>
            <a:r>
              <a:rPr lang="es-ES" sz="800" dirty="0" err="1">
                <a:latin typeface="Roboto"/>
                <a:ea typeface="Roboto"/>
                <a:cs typeface="Roboto"/>
                <a:sym typeface="Roboto"/>
              </a:rPr>
              <a:t>numeros</a:t>
            </a:r>
            <a:r>
              <a:rPr lang="es-ES" sz="800" dirty="0">
                <a:latin typeface="Roboto"/>
                <a:ea typeface="Roboto"/>
                <a:cs typeface="Roboto"/>
                <a:sym typeface="Roboto"/>
              </a:rPr>
              <a:t> aleatorios en internet. Buscando en  </a:t>
            </a:r>
            <a:r>
              <a:rPr lang="es-ES" sz="800" dirty="0" err="1">
                <a:latin typeface="Roboto"/>
                <a:ea typeface="Roboto"/>
                <a:cs typeface="Roboto"/>
                <a:sym typeface="Roboto"/>
              </a:rPr>
              <a:t>google</a:t>
            </a:r>
            <a:r>
              <a:rPr lang="es-ES" sz="800" dirty="0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s-ES" sz="800" b="1" dirty="0" err="1">
                <a:latin typeface="Roboto"/>
                <a:ea typeface="Roboto"/>
                <a:cs typeface="Roboto"/>
                <a:sym typeface="Roboto"/>
              </a:rPr>
              <a:t>random</a:t>
            </a:r>
            <a:r>
              <a:rPr lang="es-ES" sz="800" b="1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800" b="1" dirty="0" err="1">
                <a:latin typeface="Roboto"/>
                <a:ea typeface="Roboto"/>
                <a:cs typeface="Roboto"/>
                <a:sym typeface="Roboto"/>
              </a:rPr>
              <a:t>number</a:t>
            </a:r>
            <a:r>
              <a:rPr lang="es-ES" sz="800" b="1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800" b="1" dirty="0" err="1">
                <a:latin typeface="Roboto"/>
                <a:ea typeface="Roboto"/>
                <a:cs typeface="Roboto"/>
                <a:sym typeface="Roboto"/>
              </a:rPr>
              <a:t>generator</a:t>
            </a:r>
            <a:endParaRPr sz="800" b="1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6" name="Google Shape;1426;p83"/>
          <p:cNvSpPr txBox="1"/>
          <p:nvPr/>
        </p:nvSpPr>
        <p:spPr>
          <a:xfrm>
            <a:off x="392550" y="881750"/>
            <a:ext cx="11406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2"/>
                </a:solidFill>
                <a:ea typeface="Roboto"/>
                <a:cs typeface="Roboto"/>
                <a:sym typeface="Roboto"/>
              </a:rPr>
              <a:t>Random</a:t>
            </a:r>
            <a:endParaRPr sz="22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sp>
        <p:nvSpPr>
          <p:cNvPr id="1427" name="Google Shape;1427;p83"/>
          <p:cNvSpPr txBox="1"/>
          <p:nvPr/>
        </p:nvSpPr>
        <p:spPr>
          <a:xfrm>
            <a:off x="452775" y="1553400"/>
            <a:ext cx="11406900" cy="1754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ea typeface="Roboto"/>
                <a:cs typeface="Roboto"/>
                <a:sym typeface="Roboto"/>
              </a:rPr>
              <a:t>Ejemplo:</a:t>
            </a:r>
            <a:endParaRPr sz="2200" b="1" dirty="0"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Asuma que se tiene una TLB de tres entradas, y que el acceso a memoria (principal) se está realizando de acuerdo al orden presentado en la siguiente traza: 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7, 0, 1, 2, 0, 3, 0, 4, 2, 3, 0, 3, 2, 1, 2  </a:t>
            </a:r>
            <a:endParaRPr sz="20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428" name="Google Shape;1428;p83"/>
          <p:cNvGraphicFramePr/>
          <p:nvPr/>
        </p:nvGraphicFramePr>
        <p:xfrm>
          <a:off x="846675" y="4356388"/>
          <a:ext cx="2361375" cy="22858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978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Page Frame →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b="1" dirty="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29" name="Google Shape;1429;p83"/>
          <p:cNvGraphicFramePr/>
          <p:nvPr>
            <p:extLst>
              <p:ext uri="{D42A27DB-BD31-4B8C-83A1-F6EECF244321}">
                <p14:modId xmlns:p14="http://schemas.microsoft.com/office/powerpoint/2010/main" val="474101374"/>
              </p:ext>
            </p:extLst>
          </p:nvPr>
        </p:nvGraphicFramePr>
        <p:xfrm>
          <a:off x="452776" y="3704935"/>
          <a:ext cx="10441645" cy="45717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23618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6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86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86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386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86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86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38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3865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3865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3865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38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38652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3865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38652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38652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635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Reference </a:t>
                      </a:r>
                      <a:r>
                        <a:rPr lang="es-ES" b="1" dirty="0" err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row</a:t>
                      </a:r>
                      <a:r>
                        <a:rPr lang="es-ES" b="1" dirty="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→</a:t>
                      </a:r>
                      <a:endParaRPr b="1" dirty="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30" name="Google Shape;1430;p83"/>
          <p:cNvGraphicFramePr/>
          <p:nvPr/>
        </p:nvGraphicFramePr>
        <p:xfrm>
          <a:off x="3375763" y="4356400"/>
          <a:ext cx="382850" cy="22858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31" name="Google Shape;1431;p83"/>
          <p:cNvGraphicFramePr/>
          <p:nvPr/>
        </p:nvGraphicFramePr>
        <p:xfrm>
          <a:off x="3926350" y="4356400"/>
          <a:ext cx="382850" cy="22858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32" name="Google Shape;1432;p83"/>
          <p:cNvGraphicFramePr/>
          <p:nvPr/>
        </p:nvGraphicFramePr>
        <p:xfrm>
          <a:off x="4476913" y="4356400"/>
          <a:ext cx="382850" cy="22858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33" name="Google Shape;1433;p83"/>
          <p:cNvGraphicFramePr/>
          <p:nvPr/>
        </p:nvGraphicFramePr>
        <p:xfrm>
          <a:off x="5027500" y="4356400"/>
          <a:ext cx="382850" cy="22858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34" name="Google Shape;1434;p83"/>
          <p:cNvGraphicFramePr/>
          <p:nvPr/>
        </p:nvGraphicFramePr>
        <p:xfrm>
          <a:off x="5547463" y="4356400"/>
          <a:ext cx="382850" cy="22858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35" name="Google Shape;1435;p83"/>
          <p:cNvGraphicFramePr/>
          <p:nvPr/>
        </p:nvGraphicFramePr>
        <p:xfrm>
          <a:off x="6098050" y="4356400"/>
          <a:ext cx="382850" cy="22858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36" name="Google Shape;1436;p83"/>
          <p:cNvGraphicFramePr/>
          <p:nvPr/>
        </p:nvGraphicFramePr>
        <p:xfrm>
          <a:off x="6648613" y="4356400"/>
          <a:ext cx="382850" cy="22858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37" name="Google Shape;1437;p83"/>
          <p:cNvGraphicFramePr/>
          <p:nvPr/>
        </p:nvGraphicFramePr>
        <p:xfrm>
          <a:off x="7199200" y="4356400"/>
          <a:ext cx="382850" cy="22858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38" name="Google Shape;1438;p83"/>
          <p:cNvGraphicFramePr/>
          <p:nvPr/>
        </p:nvGraphicFramePr>
        <p:xfrm>
          <a:off x="7719163" y="4356400"/>
          <a:ext cx="382850" cy="22858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39" name="Google Shape;1439;p83"/>
          <p:cNvGraphicFramePr/>
          <p:nvPr/>
        </p:nvGraphicFramePr>
        <p:xfrm>
          <a:off x="8269750" y="4356400"/>
          <a:ext cx="382850" cy="22858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40" name="Google Shape;1440;p83"/>
          <p:cNvGraphicFramePr/>
          <p:nvPr/>
        </p:nvGraphicFramePr>
        <p:xfrm>
          <a:off x="8820313" y="4356400"/>
          <a:ext cx="382850" cy="274302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441" name="Google Shape;1441;p83"/>
          <p:cNvGraphicFramePr/>
          <p:nvPr/>
        </p:nvGraphicFramePr>
        <p:xfrm>
          <a:off x="9370900" y="4356400"/>
          <a:ext cx="382850" cy="22858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42" name="Google Shape;1442;p83"/>
          <p:cNvGraphicFramePr/>
          <p:nvPr/>
        </p:nvGraphicFramePr>
        <p:xfrm>
          <a:off x="9890863" y="4356400"/>
          <a:ext cx="382850" cy="22858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43" name="Google Shape;1443;p83"/>
          <p:cNvGraphicFramePr/>
          <p:nvPr/>
        </p:nvGraphicFramePr>
        <p:xfrm>
          <a:off x="10441450" y="4356400"/>
          <a:ext cx="382850" cy="22858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70AD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rgbClr val="70AD47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85"/>
          <p:cNvSpPr txBox="1">
            <a:spLocks noGrp="1"/>
          </p:cNvSpPr>
          <p:nvPr>
            <p:ph type="title"/>
          </p:nvPr>
        </p:nvSpPr>
        <p:spPr>
          <a:xfrm>
            <a:off x="838200" y="166029"/>
            <a:ext cx="10515600" cy="861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Entrada TLB real - caso MIPS</a:t>
            </a:r>
            <a:endParaRPr dirty="0"/>
          </a:p>
        </p:txBody>
      </p:sp>
      <p:sp>
        <p:nvSpPr>
          <p:cNvPr id="1455" name="Google Shape;1455;p85"/>
          <p:cNvSpPr txBox="1">
            <a:spLocks noGrp="1"/>
          </p:cNvSpPr>
          <p:nvPr>
            <p:ph idx="1"/>
          </p:nvPr>
        </p:nvSpPr>
        <p:spPr>
          <a:xfrm>
            <a:off x="356352" y="1107077"/>
            <a:ext cx="3728670" cy="160120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5"/>
                </a:solidFill>
              </a:rPr>
              <a:t>Forma de la entrada TLB </a:t>
            </a:r>
            <a:endParaRPr sz="2400" dirty="0">
              <a:solidFill>
                <a:schemeClr val="accent5"/>
              </a:solidFill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TLB de un MIPS R4000.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El sistema operativo maneja la TLB por software.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456" name="Google Shape;1456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5529" y="1171443"/>
            <a:ext cx="7962901" cy="11478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457" name="Google Shape;1457;p85"/>
          <p:cNvGraphicFramePr/>
          <p:nvPr>
            <p:extLst>
              <p:ext uri="{D42A27DB-BD31-4B8C-83A1-F6EECF244321}">
                <p14:modId xmlns:p14="http://schemas.microsoft.com/office/powerpoint/2010/main" val="7173933"/>
              </p:ext>
            </p:extLst>
          </p:nvPr>
        </p:nvGraphicFramePr>
        <p:xfrm>
          <a:off x="2438401" y="2890954"/>
          <a:ext cx="6714394" cy="3555764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14698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445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9227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>
                          <a:solidFill>
                            <a:schemeClr val="lt1"/>
                          </a:solidFill>
                          <a:latin typeface="+mn-lt"/>
                          <a:ea typeface="Roboto"/>
                          <a:cs typeface="Roboto"/>
                          <a:sym typeface="Roboto"/>
                        </a:rPr>
                        <a:t>Flag</a:t>
                      </a:r>
                      <a:endParaRPr sz="2000">
                        <a:solidFill>
                          <a:schemeClr val="lt1"/>
                        </a:solidFill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solidFill>
                            <a:schemeClr val="lt1"/>
                          </a:solidFill>
                          <a:latin typeface="+mn-lt"/>
                          <a:ea typeface="Roboto"/>
                          <a:cs typeface="Roboto"/>
                          <a:sym typeface="Roboto"/>
                        </a:rPr>
                        <a:t>Content</a:t>
                      </a:r>
                      <a:endParaRPr sz="2000" dirty="0">
                        <a:solidFill>
                          <a:schemeClr val="lt1"/>
                        </a:solidFill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988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ea typeface="Roboto"/>
                          <a:cs typeface="Roboto"/>
                          <a:sym typeface="Roboto"/>
                        </a:rPr>
                        <a:t>19-bit VPN</a:t>
                      </a:r>
                      <a:endParaRPr sz="160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The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rest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reserved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for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the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kernel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.</a:t>
                      </a:r>
                      <a:endParaRPr sz="14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8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ea typeface="Roboto"/>
                          <a:cs typeface="Roboto"/>
                          <a:sym typeface="Roboto"/>
                        </a:rPr>
                        <a:t>24-bit PFN</a:t>
                      </a:r>
                      <a:endParaRPr sz="160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Systems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can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support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with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up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to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64GB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of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main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memory(  2^24∗4KB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pages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).</a:t>
                      </a:r>
                      <a:endParaRPr sz="14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988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ea typeface="Roboto"/>
                          <a:cs typeface="Roboto"/>
                          <a:sym typeface="Roboto"/>
                        </a:rPr>
                        <a:t>Global bit (G)</a:t>
                      </a:r>
                      <a:endParaRPr sz="160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Used for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pages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that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are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globally-shared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among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processes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.</a:t>
                      </a:r>
                      <a:endParaRPr sz="14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9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ea typeface="Roboto"/>
                          <a:cs typeface="Roboto"/>
                          <a:sym typeface="Roboto"/>
                        </a:rPr>
                        <a:t>ASID</a:t>
                      </a:r>
                      <a:endParaRPr sz="160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OS can use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to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distinguish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between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address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spaces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.</a:t>
                      </a:r>
                      <a:endParaRPr sz="14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988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ea typeface="Roboto"/>
                          <a:cs typeface="Roboto"/>
                          <a:sym typeface="Roboto"/>
                        </a:rPr>
                        <a:t>Coherence bit (C)</a:t>
                      </a:r>
                      <a:endParaRPr sz="160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</a:rPr>
                        <a:t>Determine how a page is cached by the hardware.</a:t>
                      </a:r>
                      <a:endParaRPr sz="140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988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  <a:ea typeface="Roboto"/>
                          <a:cs typeface="Roboto"/>
                          <a:sym typeface="Roboto"/>
                        </a:rPr>
                        <a:t>Dirty bit (D)</a:t>
                      </a:r>
                      <a:endParaRPr sz="160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+mn-lt"/>
                        </a:rPr>
                        <a:t>Marking when the page has been written.</a:t>
                      </a:r>
                      <a:endParaRPr sz="140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988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  <a:ea typeface="Roboto"/>
                          <a:cs typeface="Roboto"/>
                          <a:sym typeface="Roboto"/>
                        </a:rPr>
                        <a:t>Valid bit (V)</a:t>
                      </a:r>
                      <a:endParaRPr sz="16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Tells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the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hardware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if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there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is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a valid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translation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present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in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the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 </a:t>
                      </a:r>
                      <a:r>
                        <a:rPr lang="es-ES" sz="1400" dirty="0" err="1">
                          <a:solidFill>
                            <a:schemeClr val="dk1"/>
                          </a:solidFill>
                          <a:latin typeface="+mn-lt"/>
                        </a:rPr>
                        <a:t>entry</a:t>
                      </a:r>
                      <a:r>
                        <a:rPr lang="es-ES" sz="1400" dirty="0">
                          <a:solidFill>
                            <a:schemeClr val="dk1"/>
                          </a:solidFill>
                          <a:latin typeface="+mn-lt"/>
                        </a:rPr>
                        <a:t>.</a:t>
                      </a:r>
                      <a:endParaRPr sz="1400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58" name="Google Shape;1458;p85"/>
          <p:cNvSpPr txBox="1"/>
          <p:nvPr/>
        </p:nvSpPr>
        <p:spPr>
          <a:xfrm>
            <a:off x="4937100" y="2332563"/>
            <a:ext cx="6111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All</a:t>
            </a:r>
            <a:r>
              <a:rPr lang="es-ES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64 bits </a:t>
            </a:r>
            <a:r>
              <a:rPr lang="es-ES" sz="10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of</a:t>
            </a:r>
            <a:r>
              <a:rPr lang="es-ES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10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this</a:t>
            </a:r>
            <a:r>
              <a:rPr lang="es-ES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TLB </a:t>
            </a:r>
            <a:r>
              <a:rPr lang="es-ES" sz="10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entry</a:t>
            </a:r>
            <a:r>
              <a:rPr lang="es-ES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</a:t>
            </a:r>
            <a:r>
              <a:rPr lang="es-ES" sz="10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example</a:t>
            </a:r>
            <a:r>
              <a:rPr lang="es-ES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10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of</a:t>
            </a:r>
            <a:r>
              <a:rPr lang="es-ES" sz="1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MIPS R4000)</a:t>
            </a:r>
            <a:endParaRPr sz="10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p86"/>
          <p:cNvSpPr txBox="1">
            <a:spLocks noGrp="1"/>
          </p:cNvSpPr>
          <p:nvPr>
            <p:ph type="title"/>
          </p:nvPr>
        </p:nvSpPr>
        <p:spPr>
          <a:xfrm>
            <a:off x="306300" y="261132"/>
            <a:ext cx="11047500" cy="816944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Entrada TLB real - caso MIPS</a:t>
            </a:r>
            <a:endParaRPr dirty="0"/>
          </a:p>
        </p:txBody>
      </p:sp>
      <p:sp>
        <p:nvSpPr>
          <p:cNvPr id="1464" name="Google Shape;1464;p86"/>
          <p:cNvSpPr txBox="1">
            <a:spLocks noGrp="1"/>
          </p:cNvSpPr>
          <p:nvPr>
            <p:ph idx="1"/>
          </p:nvPr>
        </p:nvSpPr>
        <p:spPr>
          <a:xfrm>
            <a:off x="306300" y="927175"/>
            <a:ext cx="11579400" cy="1215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Sobre el MIPS R4000</a:t>
            </a:r>
            <a:endParaRPr sz="2400" dirty="0"/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Soporta un espacio de direccionamiento de 32 bits (</a:t>
            </a: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n(AS) = 32</a:t>
            </a:r>
            <a:r>
              <a:rPr lang="es-ES" sz="2000" dirty="0"/>
              <a:t>).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El tamaño de las páginas es de 4 KB (</a:t>
            </a: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size(page) = 4KB</a:t>
            </a:r>
            <a:r>
              <a:rPr lang="es-ES" sz="2000" dirty="0"/>
              <a:t>).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65" name="Google Shape;1465;p86"/>
          <p:cNvSpPr txBox="1"/>
          <p:nvPr/>
        </p:nvSpPr>
        <p:spPr>
          <a:xfrm>
            <a:off x="306300" y="2086000"/>
            <a:ext cx="6687750" cy="2634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rgbClr val="FF0000"/>
                </a:solidFill>
                <a:ea typeface="Consolas"/>
                <a:cs typeface="Consolas"/>
                <a:sym typeface="Consolas"/>
              </a:rPr>
              <a:t>Tamaño de la memoria virtual:</a:t>
            </a:r>
            <a:endParaRPr sz="2000" b="1" dirty="0">
              <a:solidFill>
                <a:srgbClr val="FF0000"/>
              </a:solidFill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onsolas"/>
              <a:buChar char="●"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size(AS) = 2^n(AS) = 2^32 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= (2^2)(2^30) = 4 GB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800" b="1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rgbClr val="FF0000"/>
                </a:solidFill>
                <a:ea typeface="Consolas"/>
                <a:cs typeface="Consolas"/>
                <a:sym typeface="Consolas"/>
              </a:rPr>
              <a:t>Número de páginas:</a:t>
            </a:r>
            <a:endParaRPr sz="2000" b="1" dirty="0">
              <a:solidFill>
                <a:srgbClr val="FF0000"/>
              </a:solidFill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onsolas"/>
              <a:buChar char="●"/>
            </a:pPr>
            <a:r>
              <a:rPr lang="es-ES" sz="18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num_pages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size(AS)/size(page) 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= 2^32/(4*(2^10)) = 2^20 </a:t>
            </a:r>
            <a:r>
              <a:rPr lang="es-ES" sz="18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pages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466" name="Google Shape;1466;p86"/>
          <p:cNvGraphicFramePr/>
          <p:nvPr/>
        </p:nvGraphicFramePr>
        <p:xfrm>
          <a:off x="7655863" y="2883225"/>
          <a:ext cx="3965450" cy="4587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258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5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8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67" name="Google Shape;1467;p86"/>
          <p:cNvSpPr txBox="1"/>
          <p:nvPr/>
        </p:nvSpPr>
        <p:spPr>
          <a:xfrm>
            <a:off x="6994038" y="2817763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1468" name="Google Shape;1468;p86"/>
          <p:cNvSpPr/>
          <p:nvPr/>
        </p:nvSpPr>
        <p:spPr>
          <a:xfrm rot="-5400000">
            <a:off x="8817625" y="2249675"/>
            <a:ext cx="228600" cy="2552100"/>
          </a:xfrm>
          <a:prstGeom prst="leftBrace">
            <a:avLst>
              <a:gd name="adj1" fmla="val 50000"/>
              <a:gd name="adj2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9" name="Google Shape;1469;p86"/>
          <p:cNvSpPr/>
          <p:nvPr/>
        </p:nvSpPr>
        <p:spPr>
          <a:xfrm rot="-5400000">
            <a:off x="10817650" y="2839775"/>
            <a:ext cx="228600" cy="1371900"/>
          </a:xfrm>
          <a:prstGeom prst="leftBrace">
            <a:avLst>
              <a:gd name="adj1" fmla="val 50000"/>
              <a:gd name="adj2" fmla="val 50000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0" name="Google Shape;1470;p86"/>
          <p:cNvSpPr txBox="1"/>
          <p:nvPr/>
        </p:nvSpPr>
        <p:spPr>
          <a:xfrm>
            <a:off x="8675425" y="3640025"/>
            <a:ext cx="513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20</a:t>
            </a:r>
            <a:endParaRPr sz="1000"/>
          </a:p>
        </p:txBody>
      </p:sp>
      <p:sp>
        <p:nvSpPr>
          <p:cNvPr id="1471" name="Google Shape;1471;p86"/>
          <p:cNvSpPr txBox="1"/>
          <p:nvPr/>
        </p:nvSpPr>
        <p:spPr>
          <a:xfrm>
            <a:off x="10675450" y="3588400"/>
            <a:ext cx="513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endParaRPr sz="1000">
              <a:solidFill>
                <a:srgbClr val="FF0000"/>
              </a:solidFill>
            </a:endParaRPr>
          </a:p>
        </p:txBody>
      </p:sp>
      <p:sp>
        <p:nvSpPr>
          <p:cNvPr id="1472" name="Google Shape;1472;p86"/>
          <p:cNvSpPr txBox="1"/>
          <p:nvPr/>
        </p:nvSpPr>
        <p:spPr>
          <a:xfrm>
            <a:off x="306300" y="4808200"/>
            <a:ext cx="10882150" cy="1172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Para el caso del </a:t>
            </a:r>
            <a:r>
              <a:rPr lang="es-ES" sz="20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MIPS R4000</a:t>
            </a: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el </a:t>
            </a:r>
            <a:r>
              <a:rPr lang="es-ES" sz="20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VPN</a:t>
            </a: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es de 19 bits: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○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Espacio </a:t>
            </a:r>
            <a:r>
              <a:rPr lang="es-ES" sz="2000" dirty="0" err="1">
                <a:solidFill>
                  <a:schemeClr val="dk1"/>
                </a:solidFill>
                <a:ea typeface="Roboto"/>
                <a:cs typeface="Roboto"/>
                <a:sym typeface="Roboto"/>
              </a:rPr>
              <a:t>kernel</a:t>
            </a: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: </a:t>
            </a:r>
            <a:r>
              <a:rPr lang="es-ES" sz="2000" dirty="0">
                <a:solidFill>
                  <a:schemeClr val="dk1"/>
                </a:solidFill>
                <a:ea typeface="Consolas"/>
                <a:cs typeface="Consolas"/>
                <a:sym typeface="Consolas"/>
              </a:rPr>
              <a:t>2 GB</a:t>
            </a: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. 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○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Espacio de direcciones (usuario): </a:t>
            </a:r>
            <a:r>
              <a:rPr lang="es-ES" sz="2000" dirty="0">
                <a:solidFill>
                  <a:schemeClr val="dk1"/>
                </a:solidFill>
                <a:ea typeface="Consolas"/>
                <a:cs typeface="Consolas"/>
                <a:sym typeface="Consolas"/>
              </a:rPr>
              <a:t>2 GB</a:t>
            </a: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. 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7" name="Google Shape;1477;p87"/>
          <p:cNvSpPr txBox="1">
            <a:spLocks noGrp="1"/>
          </p:cNvSpPr>
          <p:nvPr>
            <p:ph type="title"/>
          </p:nvPr>
        </p:nvSpPr>
        <p:spPr>
          <a:xfrm>
            <a:off x="478971" y="153462"/>
            <a:ext cx="10874829" cy="73865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Entrada TLB real - caso MIPS</a:t>
            </a:r>
            <a:endParaRPr dirty="0"/>
          </a:p>
        </p:txBody>
      </p:sp>
      <p:sp>
        <p:nvSpPr>
          <p:cNvPr id="1478" name="Google Shape;1478;p87"/>
          <p:cNvSpPr txBox="1">
            <a:spLocks noGrp="1"/>
          </p:cNvSpPr>
          <p:nvPr>
            <p:ph idx="1"/>
          </p:nvPr>
        </p:nvSpPr>
        <p:spPr>
          <a:xfrm>
            <a:off x="478971" y="852200"/>
            <a:ext cx="11532879" cy="898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5"/>
                </a:solidFill>
              </a:rPr>
              <a:t>Sobre el MIPS R4000</a:t>
            </a:r>
            <a:endParaRPr sz="2400" dirty="0">
              <a:solidFill>
                <a:schemeClr val="accent5"/>
              </a:solidFill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La PFN tiene 24 bits para el MIPS R4000, de modo que la forma de una dirección física será: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79" name="Google Shape;1479;p87"/>
          <p:cNvSpPr txBox="1"/>
          <p:nvPr/>
        </p:nvSpPr>
        <p:spPr>
          <a:xfrm>
            <a:off x="1640625" y="4036025"/>
            <a:ext cx="99153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size(PM) = 2^n(PM) = 2^36 = (2^6)(2^30) = 64 GB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num_frames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size(PM)/size(</a:t>
            </a:r>
            <a:r>
              <a:rPr lang="es-ES" sz="18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frame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) = (2^36)/(4*(2^10)) = (2^24) </a:t>
            </a:r>
            <a:r>
              <a:rPr lang="es-ES" sz="18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frames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480" name="Google Shape;1480;p87"/>
          <p:cNvGraphicFramePr/>
          <p:nvPr/>
        </p:nvGraphicFramePr>
        <p:xfrm>
          <a:off x="4788575" y="1996825"/>
          <a:ext cx="3965450" cy="458750"/>
        </p:xfrm>
        <a:graphic>
          <a:graphicData uri="http://schemas.openxmlformats.org/drawingml/2006/table">
            <a:tbl>
              <a:tblPr>
                <a:noFill/>
                <a:tableStyleId>{F60E1A64-338D-42A0-9394-E2ECDD66DA37}</a:tableStyleId>
              </a:tblPr>
              <a:tblGrid>
                <a:gridCol w="258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5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8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</a:t>
                      </a:r>
                      <a:endParaRPr b="1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81" name="Google Shape;1481;p87"/>
          <p:cNvSpPr txBox="1"/>
          <p:nvPr/>
        </p:nvSpPr>
        <p:spPr>
          <a:xfrm>
            <a:off x="4126750" y="1931363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sz="1800" b="1"/>
          </a:p>
        </p:txBody>
      </p:sp>
      <p:sp>
        <p:nvSpPr>
          <p:cNvPr id="1482" name="Google Shape;1482;p87"/>
          <p:cNvSpPr/>
          <p:nvPr/>
        </p:nvSpPr>
        <p:spPr>
          <a:xfrm rot="-5400000">
            <a:off x="5950338" y="1363275"/>
            <a:ext cx="228600" cy="2552100"/>
          </a:xfrm>
          <a:prstGeom prst="leftBrace">
            <a:avLst>
              <a:gd name="adj1" fmla="val 50000"/>
              <a:gd name="adj2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3" name="Google Shape;1483;p87"/>
          <p:cNvSpPr/>
          <p:nvPr/>
        </p:nvSpPr>
        <p:spPr>
          <a:xfrm rot="-5400000">
            <a:off x="7950363" y="1953375"/>
            <a:ext cx="228600" cy="1371900"/>
          </a:xfrm>
          <a:prstGeom prst="leftBrace">
            <a:avLst>
              <a:gd name="adj1" fmla="val 50000"/>
              <a:gd name="adj2" fmla="val 50000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4" name="Google Shape;1484;p87"/>
          <p:cNvSpPr txBox="1"/>
          <p:nvPr/>
        </p:nvSpPr>
        <p:spPr>
          <a:xfrm>
            <a:off x="5808138" y="2753625"/>
            <a:ext cx="513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24</a:t>
            </a:r>
            <a:endParaRPr sz="1000"/>
          </a:p>
        </p:txBody>
      </p:sp>
      <p:sp>
        <p:nvSpPr>
          <p:cNvPr id="1485" name="Google Shape;1485;p87"/>
          <p:cNvSpPr txBox="1"/>
          <p:nvPr/>
        </p:nvSpPr>
        <p:spPr>
          <a:xfrm>
            <a:off x="7808163" y="2702000"/>
            <a:ext cx="513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endParaRPr sz="1000">
              <a:solidFill>
                <a:srgbClr val="FF0000"/>
              </a:solidFill>
            </a:endParaRPr>
          </a:p>
        </p:txBody>
      </p:sp>
      <p:sp>
        <p:nvSpPr>
          <p:cNvPr id="1486" name="Google Shape;1486;p87"/>
          <p:cNvSpPr txBox="1"/>
          <p:nvPr/>
        </p:nvSpPr>
        <p:spPr>
          <a:xfrm>
            <a:off x="478971" y="3348625"/>
            <a:ext cx="10685979" cy="556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De modo que el tamaño de la memoria física es: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Google Shape;1491;p88"/>
          <p:cNvSpPr txBox="1">
            <a:spLocks noGrp="1"/>
          </p:cNvSpPr>
          <p:nvPr>
            <p:ph type="title"/>
          </p:nvPr>
        </p:nvSpPr>
        <p:spPr>
          <a:xfrm>
            <a:off x="469490" y="0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Referencias</a:t>
            </a:r>
            <a:endParaRPr dirty="0"/>
          </a:p>
        </p:txBody>
      </p:sp>
      <p:sp>
        <p:nvSpPr>
          <p:cNvPr id="1492" name="Google Shape;1492;p88"/>
          <p:cNvSpPr txBox="1">
            <a:spLocks noGrp="1"/>
          </p:cNvSpPr>
          <p:nvPr>
            <p:ph idx="1"/>
          </p:nvPr>
        </p:nvSpPr>
        <p:spPr>
          <a:xfrm>
            <a:off x="266884" y="994937"/>
            <a:ext cx="11658232" cy="567133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s-ES" sz="2000" b="1" dirty="0" err="1"/>
              <a:t>Operating</a:t>
            </a:r>
            <a:r>
              <a:rPr lang="es-ES" sz="2000" b="1" dirty="0"/>
              <a:t> </a:t>
            </a:r>
            <a:r>
              <a:rPr lang="es-ES" sz="2000" b="1" dirty="0" err="1"/>
              <a:t>Systems</a:t>
            </a:r>
            <a:r>
              <a:rPr lang="es-ES" sz="2000" b="1" dirty="0"/>
              <a:t> </a:t>
            </a:r>
            <a:r>
              <a:rPr lang="es-ES" sz="2000" b="1" dirty="0" err="1"/>
              <a:t>Three</a:t>
            </a:r>
            <a:r>
              <a:rPr lang="es-ES" sz="2000" b="1" dirty="0"/>
              <a:t> Easy </a:t>
            </a:r>
            <a:r>
              <a:rPr lang="es-ES" sz="2000" b="1" dirty="0" err="1"/>
              <a:t>Pieces</a:t>
            </a:r>
            <a:r>
              <a:rPr lang="es-ES" sz="2000" b="1" dirty="0"/>
              <a:t> </a:t>
            </a:r>
            <a:r>
              <a:rPr lang="es-ES" sz="2000" dirty="0"/>
              <a:t>(</a:t>
            </a:r>
            <a:r>
              <a:rPr lang="es-ES" sz="2000" u="sng" dirty="0" err="1">
                <a:solidFill>
                  <a:schemeClr val="hlink"/>
                </a:solidFill>
                <a:hlinkClick r:id="rId3"/>
              </a:rPr>
              <a:t>website</a:t>
            </a:r>
            <a:r>
              <a:rPr lang="es-ES" sz="2000" dirty="0"/>
              <a:t>: Capítulos </a:t>
            </a:r>
            <a:r>
              <a:rPr lang="es-ES" sz="2000" u="sng" dirty="0">
                <a:solidFill>
                  <a:schemeClr val="hlink"/>
                </a:solidFill>
                <a:hlinkClick r:id="rId4"/>
              </a:rPr>
              <a:t>1</a:t>
            </a:r>
            <a:r>
              <a:rPr lang="es-ES" sz="2000" dirty="0"/>
              <a:t> y </a:t>
            </a:r>
            <a:r>
              <a:rPr lang="es-ES" sz="2000" u="sng" dirty="0">
                <a:solidFill>
                  <a:schemeClr val="hlink"/>
                </a:solidFill>
                <a:hlinkClick r:id="rId5"/>
              </a:rPr>
              <a:t>2</a:t>
            </a:r>
            <a:r>
              <a:rPr lang="es-ES" sz="2000" dirty="0"/>
              <a:t>)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s-ES" sz="2000" dirty="0"/>
              <a:t>Videos de </a:t>
            </a:r>
            <a:r>
              <a:rPr lang="es-ES" sz="2000" dirty="0" err="1"/>
              <a:t>youtube</a:t>
            </a:r>
            <a:r>
              <a:rPr lang="es-ES" sz="2000" dirty="0"/>
              <a:t>: Clase 1 - Introducción a los sistemas operativos (</a:t>
            </a:r>
            <a:r>
              <a:rPr lang="es-ES" sz="2000" u="sng" dirty="0">
                <a:solidFill>
                  <a:schemeClr val="hlink"/>
                </a:solidFill>
                <a:hlinkClick r:id="rId6"/>
              </a:rPr>
              <a:t>link</a:t>
            </a:r>
            <a:r>
              <a:rPr lang="es-ES" sz="2000" dirty="0"/>
              <a:t>).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s-ES" sz="2000" dirty="0"/>
              <a:t>Página de </a:t>
            </a:r>
            <a:r>
              <a:rPr lang="es-ES" sz="2000" dirty="0" err="1"/>
              <a:t>Remzi</a:t>
            </a:r>
            <a:r>
              <a:rPr lang="es-ES" sz="2000" dirty="0"/>
              <a:t> H. </a:t>
            </a:r>
            <a:r>
              <a:rPr lang="es-ES" sz="2000" dirty="0" err="1"/>
              <a:t>Arpaci-Dusseau</a:t>
            </a:r>
            <a:r>
              <a:rPr lang="es-ES" sz="2000" dirty="0"/>
              <a:t> (</a:t>
            </a:r>
            <a:r>
              <a:rPr lang="es-ES" sz="2000" u="sng" dirty="0">
                <a:solidFill>
                  <a:schemeClr val="hlink"/>
                </a:solidFill>
                <a:hlinkClick r:id="rId7"/>
              </a:rPr>
              <a:t>link</a:t>
            </a:r>
            <a:r>
              <a:rPr lang="es-ES" sz="2000" dirty="0"/>
              <a:t>)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s-ES" sz="2000" dirty="0" err="1"/>
              <a:t>Operating</a:t>
            </a:r>
            <a:r>
              <a:rPr lang="es-ES" sz="2000" dirty="0"/>
              <a:t> </a:t>
            </a:r>
            <a:r>
              <a:rPr lang="es-ES" sz="2000" dirty="0" err="1"/>
              <a:t>System</a:t>
            </a:r>
            <a:r>
              <a:rPr lang="es-ES" sz="2000" dirty="0"/>
              <a:t> </a:t>
            </a:r>
            <a:r>
              <a:rPr lang="es-ES" sz="2000" dirty="0" err="1"/>
              <a:t>Concepts</a:t>
            </a:r>
            <a:r>
              <a:rPr lang="es-ES" sz="2000" dirty="0"/>
              <a:t> - </a:t>
            </a:r>
            <a:r>
              <a:rPr lang="es-ES" sz="2000" dirty="0" err="1"/>
              <a:t>Tenth</a:t>
            </a:r>
            <a:r>
              <a:rPr lang="es-ES" sz="2000" dirty="0"/>
              <a:t> </a:t>
            </a:r>
            <a:r>
              <a:rPr lang="es-ES" sz="2000" dirty="0" err="1"/>
              <a:t>Edition</a:t>
            </a:r>
            <a:r>
              <a:rPr lang="es-ES" sz="2000" dirty="0"/>
              <a:t> (</a:t>
            </a:r>
            <a:r>
              <a:rPr lang="es-ES" sz="2000" u="sng" dirty="0" err="1">
                <a:solidFill>
                  <a:schemeClr val="hlink"/>
                </a:solidFill>
                <a:hlinkClick r:id="rId8"/>
              </a:rPr>
              <a:t>website</a:t>
            </a:r>
            <a:r>
              <a:rPr lang="es-ES" sz="2000" dirty="0"/>
              <a:t>)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s-ES" sz="2000" dirty="0" err="1"/>
              <a:t>Operating</a:t>
            </a:r>
            <a:r>
              <a:rPr lang="es-ES" sz="2000" dirty="0"/>
              <a:t> </a:t>
            </a:r>
            <a:r>
              <a:rPr lang="es-ES" sz="2000" dirty="0" err="1"/>
              <a:t>Systems</a:t>
            </a:r>
            <a:r>
              <a:rPr lang="es-ES" sz="2000" dirty="0"/>
              <a:t> Notes (</a:t>
            </a:r>
            <a:r>
              <a:rPr lang="es-ES" sz="2000" u="sng" dirty="0">
                <a:solidFill>
                  <a:schemeClr val="hlink"/>
                </a:solidFill>
                <a:hlinkClick r:id="rId9"/>
              </a:rPr>
              <a:t>link</a:t>
            </a:r>
            <a:r>
              <a:rPr lang="es-ES" sz="2000" dirty="0"/>
              <a:t>)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hlinkClick r:id="rId10"/>
              </a:rPr>
              <a:t>https://github.com/Aniruddha-Tapas/Operating-Systems-Notes/blob/master/1-Overview.md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hlinkClick r:id="rId11"/>
              </a:rPr>
              <a:t>https://myaut.github.io/dtrace-stap-book/kernel/proc.html</a:t>
            </a:r>
            <a:r>
              <a:rPr lang="es-ES" sz="2000" dirty="0"/>
              <a:t> 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hlinkClick r:id="rId12"/>
              </a:rPr>
              <a:t>https://myaut.github.io/dtrace-stap-book/index.html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hlinkClick r:id="rId13"/>
              </a:rPr>
              <a:t>https://www.technologyuk.net/computing/computer-software/operating-systems/operating-system-utilities.shtml</a:t>
            </a:r>
            <a:r>
              <a:rPr lang="es-ES" sz="2000" dirty="0"/>
              <a:t> 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hlinkClick r:id="rId14"/>
              </a:rPr>
              <a:t>http://www.it.uu.se/education/course/homepage/os/vt18/module-4/simple-threads/</a:t>
            </a:r>
            <a:r>
              <a:rPr lang="es-ES" sz="2000" dirty="0"/>
              <a:t> 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s-ES" sz="2000" u="sng" dirty="0">
                <a:solidFill>
                  <a:schemeClr val="hlink"/>
                </a:solidFill>
                <a:hlinkClick r:id="rId15"/>
              </a:rPr>
              <a:t>https://courses.cs.duke.edu/spring19/compsci590.1/slides/</a:t>
            </a:r>
            <a:r>
              <a:rPr lang="es-ES" sz="2000" dirty="0"/>
              <a:t> 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hlinkClick r:id="rId16"/>
              </a:rPr>
              <a:t>http://csl.snu.ac.kr/courses/4190.307/2020-1/</a:t>
            </a:r>
            <a:r>
              <a:rPr lang="es-ES" sz="2000" dirty="0"/>
              <a:t> 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hlinkClick r:id="rId17"/>
              </a:rPr>
              <a:t>http://pages.cs.wisc.edu/~bart/537/lecturenotes/titlepage.html</a:t>
            </a:r>
            <a:r>
              <a:rPr lang="es-ES" sz="2000" dirty="0"/>
              <a:t> 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hlinkClick r:id="rId18"/>
              </a:rPr>
              <a:t>https://www.scs.stanford.edu/22wi-cs212/</a:t>
            </a:r>
            <a:r>
              <a:rPr lang="es-ES" sz="2000" dirty="0"/>
              <a:t> </a:t>
            </a:r>
            <a:endParaRPr sz="20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hlinkClick r:id="rId19"/>
              </a:rPr>
              <a:t>https://flint.cs.yale.edu/cs421/papers/x86-asm/asm.html</a:t>
            </a:r>
            <a:r>
              <a:rPr lang="es-ES" sz="2000" dirty="0"/>
              <a:t> </a:t>
            </a:r>
            <a:endParaRPr sz="2000" dirty="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hlinkClick r:id="rId20"/>
              </a:rPr>
              <a:t>https://github.com/Aniruddha-Tapas/Operating-Systems-Notes/blob/master/5-Memory-Management.md</a:t>
            </a:r>
            <a:r>
              <a:rPr lang="es-ES" sz="2000" dirty="0"/>
              <a:t> </a:t>
            </a:r>
            <a:endParaRPr sz="2000" dirty="0"/>
          </a:p>
          <a:p>
            <a:pPr marL="457200" lvl="0" indent="-349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hlinkClick r:id="rId21"/>
              </a:rPr>
              <a:t>https://applied-programming.github.io/Operating-Systems-Notes/5-Memory-Management/</a:t>
            </a:r>
            <a:r>
              <a:rPr lang="es-ES" sz="2000" dirty="0"/>
              <a:t> </a:t>
            </a: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9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139</TotalTime>
  <Words>6541</Words>
  <Application>Microsoft Office PowerPoint</Application>
  <PresentationFormat>Panorámica</PresentationFormat>
  <Paragraphs>2094</Paragraphs>
  <Slides>62</Slides>
  <Notes>62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62</vt:i4>
      </vt:variant>
    </vt:vector>
  </HeadingPairs>
  <TitlesOfParts>
    <vt:vector size="71" baseType="lpstr">
      <vt:lpstr>Consolas</vt:lpstr>
      <vt:lpstr>Calibri</vt:lpstr>
      <vt:lpstr>Courier New</vt:lpstr>
      <vt:lpstr>Arial</vt:lpstr>
      <vt:lpstr>Calibri Light</vt:lpstr>
      <vt:lpstr>Times New Roman</vt:lpstr>
      <vt:lpstr>Roboto</vt:lpstr>
      <vt:lpstr>Roboto Slab</vt:lpstr>
      <vt:lpstr>Tema de Office</vt:lpstr>
      <vt:lpstr>Apuntes – Clase 11</vt:lpstr>
      <vt:lpstr>Virtualización de memoria</vt:lpstr>
      <vt:lpstr>Address Translation - Mapeo</vt:lpstr>
      <vt:lpstr>Memory Management Unit (MMU)</vt:lpstr>
      <vt:lpstr>Traducción de direcciones – Dynamic Relocation (Base &amp; Bounds)</vt:lpstr>
      <vt:lpstr>Traducción de direcciones – Dynamic Relocation (Base &amp; Bounds)</vt:lpstr>
      <vt:lpstr>Traducción de direcciones – Segmentation</vt:lpstr>
      <vt:lpstr>Traducción de direcciones – Segmentation</vt:lpstr>
      <vt:lpstr>Traducción de direcciones – Segmentation</vt:lpstr>
      <vt:lpstr>Traducción de direcciones – Paginación</vt:lpstr>
      <vt:lpstr>Traducción de direcciones – Paginación</vt:lpstr>
      <vt:lpstr>Traducción de direcciones – Paginación</vt:lpstr>
      <vt:lpstr>Traducción de direcciones – Paginación</vt:lpstr>
      <vt:lpstr>Traducción de direcciones – Paginación</vt:lpstr>
      <vt:lpstr>Traducción de direcciones – Paginación</vt:lpstr>
      <vt:lpstr>Traducción de direcciones – Paginación</vt:lpstr>
      <vt:lpstr>Traducción de direcciones – Trazas de memoria</vt:lpstr>
      <vt:lpstr>Traducción de direcciones – Trazas de memoria</vt:lpstr>
      <vt:lpstr>Traducción de direcciones – Trazas de memoria</vt:lpstr>
      <vt:lpstr>Contextualización</vt:lpstr>
      <vt:lpstr>TLB (Translation Lookaside Buffer)</vt:lpstr>
      <vt:lpstr>TLB (Translation Lookaside Buffer)</vt:lpstr>
      <vt:lpstr>TLB (Translation Lookaside Buffer)</vt:lpstr>
      <vt:lpstr>Address Translation usando TLB</vt:lpstr>
      <vt:lpstr>Address Translation usando TLB</vt:lpstr>
      <vt:lpstr>Address Translation usando TLB</vt:lpstr>
      <vt:lpstr>Address Translation usando TLB</vt:lpstr>
      <vt:lpstr>Address Translation usando TLB</vt:lpstr>
      <vt:lpstr>Address Translation usando TLB</vt:lpstr>
      <vt:lpstr>Address Translation usando TLB</vt:lpstr>
      <vt:lpstr>Address Translation usando TLB</vt:lpstr>
      <vt:lpstr>Address Translation usando TLB</vt:lpstr>
      <vt:lpstr>Address Translation usando TLB</vt:lpstr>
      <vt:lpstr>Address Translation usando TLB</vt:lpstr>
      <vt:lpstr>Address Translation usando TLB</vt:lpstr>
      <vt:lpstr>Address Translation usando TLB</vt:lpstr>
      <vt:lpstr>Address Translation usando TLB</vt:lpstr>
      <vt:lpstr>¿Quién maneja las TLB Miss?</vt:lpstr>
      <vt:lpstr>¿Quién maneja las TLB Miss?</vt:lpstr>
      <vt:lpstr>¿Quién maneja las TLB Miss?</vt:lpstr>
      <vt:lpstr>Contenido de una entrada TLB</vt:lpstr>
      <vt:lpstr>Contenido de una entrada TLB</vt:lpstr>
      <vt:lpstr>TLB y Context switch</vt:lpstr>
      <vt:lpstr>TLB y Context switch</vt:lpstr>
      <vt:lpstr>TLB y Context switch</vt:lpstr>
      <vt:lpstr>TLB y Context switch</vt:lpstr>
      <vt:lpstr>TLB y Context switch</vt:lpstr>
      <vt:lpstr>TLB y Context switch</vt:lpstr>
      <vt:lpstr>TLB y Context switch</vt:lpstr>
      <vt:lpstr>TLB y Context switch</vt:lpstr>
      <vt:lpstr>TLB y Context switch</vt:lpstr>
      <vt:lpstr>TLB y Context switch</vt:lpstr>
      <vt:lpstr>Políticas de reemplazo</vt:lpstr>
      <vt:lpstr>Políticas de reemplazo</vt:lpstr>
      <vt:lpstr>Políticas de reemplazo</vt:lpstr>
      <vt:lpstr>Políticas de reemplazo</vt:lpstr>
      <vt:lpstr>Políticas de reemplazo</vt:lpstr>
      <vt:lpstr>Políticas de reemplazo</vt:lpstr>
      <vt:lpstr>Entrada TLB real - caso MIPS</vt:lpstr>
      <vt:lpstr>Entrada TLB real - caso MIPS</vt:lpstr>
      <vt:lpstr>Entrada TLB real - caso MIPS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Sistemas Operativos</dc:title>
  <dc:creator>Usuario</dc:creator>
  <cp:lastModifiedBy>HENRY ALBERTO ARCILA RAMIREZ</cp:lastModifiedBy>
  <cp:revision>25</cp:revision>
  <dcterms:modified xsi:type="dcterms:W3CDTF">2026-09-22T10:58:34Z</dcterms:modified>
</cp:coreProperties>
</file>