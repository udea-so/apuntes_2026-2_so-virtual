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3" r:id="rId1"/>
    <p:sldMasterId id="2147483677" r:id="rId2"/>
    <p:sldMasterId id="2147483690" r:id="rId3"/>
  </p:sldMasterIdLst>
  <p:notesMasterIdLst>
    <p:notesMasterId r:id="rId38"/>
  </p:notesMasterIdLst>
  <p:sldIdLst>
    <p:sldId id="256" r:id="rId4"/>
    <p:sldId id="257" r:id="rId5"/>
    <p:sldId id="265" r:id="rId6"/>
    <p:sldId id="266" r:id="rId7"/>
    <p:sldId id="267" r:id="rId8"/>
    <p:sldId id="268" r:id="rId9"/>
    <p:sldId id="269" r:id="rId10"/>
    <p:sldId id="270" r:id="rId11"/>
    <p:sldId id="271" r:id="rId12"/>
    <p:sldId id="273" r:id="rId13"/>
    <p:sldId id="274" r:id="rId14"/>
    <p:sldId id="276" r:id="rId15"/>
    <p:sldId id="278" r:id="rId16"/>
    <p:sldId id="279" r:id="rId17"/>
    <p:sldId id="280" r:id="rId18"/>
    <p:sldId id="281" r:id="rId19"/>
    <p:sldId id="282" r:id="rId20"/>
    <p:sldId id="283" r:id="rId21"/>
    <p:sldId id="284" r:id="rId22"/>
    <p:sldId id="285" r:id="rId23"/>
    <p:sldId id="286" r:id="rId24"/>
    <p:sldId id="334" r:id="rId25"/>
    <p:sldId id="288" r:id="rId26"/>
    <p:sldId id="289" r:id="rId27"/>
    <p:sldId id="290" r:id="rId28"/>
    <p:sldId id="291" r:id="rId29"/>
    <p:sldId id="292" r:id="rId30"/>
    <p:sldId id="293" r:id="rId31"/>
    <p:sldId id="294" r:id="rId32"/>
    <p:sldId id="295" r:id="rId33"/>
    <p:sldId id="296" r:id="rId34"/>
    <p:sldId id="297" r:id="rId35"/>
    <p:sldId id="298" r:id="rId36"/>
    <p:sldId id="304" r:id="rId37"/>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69" d="100"/>
          <a:sy n="69" d="100"/>
        </p:scale>
        <p:origin x="696"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presProps" Target="presProps.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tableStyles" Target="tableStyle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viewProps" Target="view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7CB702-8691-46C7-8F45-ADD5335D54F9}" type="datetimeFigureOut">
              <a:rPr lang="es-CO" smtClean="0"/>
              <a:t>10/08/2026</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F6D2D5-9B13-49F8-9469-365765D81898}" type="slidenum">
              <a:rPr lang="es-CO" smtClean="0"/>
              <a:t>‹Nº›</a:t>
            </a:fld>
            <a:endParaRPr lang="es-CO"/>
          </a:p>
        </p:txBody>
      </p:sp>
    </p:spTree>
    <p:extLst>
      <p:ext uri="{BB962C8B-B14F-4D97-AF65-F5344CB8AC3E}">
        <p14:creationId xmlns:p14="http://schemas.microsoft.com/office/powerpoint/2010/main" val="30577511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Está presente en casi todos los computadores que nos rodean.</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Los lenguajes de programación más populares no fueron diseñados para programación paralela.</a:t>
            </a:r>
            <a:endParaRPr sz="2400">
              <a:solidFill>
                <a:schemeClr val="dk1"/>
              </a:solidFill>
              <a:latin typeface="Roboto"/>
              <a:ea typeface="Roboto"/>
              <a:cs typeface="Roboto"/>
              <a:sym typeface="Roboto"/>
            </a:endParaRPr>
          </a:p>
          <a:p>
            <a:pPr marL="91440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143" name="Google Shape;143;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78358aba08_0_1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g78358aba08_0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g10292d3bc9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5" name="Google Shape;215;g10292d3bc9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91542c71bb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 name="Google Shape;238;g91542c71bb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g91542c71bb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7" name="Google Shape;247;g91542c71bb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10292d3bc98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 name="Google Shape;260;g10292d3bc98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
        <p:cNvGrpSpPr/>
        <p:nvPr/>
      </p:nvGrpSpPr>
      <p:grpSpPr>
        <a:xfrm>
          <a:off x="0" y="0"/>
          <a:ext cx="0" cy="0"/>
          <a:chOff x="0" y="0"/>
          <a:chExt cx="0" cy="0"/>
        </a:xfrm>
      </p:grpSpPr>
      <p:sp>
        <p:nvSpPr>
          <p:cNvPr id="275" name="Google Shape;275;g91542c71bb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6" name="Google Shape;276;g91542c71bb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g91542c71bb_0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8" name="Google Shape;288;g91542c71bb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g926a7ab31e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5" name="Google Shape;315;g926a7ab31e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78358aba08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78358aba08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926a7ab31e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926a7ab31e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926a7ab31e_0_1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g926a7ab31e_0_1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9"/>
        <p:cNvGrpSpPr/>
        <p:nvPr/>
      </p:nvGrpSpPr>
      <p:grpSpPr>
        <a:xfrm>
          <a:off x="0" y="0"/>
          <a:ext cx="0" cy="0"/>
          <a:chOff x="0" y="0"/>
          <a:chExt cx="0" cy="0"/>
        </a:xfrm>
      </p:grpSpPr>
      <p:sp>
        <p:nvSpPr>
          <p:cNvPr id="380" name="Google Shape;380;g926a7ab31e_0_1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1" name="Google Shape;381;g926a7ab31e_0_1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926a7ab31e_0_1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926a7ab31e_0_1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7"/>
        <p:cNvGrpSpPr/>
        <p:nvPr/>
      </p:nvGrpSpPr>
      <p:grpSpPr>
        <a:xfrm>
          <a:off x="0" y="0"/>
          <a:ext cx="0" cy="0"/>
          <a:chOff x="0" y="0"/>
          <a:chExt cx="0" cy="0"/>
        </a:xfrm>
      </p:grpSpPr>
      <p:sp>
        <p:nvSpPr>
          <p:cNvPr id="408" name="Google Shape;408;g926a7ab31e_0_1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9" name="Google Shape;409;g926a7ab31e_0_1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g926a7ab31e_0_1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8" name="Google Shape;418;g926a7ab31e_0_1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926a7ab31e_0_1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926a7ab31e_0_1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926a7ab31e_0_2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926a7ab31e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6"/>
        <p:cNvGrpSpPr/>
        <p:nvPr/>
      </p:nvGrpSpPr>
      <p:grpSpPr>
        <a:xfrm>
          <a:off x="0" y="0"/>
          <a:ext cx="0" cy="0"/>
          <a:chOff x="0" y="0"/>
          <a:chExt cx="0" cy="0"/>
        </a:xfrm>
      </p:grpSpPr>
      <p:sp>
        <p:nvSpPr>
          <p:cNvPr id="457" name="Google Shape;457;g926a7ab31e_0_2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8" name="Google Shape;458;g926a7ab31e_0_2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926a7ab31e_0_2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7" name="Google Shape;467;g926a7ab31e_0_2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926a7ab31e_0_2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926a7ab31e_0_2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g926a7ab31e_0_2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4" name="Google Shape;494;g926a7ab31e_0_2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8"/>
        <p:cNvGrpSpPr/>
        <p:nvPr/>
      </p:nvGrpSpPr>
      <p:grpSpPr>
        <a:xfrm>
          <a:off x="0" y="0"/>
          <a:ext cx="0" cy="0"/>
          <a:chOff x="0" y="0"/>
          <a:chExt cx="0" cy="0"/>
        </a:xfrm>
      </p:grpSpPr>
      <p:sp>
        <p:nvSpPr>
          <p:cNvPr id="509" name="Google Shape;509;g926a7ab31e_0_3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0" name="Google Shape;510;g926a7ab31e_0_3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2"/>
        <p:cNvGrpSpPr/>
        <p:nvPr/>
      </p:nvGrpSpPr>
      <p:grpSpPr>
        <a:xfrm>
          <a:off x="0" y="0"/>
          <a:ext cx="0" cy="0"/>
          <a:chOff x="0" y="0"/>
          <a:chExt cx="0" cy="0"/>
        </a:xfrm>
      </p:grpSpPr>
      <p:sp>
        <p:nvSpPr>
          <p:cNvPr id="523" name="Google Shape;523;g926a7ab31e_0_5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4" name="Google Shape;524;g926a7ab31e_0_5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2"/>
        <p:cNvGrpSpPr/>
        <p:nvPr/>
      </p:nvGrpSpPr>
      <p:grpSpPr>
        <a:xfrm>
          <a:off x="0" y="0"/>
          <a:ext cx="0" cy="0"/>
          <a:chOff x="0" y="0"/>
          <a:chExt cx="0" cy="0"/>
        </a:xfrm>
      </p:grpSpPr>
      <p:sp>
        <p:nvSpPr>
          <p:cNvPr id="533" name="Google Shape;533;g10292d3bc98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4" name="Google Shape;534;g10292d3bc98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3"/>
        <p:cNvGrpSpPr/>
        <p:nvPr/>
      </p:nvGrpSpPr>
      <p:grpSpPr>
        <a:xfrm>
          <a:off x="0" y="0"/>
          <a:ext cx="0" cy="0"/>
          <a:chOff x="0" y="0"/>
          <a:chExt cx="0" cy="0"/>
        </a:xfrm>
      </p:grpSpPr>
      <p:sp>
        <p:nvSpPr>
          <p:cNvPr id="564" name="Google Shape;564;g10292d3bc98_0_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5" name="Google Shape;565;g10292d3bc98_0_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4"/>
        <p:cNvGrpSpPr/>
        <p:nvPr/>
      </p:nvGrpSpPr>
      <p:grpSpPr>
        <a:xfrm>
          <a:off x="0" y="0"/>
          <a:ext cx="0" cy="0"/>
          <a:chOff x="0" y="0"/>
          <a:chExt cx="0" cy="0"/>
        </a:xfrm>
      </p:grpSpPr>
      <p:sp>
        <p:nvSpPr>
          <p:cNvPr id="595" name="Google Shape;595;g926a7ab31e_0_3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6" name="Google Shape;596;g926a7ab31e_0_3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4"/>
        <p:cNvGrpSpPr/>
        <p:nvPr/>
      </p:nvGrpSpPr>
      <p:grpSpPr>
        <a:xfrm>
          <a:off x="0" y="0"/>
          <a:ext cx="0" cy="0"/>
          <a:chOff x="0" y="0"/>
          <a:chExt cx="0" cy="0"/>
        </a:xfrm>
      </p:grpSpPr>
      <p:sp>
        <p:nvSpPr>
          <p:cNvPr id="605" name="Google Shape;605;g926a7ab31e_0_3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6" name="Google Shape;606;g926a7ab31e_0_3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1"/>
        <p:cNvGrpSpPr/>
        <p:nvPr/>
      </p:nvGrpSpPr>
      <p:grpSpPr>
        <a:xfrm>
          <a:off x="0" y="0"/>
          <a:ext cx="0" cy="0"/>
          <a:chOff x="0" y="0"/>
          <a:chExt cx="0" cy="0"/>
        </a:xfrm>
      </p:grpSpPr>
      <p:sp>
        <p:nvSpPr>
          <p:cNvPr id="622" name="Google Shape;622;g926a7ab31e_0_4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3" name="Google Shape;623;g926a7ab31e_0_4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6"/>
        <p:cNvGrpSpPr/>
        <p:nvPr/>
      </p:nvGrpSpPr>
      <p:grpSpPr>
        <a:xfrm>
          <a:off x="0" y="0"/>
          <a:ext cx="0" cy="0"/>
          <a:chOff x="0" y="0"/>
          <a:chExt cx="0" cy="0"/>
        </a:xfrm>
      </p:grpSpPr>
      <p:sp>
        <p:nvSpPr>
          <p:cNvPr id="637" name="Google Shape;637;g926a7ab31e_0_4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8" name="Google Shape;638;g926a7ab31e_0_4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5"/>
        <p:cNvGrpSpPr/>
        <p:nvPr/>
      </p:nvGrpSpPr>
      <p:grpSpPr>
        <a:xfrm>
          <a:off x="0" y="0"/>
          <a:ext cx="0" cy="0"/>
          <a:chOff x="0" y="0"/>
          <a:chExt cx="0" cy="0"/>
        </a:xfrm>
      </p:grpSpPr>
      <p:sp>
        <p:nvSpPr>
          <p:cNvPr id="646" name="Google Shape;646;g926a7ab31e_0_4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7" name="Google Shape;647;g926a7ab31e_0_4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4"/>
        <p:cNvGrpSpPr/>
        <p:nvPr/>
      </p:nvGrpSpPr>
      <p:grpSpPr>
        <a:xfrm>
          <a:off x="0" y="0"/>
          <a:ext cx="0" cy="0"/>
          <a:chOff x="0" y="0"/>
          <a:chExt cx="0" cy="0"/>
        </a:xfrm>
      </p:grpSpPr>
      <p:sp>
        <p:nvSpPr>
          <p:cNvPr id="705" name="Google Shape;705;g926a7ab31e_0_5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Está presente en casi todos los computadores que nos rodean.</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Los lenguajes de programación más populares no fueron diseñados para programación paralela.</a:t>
            </a:r>
            <a:endParaRPr sz="2400">
              <a:solidFill>
                <a:schemeClr val="dk1"/>
              </a:solidFill>
              <a:latin typeface="Roboto"/>
              <a:ea typeface="Roboto"/>
              <a:cs typeface="Roboto"/>
              <a:sym typeface="Roboto"/>
            </a:endParaRPr>
          </a:p>
          <a:p>
            <a:pPr marL="91440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706" name="Google Shape;706;g926a7ab31e_0_5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10/08/2026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226252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10/08/2026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1723276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4427C41C-8DAC-4880-9EBF-4A80A4FB9896}" type="datetimeFigureOut">
              <a:rPr lang="es-CO" smtClean="0"/>
              <a:t>10/08/2026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37841589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4427C41C-8DAC-4880-9EBF-4A80A4FB9896}" type="datetimeFigureOut">
              <a:rPr lang="es-CO" smtClean="0"/>
              <a:t>10/08/2026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4295644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4427C41C-8DAC-4880-9EBF-4A80A4FB9896}" type="datetimeFigureOut">
              <a:rPr lang="es-CO" smtClean="0"/>
              <a:t>10/08/2026</a:t>
            </a:fld>
            <a:endParaRPr lang="es-CO"/>
          </a:p>
        </p:txBody>
      </p:sp>
      <p:sp>
        <p:nvSpPr>
          <p:cNvPr id="8" name="Footer Placeholder 7"/>
          <p:cNvSpPr>
            <a:spLocks noGrp="1"/>
          </p:cNvSpPr>
          <p:nvPr>
            <p:ph type="ftr" sz="quarter" idx="11"/>
          </p:nvPr>
        </p:nvSpPr>
        <p:spPr/>
        <p:txBody>
          <a:bodyPr/>
          <a:lstStyle/>
          <a:p>
            <a:endParaRPr lang="es-CO"/>
          </a:p>
        </p:txBody>
      </p:sp>
      <p:sp>
        <p:nvSpPr>
          <p:cNvPr id="9" name="Slide Number Placeholder 8"/>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7271254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4427C41C-8DAC-4880-9EBF-4A80A4FB9896}" type="datetimeFigureOut">
              <a:rPr lang="es-CO" smtClean="0"/>
              <a:t>10/08/2026</a:t>
            </a:fld>
            <a:endParaRPr lang="es-CO"/>
          </a:p>
        </p:txBody>
      </p:sp>
      <p:sp>
        <p:nvSpPr>
          <p:cNvPr id="4" name="Footer Placeholder 3"/>
          <p:cNvSpPr>
            <a:spLocks noGrp="1"/>
          </p:cNvSpPr>
          <p:nvPr>
            <p:ph type="ftr" sz="quarter" idx="11"/>
          </p:nvPr>
        </p:nvSpPr>
        <p:spPr/>
        <p:txBody>
          <a:bodyPr/>
          <a:lstStyle/>
          <a:p>
            <a:endParaRPr lang="es-CO"/>
          </a:p>
        </p:txBody>
      </p:sp>
      <p:sp>
        <p:nvSpPr>
          <p:cNvPr id="5" name="Slide Number Placeholder 4"/>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8547177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427C41C-8DAC-4880-9EBF-4A80A4FB9896}" type="datetimeFigureOut">
              <a:rPr lang="es-CO" smtClean="0"/>
              <a:t>10/08/2026</a:t>
            </a:fld>
            <a:endParaRPr lang="es-CO"/>
          </a:p>
        </p:txBody>
      </p:sp>
      <p:sp>
        <p:nvSpPr>
          <p:cNvPr id="3" name="Footer Placeholder 2"/>
          <p:cNvSpPr>
            <a:spLocks noGrp="1"/>
          </p:cNvSpPr>
          <p:nvPr>
            <p:ph type="ftr" sz="quarter" idx="11"/>
          </p:nvPr>
        </p:nvSpPr>
        <p:spPr/>
        <p:txBody>
          <a:bodyPr/>
          <a:lstStyle/>
          <a:p>
            <a:endParaRPr lang="es-CO"/>
          </a:p>
        </p:txBody>
      </p:sp>
      <p:sp>
        <p:nvSpPr>
          <p:cNvPr id="4" name="Slide Number Placeholder 3"/>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3897932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427C41C-8DAC-4880-9EBF-4A80A4FB9896}" type="datetimeFigureOut">
              <a:rPr lang="es-CO" smtClean="0"/>
              <a:t>10/08/2026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7840147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427C41C-8DAC-4880-9EBF-4A80A4FB9896}" type="datetimeFigureOut">
              <a:rPr lang="es-CO" smtClean="0"/>
              <a:t>10/08/2026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42031630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10/08/2026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510682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10/08/2026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5936862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UdeA-Nueva 1 1">
  <p:cSld name="UdeA-Nueva 1 1">
    <p:spTree>
      <p:nvGrpSpPr>
        <p:cNvPr id="1" name="Shape 36"/>
        <p:cNvGrpSpPr/>
        <p:nvPr/>
      </p:nvGrpSpPr>
      <p:grpSpPr>
        <a:xfrm>
          <a:off x="0" y="0"/>
          <a:ext cx="0" cy="0"/>
          <a:chOff x="0" y="0"/>
          <a:chExt cx="0" cy="0"/>
        </a:xfrm>
      </p:grpSpPr>
      <p:sp>
        <p:nvSpPr>
          <p:cNvPr id="37" name="Google Shape;37;p4"/>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lvl1pPr marL="0" marR="0" lvl="0" indent="0" algn="l" rtl="0">
              <a:lnSpc>
                <a:spcPct val="90000"/>
              </a:lnSpc>
              <a:spcBef>
                <a:spcPts val="0"/>
              </a:spcBef>
              <a:spcAft>
                <a:spcPts val="0"/>
              </a:spcAft>
              <a:buNone/>
              <a:defRPr b="1">
                <a:solidFill>
                  <a:srgbClr val="8CC63E"/>
                </a:solidFill>
                <a:latin typeface="Roboto Slab"/>
                <a:ea typeface="Roboto Slab"/>
                <a:cs typeface="Roboto Slab"/>
                <a:sym typeface="Roboto Slab"/>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8" name="Google Shape;38;p4"/>
          <p:cNvSpPr txBox="1">
            <a:spLocks noGrp="1"/>
          </p:cNvSpPr>
          <p:nvPr>
            <p:ph type="body" idx="1"/>
          </p:nvPr>
        </p:nvSpPr>
        <p:spPr>
          <a:xfrm>
            <a:off x="838200" y="1318001"/>
            <a:ext cx="10515600" cy="4859100"/>
          </a:xfrm>
          <a:prstGeom prst="rect">
            <a:avLst/>
          </a:prstGeom>
          <a:noFill/>
          <a:ln>
            <a:noFill/>
          </a:ln>
        </p:spPr>
        <p:txBody>
          <a:bodyPr spcFirstLastPara="1" wrap="square" lIns="91425" tIns="45700" rIns="91425" bIns="45700" anchor="t" anchorCtr="0">
            <a:noAutofit/>
          </a:bodyPr>
          <a:lstStyle>
            <a:lvl1pPr marL="457200" lvl="0" indent="-342900" algn="l" rtl="0">
              <a:lnSpc>
                <a:spcPct val="90000"/>
              </a:lnSpc>
              <a:spcBef>
                <a:spcPts val="1000"/>
              </a:spcBef>
              <a:spcAft>
                <a:spcPts val="0"/>
              </a:spcAft>
              <a:buClr>
                <a:schemeClr val="dk1"/>
              </a:buClr>
              <a:buSzPts val="1800"/>
              <a:buFont typeface="Roboto"/>
              <a:buChar char="●"/>
              <a:defRPr>
                <a:latin typeface="Roboto"/>
                <a:ea typeface="Roboto"/>
                <a:cs typeface="Roboto"/>
                <a:sym typeface="Roboto"/>
              </a:defRPr>
            </a:lvl1pPr>
            <a:lvl2pPr marL="914400" lvl="1"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2pPr>
            <a:lvl3pPr marL="1371600" lvl="2"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3pPr>
            <a:lvl4pPr marL="1828800" lvl="3"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4pPr>
            <a:lvl5pPr marL="2286000" lvl="4"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5pPr>
            <a:lvl6pPr marL="2743200" lvl="5"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6pPr>
            <a:lvl7pPr marL="3200400" lvl="6"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7pPr>
            <a:lvl8pPr marL="3657600" lvl="7"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8pPr>
            <a:lvl9pPr marL="4114800" lvl="8"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9pPr>
          </a:lstStyle>
          <a:p>
            <a:endParaRPr/>
          </a:p>
        </p:txBody>
      </p:sp>
      <p:sp>
        <p:nvSpPr>
          <p:cNvPr id="39" name="Google Shape;39;p4"/>
          <p:cNvSpPr txBox="1">
            <a:spLocks noGrp="1"/>
          </p:cNvSpPr>
          <p:nvPr>
            <p:ph type="dt" idx="10"/>
          </p:nvPr>
        </p:nvSpPr>
        <p:spPr>
          <a:xfrm>
            <a:off x="1264600" y="6280150"/>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40" name="Google Shape;40;p4"/>
          <p:cNvSpPr txBox="1">
            <a:spLocks noGrp="1"/>
          </p:cNvSpPr>
          <p:nvPr>
            <p:ph type="ftr" idx="11"/>
          </p:nvPr>
        </p:nvSpPr>
        <p:spPr>
          <a:xfrm>
            <a:off x="4755775" y="6280150"/>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41" name="Google Shape;41;p4"/>
          <p:cNvSpPr txBox="1">
            <a:spLocks noGrp="1"/>
          </p:cNvSpPr>
          <p:nvPr>
            <p:ph type="sldNum" idx="12"/>
          </p:nvPr>
        </p:nvSpPr>
        <p:spPr>
          <a:xfrm>
            <a:off x="9144000" y="6280150"/>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extLst>
      <p:ext uri="{BB962C8B-B14F-4D97-AF65-F5344CB8AC3E}">
        <p14:creationId xmlns:p14="http://schemas.microsoft.com/office/powerpoint/2010/main" val="19108862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UdeA-Nueva 1">
  <p:cSld name="UdeA-Nueva 1">
    <p:spTree>
      <p:nvGrpSpPr>
        <p:cNvPr id="1" name="Shape 23"/>
        <p:cNvGrpSpPr/>
        <p:nvPr/>
      </p:nvGrpSpPr>
      <p:grpSpPr>
        <a:xfrm>
          <a:off x="0" y="0"/>
          <a:ext cx="0" cy="0"/>
          <a:chOff x="0" y="0"/>
          <a:chExt cx="0" cy="0"/>
        </a:xfrm>
      </p:grpSpPr>
      <p:sp>
        <p:nvSpPr>
          <p:cNvPr id="24" name="Google Shape;24;p3"/>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lvl1pPr marL="0" marR="0" lvl="0" indent="0" algn="l" rtl="0">
              <a:lnSpc>
                <a:spcPct val="90000"/>
              </a:lnSpc>
              <a:spcBef>
                <a:spcPts val="0"/>
              </a:spcBef>
              <a:spcAft>
                <a:spcPts val="0"/>
              </a:spcAft>
              <a:buNone/>
              <a:defRPr b="1">
                <a:solidFill>
                  <a:srgbClr val="F8A02B"/>
                </a:solidFill>
                <a:latin typeface="Roboto Slab"/>
                <a:ea typeface="Roboto Slab"/>
                <a:cs typeface="Roboto Slab"/>
                <a:sym typeface="Roboto Slab"/>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25" name="Google Shape;25;p3"/>
          <p:cNvSpPr txBox="1">
            <a:spLocks noGrp="1"/>
          </p:cNvSpPr>
          <p:nvPr>
            <p:ph type="body" idx="1"/>
          </p:nvPr>
        </p:nvSpPr>
        <p:spPr>
          <a:xfrm>
            <a:off x="838200" y="1318001"/>
            <a:ext cx="10515600" cy="4859100"/>
          </a:xfrm>
          <a:prstGeom prst="rect">
            <a:avLst/>
          </a:prstGeom>
          <a:noFill/>
          <a:ln>
            <a:noFill/>
          </a:ln>
        </p:spPr>
        <p:txBody>
          <a:bodyPr spcFirstLastPara="1" wrap="square" lIns="91425" tIns="45700" rIns="91425" bIns="45700" anchor="t" anchorCtr="0">
            <a:noAutofit/>
          </a:bodyPr>
          <a:lstStyle>
            <a:lvl1pPr marL="457200" lvl="0" indent="-342900" algn="l" rtl="0">
              <a:lnSpc>
                <a:spcPct val="90000"/>
              </a:lnSpc>
              <a:spcBef>
                <a:spcPts val="1000"/>
              </a:spcBef>
              <a:spcAft>
                <a:spcPts val="0"/>
              </a:spcAft>
              <a:buClr>
                <a:schemeClr val="dk1"/>
              </a:buClr>
              <a:buSzPts val="1800"/>
              <a:buFont typeface="Roboto"/>
              <a:buChar char="●"/>
              <a:defRPr>
                <a:latin typeface="Roboto"/>
                <a:ea typeface="Roboto"/>
                <a:cs typeface="Roboto"/>
                <a:sym typeface="Roboto"/>
              </a:defRPr>
            </a:lvl1pPr>
            <a:lvl2pPr marL="914400" lvl="1"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2pPr>
            <a:lvl3pPr marL="1371600" lvl="2"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3pPr>
            <a:lvl4pPr marL="1828800" lvl="3"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4pPr>
            <a:lvl5pPr marL="2286000" lvl="4"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5pPr>
            <a:lvl6pPr marL="2743200" lvl="5"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6pPr>
            <a:lvl7pPr marL="3200400" lvl="6"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7pPr>
            <a:lvl8pPr marL="3657600" lvl="7"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8pPr>
            <a:lvl9pPr marL="4114800" lvl="8"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9pPr>
          </a:lstStyle>
          <a:p>
            <a:endParaRPr/>
          </a:p>
        </p:txBody>
      </p:sp>
      <p:sp>
        <p:nvSpPr>
          <p:cNvPr id="26" name="Google Shape;26;p3"/>
          <p:cNvSpPr txBox="1">
            <a:spLocks noGrp="1"/>
          </p:cNvSpPr>
          <p:nvPr>
            <p:ph type="dt" idx="10"/>
          </p:nvPr>
        </p:nvSpPr>
        <p:spPr>
          <a:xfrm>
            <a:off x="1204075" y="6297450"/>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7" name="Google Shape;27;p3"/>
          <p:cNvSpPr txBox="1">
            <a:spLocks noGrp="1"/>
          </p:cNvSpPr>
          <p:nvPr>
            <p:ph type="ftr" idx="11"/>
          </p:nvPr>
        </p:nvSpPr>
        <p:spPr>
          <a:xfrm>
            <a:off x="4861675" y="6280150"/>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8" name="Google Shape;28;p3"/>
          <p:cNvSpPr txBox="1">
            <a:spLocks noGrp="1"/>
          </p:cNvSpPr>
          <p:nvPr>
            <p:ph type="sldNum" idx="12"/>
          </p:nvPr>
        </p:nvSpPr>
        <p:spPr>
          <a:xfrm>
            <a:off x="9144000" y="6280150"/>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
        <p:nvSpPr>
          <p:cNvPr id="29" name="Google Shape;29;p3"/>
          <p:cNvSpPr/>
          <p:nvPr/>
        </p:nvSpPr>
        <p:spPr>
          <a:xfrm>
            <a:off x="271779" y="466585"/>
            <a:ext cx="178200" cy="1782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30" name="Google Shape;30;p3"/>
          <p:cNvPicPr preferRelativeResize="0"/>
          <p:nvPr/>
        </p:nvPicPr>
        <p:blipFill rotWithShape="1">
          <a:blip r:embed="rId2">
            <a:alphaModFix/>
          </a:blip>
          <a:srcRect/>
          <a:stretch/>
        </p:blipFill>
        <p:spPr>
          <a:xfrm>
            <a:off x="9403368" y="200380"/>
            <a:ext cx="2262624" cy="710577"/>
          </a:xfrm>
          <a:prstGeom prst="rect">
            <a:avLst/>
          </a:prstGeom>
          <a:noFill/>
          <a:ln>
            <a:noFill/>
          </a:ln>
        </p:spPr>
      </p:pic>
      <p:sp>
        <p:nvSpPr>
          <p:cNvPr id="31" name="Google Shape;31;p3"/>
          <p:cNvSpPr/>
          <p:nvPr/>
        </p:nvSpPr>
        <p:spPr>
          <a:xfrm rot="5400000">
            <a:off x="-3061973" y="3062100"/>
            <a:ext cx="6858000" cy="733800"/>
          </a:xfrm>
          <a:prstGeom prst="rect">
            <a:avLst/>
          </a:prstGeom>
          <a:solidFill>
            <a:srgbClr val="F8A02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FFC000"/>
              </a:solidFill>
              <a:latin typeface="Calibri"/>
              <a:ea typeface="Calibri"/>
              <a:cs typeface="Calibri"/>
              <a:sym typeface="Calibri"/>
            </a:endParaRPr>
          </a:p>
        </p:txBody>
      </p:sp>
      <p:sp>
        <p:nvSpPr>
          <p:cNvPr id="32" name="Google Shape;32;p3"/>
          <p:cNvSpPr/>
          <p:nvPr/>
        </p:nvSpPr>
        <p:spPr>
          <a:xfrm>
            <a:off x="271779" y="466585"/>
            <a:ext cx="178200" cy="1782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3" name="Google Shape;33;p3"/>
          <p:cNvSpPr/>
          <p:nvPr/>
        </p:nvSpPr>
        <p:spPr>
          <a:xfrm>
            <a:off x="11347918" y="6390907"/>
            <a:ext cx="178200" cy="178200"/>
          </a:xfrm>
          <a:prstGeom prst="rect">
            <a:avLst/>
          </a:prstGeom>
          <a:solidFill>
            <a:srgbClr val="F8A02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4" name="Google Shape;34;p3"/>
          <p:cNvSpPr/>
          <p:nvPr/>
        </p:nvSpPr>
        <p:spPr>
          <a:xfrm>
            <a:off x="11042181" y="6386352"/>
            <a:ext cx="178200" cy="178200"/>
          </a:xfrm>
          <a:prstGeom prst="rect">
            <a:avLst/>
          </a:prstGeom>
          <a:solidFill>
            <a:srgbClr val="8CC63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5" name="Google Shape;35;p3"/>
          <p:cNvSpPr/>
          <p:nvPr/>
        </p:nvSpPr>
        <p:spPr>
          <a:xfrm>
            <a:off x="10736444" y="6390907"/>
            <a:ext cx="178200" cy="178200"/>
          </a:xfrm>
          <a:prstGeom prst="rect">
            <a:avLst/>
          </a:prstGeom>
          <a:solidFill>
            <a:srgbClr val="701E5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Tree>
    <p:extLst>
      <p:ext uri="{BB962C8B-B14F-4D97-AF65-F5344CB8AC3E}">
        <p14:creationId xmlns:p14="http://schemas.microsoft.com/office/powerpoint/2010/main" val="23067813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10/08/2026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77666750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10/08/2026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4472401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4427C41C-8DAC-4880-9EBF-4A80A4FB9896}" type="datetimeFigureOut">
              <a:rPr lang="es-CO" smtClean="0"/>
              <a:t>10/08/2026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0240295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4427C41C-8DAC-4880-9EBF-4A80A4FB9896}" type="datetimeFigureOut">
              <a:rPr lang="es-CO" smtClean="0"/>
              <a:t>10/08/2026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1627726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4427C41C-8DAC-4880-9EBF-4A80A4FB9896}" type="datetimeFigureOut">
              <a:rPr lang="es-CO" smtClean="0"/>
              <a:t>10/08/2026</a:t>
            </a:fld>
            <a:endParaRPr lang="es-CO"/>
          </a:p>
        </p:txBody>
      </p:sp>
      <p:sp>
        <p:nvSpPr>
          <p:cNvPr id="8" name="Footer Placeholder 7"/>
          <p:cNvSpPr>
            <a:spLocks noGrp="1"/>
          </p:cNvSpPr>
          <p:nvPr>
            <p:ph type="ftr" sz="quarter" idx="11"/>
          </p:nvPr>
        </p:nvSpPr>
        <p:spPr/>
        <p:txBody>
          <a:bodyPr/>
          <a:lstStyle/>
          <a:p>
            <a:endParaRPr lang="es-CO"/>
          </a:p>
        </p:txBody>
      </p:sp>
      <p:sp>
        <p:nvSpPr>
          <p:cNvPr id="9" name="Slide Number Placeholder 8"/>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31602474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4427C41C-8DAC-4880-9EBF-4A80A4FB9896}" type="datetimeFigureOut">
              <a:rPr lang="es-CO" smtClean="0"/>
              <a:t>10/08/2026</a:t>
            </a:fld>
            <a:endParaRPr lang="es-CO"/>
          </a:p>
        </p:txBody>
      </p:sp>
      <p:sp>
        <p:nvSpPr>
          <p:cNvPr id="4" name="Footer Placeholder 3"/>
          <p:cNvSpPr>
            <a:spLocks noGrp="1"/>
          </p:cNvSpPr>
          <p:nvPr>
            <p:ph type="ftr" sz="quarter" idx="11"/>
          </p:nvPr>
        </p:nvSpPr>
        <p:spPr/>
        <p:txBody>
          <a:bodyPr/>
          <a:lstStyle/>
          <a:p>
            <a:endParaRPr lang="es-CO"/>
          </a:p>
        </p:txBody>
      </p:sp>
      <p:sp>
        <p:nvSpPr>
          <p:cNvPr id="5" name="Slide Number Placeholder 4"/>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64164597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427C41C-8DAC-4880-9EBF-4A80A4FB9896}" type="datetimeFigureOut">
              <a:rPr lang="es-CO" smtClean="0"/>
              <a:t>10/08/2026</a:t>
            </a:fld>
            <a:endParaRPr lang="es-CO"/>
          </a:p>
        </p:txBody>
      </p:sp>
      <p:sp>
        <p:nvSpPr>
          <p:cNvPr id="3" name="Footer Placeholder 2"/>
          <p:cNvSpPr>
            <a:spLocks noGrp="1"/>
          </p:cNvSpPr>
          <p:nvPr>
            <p:ph type="ftr" sz="quarter" idx="11"/>
          </p:nvPr>
        </p:nvSpPr>
        <p:spPr/>
        <p:txBody>
          <a:bodyPr/>
          <a:lstStyle/>
          <a:p>
            <a:endParaRPr lang="es-CO"/>
          </a:p>
        </p:txBody>
      </p:sp>
      <p:sp>
        <p:nvSpPr>
          <p:cNvPr id="4" name="Slide Number Placeholder 3"/>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65445985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427C41C-8DAC-4880-9EBF-4A80A4FB9896}" type="datetimeFigureOut">
              <a:rPr lang="es-CO" smtClean="0"/>
              <a:t>10/08/2026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48571441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427C41C-8DAC-4880-9EBF-4A80A4FB9896}" type="datetimeFigureOut">
              <a:rPr lang="es-CO" smtClean="0"/>
              <a:t>10/08/2026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0772270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10/08/2026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93153008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10/08/2026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330620721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UdeA-Nueva 1">
  <p:cSld name="UdeA-Nueva 1">
    <p:spTree>
      <p:nvGrpSpPr>
        <p:cNvPr id="1" name="Shape 23"/>
        <p:cNvGrpSpPr/>
        <p:nvPr/>
      </p:nvGrpSpPr>
      <p:grpSpPr>
        <a:xfrm>
          <a:off x="0" y="0"/>
          <a:ext cx="0" cy="0"/>
          <a:chOff x="0" y="0"/>
          <a:chExt cx="0" cy="0"/>
        </a:xfrm>
      </p:grpSpPr>
      <p:sp>
        <p:nvSpPr>
          <p:cNvPr id="24" name="Google Shape;24;p3"/>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lvl1pPr marL="0" marR="0" lvl="0" indent="0" algn="l" rtl="0">
              <a:lnSpc>
                <a:spcPct val="90000"/>
              </a:lnSpc>
              <a:spcBef>
                <a:spcPts val="0"/>
              </a:spcBef>
              <a:spcAft>
                <a:spcPts val="0"/>
              </a:spcAft>
              <a:buNone/>
              <a:defRPr b="1">
                <a:solidFill>
                  <a:srgbClr val="F8A02B"/>
                </a:solidFill>
                <a:latin typeface="Roboto Slab"/>
                <a:ea typeface="Roboto Slab"/>
                <a:cs typeface="Roboto Slab"/>
                <a:sym typeface="Roboto Slab"/>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25" name="Google Shape;25;p3"/>
          <p:cNvSpPr txBox="1">
            <a:spLocks noGrp="1"/>
          </p:cNvSpPr>
          <p:nvPr>
            <p:ph type="body" idx="1"/>
          </p:nvPr>
        </p:nvSpPr>
        <p:spPr>
          <a:xfrm>
            <a:off x="838200" y="1318001"/>
            <a:ext cx="10515600" cy="4859100"/>
          </a:xfrm>
          <a:prstGeom prst="rect">
            <a:avLst/>
          </a:prstGeom>
          <a:noFill/>
          <a:ln>
            <a:noFill/>
          </a:ln>
        </p:spPr>
        <p:txBody>
          <a:bodyPr spcFirstLastPara="1" wrap="square" lIns="91425" tIns="45700" rIns="91425" bIns="45700" anchor="t" anchorCtr="0">
            <a:noAutofit/>
          </a:bodyPr>
          <a:lstStyle>
            <a:lvl1pPr marL="457200" lvl="0" indent="-342900" algn="l" rtl="0">
              <a:lnSpc>
                <a:spcPct val="90000"/>
              </a:lnSpc>
              <a:spcBef>
                <a:spcPts val="1000"/>
              </a:spcBef>
              <a:spcAft>
                <a:spcPts val="0"/>
              </a:spcAft>
              <a:buClr>
                <a:schemeClr val="dk1"/>
              </a:buClr>
              <a:buSzPts val="1800"/>
              <a:buFont typeface="Roboto"/>
              <a:buChar char="●"/>
              <a:defRPr>
                <a:latin typeface="Roboto"/>
                <a:ea typeface="Roboto"/>
                <a:cs typeface="Roboto"/>
                <a:sym typeface="Roboto"/>
              </a:defRPr>
            </a:lvl1pPr>
            <a:lvl2pPr marL="914400" lvl="1"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2pPr>
            <a:lvl3pPr marL="1371600" lvl="2"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3pPr>
            <a:lvl4pPr marL="1828800" lvl="3"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4pPr>
            <a:lvl5pPr marL="2286000" lvl="4"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5pPr>
            <a:lvl6pPr marL="2743200" lvl="5"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6pPr>
            <a:lvl7pPr marL="3200400" lvl="6"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7pPr>
            <a:lvl8pPr marL="3657600" lvl="7"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8pPr>
            <a:lvl9pPr marL="4114800" lvl="8"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9pPr>
          </a:lstStyle>
          <a:p>
            <a:endParaRPr/>
          </a:p>
        </p:txBody>
      </p:sp>
      <p:sp>
        <p:nvSpPr>
          <p:cNvPr id="26" name="Google Shape;26;p3"/>
          <p:cNvSpPr txBox="1">
            <a:spLocks noGrp="1"/>
          </p:cNvSpPr>
          <p:nvPr>
            <p:ph type="dt" idx="10"/>
          </p:nvPr>
        </p:nvSpPr>
        <p:spPr>
          <a:xfrm>
            <a:off x="1204075" y="6297450"/>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7" name="Google Shape;27;p3"/>
          <p:cNvSpPr txBox="1">
            <a:spLocks noGrp="1"/>
          </p:cNvSpPr>
          <p:nvPr>
            <p:ph type="ftr" idx="11"/>
          </p:nvPr>
        </p:nvSpPr>
        <p:spPr>
          <a:xfrm>
            <a:off x="4861675" y="6280150"/>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8" name="Google Shape;28;p3"/>
          <p:cNvSpPr txBox="1">
            <a:spLocks noGrp="1"/>
          </p:cNvSpPr>
          <p:nvPr>
            <p:ph type="sldNum" idx="12"/>
          </p:nvPr>
        </p:nvSpPr>
        <p:spPr>
          <a:xfrm>
            <a:off x="9144000" y="6280150"/>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extLst>
      <p:ext uri="{BB962C8B-B14F-4D97-AF65-F5344CB8AC3E}">
        <p14:creationId xmlns:p14="http://schemas.microsoft.com/office/powerpoint/2010/main" val="26502160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10/08/2026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59197800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10/08/2026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398607866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4427C41C-8DAC-4880-9EBF-4A80A4FB9896}" type="datetimeFigureOut">
              <a:rPr lang="es-CO" smtClean="0"/>
              <a:t>10/08/2026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59331290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4427C41C-8DAC-4880-9EBF-4A80A4FB9896}" type="datetimeFigureOut">
              <a:rPr lang="es-CO" smtClean="0"/>
              <a:t>10/08/2026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54638258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4427C41C-8DAC-4880-9EBF-4A80A4FB9896}" type="datetimeFigureOut">
              <a:rPr lang="es-CO" smtClean="0"/>
              <a:t>10/08/2026</a:t>
            </a:fld>
            <a:endParaRPr lang="es-CO"/>
          </a:p>
        </p:txBody>
      </p:sp>
      <p:sp>
        <p:nvSpPr>
          <p:cNvPr id="8" name="Footer Placeholder 7"/>
          <p:cNvSpPr>
            <a:spLocks noGrp="1"/>
          </p:cNvSpPr>
          <p:nvPr>
            <p:ph type="ftr" sz="quarter" idx="11"/>
          </p:nvPr>
        </p:nvSpPr>
        <p:spPr/>
        <p:txBody>
          <a:bodyPr/>
          <a:lstStyle/>
          <a:p>
            <a:endParaRPr lang="es-CO"/>
          </a:p>
        </p:txBody>
      </p:sp>
      <p:sp>
        <p:nvSpPr>
          <p:cNvPr id="9" name="Slide Number Placeholder 8"/>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68882066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4427C41C-8DAC-4880-9EBF-4A80A4FB9896}" type="datetimeFigureOut">
              <a:rPr lang="es-CO" smtClean="0"/>
              <a:t>10/08/2026</a:t>
            </a:fld>
            <a:endParaRPr lang="es-CO"/>
          </a:p>
        </p:txBody>
      </p:sp>
      <p:sp>
        <p:nvSpPr>
          <p:cNvPr id="4" name="Footer Placeholder 3"/>
          <p:cNvSpPr>
            <a:spLocks noGrp="1"/>
          </p:cNvSpPr>
          <p:nvPr>
            <p:ph type="ftr" sz="quarter" idx="11"/>
          </p:nvPr>
        </p:nvSpPr>
        <p:spPr/>
        <p:txBody>
          <a:bodyPr/>
          <a:lstStyle/>
          <a:p>
            <a:endParaRPr lang="es-CO"/>
          </a:p>
        </p:txBody>
      </p:sp>
      <p:sp>
        <p:nvSpPr>
          <p:cNvPr id="5" name="Slide Number Placeholder 4"/>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65440094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427C41C-8DAC-4880-9EBF-4A80A4FB9896}" type="datetimeFigureOut">
              <a:rPr lang="es-CO" smtClean="0"/>
              <a:t>10/08/2026</a:t>
            </a:fld>
            <a:endParaRPr lang="es-CO"/>
          </a:p>
        </p:txBody>
      </p:sp>
      <p:sp>
        <p:nvSpPr>
          <p:cNvPr id="3" name="Footer Placeholder 2"/>
          <p:cNvSpPr>
            <a:spLocks noGrp="1"/>
          </p:cNvSpPr>
          <p:nvPr>
            <p:ph type="ftr" sz="quarter" idx="11"/>
          </p:nvPr>
        </p:nvSpPr>
        <p:spPr/>
        <p:txBody>
          <a:bodyPr/>
          <a:lstStyle/>
          <a:p>
            <a:endParaRPr lang="es-CO"/>
          </a:p>
        </p:txBody>
      </p:sp>
      <p:sp>
        <p:nvSpPr>
          <p:cNvPr id="4" name="Slide Number Placeholder 3"/>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63333707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427C41C-8DAC-4880-9EBF-4A80A4FB9896}" type="datetimeFigureOut">
              <a:rPr lang="es-CO" smtClean="0"/>
              <a:t>10/08/2026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78551829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427C41C-8DAC-4880-9EBF-4A80A4FB9896}" type="datetimeFigureOut">
              <a:rPr lang="es-CO" smtClean="0"/>
              <a:t>10/08/2026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31501513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10/08/2026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55247399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10/08/2026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34662037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theme" Target="../theme/theme2.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3.xml"/><Relationship Id="rId3" Type="http://schemas.openxmlformats.org/officeDocument/2006/relationships/slideLayout" Target="../slideLayouts/slideLayout28.xml"/><Relationship Id="rId7" Type="http://schemas.openxmlformats.org/officeDocument/2006/relationships/slideLayout" Target="../slideLayouts/slideLayout32.xml"/><Relationship Id="rId12" Type="http://schemas.openxmlformats.org/officeDocument/2006/relationships/theme" Target="../theme/theme3.xml"/><Relationship Id="rId2" Type="http://schemas.openxmlformats.org/officeDocument/2006/relationships/slideLayout" Target="../slideLayouts/slideLayout27.xml"/><Relationship Id="rId1" Type="http://schemas.openxmlformats.org/officeDocument/2006/relationships/slideLayout" Target="../slideLayouts/slideLayout26.xml"/><Relationship Id="rId6" Type="http://schemas.openxmlformats.org/officeDocument/2006/relationships/slideLayout" Target="../slideLayouts/slideLayout31.xml"/><Relationship Id="rId11" Type="http://schemas.openxmlformats.org/officeDocument/2006/relationships/slideLayout" Target="../slideLayouts/slideLayout36.xml"/><Relationship Id="rId5" Type="http://schemas.openxmlformats.org/officeDocument/2006/relationships/slideLayout" Target="../slideLayouts/slideLayout30.xml"/><Relationship Id="rId10" Type="http://schemas.openxmlformats.org/officeDocument/2006/relationships/slideLayout" Target="../slideLayouts/slideLayout35.xml"/><Relationship Id="rId4" Type="http://schemas.openxmlformats.org/officeDocument/2006/relationships/slideLayout" Target="../slideLayouts/slideLayout29.xml"/><Relationship Id="rId9" Type="http://schemas.openxmlformats.org/officeDocument/2006/relationships/slideLayout" Target="../slideLayouts/slideLayout3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427C41C-8DAC-4880-9EBF-4A80A4FB9896}" type="datetimeFigureOut">
              <a:rPr lang="es-CO" smtClean="0"/>
              <a:t>10/08/2026</a:t>
            </a:fld>
            <a:endParaRPr lang="es-CO"/>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C0A391A-6BD3-4883-BED2-53F471EE51CE}" type="slidenum">
              <a:rPr lang="es-CO" smtClean="0"/>
              <a:t>‹Nº›</a:t>
            </a:fld>
            <a:endParaRPr lang="es-CO"/>
          </a:p>
        </p:txBody>
      </p:sp>
    </p:spTree>
    <p:extLst>
      <p:ext uri="{BB962C8B-B14F-4D97-AF65-F5344CB8AC3E}">
        <p14:creationId xmlns:p14="http://schemas.microsoft.com/office/powerpoint/2010/main" val="1056226990"/>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 id="2147483676"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427C41C-8DAC-4880-9EBF-4A80A4FB9896}" type="datetimeFigureOut">
              <a:rPr lang="es-CO" smtClean="0"/>
              <a:t>10/08/2026</a:t>
            </a:fld>
            <a:endParaRPr lang="es-CO"/>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C0A391A-6BD3-4883-BED2-53F471EE51CE}" type="slidenum">
              <a:rPr lang="es-CO" smtClean="0"/>
              <a:t>‹Nº›</a:t>
            </a:fld>
            <a:endParaRPr lang="es-CO"/>
          </a:p>
        </p:txBody>
      </p:sp>
    </p:spTree>
    <p:extLst>
      <p:ext uri="{BB962C8B-B14F-4D97-AF65-F5344CB8AC3E}">
        <p14:creationId xmlns:p14="http://schemas.microsoft.com/office/powerpoint/2010/main" val="1800060249"/>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427C41C-8DAC-4880-9EBF-4A80A4FB9896}" type="datetimeFigureOut">
              <a:rPr lang="es-CO" smtClean="0"/>
              <a:t>10/08/2026</a:t>
            </a:fld>
            <a:endParaRPr lang="es-CO"/>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C0A391A-6BD3-4883-BED2-53F471EE51CE}" type="slidenum">
              <a:rPr lang="es-CO" smtClean="0"/>
              <a:t>‹Nº›</a:t>
            </a:fld>
            <a:endParaRPr lang="es-CO"/>
          </a:p>
        </p:txBody>
      </p:sp>
    </p:spTree>
    <p:extLst>
      <p:ext uri="{BB962C8B-B14F-4D97-AF65-F5344CB8AC3E}">
        <p14:creationId xmlns:p14="http://schemas.microsoft.com/office/powerpoint/2010/main" val="3285976988"/>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7.xml"/><Relationship Id="rId4" Type="http://schemas.openxmlformats.org/officeDocument/2006/relationships/hyperlink" Target="https://www.youtube.com/watch?v=Z5JC9Ve1sfI&amp;t=49s"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7.xml"/><Relationship Id="rId6" Type="http://schemas.openxmlformats.org/officeDocument/2006/relationships/image" Target="../media/image6.png"/><Relationship Id="rId11" Type="http://schemas.openxmlformats.org/officeDocument/2006/relationships/hyperlink" Target="https://wepsim.github.io/" TargetMode="External"/><Relationship Id="rId5" Type="http://schemas.openxmlformats.org/officeDocument/2006/relationships/image" Target="../media/image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7.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3.png"/><Relationship Id="rId7"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7.xml"/><Relationship Id="rId6" Type="http://schemas.openxmlformats.org/officeDocument/2006/relationships/image" Target="../media/image4.png"/><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27.xml"/><Relationship Id="rId6" Type="http://schemas.openxmlformats.org/officeDocument/2006/relationships/image" Target="../media/image9.png"/><Relationship Id="rId11" Type="http://schemas.openxmlformats.org/officeDocument/2006/relationships/image" Target="../media/image21.png"/><Relationship Id="rId5" Type="http://schemas.openxmlformats.org/officeDocument/2006/relationships/image" Target="../media/image8.png"/><Relationship Id="rId10" Type="http://schemas.openxmlformats.org/officeDocument/2006/relationships/image" Target="../media/image20.png"/><Relationship Id="rId4" Type="http://schemas.openxmlformats.org/officeDocument/2006/relationships/image" Target="../media/image7.png"/><Relationship Id="rId9"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27.xml"/><Relationship Id="rId5" Type="http://schemas.openxmlformats.org/officeDocument/2006/relationships/image" Target="../media/image24.png"/><Relationship Id="rId4" Type="http://schemas.openxmlformats.org/officeDocument/2006/relationships/image" Target="../media/image23.png"/></Relationships>
</file>

<file path=ppt/slides/_rels/slide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27.xml"/><Relationship Id="rId4" Type="http://schemas.openxmlformats.org/officeDocument/2006/relationships/image" Target="../media/image26.png"/></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29.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11.xml"/><Relationship Id="rId1" Type="http://schemas.openxmlformats.org/officeDocument/2006/relationships/slideLayout" Target="../slideLayouts/slideLayout25.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hyperlink" Target="https://www.gnu.org/software/guile/manual/html_node/POSIX.html" TargetMode="External"/><Relationship Id="rId2" Type="http://schemas.openxmlformats.org/officeDocument/2006/relationships/notesSlide" Target="../notesSlides/notesSlide12.xml"/><Relationship Id="rId1" Type="http://schemas.openxmlformats.org/officeDocument/2006/relationships/slideLayout" Target="../slideLayouts/slideLayout25.xml"/><Relationship Id="rId4" Type="http://schemas.openxmlformats.org/officeDocument/2006/relationships/image" Target="../media/image35.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4.xml"/><Relationship Id="rId1" Type="http://schemas.openxmlformats.org/officeDocument/2006/relationships/slideLayout" Target="../slideLayouts/slideLayout25.xml"/><Relationship Id="rId5" Type="http://schemas.openxmlformats.org/officeDocument/2006/relationships/image" Target="../media/image38.png"/><Relationship Id="rId4" Type="http://schemas.openxmlformats.org/officeDocument/2006/relationships/image" Target="../media/image37.png"/></Relationships>
</file>

<file path=ppt/slides/_rels/slide1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5.xml"/><Relationship Id="rId1" Type="http://schemas.openxmlformats.org/officeDocument/2006/relationships/slideLayout" Target="../slideLayouts/slideLayout25.xml"/><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6.xml"/><Relationship Id="rId1" Type="http://schemas.openxmlformats.org/officeDocument/2006/relationships/slideLayout" Target="../slideLayouts/slideLayout25.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7.xml"/><Relationship Id="rId1" Type="http://schemas.openxmlformats.org/officeDocument/2006/relationships/slideLayout" Target="../slideLayouts/slideLayout25.xml"/><Relationship Id="rId6" Type="http://schemas.openxmlformats.org/officeDocument/2006/relationships/hyperlink" Target="https://www.youtube.com/watch?v=9JbWiGwspBw&amp;list=PLlTZ99qnw3zKBiKz7pZ_ErH3AR3rpaaKT&amp;index=10" TargetMode="External"/><Relationship Id="rId5" Type="http://schemas.openxmlformats.org/officeDocument/2006/relationships/image" Target="../media/image41.png"/><Relationship Id="rId4" Type="http://schemas.openxmlformats.org/officeDocument/2006/relationships/image" Target="../media/image30.png"/></Relationships>
</file>

<file path=ppt/slides/_rels/slide1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8.xml"/><Relationship Id="rId1" Type="http://schemas.openxmlformats.org/officeDocument/2006/relationships/slideLayout" Target="../slideLayouts/slideLayout25.xml"/><Relationship Id="rId4" Type="http://schemas.openxmlformats.org/officeDocument/2006/relationships/image" Target="../media/image43.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0.xml"/><Relationship Id="rId1" Type="http://schemas.openxmlformats.org/officeDocument/2006/relationships/slideLayout" Target="../slideLayouts/slideLayout25.xml"/></Relationships>
</file>

<file path=ppt/slides/_rels/slide2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1.xml"/><Relationship Id="rId1" Type="http://schemas.openxmlformats.org/officeDocument/2006/relationships/slideLayout" Target="../slideLayouts/slideLayout25.xml"/><Relationship Id="rId6" Type="http://schemas.openxmlformats.org/officeDocument/2006/relationships/hyperlink" Target="https://www.youtube.com/watch?v=IDQjjIFhOFk&amp;list=PLlTZ99qnw3zKBiKz7pZ_ErH3AR3rpaaKT" TargetMode="External"/><Relationship Id="rId5" Type="http://schemas.openxmlformats.org/officeDocument/2006/relationships/image" Target="../media/image45.png"/><Relationship Id="rId4" Type="http://schemas.openxmlformats.org/officeDocument/2006/relationships/image" Target="../media/image31.png"/></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2.xml"/><Relationship Id="rId1" Type="http://schemas.openxmlformats.org/officeDocument/2006/relationships/slideLayout" Target="../slideLayouts/slideLayout25.xml"/><Relationship Id="rId5" Type="http://schemas.openxmlformats.org/officeDocument/2006/relationships/image" Target="../media/image47.png"/><Relationship Id="rId4" Type="http://schemas.openxmlformats.org/officeDocument/2006/relationships/image" Target="../media/image46.png"/></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25.xml"/><Relationship Id="rId6" Type="http://schemas.openxmlformats.org/officeDocument/2006/relationships/image" Target="../media/image48.png"/><Relationship Id="rId5" Type="http://schemas.openxmlformats.org/officeDocument/2006/relationships/image" Target="../media/image38.png"/><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hyperlink" Target="http://pages.cs.wisc.edu/~remzi/Classes/537/Fall2005/Lectures/lecture4.pdf" TargetMode="External"/><Relationship Id="rId2" Type="http://schemas.openxmlformats.org/officeDocument/2006/relationships/notesSlide" Target="../notesSlides/notesSlide24.xml"/><Relationship Id="rId1" Type="http://schemas.openxmlformats.org/officeDocument/2006/relationships/slideLayout" Target="../slideLayouts/slideLayout25.xml"/><Relationship Id="rId5" Type="http://schemas.openxmlformats.org/officeDocument/2006/relationships/image" Target="../media/image49.png"/><Relationship Id="rId4" Type="http://schemas.openxmlformats.org/officeDocument/2006/relationships/image" Target="../media/image38.png"/></Relationships>
</file>

<file path=ppt/slides/_rels/slide26.xml.rels><?xml version="1.0" encoding="UTF-8" standalone="yes"?>
<Relationships xmlns="http://schemas.openxmlformats.org/package/2006/relationships"><Relationship Id="rId3" Type="http://schemas.openxmlformats.org/officeDocument/2006/relationships/hyperlink" Target="http://pages.cs.wisc.edu/~remzi/Classes/537/Fall2005/Lectures/lecture4.pdf" TargetMode="External"/><Relationship Id="rId2" Type="http://schemas.openxmlformats.org/officeDocument/2006/relationships/notesSlide" Target="../notesSlides/notesSlide25.xml"/><Relationship Id="rId1" Type="http://schemas.openxmlformats.org/officeDocument/2006/relationships/slideLayout" Target="../slideLayouts/slideLayout25.xml"/></Relationships>
</file>

<file path=ppt/slides/_rels/slide2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6.xml"/><Relationship Id="rId1" Type="http://schemas.openxmlformats.org/officeDocument/2006/relationships/slideLayout" Target="../slideLayouts/slideLayout25.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hyperlink" Target="http://pages.cs.wisc.edu/~remzi/Classes/537/Fall2005/Lectures/lecture4.pdf"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7.xml"/><Relationship Id="rId1" Type="http://schemas.openxmlformats.org/officeDocument/2006/relationships/slideLayout" Target="../slideLayouts/slideLayout25.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hyperlink" Target="http://pages.cs.wisc.edu/~remzi/Classes/537/Fall2005/Lectures/lecture4.pdf"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8.xml"/><Relationship Id="rId1" Type="http://schemas.openxmlformats.org/officeDocument/2006/relationships/slideLayout" Target="../slideLayouts/slideLayout25.xml"/></Relationships>
</file>

<file path=ppt/slides/_rels/slide3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9.xml"/><Relationship Id="rId1" Type="http://schemas.openxmlformats.org/officeDocument/2006/relationships/slideLayout" Target="../slideLayouts/slideLayout25.xml"/><Relationship Id="rId5" Type="http://schemas.openxmlformats.org/officeDocument/2006/relationships/hyperlink" Target="https://www.youtube.com/watch?v=nToNUxqotkk&amp;list=PLlTZ99qnw3zKBiKz7pZ_ErH3AR3rpaaKT" TargetMode="External"/><Relationship Id="rId4" Type="http://schemas.openxmlformats.org/officeDocument/2006/relationships/image" Target="../media/image50.png"/></Relationships>
</file>

<file path=ppt/slides/_rels/slide31.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1.png"/><Relationship Id="rId7" Type="http://schemas.openxmlformats.org/officeDocument/2006/relationships/image" Target="../media/image54.png"/><Relationship Id="rId2" Type="http://schemas.openxmlformats.org/officeDocument/2006/relationships/notesSlide" Target="../notesSlides/notesSlide30.xml"/><Relationship Id="rId1" Type="http://schemas.openxmlformats.org/officeDocument/2006/relationships/slideLayout" Target="../slideLayouts/slideLayout25.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30.png"/><Relationship Id="rId9" Type="http://schemas.openxmlformats.org/officeDocument/2006/relationships/hyperlink" Target="https://cumulusnetworks.com/blog/linux-basics-part-2/" TargetMode="External"/></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25.xml"/></Relationships>
</file>

<file path=ppt/slides/_rels/slide3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2.xml"/><Relationship Id="rId1" Type="http://schemas.openxmlformats.org/officeDocument/2006/relationships/slideLayout" Target="../slideLayouts/slideLayout25.xml"/><Relationship Id="rId5" Type="http://schemas.openxmlformats.org/officeDocument/2006/relationships/hyperlink" Target="https://www.youtube.com/watch?v=YTidM1KgFCc&amp;list=PLlTZ99qnw3zKBiKz7pZ_ErH3AR3rpaaKT" TargetMode="External"/><Relationship Id="rId4" Type="http://schemas.openxmlformats.org/officeDocument/2006/relationships/image" Target="../media/image57.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CE85FF3-2D97-4FD2-BC3C-E374020627C2}"/>
              </a:ext>
            </a:extLst>
          </p:cNvPr>
          <p:cNvSpPr>
            <a:spLocks noGrp="1"/>
          </p:cNvSpPr>
          <p:nvPr>
            <p:ph type="ctrTitle"/>
          </p:nvPr>
        </p:nvSpPr>
        <p:spPr/>
        <p:txBody>
          <a:bodyPr/>
          <a:lstStyle/>
          <a:p>
            <a:r>
              <a:rPr lang="es-CO" b="1" dirty="0"/>
              <a:t>Apuntes clase 2</a:t>
            </a:r>
          </a:p>
        </p:txBody>
      </p:sp>
      <p:sp>
        <p:nvSpPr>
          <p:cNvPr id="3" name="Subtítulo 2">
            <a:extLst>
              <a:ext uri="{FF2B5EF4-FFF2-40B4-BE49-F238E27FC236}">
                <a16:creationId xmlns:a16="http://schemas.microsoft.com/office/drawing/2014/main" id="{9A5AAC6F-29B1-4561-BED7-077A25CE9B1F}"/>
              </a:ext>
            </a:extLst>
          </p:cNvPr>
          <p:cNvSpPr>
            <a:spLocks noGrp="1"/>
          </p:cNvSpPr>
          <p:nvPr>
            <p:ph type="subTitle" idx="1"/>
          </p:nvPr>
        </p:nvSpPr>
        <p:spPr>
          <a:xfrm>
            <a:off x="1524000" y="3602038"/>
            <a:ext cx="9144000" cy="1995198"/>
          </a:xfrm>
        </p:spPr>
        <p:txBody>
          <a:bodyPr>
            <a:normAutofit/>
          </a:bodyPr>
          <a:lstStyle/>
          <a:p>
            <a:r>
              <a:rPr lang="es-CO" sz="3200" b="1" dirty="0"/>
              <a:t>Sistemas Operativos</a:t>
            </a:r>
          </a:p>
          <a:p>
            <a:r>
              <a:rPr lang="es-CO" dirty="0"/>
              <a:t>Universidad de Antioquia</a:t>
            </a:r>
          </a:p>
          <a:p>
            <a:r>
              <a:rPr lang="es-CO" dirty="0"/>
              <a:t>Facultad de Ingeniería</a:t>
            </a:r>
          </a:p>
          <a:p>
            <a:r>
              <a:rPr lang="es-CO" dirty="0"/>
              <a:t>Ingeniería de Sistemas</a:t>
            </a:r>
          </a:p>
        </p:txBody>
      </p:sp>
    </p:spTree>
    <p:extLst>
      <p:ext uri="{BB962C8B-B14F-4D97-AF65-F5344CB8AC3E}">
        <p14:creationId xmlns:p14="http://schemas.microsoft.com/office/powerpoint/2010/main" val="34925891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18"/>
          <p:cNvSpPr txBox="1">
            <a:spLocks noGrp="1"/>
          </p:cNvSpPr>
          <p:nvPr>
            <p:ph type="title"/>
          </p:nvPr>
        </p:nvSpPr>
        <p:spPr>
          <a:xfrm>
            <a:off x="838200" y="206149"/>
            <a:ext cx="8304000" cy="9495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0B6937"/>
              </a:buClr>
              <a:buSzPts val="2880"/>
              <a:buFont typeface="Roboto Slab"/>
              <a:buNone/>
            </a:pPr>
            <a:r>
              <a:rPr lang="es-ES" dirty="0"/>
              <a:t>Agenda</a:t>
            </a:r>
            <a:endParaRPr b="1" dirty="0">
              <a:solidFill>
                <a:srgbClr val="0B6937"/>
              </a:solidFill>
              <a:latin typeface="Roboto Slab"/>
              <a:ea typeface="Roboto Slab"/>
              <a:cs typeface="Roboto Slab"/>
              <a:sym typeface="Roboto Slab"/>
            </a:endParaRPr>
          </a:p>
        </p:txBody>
      </p:sp>
      <p:sp>
        <p:nvSpPr>
          <p:cNvPr id="146" name="Google Shape;146;p18"/>
          <p:cNvSpPr txBox="1">
            <a:spLocks noGrp="1"/>
          </p:cNvSpPr>
          <p:nvPr>
            <p:ph idx="1"/>
          </p:nvPr>
        </p:nvSpPr>
        <p:spPr>
          <a:xfrm>
            <a:off x="838200" y="1318001"/>
            <a:ext cx="10515600" cy="4859100"/>
          </a:xfrm>
          <a:prstGeom prst="rect">
            <a:avLst/>
          </a:prstGeom>
        </p:spPr>
        <p:txBody>
          <a:bodyPr spcFirstLastPara="1" wrap="square" lIns="91425" tIns="45700" rIns="91425" bIns="45700" anchor="t" anchorCtr="0">
            <a:noAutofit/>
          </a:bodyPr>
          <a:lstStyle/>
          <a:p>
            <a:pPr marL="457200" lvl="0" indent="-400050" algn="l" rtl="0">
              <a:spcBef>
                <a:spcPts val="0"/>
              </a:spcBef>
              <a:spcAft>
                <a:spcPts val="0"/>
              </a:spcAft>
              <a:buSzPts val="2700"/>
              <a:buChar char="●"/>
            </a:pPr>
            <a:r>
              <a:rPr lang="es-ES" sz="2400" dirty="0"/>
              <a:t>¿Qué hace un Sistema Operativo?</a:t>
            </a:r>
            <a:endParaRPr sz="2400" dirty="0"/>
          </a:p>
          <a:p>
            <a:pPr marL="457200" lvl="0" indent="-400050" algn="l" rtl="0">
              <a:spcBef>
                <a:spcPts val="0"/>
              </a:spcBef>
              <a:spcAft>
                <a:spcPts val="0"/>
              </a:spcAft>
              <a:buSzPts val="2700"/>
              <a:buChar char="●"/>
            </a:pPr>
            <a:r>
              <a:rPr lang="es-ES" sz="2400" dirty="0"/>
              <a:t>Definición de los Sistemas Operativos</a:t>
            </a:r>
            <a:endParaRPr sz="2400" dirty="0"/>
          </a:p>
          <a:p>
            <a:pPr marL="457200" lvl="0" indent="-400050" algn="l" rtl="0">
              <a:spcBef>
                <a:spcPts val="0"/>
              </a:spcBef>
              <a:spcAft>
                <a:spcPts val="0"/>
              </a:spcAft>
              <a:buSzPts val="2700"/>
              <a:buChar char="●"/>
            </a:pPr>
            <a:r>
              <a:rPr lang="es-ES" sz="2400" dirty="0"/>
              <a:t>Virtualización de Recursos</a:t>
            </a:r>
            <a:endParaRPr sz="2400" dirty="0"/>
          </a:p>
          <a:p>
            <a:pPr marL="457200" lvl="0" indent="-400050" algn="l" rtl="0">
              <a:spcBef>
                <a:spcPts val="0"/>
              </a:spcBef>
              <a:spcAft>
                <a:spcPts val="0"/>
              </a:spcAft>
              <a:buSzPts val="2700"/>
              <a:buChar char="●"/>
            </a:pPr>
            <a:r>
              <a:rPr lang="es-ES" sz="2400" dirty="0"/>
              <a:t>Operaciones del sistema operativo</a:t>
            </a:r>
            <a:endParaRPr sz="2400" dirty="0"/>
          </a:p>
          <a:p>
            <a:pPr marL="457200" lvl="0" indent="-400050" algn="l" rtl="0">
              <a:spcBef>
                <a:spcPts val="0"/>
              </a:spcBef>
              <a:spcAft>
                <a:spcPts val="0"/>
              </a:spcAft>
              <a:buSzPts val="2700"/>
              <a:buChar char="●"/>
            </a:pPr>
            <a:r>
              <a:rPr lang="es-ES" sz="2400" dirty="0"/>
              <a:t>Objetivos de diseño de los Sistemas Operativos</a:t>
            </a:r>
            <a:endParaRPr sz="2400" dirty="0"/>
          </a:p>
          <a:p>
            <a:pPr marL="457200" lvl="0" indent="0" algn="l" rtl="0">
              <a:spcBef>
                <a:spcPts val="1000"/>
              </a:spcBef>
              <a:spcAft>
                <a:spcPts val="0"/>
              </a:spcAft>
              <a:buNone/>
            </a:pPr>
            <a:endParaRPr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6"/>
          <p:cNvSpPr txBox="1">
            <a:spLocks noGrp="1"/>
          </p:cNvSpPr>
          <p:nvPr>
            <p:ph type="title"/>
          </p:nvPr>
        </p:nvSpPr>
        <p:spPr>
          <a:xfrm>
            <a:off x="916650" y="96038"/>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t>¿Que hace un sistema operativo?</a:t>
            </a:r>
            <a:endParaRPr/>
          </a:p>
        </p:txBody>
      </p:sp>
      <p:sp>
        <p:nvSpPr>
          <p:cNvPr id="209" name="Google Shape;209;p26"/>
          <p:cNvSpPr txBox="1">
            <a:spLocks noGrp="1"/>
          </p:cNvSpPr>
          <p:nvPr>
            <p:ph idx="1"/>
          </p:nvPr>
        </p:nvSpPr>
        <p:spPr>
          <a:xfrm>
            <a:off x="377748" y="957200"/>
            <a:ext cx="5540700" cy="43050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s-ES" b="1" dirty="0">
                <a:solidFill>
                  <a:srgbClr val="8CC63E"/>
                </a:solidFill>
              </a:rPr>
              <a:t>¿Como se ejecuta un programa?</a:t>
            </a:r>
            <a:endParaRPr b="1" dirty="0">
              <a:solidFill>
                <a:srgbClr val="8CC63E"/>
              </a:solidFill>
            </a:endParaRPr>
          </a:p>
          <a:p>
            <a:pPr marL="0" lvl="0" indent="0" algn="l" rtl="0">
              <a:spcBef>
                <a:spcPts val="1000"/>
              </a:spcBef>
              <a:spcAft>
                <a:spcPts val="0"/>
              </a:spcAft>
              <a:buNone/>
            </a:pPr>
            <a:r>
              <a:rPr lang="es-ES" sz="2200" dirty="0">
                <a:solidFill>
                  <a:srgbClr val="000000"/>
                </a:solidFill>
              </a:rPr>
              <a:t>Para esto la CPU lleva cabo los siguientes pasos:</a:t>
            </a:r>
            <a:endParaRPr sz="2200" dirty="0">
              <a:solidFill>
                <a:srgbClr val="000000"/>
              </a:solidFill>
            </a:endParaRPr>
          </a:p>
          <a:p>
            <a:pPr marL="457200" lvl="0" indent="-368300" algn="l" rtl="0">
              <a:spcBef>
                <a:spcPts val="1000"/>
              </a:spcBef>
              <a:spcAft>
                <a:spcPts val="0"/>
              </a:spcAft>
              <a:buClr>
                <a:srgbClr val="000000"/>
              </a:buClr>
              <a:buSzPts val="2200"/>
              <a:buAutoNum type="arabicPeriod"/>
            </a:pPr>
            <a:r>
              <a:rPr lang="es-ES" sz="2200" b="1" dirty="0" err="1"/>
              <a:t>Fetch</a:t>
            </a:r>
            <a:r>
              <a:rPr lang="es-ES" sz="2200" dirty="0"/>
              <a:t>: Obtiene la instrucción de memoria.</a:t>
            </a:r>
            <a:endParaRPr sz="2200" dirty="0"/>
          </a:p>
          <a:p>
            <a:pPr marL="457200" lvl="0" indent="-368300" algn="l" rtl="0">
              <a:spcBef>
                <a:spcPts val="1000"/>
              </a:spcBef>
              <a:spcAft>
                <a:spcPts val="0"/>
              </a:spcAft>
              <a:buSzPts val="2200"/>
              <a:buAutoNum type="arabicPeriod"/>
            </a:pPr>
            <a:r>
              <a:rPr lang="es-ES" sz="2200" b="1" dirty="0" err="1"/>
              <a:t>Decode</a:t>
            </a:r>
            <a:r>
              <a:rPr lang="es-ES" sz="2200" dirty="0"/>
              <a:t>: Averigua la instrucción a ejecutar.</a:t>
            </a:r>
            <a:endParaRPr sz="2200" dirty="0"/>
          </a:p>
          <a:p>
            <a:pPr marL="457200" lvl="0" indent="-368300" algn="l" rtl="0">
              <a:spcBef>
                <a:spcPts val="1000"/>
              </a:spcBef>
              <a:spcAft>
                <a:spcPts val="0"/>
              </a:spcAft>
              <a:buSzPts val="2200"/>
              <a:buAutoNum type="arabicPeriod"/>
            </a:pPr>
            <a:r>
              <a:rPr lang="es-ES" sz="2200" b="1" dirty="0" err="1"/>
              <a:t>Exec</a:t>
            </a:r>
            <a:r>
              <a:rPr lang="es-ES" sz="2200" dirty="0"/>
              <a:t>: Realiza la operación indicada.</a:t>
            </a:r>
            <a:endParaRPr sz="2200" dirty="0"/>
          </a:p>
          <a:p>
            <a:pPr marL="457200" lvl="0" indent="-368300" algn="l" rtl="0">
              <a:spcBef>
                <a:spcPts val="1000"/>
              </a:spcBef>
              <a:spcAft>
                <a:spcPts val="0"/>
              </a:spcAft>
              <a:buSzPts val="2200"/>
              <a:buAutoNum type="arabicPeriod"/>
            </a:pPr>
            <a:r>
              <a:rPr lang="es-ES" sz="2200" dirty="0"/>
              <a:t>Se salta a la próxima instrucción y se repite el procedimiento</a:t>
            </a:r>
            <a:endParaRPr sz="2700" dirty="0"/>
          </a:p>
        </p:txBody>
      </p:sp>
      <p:pic>
        <p:nvPicPr>
          <p:cNvPr id="211" name="Google Shape;211;p26"/>
          <p:cNvPicPr preferRelativeResize="0"/>
          <p:nvPr/>
        </p:nvPicPr>
        <p:blipFill>
          <a:blip r:embed="rId3">
            <a:alphaModFix/>
          </a:blip>
          <a:stretch>
            <a:fillRect/>
          </a:stretch>
        </p:blipFill>
        <p:spPr>
          <a:xfrm>
            <a:off x="7830763" y="1210529"/>
            <a:ext cx="2779773" cy="2218471"/>
          </a:xfrm>
          <a:prstGeom prst="rect">
            <a:avLst/>
          </a:prstGeom>
          <a:noFill/>
          <a:ln>
            <a:noFill/>
          </a:ln>
        </p:spPr>
      </p:pic>
      <p:sp>
        <p:nvSpPr>
          <p:cNvPr id="212" name="Google Shape;212;p26"/>
          <p:cNvSpPr txBox="1"/>
          <p:nvPr/>
        </p:nvSpPr>
        <p:spPr>
          <a:xfrm>
            <a:off x="452550" y="5262200"/>
            <a:ext cx="4899900" cy="596100"/>
          </a:xfrm>
          <a:prstGeom prst="rect">
            <a:avLst/>
          </a:prstGeom>
          <a:solidFill>
            <a:schemeClr val="lt2"/>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latin typeface="Roboto"/>
                <a:ea typeface="Roboto"/>
                <a:cs typeface="Roboto"/>
                <a:sym typeface="Roboto"/>
              </a:rPr>
              <a:t>Ver video</a:t>
            </a:r>
            <a:r>
              <a:rPr lang="es-ES" sz="1600">
                <a:latin typeface="Roboto"/>
                <a:ea typeface="Roboto"/>
                <a:cs typeface="Roboto"/>
                <a:sym typeface="Roboto"/>
              </a:rPr>
              <a:t>: The Fetch-Execute Cycle: What's Your Computer Actually Doing? (</a:t>
            </a:r>
            <a:r>
              <a:rPr lang="es-ES" sz="1600" u="sng">
                <a:solidFill>
                  <a:schemeClr val="hlink"/>
                </a:solidFill>
                <a:latin typeface="Roboto"/>
                <a:ea typeface="Roboto"/>
                <a:cs typeface="Roboto"/>
                <a:sym typeface="Roboto"/>
                <a:hlinkClick r:id="rId4"/>
              </a:rPr>
              <a:t>link</a:t>
            </a:r>
            <a:r>
              <a:rPr lang="es-ES" sz="1600">
                <a:latin typeface="Roboto"/>
                <a:ea typeface="Roboto"/>
                <a:cs typeface="Roboto"/>
                <a:sym typeface="Roboto"/>
              </a:rPr>
              <a:t>)</a:t>
            </a:r>
            <a:endParaRPr sz="1600">
              <a:latin typeface="Roboto"/>
              <a:ea typeface="Roboto"/>
              <a:cs typeface="Roboto"/>
              <a:sym typeface="Robot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sp>
        <p:nvSpPr>
          <p:cNvPr id="217" name="Google Shape;217;p27"/>
          <p:cNvSpPr txBox="1">
            <a:spLocks noGrp="1"/>
          </p:cNvSpPr>
          <p:nvPr>
            <p:ph type="title"/>
          </p:nvPr>
        </p:nvSpPr>
        <p:spPr>
          <a:xfrm>
            <a:off x="916650" y="96038"/>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t>¿Que hace un sistema operativo?</a:t>
            </a:r>
            <a:endParaRPr/>
          </a:p>
        </p:txBody>
      </p:sp>
      <p:sp>
        <p:nvSpPr>
          <p:cNvPr id="218" name="Google Shape;218;p27"/>
          <p:cNvSpPr txBox="1">
            <a:spLocks noGrp="1"/>
          </p:cNvSpPr>
          <p:nvPr>
            <p:ph idx="1"/>
          </p:nvPr>
        </p:nvSpPr>
        <p:spPr>
          <a:xfrm>
            <a:off x="916650" y="912825"/>
            <a:ext cx="5244900" cy="48591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s-ES" b="1" dirty="0">
                <a:solidFill>
                  <a:srgbClr val="8CC63E"/>
                </a:solidFill>
              </a:rPr>
              <a:t>¿Como se ejecuta un programa?</a:t>
            </a:r>
            <a:endParaRPr b="1" dirty="0">
              <a:solidFill>
                <a:srgbClr val="8CC63E"/>
              </a:solidFill>
            </a:endParaRPr>
          </a:p>
          <a:p>
            <a:pPr marL="457200" lvl="0" indent="0" algn="l" rtl="0">
              <a:spcBef>
                <a:spcPts val="1000"/>
              </a:spcBef>
              <a:spcAft>
                <a:spcPts val="0"/>
              </a:spcAft>
              <a:buNone/>
            </a:pPr>
            <a:endParaRPr sz="2200" dirty="0"/>
          </a:p>
          <a:p>
            <a:pPr marL="0" lvl="0" indent="0" algn="l" rtl="0">
              <a:spcBef>
                <a:spcPts val="1000"/>
              </a:spcBef>
              <a:spcAft>
                <a:spcPts val="0"/>
              </a:spcAft>
              <a:buNone/>
            </a:pPr>
            <a:endParaRPr dirty="0"/>
          </a:p>
        </p:txBody>
      </p:sp>
      <p:pic>
        <p:nvPicPr>
          <p:cNvPr id="219" name="Google Shape;219;p27"/>
          <p:cNvPicPr preferRelativeResize="0"/>
          <p:nvPr/>
        </p:nvPicPr>
        <p:blipFill>
          <a:blip r:embed="rId3">
            <a:alphaModFix/>
          </a:blip>
          <a:stretch>
            <a:fillRect/>
          </a:stretch>
        </p:blipFill>
        <p:spPr>
          <a:xfrm>
            <a:off x="5796200" y="2129475"/>
            <a:ext cx="4839400" cy="4468475"/>
          </a:xfrm>
          <a:prstGeom prst="rect">
            <a:avLst/>
          </a:prstGeom>
          <a:noFill/>
          <a:ln>
            <a:noFill/>
          </a:ln>
        </p:spPr>
      </p:pic>
      <p:pic>
        <p:nvPicPr>
          <p:cNvPr id="220" name="Google Shape;220;p27"/>
          <p:cNvPicPr preferRelativeResize="0"/>
          <p:nvPr/>
        </p:nvPicPr>
        <p:blipFill>
          <a:blip r:embed="rId4">
            <a:alphaModFix/>
          </a:blip>
          <a:stretch>
            <a:fillRect/>
          </a:stretch>
        </p:blipFill>
        <p:spPr>
          <a:xfrm>
            <a:off x="8875725" y="5648528"/>
            <a:ext cx="438300" cy="438300"/>
          </a:xfrm>
          <a:prstGeom prst="rect">
            <a:avLst/>
          </a:prstGeom>
          <a:noFill/>
          <a:ln>
            <a:noFill/>
          </a:ln>
        </p:spPr>
      </p:pic>
      <p:pic>
        <p:nvPicPr>
          <p:cNvPr id="221" name="Google Shape;221;p27"/>
          <p:cNvPicPr preferRelativeResize="0"/>
          <p:nvPr/>
        </p:nvPicPr>
        <p:blipFill>
          <a:blip r:embed="rId5">
            <a:alphaModFix/>
          </a:blip>
          <a:stretch>
            <a:fillRect/>
          </a:stretch>
        </p:blipFill>
        <p:spPr>
          <a:xfrm>
            <a:off x="9391225" y="5697901"/>
            <a:ext cx="358575" cy="358575"/>
          </a:xfrm>
          <a:prstGeom prst="rect">
            <a:avLst/>
          </a:prstGeom>
          <a:noFill/>
          <a:ln>
            <a:noFill/>
          </a:ln>
        </p:spPr>
      </p:pic>
      <p:pic>
        <p:nvPicPr>
          <p:cNvPr id="222" name="Google Shape;222;p27"/>
          <p:cNvPicPr preferRelativeResize="0"/>
          <p:nvPr/>
        </p:nvPicPr>
        <p:blipFill>
          <a:blip r:embed="rId4">
            <a:alphaModFix/>
          </a:blip>
          <a:stretch>
            <a:fillRect/>
          </a:stretch>
        </p:blipFill>
        <p:spPr>
          <a:xfrm>
            <a:off x="10381125" y="2514453"/>
            <a:ext cx="438300" cy="438300"/>
          </a:xfrm>
          <a:prstGeom prst="rect">
            <a:avLst/>
          </a:prstGeom>
          <a:noFill/>
          <a:ln>
            <a:noFill/>
          </a:ln>
        </p:spPr>
      </p:pic>
      <p:pic>
        <p:nvPicPr>
          <p:cNvPr id="223" name="Google Shape;223;p27"/>
          <p:cNvPicPr preferRelativeResize="0"/>
          <p:nvPr/>
        </p:nvPicPr>
        <p:blipFill>
          <a:blip r:embed="rId5">
            <a:alphaModFix/>
          </a:blip>
          <a:stretch>
            <a:fillRect/>
          </a:stretch>
        </p:blipFill>
        <p:spPr>
          <a:xfrm>
            <a:off x="10422750" y="3033401"/>
            <a:ext cx="358575" cy="358575"/>
          </a:xfrm>
          <a:prstGeom prst="rect">
            <a:avLst/>
          </a:prstGeom>
          <a:noFill/>
          <a:ln>
            <a:noFill/>
          </a:ln>
        </p:spPr>
      </p:pic>
      <p:pic>
        <p:nvPicPr>
          <p:cNvPr id="224" name="Google Shape;224;p27"/>
          <p:cNvPicPr preferRelativeResize="0"/>
          <p:nvPr/>
        </p:nvPicPr>
        <p:blipFill>
          <a:blip r:embed="rId4">
            <a:alphaModFix/>
          </a:blip>
          <a:stretch>
            <a:fillRect/>
          </a:stretch>
        </p:blipFill>
        <p:spPr>
          <a:xfrm>
            <a:off x="10382888" y="3472628"/>
            <a:ext cx="438300" cy="438300"/>
          </a:xfrm>
          <a:prstGeom prst="rect">
            <a:avLst/>
          </a:prstGeom>
          <a:noFill/>
          <a:ln>
            <a:noFill/>
          </a:ln>
        </p:spPr>
      </p:pic>
      <p:pic>
        <p:nvPicPr>
          <p:cNvPr id="225" name="Google Shape;225;p27"/>
          <p:cNvPicPr preferRelativeResize="0"/>
          <p:nvPr/>
        </p:nvPicPr>
        <p:blipFill>
          <a:blip r:embed="rId6">
            <a:alphaModFix/>
          </a:blip>
          <a:stretch>
            <a:fillRect/>
          </a:stretch>
        </p:blipFill>
        <p:spPr>
          <a:xfrm>
            <a:off x="10740400" y="2381250"/>
            <a:ext cx="307825" cy="243700"/>
          </a:xfrm>
          <a:prstGeom prst="rect">
            <a:avLst/>
          </a:prstGeom>
          <a:noFill/>
          <a:ln>
            <a:noFill/>
          </a:ln>
        </p:spPr>
      </p:pic>
      <p:pic>
        <p:nvPicPr>
          <p:cNvPr id="226" name="Google Shape;226;p27"/>
          <p:cNvPicPr preferRelativeResize="0"/>
          <p:nvPr/>
        </p:nvPicPr>
        <p:blipFill>
          <a:blip r:embed="rId6">
            <a:alphaModFix/>
          </a:blip>
          <a:stretch>
            <a:fillRect/>
          </a:stretch>
        </p:blipFill>
        <p:spPr>
          <a:xfrm>
            <a:off x="10781325" y="2917413"/>
            <a:ext cx="307825" cy="243700"/>
          </a:xfrm>
          <a:prstGeom prst="rect">
            <a:avLst/>
          </a:prstGeom>
          <a:noFill/>
          <a:ln>
            <a:noFill/>
          </a:ln>
        </p:spPr>
      </p:pic>
      <p:pic>
        <p:nvPicPr>
          <p:cNvPr id="227" name="Google Shape;227;p27"/>
          <p:cNvPicPr preferRelativeResize="0"/>
          <p:nvPr/>
        </p:nvPicPr>
        <p:blipFill>
          <a:blip r:embed="rId6">
            <a:alphaModFix/>
          </a:blip>
          <a:stretch>
            <a:fillRect/>
          </a:stretch>
        </p:blipFill>
        <p:spPr>
          <a:xfrm>
            <a:off x="10781325" y="3391975"/>
            <a:ext cx="307825" cy="243700"/>
          </a:xfrm>
          <a:prstGeom prst="rect">
            <a:avLst/>
          </a:prstGeom>
          <a:noFill/>
          <a:ln>
            <a:noFill/>
          </a:ln>
        </p:spPr>
      </p:pic>
      <p:pic>
        <p:nvPicPr>
          <p:cNvPr id="228" name="Google Shape;228;p27"/>
          <p:cNvPicPr preferRelativeResize="0"/>
          <p:nvPr/>
        </p:nvPicPr>
        <p:blipFill>
          <a:blip r:embed="rId4">
            <a:alphaModFix/>
          </a:blip>
          <a:stretch>
            <a:fillRect/>
          </a:stretch>
        </p:blipFill>
        <p:spPr>
          <a:xfrm>
            <a:off x="5532900" y="3095478"/>
            <a:ext cx="438300" cy="438300"/>
          </a:xfrm>
          <a:prstGeom prst="rect">
            <a:avLst/>
          </a:prstGeom>
          <a:noFill/>
          <a:ln>
            <a:noFill/>
          </a:ln>
        </p:spPr>
      </p:pic>
      <p:pic>
        <p:nvPicPr>
          <p:cNvPr id="229" name="Google Shape;229;p27"/>
          <p:cNvPicPr preferRelativeResize="0"/>
          <p:nvPr/>
        </p:nvPicPr>
        <p:blipFill>
          <a:blip r:embed="rId6">
            <a:alphaModFix/>
          </a:blip>
          <a:stretch>
            <a:fillRect/>
          </a:stretch>
        </p:blipFill>
        <p:spPr>
          <a:xfrm>
            <a:off x="5796200" y="2851775"/>
            <a:ext cx="307825" cy="243700"/>
          </a:xfrm>
          <a:prstGeom prst="rect">
            <a:avLst/>
          </a:prstGeom>
          <a:noFill/>
          <a:ln>
            <a:noFill/>
          </a:ln>
        </p:spPr>
      </p:pic>
      <p:pic>
        <p:nvPicPr>
          <p:cNvPr id="230" name="Google Shape;230;p27"/>
          <p:cNvPicPr preferRelativeResize="0"/>
          <p:nvPr/>
        </p:nvPicPr>
        <p:blipFill>
          <a:blip r:embed="rId7">
            <a:alphaModFix/>
          </a:blip>
          <a:stretch>
            <a:fillRect/>
          </a:stretch>
        </p:blipFill>
        <p:spPr>
          <a:xfrm>
            <a:off x="6757563" y="5648525"/>
            <a:ext cx="723900" cy="581025"/>
          </a:xfrm>
          <a:prstGeom prst="rect">
            <a:avLst/>
          </a:prstGeom>
          <a:noFill/>
          <a:ln>
            <a:noFill/>
          </a:ln>
        </p:spPr>
      </p:pic>
      <p:pic>
        <p:nvPicPr>
          <p:cNvPr id="231" name="Google Shape;231;p27"/>
          <p:cNvPicPr preferRelativeResize="0"/>
          <p:nvPr/>
        </p:nvPicPr>
        <p:blipFill>
          <a:blip r:embed="rId8">
            <a:alphaModFix/>
          </a:blip>
          <a:stretch>
            <a:fillRect/>
          </a:stretch>
        </p:blipFill>
        <p:spPr>
          <a:xfrm>
            <a:off x="9314025" y="1491300"/>
            <a:ext cx="666750" cy="638175"/>
          </a:xfrm>
          <a:prstGeom prst="rect">
            <a:avLst/>
          </a:prstGeom>
          <a:noFill/>
          <a:ln>
            <a:noFill/>
          </a:ln>
        </p:spPr>
      </p:pic>
      <p:pic>
        <p:nvPicPr>
          <p:cNvPr id="232" name="Google Shape;232;p27"/>
          <p:cNvPicPr preferRelativeResize="0"/>
          <p:nvPr/>
        </p:nvPicPr>
        <p:blipFill>
          <a:blip r:embed="rId9">
            <a:alphaModFix/>
          </a:blip>
          <a:stretch>
            <a:fillRect/>
          </a:stretch>
        </p:blipFill>
        <p:spPr>
          <a:xfrm>
            <a:off x="6621925" y="1857375"/>
            <a:ext cx="504825" cy="523875"/>
          </a:xfrm>
          <a:prstGeom prst="rect">
            <a:avLst/>
          </a:prstGeom>
          <a:noFill/>
          <a:ln>
            <a:noFill/>
          </a:ln>
        </p:spPr>
      </p:pic>
      <p:sp>
        <p:nvSpPr>
          <p:cNvPr id="233" name="Google Shape;233;p27"/>
          <p:cNvSpPr txBox="1"/>
          <p:nvPr/>
        </p:nvSpPr>
        <p:spPr>
          <a:xfrm>
            <a:off x="1408925" y="2624950"/>
            <a:ext cx="3438900" cy="31545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.data</a:t>
            </a:r>
            <a:endParaRPr sz="1700">
              <a:solidFill>
                <a:schemeClr val="dk1"/>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    	x: .word 1 </a:t>
            </a:r>
            <a:endParaRPr sz="1700">
              <a:solidFill>
                <a:schemeClr val="dk1"/>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    	y: .word 0</a:t>
            </a:r>
            <a:endParaRPr sz="1700">
              <a:solidFill>
                <a:schemeClr val="dk1"/>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.text</a:t>
            </a:r>
            <a:endParaRPr sz="1700">
              <a:solidFill>
                <a:schemeClr val="dk1"/>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main:</a:t>
            </a:r>
            <a:endParaRPr sz="1700">
              <a:solidFill>
                <a:schemeClr val="dk1"/>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    	lw   $t0 x</a:t>
            </a:r>
            <a:endParaRPr sz="1700">
              <a:solidFill>
                <a:schemeClr val="dk1"/>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    	li   $t1 2</a:t>
            </a:r>
            <a:endParaRPr sz="1700">
              <a:solidFill>
                <a:schemeClr val="dk1"/>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    	add  $t1 $t0 $t1</a:t>
            </a:r>
            <a:endParaRPr sz="1700">
              <a:solidFill>
                <a:schemeClr val="dk1"/>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    	sw $t1, y  	</a:t>
            </a:r>
            <a:endParaRPr sz="1700">
              <a:solidFill>
                <a:schemeClr val="dk1"/>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    	jr $ra</a:t>
            </a:r>
            <a:endParaRPr sz="1700">
              <a:solidFill>
                <a:schemeClr val="dk1"/>
              </a:solidFill>
              <a:latin typeface="Courier New"/>
              <a:ea typeface="Courier New"/>
              <a:cs typeface="Courier New"/>
              <a:sym typeface="Courier New"/>
            </a:endParaRPr>
          </a:p>
        </p:txBody>
      </p:sp>
      <p:pic>
        <p:nvPicPr>
          <p:cNvPr id="234" name="Google Shape;234;p27"/>
          <p:cNvPicPr preferRelativeResize="0"/>
          <p:nvPr/>
        </p:nvPicPr>
        <p:blipFill>
          <a:blip r:embed="rId10">
            <a:alphaModFix/>
          </a:blip>
          <a:stretch>
            <a:fillRect/>
          </a:stretch>
        </p:blipFill>
        <p:spPr>
          <a:xfrm>
            <a:off x="1790674" y="1728425"/>
            <a:ext cx="2911650" cy="420100"/>
          </a:xfrm>
          <a:prstGeom prst="rect">
            <a:avLst/>
          </a:prstGeom>
          <a:noFill/>
          <a:ln>
            <a:noFill/>
          </a:ln>
        </p:spPr>
      </p:pic>
      <p:sp>
        <p:nvSpPr>
          <p:cNvPr id="235" name="Google Shape;235;p27"/>
          <p:cNvSpPr txBox="1"/>
          <p:nvPr/>
        </p:nvSpPr>
        <p:spPr>
          <a:xfrm>
            <a:off x="1461875" y="5951250"/>
            <a:ext cx="3505200" cy="507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2100" u="sng">
                <a:solidFill>
                  <a:schemeClr val="hlink"/>
                </a:solidFill>
                <a:latin typeface="Calibri"/>
                <a:ea typeface="Calibri"/>
                <a:cs typeface="Calibri"/>
                <a:sym typeface="Calibri"/>
                <a:hlinkClick r:id="rId11"/>
              </a:rPr>
              <a:t>https://wepsim.github.io/</a:t>
            </a:r>
            <a:endParaRPr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p28"/>
          <p:cNvSpPr txBox="1">
            <a:spLocks noGrp="1"/>
          </p:cNvSpPr>
          <p:nvPr>
            <p:ph type="title"/>
          </p:nvPr>
        </p:nvSpPr>
        <p:spPr>
          <a:xfrm>
            <a:off x="916650" y="96038"/>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t>¿Que hace un sistema operativo?</a:t>
            </a:r>
            <a:endParaRPr/>
          </a:p>
        </p:txBody>
      </p:sp>
      <p:sp>
        <p:nvSpPr>
          <p:cNvPr id="241" name="Google Shape;241;p28"/>
          <p:cNvSpPr txBox="1">
            <a:spLocks noGrp="1"/>
          </p:cNvSpPr>
          <p:nvPr>
            <p:ph idx="1"/>
          </p:nvPr>
        </p:nvSpPr>
        <p:spPr>
          <a:xfrm>
            <a:off x="784725" y="951700"/>
            <a:ext cx="10578900" cy="48591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s-ES" b="1">
                <a:solidFill>
                  <a:srgbClr val="8CC63E"/>
                </a:solidFill>
              </a:rPr>
              <a:t>¿Como facilitar la ejecución de programas en un computador?</a:t>
            </a:r>
            <a:endParaRPr b="1">
              <a:solidFill>
                <a:srgbClr val="8CC63E"/>
              </a:solidFill>
            </a:endParaRPr>
          </a:p>
          <a:p>
            <a:pPr marL="457200" lvl="0" indent="0" algn="l" rtl="0">
              <a:spcBef>
                <a:spcPts val="1000"/>
              </a:spcBef>
              <a:spcAft>
                <a:spcPts val="0"/>
              </a:spcAft>
              <a:buNone/>
            </a:pPr>
            <a:endParaRPr sz="2500">
              <a:solidFill>
                <a:srgbClr val="000000"/>
              </a:solidFill>
            </a:endParaRPr>
          </a:p>
        </p:txBody>
      </p:sp>
      <p:pic>
        <p:nvPicPr>
          <p:cNvPr id="242" name="Google Shape;242;p28"/>
          <p:cNvPicPr preferRelativeResize="0"/>
          <p:nvPr/>
        </p:nvPicPr>
        <p:blipFill>
          <a:blip r:embed="rId3">
            <a:alphaModFix/>
          </a:blip>
          <a:stretch>
            <a:fillRect/>
          </a:stretch>
        </p:blipFill>
        <p:spPr>
          <a:xfrm>
            <a:off x="6444087" y="1778900"/>
            <a:ext cx="5217713" cy="4859100"/>
          </a:xfrm>
          <a:prstGeom prst="rect">
            <a:avLst/>
          </a:prstGeom>
          <a:noFill/>
          <a:ln>
            <a:noFill/>
          </a:ln>
        </p:spPr>
      </p:pic>
      <p:sp>
        <p:nvSpPr>
          <p:cNvPr id="243" name="Google Shape;243;p28"/>
          <p:cNvSpPr txBox="1"/>
          <p:nvPr/>
        </p:nvSpPr>
        <p:spPr>
          <a:xfrm>
            <a:off x="1130125" y="4843525"/>
            <a:ext cx="4670100" cy="15504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r>
              <a:rPr lang="es-ES" sz="2400" b="1">
                <a:solidFill>
                  <a:schemeClr val="dk1"/>
                </a:solidFill>
                <a:latin typeface="Roboto"/>
                <a:ea typeface="Roboto"/>
                <a:cs typeface="Roboto"/>
                <a:sym typeface="Roboto"/>
              </a:rPr>
              <a:t>Incluso</a:t>
            </a:r>
            <a:r>
              <a:rPr lang="es-ES" sz="2400">
                <a:solidFill>
                  <a:schemeClr val="dk1"/>
                </a:solidFill>
                <a:latin typeface="Roboto"/>
                <a:ea typeface="Roboto"/>
                <a:cs typeface="Roboto"/>
                <a:sym typeface="Roboto"/>
              </a:rPr>
              <a:t>, ¿cómo permitir que se puedan ejecutar </a:t>
            </a:r>
            <a:r>
              <a:rPr lang="es-ES" sz="2400" b="1">
                <a:solidFill>
                  <a:srgbClr val="FF9900"/>
                </a:solidFill>
                <a:latin typeface="Roboto"/>
                <a:ea typeface="Roboto"/>
                <a:cs typeface="Roboto"/>
                <a:sym typeface="Roboto"/>
              </a:rPr>
              <a:t>varios programas</a:t>
            </a:r>
            <a:r>
              <a:rPr lang="es-ES" sz="2400">
                <a:solidFill>
                  <a:schemeClr val="dk1"/>
                </a:solidFill>
                <a:latin typeface="Roboto"/>
                <a:ea typeface="Roboto"/>
                <a:cs typeface="Roboto"/>
                <a:sym typeface="Roboto"/>
              </a:rPr>
              <a:t> al mismo tiempo?</a:t>
            </a:r>
            <a:endParaRPr/>
          </a:p>
        </p:txBody>
      </p:sp>
      <p:pic>
        <p:nvPicPr>
          <p:cNvPr id="244" name="Google Shape;244;p28"/>
          <p:cNvPicPr preferRelativeResize="0"/>
          <p:nvPr/>
        </p:nvPicPr>
        <p:blipFill>
          <a:blip r:embed="rId4">
            <a:alphaModFix/>
          </a:blip>
          <a:stretch>
            <a:fillRect/>
          </a:stretch>
        </p:blipFill>
        <p:spPr>
          <a:xfrm>
            <a:off x="1426975" y="2502662"/>
            <a:ext cx="3868925" cy="21762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48"/>
        <p:cNvGrpSpPr/>
        <p:nvPr/>
      </p:nvGrpSpPr>
      <p:grpSpPr>
        <a:xfrm>
          <a:off x="0" y="0"/>
          <a:ext cx="0" cy="0"/>
          <a:chOff x="0" y="0"/>
          <a:chExt cx="0" cy="0"/>
        </a:xfrm>
      </p:grpSpPr>
      <p:sp>
        <p:nvSpPr>
          <p:cNvPr id="249" name="Google Shape;249;p29"/>
          <p:cNvSpPr txBox="1">
            <a:spLocks noGrp="1"/>
          </p:cNvSpPr>
          <p:nvPr>
            <p:ph type="title"/>
          </p:nvPr>
        </p:nvSpPr>
        <p:spPr>
          <a:xfrm>
            <a:off x="916650" y="96038"/>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t>¿Que hace un sistema operativo?</a:t>
            </a:r>
            <a:endParaRPr/>
          </a:p>
        </p:txBody>
      </p:sp>
      <p:sp>
        <p:nvSpPr>
          <p:cNvPr id="250" name="Google Shape;250;p29"/>
          <p:cNvSpPr txBox="1">
            <a:spLocks noGrp="1"/>
          </p:cNvSpPr>
          <p:nvPr>
            <p:ph idx="1"/>
          </p:nvPr>
        </p:nvSpPr>
        <p:spPr>
          <a:xfrm>
            <a:off x="285959" y="951700"/>
            <a:ext cx="10578900" cy="48591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s-ES" b="1">
                <a:solidFill>
                  <a:srgbClr val="8CC63E"/>
                </a:solidFill>
              </a:rPr>
              <a:t>Estructura de los sistemas de cómputo</a:t>
            </a:r>
            <a:endParaRPr b="1">
              <a:solidFill>
                <a:srgbClr val="8CC63E"/>
              </a:solidFill>
            </a:endParaRPr>
          </a:p>
          <a:p>
            <a:pPr marL="457200" lvl="0" indent="0" algn="l" rtl="0">
              <a:spcBef>
                <a:spcPts val="1000"/>
              </a:spcBef>
              <a:spcAft>
                <a:spcPts val="0"/>
              </a:spcAft>
              <a:buNone/>
            </a:pPr>
            <a:endParaRPr sz="2500">
              <a:solidFill>
                <a:srgbClr val="000000"/>
              </a:solidFill>
            </a:endParaRPr>
          </a:p>
        </p:txBody>
      </p:sp>
      <p:sp>
        <p:nvSpPr>
          <p:cNvPr id="251" name="Google Shape;251;p29"/>
          <p:cNvSpPr txBox="1"/>
          <p:nvPr/>
        </p:nvSpPr>
        <p:spPr>
          <a:xfrm>
            <a:off x="341684" y="1358100"/>
            <a:ext cx="5353500" cy="48591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r>
              <a:rPr lang="es-ES" sz="2500" b="1" dirty="0">
                <a:solidFill>
                  <a:schemeClr val="dk1"/>
                </a:solidFill>
                <a:latin typeface="Roboto"/>
                <a:ea typeface="Roboto"/>
                <a:cs typeface="Roboto"/>
                <a:sym typeface="Roboto"/>
              </a:rPr>
              <a:t>Componentes principales</a:t>
            </a:r>
            <a:r>
              <a:rPr lang="es-ES" sz="2500" dirty="0">
                <a:solidFill>
                  <a:schemeClr val="dk1"/>
                </a:solidFill>
                <a:latin typeface="Roboto"/>
                <a:ea typeface="Roboto"/>
                <a:cs typeface="Roboto"/>
                <a:sym typeface="Roboto"/>
              </a:rPr>
              <a:t>:</a:t>
            </a:r>
            <a:endParaRPr sz="2500" dirty="0">
              <a:solidFill>
                <a:schemeClr val="dk1"/>
              </a:solidFill>
              <a:latin typeface="Roboto"/>
              <a:ea typeface="Roboto"/>
              <a:cs typeface="Roboto"/>
              <a:sym typeface="Roboto"/>
            </a:endParaRPr>
          </a:p>
          <a:p>
            <a:pPr marL="457200" lvl="0" indent="-368300" algn="l" rtl="0">
              <a:lnSpc>
                <a:spcPct val="90000"/>
              </a:lnSpc>
              <a:spcBef>
                <a:spcPts val="1000"/>
              </a:spcBef>
              <a:spcAft>
                <a:spcPts val="0"/>
              </a:spcAft>
              <a:buClr>
                <a:schemeClr val="dk1"/>
              </a:buClr>
              <a:buSzPts val="2200"/>
              <a:buFont typeface="Roboto"/>
              <a:buAutoNum type="arabicPeriod"/>
            </a:pPr>
            <a:r>
              <a:rPr lang="es-ES" sz="2200" b="1" dirty="0">
                <a:solidFill>
                  <a:schemeClr val="dk1"/>
                </a:solidFill>
                <a:latin typeface="Roboto"/>
                <a:ea typeface="Roboto"/>
                <a:cs typeface="Roboto"/>
                <a:sym typeface="Roboto"/>
              </a:rPr>
              <a:t>Usuarios </a:t>
            </a:r>
            <a:endParaRPr sz="2200" dirty="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r>
              <a:rPr lang="es-ES" sz="2200" dirty="0">
                <a:solidFill>
                  <a:schemeClr val="dk1"/>
                </a:solidFill>
                <a:latin typeface="Roboto"/>
                <a:ea typeface="Roboto"/>
                <a:cs typeface="Roboto"/>
                <a:sym typeface="Roboto"/>
              </a:rPr>
              <a:t>Personas, máquinas, otras computadoras</a:t>
            </a:r>
            <a:endParaRPr sz="2200" dirty="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endParaRPr sz="2200" dirty="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endParaRPr sz="2200" dirty="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endParaRPr sz="2200" dirty="0">
              <a:solidFill>
                <a:schemeClr val="dk1"/>
              </a:solidFill>
              <a:latin typeface="Roboto"/>
              <a:ea typeface="Roboto"/>
              <a:cs typeface="Roboto"/>
              <a:sym typeface="Roboto"/>
            </a:endParaRPr>
          </a:p>
          <a:p>
            <a:pPr marL="546100" lvl="0" indent="-457200" algn="l" rtl="0">
              <a:lnSpc>
                <a:spcPct val="90000"/>
              </a:lnSpc>
              <a:spcBef>
                <a:spcPts val="1000"/>
              </a:spcBef>
              <a:spcAft>
                <a:spcPts val="0"/>
              </a:spcAft>
              <a:buClr>
                <a:schemeClr val="dk1"/>
              </a:buClr>
              <a:buSzPts val="2200"/>
              <a:buFont typeface="+mj-lt"/>
              <a:buAutoNum type="arabicPeriod" startAt="2"/>
            </a:pPr>
            <a:r>
              <a:rPr lang="es-ES" sz="2200" b="1" dirty="0">
                <a:solidFill>
                  <a:schemeClr val="dk1"/>
                </a:solidFill>
                <a:latin typeface="Roboto"/>
                <a:ea typeface="Roboto"/>
                <a:cs typeface="Roboto"/>
                <a:sym typeface="Roboto"/>
              </a:rPr>
              <a:t>Aplicaciones </a:t>
            </a:r>
            <a:endParaRPr sz="2200" dirty="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r>
              <a:rPr lang="es-ES" sz="2200" dirty="0">
                <a:solidFill>
                  <a:schemeClr val="dk1"/>
                </a:solidFill>
                <a:latin typeface="Roboto"/>
                <a:ea typeface="Roboto"/>
                <a:cs typeface="Roboto"/>
                <a:sym typeface="Roboto"/>
              </a:rPr>
              <a:t>Compiladores, procesadores  de texto, navegadores, etc.</a:t>
            </a:r>
            <a:endParaRPr sz="2200" dirty="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endParaRPr sz="2200" dirty="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p:txBody>
      </p:sp>
      <p:pic>
        <p:nvPicPr>
          <p:cNvPr id="252" name="Google Shape;252;p29"/>
          <p:cNvPicPr preferRelativeResize="0"/>
          <p:nvPr/>
        </p:nvPicPr>
        <p:blipFill>
          <a:blip r:embed="rId3">
            <a:alphaModFix/>
          </a:blip>
          <a:stretch>
            <a:fillRect/>
          </a:stretch>
        </p:blipFill>
        <p:spPr>
          <a:xfrm>
            <a:off x="6310275" y="1691400"/>
            <a:ext cx="5680850" cy="4525801"/>
          </a:xfrm>
          <a:prstGeom prst="rect">
            <a:avLst/>
          </a:prstGeom>
          <a:noFill/>
          <a:ln>
            <a:noFill/>
          </a:ln>
        </p:spPr>
      </p:pic>
      <p:pic>
        <p:nvPicPr>
          <p:cNvPr id="253" name="Google Shape;253;p29"/>
          <p:cNvPicPr preferRelativeResize="0"/>
          <p:nvPr/>
        </p:nvPicPr>
        <p:blipFill>
          <a:blip r:embed="rId4">
            <a:alphaModFix/>
          </a:blip>
          <a:stretch>
            <a:fillRect/>
          </a:stretch>
        </p:blipFill>
        <p:spPr>
          <a:xfrm>
            <a:off x="1465586" y="3312900"/>
            <a:ext cx="788373" cy="949500"/>
          </a:xfrm>
          <a:prstGeom prst="rect">
            <a:avLst/>
          </a:prstGeom>
          <a:noFill/>
          <a:ln>
            <a:noFill/>
          </a:ln>
        </p:spPr>
      </p:pic>
      <p:pic>
        <p:nvPicPr>
          <p:cNvPr id="254" name="Google Shape;254;p29"/>
          <p:cNvPicPr preferRelativeResize="0"/>
          <p:nvPr/>
        </p:nvPicPr>
        <p:blipFill>
          <a:blip r:embed="rId5">
            <a:alphaModFix/>
          </a:blip>
          <a:stretch>
            <a:fillRect/>
          </a:stretch>
        </p:blipFill>
        <p:spPr>
          <a:xfrm>
            <a:off x="2777834" y="3312900"/>
            <a:ext cx="949500" cy="949500"/>
          </a:xfrm>
          <a:prstGeom prst="rect">
            <a:avLst/>
          </a:prstGeom>
          <a:noFill/>
          <a:ln>
            <a:noFill/>
          </a:ln>
        </p:spPr>
      </p:pic>
      <p:pic>
        <p:nvPicPr>
          <p:cNvPr id="255" name="Google Shape;255;p29"/>
          <p:cNvPicPr preferRelativeResize="0"/>
          <p:nvPr/>
        </p:nvPicPr>
        <p:blipFill>
          <a:blip r:embed="rId6">
            <a:alphaModFix/>
          </a:blip>
          <a:stretch>
            <a:fillRect/>
          </a:stretch>
        </p:blipFill>
        <p:spPr>
          <a:xfrm>
            <a:off x="1465584" y="5810798"/>
            <a:ext cx="721700" cy="721700"/>
          </a:xfrm>
          <a:prstGeom prst="rect">
            <a:avLst/>
          </a:prstGeom>
          <a:noFill/>
          <a:ln>
            <a:noFill/>
          </a:ln>
        </p:spPr>
      </p:pic>
      <p:pic>
        <p:nvPicPr>
          <p:cNvPr id="256" name="Google Shape;256;p29"/>
          <p:cNvPicPr preferRelativeResize="0"/>
          <p:nvPr/>
        </p:nvPicPr>
        <p:blipFill>
          <a:blip r:embed="rId7">
            <a:alphaModFix/>
          </a:blip>
          <a:stretch>
            <a:fillRect/>
          </a:stretch>
        </p:blipFill>
        <p:spPr>
          <a:xfrm>
            <a:off x="2377784" y="5885900"/>
            <a:ext cx="571500" cy="571500"/>
          </a:xfrm>
          <a:prstGeom prst="rect">
            <a:avLst/>
          </a:prstGeom>
          <a:noFill/>
          <a:ln>
            <a:noFill/>
          </a:ln>
        </p:spPr>
      </p:pic>
      <p:pic>
        <p:nvPicPr>
          <p:cNvPr id="257" name="Google Shape;257;p29"/>
          <p:cNvPicPr preferRelativeResize="0"/>
          <p:nvPr/>
        </p:nvPicPr>
        <p:blipFill>
          <a:blip r:embed="rId8">
            <a:alphaModFix/>
          </a:blip>
          <a:stretch>
            <a:fillRect/>
          </a:stretch>
        </p:blipFill>
        <p:spPr>
          <a:xfrm>
            <a:off x="3293534" y="5835479"/>
            <a:ext cx="571500" cy="67234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30"/>
          <p:cNvSpPr txBox="1">
            <a:spLocks noGrp="1"/>
          </p:cNvSpPr>
          <p:nvPr>
            <p:ph type="title"/>
          </p:nvPr>
        </p:nvSpPr>
        <p:spPr>
          <a:xfrm>
            <a:off x="916650" y="96038"/>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t>¿Que hace un sistema operativo?</a:t>
            </a:r>
            <a:endParaRPr/>
          </a:p>
        </p:txBody>
      </p:sp>
      <p:sp>
        <p:nvSpPr>
          <p:cNvPr id="263" name="Google Shape;263;p30"/>
          <p:cNvSpPr txBox="1">
            <a:spLocks noGrp="1"/>
          </p:cNvSpPr>
          <p:nvPr>
            <p:ph idx="1"/>
          </p:nvPr>
        </p:nvSpPr>
        <p:spPr>
          <a:xfrm>
            <a:off x="784725" y="951700"/>
            <a:ext cx="10578900" cy="48591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s-ES" b="1">
                <a:solidFill>
                  <a:srgbClr val="8CC63E"/>
                </a:solidFill>
              </a:rPr>
              <a:t>Estructura de los sistemas de cómputo</a:t>
            </a:r>
            <a:endParaRPr b="1">
              <a:solidFill>
                <a:srgbClr val="8CC63E"/>
              </a:solidFill>
            </a:endParaRPr>
          </a:p>
          <a:p>
            <a:pPr marL="457200" lvl="0" indent="0" algn="l" rtl="0">
              <a:spcBef>
                <a:spcPts val="1000"/>
              </a:spcBef>
              <a:spcAft>
                <a:spcPts val="0"/>
              </a:spcAft>
              <a:buNone/>
            </a:pPr>
            <a:endParaRPr sz="2500">
              <a:solidFill>
                <a:srgbClr val="000000"/>
              </a:solidFill>
            </a:endParaRPr>
          </a:p>
        </p:txBody>
      </p:sp>
      <p:sp>
        <p:nvSpPr>
          <p:cNvPr id="264" name="Google Shape;264;p30"/>
          <p:cNvSpPr txBox="1"/>
          <p:nvPr/>
        </p:nvSpPr>
        <p:spPr>
          <a:xfrm>
            <a:off x="840450" y="1358100"/>
            <a:ext cx="5353500" cy="52812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r>
              <a:rPr lang="es-ES" sz="2500" b="1">
                <a:solidFill>
                  <a:schemeClr val="dk1"/>
                </a:solidFill>
                <a:latin typeface="Roboto"/>
                <a:ea typeface="Roboto"/>
                <a:cs typeface="Roboto"/>
                <a:sym typeface="Roboto"/>
              </a:rPr>
              <a:t>Componentes principales</a:t>
            </a:r>
            <a:r>
              <a:rPr lang="es-ES" sz="2500">
                <a:solidFill>
                  <a:schemeClr val="dk1"/>
                </a:solidFill>
                <a:latin typeface="Roboto"/>
                <a:ea typeface="Roboto"/>
                <a:cs typeface="Roboto"/>
                <a:sym typeface="Roboto"/>
              </a:rPr>
              <a:t>:</a:t>
            </a:r>
            <a:endParaRPr sz="2500">
              <a:solidFill>
                <a:schemeClr val="dk1"/>
              </a:solidFill>
              <a:latin typeface="Roboto"/>
              <a:ea typeface="Roboto"/>
              <a:cs typeface="Roboto"/>
              <a:sym typeface="Roboto"/>
            </a:endParaRPr>
          </a:p>
          <a:p>
            <a:pPr marL="457200" lvl="0" indent="-368300" algn="l" rtl="0">
              <a:lnSpc>
                <a:spcPct val="90000"/>
              </a:lnSpc>
              <a:spcBef>
                <a:spcPts val="1000"/>
              </a:spcBef>
              <a:spcAft>
                <a:spcPts val="0"/>
              </a:spcAft>
              <a:buClr>
                <a:schemeClr val="dk1"/>
              </a:buClr>
              <a:buSzPts val="2200"/>
              <a:buFont typeface="Roboto"/>
              <a:buAutoNum type="arabicPeriod" startAt="3"/>
            </a:pPr>
            <a:r>
              <a:rPr lang="es-ES" sz="2200" b="1">
                <a:solidFill>
                  <a:schemeClr val="dk1"/>
                </a:solidFill>
                <a:latin typeface="Roboto"/>
                <a:ea typeface="Roboto"/>
                <a:cs typeface="Roboto"/>
                <a:sym typeface="Roboto"/>
              </a:rPr>
              <a:t>Sistema Operativo</a:t>
            </a:r>
            <a:r>
              <a:rPr lang="es-ES" sz="2200">
                <a:solidFill>
                  <a:schemeClr val="dk1"/>
                </a:solidFill>
                <a:latin typeface="Roboto"/>
                <a:ea typeface="Roboto"/>
                <a:cs typeface="Roboto"/>
                <a:sym typeface="Roboto"/>
              </a:rPr>
              <a:t> </a:t>
            </a:r>
            <a:endParaRPr sz="220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r>
              <a:rPr lang="es-ES" sz="2200">
                <a:solidFill>
                  <a:schemeClr val="dk1"/>
                </a:solidFill>
                <a:latin typeface="Roboto"/>
                <a:ea typeface="Roboto"/>
                <a:cs typeface="Roboto"/>
                <a:sym typeface="Roboto"/>
              </a:rPr>
              <a:t>Controla y coordina el uso del hardware entre varias aplicaciones y usuarios</a:t>
            </a:r>
            <a:endParaRPr sz="220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endParaRPr sz="220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endParaRPr sz="2200">
              <a:solidFill>
                <a:schemeClr val="dk1"/>
              </a:solidFill>
              <a:latin typeface="Roboto"/>
              <a:ea typeface="Roboto"/>
              <a:cs typeface="Roboto"/>
              <a:sym typeface="Roboto"/>
            </a:endParaRPr>
          </a:p>
          <a:p>
            <a:pPr marL="457200" lvl="0" indent="-368300" algn="l" rtl="0">
              <a:lnSpc>
                <a:spcPct val="90000"/>
              </a:lnSpc>
              <a:spcBef>
                <a:spcPts val="1000"/>
              </a:spcBef>
              <a:spcAft>
                <a:spcPts val="0"/>
              </a:spcAft>
              <a:buClr>
                <a:schemeClr val="dk1"/>
              </a:buClr>
              <a:buSzPts val="2200"/>
              <a:buFont typeface="Roboto"/>
              <a:buAutoNum type="arabicPeriod" startAt="3"/>
            </a:pPr>
            <a:r>
              <a:rPr lang="es-ES" sz="2200" b="1">
                <a:solidFill>
                  <a:schemeClr val="dk1"/>
                </a:solidFill>
                <a:latin typeface="Roboto"/>
                <a:ea typeface="Roboto"/>
                <a:cs typeface="Roboto"/>
                <a:sym typeface="Roboto"/>
              </a:rPr>
              <a:t>Hardware</a:t>
            </a:r>
            <a:r>
              <a:rPr lang="es-ES" sz="2200">
                <a:solidFill>
                  <a:schemeClr val="dk1"/>
                </a:solidFill>
                <a:latin typeface="Roboto"/>
                <a:ea typeface="Roboto"/>
                <a:cs typeface="Roboto"/>
                <a:sym typeface="Roboto"/>
              </a:rPr>
              <a:t> </a:t>
            </a:r>
            <a:endParaRPr sz="220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r>
              <a:rPr lang="es-ES" sz="2200">
                <a:solidFill>
                  <a:schemeClr val="dk1"/>
                </a:solidFill>
                <a:latin typeface="Roboto"/>
                <a:ea typeface="Roboto"/>
                <a:cs typeface="Roboto"/>
                <a:sym typeface="Roboto"/>
              </a:rPr>
              <a:t>CPU - Memoria - Dispositivos  E/S</a:t>
            </a:r>
            <a:endParaRPr sz="22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2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a:solidFill>
                <a:schemeClr val="dk1"/>
              </a:solidFill>
              <a:latin typeface="Roboto"/>
              <a:ea typeface="Roboto"/>
              <a:cs typeface="Roboto"/>
              <a:sym typeface="Roboto"/>
            </a:endParaRPr>
          </a:p>
        </p:txBody>
      </p:sp>
      <p:pic>
        <p:nvPicPr>
          <p:cNvPr id="265" name="Google Shape;265;p30"/>
          <p:cNvPicPr preferRelativeResize="0"/>
          <p:nvPr/>
        </p:nvPicPr>
        <p:blipFill>
          <a:blip r:embed="rId3">
            <a:alphaModFix/>
          </a:blip>
          <a:stretch>
            <a:fillRect/>
          </a:stretch>
        </p:blipFill>
        <p:spPr>
          <a:xfrm>
            <a:off x="6310275" y="1691400"/>
            <a:ext cx="5680850" cy="4525801"/>
          </a:xfrm>
          <a:prstGeom prst="rect">
            <a:avLst/>
          </a:prstGeom>
          <a:noFill/>
          <a:ln>
            <a:noFill/>
          </a:ln>
        </p:spPr>
      </p:pic>
      <p:pic>
        <p:nvPicPr>
          <p:cNvPr id="266" name="Google Shape;266;p30"/>
          <p:cNvPicPr preferRelativeResize="0"/>
          <p:nvPr/>
        </p:nvPicPr>
        <p:blipFill>
          <a:blip r:embed="rId4">
            <a:alphaModFix/>
          </a:blip>
          <a:stretch>
            <a:fillRect/>
          </a:stretch>
        </p:blipFill>
        <p:spPr>
          <a:xfrm>
            <a:off x="2242725" y="5528129"/>
            <a:ext cx="723900" cy="581020"/>
          </a:xfrm>
          <a:prstGeom prst="rect">
            <a:avLst/>
          </a:prstGeom>
          <a:noFill/>
          <a:ln>
            <a:noFill/>
          </a:ln>
        </p:spPr>
      </p:pic>
      <p:pic>
        <p:nvPicPr>
          <p:cNvPr id="267" name="Google Shape;267;p30"/>
          <p:cNvPicPr preferRelativeResize="0"/>
          <p:nvPr/>
        </p:nvPicPr>
        <p:blipFill>
          <a:blip r:embed="rId5">
            <a:alphaModFix/>
          </a:blip>
          <a:stretch>
            <a:fillRect/>
          </a:stretch>
        </p:blipFill>
        <p:spPr>
          <a:xfrm>
            <a:off x="3037713" y="5369295"/>
            <a:ext cx="887388" cy="849343"/>
          </a:xfrm>
          <a:prstGeom prst="rect">
            <a:avLst/>
          </a:prstGeom>
          <a:noFill/>
          <a:ln>
            <a:noFill/>
          </a:ln>
        </p:spPr>
      </p:pic>
      <p:pic>
        <p:nvPicPr>
          <p:cNvPr id="268" name="Google Shape;268;p30"/>
          <p:cNvPicPr preferRelativeResize="0"/>
          <p:nvPr/>
        </p:nvPicPr>
        <p:blipFill>
          <a:blip r:embed="rId6">
            <a:alphaModFix/>
          </a:blip>
          <a:stretch>
            <a:fillRect/>
          </a:stretch>
        </p:blipFill>
        <p:spPr>
          <a:xfrm>
            <a:off x="1397475" y="5418350"/>
            <a:ext cx="723900" cy="751217"/>
          </a:xfrm>
          <a:prstGeom prst="rect">
            <a:avLst/>
          </a:prstGeom>
          <a:noFill/>
          <a:ln>
            <a:noFill/>
          </a:ln>
        </p:spPr>
      </p:pic>
      <p:pic>
        <p:nvPicPr>
          <p:cNvPr id="269" name="Google Shape;269;p30"/>
          <p:cNvPicPr preferRelativeResize="0"/>
          <p:nvPr/>
        </p:nvPicPr>
        <p:blipFill>
          <a:blip r:embed="rId7">
            <a:alphaModFix/>
          </a:blip>
          <a:stretch>
            <a:fillRect/>
          </a:stretch>
        </p:blipFill>
        <p:spPr>
          <a:xfrm>
            <a:off x="5036925" y="5369288"/>
            <a:ext cx="849350" cy="849350"/>
          </a:xfrm>
          <a:prstGeom prst="rect">
            <a:avLst/>
          </a:prstGeom>
          <a:noFill/>
          <a:ln>
            <a:noFill/>
          </a:ln>
        </p:spPr>
      </p:pic>
      <p:pic>
        <p:nvPicPr>
          <p:cNvPr id="270" name="Google Shape;270;p30"/>
          <p:cNvPicPr preferRelativeResize="0"/>
          <p:nvPr/>
        </p:nvPicPr>
        <p:blipFill>
          <a:blip r:embed="rId8">
            <a:alphaModFix/>
          </a:blip>
          <a:stretch>
            <a:fillRect/>
          </a:stretch>
        </p:blipFill>
        <p:spPr>
          <a:xfrm>
            <a:off x="3996200" y="5256100"/>
            <a:ext cx="1007875" cy="1007875"/>
          </a:xfrm>
          <a:prstGeom prst="rect">
            <a:avLst/>
          </a:prstGeom>
          <a:noFill/>
          <a:ln>
            <a:noFill/>
          </a:ln>
        </p:spPr>
      </p:pic>
      <p:pic>
        <p:nvPicPr>
          <p:cNvPr id="271" name="Google Shape;271;p30"/>
          <p:cNvPicPr preferRelativeResize="0"/>
          <p:nvPr/>
        </p:nvPicPr>
        <p:blipFill>
          <a:blip r:embed="rId9">
            <a:alphaModFix/>
          </a:blip>
          <a:stretch>
            <a:fillRect/>
          </a:stretch>
        </p:blipFill>
        <p:spPr>
          <a:xfrm>
            <a:off x="2277141" y="3491575"/>
            <a:ext cx="628134" cy="887375"/>
          </a:xfrm>
          <a:prstGeom prst="rect">
            <a:avLst/>
          </a:prstGeom>
          <a:noFill/>
          <a:ln>
            <a:noFill/>
          </a:ln>
        </p:spPr>
      </p:pic>
      <p:pic>
        <p:nvPicPr>
          <p:cNvPr id="272" name="Google Shape;272;p30"/>
          <p:cNvPicPr preferRelativeResize="0"/>
          <p:nvPr/>
        </p:nvPicPr>
        <p:blipFill>
          <a:blip r:embed="rId10">
            <a:alphaModFix/>
          </a:blip>
          <a:stretch>
            <a:fillRect/>
          </a:stretch>
        </p:blipFill>
        <p:spPr>
          <a:xfrm>
            <a:off x="3168750" y="3491578"/>
            <a:ext cx="887375" cy="887375"/>
          </a:xfrm>
          <a:prstGeom prst="rect">
            <a:avLst/>
          </a:prstGeom>
          <a:noFill/>
          <a:ln>
            <a:noFill/>
          </a:ln>
        </p:spPr>
      </p:pic>
      <p:pic>
        <p:nvPicPr>
          <p:cNvPr id="273" name="Google Shape;273;p30"/>
          <p:cNvPicPr preferRelativeResize="0"/>
          <p:nvPr/>
        </p:nvPicPr>
        <p:blipFill>
          <a:blip r:embed="rId11">
            <a:alphaModFix/>
          </a:blip>
          <a:stretch>
            <a:fillRect/>
          </a:stretch>
        </p:blipFill>
        <p:spPr>
          <a:xfrm>
            <a:off x="4319600" y="3396300"/>
            <a:ext cx="849350" cy="8493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77"/>
        <p:cNvGrpSpPr/>
        <p:nvPr/>
      </p:nvGrpSpPr>
      <p:grpSpPr>
        <a:xfrm>
          <a:off x="0" y="0"/>
          <a:ext cx="0" cy="0"/>
          <a:chOff x="0" y="0"/>
          <a:chExt cx="0" cy="0"/>
        </a:xfrm>
      </p:grpSpPr>
      <p:sp>
        <p:nvSpPr>
          <p:cNvPr id="278" name="Google Shape;278;p31"/>
          <p:cNvSpPr txBox="1">
            <a:spLocks noGrp="1"/>
          </p:cNvSpPr>
          <p:nvPr>
            <p:ph type="title"/>
          </p:nvPr>
        </p:nvSpPr>
        <p:spPr>
          <a:xfrm>
            <a:off x="916650" y="96038"/>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t>¿Que hace un sistema operativo?</a:t>
            </a:r>
            <a:endParaRPr/>
          </a:p>
        </p:txBody>
      </p:sp>
      <p:sp>
        <p:nvSpPr>
          <p:cNvPr id="279" name="Google Shape;279;p31"/>
          <p:cNvSpPr txBox="1">
            <a:spLocks noGrp="1"/>
          </p:cNvSpPr>
          <p:nvPr>
            <p:ph idx="1"/>
          </p:nvPr>
        </p:nvSpPr>
        <p:spPr>
          <a:xfrm>
            <a:off x="784725" y="951700"/>
            <a:ext cx="10578900" cy="48591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s-ES" b="1" dirty="0">
                <a:solidFill>
                  <a:srgbClr val="8CC63E"/>
                </a:solidFill>
              </a:rPr>
              <a:t>Clasificación de los sistemas de cómputo</a:t>
            </a:r>
            <a:endParaRPr b="1" dirty="0">
              <a:solidFill>
                <a:srgbClr val="8CC63E"/>
              </a:solidFill>
            </a:endParaRPr>
          </a:p>
          <a:p>
            <a:pPr marL="457200" lvl="0" indent="-317500" algn="l" rtl="0">
              <a:spcBef>
                <a:spcPts val="1000"/>
              </a:spcBef>
              <a:spcAft>
                <a:spcPts val="0"/>
              </a:spcAft>
              <a:buClr>
                <a:srgbClr val="FF9900"/>
              </a:buClr>
              <a:buSzPts val="1400"/>
              <a:buChar char="●"/>
            </a:pPr>
            <a:r>
              <a:rPr lang="es-ES" sz="2400" dirty="0">
                <a:solidFill>
                  <a:srgbClr val="FF9900"/>
                </a:solidFill>
              </a:rPr>
              <a:t>Depende del punto de vista</a:t>
            </a:r>
            <a:endParaRPr sz="2400" dirty="0">
              <a:solidFill>
                <a:srgbClr val="FF9900"/>
              </a:solidFill>
            </a:endParaRPr>
          </a:p>
          <a:p>
            <a:pPr marL="457200" lvl="0" indent="0" algn="l" rtl="0">
              <a:spcBef>
                <a:spcPts val="1000"/>
              </a:spcBef>
              <a:spcAft>
                <a:spcPts val="0"/>
              </a:spcAft>
              <a:buNone/>
            </a:pPr>
            <a:endParaRPr sz="2500" dirty="0">
              <a:solidFill>
                <a:srgbClr val="000000"/>
              </a:solidFill>
            </a:endParaRPr>
          </a:p>
        </p:txBody>
      </p:sp>
      <p:sp>
        <p:nvSpPr>
          <p:cNvPr id="280" name="Google Shape;280;p31"/>
          <p:cNvSpPr txBox="1"/>
          <p:nvPr/>
        </p:nvSpPr>
        <p:spPr>
          <a:xfrm>
            <a:off x="2975800" y="2372350"/>
            <a:ext cx="3749400" cy="13236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r>
              <a:rPr lang="es-ES" sz="2200" b="1">
                <a:solidFill>
                  <a:schemeClr val="dk1"/>
                </a:solidFill>
                <a:latin typeface="Roboto"/>
                <a:ea typeface="Roboto"/>
                <a:cs typeface="Roboto"/>
                <a:sym typeface="Roboto"/>
              </a:rPr>
              <a:t>Usuarios</a:t>
            </a:r>
            <a:endParaRPr sz="2200" b="1">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r>
              <a:rPr lang="es-ES" sz="2000">
                <a:solidFill>
                  <a:schemeClr val="dk1"/>
                </a:solidFill>
                <a:latin typeface="Roboto"/>
                <a:ea typeface="Roboto"/>
                <a:cs typeface="Roboto"/>
                <a:sym typeface="Roboto"/>
              </a:rPr>
              <a:t>No importa mucho la utilización de los recursos</a:t>
            </a:r>
            <a:endParaRPr sz="20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a:solidFill>
                <a:schemeClr val="dk1"/>
              </a:solidFill>
              <a:latin typeface="Roboto"/>
              <a:ea typeface="Roboto"/>
              <a:cs typeface="Roboto"/>
              <a:sym typeface="Roboto"/>
            </a:endParaRPr>
          </a:p>
        </p:txBody>
      </p:sp>
      <p:sp>
        <p:nvSpPr>
          <p:cNvPr id="281" name="Google Shape;281;p31"/>
          <p:cNvSpPr txBox="1"/>
          <p:nvPr/>
        </p:nvSpPr>
        <p:spPr>
          <a:xfrm>
            <a:off x="916650" y="4787150"/>
            <a:ext cx="3411900" cy="13236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r>
              <a:rPr lang="es-ES" sz="2200" b="1">
                <a:solidFill>
                  <a:schemeClr val="dk1"/>
                </a:solidFill>
                <a:latin typeface="Roboto"/>
                <a:ea typeface="Roboto"/>
                <a:cs typeface="Roboto"/>
                <a:sym typeface="Roboto"/>
              </a:rPr>
              <a:t>Computadora compartida </a:t>
            </a:r>
            <a:endParaRPr sz="2200" b="1">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r>
              <a:rPr lang="es-ES" sz="2000">
                <a:solidFill>
                  <a:schemeClr val="dk1"/>
                </a:solidFill>
                <a:latin typeface="Roboto"/>
                <a:ea typeface="Roboto"/>
                <a:cs typeface="Roboto"/>
                <a:sym typeface="Roboto"/>
              </a:rPr>
              <a:t>Mantener a todos los usuarios felices</a:t>
            </a:r>
            <a:endParaRPr sz="20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a:solidFill>
                <a:schemeClr val="dk1"/>
              </a:solidFill>
              <a:latin typeface="Roboto"/>
              <a:ea typeface="Roboto"/>
              <a:cs typeface="Roboto"/>
              <a:sym typeface="Roboto"/>
            </a:endParaRPr>
          </a:p>
        </p:txBody>
      </p:sp>
      <p:sp>
        <p:nvSpPr>
          <p:cNvPr id="282" name="Google Shape;282;p31"/>
          <p:cNvSpPr txBox="1"/>
          <p:nvPr/>
        </p:nvSpPr>
        <p:spPr>
          <a:xfrm>
            <a:off x="8335650" y="1702975"/>
            <a:ext cx="3749400" cy="13236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r>
              <a:rPr lang="es-ES" sz="2200" b="1">
                <a:solidFill>
                  <a:schemeClr val="dk1"/>
                </a:solidFill>
                <a:latin typeface="Roboto"/>
                <a:ea typeface="Roboto"/>
                <a:cs typeface="Roboto"/>
                <a:sym typeface="Roboto"/>
              </a:rPr>
              <a:t>Sistema dedicado</a:t>
            </a:r>
            <a:endParaRPr sz="2200" b="1">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r>
              <a:rPr lang="es-ES" sz="2000">
                <a:solidFill>
                  <a:schemeClr val="dk1"/>
                </a:solidFill>
                <a:latin typeface="Roboto"/>
                <a:ea typeface="Roboto"/>
                <a:cs typeface="Roboto"/>
                <a:sym typeface="Roboto"/>
              </a:rPr>
              <a:t>Compromiso entre usabilidad y utilización de recursos</a:t>
            </a:r>
            <a:endParaRPr sz="20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a:solidFill>
                <a:schemeClr val="dk1"/>
              </a:solidFill>
              <a:latin typeface="Roboto"/>
              <a:ea typeface="Roboto"/>
              <a:cs typeface="Roboto"/>
              <a:sym typeface="Roboto"/>
            </a:endParaRPr>
          </a:p>
        </p:txBody>
      </p:sp>
      <p:pic>
        <p:nvPicPr>
          <p:cNvPr id="283" name="Google Shape;283;p31"/>
          <p:cNvPicPr preferRelativeResize="0"/>
          <p:nvPr/>
        </p:nvPicPr>
        <p:blipFill>
          <a:blip r:embed="rId3">
            <a:alphaModFix/>
          </a:blip>
          <a:stretch>
            <a:fillRect/>
          </a:stretch>
        </p:blipFill>
        <p:spPr>
          <a:xfrm>
            <a:off x="916650" y="2372346"/>
            <a:ext cx="1944550" cy="2281325"/>
          </a:xfrm>
          <a:prstGeom prst="rect">
            <a:avLst/>
          </a:prstGeom>
          <a:noFill/>
          <a:ln>
            <a:noFill/>
          </a:ln>
        </p:spPr>
      </p:pic>
      <p:pic>
        <p:nvPicPr>
          <p:cNvPr id="284" name="Google Shape;284;p31"/>
          <p:cNvPicPr preferRelativeResize="0"/>
          <p:nvPr/>
        </p:nvPicPr>
        <p:blipFill>
          <a:blip r:embed="rId4">
            <a:alphaModFix/>
          </a:blip>
          <a:stretch>
            <a:fillRect/>
          </a:stretch>
        </p:blipFill>
        <p:spPr>
          <a:xfrm>
            <a:off x="4577775" y="4787149"/>
            <a:ext cx="3263650" cy="2017100"/>
          </a:xfrm>
          <a:prstGeom prst="rect">
            <a:avLst/>
          </a:prstGeom>
          <a:noFill/>
          <a:ln>
            <a:noFill/>
          </a:ln>
        </p:spPr>
      </p:pic>
      <p:pic>
        <p:nvPicPr>
          <p:cNvPr id="285" name="Google Shape;285;p31"/>
          <p:cNvPicPr preferRelativeResize="0"/>
          <p:nvPr/>
        </p:nvPicPr>
        <p:blipFill>
          <a:blip r:embed="rId5">
            <a:alphaModFix/>
          </a:blip>
          <a:stretch>
            <a:fillRect/>
          </a:stretch>
        </p:blipFill>
        <p:spPr>
          <a:xfrm>
            <a:off x="8414875" y="3026575"/>
            <a:ext cx="3590925" cy="24003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Google Shape;290;p32"/>
          <p:cNvSpPr txBox="1">
            <a:spLocks noGrp="1"/>
          </p:cNvSpPr>
          <p:nvPr>
            <p:ph type="title"/>
          </p:nvPr>
        </p:nvSpPr>
        <p:spPr>
          <a:xfrm>
            <a:off x="916650" y="96038"/>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t>¿Que hace un sistema operativo?</a:t>
            </a:r>
            <a:endParaRPr/>
          </a:p>
        </p:txBody>
      </p:sp>
      <p:sp>
        <p:nvSpPr>
          <p:cNvPr id="291" name="Google Shape;291;p32"/>
          <p:cNvSpPr txBox="1">
            <a:spLocks noGrp="1"/>
          </p:cNvSpPr>
          <p:nvPr>
            <p:ph idx="1"/>
          </p:nvPr>
        </p:nvSpPr>
        <p:spPr>
          <a:xfrm>
            <a:off x="784725" y="951700"/>
            <a:ext cx="10578900" cy="48591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s-ES" b="1">
                <a:solidFill>
                  <a:srgbClr val="8CC63E"/>
                </a:solidFill>
              </a:rPr>
              <a:t>Clasificación de los sistemas de cómputo</a:t>
            </a:r>
            <a:endParaRPr b="1">
              <a:solidFill>
                <a:srgbClr val="8CC63E"/>
              </a:solidFill>
            </a:endParaRPr>
          </a:p>
          <a:p>
            <a:pPr marL="457200" lvl="0" indent="-317500" algn="l" rtl="0">
              <a:spcBef>
                <a:spcPts val="1000"/>
              </a:spcBef>
              <a:spcAft>
                <a:spcPts val="0"/>
              </a:spcAft>
              <a:buClr>
                <a:srgbClr val="FF9900"/>
              </a:buClr>
              <a:buSzPts val="1400"/>
              <a:buChar char="●"/>
            </a:pPr>
            <a:r>
              <a:rPr lang="es-ES" sz="2400">
                <a:solidFill>
                  <a:srgbClr val="FF9900"/>
                </a:solidFill>
              </a:rPr>
              <a:t>Depende del punto de vista</a:t>
            </a:r>
            <a:endParaRPr sz="2400">
              <a:solidFill>
                <a:srgbClr val="FF9900"/>
              </a:solidFill>
            </a:endParaRPr>
          </a:p>
          <a:p>
            <a:pPr marL="457200" lvl="0" indent="0" algn="l" rtl="0">
              <a:spcBef>
                <a:spcPts val="1000"/>
              </a:spcBef>
              <a:spcAft>
                <a:spcPts val="0"/>
              </a:spcAft>
              <a:buNone/>
            </a:pPr>
            <a:endParaRPr sz="2500">
              <a:solidFill>
                <a:srgbClr val="000000"/>
              </a:solidFill>
            </a:endParaRPr>
          </a:p>
        </p:txBody>
      </p:sp>
      <p:sp>
        <p:nvSpPr>
          <p:cNvPr id="292" name="Google Shape;292;p32"/>
          <p:cNvSpPr txBox="1"/>
          <p:nvPr/>
        </p:nvSpPr>
        <p:spPr>
          <a:xfrm>
            <a:off x="1144325" y="2465925"/>
            <a:ext cx="3749400" cy="13236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r>
              <a:rPr lang="es-ES" sz="2200" b="1">
                <a:solidFill>
                  <a:schemeClr val="dk1"/>
                </a:solidFill>
                <a:latin typeface="Roboto"/>
                <a:ea typeface="Roboto"/>
                <a:cs typeface="Roboto"/>
                <a:sym typeface="Roboto"/>
              </a:rPr>
              <a:t>Dispositivo portátil </a:t>
            </a:r>
            <a:endParaRPr sz="2200" b="1">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r>
              <a:rPr lang="es-ES" sz="2000">
                <a:solidFill>
                  <a:schemeClr val="dk1"/>
                </a:solidFill>
                <a:latin typeface="Roboto"/>
                <a:ea typeface="Roboto"/>
                <a:cs typeface="Roboto"/>
                <a:sym typeface="Roboto"/>
              </a:rPr>
              <a:t>Gestionar recursos limitados, optimizar la usabilidad  </a:t>
            </a:r>
            <a:endParaRPr sz="20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000">
              <a:solidFill>
                <a:schemeClr val="dk1"/>
              </a:solidFill>
              <a:latin typeface="Roboto"/>
              <a:ea typeface="Roboto"/>
              <a:cs typeface="Roboto"/>
              <a:sym typeface="Roboto"/>
            </a:endParaRPr>
          </a:p>
        </p:txBody>
      </p:sp>
      <p:sp>
        <p:nvSpPr>
          <p:cNvPr id="293" name="Google Shape;293;p32"/>
          <p:cNvSpPr txBox="1"/>
          <p:nvPr/>
        </p:nvSpPr>
        <p:spPr>
          <a:xfrm>
            <a:off x="6329025" y="2465925"/>
            <a:ext cx="4646700" cy="13236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r>
              <a:rPr lang="es-ES" sz="2200" b="1">
                <a:solidFill>
                  <a:schemeClr val="dk1"/>
                </a:solidFill>
                <a:latin typeface="Roboto"/>
                <a:ea typeface="Roboto"/>
                <a:cs typeface="Roboto"/>
                <a:sym typeface="Roboto"/>
              </a:rPr>
              <a:t>Sistemas embebidos</a:t>
            </a:r>
            <a:endParaRPr sz="2200" b="1">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r>
              <a:rPr lang="es-ES" sz="2000">
                <a:solidFill>
                  <a:schemeClr val="dk1"/>
                </a:solidFill>
                <a:latin typeface="Roboto"/>
                <a:ea typeface="Roboto"/>
                <a:cs typeface="Roboto"/>
                <a:sym typeface="Roboto"/>
              </a:rPr>
              <a:t>Interfaz de usuario muy limitada o inexistente</a:t>
            </a:r>
            <a:endParaRPr sz="20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a:solidFill>
                <a:schemeClr val="dk1"/>
              </a:solidFill>
              <a:latin typeface="Roboto"/>
              <a:ea typeface="Roboto"/>
              <a:cs typeface="Roboto"/>
              <a:sym typeface="Roboto"/>
            </a:endParaRPr>
          </a:p>
        </p:txBody>
      </p:sp>
      <p:pic>
        <p:nvPicPr>
          <p:cNvPr id="294" name="Google Shape;294;p32"/>
          <p:cNvPicPr preferRelativeResize="0"/>
          <p:nvPr/>
        </p:nvPicPr>
        <p:blipFill>
          <a:blip r:embed="rId3">
            <a:alphaModFix/>
          </a:blip>
          <a:stretch>
            <a:fillRect/>
          </a:stretch>
        </p:blipFill>
        <p:spPr>
          <a:xfrm>
            <a:off x="1323825" y="3975775"/>
            <a:ext cx="3206550" cy="2290400"/>
          </a:xfrm>
          <a:prstGeom prst="rect">
            <a:avLst/>
          </a:prstGeom>
          <a:noFill/>
          <a:ln>
            <a:noFill/>
          </a:ln>
        </p:spPr>
      </p:pic>
      <p:pic>
        <p:nvPicPr>
          <p:cNvPr id="295" name="Google Shape;295;p32"/>
          <p:cNvPicPr preferRelativeResize="0"/>
          <p:nvPr/>
        </p:nvPicPr>
        <p:blipFill>
          <a:blip r:embed="rId4">
            <a:alphaModFix/>
          </a:blip>
          <a:stretch>
            <a:fillRect/>
          </a:stretch>
        </p:blipFill>
        <p:spPr>
          <a:xfrm>
            <a:off x="7078434" y="3789525"/>
            <a:ext cx="2812641" cy="22904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916650" y="96038"/>
            <a:ext cx="900025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Definición de Sistema Operativo</a:t>
            </a:r>
            <a:endParaRPr dirty="0">
              <a:latin typeface="+mj-lt"/>
            </a:endParaRPr>
          </a:p>
        </p:txBody>
      </p:sp>
      <p:sp>
        <p:nvSpPr>
          <p:cNvPr id="310" name="Google Shape;310;p34"/>
          <p:cNvSpPr txBox="1">
            <a:spLocks noGrp="1"/>
          </p:cNvSpPr>
          <p:nvPr>
            <p:ph type="body" idx="1"/>
          </p:nvPr>
        </p:nvSpPr>
        <p:spPr>
          <a:xfrm>
            <a:off x="838200" y="784600"/>
            <a:ext cx="10515600" cy="53874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s-ES" dirty="0">
                <a:latin typeface="+mn-lt"/>
              </a:rPr>
              <a:t>Es un </a:t>
            </a:r>
            <a:r>
              <a:rPr lang="es-ES" b="1" dirty="0">
                <a:solidFill>
                  <a:srgbClr val="FF9900"/>
                </a:solidFill>
                <a:latin typeface="+mn-lt"/>
              </a:rPr>
              <a:t>software</a:t>
            </a:r>
            <a:r>
              <a:rPr lang="es-ES" dirty="0">
                <a:latin typeface="+mn-lt"/>
              </a:rPr>
              <a:t> que:</a:t>
            </a:r>
            <a:endParaRPr dirty="0">
              <a:latin typeface="+mn-lt"/>
            </a:endParaRPr>
          </a:p>
          <a:p>
            <a:pPr marL="457200" lvl="0" indent="-381000" algn="l" rtl="0">
              <a:spcBef>
                <a:spcPts val="1000"/>
              </a:spcBef>
              <a:spcAft>
                <a:spcPts val="0"/>
              </a:spcAft>
              <a:buSzPts val="2400"/>
              <a:buAutoNum type="arabicPeriod"/>
            </a:pPr>
            <a:r>
              <a:rPr lang="es-ES" sz="2400" dirty="0">
                <a:latin typeface="+mn-lt"/>
              </a:rPr>
              <a:t>Administrar eficiente y justa (</a:t>
            </a:r>
            <a:r>
              <a:rPr lang="es-ES" sz="2400" dirty="0" err="1">
                <a:latin typeface="+mn-lt"/>
              </a:rPr>
              <a:t>fair</a:t>
            </a:r>
            <a:r>
              <a:rPr lang="es-ES" sz="2400" dirty="0">
                <a:latin typeface="+mn-lt"/>
              </a:rPr>
              <a:t>) </a:t>
            </a:r>
            <a:r>
              <a:rPr lang="es-ES" sz="2400" b="1" dirty="0">
                <a:solidFill>
                  <a:schemeClr val="accent1"/>
                </a:solidFill>
                <a:latin typeface="+mn-lt"/>
              </a:rPr>
              <a:t>recursos</a:t>
            </a:r>
            <a:r>
              <a:rPr lang="es-ES" sz="2400" dirty="0">
                <a:latin typeface="+mn-lt"/>
              </a:rPr>
              <a:t>.</a:t>
            </a:r>
            <a:endParaRPr sz="2400" dirty="0">
              <a:latin typeface="+mn-lt"/>
            </a:endParaRPr>
          </a:p>
          <a:p>
            <a:pPr marL="457200" lvl="0" indent="0" algn="l" rtl="0">
              <a:spcBef>
                <a:spcPts val="1000"/>
              </a:spcBef>
              <a:spcAft>
                <a:spcPts val="0"/>
              </a:spcAft>
              <a:buNone/>
            </a:pPr>
            <a:endParaRPr sz="2400" dirty="0">
              <a:latin typeface="+mn-lt"/>
            </a:endParaRPr>
          </a:p>
          <a:p>
            <a:pPr marL="0" lvl="0" indent="0" algn="l" rtl="0">
              <a:spcBef>
                <a:spcPts val="1000"/>
              </a:spcBef>
              <a:spcAft>
                <a:spcPts val="0"/>
              </a:spcAft>
              <a:buNone/>
            </a:pPr>
            <a:endParaRPr sz="2400" dirty="0">
              <a:latin typeface="+mn-lt"/>
            </a:endParaRPr>
          </a:p>
          <a:p>
            <a:pPr marL="0" lvl="0" indent="0" algn="l" rtl="0">
              <a:spcBef>
                <a:spcPts val="1000"/>
              </a:spcBef>
              <a:spcAft>
                <a:spcPts val="0"/>
              </a:spcAft>
              <a:buNone/>
            </a:pPr>
            <a:endParaRPr sz="2400" dirty="0">
              <a:latin typeface="+mn-lt"/>
            </a:endParaRPr>
          </a:p>
          <a:p>
            <a:pPr marL="0" lvl="0" indent="0" algn="l" rtl="0">
              <a:spcBef>
                <a:spcPts val="1000"/>
              </a:spcBef>
              <a:spcAft>
                <a:spcPts val="0"/>
              </a:spcAft>
              <a:buNone/>
            </a:pPr>
            <a:endParaRPr sz="2400" dirty="0">
              <a:latin typeface="+mn-lt"/>
            </a:endParaRPr>
          </a:p>
          <a:p>
            <a:pPr marL="0" lvl="0" indent="0" algn="l" rtl="0">
              <a:spcBef>
                <a:spcPts val="1000"/>
              </a:spcBef>
              <a:spcAft>
                <a:spcPts val="0"/>
              </a:spcAft>
              <a:buNone/>
            </a:pPr>
            <a:endParaRPr sz="2400" dirty="0">
              <a:latin typeface="+mn-lt"/>
            </a:endParaRPr>
          </a:p>
          <a:p>
            <a:pPr marL="0" lvl="0" indent="0" algn="l" rtl="0">
              <a:spcBef>
                <a:spcPts val="1000"/>
              </a:spcBef>
              <a:spcAft>
                <a:spcPts val="0"/>
              </a:spcAft>
              <a:buNone/>
            </a:pPr>
            <a:endParaRPr sz="2400" dirty="0">
              <a:latin typeface="+mn-lt"/>
            </a:endParaRPr>
          </a:p>
          <a:p>
            <a:pPr marL="457200" lvl="0" indent="0" algn="l" rtl="0">
              <a:spcBef>
                <a:spcPts val="1000"/>
              </a:spcBef>
              <a:spcAft>
                <a:spcPts val="0"/>
              </a:spcAft>
              <a:buNone/>
            </a:pPr>
            <a:endParaRPr sz="2400" dirty="0">
              <a:latin typeface="+mn-lt"/>
            </a:endParaRPr>
          </a:p>
          <a:p>
            <a:pPr marL="457200" lvl="0" indent="-381000" algn="l" rtl="0">
              <a:spcBef>
                <a:spcPts val="1000"/>
              </a:spcBef>
              <a:spcAft>
                <a:spcPts val="0"/>
              </a:spcAft>
              <a:buSzPts val="2400"/>
              <a:buAutoNum type="arabicPeriod"/>
            </a:pPr>
            <a:r>
              <a:rPr lang="es-ES" sz="2400" dirty="0">
                <a:latin typeface="+mn-lt"/>
              </a:rPr>
              <a:t>Se encarga de controlar la ejecución de programas</a:t>
            </a:r>
            <a:endParaRPr sz="2400" dirty="0">
              <a:latin typeface="+mn-lt"/>
            </a:endParaRPr>
          </a:p>
          <a:p>
            <a:pPr marL="914400" lvl="1" indent="-368300" algn="l" rtl="0">
              <a:spcBef>
                <a:spcPts val="0"/>
              </a:spcBef>
              <a:spcAft>
                <a:spcPts val="0"/>
              </a:spcAft>
              <a:buSzPts val="2200"/>
              <a:buChar char="○"/>
            </a:pPr>
            <a:r>
              <a:rPr lang="es-ES" b="1" dirty="0">
                <a:solidFill>
                  <a:srgbClr val="FF0000"/>
                </a:solidFill>
                <a:latin typeface="+mn-lt"/>
              </a:rPr>
              <a:t>Previene</a:t>
            </a:r>
            <a:r>
              <a:rPr lang="es-ES" dirty="0">
                <a:latin typeface="+mn-lt"/>
              </a:rPr>
              <a:t> errores.</a:t>
            </a:r>
            <a:endParaRPr dirty="0">
              <a:latin typeface="+mn-lt"/>
            </a:endParaRPr>
          </a:p>
          <a:p>
            <a:pPr marL="914400" lvl="1" indent="-368300" algn="l" rtl="0">
              <a:spcBef>
                <a:spcPts val="0"/>
              </a:spcBef>
              <a:spcAft>
                <a:spcPts val="0"/>
              </a:spcAft>
              <a:buSzPts val="2200"/>
              <a:buChar char="○"/>
            </a:pPr>
            <a:r>
              <a:rPr lang="es-ES" dirty="0">
                <a:latin typeface="+mn-lt"/>
              </a:rPr>
              <a:t>Evita el </a:t>
            </a:r>
            <a:r>
              <a:rPr lang="es-ES" b="1" dirty="0">
                <a:solidFill>
                  <a:srgbClr val="FF0000"/>
                </a:solidFill>
                <a:latin typeface="+mn-lt"/>
              </a:rPr>
              <a:t>uso inadecuado</a:t>
            </a:r>
            <a:r>
              <a:rPr lang="es-ES" dirty="0">
                <a:latin typeface="+mn-lt"/>
              </a:rPr>
              <a:t> del sistema de computo</a:t>
            </a:r>
            <a:endParaRPr dirty="0">
              <a:latin typeface="+mn-lt"/>
            </a:endParaRPr>
          </a:p>
          <a:p>
            <a:pPr marL="0" lvl="0" indent="0" algn="l" rtl="0">
              <a:spcBef>
                <a:spcPts val="1000"/>
              </a:spcBef>
              <a:spcAft>
                <a:spcPts val="0"/>
              </a:spcAft>
              <a:buClr>
                <a:schemeClr val="dk1"/>
              </a:buClr>
              <a:buSzPts val="1100"/>
              <a:buFont typeface="Arial"/>
              <a:buNone/>
            </a:pPr>
            <a:endParaRPr dirty="0">
              <a:latin typeface="+mn-lt"/>
            </a:endParaRPr>
          </a:p>
          <a:p>
            <a:pPr marL="0" lvl="0" indent="0" algn="l" rtl="0">
              <a:spcBef>
                <a:spcPts val="100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pic>
        <p:nvPicPr>
          <p:cNvPr id="311" name="Google Shape;311;p34"/>
          <p:cNvPicPr preferRelativeResize="0"/>
          <p:nvPr/>
        </p:nvPicPr>
        <p:blipFill>
          <a:blip r:embed="rId3">
            <a:alphaModFix/>
          </a:blip>
          <a:stretch>
            <a:fillRect/>
          </a:stretch>
        </p:blipFill>
        <p:spPr>
          <a:xfrm>
            <a:off x="3260363" y="2098913"/>
            <a:ext cx="5671275" cy="2786175"/>
          </a:xfrm>
          <a:prstGeom prst="rect">
            <a:avLst/>
          </a:prstGeom>
          <a:noFill/>
          <a:ln>
            <a:noFill/>
          </a:ln>
        </p:spPr>
      </p:pic>
      <p:sp>
        <p:nvSpPr>
          <p:cNvPr id="312" name="Google Shape;312;p34"/>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sp>
        <p:nvSpPr>
          <p:cNvPr id="317" name="Google Shape;317;p35"/>
          <p:cNvSpPr txBox="1">
            <a:spLocks noGrp="1"/>
          </p:cNvSpPr>
          <p:nvPr>
            <p:ph type="title"/>
          </p:nvPr>
        </p:nvSpPr>
        <p:spPr>
          <a:xfrm>
            <a:off x="568036" y="96038"/>
            <a:ext cx="8652614"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Definición de Sistema Operativo</a:t>
            </a:r>
            <a:endParaRPr dirty="0">
              <a:latin typeface="+mj-lt"/>
            </a:endParaRPr>
          </a:p>
        </p:txBody>
      </p:sp>
      <p:sp>
        <p:nvSpPr>
          <p:cNvPr id="318" name="Google Shape;318;p35"/>
          <p:cNvSpPr txBox="1">
            <a:spLocks noGrp="1"/>
          </p:cNvSpPr>
          <p:nvPr>
            <p:ph type="body" idx="1"/>
          </p:nvPr>
        </p:nvSpPr>
        <p:spPr>
          <a:xfrm>
            <a:off x="568036" y="784600"/>
            <a:ext cx="11342864" cy="53874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s-ES" dirty="0">
                <a:latin typeface="+mn-lt"/>
              </a:rPr>
              <a:t>No hay una definición universalmente aceptada:</a:t>
            </a:r>
            <a:endParaRPr dirty="0">
              <a:latin typeface="+mn-lt"/>
            </a:endParaRPr>
          </a:p>
          <a:p>
            <a:pPr marL="0" lvl="0" indent="0" algn="l" rtl="0">
              <a:spcBef>
                <a:spcPts val="100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sp>
        <p:nvSpPr>
          <p:cNvPr id="319" name="Google Shape;319;p35"/>
          <p:cNvSpPr txBox="1"/>
          <p:nvPr/>
        </p:nvSpPr>
        <p:spPr>
          <a:xfrm>
            <a:off x="733355" y="6135275"/>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dirty="0"/>
              <a:t>Imagen tomada de</a:t>
            </a:r>
            <a:r>
              <a:rPr lang="es-ES" sz="1000" dirty="0"/>
              <a:t>: </a:t>
            </a:r>
            <a:r>
              <a:rPr lang="es-ES" sz="1000" dirty="0" err="1"/>
              <a:t>Operating</a:t>
            </a:r>
            <a:r>
              <a:rPr lang="es-ES" sz="1000" dirty="0"/>
              <a:t> </a:t>
            </a:r>
            <a:r>
              <a:rPr lang="es-ES" sz="1000" dirty="0" err="1"/>
              <a:t>Systems</a:t>
            </a:r>
            <a:r>
              <a:rPr lang="es-ES" sz="1000" dirty="0"/>
              <a:t> </a:t>
            </a:r>
            <a:r>
              <a:rPr lang="es-ES" sz="1000" dirty="0" err="1"/>
              <a:t>Concepts</a:t>
            </a:r>
            <a:r>
              <a:rPr lang="es-ES" sz="1000" dirty="0"/>
              <a:t> (</a:t>
            </a:r>
            <a:r>
              <a:rPr lang="es-ES" sz="1000" dirty="0" err="1"/>
              <a:t>Silberschatz</a:t>
            </a:r>
            <a:r>
              <a:rPr lang="es-ES" sz="1000" dirty="0"/>
              <a:t>, </a:t>
            </a:r>
            <a:r>
              <a:rPr lang="es-ES" sz="1000" dirty="0" err="1"/>
              <a:t>Gagne</a:t>
            </a:r>
            <a:r>
              <a:rPr lang="es-ES" sz="1000" dirty="0"/>
              <a:t>, </a:t>
            </a:r>
            <a:r>
              <a:rPr lang="es-ES" sz="1000" dirty="0" err="1"/>
              <a:t>Galvin</a:t>
            </a:r>
            <a:r>
              <a:rPr lang="es-ES" sz="1000" dirty="0"/>
              <a:t>)</a:t>
            </a:r>
            <a:endParaRPr sz="1000" dirty="0"/>
          </a:p>
        </p:txBody>
      </p:sp>
      <p:sp>
        <p:nvSpPr>
          <p:cNvPr id="320" name="Google Shape;320;p35"/>
          <p:cNvSpPr txBox="1"/>
          <p:nvPr/>
        </p:nvSpPr>
        <p:spPr>
          <a:xfrm>
            <a:off x="2946300" y="1727825"/>
            <a:ext cx="8964600" cy="1697700"/>
          </a:xfrm>
          <a:prstGeom prst="rect">
            <a:avLst/>
          </a:prstGeom>
          <a:noFill/>
          <a:ln>
            <a:noFill/>
          </a:ln>
        </p:spPr>
        <p:txBody>
          <a:bodyPr spcFirstLastPara="1" wrap="square" lIns="91425" tIns="91425" rIns="91425" bIns="91425" anchor="t" anchorCtr="0">
            <a:noAutofit/>
          </a:bodyPr>
          <a:lstStyle/>
          <a:p>
            <a:pPr marL="0" lvl="0" indent="0" algn="l" rtl="0">
              <a:spcBef>
                <a:spcPts val="600"/>
              </a:spcBef>
              <a:spcAft>
                <a:spcPts val="0"/>
              </a:spcAft>
              <a:buNone/>
            </a:pPr>
            <a:r>
              <a:rPr lang="es-ES" sz="2800" b="1" i="1" dirty="0">
                <a:solidFill>
                  <a:schemeClr val="dk1"/>
                </a:solidFill>
                <a:latin typeface="Times New Roman"/>
                <a:ea typeface="Times New Roman"/>
                <a:cs typeface="Times New Roman"/>
                <a:sym typeface="Times New Roman"/>
              </a:rPr>
              <a:t>Tanenbaum</a:t>
            </a:r>
            <a:r>
              <a:rPr lang="es-ES" sz="2800" b="1" dirty="0">
                <a:solidFill>
                  <a:schemeClr val="dk1"/>
                </a:solidFill>
                <a:latin typeface="Times New Roman"/>
                <a:ea typeface="Times New Roman"/>
                <a:cs typeface="Times New Roman"/>
                <a:sym typeface="Times New Roman"/>
              </a:rPr>
              <a:t>:</a:t>
            </a:r>
            <a:endParaRPr sz="2800" b="1" dirty="0">
              <a:solidFill>
                <a:schemeClr val="dk1"/>
              </a:solidFill>
              <a:latin typeface="Times New Roman"/>
              <a:ea typeface="Times New Roman"/>
              <a:cs typeface="Times New Roman"/>
              <a:sym typeface="Times New Roman"/>
            </a:endParaRPr>
          </a:p>
          <a:p>
            <a:pPr marL="0" lvl="0" indent="0" algn="l" rtl="0">
              <a:spcBef>
                <a:spcPts val="480"/>
              </a:spcBef>
              <a:spcAft>
                <a:spcPts val="0"/>
              </a:spcAft>
              <a:buNone/>
            </a:pPr>
            <a:r>
              <a:rPr lang="es-ES" sz="2200" i="1" dirty="0" err="1">
                <a:solidFill>
                  <a:schemeClr val="dk1"/>
                </a:solidFill>
                <a:latin typeface="Times New Roman"/>
                <a:ea typeface="Times New Roman"/>
                <a:cs typeface="Times New Roman"/>
                <a:sym typeface="Times New Roman"/>
              </a:rPr>
              <a:t>An</a:t>
            </a:r>
            <a:r>
              <a:rPr lang="es-ES" sz="2200" i="1" dirty="0">
                <a:solidFill>
                  <a:schemeClr val="dk1"/>
                </a:solidFill>
                <a:latin typeface="Times New Roman"/>
                <a:ea typeface="Times New Roman"/>
                <a:cs typeface="Times New Roman"/>
                <a:sym typeface="Times New Roman"/>
              </a:rPr>
              <a:t> OS </a:t>
            </a:r>
            <a:r>
              <a:rPr lang="es-ES" sz="2200" i="1" dirty="0" err="1">
                <a:solidFill>
                  <a:schemeClr val="dk1"/>
                </a:solidFill>
                <a:latin typeface="Times New Roman"/>
                <a:ea typeface="Times New Roman"/>
                <a:cs typeface="Times New Roman"/>
                <a:sym typeface="Times New Roman"/>
              </a:rPr>
              <a:t>is</a:t>
            </a:r>
            <a:r>
              <a:rPr lang="es-ES" sz="2200" i="1" dirty="0">
                <a:solidFill>
                  <a:schemeClr val="dk1"/>
                </a:solidFill>
                <a:latin typeface="Times New Roman"/>
                <a:ea typeface="Times New Roman"/>
                <a:cs typeface="Times New Roman"/>
                <a:sym typeface="Times New Roman"/>
              </a:rPr>
              <a:t> a software </a:t>
            </a:r>
            <a:r>
              <a:rPr lang="es-ES" sz="2200" i="1" dirty="0" err="1">
                <a:solidFill>
                  <a:schemeClr val="dk1"/>
                </a:solidFill>
                <a:latin typeface="Times New Roman"/>
                <a:ea typeface="Times New Roman"/>
                <a:cs typeface="Times New Roman"/>
                <a:sym typeface="Times New Roman"/>
              </a:rPr>
              <a:t>that</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performs</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two</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essentially</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unrelated</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functions</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providing</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application</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programmers</a:t>
            </a:r>
            <a:r>
              <a:rPr lang="es-ES" sz="2200" i="1" dirty="0">
                <a:solidFill>
                  <a:schemeClr val="dk1"/>
                </a:solidFill>
                <a:latin typeface="Times New Roman"/>
                <a:ea typeface="Times New Roman"/>
                <a:cs typeface="Times New Roman"/>
                <a:sym typeface="Times New Roman"/>
              </a:rPr>
              <a:t> a </a:t>
            </a:r>
            <a:r>
              <a:rPr lang="es-ES" sz="2200" b="1" i="1" dirty="0" err="1">
                <a:solidFill>
                  <a:srgbClr val="3A81BA"/>
                </a:solidFill>
                <a:latin typeface="Times New Roman"/>
                <a:ea typeface="Times New Roman"/>
                <a:cs typeface="Times New Roman"/>
                <a:sym typeface="Times New Roman"/>
              </a:rPr>
              <a:t>clean</a:t>
            </a:r>
            <a:r>
              <a:rPr lang="es-ES" sz="2200" b="1" i="1" dirty="0">
                <a:solidFill>
                  <a:srgbClr val="3A81BA"/>
                </a:solidFill>
                <a:latin typeface="Times New Roman"/>
                <a:ea typeface="Times New Roman"/>
                <a:cs typeface="Times New Roman"/>
                <a:sym typeface="Times New Roman"/>
              </a:rPr>
              <a:t> </a:t>
            </a:r>
            <a:r>
              <a:rPr lang="es-ES" sz="2200" b="1" i="1" dirty="0" err="1">
                <a:solidFill>
                  <a:srgbClr val="3A81BA"/>
                </a:solidFill>
                <a:latin typeface="Times New Roman"/>
                <a:ea typeface="Times New Roman"/>
                <a:cs typeface="Times New Roman"/>
                <a:sym typeface="Times New Roman"/>
              </a:rPr>
              <a:t>abstract</a:t>
            </a:r>
            <a:r>
              <a:rPr lang="es-ES" sz="2200" b="1" i="1" dirty="0">
                <a:solidFill>
                  <a:srgbClr val="3A81BA"/>
                </a:solidFill>
                <a:latin typeface="Times New Roman"/>
                <a:ea typeface="Times New Roman"/>
                <a:cs typeface="Times New Roman"/>
                <a:sym typeface="Times New Roman"/>
              </a:rPr>
              <a:t> set </a:t>
            </a:r>
            <a:r>
              <a:rPr lang="es-ES" sz="2200" i="1" dirty="0" err="1">
                <a:solidFill>
                  <a:schemeClr val="dk1"/>
                </a:solidFill>
                <a:latin typeface="Times New Roman"/>
                <a:ea typeface="Times New Roman"/>
                <a:cs typeface="Times New Roman"/>
                <a:sym typeface="Times New Roman"/>
              </a:rPr>
              <a:t>of</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resources</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instead</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of</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the</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messy</a:t>
            </a:r>
            <a:r>
              <a:rPr lang="es-ES" sz="2200" i="1" dirty="0">
                <a:solidFill>
                  <a:schemeClr val="dk1"/>
                </a:solidFill>
                <a:latin typeface="Times New Roman"/>
                <a:ea typeface="Times New Roman"/>
                <a:cs typeface="Times New Roman"/>
                <a:sym typeface="Times New Roman"/>
              </a:rPr>
              <a:t> hardware </a:t>
            </a:r>
            <a:r>
              <a:rPr lang="es-ES" sz="2200" i="1" dirty="0" err="1">
                <a:solidFill>
                  <a:schemeClr val="dk1"/>
                </a:solidFill>
                <a:latin typeface="Times New Roman"/>
                <a:ea typeface="Times New Roman"/>
                <a:cs typeface="Times New Roman"/>
                <a:sym typeface="Times New Roman"/>
              </a:rPr>
              <a:t>ones</a:t>
            </a:r>
            <a:r>
              <a:rPr lang="es-ES" sz="2200" i="1" dirty="0">
                <a:solidFill>
                  <a:schemeClr val="dk1"/>
                </a:solidFill>
                <a:latin typeface="Times New Roman"/>
                <a:ea typeface="Times New Roman"/>
                <a:cs typeface="Times New Roman"/>
                <a:sym typeface="Times New Roman"/>
              </a:rPr>
              <a:t> and </a:t>
            </a:r>
            <a:r>
              <a:rPr lang="es-ES" sz="2200" b="1" i="1" dirty="0" err="1">
                <a:solidFill>
                  <a:srgbClr val="963334"/>
                </a:solidFill>
                <a:latin typeface="Times New Roman"/>
                <a:ea typeface="Times New Roman"/>
                <a:cs typeface="Times New Roman"/>
                <a:sym typeface="Times New Roman"/>
              </a:rPr>
              <a:t>managing</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these</a:t>
            </a:r>
            <a:r>
              <a:rPr lang="es-ES" sz="2200" i="1" dirty="0">
                <a:solidFill>
                  <a:schemeClr val="dk1"/>
                </a:solidFill>
                <a:latin typeface="Times New Roman"/>
                <a:ea typeface="Times New Roman"/>
                <a:cs typeface="Times New Roman"/>
                <a:sym typeface="Times New Roman"/>
              </a:rPr>
              <a:t> hardware </a:t>
            </a:r>
            <a:r>
              <a:rPr lang="es-ES" sz="2200" i="1" dirty="0" err="1">
                <a:solidFill>
                  <a:schemeClr val="dk1"/>
                </a:solidFill>
                <a:latin typeface="Times New Roman"/>
                <a:ea typeface="Times New Roman"/>
                <a:cs typeface="Times New Roman"/>
                <a:sym typeface="Times New Roman"/>
              </a:rPr>
              <a:t>resources</a:t>
            </a:r>
            <a:r>
              <a:rPr lang="es-ES" sz="2200" i="1" dirty="0">
                <a:solidFill>
                  <a:schemeClr val="dk1"/>
                </a:solidFill>
                <a:latin typeface="Times New Roman"/>
                <a:ea typeface="Times New Roman"/>
                <a:cs typeface="Times New Roman"/>
                <a:sym typeface="Times New Roman"/>
              </a:rPr>
              <a:t>” </a:t>
            </a:r>
            <a:r>
              <a:rPr lang="es-ES" sz="2200" dirty="0">
                <a:solidFill>
                  <a:schemeClr val="dk1"/>
                </a:solidFill>
                <a:latin typeface="Times New Roman"/>
                <a:ea typeface="Times New Roman"/>
                <a:cs typeface="Times New Roman"/>
                <a:sym typeface="Times New Roman"/>
              </a:rPr>
              <a:t> </a:t>
            </a:r>
            <a:endParaRPr sz="2200" dirty="0">
              <a:solidFill>
                <a:schemeClr val="dk1"/>
              </a:solidFill>
              <a:latin typeface="Times New Roman"/>
              <a:ea typeface="Times New Roman"/>
              <a:cs typeface="Times New Roman"/>
              <a:sym typeface="Times New Roman"/>
            </a:endParaRPr>
          </a:p>
          <a:p>
            <a:pPr marL="0" lvl="0" indent="0" algn="l" rtl="0">
              <a:spcBef>
                <a:spcPts val="0"/>
              </a:spcBef>
              <a:spcAft>
                <a:spcPts val="0"/>
              </a:spcAft>
              <a:buNone/>
            </a:pPr>
            <a:endParaRPr dirty="0"/>
          </a:p>
        </p:txBody>
      </p:sp>
      <p:pic>
        <p:nvPicPr>
          <p:cNvPr id="321" name="Google Shape;321;p35"/>
          <p:cNvPicPr preferRelativeResize="0"/>
          <p:nvPr/>
        </p:nvPicPr>
        <p:blipFill>
          <a:blip r:embed="rId3">
            <a:alphaModFix/>
          </a:blip>
          <a:stretch>
            <a:fillRect/>
          </a:stretch>
        </p:blipFill>
        <p:spPr>
          <a:xfrm>
            <a:off x="1451575" y="1622025"/>
            <a:ext cx="1272850" cy="1909300"/>
          </a:xfrm>
          <a:prstGeom prst="rect">
            <a:avLst/>
          </a:prstGeom>
          <a:noFill/>
          <a:ln>
            <a:noFill/>
          </a:ln>
        </p:spPr>
      </p:pic>
      <p:sp>
        <p:nvSpPr>
          <p:cNvPr id="322" name="Google Shape;322;p35"/>
          <p:cNvSpPr txBox="1"/>
          <p:nvPr/>
        </p:nvSpPr>
        <p:spPr>
          <a:xfrm>
            <a:off x="3098700" y="3739550"/>
            <a:ext cx="8964600" cy="1697700"/>
          </a:xfrm>
          <a:prstGeom prst="rect">
            <a:avLst/>
          </a:prstGeom>
          <a:noFill/>
          <a:ln>
            <a:noFill/>
          </a:ln>
        </p:spPr>
        <p:txBody>
          <a:bodyPr spcFirstLastPara="1" wrap="square" lIns="91425" tIns="91425" rIns="91425" bIns="91425" anchor="t" anchorCtr="0">
            <a:noAutofit/>
          </a:bodyPr>
          <a:lstStyle/>
          <a:p>
            <a:pPr marL="0" lvl="0" indent="0" algn="l" rtl="0">
              <a:spcBef>
                <a:spcPts val="600"/>
              </a:spcBef>
              <a:spcAft>
                <a:spcPts val="0"/>
              </a:spcAft>
              <a:buNone/>
            </a:pPr>
            <a:r>
              <a:rPr lang="es-ES" sz="2800" b="1" i="1">
                <a:solidFill>
                  <a:schemeClr val="dk1"/>
                </a:solidFill>
                <a:latin typeface="Times New Roman"/>
                <a:ea typeface="Times New Roman"/>
                <a:cs typeface="Times New Roman"/>
                <a:sym typeface="Times New Roman"/>
              </a:rPr>
              <a:t>Arpaci-Dusseau</a:t>
            </a:r>
            <a:r>
              <a:rPr lang="es-ES" sz="2800" b="1">
                <a:solidFill>
                  <a:schemeClr val="dk1"/>
                </a:solidFill>
                <a:latin typeface="Times New Roman"/>
                <a:ea typeface="Times New Roman"/>
                <a:cs typeface="Times New Roman"/>
                <a:sym typeface="Times New Roman"/>
              </a:rPr>
              <a:t>:</a:t>
            </a:r>
            <a:endParaRPr sz="2800" b="1">
              <a:solidFill>
                <a:schemeClr val="dk1"/>
              </a:solidFill>
              <a:latin typeface="Times New Roman"/>
              <a:ea typeface="Times New Roman"/>
              <a:cs typeface="Times New Roman"/>
              <a:sym typeface="Times New Roman"/>
            </a:endParaRPr>
          </a:p>
          <a:p>
            <a:pPr marL="0" lvl="0" indent="0" algn="l" rtl="0">
              <a:spcBef>
                <a:spcPts val="480"/>
              </a:spcBef>
              <a:spcAft>
                <a:spcPts val="0"/>
              </a:spcAft>
              <a:buNone/>
            </a:pPr>
            <a:r>
              <a:rPr lang="es-ES" sz="2100" i="1">
                <a:solidFill>
                  <a:schemeClr val="dk1"/>
                </a:solidFill>
                <a:latin typeface="Times New Roman"/>
                <a:ea typeface="Times New Roman"/>
                <a:cs typeface="Times New Roman"/>
                <a:sym typeface="Times New Roman"/>
              </a:rPr>
              <a:t>An OS is a body of software that “is responsible for making it easy to run programs, allowing programs to share memory, enabling programs to interact with devices, …, as it is in charge of making sure the system operates </a:t>
            </a:r>
            <a:r>
              <a:rPr lang="es-ES" sz="2100" b="1" i="1">
                <a:solidFill>
                  <a:srgbClr val="963334"/>
                </a:solidFill>
                <a:latin typeface="Times New Roman"/>
                <a:ea typeface="Times New Roman"/>
                <a:cs typeface="Times New Roman"/>
                <a:sym typeface="Times New Roman"/>
              </a:rPr>
              <a:t>correctly</a:t>
            </a:r>
            <a:r>
              <a:rPr lang="es-ES" sz="2100" i="1">
                <a:solidFill>
                  <a:schemeClr val="dk1"/>
                </a:solidFill>
                <a:latin typeface="Times New Roman"/>
                <a:ea typeface="Times New Roman"/>
                <a:cs typeface="Times New Roman"/>
                <a:sym typeface="Times New Roman"/>
              </a:rPr>
              <a:t> and </a:t>
            </a:r>
            <a:r>
              <a:rPr lang="es-ES" sz="2100" b="1" i="1">
                <a:solidFill>
                  <a:srgbClr val="963334"/>
                </a:solidFill>
                <a:latin typeface="Times New Roman"/>
                <a:ea typeface="Times New Roman"/>
                <a:cs typeface="Times New Roman"/>
                <a:sym typeface="Times New Roman"/>
              </a:rPr>
              <a:t>efficiently</a:t>
            </a:r>
            <a:r>
              <a:rPr lang="es-ES" sz="2100" i="1">
                <a:solidFill>
                  <a:schemeClr val="dk1"/>
                </a:solidFill>
                <a:latin typeface="Times New Roman"/>
                <a:ea typeface="Times New Roman"/>
                <a:cs typeface="Times New Roman"/>
                <a:sym typeface="Times New Roman"/>
              </a:rPr>
              <a:t> in an </a:t>
            </a:r>
            <a:r>
              <a:rPr lang="es-ES" sz="2100" b="1" i="1">
                <a:solidFill>
                  <a:srgbClr val="3A81BA"/>
                </a:solidFill>
                <a:latin typeface="Times New Roman"/>
                <a:ea typeface="Times New Roman"/>
                <a:cs typeface="Times New Roman"/>
                <a:sym typeface="Times New Roman"/>
              </a:rPr>
              <a:t>easy-to-use manner</a:t>
            </a:r>
            <a:r>
              <a:rPr lang="es-ES" sz="2100" i="1">
                <a:solidFill>
                  <a:schemeClr val="dk1"/>
                </a:solidFill>
                <a:latin typeface="Times New Roman"/>
                <a:ea typeface="Times New Roman"/>
                <a:cs typeface="Times New Roman"/>
                <a:sym typeface="Times New Roman"/>
              </a:rPr>
              <a:t>”</a:t>
            </a:r>
            <a:endParaRPr sz="2100" i="1">
              <a:solidFill>
                <a:schemeClr val="dk1"/>
              </a:solidFill>
              <a:latin typeface="Times New Roman"/>
              <a:ea typeface="Times New Roman"/>
              <a:cs typeface="Times New Roman"/>
              <a:sym typeface="Times New Roman"/>
            </a:endParaRPr>
          </a:p>
          <a:p>
            <a:pPr marL="0" lvl="0" indent="0" algn="l" rtl="0">
              <a:spcBef>
                <a:spcPts val="480"/>
              </a:spcBef>
              <a:spcAft>
                <a:spcPts val="0"/>
              </a:spcAft>
              <a:buNone/>
            </a:pPr>
            <a:endParaRPr sz="2200" i="1">
              <a:solidFill>
                <a:schemeClr val="dk1"/>
              </a:solidFill>
              <a:latin typeface="Times New Roman"/>
              <a:ea typeface="Times New Roman"/>
              <a:cs typeface="Times New Roman"/>
              <a:sym typeface="Times New Roman"/>
            </a:endParaRPr>
          </a:p>
          <a:p>
            <a:pPr marL="0" lvl="0" indent="0" algn="l" rtl="0">
              <a:spcBef>
                <a:spcPts val="0"/>
              </a:spcBef>
              <a:spcAft>
                <a:spcPts val="0"/>
              </a:spcAft>
              <a:buNone/>
            </a:pPr>
            <a:endParaRPr/>
          </a:p>
        </p:txBody>
      </p:sp>
      <p:pic>
        <p:nvPicPr>
          <p:cNvPr id="323" name="Google Shape;323;p35"/>
          <p:cNvPicPr preferRelativeResize="0"/>
          <p:nvPr/>
        </p:nvPicPr>
        <p:blipFill>
          <a:blip r:embed="rId4">
            <a:alphaModFix/>
          </a:blip>
          <a:stretch>
            <a:fillRect/>
          </a:stretch>
        </p:blipFill>
        <p:spPr>
          <a:xfrm>
            <a:off x="1239150" y="4030812"/>
            <a:ext cx="1697700" cy="16977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37"/>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335" name="Google Shape;335;p37"/>
          <p:cNvSpPr txBox="1">
            <a:spLocks noGrp="1"/>
          </p:cNvSpPr>
          <p:nvPr>
            <p:ph type="body" idx="1"/>
          </p:nvPr>
        </p:nvSpPr>
        <p:spPr>
          <a:xfrm>
            <a:off x="838200" y="1013201"/>
            <a:ext cx="105156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b="1">
                <a:solidFill>
                  <a:schemeClr val="accent1"/>
                </a:solidFill>
                <a:latin typeface="+mn-lt"/>
              </a:rPr>
              <a:t>Sistema operativo como máquina virtual</a:t>
            </a:r>
            <a:endParaRPr b="1">
              <a:solidFill>
                <a:schemeClr val="accent1"/>
              </a:solidFill>
              <a:latin typeface="+mn-lt"/>
            </a:endParaRPr>
          </a:p>
          <a:p>
            <a:pPr marL="457200" lvl="0" indent="-381000" algn="l" rtl="0">
              <a:lnSpc>
                <a:spcPct val="100000"/>
              </a:lnSpc>
              <a:spcBef>
                <a:spcPts val="480"/>
              </a:spcBef>
              <a:spcAft>
                <a:spcPts val="0"/>
              </a:spcAft>
              <a:buSzPts val="2400"/>
              <a:buFont typeface="Times New Roman"/>
              <a:buChar char="●"/>
            </a:pPr>
            <a:r>
              <a:rPr lang="es-ES" sz="2400">
                <a:latin typeface="+mn-lt"/>
              </a:rPr>
              <a:t>El sistema operativo toma un </a:t>
            </a:r>
            <a:r>
              <a:rPr lang="es-ES" sz="2400" b="1">
                <a:solidFill>
                  <a:srgbClr val="FF0000"/>
                </a:solidFill>
                <a:latin typeface="+mn-lt"/>
              </a:rPr>
              <a:t>recurso físico</a:t>
            </a:r>
            <a:r>
              <a:rPr lang="es-ES" sz="2400">
                <a:latin typeface="+mn-lt"/>
              </a:rPr>
              <a:t> y lo transforma en una </a:t>
            </a:r>
            <a:r>
              <a:rPr lang="es-ES" sz="2400" b="1">
                <a:solidFill>
                  <a:srgbClr val="8BAB42"/>
                </a:solidFill>
                <a:latin typeface="+mn-lt"/>
              </a:rPr>
              <a:t>forma virtual</a:t>
            </a:r>
            <a:r>
              <a:rPr lang="es-ES" sz="2400">
                <a:solidFill>
                  <a:srgbClr val="8BAB42"/>
                </a:solidFill>
                <a:latin typeface="+mn-lt"/>
              </a:rPr>
              <a:t> </a:t>
            </a:r>
            <a:r>
              <a:rPr lang="es-ES" sz="2400">
                <a:latin typeface="+mn-lt"/>
              </a:rPr>
              <a:t>de sí mismo.</a:t>
            </a:r>
            <a:endParaRPr sz="2400">
              <a:latin typeface="+mn-lt"/>
            </a:endParaRPr>
          </a:p>
          <a:p>
            <a:pPr marL="0" lvl="0" indent="0" algn="l" rtl="0">
              <a:lnSpc>
                <a:spcPct val="100000"/>
              </a:lnSpc>
              <a:spcBef>
                <a:spcPts val="480"/>
              </a:spcBef>
              <a:spcAft>
                <a:spcPts val="0"/>
              </a:spcAft>
              <a:buNone/>
            </a:pPr>
            <a:endParaRPr sz="2400">
              <a:latin typeface="+mn-lt"/>
            </a:endParaRPr>
          </a:p>
          <a:p>
            <a:pPr marL="0" lvl="0" indent="0" algn="l" rtl="0">
              <a:lnSpc>
                <a:spcPct val="100000"/>
              </a:lnSpc>
              <a:spcBef>
                <a:spcPts val="480"/>
              </a:spcBef>
              <a:spcAft>
                <a:spcPts val="0"/>
              </a:spcAft>
              <a:buNone/>
            </a:pPr>
            <a:endParaRPr sz="2400">
              <a:latin typeface="+mn-lt"/>
            </a:endParaRPr>
          </a:p>
          <a:p>
            <a:pPr marL="0" lvl="0" indent="0" algn="l" rtl="0">
              <a:lnSpc>
                <a:spcPct val="100000"/>
              </a:lnSpc>
              <a:spcBef>
                <a:spcPts val="480"/>
              </a:spcBef>
              <a:spcAft>
                <a:spcPts val="0"/>
              </a:spcAft>
              <a:buNone/>
            </a:pPr>
            <a:endParaRPr sz="2400">
              <a:latin typeface="+mn-lt"/>
            </a:endParaRPr>
          </a:p>
          <a:p>
            <a:pPr marL="0" lvl="0" indent="0" algn="l" rtl="0">
              <a:lnSpc>
                <a:spcPct val="100000"/>
              </a:lnSpc>
              <a:spcBef>
                <a:spcPts val="480"/>
              </a:spcBef>
              <a:spcAft>
                <a:spcPts val="0"/>
              </a:spcAft>
              <a:buNone/>
            </a:pPr>
            <a:endParaRPr sz="2400">
              <a:latin typeface="+mn-lt"/>
            </a:endParaRPr>
          </a:p>
          <a:p>
            <a:pPr marL="0" lvl="0" indent="0" algn="l" rtl="0">
              <a:lnSpc>
                <a:spcPct val="100000"/>
              </a:lnSpc>
              <a:spcBef>
                <a:spcPts val="480"/>
              </a:spcBef>
              <a:spcAft>
                <a:spcPts val="0"/>
              </a:spcAft>
              <a:buNone/>
            </a:pPr>
            <a:endParaRPr sz="2400">
              <a:latin typeface="+mn-lt"/>
            </a:endParaRPr>
          </a:p>
          <a:p>
            <a:pPr marL="457200" lvl="0" indent="-381000" algn="l" rtl="0">
              <a:lnSpc>
                <a:spcPct val="100000"/>
              </a:lnSpc>
              <a:spcBef>
                <a:spcPts val="480"/>
              </a:spcBef>
              <a:spcAft>
                <a:spcPts val="0"/>
              </a:spcAft>
              <a:buSzPts val="2400"/>
              <a:buFont typeface="Times New Roman"/>
              <a:buChar char="●"/>
            </a:pPr>
            <a:r>
              <a:rPr lang="es-ES" sz="2400">
                <a:latin typeface="+mn-lt"/>
              </a:rPr>
              <a:t>La forma virtual es más </a:t>
            </a:r>
            <a:r>
              <a:rPr lang="es-ES" sz="2400" b="1">
                <a:solidFill>
                  <a:srgbClr val="8BAB42"/>
                </a:solidFill>
                <a:latin typeface="+mn-lt"/>
              </a:rPr>
              <a:t>general</a:t>
            </a:r>
            <a:r>
              <a:rPr lang="es-ES" sz="2400">
                <a:latin typeface="+mn-lt"/>
              </a:rPr>
              <a:t>, </a:t>
            </a:r>
            <a:r>
              <a:rPr lang="es-ES" sz="2400" b="1">
                <a:solidFill>
                  <a:srgbClr val="57A7B5"/>
                </a:solidFill>
                <a:latin typeface="+mn-lt"/>
              </a:rPr>
              <a:t>potente</a:t>
            </a:r>
            <a:r>
              <a:rPr lang="es-ES" sz="2400">
                <a:latin typeface="+mn-lt"/>
              </a:rPr>
              <a:t> y </a:t>
            </a:r>
            <a:r>
              <a:rPr lang="es-ES" sz="2400" b="1">
                <a:solidFill>
                  <a:srgbClr val="8B81D2"/>
                </a:solidFill>
                <a:latin typeface="+mn-lt"/>
              </a:rPr>
              <a:t>fácil de usar</a:t>
            </a:r>
            <a:r>
              <a:rPr lang="es-ES" sz="2400">
                <a:latin typeface="+mn-lt"/>
              </a:rPr>
              <a:t>.</a:t>
            </a:r>
            <a:endParaRPr sz="2400">
              <a:latin typeface="+mn-lt"/>
            </a:endParaRPr>
          </a:p>
          <a:p>
            <a:pPr marL="0" lvl="0" indent="0" algn="l" rtl="0">
              <a:spcBef>
                <a:spcPts val="1000"/>
              </a:spcBef>
              <a:spcAft>
                <a:spcPts val="0"/>
              </a:spcAft>
              <a:buNone/>
            </a:pPr>
            <a:endParaRPr>
              <a:latin typeface="+mn-lt"/>
            </a:endParaRPr>
          </a:p>
          <a:p>
            <a:pPr marL="0" lvl="0" indent="0" algn="l" rtl="0">
              <a:spcBef>
                <a:spcPts val="1000"/>
              </a:spcBef>
              <a:spcAft>
                <a:spcPts val="0"/>
              </a:spcAft>
              <a:buNone/>
            </a:pPr>
            <a:endParaRPr>
              <a:latin typeface="+mn-lt"/>
            </a:endParaRPr>
          </a:p>
          <a:p>
            <a:pPr marL="457200" lvl="0" indent="0" algn="l" rtl="0">
              <a:spcBef>
                <a:spcPts val="1000"/>
              </a:spcBef>
              <a:spcAft>
                <a:spcPts val="0"/>
              </a:spcAft>
              <a:buNone/>
            </a:pPr>
            <a:endParaRPr>
              <a:latin typeface="+mn-lt"/>
            </a:endParaRPr>
          </a:p>
        </p:txBody>
      </p:sp>
      <p:pic>
        <p:nvPicPr>
          <p:cNvPr id="336" name="Google Shape;336;p37"/>
          <p:cNvPicPr preferRelativeResize="0"/>
          <p:nvPr/>
        </p:nvPicPr>
        <p:blipFill>
          <a:blip r:embed="rId3">
            <a:alphaModFix/>
          </a:blip>
          <a:stretch>
            <a:fillRect/>
          </a:stretch>
        </p:blipFill>
        <p:spPr>
          <a:xfrm>
            <a:off x="4007350" y="2673364"/>
            <a:ext cx="1021225" cy="1021225"/>
          </a:xfrm>
          <a:prstGeom prst="rect">
            <a:avLst/>
          </a:prstGeom>
          <a:noFill/>
          <a:ln>
            <a:noFill/>
          </a:ln>
        </p:spPr>
      </p:pic>
      <p:pic>
        <p:nvPicPr>
          <p:cNvPr id="337" name="Google Shape;337;p37"/>
          <p:cNvPicPr preferRelativeResize="0"/>
          <p:nvPr/>
        </p:nvPicPr>
        <p:blipFill>
          <a:blip r:embed="rId4">
            <a:alphaModFix/>
          </a:blip>
          <a:stretch>
            <a:fillRect/>
          </a:stretch>
        </p:blipFill>
        <p:spPr>
          <a:xfrm>
            <a:off x="5612948" y="2609349"/>
            <a:ext cx="1149300" cy="1149270"/>
          </a:xfrm>
          <a:prstGeom prst="rect">
            <a:avLst/>
          </a:prstGeom>
          <a:noFill/>
          <a:ln>
            <a:noFill/>
          </a:ln>
        </p:spPr>
      </p:pic>
      <p:pic>
        <p:nvPicPr>
          <p:cNvPr id="338" name="Google Shape;338;p37"/>
          <p:cNvPicPr preferRelativeResize="0"/>
          <p:nvPr/>
        </p:nvPicPr>
        <p:blipFill>
          <a:blip r:embed="rId5">
            <a:alphaModFix/>
          </a:blip>
          <a:stretch>
            <a:fillRect/>
          </a:stretch>
        </p:blipFill>
        <p:spPr>
          <a:xfrm>
            <a:off x="7427504" y="2609338"/>
            <a:ext cx="1267672" cy="949500"/>
          </a:xfrm>
          <a:prstGeom prst="rect">
            <a:avLst/>
          </a:prstGeom>
          <a:noFill/>
          <a:ln>
            <a:noFill/>
          </a:ln>
        </p:spPr>
      </p:pic>
      <p:sp>
        <p:nvSpPr>
          <p:cNvPr id="339" name="Google Shape;339;p37"/>
          <p:cNvSpPr txBox="1"/>
          <p:nvPr/>
        </p:nvSpPr>
        <p:spPr>
          <a:xfrm>
            <a:off x="1417075" y="2988700"/>
            <a:ext cx="2092800" cy="390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0000"/>
                </a:solidFill>
              </a:rPr>
              <a:t>Recurso físico</a:t>
            </a:r>
            <a:endParaRPr sz="2000" b="1">
              <a:solidFill>
                <a:srgbClr val="FF0000"/>
              </a:solidFill>
            </a:endParaRPr>
          </a:p>
        </p:txBody>
      </p:sp>
      <p:sp>
        <p:nvSpPr>
          <p:cNvPr id="340" name="Google Shape;340;p37"/>
          <p:cNvSpPr txBox="1"/>
          <p:nvPr/>
        </p:nvSpPr>
        <p:spPr>
          <a:xfrm>
            <a:off x="3668950" y="3758613"/>
            <a:ext cx="1698000" cy="39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a:t>Procesador</a:t>
            </a:r>
            <a:endParaRPr/>
          </a:p>
        </p:txBody>
      </p:sp>
      <p:sp>
        <p:nvSpPr>
          <p:cNvPr id="341" name="Google Shape;341;p37"/>
          <p:cNvSpPr txBox="1"/>
          <p:nvPr/>
        </p:nvSpPr>
        <p:spPr>
          <a:xfrm>
            <a:off x="5338600" y="3758613"/>
            <a:ext cx="1698000" cy="39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a:t>Memoria</a:t>
            </a:r>
            <a:endParaRPr/>
          </a:p>
        </p:txBody>
      </p:sp>
      <p:sp>
        <p:nvSpPr>
          <p:cNvPr id="342" name="Google Shape;342;p37"/>
          <p:cNvSpPr txBox="1"/>
          <p:nvPr/>
        </p:nvSpPr>
        <p:spPr>
          <a:xfrm>
            <a:off x="7212338" y="3758613"/>
            <a:ext cx="1698000" cy="39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a:t>Disco</a:t>
            </a:r>
            <a:endParaRPr/>
          </a:p>
        </p:txBody>
      </p:sp>
      <p:sp>
        <p:nvSpPr>
          <p:cNvPr id="343" name="Google Shape;343;p37"/>
          <p:cNvSpPr txBox="1"/>
          <p:nvPr/>
        </p:nvSpPr>
        <p:spPr>
          <a:xfrm>
            <a:off x="8910338" y="2760013"/>
            <a:ext cx="1698000" cy="39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sz="2300" b="1"/>
              <a:t>. . .</a:t>
            </a:r>
            <a:endParaRPr sz="2300" b="1"/>
          </a:p>
        </p:txBody>
      </p:sp>
      <p:pic>
        <p:nvPicPr>
          <p:cNvPr id="344" name="Google Shape;344;p37"/>
          <p:cNvPicPr preferRelativeResize="0"/>
          <p:nvPr/>
        </p:nvPicPr>
        <p:blipFill>
          <a:blip r:embed="rId6">
            <a:alphaModFix/>
          </a:blip>
          <a:stretch>
            <a:fillRect/>
          </a:stretch>
        </p:blipFill>
        <p:spPr>
          <a:xfrm>
            <a:off x="3877825" y="5394725"/>
            <a:ext cx="1149300" cy="903735"/>
          </a:xfrm>
          <a:prstGeom prst="rect">
            <a:avLst/>
          </a:prstGeom>
          <a:noFill/>
          <a:ln>
            <a:noFill/>
          </a:ln>
        </p:spPr>
      </p:pic>
      <p:pic>
        <p:nvPicPr>
          <p:cNvPr id="345" name="Google Shape;345;p37"/>
          <p:cNvPicPr preferRelativeResize="0"/>
          <p:nvPr/>
        </p:nvPicPr>
        <p:blipFill>
          <a:blip r:embed="rId7">
            <a:alphaModFix/>
          </a:blip>
          <a:stretch>
            <a:fillRect/>
          </a:stretch>
        </p:blipFill>
        <p:spPr>
          <a:xfrm>
            <a:off x="7845525" y="5357657"/>
            <a:ext cx="1021225" cy="1231469"/>
          </a:xfrm>
          <a:prstGeom prst="rect">
            <a:avLst/>
          </a:prstGeom>
          <a:noFill/>
          <a:ln>
            <a:noFill/>
          </a:ln>
        </p:spPr>
      </p:pic>
      <p:grpSp>
        <p:nvGrpSpPr>
          <p:cNvPr id="346" name="Google Shape;346;p37"/>
          <p:cNvGrpSpPr/>
          <p:nvPr/>
        </p:nvGrpSpPr>
        <p:grpSpPr>
          <a:xfrm>
            <a:off x="6021000" y="5415500"/>
            <a:ext cx="567750" cy="808500"/>
            <a:chOff x="6021000" y="4729700"/>
            <a:chExt cx="567750" cy="808500"/>
          </a:xfrm>
        </p:grpSpPr>
        <p:sp>
          <p:nvSpPr>
            <p:cNvPr id="347" name="Google Shape;347;p37"/>
            <p:cNvSpPr/>
            <p:nvPr/>
          </p:nvSpPr>
          <p:spPr>
            <a:xfrm>
              <a:off x="6021000" y="4729700"/>
              <a:ext cx="565800" cy="808500"/>
            </a:xfrm>
            <a:prstGeom prst="rect">
              <a:avLst/>
            </a:prstGeom>
            <a:solidFill>
              <a:schemeClr val="lt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37"/>
            <p:cNvSpPr/>
            <p:nvPr/>
          </p:nvSpPr>
          <p:spPr>
            <a:xfrm>
              <a:off x="6022950" y="4932550"/>
              <a:ext cx="565800" cy="134700"/>
            </a:xfrm>
            <a:prstGeom prst="rect">
              <a:avLst/>
            </a:prstGeom>
            <a:solidFill>
              <a:srgbClr val="F9CB9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9" name="Google Shape;349;p37"/>
          <p:cNvSpPr txBox="1"/>
          <p:nvPr/>
        </p:nvSpPr>
        <p:spPr>
          <a:xfrm>
            <a:off x="1336575" y="5778088"/>
            <a:ext cx="2092800" cy="3906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s-ES" sz="2000" b="1">
                <a:solidFill>
                  <a:srgbClr val="8BAB42"/>
                </a:solidFill>
                <a:latin typeface="Roboto"/>
                <a:ea typeface="Roboto"/>
                <a:cs typeface="Roboto"/>
                <a:sym typeface="Roboto"/>
              </a:rPr>
              <a:t>Forma Virtual</a:t>
            </a:r>
            <a:endParaRPr sz="2000" b="1">
              <a:solidFill>
                <a:srgbClr val="8BAB42"/>
              </a:solidFill>
              <a:latin typeface="Roboto"/>
              <a:ea typeface="Roboto"/>
              <a:cs typeface="Roboto"/>
              <a:sym typeface="Roboto"/>
            </a:endParaRPr>
          </a:p>
        </p:txBody>
      </p:sp>
      <p:sp>
        <p:nvSpPr>
          <p:cNvPr id="350" name="Google Shape;350;p37"/>
          <p:cNvSpPr txBox="1"/>
          <p:nvPr/>
        </p:nvSpPr>
        <p:spPr>
          <a:xfrm>
            <a:off x="3527275" y="6253288"/>
            <a:ext cx="1698000" cy="39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a:t>Proceso</a:t>
            </a:r>
            <a:endParaRPr/>
          </a:p>
        </p:txBody>
      </p:sp>
      <p:sp>
        <p:nvSpPr>
          <p:cNvPr id="351" name="Google Shape;351;p37"/>
          <p:cNvSpPr txBox="1"/>
          <p:nvPr/>
        </p:nvSpPr>
        <p:spPr>
          <a:xfrm>
            <a:off x="5455875" y="6248988"/>
            <a:ext cx="1698000" cy="39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a:t>Espacio de direccionamiento</a:t>
            </a:r>
            <a:endParaRPr/>
          </a:p>
        </p:txBody>
      </p:sp>
      <p:sp>
        <p:nvSpPr>
          <p:cNvPr id="352" name="Google Shape;352;p37"/>
          <p:cNvSpPr txBox="1"/>
          <p:nvPr/>
        </p:nvSpPr>
        <p:spPr>
          <a:xfrm>
            <a:off x="7419963" y="6348788"/>
            <a:ext cx="1698000" cy="39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a:t>Archivo</a:t>
            </a:r>
            <a:endParaRPr/>
          </a:p>
        </p:txBody>
      </p:sp>
      <p:sp>
        <p:nvSpPr>
          <p:cNvPr id="353" name="Google Shape;353;p37"/>
          <p:cNvSpPr txBox="1"/>
          <p:nvPr/>
        </p:nvSpPr>
        <p:spPr>
          <a:xfrm>
            <a:off x="9020063" y="5624450"/>
            <a:ext cx="1698000" cy="39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sz="2300" b="1"/>
              <a:t>. . .</a:t>
            </a:r>
            <a:endParaRPr sz="2300" b="1"/>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9"/>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n-lt"/>
              </a:rPr>
              <a:t>Virtualización de recursos</a:t>
            </a:r>
            <a:endParaRPr dirty="0">
              <a:latin typeface="+mn-lt"/>
            </a:endParaRPr>
          </a:p>
        </p:txBody>
      </p:sp>
      <p:sp>
        <p:nvSpPr>
          <p:cNvPr id="369" name="Google Shape;369;p39"/>
          <p:cNvSpPr txBox="1">
            <a:spLocks noGrp="1"/>
          </p:cNvSpPr>
          <p:nvPr>
            <p:ph type="body" idx="1"/>
          </p:nvPr>
        </p:nvSpPr>
        <p:spPr>
          <a:xfrm>
            <a:off x="916650" y="932700"/>
            <a:ext cx="6015900" cy="51543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b="1" dirty="0">
                <a:solidFill>
                  <a:schemeClr val="accent1"/>
                </a:solidFill>
                <a:latin typeface="+mn-lt"/>
              </a:rPr>
              <a:t>Llamadas al sistema</a:t>
            </a:r>
            <a:endParaRPr b="1" dirty="0">
              <a:solidFill>
                <a:schemeClr val="accent1"/>
              </a:solidFill>
              <a:latin typeface="+mn-lt"/>
            </a:endParaRPr>
          </a:p>
          <a:p>
            <a:pPr marL="457200" lvl="0" indent="-381000" algn="l" rtl="0">
              <a:lnSpc>
                <a:spcPct val="100000"/>
              </a:lnSpc>
              <a:spcBef>
                <a:spcPts val="480"/>
              </a:spcBef>
              <a:spcAft>
                <a:spcPts val="0"/>
              </a:spcAft>
              <a:buSzPts val="2400"/>
              <a:buFont typeface="Times New Roman"/>
              <a:buChar char="●"/>
            </a:pPr>
            <a:r>
              <a:rPr lang="es-ES" sz="2400" dirty="0">
                <a:latin typeface="+mn-lt"/>
              </a:rPr>
              <a:t>Las </a:t>
            </a:r>
            <a:r>
              <a:rPr lang="es-ES" sz="2400" b="1" dirty="0">
                <a:latin typeface="+mn-lt"/>
              </a:rPr>
              <a:t>llamadas al sistema</a:t>
            </a:r>
            <a:r>
              <a:rPr lang="es-ES" sz="2400" dirty="0">
                <a:latin typeface="+mn-lt"/>
              </a:rPr>
              <a:t> permiten que el usuario pueda</a:t>
            </a:r>
            <a:r>
              <a:rPr lang="es-ES" sz="2400" b="1" dirty="0">
                <a:latin typeface="+mn-lt"/>
              </a:rPr>
              <a:t> </a:t>
            </a:r>
            <a:r>
              <a:rPr lang="es-ES" sz="2400" b="1" dirty="0">
                <a:solidFill>
                  <a:srgbClr val="8BAB42"/>
                </a:solidFill>
                <a:latin typeface="+mn-lt"/>
              </a:rPr>
              <a:t>decirle </a:t>
            </a:r>
            <a:r>
              <a:rPr lang="es-ES" sz="2400" dirty="0">
                <a:latin typeface="+mn-lt"/>
              </a:rPr>
              <a:t>al Sistema Operativo</a:t>
            </a:r>
            <a:r>
              <a:rPr lang="es-ES" sz="2400" b="1" dirty="0">
                <a:solidFill>
                  <a:srgbClr val="8BAB42"/>
                </a:solidFill>
                <a:latin typeface="+mn-lt"/>
              </a:rPr>
              <a:t> qué hacer</a:t>
            </a:r>
            <a:r>
              <a:rPr lang="es-ES" sz="2400" dirty="0">
                <a:latin typeface="+mn-lt"/>
              </a:rPr>
              <a:t>.</a:t>
            </a:r>
            <a:endParaRPr sz="2400" dirty="0">
              <a:latin typeface="+mn-lt"/>
            </a:endParaRPr>
          </a:p>
          <a:p>
            <a:pPr marL="457200" lvl="0" indent="-381000" algn="l" rtl="0">
              <a:lnSpc>
                <a:spcPct val="100000"/>
              </a:lnSpc>
              <a:spcBef>
                <a:spcPts val="0"/>
              </a:spcBef>
              <a:spcAft>
                <a:spcPts val="0"/>
              </a:spcAft>
              <a:buSzPts val="2400"/>
              <a:buFont typeface="Times New Roman"/>
              <a:buChar char="●"/>
            </a:pPr>
            <a:r>
              <a:rPr lang="es-ES" sz="2400" dirty="0">
                <a:latin typeface="+mn-lt"/>
              </a:rPr>
              <a:t>El sistema operativo proporciona una interfaz (</a:t>
            </a:r>
            <a:r>
              <a:rPr lang="es-ES" sz="2400" b="1" dirty="0">
                <a:latin typeface="+mn-lt"/>
              </a:rPr>
              <a:t>API</a:t>
            </a:r>
            <a:r>
              <a:rPr lang="es-ES" sz="2400" dirty="0">
                <a:latin typeface="+mn-lt"/>
              </a:rPr>
              <a:t>, librería estándar).</a:t>
            </a:r>
            <a:endParaRPr sz="2400" dirty="0">
              <a:latin typeface="+mn-lt"/>
            </a:endParaRPr>
          </a:p>
          <a:p>
            <a:pPr marL="457200" lvl="0" indent="-381000" algn="l" rtl="0">
              <a:lnSpc>
                <a:spcPct val="100000"/>
              </a:lnSpc>
              <a:spcBef>
                <a:spcPts val="0"/>
              </a:spcBef>
              <a:spcAft>
                <a:spcPts val="0"/>
              </a:spcAft>
              <a:buSzPts val="2400"/>
              <a:buFont typeface="Times New Roman"/>
              <a:buChar char="●"/>
            </a:pPr>
            <a:r>
              <a:rPr lang="es-ES" sz="2400" dirty="0">
                <a:latin typeface="+mn-lt"/>
              </a:rPr>
              <a:t>Un sistema operativo típico proporciona cientos de llamadas al sistema:</a:t>
            </a:r>
            <a:endParaRPr sz="2400" dirty="0">
              <a:latin typeface="+mn-lt"/>
            </a:endParaRPr>
          </a:p>
          <a:p>
            <a:pPr marL="914400" lvl="1" indent="-368300" algn="l" rtl="0">
              <a:lnSpc>
                <a:spcPct val="100000"/>
              </a:lnSpc>
              <a:spcBef>
                <a:spcPts val="0"/>
              </a:spcBef>
              <a:spcAft>
                <a:spcPts val="0"/>
              </a:spcAft>
              <a:buSzPts val="2200"/>
              <a:buFont typeface="Times New Roman"/>
              <a:buChar char="○"/>
            </a:pPr>
            <a:r>
              <a:rPr lang="es-ES" dirty="0">
                <a:latin typeface="+mn-lt"/>
              </a:rPr>
              <a:t>Ejecutar programas</a:t>
            </a:r>
            <a:endParaRPr dirty="0">
              <a:latin typeface="+mn-lt"/>
            </a:endParaRPr>
          </a:p>
          <a:p>
            <a:pPr marL="914400" lvl="1" indent="-368300" algn="l" rtl="0">
              <a:lnSpc>
                <a:spcPct val="100000"/>
              </a:lnSpc>
              <a:spcBef>
                <a:spcPts val="0"/>
              </a:spcBef>
              <a:spcAft>
                <a:spcPts val="0"/>
              </a:spcAft>
              <a:buSzPts val="2200"/>
              <a:buFont typeface="Times New Roman"/>
              <a:buChar char="○"/>
            </a:pPr>
            <a:r>
              <a:rPr lang="es-ES" dirty="0">
                <a:latin typeface="+mn-lt"/>
              </a:rPr>
              <a:t>Acceder a memoria</a:t>
            </a:r>
            <a:endParaRPr dirty="0">
              <a:latin typeface="+mn-lt"/>
            </a:endParaRPr>
          </a:p>
          <a:p>
            <a:pPr marL="914400" lvl="1" indent="-368300" algn="l" rtl="0">
              <a:lnSpc>
                <a:spcPct val="100000"/>
              </a:lnSpc>
              <a:spcBef>
                <a:spcPts val="0"/>
              </a:spcBef>
              <a:spcAft>
                <a:spcPts val="0"/>
              </a:spcAft>
              <a:buSzPts val="2200"/>
              <a:buFont typeface="Times New Roman"/>
              <a:buChar char="○"/>
            </a:pPr>
            <a:r>
              <a:rPr lang="es-ES" dirty="0">
                <a:latin typeface="+mn-lt"/>
              </a:rPr>
              <a:t>Acceder a los dispositivos</a:t>
            </a:r>
            <a:endParaRPr dirty="0">
              <a:latin typeface="+mn-lt"/>
            </a:endParaRPr>
          </a:p>
          <a:p>
            <a:pPr marL="457200" lvl="0" indent="-381000" algn="l" rtl="0">
              <a:lnSpc>
                <a:spcPct val="100000"/>
              </a:lnSpc>
              <a:spcBef>
                <a:spcPts val="0"/>
              </a:spcBef>
              <a:spcAft>
                <a:spcPts val="0"/>
              </a:spcAft>
              <a:buSzPts val="2400"/>
              <a:buFont typeface="Times New Roman"/>
              <a:buChar char="●"/>
            </a:pPr>
            <a:r>
              <a:rPr lang="es-ES" dirty="0">
                <a:latin typeface="+mn-lt"/>
              </a:rPr>
              <a:t>Ejemplo: </a:t>
            </a:r>
            <a:r>
              <a:rPr lang="es-ES" u="sng" dirty="0">
                <a:solidFill>
                  <a:schemeClr val="hlink"/>
                </a:solidFill>
                <a:latin typeface="+mn-lt"/>
                <a:hlinkClick r:id="rId3"/>
              </a:rPr>
              <a:t>POSIX API</a:t>
            </a:r>
            <a:endParaRPr dirty="0">
              <a:latin typeface="+mn-lt"/>
            </a:endParaRPr>
          </a:p>
          <a:p>
            <a:pPr marL="457200" lvl="0" indent="0" algn="l" rtl="0">
              <a:lnSpc>
                <a:spcPct val="100000"/>
              </a:lnSpc>
              <a:spcBef>
                <a:spcPts val="48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pic>
        <p:nvPicPr>
          <p:cNvPr id="370" name="Google Shape;370;p39"/>
          <p:cNvPicPr preferRelativeResize="0"/>
          <p:nvPr/>
        </p:nvPicPr>
        <p:blipFill>
          <a:blip r:embed="rId4">
            <a:alphaModFix/>
          </a:blip>
          <a:stretch>
            <a:fillRect/>
          </a:stretch>
        </p:blipFill>
        <p:spPr>
          <a:xfrm>
            <a:off x="7044006" y="1045550"/>
            <a:ext cx="4802169" cy="5154175"/>
          </a:xfrm>
          <a:prstGeom prst="rect">
            <a:avLst/>
          </a:prstGeom>
          <a:noFill/>
          <a:ln>
            <a:noFill/>
          </a:ln>
        </p:spPr>
      </p:pic>
      <p:sp>
        <p:nvSpPr>
          <p:cNvPr id="371" name="Google Shape;371;p39"/>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40"/>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377" name="Google Shape;377;p40"/>
          <p:cNvSpPr txBox="1">
            <a:spLocks noGrp="1"/>
          </p:cNvSpPr>
          <p:nvPr>
            <p:ph type="body" idx="1"/>
          </p:nvPr>
        </p:nvSpPr>
        <p:spPr>
          <a:xfrm>
            <a:off x="916650" y="932700"/>
            <a:ext cx="105297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b="1" dirty="0">
                <a:solidFill>
                  <a:schemeClr val="accent1"/>
                </a:solidFill>
                <a:latin typeface="+mn-lt"/>
              </a:rPr>
              <a:t>Administrador de recursos</a:t>
            </a:r>
            <a:endParaRPr b="1" dirty="0">
              <a:solidFill>
                <a:schemeClr val="accent1"/>
              </a:solidFill>
              <a:latin typeface="+mn-lt"/>
            </a:endParaRPr>
          </a:p>
          <a:p>
            <a:pPr marL="457200" lvl="0" indent="-381000" algn="l" rtl="0">
              <a:lnSpc>
                <a:spcPct val="100000"/>
              </a:lnSpc>
              <a:spcBef>
                <a:spcPts val="600"/>
              </a:spcBef>
              <a:spcAft>
                <a:spcPts val="0"/>
              </a:spcAft>
              <a:buSzPts val="2400"/>
              <a:buFont typeface="Times New Roman"/>
              <a:buChar char="●"/>
            </a:pPr>
            <a:r>
              <a:rPr lang="es-ES" sz="2400" dirty="0">
                <a:latin typeface="+mn-lt"/>
              </a:rPr>
              <a:t>El SO administra los </a:t>
            </a:r>
            <a:r>
              <a:rPr lang="es-ES" sz="2400" b="1" dirty="0">
                <a:solidFill>
                  <a:srgbClr val="8BAB42"/>
                </a:solidFill>
                <a:latin typeface="+mn-lt"/>
              </a:rPr>
              <a:t>recursos de un sistema</a:t>
            </a:r>
            <a:r>
              <a:rPr lang="es-ES" sz="2400" dirty="0">
                <a:latin typeface="+mn-lt"/>
              </a:rPr>
              <a:t> de cómputo: procesador, memoria, disco duro.</a:t>
            </a:r>
            <a:endParaRPr sz="2400" dirty="0">
              <a:latin typeface="+mn-lt"/>
            </a:endParaRPr>
          </a:p>
          <a:p>
            <a:pPr marL="457200" lvl="0" indent="-381000" algn="l" rtl="0">
              <a:lnSpc>
                <a:spcPct val="100000"/>
              </a:lnSpc>
              <a:spcBef>
                <a:spcPts val="0"/>
              </a:spcBef>
              <a:spcAft>
                <a:spcPts val="0"/>
              </a:spcAft>
              <a:buSzPts val="2400"/>
              <a:buFont typeface="Times New Roman"/>
              <a:buChar char="●"/>
            </a:pPr>
            <a:r>
              <a:rPr lang="es-ES" sz="2400" dirty="0">
                <a:latin typeface="+mn-lt"/>
              </a:rPr>
              <a:t>El SO permite:</a:t>
            </a:r>
            <a:endParaRPr sz="2400" dirty="0">
              <a:latin typeface="+mn-lt"/>
            </a:endParaRPr>
          </a:p>
          <a:p>
            <a:pPr marL="914400" lvl="1" indent="-368300" algn="l" rtl="0">
              <a:lnSpc>
                <a:spcPct val="100000"/>
              </a:lnSpc>
              <a:spcBef>
                <a:spcPts val="0"/>
              </a:spcBef>
              <a:spcAft>
                <a:spcPts val="0"/>
              </a:spcAft>
              <a:buSzPts val="2200"/>
              <a:buFont typeface="Times New Roman"/>
              <a:buChar char="○"/>
            </a:pPr>
            <a:r>
              <a:rPr lang="es-ES" dirty="0">
                <a:latin typeface="+mn-lt"/>
              </a:rPr>
              <a:t>La ejecución de múltiples programas </a:t>
            </a:r>
            <a:r>
              <a:rPr lang="es-ES" b="1" dirty="0">
                <a:solidFill>
                  <a:srgbClr val="222222"/>
                </a:solidFill>
                <a:highlight>
                  <a:schemeClr val="lt1"/>
                </a:highlight>
                <a:latin typeface="+mn-lt"/>
              </a:rPr>
              <a:t>→ </a:t>
            </a:r>
            <a:r>
              <a:rPr lang="es-ES" b="1" dirty="0">
                <a:latin typeface="+mn-lt"/>
              </a:rPr>
              <a:t>compartiendo la CPU</a:t>
            </a:r>
            <a:endParaRPr b="1" dirty="0">
              <a:latin typeface="+mn-lt"/>
            </a:endParaRPr>
          </a:p>
          <a:p>
            <a:pPr marL="914400" lvl="1" indent="-368300" algn="l" rtl="0">
              <a:lnSpc>
                <a:spcPct val="100000"/>
              </a:lnSpc>
              <a:spcBef>
                <a:spcPts val="0"/>
              </a:spcBef>
              <a:spcAft>
                <a:spcPts val="0"/>
              </a:spcAft>
              <a:buSzPts val="2200"/>
              <a:buFont typeface="Times New Roman"/>
              <a:buChar char="○"/>
            </a:pPr>
            <a:r>
              <a:rPr lang="es-ES" dirty="0">
                <a:latin typeface="+mn-lt"/>
              </a:rPr>
              <a:t>Que múltiples programas accedan simultáneamente a sus datos e instrucciones </a:t>
            </a:r>
            <a:r>
              <a:rPr lang="es-ES" b="1" dirty="0">
                <a:solidFill>
                  <a:srgbClr val="222222"/>
                </a:solidFill>
                <a:highlight>
                  <a:schemeClr val="lt1"/>
                </a:highlight>
                <a:latin typeface="+mn-lt"/>
              </a:rPr>
              <a:t>→</a:t>
            </a:r>
            <a:r>
              <a:rPr lang="es-ES" b="1" dirty="0">
                <a:latin typeface="+mn-lt"/>
              </a:rPr>
              <a:t> compartiendo la memoria</a:t>
            </a:r>
            <a:endParaRPr b="1" dirty="0">
              <a:latin typeface="+mn-lt"/>
            </a:endParaRPr>
          </a:p>
          <a:p>
            <a:pPr marL="914400" lvl="1" indent="-368300" algn="l" rtl="0">
              <a:lnSpc>
                <a:spcPct val="100000"/>
              </a:lnSpc>
              <a:spcBef>
                <a:spcPts val="0"/>
              </a:spcBef>
              <a:spcAft>
                <a:spcPts val="0"/>
              </a:spcAft>
              <a:buSzPts val="2200"/>
              <a:buFont typeface="Times New Roman"/>
              <a:buChar char="○"/>
            </a:pPr>
            <a:r>
              <a:rPr lang="es-ES" dirty="0">
                <a:latin typeface="+mn-lt"/>
              </a:rPr>
              <a:t>Que múltiples programas accedan a los dispositivos </a:t>
            </a:r>
            <a:r>
              <a:rPr lang="es-ES" b="1" dirty="0">
                <a:solidFill>
                  <a:srgbClr val="222222"/>
                </a:solidFill>
                <a:highlight>
                  <a:schemeClr val="lt1"/>
                </a:highlight>
                <a:latin typeface="+mn-lt"/>
              </a:rPr>
              <a:t>→</a:t>
            </a:r>
            <a:r>
              <a:rPr lang="es-ES" b="1" dirty="0">
                <a:latin typeface="+mn-lt"/>
              </a:rPr>
              <a:t> compartiendo los discos</a:t>
            </a:r>
            <a:endParaRPr b="1"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sp>
        <p:nvSpPr>
          <p:cNvPr id="378" name="Google Shape;378;p40"/>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82"/>
        <p:cNvGrpSpPr/>
        <p:nvPr/>
      </p:nvGrpSpPr>
      <p:grpSpPr>
        <a:xfrm>
          <a:off x="0" y="0"/>
          <a:ext cx="0" cy="0"/>
          <a:chOff x="0" y="0"/>
          <a:chExt cx="0" cy="0"/>
        </a:xfrm>
      </p:grpSpPr>
      <p:sp>
        <p:nvSpPr>
          <p:cNvPr id="383" name="Google Shape;383;p41"/>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384" name="Google Shape;384;p41"/>
          <p:cNvSpPr txBox="1">
            <a:spLocks noGrp="1"/>
          </p:cNvSpPr>
          <p:nvPr>
            <p:ph type="body" idx="1"/>
          </p:nvPr>
        </p:nvSpPr>
        <p:spPr>
          <a:xfrm>
            <a:off x="916650" y="932700"/>
            <a:ext cx="105297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a:solidFill>
                  <a:schemeClr val="accent1"/>
                </a:solidFill>
                <a:latin typeface="+mn-lt"/>
              </a:rPr>
              <a:t>Virtualización de la CPU</a:t>
            </a:r>
            <a:endParaRPr sz="2800" b="1">
              <a:solidFill>
                <a:schemeClr val="accent1"/>
              </a:solidFill>
              <a:latin typeface="+mn-lt"/>
            </a:endParaRPr>
          </a:p>
          <a:p>
            <a:pPr marL="457200" lvl="0" indent="-381000" algn="l" rtl="0">
              <a:lnSpc>
                <a:spcPct val="100000"/>
              </a:lnSpc>
              <a:spcBef>
                <a:spcPts val="600"/>
              </a:spcBef>
              <a:spcAft>
                <a:spcPts val="0"/>
              </a:spcAft>
              <a:buSzPts val="2400"/>
              <a:buFont typeface="Times New Roman"/>
              <a:buChar char="●"/>
            </a:pPr>
            <a:r>
              <a:rPr lang="es-ES">
                <a:latin typeface="+mn-lt"/>
              </a:rPr>
              <a:t>El sistema tiene un gran número de CPUs virtuales.</a:t>
            </a:r>
            <a:endParaRPr>
              <a:latin typeface="+mn-lt"/>
            </a:endParaRPr>
          </a:p>
          <a:p>
            <a:pPr marL="914400" lvl="1" indent="-368300" algn="l" rtl="0">
              <a:lnSpc>
                <a:spcPct val="100000"/>
              </a:lnSpc>
              <a:spcBef>
                <a:spcPts val="0"/>
              </a:spcBef>
              <a:spcAft>
                <a:spcPts val="0"/>
              </a:spcAft>
              <a:buSzPts val="2200"/>
              <a:buFont typeface="Times New Roman"/>
              <a:buChar char="○"/>
            </a:pPr>
            <a:r>
              <a:rPr lang="es-ES">
                <a:latin typeface="+mn-lt"/>
              </a:rPr>
              <a:t>Convierte una CPU en “</a:t>
            </a:r>
            <a:r>
              <a:rPr lang="es-ES" b="1">
                <a:solidFill>
                  <a:srgbClr val="FF0000"/>
                </a:solidFill>
                <a:latin typeface="+mn-lt"/>
              </a:rPr>
              <a:t>infinitas</a:t>
            </a:r>
            <a:r>
              <a:rPr lang="es-ES">
                <a:latin typeface="+mn-lt"/>
              </a:rPr>
              <a:t>” CPUs virtuales</a:t>
            </a:r>
            <a:endParaRPr>
              <a:latin typeface="+mn-lt"/>
            </a:endParaRPr>
          </a:p>
          <a:p>
            <a:pPr marL="914400" lvl="1" indent="-368300" algn="l" rtl="0">
              <a:lnSpc>
                <a:spcPct val="100000"/>
              </a:lnSpc>
              <a:spcBef>
                <a:spcPts val="0"/>
              </a:spcBef>
              <a:spcAft>
                <a:spcPts val="0"/>
              </a:spcAft>
              <a:buSzPts val="2200"/>
              <a:buFont typeface="Times New Roman"/>
              <a:buChar char="○"/>
            </a:pPr>
            <a:r>
              <a:rPr lang="es-ES">
                <a:latin typeface="+mn-lt"/>
              </a:rPr>
              <a:t>Permite que múltiples programas se ejecuten “</a:t>
            </a:r>
            <a:r>
              <a:rPr lang="es-ES" b="1">
                <a:solidFill>
                  <a:srgbClr val="8BAB42"/>
                </a:solidFill>
                <a:latin typeface="+mn-lt"/>
              </a:rPr>
              <a:t>de manera concurrente</a:t>
            </a:r>
            <a:r>
              <a:rPr lang="es-ES">
                <a:latin typeface="+mn-lt"/>
              </a:rPr>
              <a:t>”</a:t>
            </a:r>
            <a:endParaRPr>
              <a:latin typeface="+mn-lt"/>
            </a:endParaRPr>
          </a:p>
          <a:p>
            <a:pPr marL="457200" lvl="0" indent="-381000" algn="l" rtl="0">
              <a:lnSpc>
                <a:spcPct val="100000"/>
              </a:lnSpc>
              <a:spcBef>
                <a:spcPts val="0"/>
              </a:spcBef>
              <a:spcAft>
                <a:spcPts val="0"/>
              </a:spcAft>
              <a:buSzPts val="2400"/>
              <a:buFont typeface="Times New Roman"/>
              <a:buChar char="●"/>
            </a:pPr>
            <a:r>
              <a:rPr lang="es-ES">
                <a:latin typeface="+mn-lt"/>
              </a:rPr>
              <a:t>Convención</a:t>
            </a:r>
            <a:endParaRPr>
              <a:latin typeface="+mn-lt"/>
            </a:endParaRPr>
          </a:p>
          <a:p>
            <a:pPr marL="914400" lvl="0" indent="0" algn="l" rtl="0">
              <a:lnSpc>
                <a:spcPct val="100000"/>
              </a:lnSpc>
              <a:spcBef>
                <a:spcPts val="600"/>
              </a:spcBef>
              <a:spcAft>
                <a:spcPts val="0"/>
              </a:spcAft>
              <a:buNone/>
            </a:pPr>
            <a:endParaRPr b="1">
              <a:latin typeface="+mn-lt"/>
            </a:endParaRPr>
          </a:p>
          <a:p>
            <a:pPr marL="457200" lvl="0" indent="0" algn="l" rtl="0">
              <a:lnSpc>
                <a:spcPct val="100000"/>
              </a:lnSpc>
              <a:spcBef>
                <a:spcPts val="600"/>
              </a:spcBef>
              <a:spcAft>
                <a:spcPts val="0"/>
              </a:spcAft>
              <a:buNone/>
            </a:pPr>
            <a:endParaRPr b="1">
              <a:latin typeface="+mn-lt"/>
            </a:endParaRPr>
          </a:p>
          <a:p>
            <a:pPr marL="457200" lvl="0" indent="0" algn="l" rtl="0">
              <a:lnSpc>
                <a:spcPct val="100000"/>
              </a:lnSpc>
              <a:spcBef>
                <a:spcPts val="480"/>
              </a:spcBef>
              <a:spcAft>
                <a:spcPts val="0"/>
              </a:spcAft>
              <a:buNone/>
            </a:pPr>
            <a:endParaRPr sz="2400">
              <a:latin typeface="+mn-lt"/>
            </a:endParaRPr>
          </a:p>
          <a:p>
            <a:pPr marL="457200" lvl="0" indent="0" algn="l" rtl="0">
              <a:lnSpc>
                <a:spcPct val="100000"/>
              </a:lnSpc>
              <a:spcBef>
                <a:spcPts val="480"/>
              </a:spcBef>
              <a:spcAft>
                <a:spcPts val="0"/>
              </a:spcAft>
              <a:buNone/>
            </a:pPr>
            <a:endParaRPr>
              <a:latin typeface="+mn-lt"/>
            </a:endParaRPr>
          </a:p>
          <a:p>
            <a:pPr marL="0" lvl="0" indent="0" algn="l" rtl="0">
              <a:spcBef>
                <a:spcPts val="1000"/>
              </a:spcBef>
              <a:spcAft>
                <a:spcPts val="0"/>
              </a:spcAft>
              <a:buNone/>
            </a:pPr>
            <a:endParaRPr>
              <a:latin typeface="+mn-lt"/>
            </a:endParaRPr>
          </a:p>
          <a:p>
            <a:pPr marL="457200" lvl="0" indent="0" algn="l" rtl="0">
              <a:spcBef>
                <a:spcPts val="1000"/>
              </a:spcBef>
              <a:spcAft>
                <a:spcPts val="0"/>
              </a:spcAft>
              <a:buNone/>
            </a:pPr>
            <a:endParaRPr>
              <a:latin typeface="+mn-lt"/>
            </a:endParaRPr>
          </a:p>
        </p:txBody>
      </p:sp>
      <p:sp>
        <p:nvSpPr>
          <p:cNvPr id="385" name="Google Shape;385;p41"/>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pic>
        <p:nvPicPr>
          <p:cNvPr id="386" name="Google Shape;386;p41"/>
          <p:cNvPicPr preferRelativeResize="0"/>
          <p:nvPr/>
        </p:nvPicPr>
        <p:blipFill>
          <a:blip r:embed="rId3">
            <a:alphaModFix/>
          </a:blip>
          <a:stretch>
            <a:fillRect/>
          </a:stretch>
        </p:blipFill>
        <p:spPr>
          <a:xfrm>
            <a:off x="7960225" y="4031750"/>
            <a:ext cx="1095375" cy="1114425"/>
          </a:xfrm>
          <a:prstGeom prst="rect">
            <a:avLst/>
          </a:prstGeom>
          <a:noFill/>
          <a:ln>
            <a:noFill/>
          </a:ln>
        </p:spPr>
      </p:pic>
      <p:pic>
        <p:nvPicPr>
          <p:cNvPr id="387" name="Google Shape;387;p41"/>
          <p:cNvPicPr preferRelativeResize="0"/>
          <p:nvPr/>
        </p:nvPicPr>
        <p:blipFill>
          <a:blip r:embed="rId4">
            <a:alphaModFix/>
          </a:blip>
          <a:stretch>
            <a:fillRect/>
          </a:stretch>
        </p:blipFill>
        <p:spPr>
          <a:xfrm>
            <a:off x="3247713" y="4076775"/>
            <a:ext cx="1095375" cy="1024373"/>
          </a:xfrm>
          <a:prstGeom prst="rect">
            <a:avLst/>
          </a:prstGeom>
          <a:noFill/>
          <a:ln>
            <a:noFill/>
          </a:ln>
        </p:spPr>
      </p:pic>
      <p:pic>
        <p:nvPicPr>
          <p:cNvPr id="388" name="Google Shape;388;p41"/>
          <p:cNvPicPr preferRelativeResize="0"/>
          <p:nvPr/>
        </p:nvPicPr>
        <p:blipFill>
          <a:blip r:embed="rId5">
            <a:alphaModFix/>
          </a:blip>
          <a:stretch>
            <a:fillRect/>
          </a:stretch>
        </p:blipFill>
        <p:spPr>
          <a:xfrm>
            <a:off x="5948138" y="4098425"/>
            <a:ext cx="466725" cy="981075"/>
          </a:xfrm>
          <a:prstGeom prst="rect">
            <a:avLst/>
          </a:prstGeom>
          <a:noFill/>
          <a:ln>
            <a:noFill/>
          </a:ln>
        </p:spPr>
      </p:pic>
      <p:sp>
        <p:nvSpPr>
          <p:cNvPr id="389" name="Google Shape;389;p41"/>
          <p:cNvSpPr txBox="1"/>
          <p:nvPr/>
        </p:nvSpPr>
        <p:spPr>
          <a:xfrm>
            <a:off x="3187900" y="5346250"/>
            <a:ext cx="1215000" cy="445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sz="1600" b="1"/>
              <a:t>Proceso</a:t>
            </a:r>
            <a:endParaRPr sz="1600" b="1"/>
          </a:p>
        </p:txBody>
      </p:sp>
      <p:sp>
        <p:nvSpPr>
          <p:cNvPr id="390" name="Google Shape;390;p41"/>
          <p:cNvSpPr txBox="1"/>
          <p:nvPr/>
        </p:nvSpPr>
        <p:spPr>
          <a:xfrm>
            <a:off x="5574013" y="5346250"/>
            <a:ext cx="1215000" cy="445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sz="1600" b="1"/>
              <a:t>Hilo</a:t>
            </a:r>
            <a:endParaRPr sz="1600" b="1"/>
          </a:p>
        </p:txBody>
      </p:sp>
      <p:sp>
        <p:nvSpPr>
          <p:cNvPr id="391" name="Google Shape;391;p41"/>
          <p:cNvSpPr txBox="1"/>
          <p:nvPr/>
        </p:nvSpPr>
        <p:spPr>
          <a:xfrm>
            <a:off x="7960138" y="5273250"/>
            <a:ext cx="1215000" cy="445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sz="1600" b="1"/>
              <a:t>Archivo ejecutable</a:t>
            </a:r>
            <a:endParaRPr sz="1600" b="1"/>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sp>
        <p:nvSpPr>
          <p:cNvPr id="396" name="Google Shape;396;p42"/>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397" name="Google Shape;397;p42"/>
          <p:cNvSpPr txBox="1">
            <a:spLocks noGrp="1"/>
          </p:cNvSpPr>
          <p:nvPr>
            <p:ph type="body" idx="1"/>
          </p:nvPr>
        </p:nvSpPr>
        <p:spPr>
          <a:xfrm>
            <a:off x="916650" y="932700"/>
            <a:ext cx="105297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Virtualización de la CPU</a:t>
            </a:r>
            <a:endParaRPr sz="2800" b="1" dirty="0">
              <a:solidFill>
                <a:schemeClr val="accent1"/>
              </a:solidFill>
              <a:latin typeface="+mn-lt"/>
            </a:endParaRPr>
          </a:p>
          <a:p>
            <a:pPr marL="457200" lvl="0" indent="-381000" algn="l" rtl="0">
              <a:lnSpc>
                <a:spcPct val="100000"/>
              </a:lnSpc>
              <a:spcBef>
                <a:spcPts val="600"/>
              </a:spcBef>
              <a:spcAft>
                <a:spcPts val="0"/>
              </a:spcAft>
              <a:buSzPts val="2400"/>
              <a:buFont typeface="Times New Roman"/>
              <a:buChar char="●"/>
            </a:pPr>
            <a:r>
              <a:rPr lang="es-ES" dirty="0">
                <a:latin typeface="+mn-lt"/>
              </a:rPr>
              <a:t>El sistema tiene un gran número de </a:t>
            </a:r>
            <a:r>
              <a:rPr lang="es-ES" dirty="0" err="1">
                <a:latin typeface="+mn-lt"/>
              </a:rPr>
              <a:t>CPUs</a:t>
            </a:r>
            <a:r>
              <a:rPr lang="es-ES" dirty="0">
                <a:latin typeface="+mn-lt"/>
              </a:rPr>
              <a:t> virtuales.</a:t>
            </a:r>
            <a:endParaRPr dirty="0">
              <a:latin typeface="+mn-lt"/>
            </a:endParaRPr>
          </a:p>
          <a:p>
            <a:pPr marL="914400" lvl="1" indent="-368300" algn="l" rtl="0">
              <a:lnSpc>
                <a:spcPct val="100000"/>
              </a:lnSpc>
              <a:spcBef>
                <a:spcPts val="0"/>
              </a:spcBef>
              <a:spcAft>
                <a:spcPts val="0"/>
              </a:spcAft>
              <a:buSzPts val="2200"/>
              <a:buFont typeface="Times New Roman"/>
              <a:buChar char="○"/>
            </a:pPr>
            <a:r>
              <a:rPr lang="es-ES" dirty="0">
                <a:latin typeface="+mn-lt"/>
              </a:rPr>
              <a:t>Convierte una CPU en “</a:t>
            </a:r>
            <a:r>
              <a:rPr lang="es-ES" b="1" dirty="0">
                <a:solidFill>
                  <a:srgbClr val="FF0000"/>
                </a:solidFill>
                <a:latin typeface="+mn-lt"/>
              </a:rPr>
              <a:t>infinitas</a:t>
            </a:r>
            <a:r>
              <a:rPr lang="es-ES" dirty="0">
                <a:latin typeface="+mn-lt"/>
              </a:rPr>
              <a:t>” </a:t>
            </a:r>
            <a:r>
              <a:rPr lang="es-ES" dirty="0" err="1">
                <a:latin typeface="+mn-lt"/>
              </a:rPr>
              <a:t>CPUs</a:t>
            </a:r>
            <a:r>
              <a:rPr lang="es-ES" dirty="0">
                <a:latin typeface="+mn-lt"/>
              </a:rPr>
              <a:t> virtuales</a:t>
            </a:r>
            <a:endParaRPr dirty="0">
              <a:latin typeface="+mn-lt"/>
            </a:endParaRPr>
          </a:p>
          <a:p>
            <a:pPr marL="914400" lvl="1" indent="-368300" algn="l" rtl="0">
              <a:lnSpc>
                <a:spcPct val="100000"/>
              </a:lnSpc>
              <a:spcBef>
                <a:spcPts val="0"/>
              </a:spcBef>
              <a:spcAft>
                <a:spcPts val="0"/>
              </a:spcAft>
              <a:buSzPts val="2200"/>
              <a:buFont typeface="Times New Roman"/>
              <a:buChar char="○"/>
            </a:pPr>
            <a:r>
              <a:rPr lang="es-ES" dirty="0">
                <a:latin typeface="+mn-lt"/>
              </a:rPr>
              <a:t>Permite que múltiples programas se ejecuten “</a:t>
            </a:r>
            <a:r>
              <a:rPr lang="es-ES" b="1" dirty="0">
                <a:solidFill>
                  <a:srgbClr val="8BAB42"/>
                </a:solidFill>
                <a:latin typeface="+mn-lt"/>
              </a:rPr>
              <a:t>de manera concurrente</a:t>
            </a:r>
            <a:r>
              <a:rPr lang="es-ES" dirty="0">
                <a:latin typeface="+mn-lt"/>
              </a:rPr>
              <a:t>”</a:t>
            </a:r>
            <a:endParaRPr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9144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grpSp>
        <p:nvGrpSpPr>
          <p:cNvPr id="398" name="Google Shape;398;p42"/>
          <p:cNvGrpSpPr/>
          <p:nvPr/>
        </p:nvGrpSpPr>
        <p:grpSpPr>
          <a:xfrm>
            <a:off x="3992575" y="2963650"/>
            <a:ext cx="5715525" cy="3305162"/>
            <a:chOff x="1396400" y="2931450"/>
            <a:chExt cx="5715525" cy="3305162"/>
          </a:xfrm>
        </p:grpSpPr>
        <p:pic>
          <p:nvPicPr>
            <p:cNvPr id="399" name="Google Shape;399;p42"/>
            <p:cNvPicPr preferRelativeResize="0"/>
            <p:nvPr/>
          </p:nvPicPr>
          <p:blipFill>
            <a:blip r:embed="rId3">
              <a:alphaModFix/>
            </a:blip>
            <a:stretch>
              <a:fillRect/>
            </a:stretch>
          </p:blipFill>
          <p:spPr>
            <a:xfrm>
              <a:off x="1396400" y="2931450"/>
              <a:ext cx="5715525" cy="1931825"/>
            </a:xfrm>
            <a:prstGeom prst="rect">
              <a:avLst/>
            </a:prstGeom>
            <a:noFill/>
            <a:ln>
              <a:noFill/>
            </a:ln>
          </p:spPr>
        </p:pic>
        <p:pic>
          <p:nvPicPr>
            <p:cNvPr id="400" name="Google Shape;400;p42"/>
            <p:cNvPicPr preferRelativeResize="0"/>
            <p:nvPr/>
          </p:nvPicPr>
          <p:blipFill>
            <a:blip r:embed="rId4">
              <a:alphaModFix/>
            </a:blip>
            <a:stretch>
              <a:fillRect/>
            </a:stretch>
          </p:blipFill>
          <p:spPr>
            <a:xfrm>
              <a:off x="3720763" y="5169813"/>
              <a:ext cx="1066800" cy="1066800"/>
            </a:xfrm>
            <a:prstGeom prst="rect">
              <a:avLst/>
            </a:prstGeom>
            <a:noFill/>
            <a:ln>
              <a:noFill/>
            </a:ln>
          </p:spPr>
        </p:pic>
      </p:grpSp>
      <p:grpSp>
        <p:nvGrpSpPr>
          <p:cNvPr id="401" name="Google Shape;401;p42"/>
          <p:cNvGrpSpPr/>
          <p:nvPr/>
        </p:nvGrpSpPr>
        <p:grpSpPr>
          <a:xfrm>
            <a:off x="1056100" y="3291000"/>
            <a:ext cx="2548275" cy="853200"/>
            <a:chOff x="1589500" y="3672000"/>
            <a:chExt cx="2548275" cy="853200"/>
          </a:xfrm>
        </p:grpSpPr>
        <p:sp>
          <p:nvSpPr>
            <p:cNvPr id="402" name="Google Shape;402;p42"/>
            <p:cNvSpPr/>
            <p:nvPr/>
          </p:nvSpPr>
          <p:spPr>
            <a:xfrm>
              <a:off x="1589500" y="3672000"/>
              <a:ext cx="869400" cy="853200"/>
            </a:xfrm>
            <a:prstGeom prst="ellipse">
              <a:avLst/>
            </a:prstGeom>
            <a:solidFill>
              <a:srgbClr val="F4CCCC"/>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42"/>
            <p:cNvSpPr txBox="1"/>
            <p:nvPr/>
          </p:nvSpPr>
          <p:spPr>
            <a:xfrm>
              <a:off x="2560075" y="3913500"/>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t>Proceso</a:t>
              </a:r>
              <a:endParaRPr sz="2000" b="1"/>
            </a:p>
          </p:txBody>
        </p:sp>
      </p:grpSp>
      <p:cxnSp>
        <p:nvCxnSpPr>
          <p:cNvPr id="404" name="Google Shape;404;p42"/>
          <p:cNvCxnSpPr/>
          <p:nvPr/>
        </p:nvCxnSpPr>
        <p:spPr>
          <a:xfrm>
            <a:off x="3799650" y="4959875"/>
            <a:ext cx="8145900" cy="0"/>
          </a:xfrm>
          <a:prstGeom prst="straightConnector1">
            <a:avLst/>
          </a:prstGeom>
          <a:noFill/>
          <a:ln w="38100" cap="flat" cmpd="sng">
            <a:solidFill>
              <a:srgbClr val="FF9900"/>
            </a:solidFill>
            <a:prstDash val="solid"/>
            <a:round/>
            <a:headEnd type="none" w="med" len="med"/>
            <a:tailEnd type="none" w="med" len="med"/>
          </a:ln>
        </p:spPr>
      </p:cxnSp>
      <p:sp>
        <p:nvSpPr>
          <p:cNvPr id="405" name="Google Shape;405;p42"/>
          <p:cNvSpPr txBox="1"/>
          <p:nvPr/>
        </p:nvSpPr>
        <p:spPr>
          <a:xfrm>
            <a:off x="10367850" y="5502950"/>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Recurso</a:t>
            </a:r>
            <a:endParaRPr sz="2000" b="1">
              <a:solidFill>
                <a:srgbClr val="FF9900"/>
              </a:solidFill>
            </a:endParaRPr>
          </a:p>
        </p:txBody>
      </p:sp>
      <p:sp>
        <p:nvSpPr>
          <p:cNvPr id="406" name="Google Shape;406;p42"/>
          <p:cNvSpPr txBox="1"/>
          <p:nvPr/>
        </p:nvSpPr>
        <p:spPr>
          <a:xfrm>
            <a:off x="10445150" y="4046600"/>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Ilusión</a:t>
            </a:r>
            <a:endParaRPr sz="2000" b="1">
              <a:solidFill>
                <a:srgbClr val="FF9900"/>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10"/>
        <p:cNvGrpSpPr/>
        <p:nvPr/>
      </p:nvGrpSpPr>
      <p:grpSpPr>
        <a:xfrm>
          <a:off x="0" y="0"/>
          <a:ext cx="0" cy="0"/>
          <a:chOff x="0" y="0"/>
          <a:chExt cx="0" cy="0"/>
        </a:xfrm>
      </p:grpSpPr>
      <p:sp>
        <p:nvSpPr>
          <p:cNvPr id="411" name="Google Shape;411;p43"/>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412" name="Google Shape;412;p43"/>
          <p:cNvSpPr txBox="1">
            <a:spLocks noGrp="1"/>
          </p:cNvSpPr>
          <p:nvPr>
            <p:ph type="body" idx="1"/>
          </p:nvPr>
        </p:nvSpPr>
        <p:spPr>
          <a:xfrm>
            <a:off x="916650" y="932700"/>
            <a:ext cx="105297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Ejemplo</a:t>
            </a:r>
            <a:endParaRPr sz="2800" b="1" dirty="0">
              <a:solidFill>
                <a:schemeClr val="accent1"/>
              </a:solidFill>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9144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sp>
        <p:nvSpPr>
          <p:cNvPr id="413" name="Google Shape;413;p43"/>
          <p:cNvSpPr txBox="1"/>
          <p:nvPr/>
        </p:nvSpPr>
        <p:spPr>
          <a:xfrm>
            <a:off x="1239975" y="3156825"/>
            <a:ext cx="724500" cy="40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t>cpu.c</a:t>
            </a:r>
            <a:endParaRPr sz="1600" b="1"/>
          </a:p>
        </p:txBody>
      </p:sp>
      <p:pic>
        <p:nvPicPr>
          <p:cNvPr id="414" name="Google Shape;414;p43"/>
          <p:cNvPicPr preferRelativeResize="0"/>
          <p:nvPr/>
        </p:nvPicPr>
        <p:blipFill>
          <a:blip r:embed="rId3">
            <a:alphaModFix/>
          </a:blip>
          <a:stretch>
            <a:fillRect/>
          </a:stretch>
        </p:blipFill>
        <p:spPr>
          <a:xfrm>
            <a:off x="1054538" y="1955025"/>
            <a:ext cx="1095375" cy="1114425"/>
          </a:xfrm>
          <a:prstGeom prst="rect">
            <a:avLst/>
          </a:prstGeom>
          <a:noFill/>
          <a:ln>
            <a:noFill/>
          </a:ln>
        </p:spPr>
      </p:pic>
      <p:sp>
        <p:nvSpPr>
          <p:cNvPr id="415" name="Google Shape;415;p43"/>
          <p:cNvSpPr txBox="1"/>
          <p:nvPr/>
        </p:nvSpPr>
        <p:spPr>
          <a:xfrm>
            <a:off x="2994750" y="1045550"/>
            <a:ext cx="8304000" cy="5414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a:t>
            </a:r>
            <a:r>
              <a:rPr lang="es-ES" sz="1700">
                <a:solidFill>
                  <a:srgbClr val="D73A49"/>
                </a:solidFill>
                <a:highlight>
                  <a:srgbClr val="FFFFFF"/>
                </a:highlight>
                <a:latin typeface="Consolas"/>
                <a:ea typeface="Consolas"/>
                <a:cs typeface="Consolas"/>
                <a:sym typeface="Consolas"/>
              </a:rPr>
              <a:t>include</a:t>
            </a:r>
            <a:r>
              <a:rPr lang="es-ES" sz="1700">
                <a:solidFill>
                  <a:srgbClr val="24292E"/>
                </a:solidFill>
                <a:highlight>
                  <a:srgbClr val="FFFFFF"/>
                </a:highlight>
                <a:latin typeface="Consolas"/>
                <a:ea typeface="Consolas"/>
                <a:cs typeface="Consolas"/>
                <a:sym typeface="Consolas"/>
              </a:rPr>
              <a:t> </a:t>
            </a:r>
            <a:r>
              <a:rPr lang="es-ES" sz="1700">
                <a:solidFill>
                  <a:srgbClr val="032F62"/>
                </a:solidFill>
                <a:highlight>
                  <a:srgbClr val="FFFFFF"/>
                </a:highlight>
                <a:latin typeface="Consolas"/>
                <a:ea typeface="Consolas"/>
                <a:cs typeface="Consolas"/>
                <a:sym typeface="Consolas"/>
              </a:rPr>
              <a:t>&lt;stdio.h&gt;</a:t>
            </a:r>
            <a:endParaRPr sz="17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a:t>
            </a:r>
            <a:r>
              <a:rPr lang="es-ES" sz="1700">
                <a:solidFill>
                  <a:srgbClr val="D73A49"/>
                </a:solidFill>
                <a:highlight>
                  <a:srgbClr val="FFFFFF"/>
                </a:highlight>
                <a:latin typeface="Consolas"/>
                <a:ea typeface="Consolas"/>
                <a:cs typeface="Consolas"/>
                <a:sym typeface="Consolas"/>
              </a:rPr>
              <a:t>include</a:t>
            </a:r>
            <a:r>
              <a:rPr lang="es-ES" sz="1700">
                <a:solidFill>
                  <a:srgbClr val="24292E"/>
                </a:solidFill>
                <a:highlight>
                  <a:srgbClr val="FFFFFF"/>
                </a:highlight>
                <a:latin typeface="Consolas"/>
                <a:ea typeface="Consolas"/>
                <a:cs typeface="Consolas"/>
                <a:sym typeface="Consolas"/>
              </a:rPr>
              <a:t> </a:t>
            </a:r>
            <a:r>
              <a:rPr lang="es-ES" sz="1700">
                <a:solidFill>
                  <a:srgbClr val="032F62"/>
                </a:solidFill>
                <a:highlight>
                  <a:srgbClr val="FFFFFF"/>
                </a:highlight>
                <a:latin typeface="Consolas"/>
                <a:ea typeface="Consolas"/>
                <a:cs typeface="Consolas"/>
                <a:sym typeface="Consolas"/>
              </a:rPr>
              <a:t>&lt;stdlib.h&gt;</a:t>
            </a:r>
            <a:endParaRPr sz="17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a:t>
            </a:r>
            <a:r>
              <a:rPr lang="es-ES" sz="1700">
                <a:solidFill>
                  <a:srgbClr val="D73A49"/>
                </a:solidFill>
                <a:highlight>
                  <a:srgbClr val="FFFFFF"/>
                </a:highlight>
                <a:latin typeface="Consolas"/>
                <a:ea typeface="Consolas"/>
                <a:cs typeface="Consolas"/>
                <a:sym typeface="Consolas"/>
              </a:rPr>
              <a:t>include</a:t>
            </a:r>
            <a:r>
              <a:rPr lang="es-ES" sz="1700">
                <a:solidFill>
                  <a:srgbClr val="24292E"/>
                </a:solidFill>
                <a:highlight>
                  <a:srgbClr val="FFFFFF"/>
                </a:highlight>
                <a:latin typeface="Consolas"/>
                <a:ea typeface="Consolas"/>
                <a:cs typeface="Consolas"/>
                <a:sym typeface="Consolas"/>
              </a:rPr>
              <a:t> </a:t>
            </a:r>
            <a:r>
              <a:rPr lang="es-ES" sz="1700">
                <a:solidFill>
                  <a:srgbClr val="032F62"/>
                </a:solidFill>
                <a:highlight>
                  <a:srgbClr val="FFFFFF"/>
                </a:highlight>
                <a:latin typeface="Consolas"/>
                <a:ea typeface="Consolas"/>
                <a:cs typeface="Consolas"/>
                <a:sym typeface="Consolas"/>
              </a:rPr>
              <a:t>"common.h"</a:t>
            </a:r>
            <a:endParaRPr sz="17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D73A49"/>
                </a:solidFill>
                <a:highlight>
                  <a:srgbClr val="FFFFFF"/>
                </a:highlight>
                <a:latin typeface="Consolas"/>
                <a:ea typeface="Consolas"/>
                <a:cs typeface="Consolas"/>
                <a:sym typeface="Consolas"/>
              </a:rPr>
              <a:t>int</a:t>
            </a:r>
            <a:r>
              <a:rPr lang="es-ES" sz="1700">
                <a:solidFill>
                  <a:srgbClr val="24292E"/>
                </a:solidFill>
                <a:highlight>
                  <a:srgbClr val="FFFFFF"/>
                </a:highlight>
                <a:latin typeface="Consolas"/>
                <a:ea typeface="Consolas"/>
                <a:cs typeface="Consolas"/>
                <a:sym typeface="Consolas"/>
              </a:rPr>
              <a:t> </a:t>
            </a:r>
            <a:r>
              <a:rPr lang="es-ES" sz="1700">
                <a:solidFill>
                  <a:srgbClr val="6F42C1"/>
                </a:solidFill>
                <a:highlight>
                  <a:srgbClr val="FFFFFF"/>
                </a:highlight>
                <a:latin typeface="Consolas"/>
                <a:ea typeface="Consolas"/>
                <a:cs typeface="Consolas"/>
                <a:sym typeface="Consolas"/>
              </a:rPr>
              <a:t>main</a:t>
            </a:r>
            <a:r>
              <a:rPr lang="es-ES" sz="1700">
                <a:solidFill>
                  <a:srgbClr val="24292E"/>
                </a:solidFill>
                <a:highlight>
                  <a:srgbClr val="FFFFFF"/>
                </a:highlight>
                <a:latin typeface="Consolas"/>
                <a:ea typeface="Consolas"/>
                <a:cs typeface="Consolas"/>
                <a:sym typeface="Consolas"/>
              </a:rPr>
              <a:t>(</a:t>
            </a:r>
            <a:r>
              <a:rPr lang="es-ES" sz="1700">
                <a:solidFill>
                  <a:srgbClr val="D73A49"/>
                </a:solidFill>
                <a:highlight>
                  <a:srgbClr val="FFFFFF"/>
                </a:highlight>
                <a:latin typeface="Consolas"/>
                <a:ea typeface="Consolas"/>
                <a:cs typeface="Consolas"/>
                <a:sym typeface="Consolas"/>
              </a:rPr>
              <a:t>int</a:t>
            </a:r>
            <a:r>
              <a:rPr lang="es-ES" sz="1700">
                <a:solidFill>
                  <a:srgbClr val="24292E"/>
                </a:solidFill>
                <a:highlight>
                  <a:srgbClr val="FFFFFF"/>
                </a:highlight>
                <a:latin typeface="Consolas"/>
                <a:ea typeface="Consolas"/>
                <a:cs typeface="Consolas"/>
                <a:sym typeface="Consolas"/>
              </a:rPr>
              <a:t> argc, </a:t>
            </a:r>
            <a:r>
              <a:rPr lang="es-ES" sz="1700">
                <a:solidFill>
                  <a:srgbClr val="D73A49"/>
                </a:solidFill>
                <a:highlight>
                  <a:srgbClr val="FFFFFF"/>
                </a:highlight>
                <a:latin typeface="Consolas"/>
                <a:ea typeface="Consolas"/>
                <a:cs typeface="Consolas"/>
                <a:sym typeface="Consolas"/>
              </a:rPr>
              <a:t>char</a:t>
            </a:r>
            <a:r>
              <a:rPr lang="es-ES" sz="1700">
                <a:solidFill>
                  <a:srgbClr val="24292E"/>
                </a:solidFill>
                <a:highlight>
                  <a:srgbClr val="FFFFFF"/>
                </a:highlight>
                <a:latin typeface="Consolas"/>
                <a:ea typeface="Consolas"/>
                <a:cs typeface="Consolas"/>
                <a:sym typeface="Consolas"/>
              </a:rPr>
              <a:t> *argv[])</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r>
              <a:rPr lang="es-ES" sz="1700">
                <a:solidFill>
                  <a:srgbClr val="D73A49"/>
                </a:solidFill>
                <a:highlight>
                  <a:srgbClr val="FFFFFF"/>
                </a:highlight>
                <a:latin typeface="Consolas"/>
                <a:ea typeface="Consolas"/>
                <a:cs typeface="Consolas"/>
                <a:sym typeface="Consolas"/>
              </a:rPr>
              <a:t>if</a:t>
            </a:r>
            <a:r>
              <a:rPr lang="es-ES" sz="1700">
                <a:solidFill>
                  <a:srgbClr val="24292E"/>
                </a:solidFill>
                <a:highlight>
                  <a:srgbClr val="FFFFFF"/>
                </a:highlight>
                <a:latin typeface="Consolas"/>
                <a:ea typeface="Consolas"/>
                <a:cs typeface="Consolas"/>
                <a:sym typeface="Consolas"/>
              </a:rPr>
              <a:t> (argc != </a:t>
            </a:r>
            <a:r>
              <a:rPr lang="es-ES" sz="1700">
                <a:solidFill>
                  <a:srgbClr val="005CC5"/>
                </a:solidFill>
                <a:highlight>
                  <a:srgbClr val="FFFFFF"/>
                </a:highlight>
                <a:latin typeface="Consolas"/>
                <a:ea typeface="Consolas"/>
                <a:cs typeface="Consolas"/>
                <a:sym typeface="Consolas"/>
              </a:rPr>
              <a:t>2</a:t>
            </a:r>
            <a:r>
              <a:rPr lang="es-ES" sz="1700">
                <a:solidFill>
                  <a:srgbClr val="24292E"/>
                </a:solidFill>
                <a:highlight>
                  <a:srgbClr val="FFFFFF"/>
                </a:highlight>
                <a:latin typeface="Consolas"/>
                <a:ea typeface="Consolas"/>
                <a:cs typeface="Consolas"/>
                <a:sym typeface="Consolas"/>
              </a:rPr>
              <a:t>) {</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r>
              <a:rPr lang="es-ES" sz="1700">
                <a:solidFill>
                  <a:srgbClr val="005CC5"/>
                </a:solidFill>
                <a:highlight>
                  <a:srgbClr val="FFFFFF"/>
                </a:highlight>
                <a:latin typeface="Consolas"/>
                <a:ea typeface="Consolas"/>
                <a:cs typeface="Consolas"/>
                <a:sym typeface="Consolas"/>
              </a:rPr>
              <a:t>fprintf</a:t>
            </a:r>
            <a:r>
              <a:rPr lang="es-ES" sz="1700">
                <a:solidFill>
                  <a:srgbClr val="24292E"/>
                </a:solidFill>
                <a:highlight>
                  <a:srgbClr val="FFFFFF"/>
                </a:highlight>
                <a:latin typeface="Consolas"/>
                <a:ea typeface="Consolas"/>
                <a:cs typeface="Consolas"/>
                <a:sym typeface="Consolas"/>
              </a:rPr>
              <a:t>(stderr, </a:t>
            </a:r>
            <a:r>
              <a:rPr lang="es-ES" sz="1700">
                <a:solidFill>
                  <a:srgbClr val="032F62"/>
                </a:solidFill>
                <a:highlight>
                  <a:srgbClr val="FFFFFF"/>
                </a:highlight>
                <a:latin typeface="Consolas"/>
                <a:ea typeface="Consolas"/>
                <a:cs typeface="Consolas"/>
                <a:sym typeface="Consolas"/>
              </a:rPr>
              <a:t>"usage: cpu &lt;string&gt;\n"</a:t>
            </a:r>
            <a:r>
              <a:rPr lang="es-ES" sz="1700">
                <a:solidFill>
                  <a:srgbClr val="24292E"/>
                </a:solidFill>
                <a:highlight>
                  <a:srgbClr val="FFFFFF"/>
                </a:highlight>
                <a:latin typeface="Consolas"/>
                <a:ea typeface="Consolas"/>
                <a:cs typeface="Consolas"/>
                <a:sym typeface="Consolas"/>
              </a:rPr>
              <a:t>);</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r>
              <a:rPr lang="es-ES" sz="1700">
                <a:solidFill>
                  <a:srgbClr val="005CC5"/>
                </a:solidFill>
                <a:highlight>
                  <a:srgbClr val="FFFFFF"/>
                </a:highlight>
                <a:latin typeface="Consolas"/>
                <a:ea typeface="Consolas"/>
                <a:cs typeface="Consolas"/>
                <a:sym typeface="Consolas"/>
              </a:rPr>
              <a:t>exit</a:t>
            </a:r>
            <a:r>
              <a:rPr lang="es-ES" sz="1700">
                <a:solidFill>
                  <a:srgbClr val="24292E"/>
                </a:solidFill>
                <a:highlight>
                  <a:srgbClr val="FFFFFF"/>
                </a:highlight>
                <a:latin typeface="Consolas"/>
                <a:ea typeface="Consolas"/>
                <a:cs typeface="Consolas"/>
                <a:sym typeface="Consolas"/>
              </a:rPr>
              <a:t>(</a:t>
            </a:r>
            <a:r>
              <a:rPr lang="es-ES" sz="1700">
                <a:solidFill>
                  <a:srgbClr val="005CC5"/>
                </a:solidFill>
                <a:highlight>
                  <a:srgbClr val="FFFFFF"/>
                </a:highlight>
                <a:latin typeface="Consolas"/>
                <a:ea typeface="Consolas"/>
                <a:cs typeface="Consolas"/>
                <a:sym typeface="Consolas"/>
              </a:rPr>
              <a:t>1</a:t>
            </a:r>
            <a:r>
              <a:rPr lang="es-ES" sz="1700">
                <a:solidFill>
                  <a:srgbClr val="24292E"/>
                </a:solidFill>
                <a:highlight>
                  <a:srgbClr val="FFFFFF"/>
                </a:highlight>
                <a:latin typeface="Consolas"/>
                <a:ea typeface="Consolas"/>
                <a:cs typeface="Consolas"/>
                <a:sym typeface="Consolas"/>
              </a:rPr>
              <a:t>);</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r>
              <a:rPr lang="es-ES" sz="1700">
                <a:solidFill>
                  <a:srgbClr val="D73A49"/>
                </a:solidFill>
                <a:highlight>
                  <a:srgbClr val="FFFFFF"/>
                </a:highlight>
                <a:latin typeface="Consolas"/>
                <a:ea typeface="Consolas"/>
                <a:cs typeface="Consolas"/>
                <a:sym typeface="Consolas"/>
              </a:rPr>
              <a:t>char</a:t>
            </a:r>
            <a:r>
              <a:rPr lang="es-ES" sz="1700">
                <a:solidFill>
                  <a:srgbClr val="24292E"/>
                </a:solidFill>
                <a:highlight>
                  <a:srgbClr val="FFFFFF"/>
                </a:highlight>
                <a:latin typeface="Consolas"/>
                <a:ea typeface="Consolas"/>
                <a:cs typeface="Consolas"/>
                <a:sym typeface="Consolas"/>
              </a:rPr>
              <a:t> *str = argv[</a:t>
            </a:r>
            <a:r>
              <a:rPr lang="es-ES" sz="1700">
                <a:solidFill>
                  <a:srgbClr val="005CC5"/>
                </a:solidFill>
                <a:highlight>
                  <a:srgbClr val="FFFFFF"/>
                </a:highlight>
                <a:latin typeface="Consolas"/>
                <a:ea typeface="Consolas"/>
                <a:cs typeface="Consolas"/>
                <a:sym typeface="Consolas"/>
              </a:rPr>
              <a:t>1</a:t>
            </a:r>
            <a:r>
              <a:rPr lang="es-ES" sz="1700">
                <a:solidFill>
                  <a:srgbClr val="24292E"/>
                </a:solidFill>
                <a:highlight>
                  <a:srgbClr val="FFFFFF"/>
                </a:highlight>
                <a:latin typeface="Consolas"/>
                <a:ea typeface="Consolas"/>
                <a:cs typeface="Consolas"/>
                <a:sym typeface="Consolas"/>
              </a:rPr>
              <a:t>];</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r>
              <a:rPr lang="es-ES" sz="1700">
                <a:solidFill>
                  <a:srgbClr val="D73A49"/>
                </a:solidFill>
                <a:highlight>
                  <a:srgbClr val="FFFFFF"/>
                </a:highlight>
                <a:latin typeface="Consolas"/>
                <a:ea typeface="Consolas"/>
                <a:cs typeface="Consolas"/>
                <a:sym typeface="Consolas"/>
              </a:rPr>
              <a:t>while</a:t>
            </a:r>
            <a:r>
              <a:rPr lang="es-ES" sz="1700">
                <a:solidFill>
                  <a:srgbClr val="24292E"/>
                </a:solidFill>
                <a:highlight>
                  <a:srgbClr val="FFFFFF"/>
                </a:highlight>
                <a:latin typeface="Consolas"/>
                <a:ea typeface="Consolas"/>
                <a:cs typeface="Consolas"/>
                <a:sym typeface="Consolas"/>
              </a:rPr>
              <a:t> (</a:t>
            </a:r>
            <a:r>
              <a:rPr lang="es-ES" sz="1700">
                <a:solidFill>
                  <a:srgbClr val="005CC5"/>
                </a:solidFill>
                <a:highlight>
                  <a:srgbClr val="FFFFFF"/>
                </a:highlight>
                <a:latin typeface="Consolas"/>
                <a:ea typeface="Consolas"/>
                <a:cs typeface="Consolas"/>
                <a:sym typeface="Consolas"/>
              </a:rPr>
              <a:t>1</a:t>
            </a:r>
            <a:r>
              <a:rPr lang="es-ES" sz="1700">
                <a:solidFill>
                  <a:srgbClr val="24292E"/>
                </a:solidFill>
                <a:highlight>
                  <a:srgbClr val="FFFFFF"/>
                </a:highlight>
                <a:latin typeface="Consolas"/>
                <a:ea typeface="Consolas"/>
                <a:cs typeface="Consolas"/>
                <a:sym typeface="Consolas"/>
              </a:rPr>
              <a:t>) {</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r>
              <a:rPr lang="es-ES" sz="1700">
                <a:solidFill>
                  <a:srgbClr val="005CC5"/>
                </a:solidFill>
                <a:highlight>
                  <a:srgbClr val="FFFFFF"/>
                </a:highlight>
                <a:latin typeface="Consolas"/>
                <a:ea typeface="Consolas"/>
                <a:cs typeface="Consolas"/>
                <a:sym typeface="Consolas"/>
              </a:rPr>
              <a:t>printf</a:t>
            </a:r>
            <a:r>
              <a:rPr lang="es-ES" sz="1700">
                <a:solidFill>
                  <a:srgbClr val="24292E"/>
                </a:solidFill>
                <a:highlight>
                  <a:srgbClr val="FFFFFF"/>
                </a:highlight>
                <a:latin typeface="Consolas"/>
                <a:ea typeface="Consolas"/>
                <a:cs typeface="Consolas"/>
                <a:sym typeface="Consolas"/>
              </a:rPr>
              <a:t>(</a:t>
            </a:r>
            <a:r>
              <a:rPr lang="es-ES" sz="1700">
                <a:solidFill>
                  <a:srgbClr val="032F62"/>
                </a:solidFill>
                <a:highlight>
                  <a:srgbClr val="FFFFFF"/>
                </a:highlight>
                <a:latin typeface="Consolas"/>
                <a:ea typeface="Consolas"/>
                <a:cs typeface="Consolas"/>
                <a:sym typeface="Consolas"/>
              </a:rPr>
              <a:t>"</a:t>
            </a:r>
            <a:r>
              <a:rPr lang="es-ES" sz="1700">
                <a:solidFill>
                  <a:srgbClr val="005CC5"/>
                </a:solidFill>
                <a:highlight>
                  <a:srgbClr val="FFFFFF"/>
                </a:highlight>
                <a:latin typeface="Consolas"/>
                <a:ea typeface="Consolas"/>
                <a:cs typeface="Consolas"/>
                <a:sym typeface="Consolas"/>
              </a:rPr>
              <a:t>%s</a:t>
            </a:r>
            <a:r>
              <a:rPr lang="es-ES" sz="1700">
                <a:solidFill>
                  <a:srgbClr val="032F62"/>
                </a:solidFill>
                <a:highlight>
                  <a:srgbClr val="FFFFFF"/>
                </a:highlight>
                <a:latin typeface="Consolas"/>
                <a:ea typeface="Consolas"/>
                <a:cs typeface="Consolas"/>
                <a:sym typeface="Consolas"/>
              </a:rPr>
              <a:t>\n"</a:t>
            </a:r>
            <a:r>
              <a:rPr lang="es-ES" sz="1700">
                <a:solidFill>
                  <a:srgbClr val="24292E"/>
                </a:solidFill>
                <a:highlight>
                  <a:srgbClr val="FFFFFF"/>
                </a:highlight>
                <a:latin typeface="Consolas"/>
                <a:ea typeface="Consolas"/>
                <a:cs typeface="Consolas"/>
                <a:sym typeface="Consolas"/>
              </a:rPr>
              <a:t>, str);</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r>
              <a:rPr lang="es-ES" sz="1700">
                <a:solidFill>
                  <a:srgbClr val="005CC5"/>
                </a:solidFill>
                <a:highlight>
                  <a:srgbClr val="FFFFFF"/>
                </a:highlight>
                <a:latin typeface="Consolas"/>
                <a:ea typeface="Consolas"/>
                <a:cs typeface="Consolas"/>
                <a:sym typeface="Consolas"/>
              </a:rPr>
              <a:t>Spin</a:t>
            </a:r>
            <a:r>
              <a:rPr lang="es-ES" sz="1700">
                <a:solidFill>
                  <a:srgbClr val="24292E"/>
                </a:solidFill>
                <a:highlight>
                  <a:srgbClr val="FFFFFF"/>
                </a:highlight>
                <a:latin typeface="Consolas"/>
                <a:ea typeface="Consolas"/>
                <a:cs typeface="Consolas"/>
                <a:sym typeface="Consolas"/>
              </a:rPr>
              <a:t>(</a:t>
            </a:r>
            <a:r>
              <a:rPr lang="es-ES" sz="1700">
                <a:solidFill>
                  <a:srgbClr val="005CC5"/>
                </a:solidFill>
                <a:highlight>
                  <a:srgbClr val="FFFFFF"/>
                </a:highlight>
                <a:latin typeface="Consolas"/>
                <a:ea typeface="Consolas"/>
                <a:cs typeface="Consolas"/>
                <a:sym typeface="Consolas"/>
              </a:rPr>
              <a:t>1</a:t>
            </a:r>
            <a:r>
              <a:rPr lang="es-ES" sz="1700">
                <a:solidFill>
                  <a:srgbClr val="24292E"/>
                </a:solidFill>
                <a:highlight>
                  <a:srgbClr val="FFFFFF"/>
                </a:highlight>
                <a:latin typeface="Consolas"/>
                <a:ea typeface="Consolas"/>
                <a:cs typeface="Consolas"/>
                <a:sym typeface="Consolas"/>
              </a:rPr>
              <a:t>);</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r>
              <a:rPr lang="es-ES" sz="1700">
                <a:solidFill>
                  <a:srgbClr val="D73A49"/>
                </a:solidFill>
                <a:highlight>
                  <a:srgbClr val="FFFFFF"/>
                </a:highlight>
                <a:latin typeface="Consolas"/>
                <a:ea typeface="Consolas"/>
                <a:cs typeface="Consolas"/>
                <a:sym typeface="Consolas"/>
              </a:rPr>
              <a:t>return</a:t>
            </a:r>
            <a:r>
              <a:rPr lang="es-ES" sz="1700">
                <a:solidFill>
                  <a:srgbClr val="24292E"/>
                </a:solidFill>
                <a:highlight>
                  <a:srgbClr val="FFFFFF"/>
                </a:highlight>
                <a:latin typeface="Consolas"/>
                <a:ea typeface="Consolas"/>
                <a:cs typeface="Consolas"/>
                <a:sym typeface="Consolas"/>
              </a:rPr>
              <a:t> </a:t>
            </a:r>
            <a:r>
              <a:rPr lang="es-ES" sz="1700">
                <a:solidFill>
                  <a:srgbClr val="005CC5"/>
                </a:solidFill>
                <a:highlight>
                  <a:srgbClr val="FFFFFF"/>
                </a:highlight>
                <a:latin typeface="Consolas"/>
                <a:ea typeface="Consolas"/>
                <a:cs typeface="Consolas"/>
                <a:sym typeface="Consolas"/>
              </a:rPr>
              <a:t>0</a:t>
            </a:r>
            <a:r>
              <a:rPr lang="es-ES" sz="1700">
                <a:solidFill>
                  <a:srgbClr val="24292E"/>
                </a:solidFill>
                <a:highlight>
                  <a:srgbClr val="FFFFFF"/>
                </a:highlight>
                <a:latin typeface="Consolas"/>
                <a:ea typeface="Consolas"/>
                <a:cs typeface="Consolas"/>
                <a:sym typeface="Consolas"/>
              </a:rPr>
              <a:t>;</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a:t>
            </a:r>
            <a:endParaRPr sz="1700">
              <a:solidFill>
                <a:srgbClr val="24292E"/>
              </a:solidFill>
              <a:highlight>
                <a:srgbClr val="FFFFFF"/>
              </a:highlight>
              <a:latin typeface="Consolas"/>
              <a:ea typeface="Consolas"/>
              <a:cs typeface="Consolas"/>
              <a:sym typeface="Consolas"/>
            </a:endParaRPr>
          </a:p>
          <a:p>
            <a:pPr marL="0" lvl="0" indent="0" algn="l" rtl="0">
              <a:spcBef>
                <a:spcPts val="0"/>
              </a:spcBef>
              <a:spcAft>
                <a:spcPts val="0"/>
              </a:spcAft>
              <a:buNone/>
            </a:pP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0" name="Google Shape;420;p44"/>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421" name="Google Shape;421;p44"/>
          <p:cNvSpPr txBox="1">
            <a:spLocks noGrp="1"/>
          </p:cNvSpPr>
          <p:nvPr>
            <p:ph type="body" idx="1"/>
          </p:nvPr>
        </p:nvSpPr>
        <p:spPr>
          <a:xfrm>
            <a:off x="916650" y="932700"/>
            <a:ext cx="105297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Virtualización de la CPU</a:t>
            </a:r>
            <a:endParaRPr sz="2800" b="1" dirty="0">
              <a:solidFill>
                <a:schemeClr val="accent1"/>
              </a:solidFill>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9144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pic>
        <p:nvPicPr>
          <p:cNvPr id="422" name="Google Shape;422;p44"/>
          <p:cNvPicPr preferRelativeResize="0"/>
          <p:nvPr/>
        </p:nvPicPr>
        <p:blipFill>
          <a:blip r:embed="rId3">
            <a:alphaModFix/>
          </a:blip>
          <a:stretch>
            <a:fillRect/>
          </a:stretch>
        </p:blipFill>
        <p:spPr>
          <a:xfrm>
            <a:off x="2638025" y="1623513"/>
            <a:ext cx="1924050" cy="2305050"/>
          </a:xfrm>
          <a:prstGeom prst="rect">
            <a:avLst/>
          </a:prstGeom>
          <a:noFill/>
          <a:ln>
            <a:noFill/>
          </a:ln>
        </p:spPr>
      </p:pic>
      <p:pic>
        <p:nvPicPr>
          <p:cNvPr id="423" name="Google Shape;423;p44"/>
          <p:cNvPicPr preferRelativeResize="0"/>
          <p:nvPr/>
        </p:nvPicPr>
        <p:blipFill>
          <a:blip r:embed="rId4">
            <a:alphaModFix/>
          </a:blip>
          <a:stretch>
            <a:fillRect/>
          </a:stretch>
        </p:blipFill>
        <p:spPr>
          <a:xfrm>
            <a:off x="2907225" y="4281150"/>
            <a:ext cx="1066800" cy="1066800"/>
          </a:xfrm>
          <a:prstGeom prst="rect">
            <a:avLst/>
          </a:prstGeom>
          <a:noFill/>
          <a:ln>
            <a:noFill/>
          </a:ln>
        </p:spPr>
      </p:pic>
      <p:cxnSp>
        <p:nvCxnSpPr>
          <p:cNvPr id="424" name="Google Shape;424;p44"/>
          <p:cNvCxnSpPr/>
          <p:nvPr/>
        </p:nvCxnSpPr>
        <p:spPr>
          <a:xfrm>
            <a:off x="1014600" y="3913475"/>
            <a:ext cx="3622200" cy="0"/>
          </a:xfrm>
          <a:prstGeom prst="straightConnector1">
            <a:avLst/>
          </a:prstGeom>
          <a:noFill/>
          <a:ln w="38100" cap="flat" cmpd="sng">
            <a:solidFill>
              <a:srgbClr val="FF9900"/>
            </a:solidFill>
            <a:prstDash val="solid"/>
            <a:round/>
            <a:headEnd type="none" w="med" len="med"/>
            <a:tailEnd type="none" w="med" len="med"/>
          </a:ln>
        </p:spPr>
      </p:cxnSp>
      <p:sp>
        <p:nvSpPr>
          <p:cNvPr id="425" name="Google Shape;425;p44"/>
          <p:cNvSpPr txBox="1"/>
          <p:nvPr/>
        </p:nvSpPr>
        <p:spPr>
          <a:xfrm>
            <a:off x="1060325" y="2662125"/>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Ilusión</a:t>
            </a:r>
            <a:endParaRPr sz="2000" b="1">
              <a:solidFill>
                <a:srgbClr val="FF9900"/>
              </a:solidFill>
            </a:endParaRPr>
          </a:p>
        </p:txBody>
      </p:sp>
      <p:sp>
        <p:nvSpPr>
          <p:cNvPr id="426" name="Google Shape;426;p44"/>
          <p:cNvSpPr txBox="1"/>
          <p:nvPr/>
        </p:nvSpPr>
        <p:spPr>
          <a:xfrm>
            <a:off x="1060325" y="4648900"/>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Recurso</a:t>
            </a:r>
            <a:endParaRPr sz="2000" b="1">
              <a:solidFill>
                <a:srgbClr val="FF9900"/>
              </a:solidFill>
            </a:endParaRPr>
          </a:p>
        </p:txBody>
      </p:sp>
      <p:pic>
        <p:nvPicPr>
          <p:cNvPr id="427" name="Google Shape;427;p44"/>
          <p:cNvPicPr preferRelativeResize="0"/>
          <p:nvPr/>
        </p:nvPicPr>
        <p:blipFill>
          <a:blip r:embed="rId5">
            <a:alphaModFix/>
          </a:blip>
          <a:stretch>
            <a:fillRect/>
          </a:stretch>
        </p:blipFill>
        <p:spPr>
          <a:xfrm>
            <a:off x="5707425" y="2265259"/>
            <a:ext cx="5400850" cy="2753841"/>
          </a:xfrm>
          <a:prstGeom prst="rect">
            <a:avLst/>
          </a:prstGeom>
          <a:noFill/>
          <a:ln>
            <a:noFill/>
          </a:ln>
        </p:spPr>
      </p:pic>
      <p:sp>
        <p:nvSpPr>
          <p:cNvPr id="428" name="Google Shape;428;p44"/>
          <p:cNvSpPr txBox="1"/>
          <p:nvPr/>
        </p:nvSpPr>
        <p:spPr>
          <a:xfrm>
            <a:off x="990675" y="5739425"/>
            <a:ext cx="10529700" cy="370200"/>
          </a:xfrm>
          <a:prstGeom prst="rect">
            <a:avLst/>
          </a:prstGeom>
          <a:solidFill>
            <a:schemeClr val="lt2"/>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latin typeface="Roboto"/>
                <a:ea typeface="Roboto"/>
                <a:cs typeface="Roboto"/>
                <a:sym typeface="Roboto"/>
              </a:rPr>
              <a:t>Ver video</a:t>
            </a:r>
            <a:r>
              <a:rPr lang="es-ES" sz="1600">
                <a:latin typeface="Roboto"/>
                <a:ea typeface="Roboto"/>
                <a:cs typeface="Roboto"/>
                <a:sym typeface="Roboto"/>
              </a:rPr>
              <a:t>: C01P10 - Virtualización de la CPU: Ejemplos - ISI485 Sistemas Operativos (</a:t>
            </a:r>
            <a:r>
              <a:rPr lang="es-ES" sz="1600" u="sng">
                <a:solidFill>
                  <a:schemeClr val="hlink"/>
                </a:solidFill>
                <a:latin typeface="Roboto"/>
                <a:ea typeface="Roboto"/>
                <a:cs typeface="Roboto"/>
                <a:sym typeface="Roboto"/>
                <a:hlinkClick r:id="rId6"/>
              </a:rPr>
              <a:t>link</a:t>
            </a:r>
            <a:r>
              <a:rPr lang="es-ES" sz="1600">
                <a:latin typeface="Roboto"/>
                <a:ea typeface="Roboto"/>
                <a:cs typeface="Roboto"/>
                <a:sym typeface="Roboto"/>
              </a:rPr>
              <a:t>)</a:t>
            </a:r>
            <a:endParaRPr sz="1600">
              <a:latin typeface="Roboto"/>
              <a:ea typeface="Roboto"/>
              <a:cs typeface="Roboto"/>
              <a:sym typeface="Robot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45"/>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latin typeface="+mj-lt"/>
              </a:rPr>
              <a:t>Virtualización de recursos</a:t>
            </a:r>
            <a:endParaRPr>
              <a:latin typeface="+mj-lt"/>
            </a:endParaRPr>
          </a:p>
        </p:txBody>
      </p:sp>
      <p:sp>
        <p:nvSpPr>
          <p:cNvPr id="434" name="Google Shape;434;p45"/>
          <p:cNvSpPr txBox="1">
            <a:spLocks noGrp="1"/>
          </p:cNvSpPr>
          <p:nvPr>
            <p:ph type="body" idx="1"/>
          </p:nvPr>
        </p:nvSpPr>
        <p:spPr>
          <a:xfrm>
            <a:off x="916650" y="932700"/>
            <a:ext cx="105297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Virtualización de la CPU</a:t>
            </a:r>
            <a:endParaRPr sz="2800" b="1" dirty="0">
              <a:solidFill>
                <a:schemeClr val="accent1"/>
              </a:solidFill>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9144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pic>
        <p:nvPicPr>
          <p:cNvPr id="435" name="Google Shape;435;p45"/>
          <p:cNvPicPr preferRelativeResize="0"/>
          <p:nvPr/>
        </p:nvPicPr>
        <p:blipFill>
          <a:blip r:embed="rId3">
            <a:alphaModFix/>
          </a:blip>
          <a:stretch>
            <a:fillRect/>
          </a:stretch>
        </p:blipFill>
        <p:spPr>
          <a:xfrm>
            <a:off x="1565900" y="2122325"/>
            <a:ext cx="5340775" cy="4030775"/>
          </a:xfrm>
          <a:prstGeom prst="rect">
            <a:avLst/>
          </a:prstGeom>
          <a:noFill/>
          <a:ln>
            <a:noFill/>
          </a:ln>
        </p:spPr>
      </p:pic>
      <p:cxnSp>
        <p:nvCxnSpPr>
          <p:cNvPr id="436" name="Google Shape;436;p45"/>
          <p:cNvCxnSpPr/>
          <p:nvPr/>
        </p:nvCxnSpPr>
        <p:spPr>
          <a:xfrm rot="10800000" flipH="1">
            <a:off x="916650" y="4460800"/>
            <a:ext cx="5410500" cy="20400"/>
          </a:xfrm>
          <a:prstGeom prst="straightConnector1">
            <a:avLst/>
          </a:prstGeom>
          <a:noFill/>
          <a:ln w="38100" cap="flat" cmpd="sng">
            <a:solidFill>
              <a:srgbClr val="FF9900"/>
            </a:solidFill>
            <a:prstDash val="solid"/>
            <a:round/>
            <a:headEnd type="none" w="med" len="med"/>
            <a:tailEnd type="none" w="med" len="med"/>
          </a:ln>
        </p:spPr>
      </p:cxnSp>
      <p:sp>
        <p:nvSpPr>
          <p:cNvPr id="437" name="Google Shape;437;p45"/>
          <p:cNvSpPr txBox="1"/>
          <p:nvPr/>
        </p:nvSpPr>
        <p:spPr>
          <a:xfrm>
            <a:off x="962375" y="3229850"/>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Ilusión</a:t>
            </a:r>
            <a:endParaRPr sz="2000" b="1">
              <a:solidFill>
                <a:srgbClr val="FF9900"/>
              </a:solidFill>
            </a:endParaRPr>
          </a:p>
        </p:txBody>
      </p:sp>
      <p:sp>
        <p:nvSpPr>
          <p:cNvPr id="438" name="Google Shape;438;p45"/>
          <p:cNvSpPr txBox="1"/>
          <p:nvPr/>
        </p:nvSpPr>
        <p:spPr>
          <a:xfrm>
            <a:off x="962375" y="5216625"/>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Recurso</a:t>
            </a:r>
            <a:endParaRPr sz="2000" b="1">
              <a:solidFill>
                <a:srgbClr val="FF9900"/>
              </a:solidFill>
            </a:endParaRPr>
          </a:p>
        </p:txBody>
      </p:sp>
      <p:pic>
        <p:nvPicPr>
          <p:cNvPr id="439" name="Google Shape;439;p45"/>
          <p:cNvPicPr preferRelativeResize="0"/>
          <p:nvPr/>
        </p:nvPicPr>
        <p:blipFill>
          <a:blip r:embed="rId4">
            <a:alphaModFix/>
          </a:blip>
          <a:stretch>
            <a:fillRect/>
          </a:stretch>
        </p:blipFill>
        <p:spPr>
          <a:xfrm>
            <a:off x="6513475" y="2807513"/>
            <a:ext cx="5526125" cy="28555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46"/>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445" name="Google Shape;445;p46"/>
          <p:cNvSpPr txBox="1">
            <a:spLocks noGrp="1"/>
          </p:cNvSpPr>
          <p:nvPr>
            <p:ph type="body" idx="1"/>
          </p:nvPr>
        </p:nvSpPr>
        <p:spPr>
          <a:xfrm>
            <a:off x="916650" y="932700"/>
            <a:ext cx="56520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Virtualización de Memoria</a:t>
            </a:r>
            <a:endParaRPr sz="2800" b="1" dirty="0">
              <a:solidFill>
                <a:schemeClr val="accent1"/>
              </a:solidFill>
              <a:latin typeface="+mn-lt"/>
            </a:endParaRPr>
          </a:p>
          <a:p>
            <a:pPr marL="457200" lvl="0" indent="-393700" algn="l" rtl="0">
              <a:lnSpc>
                <a:spcPct val="100000"/>
              </a:lnSpc>
              <a:spcBef>
                <a:spcPts val="600"/>
              </a:spcBef>
              <a:spcAft>
                <a:spcPts val="0"/>
              </a:spcAft>
              <a:buSzPts val="2600"/>
              <a:buFont typeface="Times New Roman"/>
              <a:buChar char="●"/>
            </a:pPr>
            <a:r>
              <a:rPr lang="es-ES" dirty="0">
                <a:latin typeface="+mn-lt"/>
              </a:rPr>
              <a:t>La memoria física </a:t>
            </a:r>
            <a:r>
              <a:rPr lang="es-ES" b="1" dirty="0">
                <a:solidFill>
                  <a:srgbClr val="FF0000"/>
                </a:solidFill>
                <a:latin typeface="+mn-lt"/>
              </a:rPr>
              <a:t>es un arreglo de bytes</a:t>
            </a:r>
            <a:r>
              <a:rPr lang="es-ES" dirty="0">
                <a:latin typeface="+mn-lt"/>
              </a:rPr>
              <a:t>.</a:t>
            </a:r>
            <a:endParaRPr dirty="0">
              <a:latin typeface="+mn-lt"/>
            </a:endParaRPr>
          </a:p>
          <a:p>
            <a:pPr marL="457200" lvl="0" indent="-393700" algn="l" rtl="0">
              <a:lnSpc>
                <a:spcPct val="100000"/>
              </a:lnSpc>
              <a:spcBef>
                <a:spcPts val="0"/>
              </a:spcBef>
              <a:spcAft>
                <a:spcPts val="0"/>
              </a:spcAft>
              <a:buSzPts val="2600"/>
              <a:buFont typeface="Roboto"/>
              <a:buChar char="●"/>
            </a:pPr>
            <a:r>
              <a:rPr lang="es-ES" dirty="0">
                <a:latin typeface="+mn-lt"/>
              </a:rPr>
              <a:t>Un programa almacena todas sus estructuras de datos en la memoria:</a:t>
            </a:r>
            <a:endParaRPr dirty="0">
              <a:latin typeface="+mn-lt"/>
            </a:endParaRPr>
          </a:p>
          <a:p>
            <a:pPr marL="914400" lvl="1" indent="-381000" algn="l" rtl="0">
              <a:lnSpc>
                <a:spcPct val="100000"/>
              </a:lnSpc>
              <a:spcBef>
                <a:spcPts val="0"/>
              </a:spcBef>
              <a:spcAft>
                <a:spcPts val="0"/>
              </a:spcAft>
              <a:buSzPts val="2400"/>
              <a:buFont typeface="Times New Roman"/>
              <a:buChar char="○"/>
            </a:pPr>
            <a:r>
              <a:rPr lang="es-ES" sz="2400" dirty="0">
                <a:latin typeface="+mn-lt"/>
              </a:rPr>
              <a:t>Lee la memoria (</a:t>
            </a:r>
            <a:r>
              <a:rPr lang="es-ES" sz="2400" b="1" dirty="0">
                <a:latin typeface="+mn-lt"/>
              </a:rPr>
              <a:t>load</a:t>
            </a:r>
            <a:r>
              <a:rPr lang="es-ES" sz="2400" dirty="0">
                <a:latin typeface="+mn-lt"/>
              </a:rPr>
              <a:t>): Especifica una dirección para poder acceder a un dato</a:t>
            </a:r>
            <a:endParaRPr sz="2400" dirty="0">
              <a:latin typeface="+mn-lt"/>
            </a:endParaRPr>
          </a:p>
          <a:p>
            <a:pPr marL="914400" lvl="1" indent="-381000" algn="l" rtl="0">
              <a:lnSpc>
                <a:spcPct val="100000"/>
              </a:lnSpc>
              <a:spcBef>
                <a:spcPts val="0"/>
              </a:spcBef>
              <a:spcAft>
                <a:spcPts val="0"/>
              </a:spcAft>
              <a:buSzPts val="2400"/>
              <a:buFont typeface="Times New Roman"/>
              <a:buChar char="○"/>
            </a:pPr>
            <a:r>
              <a:rPr lang="es-ES" sz="2400" dirty="0">
                <a:latin typeface="+mn-lt"/>
              </a:rPr>
              <a:t>Escribe en la memoria (</a:t>
            </a:r>
            <a:r>
              <a:rPr lang="es-ES" sz="2400" b="1" dirty="0" err="1">
                <a:latin typeface="+mn-lt"/>
              </a:rPr>
              <a:t>write</a:t>
            </a:r>
            <a:r>
              <a:rPr lang="es-ES" sz="2400" dirty="0">
                <a:latin typeface="+mn-lt"/>
              </a:rPr>
              <a:t>):Especifica el dato para ser escrito en una dirección dada.</a:t>
            </a:r>
            <a:endParaRPr sz="2400" dirty="0">
              <a:latin typeface="+mn-lt"/>
            </a:endParaRPr>
          </a:p>
          <a:p>
            <a:pPr marL="457200" lvl="0" indent="0" algn="l" rtl="0">
              <a:lnSpc>
                <a:spcPct val="100000"/>
              </a:lnSpc>
              <a:spcBef>
                <a:spcPts val="600"/>
              </a:spcBef>
              <a:spcAft>
                <a:spcPts val="0"/>
              </a:spcAft>
              <a:buNone/>
            </a:pPr>
            <a:endParaRPr dirty="0">
              <a:latin typeface="+mn-lt"/>
            </a:endParaRPr>
          </a:p>
          <a:p>
            <a:pPr marL="9144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sp>
        <p:nvSpPr>
          <p:cNvPr id="446" name="Google Shape;446;p46"/>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graphicFrame>
        <p:nvGraphicFramePr>
          <p:cNvPr id="447" name="Google Shape;447;p46"/>
          <p:cNvGraphicFramePr/>
          <p:nvPr/>
        </p:nvGraphicFramePr>
        <p:xfrm>
          <a:off x="7432525" y="1623275"/>
          <a:ext cx="3935750" cy="2285850"/>
        </p:xfrm>
        <a:graphic>
          <a:graphicData uri="http://schemas.openxmlformats.org/drawingml/2006/table">
            <a:tbl>
              <a:tblPr>
                <a:noFill/>
              </a:tblPr>
              <a:tblGrid>
                <a:gridCol w="953650">
                  <a:extLst>
                    <a:ext uri="{9D8B030D-6E8A-4147-A177-3AD203B41FA5}">
                      <a16:colId xmlns:a16="http://schemas.microsoft.com/office/drawing/2014/main" val="20000"/>
                    </a:ext>
                  </a:extLst>
                </a:gridCol>
                <a:gridCol w="2982100">
                  <a:extLst>
                    <a:ext uri="{9D8B030D-6E8A-4147-A177-3AD203B41FA5}">
                      <a16:colId xmlns:a16="http://schemas.microsoft.com/office/drawing/2014/main" val="20001"/>
                    </a:ext>
                  </a:extLst>
                </a:gridCol>
              </a:tblGrid>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C9DAF8"/>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C9DAF8"/>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C9DAF8"/>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C9DAF8"/>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C9DAF8"/>
                    </a:solidFill>
                  </a:tcPr>
                </a:tc>
                <a:extLst>
                  <a:ext uri="{0D108BD9-81ED-4DB2-BD59-A6C34878D82A}">
                    <a16:rowId xmlns:a16="http://schemas.microsoft.com/office/drawing/2014/main" val="10004"/>
                  </a:ext>
                </a:extLst>
              </a:tr>
            </a:tbl>
          </a:graphicData>
        </a:graphic>
      </p:graphicFrame>
      <p:sp>
        <p:nvSpPr>
          <p:cNvPr id="448" name="Google Shape;448;p46"/>
          <p:cNvSpPr/>
          <p:nvPr/>
        </p:nvSpPr>
        <p:spPr>
          <a:xfrm>
            <a:off x="9514650" y="3591500"/>
            <a:ext cx="402300" cy="724500"/>
          </a:xfrm>
          <a:prstGeom prst="upDownArrow">
            <a:avLst>
              <a:gd name="adj1" fmla="val 50000"/>
              <a:gd name="adj2" fmla="val 50000"/>
            </a:avLst>
          </a:prstGeom>
          <a:solidFill>
            <a:srgbClr val="A4C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46"/>
          <p:cNvSpPr/>
          <p:nvPr/>
        </p:nvSpPr>
        <p:spPr>
          <a:xfrm>
            <a:off x="7386950" y="4867575"/>
            <a:ext cx="4026900" cy="418500"/>
          </a:xfrm>
          <a:prstGeom prst="leftRightArrow">
            <a:avLst>
              <a:gd name="adj1" fmla="val 50000"/>
              <a:gd name="adj2" fmla="val 50000"/>
            </a:avLst>
          </a:prstGeom>
          <a:solidFill>
            <a:srgbClr val="F6B2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46"/>
          <p:cNvSpPr/>
          <p:nvPr/>
        </p:nvSpPr>
        <p:spPr>
          <a:xfrm>
            <a:off x="7370850" y="4166850"/>
            <a:ext cx="4026900" cy="418500"/>
          </a:xfrm>
          <a:prstGeom prst="leftRightArrow">
            <a:avLst>
              <a:gd name="adj1" fmla="val 50000"/>
              <a:gd name="adj2" fmla="val 50000"/>
            </a:avLst>
          </a:prstGeom>
          <a:solidFill>
            <a:srgbClr val="A4C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46"/>
          <p:cNvSpPr/>
          <p:nvPr/>
        </p:nvSpPr>
        <p:spPr>
          <a:xfrm>
            <a:off x="7727725" y="3591500"/>
            <a:ext cx="402300" cy="1449000"/>
          </a:xfrm>
          <a:prstGeom prst="upArrow">
            <a:avLst>
              <a:gd name="adj1" fmla="val 50000"/>
              <a:gd name="adj2" fmla="val 50000"/>
            </a:avLst>
          </a:prstGeom>
          <a:solidFill>
            <a:srgbClr val="F6B2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46"/>
          <p:cNvSpPr txBox="1"/>
          <p:nvPr/>
        </p:nvSpPr>
        <p:spPr>
          <a:xfrm>
            <a:off x="7370850" y="1201363"/>
            <a:ext cx="1046400" cy="418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b="1">
                <a:latin typeface="Consolas"/>
                <a:ea typeface="Consolas"/>
                <a:cs typeface="Consolas"/>
                <a:sym typeface="Consolas"/>
              </a:rPr>
              <a:t>Address</a:t>
            </a:r>
            <a:endParaRPr b="1">
              <a:latin typeface="Consolas"/>
              <a:ea typeface="Consolas"/>
              <a:cs typeface="Consolas"/>
              <a:sym typeface="Consolas"/>
            </a:endParaRPr>
          </a:p>
        </p:txBody>
      </p:sp>
      <p:sp>
        <p:nvSpPr>
          <p:cNvPr id="453" name="Google Shape;453;p46"/>
          <p:cNvSpPr txBox="1"/>
          <p:nvPr/>
        </p:nvSpPr>
        <p:spPr>
          <a:xfrm>
            <a:off x="9362250" y="1155188"/>
            <a:ext cx="1046400" cy="418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b="1">
                <a:latin typeface="Consolas"/>
                <a:ea typeface="Consolas"/>
                <a:cs typeface="Consolas"/>
                <a:sym typeface="Consolas"/>
              </a:rPr>
              <a:t>Data</a:t>
            </a:r>
            <a:endParaRPr b="1">
              <a:latin typeface="Consolas"/>
              <a:ea typeface="Consolas"/>
              <a:cs typeface="Consolas"/>
              <a:sym typeface="Consolas"/>
            </a:endParaRPr>
          </a:p>
        </p:txBody>
      </p:sp>
      <p:sp>
        <p:nvSpPr>
          <p:cNvPr id="454" name="Google Shape;454;p46"/>
          <p:cNvSpPr txBox="1"/>
          <p:nvPr/>
        </p:nvSpPr>
        <p:spPr>
          <a:xfrm>
            <a:off x="10078100" y="3744488"/>
            <a:ext cx="1046400" cy="418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b="1">
                <a:latin typeface="Consolas"/>
                <a:ea typeface="Consolas"/>
                <a:cs typeface="Consolas"/>
                <a:sym typeface="Consolas"/>
              </a:rPr>
              <a:t>Data bus</a:t>
            </a:r>
            <a:endParaRPr b="1">
              <a:latin typeface="Consolas"/>
              <a:ea typeface="Consolas"/>
              <a:cs typeface="Consolas"/>
              <a:sym typeface="Consolas"/>
            </a:endParaRPr>
          </a:p>
        </p:txBody>
      </p:sp>
      <p:sp>
        <p:nvSpPr>
          <p:cNvPr id="455" name="Google Shape;455;p46"/>
          <p:cNvSpPr txBox="1"/>
          <p:nvPr/>
        </p:nvSpPr>
        <p:spPr>
          <a:xfrm>
            <a:off x="9361550" y="4585350"/>
            <a:ext cx="1686900" cy="4185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s-ES" b="1">
                <a:latin typeface="Consolas"/>
                <a:ea typeface="Consolas"/>
                <a:cs typeface="Consolas"/>
                <a:sym typeface="Consolas"/>
              </a:rPr>
              <a:t>Address bus</a:t>
            </a:r>
            <a:endParaRPr b="1">
              <a:latin typeface="Consolas"/>
              <a:ea typeface="Consolas"/>
              <a:cs typeface="Consolas"/>
              <a:sym typeface="Consola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59"/>
        <p:cNvGrpSpPr/>
        <p:nvPr/>
      </p:nvGrpSpPr>
      <p:grpSpPr>
        <a:xfrm>
          <a:off x="0" y="0"/>
          <a:ext cx="0" cy="0"/>
          <a:chOff x="0" y="0"/>
          <a:chExt cx="0" cy="0"/>
        </a:xfrm>
      </p:grpSpPr>
      <p:sp>
        <p:nvSpPr>
          <p:cNvPr id="460" name="Google Shape;460;p47"/>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461" name="Google Shape;461;p47"/>
          <p:cNvSpPr txBox="1">
            <a:spLocks noGrp="1"/>
          </p:cNvSpPr>
          <p:nvPr>
            <p:ph type="body" idx="1"/>
          </p:nvPr>
        </p:nvSpPr>
        <p:spPr>
          <a:xfrm>
            <a:off x="916650" y="932700"/>
            <a:ext cx="105297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a:solidFill>
                  <a:schemeClr val="accent1"/>
                </a:solidFill>
              </a:rPr>
              <a:t>Ejemplo</a:t>
            </a:r>
            <a:endParaRPr sz="2800" b="1">
              <a:solidFill>
                <a:schemeClr val="accent1"/>
              </a:solidFill>
            </a:endParaRPr>
          </a:p>
          <a:p>
            <a:pPr marL="457200" lvl="0" indent="0" algn="l" rtl="0">
              <a:lnSpc>
                <a:spcPct val="100000"/>
              </a:lnSpc>
              <a:spcBef>
                <a:spcPts val="600"/>
              </a:spcBef>
              <a:spcAft>
                <a:spcPts val="0"/>
              </a:spcAft>
              <a:buNone/>
            </a:pPr>
            <a:endParaRPr/>
          </a:p>
          <a:p>
            <a:pPr marL="457200" lvl="0" indent="0" algn="l" rtl="0">
              <a:lnSpc>
                <a:spcPct val="100000"/>
              </a:lnSpc>
              <a:spcBef>
                <a:spcPts val="600"/>
              </a:spcBef>
              <a:spcAft>
                <a:spcPts val="0"/>
              </a:spcAft>
              <a:buNone/>
            </a:pPr>
            <a:endParaRPr/>
          </a:p>
          <a:p>
            <a:pPr marL="457200" lvl="0" indent="0" algn="l" rtl="0">
              <a:lnSpc>
                <a:spcPct val="100000"/>
              </a:lnSpc>
              <a:spcBef>
                <a:spcPts val="600"/>
              </a:spcBef>
              <a:spcAft>
                <a:spcPts val="0"/>
              </a:spcAft>
              <a:buNone/>
            </a:pPr>
            <a:endParaRPr/>
          </a:p>
          <a:p>
            <a:pPr marL="914400" lvl="0" indent="0" algn="l" rtl="0">
              <a:lnSpc>
                <a:spcPct val="100000"/>
              </a:lnSpc>
              <a:spcBef>
                <a:spcPts val="600"/>
              </a:spcBef>
              <a:spcAft>
                <a:spcPts val="0"/>
              </a:spcAft>
              <a:buNone/>
            </a:pPr>
            <a:endParaRPr b="1"/>
          </a:p>
          <a:p>
            <a:pPr marL="457200" lvl="0" indent="0" algn="l" rtl="0">
              <a:lnSpc>
                <a:spcPct val="100000"/>
              </a:lnSpc>
              <a:spcBef>
                <a:spcPts val="600"/>
              </a:spcBef>
              <a:spcAft>
                <a:spcPts val="0"/>
              </a:spcAft>
              <a:buNone/>
            </a:pPr>
            <a:endParaRPr b="1"/>
          </a:p>
          <a:p>
            <a:pPr marL="457200" lvl="0" indent="0" algn="l" rtl="0">
              <a:lnSpc>
                <a:spcPct val="100000"/>
              </a:lnSpc>
              <a:spcBef>
                <a:spcPts val="480"/>
              </a:spcBef>
              <a:spcAft>
                <a:spcPts val="0"/>
              </a:spcAft>
              <a:buNone/>
            </a:pPr>
            <a:endParaRPr sz="2400"/>
          </a:p>
          <a:p>
            <a:pPr marL="457200" lvl="0" indent="0" algn="l" rtl="0">
              <a:lnSpc>
                <a:spcPct val="100000"/>
              </a:lnSpc>
              <a:spcBef>
                <a:spcPts val="480"/>
              </a:spcBef>
              <a:spcAft>
                <a:spcPts val="0"/>
              </a:spcAft>
              <a:buNone/>
            </a:pPr>
            <a:endParaRPr/>
          </a:p>
          <a:p>
            <a:pPr marL="0" lvl="0" indent="0" algn="l" rtl="0">
              <a:spcBef>
                <a:spcPts val="1000"/>
              </a:spcBef>
              <a:spcAft>
                <a:spcPts val="0"/>
              </a:spcAft>
              <a:buNone/>
            </a:pPr>
            <a:endParaRPr/>
          </a:p>
          <a:p>
            <a:pPr marL="457200" lvl="0" indent="0" algn="l" rtl="0">
              <a:spcBef>
                <a:spcPts val="1000"/>
              </a:spcBef>
              <a:spcAft>
                <a:spcPts val="0"/>
              </a:spcAft>
              <a:buNone/>
            </a:pPr>
            <a:endParaRPr/>
          </a:p>
        </p:txBody>
      </p:sp>
      <p:sp>
        <p:nvSpPr>
          <p:cNvPr id="462" name="Google Shape;462;p47"/>
          <p:cNvSpPr txBox="1"/>
          <p:nvPr/>
        </p:nvSpPr>
        <p:spPr>
          <a:xfrm>
            <a:off x="1239975" y="3156825"/>
            <a:ext cx="1030200" cy="40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t>mem.c</a:t>
            </a:r>
            <a:endParaRPr sz="1600" b="1"/>
          </a:p>
        </p:txBody>
      </p:sp>
      <p:pic>
        <p:nvPicPr>
          <p:cNvPr id="463" name="Google Shape;463;p47"/>
          <p:cNvPicPr preferRelativeResize="0"/>
          <p:nvPr/>
        </p:nvPicPr>
        <p:blipFill>
          <a:blip r:embed="rId3">
            <a:alphaModFix/>
          </a:blip>
          <a:stretch>
            <a:fillRect/>
          </a:stretch>
        </p:blipFill>
        <p:spPr>
          <a:xfrm>
            <a:off x="1054538" y="1955025"/>
            <a:ext cx="1095375" cy="1114425"/>
          </a:xfrm>
          <a:prstGeom prst="rect">
            <a:avLst/>
          </a:prstGeom>
          <a:noFill/>
          <a:ln>
            <a:noFill/>
          </a:ln>
        </p:spPr>
      </p:pic>
      <p:sp>
        <p:nvSpPr>
          <p:cNvPr id="464" name="Google Shape;464;p47"/>
          <p:cNvSpPr txBox="1"/>
          <p:nvPr/>
        </p:nvSpPr>
        <p:spPr>
          <a:xfrm>
            <a:off x="2672750" y="969350"/>
            <a:ext cx="8625900" cy="5414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&lt;unistd.h&gt;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&lt;stdio.h&gt;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&lt;stdlib.h&gt;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"common.h"</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a:t>
            </a:r>
            <a:r>
              <a:rPr lang="es-ES" sz="1600">
                <a:solidFill>
                  <a:srgbClr val="6F42C1"/>
                </a:solidFill>
                <a:highlight>
                  <a:srgbClr val="FFFFFF"/>
                </a:highlight>
                <a:latin typeface="Consolas"/>
                <a:ea typeface="Consolas"/>
                <a:cs typeface="Consolas"/>
                <a:sym typeface="Consolas"/>
              </a:rPr>
              <a:t>main</a:t>
            </a: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argc, </a:t>
            </a:r>
            <a:r>
              <a:rPr lang="es-ES" sz="1600">
                <a:solidFill>
                  <a:srgbClr val="D73A49"/>
                </a:solidFill>
                <a:highlight>
                  <a:srgbClr val="FFFFFF"/>
                </a:highlight>
                <a:latin typeface="Consolas"/>
                <a:ea typeface="Consolas"/>
                <a:cs typeface="Consolas"/>
                <a:sym typeface="Consolas"/>
              </a:rPr>
              <a:t>char</a:t>
            </a:r>
            <a:r>
              <a:rPr lang="es-ES" sz="1600">
                <a:solidFill>
                  <a:srgbClr val="24292E"/>
                </a:solidFill>
                <a:highlight>
                  <a:srgbClr val="FFFFFF"/>
                </a:highlight>
                <a:latin typeface="Consolas"/>
                <a:ea typeface="Consolas"/>
                <a:cs typeface="Consolas"/>
                <a:sym typeface="Consolas"/>
              </a:rPr>
              <a:t> *argv[])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if</a:t>
            </a:r>
            <a:r>
              <a:rPr lang="es-ES" sz="1600">
                <a:solidFill>
                  <a:srgbClr val="24292E"/>
                </a:solidFill>
                <a:highlight>
                  <a:srgbClr val="FFFFFF"/>
                </a:highlight>
                <a:latin typeface="Consolas"/>
                <a:ea typeface="Consolas"/>
                <a:cs typeface="Consolas"/>
                <a:sym typeface="Consolas"/>
              </a:rPr>
              <a:t> (argc != </a:t>
            </a:r>
            <a:r>
              <a:rPr lang="es-ES" sz="1600">
                <a:solidFill>
                  <a:srgbClr val="005CC5"/>
                </a:solidFill>
                <a:highlight>
                  <a:srgbClr val="FFFFFF"/>
                </a:highlight>
                <a:latin typeface="Consolas"/>
                <a:ea typeface="Consolas"/>
                <a:cs typeface="Consolas"/>
                <a:sym typeface="Consolas"/>
              </a:rPr>
              <a:t>2</a:t>
            </a:r>
            <a:r>
              <a:rPr lang="es-ES" sz="1600">
                <a:solidFill>
                  <a:srgbClr val="24292E"/>
                </a:solidFill>
                <a:highlight>
                  <a:srgbClr val="FFFFFF"/>
                </a:highlight>
                <a:latin typeface="Consolas"/>
                <a:ea typeface="Consolas"/>
                <a:cs typeface="Consolas"/>
                <a:sym typeface="Consolas"/>
              </a:rPr>
              <a:t>)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fprintf</a:t>
            </a:r>
            <a:r>
              <a:rPr lang="es-ES" sz="1600">
                <a:solidFill>
                  <a:srgbClr val="24292E"/>
                </a:solidFill>
                <a:highlight>
                  <a:srgbClr val="FFFFFF"/>
                </a:highlight>
                <a:latin typeface="Consolas"/>
                <a:ea typeface="Consolas"/>
                <a:cs typeface="Consolas"/>
                <a:sym typeface="Consolas"/>
              </a:rPr>
              <a:t>(stderr, </a:t>
            </a:r>
            <a:r>
              <a:rPr lang="es-ES" sz="1600">
                <a:solidFill>
                  <a:srgbClr val="032F62"/>
                </a:solidFill>
                <a:highlight>
                  <a:srgbClr val="FFFFFF"/>
                </a:highlight>
                <a:latin typeface="Consolas"/>
                <a:ea typeface="Consolas"/>
                <a:cs typeface="Consolas"/>
                <a:sym typeface="Consolas"/>
              </a:rPr>
              <a:t>"usage: mem &lt;value&gt;\n"</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exit</a:t>
            </a:r>
            <a:r>
              <a:rPr lang="es-ES" sz="1600">
                <a:solidFill>
                  <a:srgbClr val="24292E"/>
                </a:solidFill>
                <a:highlight>
                  <a:srgbClr val="FFFFFF"/>
                </a:highlight>
                <a:latin typeface="Consolas"/>
                <a:ea typeface="Consolas"/>
                <a:cs typeface="Consolas"/>
                <a:sym typeface="Consolas"/>
              </a:rPr>
              <a:t>(</a:t>
            </a:r>
            <a:r>
              <a:rPr lang="es-ES" sz="1600">
                <a:solidFill>
                  <a:srgbClr val="005CC5"/>
                </a:solidFill>
                <a:highlight>
                  <a:srgbClr val="FFFFFF"/>
                </a:highlight>
                <a:latin typeface="Consolas"/>
                <a:ea typeface="Consolas"/>
                <a:cs typeface="Consolas"/>
                <a:sym typeface="Consolas"/>
              </a:rPr>
              <a:t>1</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*p;</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p = </a:t>
            </a:r>
            <a:r>
              <a:rPr lang="es-ES" sz="1600">
                <a:solidFill>
                  <a:srgbClr val="005CC5"/>
                </a:solidFill>
                <a:highlight>
                  <a:srgbClr val="FFFFFF"/>
                </a:highlight>
                <a:latin typeface="Consolas"/>
                <a:ea typeface="Consolas"/>
                <a:cs typeface="Consolas"/>
                <a:sym typeface="Consolas"/>
              </a:rPr>
              <a:t>malloc</a:t>
            </a: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sizeof</a:t>
            </a: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assert</a:t>
            </a:r>
            <a:r>
              <a:rPr lang="es-ES" sz="1600">
                <a:solidFill>
                  <a:srgbClr val="24292E"/>
                </a:solidFill>
                <a:highlight>
                  <a:srgbClr val="FFFFFF"/>
                </a:highlight>
                <a:latin typeface="Consolas"/>
                <a:ea typeface="Consolas"/>
                <a:cs typeface="Consolas"/>
                <a:sym typeface="Consolas"/>
              </a:rPr>
              <a:t>(p != </a:t>
            </a:r>
            <a:r>
              <a:rPr lang="es-ES" sz="1600">
                <a:solidFill>
                  <a:srgbClr val="005CC5"/>
                </a:solidFill>
                <a:highlight>
                  <a:srgbClr val="FFFFFF"/>
                </a:highlight>
                <a:latin typeface="Consolas"/>
                <a:ea typeface="Consolas"/>
                <a:cs typeface="Consolas"/>
                <a:sym typeface="Consolas"/>
              </a:rPr>
              <a:t>NULL</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printf</a:t>
            </a:r>
            <a:r>
              <a:rPr lang="es-ES" sz="1600">
                <a:solidFill>
                  <a:srgbClr val="24292E"/>
                </a:solidFill>
                <a:highlight>
                  <a:srgbClr val="FFFFFF"/>
                </a:highlight>
                <a:latin typeface="Consolas"/>
                <a:ea typeface="Consolas"/>
                <a:cs typeface="Consolas"/>
                <a:sym typeface="Consolas"/>
              </a:rPr>
              <a:t>(</a:t>
            </a:r>
            <a:r>
              <a:rPr lang="es-ES" sz="1600">
                <a:solidFill>
                  <a:srgbClr val="032F62"/>
                </a:solidFill>
                <a:highlight>
                  <a:srgbClr val="FFFFFF"/>
                </a:highlight>
                <a:latin typeface="Consolas"/>
                <a:ea typeface="Consolas"/>
                <a:cs typeface="Consolas"/>
                <a:sym typeface="Consolas"/>
              </a:rPr>
              <a:t>"(</a:t>
            </a:r>
            <a:r>
              <a:rPr lang="es-ES" sz="1600">
                <a:solidFill>
                  <a:srgbClr val="005CC5"/>
                </a:solidFill>
                <a:highlight>
                  <a:srgbClr val="FFFFFF"/>
                </a:highlight>
                <a:latin typeface="Consolas"/>
                <a:ea typeface="Consolas"/>
                <a:cs typeface="Consolas"/>
                <a:sym typeface="Consolas"/>
              </a:rPr>
              <a:t>%d</a:t>
            </a:r>
            <a:r>
              <a:rPr lang="es-ES" sz="1600">
                <a:solidFill>
                  <a:srgbClr val="032F62"/>
                </a:solidFill>
                <a:highlight>
                  <a:srgbClr val="FFFFFF"/>
                </a:highlight>
                <a:latin typeface="Consolas"/>
                <a:ea typeface="Consolas"/>
                <a:cs typeface="Consolas"/>
                <a:sym typeface="Consolas"/>
              </a:rPr>
              <a:t>) addr pointed to by p: </a:t>
            </a:r>
            <a:r>
              <a:rPr lang="es-ES" sz="1600">
                <a:solidFill>
                  <a:srgbClr val="005CC5"/>
                </a:solidFill>
                <a:highlight>
                  <a:srgbClr val="FFFFFF"/>
                </a:highlight>
                <a:latin typeface="Consolas"/>
                <a:ea typeface="Consolas"/>
                <a:cs typeface="Consolas"/>
                <a:sym typeface="Consolas"/>
              </a:rPr>
              <a:t>%p</a:t>
            </a:r>
            <a:r>
              <a:rPr lang="es-ES" sz="1600">
                <a:solidFill>
                  <a:srgbClr val="032F62"/>
                </a:solidFill>
                <a:highlight>
                  <a:srgbClr val="FFFFFF"/>
                </a:highlight>
                <a:latin typeface="Consolas"/>
                <a:ea typeface="Consolas"/>
                <a:cs typeface="Consolas"/>
                <a:sym typeface="Consolas"/>
              </a:rPr>
              <a:t>\n"</a:t>
            </a: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getpid</a:t>
            </a:r>
            <a:r>
              <a:rPr lang="es-ES" sz="1600">
                <a:solidFill>
                  <a:srgbClr val="24292E"/>
                </a:solidFill>
                <a:highlight>
                  <a:srgbClr val="FFFFFF"/>
                </a:highlight>
                <a:latin typeface="Consolas"/>
                <a:ea typeface="Consolas"/>
                <a:cs typeface="Consolas"/>
                <a:sym typeface="Consolas"/>
              </a:rPr>
              <a:t>(), p);</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*p = </a:t>
            </a:r>
            <a:r>
              <a:rPr lang="es-ES" sz="1600">
                <a:solidFill>
                  <a:srgbClr val="005CC5"/>
                </a:solidFill>
                <a:highlight>
                  <a:srgbClr val="FFFFFF"/>
                </a:highlight>
                <a:latin typeface="Consolas"/>
                <a:ea typeface="Consolas"/>
                <a:cs typeface="Consolas"/>
                <a:sym typeface="Consolas"/>
              </a:rPr>
              <a:t>atoi</a:t>
            </a:r>
            <a:r>
              <a:rPr lang="es-ES" sz="1600">
                <a:solidFill>
                  <a:srgbClr val="24292E"/>
                </a:solidFill>
                <a:highlight>
                  <a:srgbClr val="FFFFFF"/>
                </a:highlight>
                <a:latin typeface="Consolas"/>
                <a:ea typeface="Consolas"/>
                <a:cs typeface="Consolas"/>
                <a:sym typeface="Consolas"/>
              </a:rPr>
              <a:t>(argv[</a:t>
            </a:r>
            <a:r>
              <a:rPr lang="es-ES" sz="1600">
                <a:solidFill>
                  <a:srgbClr val="005CC5"/>
                </a:solidFill>
                <a:highlight>
                  <a:srgbClr val="FFFFFF"/>
                </a:highlight>
                <a:latin typeface="Consolas"/>
                <a:ea typeface="Consolas"/>
                <a:cs typeface="Consolas"/>
                <a:sym typeface="Consolas"/>
              </a:rPr>
              <a:t>1</a:t>
            </a:r>
            <a:r>
              <a:rPr lang="es-ES" sz="1600">
                <a:solidFill>
                  <a:srgbClr val="24292E"/>
                </a:solidFill>
                <a:highlight>
                  <a:srgbClr val="FFFFFF"/>
                </a:highlight>
                <a:latin typeface="Consolas"/>
                <a:ea typeface="Consolas"/>
                <a:cs typeface="Consolas"/>
                <a:sym typeface="Consolas"/>
              </a:rPr>
              <a:t>]); </a:t>
            </a:r>
            <a:r>
              <a:rPr lang="es-ES" sz="1600">
                <a:solidFill>
                  <a:srgbClr val="6A737D"/>
                </a:solidFill>
                <a:highlight>
                  <a:srgbClr val="FFFFFF"/>
                </a:highlight>
                <a:latin typeface="Consolas"/>
                <a:ea typeface="Consolas"/>
                <a:cs typeface="Consolas"/>
                <a:sym typeface="Consolas"/>
              </a:rPr>
              <a:t>// assign value to addr stored in p</a:t>
            </a:r>
            <a:endParaRPr sz="1600">
              <a:solidFill>
                <a:srgbClr val="6A737D"/>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while</a:t>
            </a: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1</a:t>
            </a:r>
            <a:r>
              <a:rPr lang="es-ES" sz="1600">
                <a:solidFill>
                  <a:srgbClr val="24292E"/>
                </a:solidFill>
                <a:highlight>
                  <a:srgbClr val="FFFFFF"/>
                </a:highlight>
                <a:latin typeface="Consolas"/>
                <a:ea typeface="Consolas"/>
                <a:cs typeface="Consolas"/>
                <a:sym typeface="Consolas"/>
              </a:rPr>
              <a:t>)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Spin</a:t>
            </a:r>
            <a:r>
              <a:rPr lang="es-ES" sz="1600">
                <a:solidFill>
                  <a:srgbClr val="24292E"/>
                </a:solidFill>
                <a:highlight>
                  <a:srgbClr val="FFFFFF"/>
                </a:highlight>
                <a:latin typeface="Consolas"/>
                <a:ea typeface="Consolas"/>
                <a:cs typeface="Consolas"/>
                <a:sym typeface="Consolas"/>
              </a:rPr>
              <a:t>(</a:t>
            </a:r>
            <a:r>
              <a:rPr lang="es-ES" sz="1600">
                <a:solidFill>
                  <a:srgbClr val="005CC5"/>
                </a:solidFill>
                <a:highlight>
                  <a:srgbClr val="FFFFFF"/>
                </a:highlight>
                <a:latin typeface="Consolas"/>
                <a:ea typeface="Consolas"/>
                <a:cs typeface="Consolas"/>
                <a:sym typeface="Consolas"/>
              </a:rPr>
              <a:t>1</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*p = *p + </a:t>
            </a:r>
            <a:r>
              <a:rPr lang="es-ES" sz="1600">
                <a:solidFill>
                  <a:srgbClr val="005CC5"/>
                </a:solidFill>
                <a:highlight>
                  <a:srgbClr val="FFFFFF"/>
                </a:highlight>
                <a:latin typeface="Consolas"/>
                <a:ea typeface="Consolas"/>
                <a:cs typeface="Consolas"/>
                <a:sym typeface="Consolas"/>
              </a:rPr>
              <a:t>1</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printf</a:t>
            </a:r>
            <a:r>
              <a:rPr lang="es-ES" sz="1600">
                <a:solidFill>
                  <a:srgbClr val="24292E"/>
                </a:solidFill>
                <a:highlight>
                  <a:srgbClr val="FFFFFF"/>
                </a:highlight>
                <a:latin typeface="Consolas"/>
                <a:ea typeface="Consolas"/>
                <a:cs typeface="Consolas"/>
                <a:sym typeface="Consolas"/>
              </a:rPr>
              <a:t>(</a:t>
            </a:r>
            <a:r>
              <a:rPr lang="es-ES" sz="1600">
                <a:solidFill>
                  <a:srgbClr val="032F62"/>
                </a:solidFill>
                <a:highlight>
                  <a:srgbClr val="FFFFFF"/>
                </a:highlight>
                <a:latin typeface="Consolas"/>
                <a:ea typeface="Consolas"/>
                <a:cs typeface="Consolas"/>
                <a:sym typeface="Consolas"/>
              </a:rPr>
              <a:t>"(</a:t>
            </a:r>
            <a:r>
              <a:rPr lang="es-ES" sz="1600">
                <a:solidFill>
                  <a:srgbClr val="005CC5"/>
                </a:solidFill>
                <a:highlight>
                  <a:srgbClr val="FFFFFF"/>
                </a:highlight>
                <a:latin typeface="Consolas"/>
                <a:ea typeface="Consolas"/>
                <a:cs typeface="Consolas"/>
                <a:sym typeface="Consolas"/>
              </a:rPr>
              <a:t>%d</a:t>
            </a:r>
            <a:r>
              <a:rPr lang="es-ES" sz="1600">
                <a:solidFill>
                  <a:srgbClr val="032F62"/>
                </a:solidFill>
                <a:highlight>
                  <a:srgbClr val="FFFFFF"/>
                </a:highlight>
                <a:latin typeface="Consolas"/>
                <a:ea typeface="Consolas"/>
                <a:cs typeface="Consolas"/>
                <a:sym typeface="Consolas"/>
              </a:rPr>
              <a:t>) value of p: </a:t>
            </a:r>
            <a:r>
              <a:rPr lang="es-ES" sz="1600">
                <a:solidFill>
                  <a:srgbClr val="005CC5"/>
                </a:solidFill>
                <a:highlight>
                  <a:srgbClr val="FFFFFF"/>
                </a:highlight>
                <a:latin typeface="Consolas"/>
                <a:ea typeface="Consolas"/>
                <a:cs typeface="Consolas"/>
                <a:sym typeface="Consolas"/>
              </a:rPr>
              <a:t>%d</a:t>
            </a:r>
            <a:r>
              <a:rPr lang="es-ES" sz="1600">
                <a:solidFill>
                  <a:srgbClr val="032F62"/>
                </a:solidFill>
                <a:highlight>
                  <a:srgbClr val="FFFFFF"/>
                </a:highlight>
                <a:latin typeface="Consolas"/>
                <a:ea typeface="Consolas"/>
                <a:cs typeface="Consolas"/>
                <a:sym typeface="Consolas"/>
              </a:rPr>
              <a:t>\n"</a:t>
            </a: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getpid</a:t>
            </a:r>
            <a:r>
              <a:rPr lang="es-ES" sz="1600">
                <a:solidFill>
                  <a:srgbClr val="24292E"/>
                </a:solidFill>
                <a:highlight>
                  <a:srgbClr val="FFFFFF"/>
                </a:highlight>
                <a:latin typeface="Consolas"/>
                <a:ea typeface="Consolas"/>
                <a:cs typeface="Consolas"/>
                <a:sym typeface="Consolas"/>
              </a:rPr>
              <a:t>(), *p);</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return</a:t>
            </a: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0</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spcBef>
                <a:spcPts val="0"/>
              </a:spcBef>
              <a:spcAft>
                <a:spcPts val="0"/>
              </a:spcAft>
              <a:buNone/>
            </a:pPr>
            <a:endParaRPr sz="1700">
              <a:solidFill>
                <a:srgbClr val="24292E"/>
              </a:solidFill>
              <a:highlight>
                <a:srgbClr val="FFFFFF"/>
              </a:highlight>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48"/>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p>
        </p:txBody>
      </p:sp>
      <p:sp>
        <p:nvSpPr>
          <p:cNvPr id="470" name="Google Shape;470;p48"/>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pic>
        <p:nvPicPr>
          <p:cNvPr id="471" name="Google Shape;471;p48"/>
          <p:cNvPicPr preferRelativeResize="0"/>
          <p:nvPr/>
        </p:nvPicPr>
        <p:blipFill rotWithShape="1">
          <a:blip r:embed="rId3">
            <a:alphaModFix/>
          </a:blip>
          <a:srcRect r="28351" b="28351"/>
          <a:stretch/>
        </p:blipFill>
        <p:spPr>
          <a:xfrm>
            <a:off x="6785025" y="1456342"/>
            <a:ext cx="5160916" cy="1825975"/>
          </a:xfrm>
          <a:prstGeom prst="rect">
            <a:avLst/>
          </a:prstGeom>
          <a:noFill/>
          <a:ln>
            <a:noFill/>
          </a:ln>
        </p:spPr>
      </p:pic>
      <p:sp>
        <p:nvSpPr>
          <p:cNvPr id="472" name="Google Shape;472;p48"/>
          <p:cNvSpPr txBox="1"/>
          <p:nvPr/>
        </p:nvSpPr>
        <p:spPr>
          <a:xfrm>
            <a:off x="948100" y="869325"/>
            <a:ext cx="5650500" cy="3000000"/>
          </a:xfrm>
          <a:prstGeom prst="rect">
            <a:avLst/>
          </a:prstGeom>
          <a:noFill/>
          <a:ln>
            <a:noFill/>
          </a:ln>
        </p:spPr>
        <p:txBody>
          <a:bodyPr spcFirstLastPara="1" wrap="square" lIns="91425" tIns="91425" rIns="91425" bIns="91425" anchor="t" anchorCtr="0">
            <a:noAutofit/>
          </a:bodyPr>
          <a:lstStyle/>
          <a:p>
            <a:pPr marL="0" lvl="0" indent="0" algn="l" rtl="0">
              <a:spcBef>
                <a:spcPts val="480"/>
              </a:spcBef>
              <a:spcAft>
                <a:spcPts val="0"/>
              </a:spcAft>
              <a:buNone/>
            </a:pPr>
            <a:r>
              <a:rPr lang="es-ES" sz="2800" b="1" dirty="0">
                <a:solidFill>
                  <a:schemeClr val="accent1"/>
                </a:solidFill>
                <a:ea typeface="Roboto"/>
                <a:cs typeface="Roboto"/>
                <a:sym typeface="Roboto"/>
              </a:rPr>
              <a:t>Virtualización de Memoria</a:t>
            </a:r>
            <a:endParaRPr sz="2800" b="1" dirty="0">
              <a:solidFill>
                <a:schemeClr val="accent1"/>
              </a:solidFill>
              <a:ea typeface="Roboto"/>
              <a:cs typeface="Roboto"/>
              <a:sym typeface="Roboto"/>
            </a:endParaRPr>
          </a:p>
        </p:txBody>
      </p:sp>
      <p:pic>
        <p:nvPicPr>
          <p:cNvPr id="473" name="Google Shape;473;p48"/>
          <p:cNvPicPr preferRelativeResize="0"/>
          <p:nvPr/>
        </p:nvPicPr>
        <p:blipFill>
          <a:blip r:embed="rId4">
            <a:alphaModFix/>
          </a:blip>
          <a:stretch>
            <a:fillRect/>
          </a:stretch>
        </p:blipFill>
        <p:spPr>
          <a:xfrm>
            <a:off x="3211375" y="4153950"/>
            <a:ext cx="1123950" cy="1123950"/>
          </a:xfrm>
          <a:prstGeom prst="rect">
            <a:avLst/>
          </a:prstGeom>
          <a:noFill/>
          <a:ln>
            <a:noFill/>
          </a:ln>
        </p:spPr>
      </p:pic>
      <p:pic>
        <p:nvPicPr>
          <p:cNvPr id="474" name="Google Shape;474;p48"/>
          <p:cNvPicPr preferRelativeResize="0"/>
          <p:nvPr/>
        </p:nvPicPr>
        <p:blipFill>
          <a:blip r:embed="rId5">
            <a:alphaModFix/>
          </a:blip>
          <a:stretch>
            <a:fillRect/>
          </a:stretch>
        </p:blipFill>
        <p:spPr>
          <a:xfrm>
            <a:off x="2887525" y="2002400"/>
            <a:ext cx="1771650" cy="1533525"/>
          </a:xfrm>
          <a:prstGeom prst="rect">
            <a:avLst/>
          </a:prstGeom>
          <a:noFill/>
          <a:ln>
            <a:noFill/>
          </a:ln>
        </p:spPr>
      </p:pic>
      <p:cxnSp>
        <p:nvCxnSpPr>
          <p:cNvPr id="475" name="Google Shape;475;p48"/>
          <p:cNvCxnSpPr/>
          <p:nvPr/>
        </p:nvCxnSpPr>
        <p:spPr>
          <a:xfrm rot="10800000" flipH="1">
            <a:off x="916650" y="3775000"/>
            <a:ext cx="5410500" cy="20400"/>
          </a:xfrm>
          <a:prstGeom prst="straightConnector1">
            <a:avLst/>
          </a:prstGeom>
          <a:noFill/>
          <a:ln w="38100" cap="flat" cmpd="sng">
            <a:solidFill>
              <a:srgbClr val="FF9900"/>
            </a:solidFill>
            <a:prstDash val="solid"/>
            <a:round/>
            <a:headEnd type="none" w="med" len="med"/>
            <a:tailEnd type="none" w="med" len="med"/>
          </a:ln>
        </p:spPr>
      </p:cxnSp>
      <p:sp>
        <p:nvSpPr>
          <p:cNvPr id="476" name="Google Shape;476;p48"/>
          <p:cNvSpPr txBox="1"/>
          <p:nvPr/>
        </p:nvSpPr>
        <p:spPr>
          <a:xfrm>
            <a:off x="962375" y="2544050"/>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Ilusión</a:t>
            </a:r>
            <a:endParaRPr sz="2000" b="1">
              <a:solidFill>
                <a:srgbClr val="FF9900"/>
              </a:solidFill>
            </a:endParaRPr>
          </a:p>
        </p:txBody>
      </p:sp>
      <p:sp>
        <p:nvSpPr>
          <p:cNvPr id="477" name="Google Shape;477;p48"/>
          <p:cNvSpPr txBox="1"/>
          <p:nvPr/>
        </p:nvSpPr>
        <p:spPr>
          <a:xfrm>
            <a:off x="962375" y="4530825"/>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Recurso</a:t>
            </a:r>
            <a:endParaRPr sz="2000" b="1">
              <a:solidFill>
                <a:srgbClr val="FF9900"/>
              </a:solidFill>
            </a:endParaRPr>
          </a:p>
        </p:txBody>
      </p:sp>
      <p:sp>
        <p:nvSpPr>
          <p:cNvPr id="478" name="Google Shape;478;p48"/>
          <p:cNvSpPr txBox="1"/>
          <p:nvPr/>
        </p:nvSpPr>
        <p:spPr>
          <a:xfrm>
            <a:off x="990675" y="5739425"/>
            <a:ext cx="10529700" cy="370200"/>
          </a:xfrm>
          <a:prstGeom prst="rect">
            <a:avLst/>
          </a:prstGeom>
          <a:solidFill>
            <a:schemeClr val="lt2"/>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latin typeface="Roboto"/>
                <a:ea typeface="Roboto"/>
                <a:cs typeface="Roboto"/>
                <a:sym typeface="Roboto"/>
              </a:rPr>
              <a:t>Ver video</a:t>
            </a:r>
            <a:r>
              <a:rPr lang="es-ES" sz="1600">
                <a:latin typeface="Roboto"/>
                <a:ea typeface="Roboto"/>
                <a:cs typeface="Roboto"/>
                <a:sym typeface="Roboto"/>
              </a:rPr>
              <a:t>: C01P11 - Ejemplo Virtualización de Memoria - ISI485 Sistemas Operativos (</a:t>
            </a:r>
            <a:r>
              <a:rPr lang="es-ES" sz="1600" u="sng">
                <a:solidFill>
                  <a:schemeClr val="hlink"/>
                </a:solidFill>
                <a:latin typeface="Roboto"/>
                <a:ea typeface="Roboto"/>
                <a:cs typeface="Roboto"/>
                <a:sym typeface="Roboto"/>
                <a:hlinkClick r:id="rId6"/>
              </a:rPr>
              <a:t>link</a:t>
            </a:r>
            <a:r>
              <a:rPr lang="es-ES" sz="1600">
                <a:latin typeface="Roboto"/>
                <a:ea typeface="Roboto"/>
                <a:cs typeface="Roboto"/>
                <a:sym typeface="Roboto"/>
              </a:rPr>
              <a:t>)</a:t>
            </a:r>
            <a:endParaRPr sz="1600">
              <a:latin typeface="Roboto"/>
              <a:ea typeface="Roboto"/>
              <a:cs typeface="Roboto"/>
              <a:sym typeface="Robot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9"/>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484" name="Google Shape;484;p49"/>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sp>
        <p:nvSpPr>
          <p:cNvPr id="485" name="Google Shape;485;p49"/>
          <p:cNvSpPr txBox="1"/>
          <p:nvPr/>
        </p:nvSpPr>
        <p:spPr>
          <a:xfrm>
            <a:off x="948100" y="869325"/>
            <a:ext cx="5650500" cy="3000000"/>
          </a:xfrm>
          <a:prstGeom prst="rect">
            <a:avLst/>
          </a:prstGeom>
          <a:noFill/>
          <a:ln>
            <a:noFill/>
          </a:ln>
        </p:spPr>
        <p:txBody>
          <a:bodyPr spcFirstLastPara="1" wrap="square" lIns="91425" tIns="91425" rIns="91425" bIns="91425" anchor="t" anchorCtr="0">
            <a:noAutofit/>
          </a:bodyPr>
          <a:lstStyle/>
          <a:p>
            <a:pPr marL="0" lvl="0" indent="0" algn="l" rtl="0">
              <a:spcBef>
                <a:spcPts val="480"/>
              </a:spcBef>
              <a:spcAft>
                <a:spcPts val="0"/>
              </a:spcAft>
              <a:buNone/>
            </a:pPr>
            <a:r>
              <a:rPr lang="es-ES" sz="2800" b="1" dirty="0">
                <a:solidFill>
                  <a:schemeClr val="accent1"/>
                </a:solidFill>
                <a:ea typeface="Roboto"/>
                <a:cs typeface="Roboto"/>
                <a:sym typeface="Roboto"/>
              </a:rPr>
              <a:t>Virtualización de Memoria</a:t>
            </a:r>
            <a:endParaRPr sz="2800" b="1" dirty="0">
              <a:solidFill>
                <a:schemeClr val="accent1"/>
              </a:solidFill>
              <a:ea typeface="Roboto"/>
              <a:cs typeface="Roboto"/>
              <a:sym typeface="Roboto"/>
            </a:endParaRPr>
          </a:p>
        </p:txBody>
      </p:sp>
      <p:pic>
        <p:nvPicPr>
          <p:cNvPr id="486" name="Google Shape;486;p49"/>
          <p:cNvPicPr preferRelativeResize="0"/>
          <p:nvPr/>
        </p:nvPicPr>
        <p:blipFill>
          <a:blip r:embed="rId3">
            <a:alphaModFix/>
          </a:blip>
          <a:stretch>
            <a:fillRect/>
          </a:stretch>
        </p:blipFill>
        <p:spPr>
          <a:xfrm>
            <a:off x="3722063" y="4153950"/>
            <a:ext cx="1123950" cy="1123950"/>
          </a:xfrm>
          <a:prstGeom prst="rect">
            <a:avLst/>
          </a:prstGeom>
          <a:noFill/>
          <a:ln>
            <a:noFill/>
          </a:ln>
        </p:spPr>
      </p:pic>
      <p:cxnSp>
        <p:nvCxnSpPr>
          <p:cNvPr id="487" name="Google Shape;487;p49"/>
          <p:cNvCxnSpPr/>
          <p:nvPr/>
        </p:nvCxnSpPr>
        <p:spPr>
          <a:xfrm rot="10800000" flipH="1">
            <a:off x="916650" y="3775000"/>
            <a:ext cx="5410500" cy="20400"/>
          </a:xfrm>
          <a:prstGeom prst="straightConnector1">
            <a:avLst/>
          </a:prstGeom>
          <a:noFill/>
          <a:ln w="38100" cap="flat" cmpd="sng">
            <a:solidFill>
              <a:srgbClr val="FF9900"/>
            </a:solidFill>
            <a:prstDash val="solid"/>
            <a:round/>
            <a:headEnd type="none" w="med" len="med"/>
            <a:tailEnd type="none" w="med" len="med"/>
          </a:ln>
        </p:spPr>
      </p:cxnSp>
      <p:sp>
        <p:nvSpPr>
          <p:cNvPr id="488" name="Google Shape;488;p49"/>
          <p:cNvSpPr txBox="1"/>
          <p:nvPr/>
        </p:nvSpPr>
        <p:spPr>
          <a:xfrm>
            <a:off x="962375" y="2544050"/>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Ilusión</a:t>
            </a:r>
            <a:endParaRPr sz="2000" b="1">
              <a:solidFill>
                <a:srgbClr val="FF9900"/>
              </a:solidFill>
            </a:endParaRPr>
          </a:p>
        </p:txBody>
      </p:sp>
      <p:sp>
        <p:nvSpPr>
          <p:cNvPr id="489" name="Google Shape;489;p49"/>
          <p:cNvSpPr txBox="1"/>
          <p:nvPr/>
        </p:nvSpPr>
        <p:spPr>
          <a:xfrm>
            <a:off x="962375" y="4530825"/>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Recurso</a:t>
            </a:r>
            <a:endParaRPr sz="2000" b="1">
              <a:solidFill>
                <a:srgbClr val="FF9900"/>
              </a:solidFill>
            </a:endParaRPr>
          </a:p>
        </p:txBody>
      </p:sp>
      <p:pic>
        <p:nvPicPr>
          <p:cNvPr id="490" name="Google Shape;490;p49"/>
          <p:cNvPicPr preferRelativeResize="0"/>
          <p:nvPr/>
        </p:nvPicPr>
        <p:blipFill>
          <a:blip r:embed="rId4">
            <a:alphaModFix/>
          </a:blip>
          <a:stretch>
            <a:fillRect/>
          </a:stretch>
        </p:blipFill>
        <p:spPr>
          <a:xfrm>
            <a:off x="2240925" y="2097625"/>
            <a:ext cx="4086225" cy="1381125"/>
          </a:xfrm>
          <a:prstGeom prst="rect">
            <a:avLst/>
          </a:prstGeom>
          <a:noFill/>
          <a:ln>
            <a:noFill/>
          </a:ln>
        </p:spPr>
      </p:pic>
      <p:pic>
        <p:nvPicPr>
          <p:cNvPr id="491" name="Google Shape;491;p49"/>
          <p:cNvPicPr preferRelativeResize="0"/>
          <p:nvPr/>
        </p:nvPicPr>
        <p:blipFill>
          <a:blip r:embed="rId5">
            <a:alphaModFix/>
          </a:blip>
          <a:stretch>
            <a:fillRect/>
          </a:stretch>
        </p:blipFill>
        <p:spPr>
          <a:xfrm>
            <a:off x="6767075" y="1487006"/>
            <a:ext cx="5055862" cy="176465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50"/>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497" name="Google Shape;497;p50"/>
          <p:cNvSpPr txBox="1">
            <a:spLocks noGrp="1"/>
          </p:cNvSpPr>
          <p:nvPr>
            <p:ph type="body" idx="1"/>
          </p:nvPr>
        </p:nvSpPr>
        <p:spPr>
          <a:xfrm>
            <a:off x="916650" y="932700"/>
            <a:ext cx="107391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Recurrencia</a:t>
            </a:r>
            <a:endParaRPr sz="2800" b="1" dirty="0">
              <a:solidFill>
                <a:schemeClr val="accent1"/>
              </a:solidFill>
              <a:latin typeface="+mn-lt"/>
            </a:endParaRPr>
          </a:p>
          <a:p>
            <a:pPr marL="457200" lvl="0" indent="-381000" algn="l" rtl="0">
              <a:lnSpc>
                <a:spcPct val="100000"/>
              </a:lnSpc>
              <a:spcBef>
                <a:spcPts val="600"/>
              </a:spcBef>
              <a:spcAft>
                <a:spcPts val="0"/>
              </a:spcAft>
              <a:buSzPts val="2400"/>
              <a:buFont typeface="Times New Roman"/>
              <a:buChar char="●"/>
            </a:pPr>
            <a:r>
              <a:rPr lang="es-ES" sz="2400" dirty="0">
                <a:latin typeface="+mn-lt"/>
              </a:rPr>
              <a:t>El SO está realizando muchas cosas a la vez, primero ejecutando un proceso, luego otro, y así sucesivamente.</a:t>
            </a:r>
            <a:endParaRPr sz="2400" dirty="0">
              <a:latin typeface="+mn-lt"/>
            </a:endParaRPr>
          </a:p>
          <a:p>
            <a:pPr marL="457200" lvl="0" indent="-381000" algn="l" rtl="0">
              <a:lnSpc>
                <a:spcPct val="100000"/>
              </a:lnSpc>
              <a:spcBef>
                <a:spcPts val="0"/>
              </a:spcBef>
              <a:spcAft>
                <a:spcPts val="0"/>
              </a:spcAft>
              <a:buSzPts val="2400"/>
              <a:buFont typeface="Times New Roman"/>
              <a:buChar char="●"/>
            </a:pPr>
            <a:r>
              <a:rPr lang="es-ES" sz="2400" dirty="0">
                <a:latin typeface="+mn-lt"/>
              </a:rPr>
              <a:t>Programas modernos </a:t>
            </a:r>
            <a:r>
              <a:rPr lang="es-ES" sz="2400" dirty="0" err="1">
                <a:latin typeface="+mn-lt"/>
              </a:rPr>
              <a:t>multi-hilo</a:t>
            </a:r>
            <a:r>
              <a:rPr lang="es-ES" sz="2400" dirty="0">
                <a:latin typeface="+mn-lt"/>
              </a:rPr>
              <a:t> presentan </a:t>
            </a:r>
            <a:r>
              <a:rPr lang="es-ES" sz="2400" b="1" dirty="0">
                <a:solidFill>
                  <a:srgbClr val="FF0000"/>
                </a:solidFill>
                <a:latin typeface="+mn-lt"/>
              </a:rPr>
              <a:t>problemas de concurrencia</a:t>
            </a:r>
            <a:r>
              <a:rPr lang="es-ES" sz="2400" dirty="0">
                <a:latin typeface="+mn-lt"/>
              </a:rPr>
              <a:t>.</a:t>
            </a:r>
            <a:endParaRPr dirty="0">
              <a:latin typeface="+mn-lt"/>
            </a:endParaRPr>
          </a:p>
          <a:p>
            <a:pPr marL="457200" lvl="0" indent="0" algn="l" rtl="0">
              <a:spcBef>
                <a:spcPts val="1000"/>
              </a:spcBef>
              <a:spcAft>
                <a:spcPts val="0"/>
              </a:spcAft>
              <a:buNone/>
            </a:pPr>
            <a:endParaRPr dirty="0">
              <a:latin typeface="+mn-lt"/>
            </a:endParaRPr>
          </a:p>
        </p:txBody>
      </p:sp>
      <p:sp>
        <p:nvSpPr>
          <p:cNvPr id="498" name="Google Shape;498;p50"/>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grpSp>
        <p:nvGrpSpPr>
          <p:cNvPr id="499" name="Google Shape;499;p50"/>
          <p:cNvGrpSpPr/>
          <p:nvPr/>
        </p:nvGrpSpPr>
        <p:grpSpPr>
          <a:xfrm>
            <a:off x="6484435" y="3165575"/>
            <a:ext cx="3771675" cy="2371038"/>
            <a:chOff x="1623085" y="3117300"/>
            <a:chExt cx="3771675" cy="2371038"/>
          </a:xfrm>
        </p:grpSpPr>
        <p:pic>
          <p:nvPicPr>
            <p:cNvPr id="500" name="Google Shape;500;p50"/>
            <p:cNvPicPr preferRelativeResize="0"/>
            <p:nvPr/>
          </p:nvPicPr>
          <p:blipFill>
            <a:blip r:embed="rId3">
              <a:alphaModFix/>
            </a:blip>
            <a:stretch>
              <a:fillRect/>
            </a:stretch>
          </p:blipFill>
          <p:spPr>
            <a:xfrm>
              <a:off x="2245575" y="4421538"/>
              <a:ext cx="1066800" cy="1066800"/>
            </a:xfrm>
            <a:prstGeom prst="rect">
              <a:avLst/>
            </a:prstGeom>
            <a:noFill/>
            <a:ln>
              <a:noFill/>
            </a:ln>
          </p:spPr>
        </p:pic>
        <p:pic>
          <p:nvPicPr>
            <p:cNvPr id="501" name="Google Shape;501;p50"/>
            <p:cNvPicPr preferRelativeResize="0"/>
            <p:nvPr/>
          </p:nvPicPr>
          <p:blipFill>
            <a:blip r:embed="rId4">
              <a:alphaModFix/>
            </a:blip>
            <a:stretch>
              <a:fillRect/>
            </a:stretch>
          </p:blipFill>
          <p:spPr>
            <a:xfrm>
              <a:off x="3895413" y="4316763"/>
              <a:ext cx="1123950" cy="1123950"/>
            </a:xfrm>
            <a:prstGeom prst="rect">
              <a:avLst/>
            </a:prstGeom>
            <a:noFill/>
            <a:ln>
              <a:noFill/>
            </a:ln>
          </p:spPr>
        </p:pic>
        <p:pic>
          <p:nvPicPr>
            <p:cNvPr id="502" name="Google Shape;502;p50"/>
            <p:cNvPicPr preferRelativeResize="0"/>
            <p:nvPr/>
          </p:nvPicPr>
          <p:blipFill>
            <a:blip r:embed="rId5">
              <a:alphaModFix/>
            </a:blip>
            <a:stretch>
              <a:fillRect/>
            </a:stretch>
          </p:blipFill>
          <p:spPr>
            <a:xfrm>
              <a:off x="1623085" y="3117300"/>
              <a:ext cx="363275" cy="763575"/>
            </a:xfrm>
            <a:prstGeom prst="rect">
              <a:avLst/>
            </a:prstGeom>
            <a:noFill/>
            <a:ln>
              <a:noFill/>
            </a:ln>
          </p:spPr>
        </p:pic>
        <p:pic>
          <p:nvPicPr>
            <p:cNvPr id="503" name="Google Shape;503;p50"/>
            <p:cNvPicPr preferRelativeResize="0"/>
            <p:nvPr/>
          </p:nvPicPr>
          <p:blipFill>
            <a:blip r:embed="rId5">
              <a:alphaModFix/>
            </a:blip>
            <a:stretch>
              <a:fillRect/>
            </a:stretch>
          </p:blipFill>
          <p:spPr>
            <a:xfrm>
              <a:off x="2467735" y="3117300"/>
              <a:ext cx="363275" cy="763575"/>
            </a:xfrm>
            <a:prstGeom prst="rect">
              <a:avLst/>
            </a:prstGeom>
            <a:noFill/>
            <a:ln>
              <a:noFill/>
            </a:ln>
          </p:spPr>
        </p:pic>
        <p:pic>
          <p:nvPicPr>
            <p:cNvPr id="504" name="Google Shape;504;p50"/>
            <p:cNvPicPr preferRelativeResize="0"/>
            <p:nvPr/>
          </p:nvPicPr>
          <p:blipFill>
            <a:blip r:embed="rId5">
              <a:alphaModFix/>
            </a:blip>
            <a:stretch>
              <a:fillRect/>
            </a:stretch>
          </p:blipFill>
          <p:spPr>
            <a:xfrm>
              <a:off x="3312372" y="3117300"/>
              <a:ext cx="363275" cy="763575"/>
            </a:xfrm>
            <a:prstGeom prst="rect">
              <a:avLst/>
            </a:prstGeom>
            <a:noFill/>
            <a:ln>
              <a:noFill/>
            </a:ln>
          </p:spPr>
        </p:pic>
        <p:pic>
          <p:nvPicPr>
            <p:cNvPr id="505" name="Google Shape;505;p50"/>
            <p:cNvPicPr preferRelativeResize="0"/>
            <p:nvPr/>
          </p:nvPicPr>
          <p:blipFill>
            <a:blip r:embed="rId5">
              <a:alphaModFix/>
            </a:blip>
            <a:stretch>
              <a:fillRect/>
            </a:stretch>
          </p:blipFill>
          <p:spPr>
            <a:xfrm>
              <a:off x="4189785" y="3117300"/>
              <a:ext cx="363275" cy="763575"/>
            </a:xfrm>
            <a:prstGeom prst="rect">
              <a:avLst/>
            </a:prstGeom>
            <a:noFill/>
            <a:ln>
              <a:noFill/>
            </a:ln>
          </p:spPr>
        </p:pic>
        <p:pic>
          <p:nvPicPr>
            <p:cNvPr id="506" name="Google Shape;506;p50"/>
            <p:cNvPicPr preferRelativeResize="0"/>
            <p:nvPr/>
          </p:nvPicPr>
          <p:blipFill>
            <a:blip r:embed="rId5">
              <a:alphaModFix/>
            </a:blip>
            <a:stretch>
              <a:fillRect/>
            </a:stretch>
          </p:blipFill>
          <p:spPr>
            <a:xfrm>
              <a:off x="5031485" y="3117300"/>
              <a:ext cx="363275" cy="763575"/>
            </a:xfrm>
            <a:prstGeom prst="rect">
              <a:avLst/>
            </a:prstGeom>
            <a:noFill/>
            <a:ln>
              <a:noFill/>
            </a:ln>
          </p:spPr>
        </p:pic>
      </p:grpSp>
      <p:pic>
        <p:nvPicPr>
          <p:cNvPr id="507" name="Google Shape;507;p50"/>
          <p:cNvPicPr preferRelativeResize="0"/>
          <p:nvPr/>
        </p:nvPicPr>
        <p:blipFill>
          <a:blip r:embed="rId6">
            <a:alphaModFix/>
          </a:blip>
          <a:stretch>
            <a:fillRect/>
          </a:stretch>
        </p:blipFill>
        <p:spPr>
          <a:xfrm>
            <a:off x="2540295" y="2869175"/>
            <a:ext cx="2686579" cy="328752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11"/>
        <p:cNvGrpSpPr/>
        <p:nvPr/>
      </p:nvGrpSpPr>
      <p:grpSpPr>
        <a:xfrm>
          <a:off x="0" y="0"/>
          <a:ext cx="0" cy="0"/>
          <a:chOff x="0" y="0"/>
          <a:chExt cx="0" cy="0"/>
        </a:xfrm>
      </p:grpSpPr>
      <p:sp>
        <p:nvSpPr>
          <p:cNvPr id="512" name="Google Shape;512;p51"/>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513" name="Google Shape;513;p51"/>
          <p:cNvSpPr txBox="1">
            <a:spLocks noGrp="1"/>
          </p:cNvSpPr>
          <p:nvPr>
            <p:ph type="body" idx="1"/>
          </p:nvPr>
        </p:nvSpPr>
        <p:spPr>
          <a:xfrm>
            <a:off x="916650" y="780300"/>
            <a:ext cx="107874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Recurrencia</a:t>
            </a:r>
            <a:endParaRPr sz="2800" b="1" dirty="0">
              <a:solidFill>
                <a:schemeClr val="accent1"/>
              </a:solidFill>
              <a:latin typeface="+mn-lt"/>
            </a:endParaRPr>
          </a:p>
          <a:p>
            <a:pPr marL="457200" lvl="0" indent="-361950" algn="l" rtl="0">
              <a:lnSpc>
                <a:spcPct val="100000"/>
              </a:lnSpc>
              <a:spcBef>
                <a:spcPts val="600"/>
              </a:spcBef>
              <a:spcAft>
                <a:spcPts val="0"/>
              </a:spcAft>
              <a:buSzPts val="2100"/>
              <a:buFont typeface="Times New Roman"/>
              <a:buChar char="●"/>
            </a:pPr>
            <a:r>
              <a:rPr lang="es-ES" sz="2100" b="1" dirty="0">
                <a:solidFill>
                  <a:srgbClr val="93C47D"/>
                </a:solidFill>
                <a:latin typeface="+mn-lt"/>
              </a:rPr>
              <a:t>Contextualización:</a:t>
            </a:r>
            <a:r>
              <a:rPr lang="es-ES" sz="2100" dirty="0">
                <a:latin typeface="+mn-lt"/>
              </a:rPr>
              <a:t> Dos hilos (</a:t>
            </a:r>
            <a:r>
              <a:rPr lang="es-ES" sz="2100" b="1" dirty="0" err="1">
                <a:latin typeface="+mn-lt"/>
              </a:rPr>
              <a:t>threads</a:t>
            </a:r>
            <a:r>
              <a:rPr lang="es-ES" sz="2100" dirty="0">
                <a:latin typeface="+mn-lt"/>
              </a:rPr>
              <a:t>) comparten el balance de una cuenta en memoria). Cada hilo corre su propio código llamado </a:t>
            </a:r>
            <a:r>
              <a:rPr lang="es-ES" sz="2100" b="1" dirty="0" err="1">
                <a:latin typeface="+mn-lt"/>
                <a:ea typeface="Consolas"/>
                <a:cs typeface="Consolas"/>
                <a:sym typeface="Consolas"/>
              </a:rPr>
              <a:t>deposit</a:t>
            </a:r>
            <a:r>
              <a:rPr lang="es-ES" sz="2100" b="1" dirty="0">
                <a:latin typeface="+mn-lt"/>
                <a:ea typeface="Consolas"/>
                <a:cs typeface="Consolas"/>
                <a:sym typeface="Consolas"/>
              </a:rPr>
              <a:t>()</a:t>
            </a:r>
            <a:r>
              <a:rPr lang="es-ES" sz="2100" dirty="0">
                <a:latin typeface="+mn-lt"/>
              </a:rPr>
              <a:t> tal y como se muestra a continuación.</a:t>
            </a:r>
            <a:endParaRPr sz="21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457200" lvl="0" indent="0" algn="l" rtl="0">
              <a:spcBef>
                <a:spcPts val="1000"/>
              </a:spcBef>
              <a:spcAft>
                <a:spcPts val="0"/>
              </a:spcAft>
              <a:buNone/>
            </a:pPr>
            <a:endParaRPr dirty="0">
              <a:latin typeface="+mn-lt"/>
            </a:endParaRPr>
          </a:p>
        </p:txBody>
      </p:sp>
      <p:sp>
        <p:nvSpPr>
          <p:cNvPr id="514" name="Google Shape;514;p51"/>
          <p:cNvSpPr txBox="1"/>
          <p:nvPr/>
        </p:nvSpPr>
        <p:spPr>
          <a:xfrm>
            <a:off x="916650" y="6432000"/>
            <a:ext cx="87093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a:t>Ejemplo tomado de: </a:t>
            </a:r>
            <a:r>
              <a:rPr lang="es-ES" sz="1100" u="sng">
                <a:solidFill>
                  <a:schemeClr val="hlink"/>
                </a:solidFill>
                <a:hlinkClick r:id="rId3"/>
              </a:rPr>
              <a:t>http://pages.cs.wisc.edu/~remzi/Classes/537/Fall2005/Lectures/lecture4.pdf</a:t>
            </a:r>
            <a:endParaRPr/>
          </a:p>
        </p:txBody>
      </p:sp>
      <p:sp>
        <p:nvSpPr>
          <p:cNvPr id="515" name="Google Shape;515;p51"/>
          <p:cNvSpPr txBox="1"/>
          <p:nvPr/>
        </p:nvSpPr>
        <p:spPr>
          <a:xfrm>
            <a:off x="1762650" y="2658850"/>
            <a:ext cx="4250100" cy="10818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s-ES" sz="1800" b="1">
                <a:latin typeface="Consolas"/>
                <a:ea typeface="Consolas"/>
                <a:cs typeface="Consolas"/>
                <a:sym typeface="Consolas"/>
              </a:rPr>
              <a:t>void deposit (int amount) {  </a:t>
            </a:r>
            <a:endParaRPr sz="1800" b="1">
              <a:latin typeface="Consolas"/>
              <a:ea typeface="Consolas"/>
              <a:cs typeface="Consolas"/>
              <a:sym typeface="Consolas"/>
            </a:endParaRPr>
          </a:p>
          <a:p>
            <a:pPr marL="0" lvl="0" indent="0" algn="l" rtl="0">
              <a:spcBef>
                <a:spcPts val="0"/>
              </a:spcBef>
              <a:spcAft>
                <a:spcPts val="0"/>
              </a:spcAft>
              <a:buNone/>
            </a:pPr>
            <a:r>
              <a:rPr lang="es-ES" sz="1800" b="1">
                <a:latin typeface="Consolas"/>
                <a:ea typeface="Consolas"/>
                <a:cs typeface="Consolas"/>
                <a:sym typeface="Consolas"/>
              </a:rPr>
              <a:t>   balance = balance + amount; </a:t>
            </a:r>
            <a:endParaRPr sz="1800" b="1">
              <a:latin typeface="Consolas"/>
              <a:ea typeface="Consolas"/>
              <a:cs typeface="Consolas"/>
              <a:sym typeface="Consolas"/>
            </a:endParaRPr>
          </a:p>
          <a:p>
            <a:pPr marL="0" lvl="0" indent="0" algn="l" rtl="0">
              <a:spcBef>
                <a:spcPts val="0"/>
              </a:spcBef>
              <a:spcAft>
                <a:spcPts val="0"/>
              </a:spcAft>
              <a:buNone/>
            </a:pPr>
            <a:r>
              <a:rPr lang="es-ES" sz="1800" b="1">
                <a:latin typeface="Consolas"/>
                <a:ea typeface="Consolas"/>
                <a:cs typeface="Consolas"/>
                <a:sym typeface="Consolas"/>
              </a:rPr>
              <a:t>}</a:t>
            </a:r>
            <a:endParaRPr sz="1800" b="1">
              <a:latin typeface="Consolas"/>
              <a:ea typeface="Consolas"/>
              <a:cs typeface="Consolas"/>
              <a:sym typeface="Consolas"/>
            </a:endParaRPr>
          </a:p>
        </p:txBody>
      </p:sp>
      <p:sp>
        <p:nvSpPr>
          <p:cNvPr id="516" name="Google Shape;516;p51"/>
          <p:cNvSpPr txBox="1"/>
          <p:nvPr/>
        </p:nvSpPr>
        <p:spPr>
          <a:xfrm>
            <a:off x="7285550" y="2628800"/>
            <a:ext cx="4250100" cy="10818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s-ES" sz="1800" b="1">
                <a:latin typeface="Consolas"/>
                <a:ea typeface="Consolas"/>
                <a:cs typeface="Consolas"/>
                <a:sym typeface="Consolas"/>
              </a:rPr>
              <a:t>load R1, balance </a:t>
            </a:r>
            <a:endParaRPr sz="1800" b="1">
              <a:latin typeface="Consolas"/>
              <a:ea typeface="Consolas"/>
              <a:cs typeface="Consolas"/>
              <a:sym typeface="Consolas"/>
            </a:endParaRPr>
          </a:p>
          <a:p>
            <a:pPr marL="0" lvl="0" indent="0" algn="l" rtl="0">
              <a:spcBef>
                <a:spcPts val="0"/>
              </a:spcBef>
              <a:spcAft>
                <a:spcPts val="0"/>
              </a:spcAft>
              <a:buNone/>
            </a:pPr>
            <a:r>
              <a:rPr lang="es-ES" sz="1800" b="1">
                <a:latin typeface="Consolas"/>
                <a:ea typeface="Consolas"/>
                <a:cs typeface="Consolas"/>
                <a:sym typeface="Consolas"/>
              </a:rPr>
              <a:t>add R1, amount </a:t>
            </a:r>
            <a:endParaRPr sz="1800" b="1">
              <a:latin typeface="Consolas"/>
              <a:ea typeface="Consolas"/>
              <a:cs typeface="Consolas"/>
              <a:sym typeface="Consolas"/>
            </a:endParaRPr>
          </a:p>
          <a:p>
            <a:pPr marL="0" lvl="0" indent="0" algn="l" rtl="0">
              <a:spcBef>
                <a:spcPts val="0"/>
              </a:spcBef>
              <a:spcAft>
                <a:spcPts val="0"/>
              </a:spcAft>
              <a:buNone/>
            </a:pPr>
            <a:r>
              <a:rPr lang="es-ES" sz="1800" b="1">
                <a:latin typeface="Consolas"/>
                <a:ea typeface="Consolas"/>
                <a:cs typeface="Consolas"/>
                <a:sym typeface="Consolas"/>
              </a:rPr>
              <a:t>store R1, balance</a:t>
            </a:r>
            <a:endParaRPr sz="1800" b="1">
              <a:latin typeface="Consolas"/>
              <a:ea typeface="Consolas"/>
              <a:cs typeface="Consolas"/>
              <a:sym typeface="Consolas"/>
            </a:endParaRPr>
          </a:p>
        </p:txBody>
      </p:sp>
      <p:pic>
        <p:nvPicPr>
          <p:cNvPr id="517" name="Google Shape;517;p51"/>
          <p:cNvPicPr preferRelativeResize="0"/>
          <p:nvPr/>
        </p:nvPicPr>
        <p:blipFill>
          <a:blip r:embed="rId4">
            <a:alphaModFix/>
          </a:blip>
          <a:stretch>
            <a:fillRect/>
          </a:stretch>
        </p:blipFill>
        <p:spPr>
          <a:xfrm>
            <a:off x="916660" y="2787900"/>
            <a:ext cx="363275" cy="763575"/>
          </a:xfrm>
          <a:prstGeom prst="rect">
            <a:avLst/>
          </a:prstGeom>
          <a:noFill/>
          <a:ln>
            <a:noFill/>
          </a:ln>
        </p:spPr>
      </p:pic>
      <p:pic>
        <p:nvPicPr>
          <p:cNvPr id="518" name="Google Shape;518;p51"/>
          <p:cNvPicPr preferRelativeResize="0"/>
          <p:nvPr/>
        </p:nvPicPr>
        <p:blipFill>
          <a:blip r:embed="rId4">
            <a:alphaModFix/>
          </a:blip>
          <a:stretch>
            <a:fillRect/>
          </a:stretch>
        </p:blipFill>
        <p:spPr>
          <a:xfrm>
            <a:off x="1339647" y="2828050"/>
            <a:ext cx="363275" cy="763575"/>
          </a:xfrm>
          <a:prstGeom prst="rect">
            <a:avLst/>
          </a:prstGeom>
          <a:noFill/>
          <a:ln>
            <a:noFill/>
          </a:ln>
        </p:spPr>
      </p:pic>
      <p:sp>
        <p:nvSpPr>
          <p:cNvPr id="519" name="Google Shape;519;p51"/>
          <p:cNvSpPr/>
          <p:nvPr/>
        </p:nvSpPr>
        <p:spPr>
          <a:xfrm>
            <a:off x="6234850" y="3062950"/>
            <a:ext cx="828600" cy="273600"/>
          </a:xfrm>
          <a:prstGeom prst="rightArrow">
            <a:avLst>
              <a:gd name="adj1" fmla="val 50000"/>
              <a:gd name="adj2" fmla="val 50000"/>
            </a:avLst>
          </a:prstGeom>
          <a:solidFill>
            <a:srgbClr val="93C4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20" name="Google Shape;520;p51"/>
          <p:cNvPicPr preferRelativeResize="0"/>
          <p:nvPr/>
        </p:nvPicPr>
        <p:blipFill>
          <a:blip r:embed="rId5">
            <a:alphaModFix/>
          </a:blip>
          <a:stretch>
            <a:fillRect/>
          </a:stretch>
        </p:blipFill>
        <p:spPr>
          <a:xfrm>
            <a:off x="2857550" y="3893050"/>
            <a:ext cx="1487450" cy="2555375"/>
          </a:xfrm>
          <a:prstGeom prst="rect">
            <a:avLst/>
          </a:prstGeom>
          <a:noFill/>
          <a:ln>
            <a:noFill/>
          </a:ln>
        </p:spPr>
      </p:pic>
      <p:sp>
        <p:nvSpPr>
          <p:cNvPr id="521" name="Google Shape;521;p51"/>
          <p:cNvSpPr txBox="1"/>
          <p:nvPr/>
        </p:nvSpPr>
        <p:spPr>
          <a:xfrm>
            <a:off x="5358250" y="4059525"/>
            <a:ext cx="5453700" cy="1579800"/>
          </a:xfrm>
          <a:prstGeom prst="rect">
            <a:avLst/>
          </a:prstGeom>
          <a:noFill/>
          <a:ln>
            <a:noFill/>
          </a:ln>
        </p:spPr>
        <p:txBody>
          <a:bodyPr spcFirstLastPara="1" wrap="square" lIns="91425" tIns="91425" rIns="91425" bIns="91425" anchor="t" anchorCtr="0">
            <a:noAutofit/>
          </a:bodyPr>
          <a:lstStyle/>
          <a:p>
            <a:pPr marL="0" lvl="0" indent="0" algn="l" rtl="0">
              <a:spcBef>
                <a:spcPts val="600"/>
              </a:spcBef>
              <a:spcAft>
                <a:spcPts val="0"/>
              </a:spcAft>
              <a:buNone/>
            </a:pPr>
            <a:r>
              <a:rPr lang="es-ES" sz="2000" b="1" dirty="0">
                <a:solidFill>
                  <a:schemeClr val="dk1"/>
                </a:solidFill>
                <a:ea typeface="Roboto"/>
                <a:cs typeface="Roboto"/>
                <a:sym typeface="Roboto"/>
              </a:rPr>
              <a:t>Responda:</a:t>
            </a:r>
            <a:endParaRPr sz="2000" b="1" dirty="0">
              <a:solidFill>
                <a:schemeClr val="dk1"/>
              </a:solidFill>
              <a:ea typeface="Roboto"/>
              <a:cs typeface="Roboto"/>
              <a:sym typeface="Roboto"/>
            </a:endParaRPr>
          </a:p>
          <a:p>
            <a:pPr marL="457200" lvl="0" indent="-355600" algn="l" rtl="0">
              <a:spcBef>
                <a:spcPts val="600"/>
              </a:spcBef>
              <a:spcAft>
                <a:spcPts val="0"/>
              </a:spcAft>
              <a:buClr>
                <a:schemeClr val="dk1"/>
              </a:buClr>
              <a:buSzPts val="2000"/>
              <a:buFont typeface="Roboto"/>
              <a:buChar char="●"/>
            </a:pPr>
            <a:r>
              <a:rPr lang="es-ES" sz="2000" dirty="0">
                <a:solidFill>
                  <a:schemeClr val="dk1"/>
                </a:solidFill>
                <a:ea typeface="Roboto"/>
                <a:cs typeface="Roboto"/>
                <a:sym typeface="Roboto"/>
              </a:rPr>
              <a:t>¿Cuales son variables compartidas?</a:t>
            </a:r>
            <a:endParaRPr sz="2000" dirty="0">
              <a:solidFill>
                <a:schemeClr val="dk1"/>
              </a:solidFill>
              <a:ea typeface="Roboto"/>
              <a:cs typeface="Roboto"/>
              <a:sym typeface="Roboto"/>
            </a:endParaRPr>
          </a:p>
          <a:p>
            <a:pPr marL="457200" lvl="0" indent="-355600" algn="l" rtl="0">
              <a:spcBef>
                <a:spcPts val="0"/>
              </a:spcBef>
              <a:spcAft>
                <a:spcPts val="0"/>
              </a:spcAft>
              <a:buClr>
                <a:schemeClr val="dk1"/>
              </a:buClr>
              <a:buSzPts val="2000"/>
              <a:buFont typeface="Roboto"/>
              <a:buChar char="●"/>
            </a:pPr>
            <a:r>
              <a:rPr lang="es-ES" sz="2000" dirty="0">
                <a:solidFill>
                  <a:schemeClr val="dk1"/>
                </a:solidFill>
                <a:ea typeface="Roboto"/>
                <a:cs typeface="Roboto"/>
                <a:sym typeface="Roboto"/>
              </a:rPr>
              <a:t>¿Cuales con variables privadas?</a:t>
            </a:r>
            <a:endParaRPr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25"/>
        <p:cNvGrpSpPr/>
        <p:nvPr/>
      </p:nvGrpSpPr>
      <p:grpSpPr>
        <a:xfrm>
          <a:off x="0" y="0"/>
          <a:ext cx="0" cy="0"/>
          <a:chOff x="0" y="0"/>
          <a:chExt cx="0" cy="0"/>
        </a:xfrm>
      </p:grpSpPr>
      <p:sp>
        <p:nvSpPr>
          <p:cNvPr id="526" name="Google Shape;526;p52"/>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p>
        </p:txBody>
      </p:sp>
      <p:sp>
        <p:nvSpPr>
          <p:cNvPr id="527" name="Google Shape;527;p52"/>
          <p:cNvSpPr txBox="1">
            <a:spLocks noGrp="1"/>
          </p:cNvSpPr>
          <p:nvPr>
            <p:ph type="body" idx="1"/>
          </p:nvPr>
        </p:nvSpPr>
        <p:spPr>
          <a:xfrm>
            <a:off x="916650" y="856500"/>
            <a:ext cx="108546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Recurrencia</a:t>
            </a:r>
            <a:endParaRPr sz="2800" b="1" dirty="0">
              <a:solidFill>
                <a:schemeClr val="accent1"/>
              </a:solidFill>
              <a:latin typeface="+mn-lt"/>
            </a:endParaRPr>
          </a:p>
          <a:p>
            <a:pPr marL="457200" lvl="0" indent="-381000" algn="l" rtl="0">
              <a:lnSpc>
                <a:spcPct val="100000"/>
              </a:lnSpc>
              <a:spcBef>
                <a:spcPts val="600"/>
              </a:spcBef>
              <a:spcAft>
                <a:spcPts val="0"/>
              </a:spcAft>
              <a:buSzPts val="2400"/>
              <a:buFont typeface="Times New Roman"/>
              <a:buChar char="●"/>
            </a:pPr>
            <a:r>
              <a:rPr lang="es-ES" sz="2400" dirty="0">
                <a:latin typeface="+mn-lt"/>
              </a:rPr>
              <a:t>Incrementar una </a:t>
            </a:r>
            <a:r>
              <a:rPr lang="es-ES" sz="2400" b="1" dirty="0">
                <a:solidFill>
                  <a:srgbClr val="8BAB42"/>
                </a:solidFill>
                <a:latin typeface="+mn-lt"/>
              </a:rPr>
              <a:t>variable compartida</a:t>
            </a:r>
            <a:r>
              <a:rPr lang="es-ES" sz="2400" dirty="0">
                <a:latin typeface="+mn-lt"/>
              </a:rPr>
              <a:t> usa tres instrucciones:</a:t>
            </a:r>
            <a:endParaRPr sz="2400" dirty="0">
              <a:latin typeface="+mn-lt"/>
            </a:endParaRPr>
          </a:p>
          <a:p>
            <a:pPr marL="914400" lvl="1" indent="-355600" algn="l" rtl="0">
              <a:lnSpc>
                <a:spcPct val="100000"/>
              </a:lnSpc>
              <a:spcBef>
                <a:spcPts val="0"/>
              </a:spcBef>
              <a:spcAft>
                <a:spcPts val="0"/>
              </a:spcAft>
              <a:buSzPts val="2000"/>
              <a:buFont typeface="Times New Roman"/>
              <a:buChar char="○"/>
            </a:pPr>
            <a:r>
              <a:rPr lang="es-ES" b="1" dirty="0">
                <a:latin typeface="+mn-lt"/>
              </a:rPr>
              <a:t>Cargar</a:t>
            </a:r>
            <a:r>
              <a:rPr lang="es-ES" dirty="0">
                <a:latin typeface="+mn-lt"/>
              </a:rPr>
              <a:t> el valor del contador de la memoria a un registro</a:t>
            </a:r>
            <a:endParaRPr dirty="0">
              <a:latin typeface="+mn-lt"/>
            </a:endParaRPr>
          </a:p>
          <a:p>
            <a:pPr marL="914400" lvl="1" indent="-355600" algn="l" rtl="0">
              <a:lnSpc>
                <a:spcPct val="100000"/>
              </a:lnSpc>
              <a:spcBef>
                <a:spcPts val="0"/>
              </a:spcBef>
              <a:spcAft>
                <a:spcPts val="0"/>
              </a:spcAft>
              <a:buSzPts val="2000"/>
              <a:buFont typeface="Roboto"/>
              <a:buChar char="○"/>
            </a:pPr>
            <a:r>
              <a:rPr lang="es-ES" b="1" dirty="0">
                <a:latin typeface="+mn-lt"/>
              </a:rPr>
              <a:t>Incrementar</a:t>
            </a:r>
            <a:endParaRPr b="1" dirty="0">
              <a:latin typeface="+mn-lt"/>
            </a:endParaRPr>
          </a:p>
          <a:p>
            <a:pPr marL="914400" lvl="1" indent="-355600" algn="l" rtl="0">
              <a:lnSpc>
                <a:spcPct val="100000"/>
              </a:lnSpc>
              <a:spcBef>
                <a:spcPts val="0"/>
              </a:spcBef>
              <a:spcAft>
                <a:spcPts val="0"/>
              </a:spcAft>
              <a:buSzPts val="2000"/>
              <a:buFont typeface="Times New Roman"/>
              <a:buChar char="○"/>
            </a:pPr>
            <a:r>
              <a:rPr lang="es-ES" b="1" dirty="0">
                <a:latin typeface="+mn-lt"/>
              </a:rPr>
              <a:t>Almacenar</a:t>
            </a:r>
            <a:r>
              <a:rPr lang="es-ES" dirty="0">
                <a:latin typeface="+mn-lt"/>
              </a:rPr>
              <a:t> el valor modificado en la memoria</a:t>
            </a:r>
            <a:endParaRPr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457200" lvl="0" indent="0" algn="l" rtl="0">
              <a:spcBef>
                <a:spcPts val="1000"/>
              </a:spcBef>
              <a:spcAft>
                <a:spcPts val="0"/>
              </a:spcAft>
              <a:buNone/>
            </a:pPr>
            <a:endParaRPr dirty="0">
              <a:latin typeface="+mn-lt"/>
            </a:endParaRPr>
          </a:p>
        </p:txBody>
      </p:sp>
      <p:sp>
        <p:nvSpPr>
          <p:cNvPr id="528" name="Google Shape;528;p52"/>
          <p:cNvSpPr txBox="1"/>
          <p:nvPr/>
        </p:nvSpPr>
        <p:spPr>
          <a:xfrm>
            <a:off x="916650" y="6432000"/>
            <a:ext cx="87093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a:t>Ejemplo tomado de: </a:t>
            </a:r>
            <a:r>
              <a:rPr lang="es-ES" sz="1100" u="sng">
                <a:solidFill>
                  <a:schemeClr val="hlink"/>
                </a:solidFill>
                <a:hlinkClick r:id="rId3"/>
              </a:rPr>
              <a:t>http://pages.cs.wisc.edu/~remzi/Classes/537/Fall2005/Lectures/lecture4.pdf</a:t>
            </a:r>
            <a:endParaRPr/>
          </a:p>
        </p:txBody>
      </p:sp>
      <p:sp>
        <p:nvSpPr>
          <p:cNvPr id="529" name="Google Shape;529;p52"/>
          <p:cNvSpPr txBox="1"/>
          <p:nvPr/>
        </p:nvSpPr>
        <p:spPr>
          <a:xfrm>
            <a:off x="1407975" y="3706600"/>
            <a:ext cx="4490400" cy="10818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s-ES" sz="2000">
                <a:latin typeface="Consolas"/>
                <a:ea typeface="Consolas"/>
                <a:cs typeface="Consolas"/>
                <a:sym typeface="Consolas"/>
              </a:rPr>
              <a:t>void deposit (int amount) {  </a:t>
            </a:r>
            <a:endParaRPr sz="2000">
              <a:latin typeface="Consolas"/>
              <a:ea typeface="Consolas"/>
              <a:cs typeface="Consolas"/>
              <a:sym typeface="Consolas"/>
            </a:endParaRPr>
          </a:p>
          <a:p>
            <a:pPr marL="0" lvl="0" indent="0" algn="l" rtl="0">
              <a:spcBef>
                <a:spcPts val="0"/>
              </a:spcBef>
              <a:spcAft>
                <a:spcPts val="0"/>
              </a:spcAft>
              <a:buNone/>
            </a:pPr>
            <a:r>
              <a:rPr lang="es-ES" sz="2000">
                <a:latin typeface="Consolas"/>
                <a:ea typeface="Consolas"/>
                <a:cs typeface="Consolas"/>
                <a:sym typeface="Consolas"/>
              </a:rPr>
              <a:t>   balance = balance + amount; </a:t>
            </a:r>
            <a:endParaRPr sz="2000">
              <a:latin typeface="Consolas"/>
              <a:ea typeface="Consolas"/>
              <a:cs typeface="Consolas"/>
              <a:sym typeface="Consolas"/>
            </a:endParaRPr>
          </a:p>
          <a:p>
            <a:pPr marL="0" lvl="0" indent="0" algn="l" rtl="0">
              <a:spcBef>
                <a:spcPts val="0"/>
              </a:spcBef>
              <a:spcAft>
                <a:spcPts val="0"/>
              </a:spcAft>
              <a:buNone/>
            </a:pPr>
            <a:r>
              <a:rPr lang="es-ES" sz="2000">
                <a:latin typeface="Consolas"/>
                <a:ea typeface="Consolas"/>
                <a:cs typeface="Consolas"/>
                <a:sym typeface="Consolas"/>
              </a:rPr>
              <a:t>}</a:t>
            </a:r>
            <a:endParaRPr sz="2000">
              <a:latin typeface="Consolas"/>
              <a:ea typeface="Consolas"/>
              <a:cs typeface="Consolas"/>
              <a:sym typeface="Consolas"/>
            </a:endParaRPr>
          </a:p>
        </p:txBody>
      </p:sp>
      <p:sp>
        <p:nvSpPr>
          <p:cNvPr id="530" name="Google Shape;530;p52"/>
          <p:cNvSpPr txBox="1"/>
          <p:nvPr/>
        </p:nvSpPr>
        <p:spPr>
          <a:xfrm>
            <a:off x="7171325" y="3706600"/>
            <a:ext cx="4490400" cy="10818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s-ES" sz="2000">
                <a:latin typeface="Consolas"/>
                <a:ea typeface="Consolas"/>
                <a:cs typeface="Consolas"/>
                <a:sym typeface="Consolas"/>
              </a:rPr>
              <a:t>load R1, balance </a:t>
            </a:r>
            <a:endParaRPr sz="2000">
              <a:latin typeface="Consolas"/>
              <a:ea typeface="Consolas"/>
              <a:cs typeface="Consolas"/>
              <a:sym typeface="Consolas"/>
            </a:endParaRPr>
          </a:p>
          <a:p>
            <a:pPr marL="0" lvl="0" indent="0" algn="l" rtl="0">
              <a:spcBef>
                <a:spcPts val="0"/>
              </a:spcBef>
              <a:spcAft>
                <a:spcPts val="0"/>
              </a:spcAft>
              <a:buNone/>
            </a:pPr>
            <a:r>
              <a:rPr lang="es-ES" sz="2000">
                <a:latin typeface="Consolas"/>
                <a:ea typeface="Consolas"/>
                <a:cs typeface="Consolas"/>
                <a:sym typeface="Consolas"/>
              </a:rPr>
              <a:t>add R1, amount </a:t>
            </a:r>
            <a:endParaRPr sz="2000">
              <a:latin typeface="Consolas"/>
              <a:ea typeface="Consolas"/>
              <a:cs typeface="Consolas"/>
              <a:sym typeface="Consolas"/>
            </a:endParaRPr>
          </a:p>
          <a:p>
            <a:pPr marL="0" lvl="0" indent="0" algn="l" rtl="0">
              <a:spcBef>
                <a:spcPts val="0"/>
              </a:spcBef>
              <a:spcAft>
                <a:spcPts val="0"/>
              </a:spcAft>
              <a:buNone/>
            </a:pPr>
            <a:r>
              <a:rPr lang="es-ES" sz="2000">
                <a:latin typeface="Consolas"/>
                <a:ea typeface="Consolas"/>
                <a:cs typeface="Consolas"/>
                <a:sym typeface="Consolas"/>
              </a:rPr>
              <a:t>store R1, balance</a:t>
            </a:r>
            <a:endParaRPr sz="2000">
              <a:latin typeface="Consolas"/>
              <a:ea typeface="Consolas"/>
              <a:cs typeface="Consolas"/>
              <a:sym typeface="Consolas"/>
            </a:endParaRPr>
          </a:p>
        </p:txBody>
      </p:sp>
      <p:sp>
        <p:nvSpPr>
          <p:cNvPr id="531" name="Google Shape;531;p52"/>
          <p:cNvSpPr/>
          <p:nvPr/>
        </p:nvSpPr>
        <p:spPr>
          <a:xfrm>
            <a:off x="6120550" y="4110700"/>
            <a:ext cx="828600" cy="273600"/>
          </a:xfrm>
          <a:prstGeom prst="rightArrow">
            <a:avLst>
              <a:gd name="adj1" fmla="val 50000"/>
              <a:gd name="adj2" fmla="val 50000"/>
            </a:avLst>
          </a:prstGeom>
          <a:solidFill>
            <a:srgbClr val="93C4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35"/>
        <p:cNvGrpSpPr/>
        <p:nvPr/>
      </p:nvGrpSpPr>
      <p:grpSpPr>
        <a:xfrm>
          <a:off x="0" y="0"/>
          <a:ext cx="0" cy="0"/>
          <a:chOff x="0" y="0"/>
          <a:chExt cx="0" cy="0"/>
        </a:xfrm>
      </p:grpSpPr>
      <p:sp>
        <p:nvSpPr>
          <p:cNvPr id="536" name="Google Shape;536;p53"/>
          <p:cNvSpPr/>
          <p:nvPr/>
        </p:nvSpPr>
        <p:spPr>
          <a:xfrm>
            <a:off x="8146275" y="3237325"/>
            <a:ext cx="3477300" cy="3014700"/>
          </a:xfrm>
          <a:prstGeom prst="roundRect">
            <a:avLst>
              <a:gd name="adj" fmla="val 10931"/>
            </a:avLst>
          </a:prstGeom>
          <a:noFill/>
          <a:ln w="3810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53"/>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latin typeface="+mj-lt"/>
              </a:rPr>
              <a:t>Virtualización de recursos</a:t>
            </a:r>
            <a:endParaRPr>
              <a:latin typeface="+mj-lt"/>
            </a:endParaRPr>
          </a:p>
        </p:txBody>
      </p:sp>
      <p:sp>
        <p:nvSpPr>
          <p:cNvPr id="538" name="Google Shape;538;p53"/>
          <p:cNvSpPr txBox="1">
            <a:spLocks noGrp="1"/>
          </p:cNvSpPr>
          <p:nvPr>
            <p:ph type="body" idx="1"/>
          </p:nvPr>
        </p:nvSpPr>
        <p:spPr>
          <a:xfrm>
            <a:off x="916650" y="856500"/>
            <a:ext cx="7406700" cy="5916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Recurrencia</a:t>
            </a:r>
            <a:endParaRPr sz="2800" b="1" dirty="0">
              <a:solidFill>
                <a:schemeClr val="accent1"/>
              </a:solidFill>
              <a:latin typeface="+mn-lt"/>
            </a:endParaRPr>
          </a:p>
          <a:p>
            <a:pPr marL="457200" lvl="0" indent="0" algn="l" rtl="0">
              <a:lnSpc>
                <a:spcPct val="100000"/>
              </a:lnSpc>
              <a:spcBef>
                <a:spcPts val="600"/>
              </a:spcBef>
              <a:spcAft>
                <a:spcPts val="0"/>
              </a:spcAft>
              <a:buNone/>
            </a:pPr>
            <a:endParaRPr sz="20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457200" lvl="0" indent="0" algn="l" rtl="0">
              <a:spcBef>
                <a:spcPts val="1000"/>
              </a:spcBef>
              <a:spcAft>
                <a:spcPts val="0"/>
              </a:spcAft>
              <a:buNone/>
            </a:pPr>
            <a:endParaRPr dirty="0">
              <a:latin typeface="+mn-lt"/>
            </a:endParaRPr>
          </a:p>
        </p:txBody>
      </p:sp>
      <p:pic>
        <p:nvPicPr>
          <p:cNvPr id="539" name="Google Shape;539;p53"/>
          <p:cNvPicPr preferRelativeResize="0"/>
          <p:nvPr/>
        </p:nvPicPr>
        <p:blipFill>
          <a:blip r:embed="rId3">
            <a:alphaModFix/>
          </a:blip>
          <a:stretch>
            <a:fillRect/>
          </a:stretch>
        </p:blipFill>
        <p:spPr>
          <a:xfrm>
            <a:off x="10401022" y="1871475"/>
            <a:ext cx="363275" cy="763575"/>
          </a:xfrm>
          <a:prstGeom prst="rect">
            <a:avLst/>
          </a:prstGeom>
          <a:noFill/>
          <a:ln>
            <a:noFill/>
          </a:ln>
        </p:spPr>
      </p:pic>
      <p:pic>
        <p:nvPicPr>
          <p:cNvPr id="540" name="Google Shape;540;p53"/>
          <p:cNvPicPr preferRelativeResize="0"/>
          <p:nvPr/>
        </p:nvPicPr>
        <p:blipFill>
          <a:blip r:embed="rId3">
            <a:alphaModFix/>
          </a:blip>
          <a:stretch>
            <a:fillRect/>
          </a:stretch>
        </p:blipFill>
        <p:spPr>
          <a:xfrm>
            <a:off x="8618110" y="1871475"/>
            <a:ext cx="363275" cy="763575"/>
          </a:xfrm>
          <a:prstGeom prst="rect">
            <a:avLst/>
          </a:prstGeom>
          <a:noFill/>
          <a:ln>
            <a:noFill/>
          </a:ln>
        </p:spPr>
      </p:pic>
      <p:sp>
        <p:nvSpPr>
          <p:cNvPr id="541" name="Google Shape;541;p53"/>
          <p:cNvSpPr txBox="1"/>
          <p:nvPr/>
        </p:nvSpPr>
        <p:spPr>
          <a:xfrm>
            <a:off x="916650" y="6432000"/>
            <a:ext cx="87093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a:t>Ejemplo tomado de: </a:t>
            </a:r>
            <a:r>
              <a:rPr lang="es-ES" sz="1100" u="sng">
                <a:solidFill>
                  <a:schemeClr val="hlink"/>
                </a:solidFill>
                <a:hlinkClick r:id="rId4"/>
              </a:rPr>
              <a:t>http://pages.cs.wisc.edu/~remzi/Classes/537/Fall2005/Lectures/lecture4.pdf</a:t>
            </a:r>
            <a:endParaRPr/>
          </a:p>
        </p:txBody>
      </p:sp>
      <p:graphicFrame>
        <p:nvGraphicFramePr>
          <p:cNvPr id="542" name="Google Shape;542;p53"/>
          <p:cNvGraphicFramePr/>
          <p:nvPr/>
        </p:nvGraphicFramePr>
        <p:xfrm>
          <a:off x="1229150" y="1871485"/>
          <a:ext cx="6353250" cy="3657360"/>
        </p:xfrm>
        <a:graphic>
          <a:graphicData uri="http://schemas.openxmlformats.org/drawingml/2006/table">
            <a:tbl>
              <a:tblPr>
                <a:noFill/>
              </a:tblPr>
              <a:tblGrid>
                <a:gridCol w="3176625">
                  <a:extLst>
                    <a:ext uri="{9D8B030D-6E8A-4147-A177-3AD203B41FA5}">
                      <a16:colId xmlns:a16="http://schemas.microsoft.com/office/drawing/2014/main" val="20000"/>
                    </a:ext>
                  </a:extLst>
                </a:gridCol>
                <a:gridCol w="3176625">
                  <a:extLst>
                    <a:ext uri="{9D8B030D-6E8A-4147-A177-3AD203B41FA5}">
                      <a16:colId xmlns:a16="http://schemas.microsoft.com/office/drawing/2014/main" val="20001"/>
                    </a:ext>
                  </a:extLst>
                </a:gridCol>
              </a:tblGrid>
              <a:tr h="396200">
                <a:tc>
                  <a:txBody>
                    <a:bodyPr/>
                    <a:lstStyle/>
                    <a:p>
                      <a:pPr marL="0" lvl="0" indent="0" algn="l" rtl="0">
                        <a:spcBef>
                          <a:spcPts val="0"/>
                        </a:spcBef>
                        <a:spcAft>
                          <a:spcPts val="0"/>
                        </a:spcAft>
                        <a:buNone/>
                      </a:pPr>
                      <a:r>
                        <a:rPr lang="es-ES" sz="1800" b="1">
                          <a:latin typeface="Consolas"/>
                          <a:ea typeface="Consolas"/>
                          <a:cs typeface="Consolas"/>
                          <a:sym typeface="Consolas"/>
                        </a:rPr>
                        <a:t>Initial balance: $100</a:t>
                      </a:r>
                      <a:endParaRPr sz="1800" b="1">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1800" b="1">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0"/>
                  </a:ext>
                </a:extLst>
              </a:tr>
              <a:tr h="238275">
                <a:tc>
                  <a:txBody>
                    <a:bodyPr/>
                    <a:lstStyle/>
                    <a:p>
                      <a:pPr marL="0" lvl="0" indent="0" algn="l" rtl="0">
                        <a:spcBef>
                          <a:spcPts val="0"/>
                        </a:spcBef>
                        <a:spcAft>
                          <a:spcPts val="0"/>
                        </a:spcAft>
                        <a:buNone/>
                      </a:pPr>
                      <a:r>
                        <a:rPr lang="es-ES" sz="1800" b="1">
                          <a:solidFill>
                            <a:srgbClr val="FF0000"/>
                          </a:solidFill>
                          <a:latin typeface="Consolas"/>
                          <a:ea typeface="Consolas"/>
                          <a:cs typeface="Consolas"/>
                          <a:sym typeface="Consolas"/>
                        </a:rPr>
                        <a:t>Thread 1:deposit(10)</a:t>
                      </a:r>
                      <a:endParaRPr sz="1800" b="1">
                        <a:solidFill>
                          <a:srgbClr val="FF00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s-ES" sz="1800" b="1">
                          <a:solidFill>
                            <a:srgbClr val="6AA84F"/>
                          </a:solidFill>
                          <a:latin typeface="Consolas"/>
                          <a:ea typeface="Consolas"/>
                          <a:cs typeface="Consolas"/>
                          <a:sym typeface="Consolas"/>
                        </a:rPr>
                        <a:t>Thread 2:deposit(20)</a:t>
                      </a:r>
                      <a:endParaRPr sz="1800" b="1">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r h="396200">
                <a:tc>
                  <a:txBody>
                    <a:bodyPr/>
                    <a:lstStyle/>
                    <a:p>
                      <a:pPr marL="0" lvl="0" indent="0" algn="l" rtl="0">
                        <a:spcBef>
                          <a:spcPts val="0"/>
                        </a:spcBef>
                        <a:spcAft>
                          <a:spcPts val="0"/>
                        </a:spcAft>
                        <a:buNone/>
                      </a:pPr>
                      <a:r>
                        <a:rPr lang="es-ES" sz="1800" b="1">
                          <a:solidFill>
                            <a:srgbClr val="FF0000"/>
                          </a:solidFill>
                          <a:latin typeface="Consolas"/>
                          <a:ea typeface="Consolas"/>
                          <a:cs typeface="Consolas"/>
                          <a:sym typeface="Consolas"/>
                        </a:rPr>
                        <a:t>Load R1, balance</a:t>
                      </a:r>
                      <a:endParaRPr sz="1800" b="1">
                        <a:solidFill>
                          <a:srgbClr val="FF00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1800">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2"/>
                  </a:ext>
                </a:extLst>
              </a:tr>
              <a:tr h="396200">
                <a:tc>
                  <a:txBody>
                    <a:bodyPr/>
                    <a:lstStyle/>
                    <a:p>
                      <a:pPr marL="0" lvl="0" indent="0" algn="l" rtl="0">
                        <a:spcBef>
                          <a:spcPts val="0"/>
                        </a:spcBef>
                        <a:spcAft>
                          <a:spcPts val="0"/>
                        </a:spcAft>
                        <a:buNone/>
                      </a:pPr>
                      <a:endParaRPr sz="1800">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s-ES" sz="1800" b="1">
                          <a:solidFill>
                            <a:srgbClr val="6AA84F"/>
                          </a:solidFill>
                          <a:latin typeface="Consolas"/>
                          <a:ea typeface="Consolas"/>
                          <a:cs typeface="Consolas"/>
                          <a:sym typeface="Consolas"/>
                        </a:rPr>
                        <a:t>Load R1, balance</a:t>
                      </a:r>
                      <a:endParaRPr sz="1800" b="1">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3"/>
                  </a:ext>
                </a:extLst>
              </a:tr>
              <a:tr h="396200">
                <a:tc>
                  <a:txBody>
                    <a:bodyPr/>
                    <a:lstStyle/>
                    <a:p>
                      <a:pPr marL="0" lvl="0" indent="0" algn="l" rtl="0">
                        <a:spcBef>
                          <a:spcPts val="0"/>
                        </a:spcBef>
                        <a:spcAft>
                          <a:spcPts val="0"/>
                        </a:spcAft>
                        <a:buNone/>
                      </a:pPr>
                      <a:r>
                        <a:rPr lang="es-ES" sz="1800" b="1">
                          <a:solidFill>
                            <a:srgbClr val="FF0000"/>
                          </a:solidFill>
                          <a:latin typeface="Consolas"/>
                          <a:ea typeface="Consolas"/>
                          <a:cs typeface="Consolas"/>
                          <a:sym typeface="Consolas"/>
                        </a:rPr>
                        <a:t>Add R1, amount</a:t>
                      </a:r>
                      <a:endParaRPr sz="1800" b="1">
                        <a:solidFill>
                          <a:srgbClr val="FF00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1800">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4"/>
                  </a:ext>
                </a:extLst>
              </a:tr>
              <a:tr h="396200">
                <a:tc>
                  <a:txBody>
                    <a:bodyPr/>
                    <a:lstStyle/>
                    <a:p>
                      <a:pPr marL="0" lvl="0" indent="0" algn="l" rtl="0">
                        <a:spcBef>
                          <a:spcPts val="0"/>
                        </a:spcBef>
                        <a:spcAft>
                          <a:spcPts val="0"/>
                        </a:spcAft>
                        <a:buNone/>
                      </a:pPr>
                      <a:endParaRPr sz="1800">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s-ES" sz="1800" b="1">
                          <a:solidFill>
                            <a:srgbClr val="6AA84F"/>
                          </a:solidFill>
                          <a:latin typeface="Consolas"/>
                          <a:ea typeface="Consolas"/>
                          <a:cs typeface="Consolas"/>
                          <a:sym typeface="Consolas"/>
                        </a:rPr>
                        <a:t>Add R1, amount</a:t>
                      </a:r>
                      <a:endParaRPr sz="1800" b="1">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5"/>
                  </a:ext>
                </a:extLst>
              </a:tr>
              <a:tr h="396200">
                <a:tc>
                  <a:txBody>
                    <a:bodyPr/>
                    <a:lstStyle/>
                    <a:p>
                      <a:pPr marL="0" lvl="0" indent="0" algn="l" rtl="0">
                        <a:spcBef>
                          <a:spcPts val="0"/>
                        </a:spcBef>
                        <a:spcAft>
                          <a:spcPts val="0"/>
                        </a:spcAft>
                        <a:buNone/>
                      </a:pPr>
                      <a:r>
                        <a:rPr lang="es-ES" sz="1800" b="1">
                          <a:solidFill>
                            <a:srgbClr val="FF0000"/>
                          </a:solidFill>
                          <a:latin typeface="Consolas"/>
                          <a:ea typeface="Consolas"/>
                          <a:cs typeface="Consolas"/>
                          <a:sym typeface="Consolas"/>
                        </a:rPr>
                        <a:t>Store R1, balance</a:t>
                      </a:r>
                      <a:endParaRPr sz="1800" b="1">
                        <a:solidFill>
                          <a:srgbClr val="FF00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1800">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6"/>
                  </a:ext>
                </a:extLst>
              </a:tr>
              <a:tr h="396200">
                <a:tc>
                  <a:txBody>
                    <a:bodyPr/>
                    <a:lstStyle/>
                    <a:p>
                      <a:pPr marL="0" lvl="0" indent="0" algn="l" rtl="0">
                        <a:spcBef>
                          <a:spcPts val="0"/>
                        </a:spcBef>
                        <a:spcAft>
                          <a:spcPts val="0"/>
                        </a:spcAft>
                        <a:buNone/>
                      </a:pPr>
                      <a:endParaRPr sz="1800" b="1">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s-ES" sz="1800" b="1">
                          <a:solidFill>
                            <a:srgbClr val="6AA84F"/>
                          </a:solidFill>
                          <a:latin typeface="Consolas"/>
                          <a:ea typeface="Consolas"/>
                          <a:cs typeface="Consolas"/>
                          <a:sym typeface="Consolas"/>
                        </a:rPr>
                        <a:t>Store R1, balance</a:t>
                      </a:r>
                      <a:endParaRPr sz="1800" b="1">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grpSp>
        <p:nvGrpSpPr>
          <p:cNvPr id="543" name="Google Shape;543;p53"/>
          <p:cNvGrpSpPr/>
          <p:nvPr/>
        </p:nvGrpSpPr>
        <p:grpSpPr>
          <a:xfrm>
            <a:off x="1229079" y="2724237"/>
            <a:ext cx="5942167" cy="3104692"/>
            <a:chOff x="1400975" y="3913475"/>
            <a:chExt cx="5537900" cy="2338575"/>
          </a:xfrm>
        </p:grpSpPr>
        <p:cxnSp>
          <p:nvCxnSpPr>
            <p:cNvPr id="544" name="Google Shape;544;p53"/>
            <p:cNvCxnSpPr/>
            <p:nvPr/>
          </p:nvCxnSpPr>
          <p:spPr>
            <a:xfrm>
              <a:off x="1400975" y="3917750"/>
              <a:ext cx="32100" cy="2334300"/>
            </a:xfrm>
            <a:prstGeom prst="straightConnector1">
              <a:avLst/>
            </a:prstGeom>
            <a:noFill/>
            <a:ln w="28575" cap="flat" cmpd="sng">
              <a:solidFill>
                <a:srgbClr val="000000"/>
              </a:solidFill>
              <a:prstDash val="solid"/>
              <a:round/>
              <a:headEnd type="none" w="med" len="med"/>
              <a:tailEnd type="triangle" w="med" len="med"/>
            </a:ln>
          </p:spPr>
        </p:cxnSp>
        <p:cxnSp>
          <p:nvCxnSpPr>
            <p:cNvPr id="545" name="Google Shape;545;p53"/>
            <p:cNvCxnSpPr/>
            <p:nvPr/>
          </p:nvCxnSpPr>
          <p:spPr>
            <a:xfrm flipH="1">
              <a:off x="1401175" y="3913475"/>
              <a:ext cx="5537700" cy="15900"/>
            </a:xfrm>
            <a:prstGeom prst="straightConnector1">
              <a:avLst/>
            </a:prstGeom>
            <a:noFill/>
            <a:ln w="28575" cap="flat" cmpd="sng">
              <a:solidFill>
                <a:schemeClr val="dk2"/>
              </a:solidFill>
              <a:prstDash val="solid"/>
              <a:round/>
              <a:headEnd type="none" w="med" len="med"/>
              <a:tailEnd type="none" w="med" len="med"/>
            </a:ln>
          </p:spPr>
        </p:cxnSp>
      </p:grpSp>
      <p:sp>
        <p:nvSpPr>
          <p:cNvPr id="546" name="Google Shape;546;p53"/>
          <p:cNvSpPr txBox="1"/>
          <p:nvPr/>
        </p:nvSpPr>
        <p:spPr>
          <a:xfrm>
            <a:off x="833100" y="3565925"/>
            <a:ext cx="270900" cy="500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600" b="1"/>
              <a:t>t</a:t>
            </a:r>
            <a:endParaRPr sz="2600" b="1"/>
          </a:p>
        </p:txBody>
      </p:sp>
      <p:sp>
        <p:nvSpPr>
          <p:cNvPr id="547" name="Google Shape;547;p53"/>
          <p:cNvSpPr/>
          <p:nvPr/>
        </p:nvSpPr>
        <p:spPr>
          <a:xfrm>
            <a:off x="8916950" y="3623675"/>
            <a:ext cx="1837200" cy="12396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53"/>
          <p:cNvSpPr/>
          <p:nvPr/>
        </p:nvSpPr>
        <p:spPr>
          <a:xfrm>
            <a:off x="8618100" y="5024275"/>
            <a:ext cx="2443500" cy="8535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53"/>
          <p:cNvSpPr/>
          <p:nvPr/>
        </p:nvSpPr>
        <p:spPr>
          <a:xfrm>
            <a:off x="9579050" y="3977850"/>
            <a:ext cx="937200" cy="428100"/>
          </a:xfrm>
          <a:prstGeom prst="rect">
            <a:avLst/>
          </a:prstGeom>
          <a:noFill/>
          <a:ln w="2857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53"/>
          <p:cNvSpPr txBox="1"/>
          <p:nvPr/>
        </p:nvSpPr>
        <p:spPr>
          <a:xfrm>
            <a:off x="9078450" y="3994025"/>
            <a:ext cx="500700" cy="428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b="1">
                <a:latin typeface="Consolas"/>
                <a:ea typeface="Consolas"/>
                <a:cs typeface="Consolas"/>
                <a:sym typeface="Consolas"/>
              </a:rPr>
              <a:t>R1</a:t>
            </a:r>
            <a:endParaRPr b="1">
              <a:latin typeface="Consolas"/>
              <a:ea typeface="Consolas"/>
              <a:cs typeface="Consolas"/>
              <a:sym typeface="Consolas"/>
            </a:endParaRPr>
          </a:p>
        </p:txBody>
      </p:sp>
      <p:sp>
        <p:nvSpPr>
          <p:cNvPr id="551" name="Google Shape;551;p53"/>
          <p:cNvSpPr txBox="1"/>
          <p:nvPr/>
        </p:nvSpPr>
        <p:spPr>
          <a:xfrm>
            <a:off x="8774125" y="5314050"/>
            <a:ext cx="9372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b="1">
                <a:latin typeface="Consolas"/>
                <a:ea typeface="Consolas"/>
                <a:cs typeface="Consolas"/>
                <a:sym typeface="Consolas"/>
              </a:rPr>
              <a:t>balance</a:t>
            </a:r>
            <a:endParaRPr b="1">
              <a:latin typeface="Consolas"/>
              <a:ea typeface="Consolas"/>
              <a:cs typeface="Consolas"/>
              <a:sym typeface="Consolas"/>
            </a:endParaRPr>
          </a:p>
        </p:txBody>
      </p:sp>
      <p:sp>
        <p:nvSpPr>
          <p:cNvPr id="552" name="Google Shape;552;p53"/>
          <p:cNvSpPr/>
          <p:nvPr/>
        </p:nvSpPr>
        <p:spPr>
          <a:xfrm>
            <a:off x="9778563" y="5236800"/>
            <a:ext cx="937200" cy="428100"/>
          </a:xfrm>
          <a:prstGeom prst="rect">
            <a:avLst/>
          </a:prstGeom>
          <a:noFill/>
          <a:ln w="2857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53" name="Google Shape;553;p53"/>
          <p:cNvPicPr preferRelativeResize="0"/>
          <p:nvPr/>
        </p:nvPicPr>
        <p:blipFill>
          <a:blip r:embed="rId5">
            <a:alphaModFix/>
          </a:blip>
          <a:stretch>
            <a:fillRect/>
          </a:stretch>
        </p:blipFill>
        <p:spPr>
          <a:xfrm>
            <a:off x="10560900" y="3461700"/>
            <a:ext cx="500700" cy="500700"/>
          </a:xfrm>
          <a:prstGeom prst="rect">
            <a:avLst/>
          </a:prstGeom>
          <a:noFill/>
          <a:ln>
            <a:noFill/>
          </a:ln>
        </p:spPr>
      </p:pic>
      <p:pic>
        <p:nvPicPr>
          <p:cNvPr id="554" name="Google Shape;554;p53"/>
          <p:cNvPicPr preferRelativeResize="0"/>
          <p:nvPr/>
        </p:nvPicPr>
        <p:blipFill>
          <a:blip r:embed="rId6">
            <a:alphaModFix/>
          </a:blip>
          <a:stretch>
            <a:fillRect/>
          </a:stretch>
        </p:blipFill>
        <p:spPr>
          <a:xfrm>
            <a:off x="10903019" y="4789050"/>
            <a:ext cx="591700" cy="591700"/>
          </a:xfrm>
          <a:prstGeom prst="rect">
            <a:avLst/>
          </a:prstGeom>
          <a:noFill/>
          <a:ln>
            <a:noFill/>
          </a:ln>
        </p:spPr>
      </p:pic>
      <p:sp>
        <p:nvSpPr>
          <p:cNvPr id="555" name="Google Shape;555;p53"/>
          <p:cNvSpPr txBox="1"/>
          <p:nvPr/>
        </p:nvSpPr>
        <p:spPr>
          <a:xfrm>
            <a:off x="8510913" y="1353800"/>
            <a:ext cx="1103700" cy="36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b="1">
                <a:solidFill>
                  <a:srgbClr val="FF0000"/>
                </a:solidFill>
                <a:latin typeface="Consolas"/>
                <a:ea typeface="Consolas"/>
                <a:cs typeface="Consolas"/>
                <a:sym typeface="Consolas"/>
              </a:rPr>
              <a:t>Thread 1</a:t>
            </a:r>
            <a:endParaRPr/>
          </a:p>
        </p:txBody>
      </p:sp>
      <p:sp>
        <p:nvSpPr>
          <p:cNvPr id="556" name="Google Shape;556;p53"/>
          <p:cNvSpPr txBox="1"/>
          <p:nvPr/>
        </p:nvSpPr>
        <p:spPr>
          <a:xfrm>
            <a:off x="10030800" y="1353800"/>
            <a:ext cx="1103700" cy="36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b="1">
                <a:solidFill>
                  <a:srgbClr val="6AA84F"/>
                </a:solidFill>
                <a:latin typeface="Consolas"/>
                <a:ea typeface="Consolas"/>
                <a:cs typeface="Consolas"/>
                <a:sym typeface="Consolas"/>
              </a:rPr>
              <a:t>Thread 2</a:t>
            </a:r>
            <a:endParaRPr>
              <a:solidFill>
                <a:srgbClr val="6AA84F"/>
              </a:solidFill>
            </a:endParaRPr>
          </a:p>
        </p:txBody>
      </p:sp>
      <p:cxnSp>
        <p:nvCxnSpPr>
          <p:cNvPr id="557" name="Google Shape;557;p53"/>
          <p:cNvCxnSpPr/>
          <p:nvPr/>
        </p:nvCxnSpPr>
        <p:spPr>
          <a:xfrm>
            <a:off x="8926125" y="2794225"/>
            <a:ext cx="403800" cy="443100"/>
          </a:xfrm>
          <a:prstGeom prst="straightConnector1">
            <a:avLst/>
          </a:prstGeom>
          <a:noFill/>
          <a:ln w="28575" cap="flat" cmpd="sng">
            <a:solidFill>
              <a:srgbClr val="FF0000"/>
            </a:solidFill>
            <a:prstDash val="solid"/>
            <a:round/>
            <a:headEnd type="none" w="med" len="med"/>
            <a:tailEnd type="triangle" w="med" len="med"/>
          </a:ln>
        </p:spPr>
      </p:cxnSp>
      <p:cxnSp>
        <p:nvCxnSpPr>
          <p:cNvPr id="558" name="Google Shape;558;p53"/>
          <p:cNvCxnSpPr/>
          <p:nvPr/>
        </p:nvCxnSpPr>
        <p:spPr>
          <a:xfrm flipH="1">
            <a:off x="10206950" y="2826825"/>
            <a:ext cx="309300" cy="442800"/>
          </a:xfrm>
          <a:prstGeom prst="straightConnector1">
            <a:avLst/>
          </a:prstGeom>
          <a:noFill/>
          <a:ln w="28575" cap="flat" cmpd="sng">
            <a:solidFill>
              <a:srgbClr val="6AA84F"/>
            </a:solidFill>
            <a:prstDash val="solid"/>
            <a:round/>
            <a:headEnd type="none" w="med" len="med"/>
            <a:tailEnd type="triangle" w="med" len="med"/>
          </a:ln>
        </p:spPr>
      </p:cxnSp>
      <p:sp>
        <p:nvSpPr>
          <p:cNvPr id="559" name="Google Shape;559;p53"/>
          <p:cNvSpPr txBox="1"/>
          <p:nvPr/>
        </p:nvSpPr>
        <p:spPr>
          <a:xfrm>
            <a:off x="9078525" y="1871475"/>
            <a:ext cx="9372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b="1">
                <a:solidFill>
                  <a:srgbClr val="FF0000"/>
                </a:solidFill>
                <a:latin typeface="Consolas"/>
                <a:ea typeface="Consolas"/>
                <a:cs typeface="Consolas"/>
                <a:sym typeface="Consolas"/>
              </a:rPr>
              <a:t>amount</a:t>
            </a:r>
            <a:endParaRPr b="1">
              <a:solidFill>
                <a:srgbClr val="FF0000"/>
              </a:solidFill>
              <a:latin typeface="Consolas"/>
              <a:ea typeface="Consolas"/>
              <a:cs typeface="Consolas"/>
              <a:sym typeface="Consolas"/>
            </a:endParaRPr>
          </a:p>
        </p:txBody>
      </p:sp>
      <p:sp>
        <p:nvSpPr>
          <p:cNvPr id="560" name="Google Shape;560;p53"/>
          <p:cNvSpPr txBox="1"/>
          <p:nvPr/>
        </p:nvSpPr>
        <p:spPr>
          <a:xfrm>
            <a:off x="10903025" y="1857938"/>
            <a:ext cx="9372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b="1">
                <a:solidFill>
                  <a:srgbClr val="6AA84F"/>
                </a:solidFill>
                <a:latin typeface="Consolas"/>
                <a:ea typeface="Consolas"/>
                <a:cs typeface="Consolas"/>
                <a:sym typeface="Consolas"/>
              </a:rPr>
              <a:t>amount</a:t>
            </a:r>
            <a:endParaRPr b="1">
              <a:solidFill>
                <a:srgbClr val="6AA84F"/>
              </a:solidFill>
              <a:latin typeface="Consolas"/>
              <a:ea typeface="Consolas"/>
              <a:cs typeface="Consolas"/>
              <a:sym typeface="Consolas"/>
            </a:endParaRPr>
          </a:p>
        </p:txBody>
      </p:sp>
      <p:sp>
        <p:nvSpPr>
          <p:cNvPr id="561" name="Google Shape;561;p53"/>
          <p:cNvSpPr/>
          <p:nvPr/>
        </p:nvSpPr>
        <p:spPr>
          <a:xfrm>
            <a:off x="9078525" y="2275071"/>
            <a:ext cx="937200" cy="273600"/>
          </a:xfrm>
          <a:prstGeom prst="rect">
            <a:avLst/>
          </a:prstGeom>
          <a:no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53"/>
          <p:cNvSpPr/>
          <p:nvPr/>
        </p:nvSpPr>
        <p:spPr>
          <a:xfrm>
            <a:off x="10903025" y="2275071"/>
            <a:ext cx="937200" cy="273600"/>
          </a:xfrm>
          <a:prstGeom prst="rect">
            <a:avLst/>
          </a:prstGeom>
          <a:noFill/>
          <a:ln w="28575" cap="flat" cmpd="sng">
            <a:solidFill>
              <a:srgbClr val="6AA8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66"/>
        <p:cNvGrpSpPr/>
        <p:nvPr/>
      </p:nvGrpSpPr>
      <p:grpSpPr>
        <a:xfrm>
          <a:off x="0" y="0"/>
          <a:ext cx="0" cy="0"/>
          <a:chOff x="0" y="0"/>
          <a:chExt cx="0" cy="0"/>
        </a:xfrm>
      </p:grpSpPr>
      <p:sp>
        <p:nvSpPr>
          <p:cNvPr id="567" name="Google Shape;567;p54"/>
          <p:cNvSpPr/>
          <p:nvPr/>
        </p:nvSpPr>
        <p:spPr>
          <a:xfrm>
            <a:off x="8146275" y="3237325"/>
            <a:ext cx="3477300" cy="3014700"/>
          </a:xfrm>
          <a:prstGeom prst="roundRect">
            <a:avLst>
              <a:gd name="adj" fmla="val 10931"/>
            </a:avLst>
          </a:prstGeom>
          <a:noFill/>
          <a:ln w="3810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54"/>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569" name="Google Shape;569;p54"/>
          <p:cNvSpPr txBox="1">
            <a:spLocks noGrp="1"/>
          </p:cNvSpPr>
          <p:nvPr>
            <p:ph type="body" idx="1"/>
          </p:nvPr>
        </p:nvSpPr>
        <p:spPr>
          <a:xfrm>
            <a:off x="916650" y="856500"/>
            <a:ext cx="7406700" cy="5916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Recurrencia</a:t>
            </a:r>
            <a:endParaRPr sz="2800" b="1" dirty="0">
              <a:solidFill>
                <a:schemeClr val="accent1"/>
              </a:solidFill>
              <a:latin typeface="+mn-lt"/>
            </a:endParaRPr>
          </a:p>
          <a:p>
            <a:pPr marL="457200" lvl="0" indent="0" algn="l" rtl="0">
              <a:lnSpc>
                <a:spcPct val="100000"/>
              </a:lnSpc>
              <a:spcBef>
                <a:spcPts val="600"/>
              </a:spcBef>
              <a:spcAft>
                <a:spcPts val="0"/>
              </a:spcAft>
              <a:buNone/>
            </a:pPr>
            <a:endParaRPr sz="20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457200" lvl="0" indent="0" algn="l" rtl="0">
              <a:spcBef>
                <a:spcPts val="1000"/>
              </a:spcBef>
              <a:spcAft>
                <a:spcPts val="0"/>
              </a:spcAft>
              <a:buNone/>
            </a:pPr>
            <a:endParaRPr dirty="0">
              <a:latin typeface="+mn-lt"/>
            </a:endParaRPr>
          </a:p>
        </p:txBody>
      </p:sp>
      <p:pic>
        <p:nvPicPr>
          <p:cNvPr id="570" name="Google Shape;570;p54"/>
          <p:cNvPicPr preferRelativeResize="0"/>
          <p:nvPr/>
        </p:nvPicPr>
        <p:blipFill>
          <a:blip r:embed="rId3">
            <a:alphaModFix/>
          </a:blip>
          <a:stretch>
            <a:fillRect/>
          </a:stretch>
        </p:blipFill>
        <p:spPr>
          <a:xfrm>
            <a:off x="10401022" y="1871475"/>
            <a:ext cx="363275" cy="763575"/>
          </a:xfrm>
          <a:prstGeom prst="rect">
            <a:avLst/>
          </a:prstGeom>
          <a:noFill/>
          <a:ln>
            <a:noFill/>
          </a:ln>
        </p:spPr>
      </p:pic>
      <p:pic>
        <p:nvPicPr>
          <p:cNvPr id="571" name="Google Shape;571;p54"/>
          <p:cNvPicPr preferRelativeResize="0"/>
          <p:nvPr/>
        </p:nvPicPr>
        <p:blipFill>
          <a:blip r:embed="rId3">
            <a:alphaModFix/>
          </a:blip>
          <a:stretch>
            <a:fillRect/>
          </a:stretch>
        </p:blipFill>
        <p:spPr>
          <a:xfrm>
            <a:off x="8618110" y="1871475"/>
            <a:ext cx="363275" cy="763575"/>
          </a:xfrm>
          <a:prstGeom prst="rect">
            <a:avLst/>
          </a:prstGeom>
          <a:noFill/>
          <a:ln>
            <a:noFill/>
          </a:ln>
        </p:spPr>
      </p:pic>
      <p:sp>
        <p:nvSpPr>
          <p:cNvPr id="572" name="Google Shape;572;p54"/>
          <p:cNvSpPr txBox="1"/>
          <p:nvPr/>
        </p:nvSpPr>
        <p:spPr>
          <a:xfrm>
            <a:off x="916650" y="6432000"/>
            <a:ext cx="87093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a:t>Ejemplo tomado de: </a:t>
            </a:r>
            <a:r>
              <a:rPr lang="es-ES" sz="1100" u="sng">
                <a:solidFill>
                  <a:schemeClr val="hlink"/>
                </a:solidFill>
                <a:hlinkClick r:id="rId4"/>
              </a:rPr>
              <a:t>http://pages.cs.wisc.edu/~remzi/Classes/537/Fall2005/Lectures/lecture4.pdf</a:t>
            </a:r>
            <a:endParaRPr/>
          </a:p>
        </p:txBody>
      </p:sp>
      <p:graphicFrame>
        <p:nvGraphicFramePr>
          <p:cNvPr id="573" name="Google Shape;573;p54"/>
          <p:cNvGraphicFramePr/>
          <p:nvPr/>
        </p:nvGraphicFramePr>
        <p:xfrm>
          <a:off x="1229150" y="1871485"/>
          <a:ext cx="6353250" cy="3657360"/>
        </p:xfrm>
        <a:graphic>
          <a:graphicData uri="http://schemas.openxmlformats.org/drawingml/2006/table">
            <a:tbl>
              <a:tblPr>
                <a:noFill/>
              </a:tblPr>
              <a:tblGrid>
                <a:gridCol w="3176625">
                  <a:extLst>
                    <a:ext uri="{9D8B030D-6E8A-4147-A177-3AD203B41FA5}">
                      <a16:colId xmlns:a16="http://schemas.microsoft.com/office/drawing/2014/main" val="20000"/>
                    </a:ext>
                  </a:extLst>
                </a:gridCol>
                <a:gridCol w="3176625">
                  <a:extLst>
                    <a:ext uri="{9D8B030D-6E8A-4147-A177-3AD203B41FA5}">
                      <a16:colId xmlns:a16="http://schemas.microsoft.com/office/drawing/2014/main" val="20001"/>
                    </a:ext>
                  </a:extLst>
                </a:gridCol>
              </a:tblGrid>
              <a:tr h="396200">
                <a:tc>
                  <a:txBody>
                    <a:bodyPr/>
                    <a:lstStyle/>
                    <a:p>
                      <a:pPr marL="0" lvl="0" indent="0" algn="l" rtl="0">
                        <a:spcBef>
                          <a:spcPts val="0"/>
                        </a:spcBef>
                        <a:spcAft>
                          <a:spcPts val="0"/>
                        </a:spcAft>
                        <a:buNone/>
                      </a:pPr>
                      <a:r>
                        <a:rPr lang="es-ES" sz="1800" b="1">
                          <a:latin typeface="Consolas"/>
                          <a:ea typeface="Consolas"/>
                          <a:cs typeface="Consolas"/>
                          <a:sym typeface="Consolas"/>
                        </a:rPr>
                        <a:t>Initial balance: $100</a:t>
                      </a:r>
                      <a:endParaRPr sz="1800" b="1">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1800" b="1">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0"/>
                  </a:ext>
                </a:extLst>
              </a:tr>
              <a:tr h="238275">
                <a:tc>
                  <a:txBody>
                    <a:bodyPr/>
                    <a:lstStyle/>
                    <a:p>
                      <a:pPr marL="0" lvl="0" indent="0" algn="l" rtl="0">
                        <a:spcBef>
                          <a:spcPts val="0"/>
                        </a:spcBef>
                        <a:spcAft>
                          <a:spcPts val="0"/>
                        </a:spcAft>
                        <a:buNone/>
                      </a:pPr>
                      <a:r>
                        <a:rPr lang="es-ES" sz="1800" b="1">
                          <a:solidFill>
                            <a:srgbClr val="FF0000"/>
                          </a:solidFill>
                          <a:latin typeface="Consolas"/>
                          <a:ea typeface="Consolas"/>
                          <a:cs typeface="Consolas"/>
                          <a:sym typeface="Consolas"/>
                        </a:rPr>
                        <a:t>Thread 1:deposit(10)</a:t>
                      </a:r>
                      <a:endParaRPr sz="1800" b="1">
                        <a:solidFill>
                          <a:srgbClr val="FF00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s-ES" sz="1800" b="1">
                          <a:solidFill>
                            <a:srgbClr val="6AA84F"/>
                          </a:solidFill>
                          <a:latin typeface="Consolas"/>
                          <a:ea typeface="Consolas"/>
                          <a:cs typeface="Consolas"/>
                          <a:sym typeface="Consolas"/>
                        </a:rPr>
                        <a:t>Thread 2:deposit(20)</a:t>
                      </a:r>
                      <a:endParaRPr sz="1800" b="1">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r h="396200">
                <a:tc>
                  <a:txBody>
                    <a:bodyPr/>
                    <a:lstStyle/>
                    <a:p>
                      <a:pPr marL="0" lvl="0" indent="0" algn="l" rtl="0">
                        <a:spcBef>
                          <a:spcPts val="0"/>
                        </a:spcBef>
                        <a:spcAft>
                          <a:spcPts val="0"/>
                        </a:spcAft>
                        <a:buNone/>
                      </a:pPr>
                      <a:r>
                        <a:rPr lang="es-ES" sz="1800" b="1">
                          <a:solidFill>
                            <a:srgbClr val="FF0000"/>
                          </a:solidFill>
                          <a:latin typeface="Consolas"/>
                          <a:ea typeface="Consolas"/>
                          <a:cs typeface="Consolas"/>
                          <a:sym typeface="Consolas"/>
                        </a:rPr>
                        <a:t>Load R1, balance</a:t>
                      </a:r>
                      <a:endParaRPr sz="1800" b="1">
                        <a:solidFill>
                          <a:srgbClr val="FF00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1800">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2"/>
                  </a:ext>
                </a:extLst>
              </a:tr>
              <a:tr h="396200">
                <a:tc>
                  <a:txBody>
                    <a:bodyPr/>
                    <a:lstStyle/>
                    <a:p>
                      <a:pPr marL="0" lvl="0" indent="0" algn="l" rtl="0">
                        <a:spcBef>
                          <a:spcPts val="0"/>
                        </a:spcBef>
                        <a:spcAft>
                          <a:spcPts val="0"/>
                        </a:spcAft>
                        <a:buNone/>
                      </a:pPr>
                      <a:endParaRPr sz="1800">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s-ES" sz="1800" b="1">
                          <a:solidFill>
                            <a:srgbClr val="6AA84F"/>
                          </a:solidFill>
                          <a:latin typeface="Consolas"/>
                          <a:ea typeface="Consolas"/>
                          <a:cs typeface="Consolas"/>
                          <a:sym typeface="Consolas"/>
                        </a:rPr>
                        <a:t>Load R1, balance</a:t>
                      </a:r>
                      <a:endParaRPr sz="1800" b="1">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3"/>
                  </a:ext>
                </a:extLst>
              </a:tr>
              <a:tr h="396200">
                <a:tc>
                  <a:txBody>
                    <a:bodyPr/>
                    <a:lstStyle/>
                    <a:p>
                      <a:pPr marL="0" lvl="0" indent="0" algn="l" rtl="0">
                        <a:spcBef>
                          <a:spcPts val="0"/>
                        </a:spcBef>
                        <a:spcAft>
                          <a:spcPts val="0"/>
                        </a:spcAft>
                        <a:buNone/>
                      </a:pPr>
                      <a:endParaRPr sz="1800" b="1">
                        <a:solidFill>
                          <a:srgbClr val="FF00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s-ES" sz="1800" b="1">
                          <a:solidFill>
                            <a:srgbClr val="6AA84F"/>
                          </a:solidFill>
                          <a:latin typeface="Consolas"/>
                          <a:ea typeface="Consolas"/>
                          <a:cs typeface="Consolas"/>
                          <a:sym typeface="Consolas"/>
                        </a:rPr>
                        <a:t>Add R1, amount</a:t>
                      </a:r>
                      <a:endParaRPr sz="1800">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4"/>
                  </a:ext>
                </a:extLst>
              </a:tr>
              <a:tr h="396200">
                <a:tc>
                  <a:txBody>
                    <a:bodyPr/>
                    <a:lstStyle/>
                    <a:p>
                      <a:pPr marL="0" lvl="0" indent="0" algn="l" rtl="0">
                        <a:spcBef>
                          <a:spcPts val="0"/>
                        </a:spcBef>
                        <a:spcAft>
                          <a:spcPts val="0"/>
                        </a:spcAft>
                        <a:buNone/>
                      </a:pPr>
                      <a:r>
                        <a:rPr lang="es-ES" sz="1800" b="1">
                          <a:solidFill>
                            <a:srgbClr val="FF0000"/>
                          </a:solidFill>
                          <a:latin typeface="Consolas"/>
                          <a:ea typeface="Consolas"/>
                          <a:cs typeface="Consolas"/>
                          <a:sym typeface="Consolas"/>
                        </a:rPr>
                        <a:t>Add R1, amount</a:t>
                      </a:r>
                      <a:endParaRPr sz="1800" b="1">
                        <a:solidFill>
                          <a:srgbClr val="FF00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1800" b="1">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5"/>
                  </a:ext>
                </a:extLst>
              </a:tr>
              <a:tr h="396200">
                <a:tc>
                  <a:txBody>
                    <a:bodyPr/>
                    <a:lstStyle/>
                    <a:p>
                      <a:pPr marL="0" lvl="0" indent="0" algn="l" rtl="0">
                        <a:spcBef>
                          <a:spcPts val="0"/>
                        </a:spcBef>
                        <a:spcAft>
                          <a:spcPts val="0"/>
                        </a:spcAft>
                        <a:buNone/>
                      </a:pPr>
                      <a:r>
                        <a:rPr lang="es-ES" sz="1800" b="1">
                          <a:solidFill>
                            <a:srgbClr val="FF0000"/>
                          </a:solidFill>
                          <a:latin typeface="Consolas"/>
                          <a:ea typeface="Consolas"/>
                          <a:cs typeface="Consolas"/>
                          <a:sym typeface="Consolas"/>
                        </a:rPr>
                        <a:t>Store R1, balance</a:t>
                      </a:r>
                      <a:endParaRPr sz="1800" b="1">
                        <a:solidFill>
                          <a:srgbClr val="FF00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1800">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6"/>
                  </a:ext>
                </a:extLst>
              </a:tr>
              <a:tr h="396200">
                <a:tc>
                  <a:txBody>
                    <a:bodyPr/>
                    <a:lstStyle/>
                    <a:p>
                      <a:pPr marL="0" lvl="0" indent="0" algn="l" rtl="0">
                        <a:spcBef>
                          <a:spcPts val="0"/>
                        </a:spcBef>
                        <a:spcAft>
                          <a:spcPts val="0"/>
                        </a:spcAft>
                        <a:buNone/>
                      </a:pPr>
                      <a:endParaRPr sz="1800" b="1">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s-ES" sz="1800" b="1">
                          <a:solidFill>
                            <a:srgbClr val="6AA84F"/>
                          </a:solidFill>
                          <a:latin typeface="Consolas"/>
                          <a:ea typeface="Consolas"/>
                          <a:cs typeface="Consolas"/>
                          <a:sym typeface="Consolas"/>
                        </a:rPr>
                        <a:t>Store R1, balance</a:t>
                      </a:r>
                      <a:endParaRPr sz="1800" b="1">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grpSp>
        <p:nvGrpSpPr>
          <p:cNvPr id="574" name="Google Shape;574;p54"/>
          <p:cNvGrpSpPr/>
          <p:nvPr/>
        </p:nvGrpSpPr>
        <p:grpSpPr>
          <a:xfrm>
            <a:off x="1229079" y="2724237"/>
            <a:ext cx="5942167" cy="3104692"/>
            <a:chOff x="1400975" y="3913475"/>
            <a:chExt cx="5537900" cy="2338575"/>
          </a:xfrm>
        </p:grpSpPr>
        <p:cxnSp>
          <p:nvCxnSpPr>
            <p:cNvPr id="575" name="Google Shape;575;p54"/>
            <p:cNvCxnSpPr/>
            <p:nvPr/>
          </p:nvCxnSpPr>
          <p:spPr>
            <a:xfrm>
              <a:off x="1400975" y="3917750"/>
              <a:ext cx="32100" cy="2334300"/>
            </a:xfrm>
            <a:prstGeom prst="straightConnector1">
              <a:avLst/>
            </a:prstGeom>
            <a:noFill/>
            <a:ln w="28575" cap="flat" cmpd="sng">
              <a:solidFill>
                <a:srgbClr val="000000"/>
              </a:solidFill>
              <a:prstDash val="solid"/>
              <a:round/>
              <a:headEnd type="none" w="med" len="med"/>
              <a:tailEnd type="triangle" w="med" len="med"/>
            </a:ln>
          </p:spPr>
        </p:cxnSp>
        <p:cxnSp>
          <p:nvCxnSpPr>
            <p:cNvPr id="576" name="Google Shape;576;p54"/>
            <p:cNvCxnSpPr/>
            <p:nvPr/>
          </p:nvCxnSpPr>
          <p:spPr>
            <a:xfrm flipH="1">
              <a:off x="1401175" y="3913475"/>
              <a:ext cx="5537700" cy="15900"/>
            </a:xfrm>
            <a:prstGeom prst="straightConnector1">
              <a:avLst/>
            </a:prstGeom>
            <a:noFill/>
            <a:ln w="28575" cap="flat" cmpd="sng">
              <a:solidFill>
                <a:schemeClr val="dk2"/>
              </a:solidFill>
              <a:prstDash val="solid"/>
              <a:round/>
              <a:headEnd type="none" w="med" len="med"/>
              <a:tailEnd type="none" w="med" len="med"/>
            </a:ln>
          </p:spPr>
        </p:cxnSp>
      </p:grpSp>
      <p:sp>
        <p:nvSpPr>
          <p:cNvPr id="577" name="Google Shape;577;p54"/>
          <p:cNvSpPr txBox="1"/>
          <p:nvPr/>
        </p:nvSpPr>
        <p:spPr>
          <a:xfrm>
            <a:off x="833100" y="3565925"/>
            <a:ext cx="270900" cy="500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600" b="1"/>
              <a:t>t</a:t>
            </a:r>
            <a:endParaRPr sz="2600" b="1"/>
          </a:p>
        </p:txBody>
      </p:sp>
      <p:sp>
        <p:nvSpPr>
          <p:cNvPr id="578" name="Google Shape;578;p54"/>
          <p:cNvSpPr/>
          <p:nvPr/>
        </p:nvSpPr>
        <p:spPr>
          <a:xfrm>
            <a:off x="8916950" y="3623675"/>
            <a:ext cx="1837200" cy="12396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54"/>
          <p:cNvSpPr/>
          <p:nvPr/>
        </p:nvSpPr>
        <p:spPr>
          <a:xfrm>
            <a:off x="8618100" y="5024275"/>
            <a:ext cx="2443500" cy="8535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54"/>
          <p:cNvSpPr/>
          <p:nvPr/>
        </p:nvSpPr>
        <p:spPr>
          <a:xfrm>
            <a:off x="9579050" y="3977850"/>
            <a:ext cx="937200" cy="428100"/>
          </a:xfrm>
          <a:prstGeom prst="rect">
            <a:avLst/>
          </a:prstGeom>
          <a:noFill/>
          <a:ln w="2857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54"/>
          <p:cNvSpPr txBox="1"/>
          <p:nvPr/>
        </p:nvSpPr>
        <p:spPr>
          <a:xfrm>
            <a:off x="9078450" y="3994025"/>
            <a:ext cx="500700" cy="428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b="1">
                <a:latin typeface="Consolas"/>
                <a:ea typeface="Consolas"/>
                <a:cs typeface="Consolas"/>
                <a:sym typeface="Consolas"/>
              </a:rPr>
              <a:t>R1</a:t>
            </a:r>
            <a:endParaRPr b="1">
              <a:latin typeface="Consolas"/>
              <a:ea typeface="Consolas"/>
              <a:cs typeface="Consolas"/>
              <a:sym typeface="Consolas"/>
            </a:endParaRPr>
          </a:p>
        </p:txBody>
      </p:sp>
      <p:sp>
        <p:nvSpPr>
          <p:cNvPr id="582" name="Google Shape;582;p54"/>
          <p:cNvSpPr txBox="1"/>
          <p:nvPr/>
        </p:nvSpPr>
        <p:spPr>
          <a:xfrm>
            <a:off x="8774125" y="5314050"/>
            <a:ext cx="9372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b="1">
                <a:latin typeface="Consolas"/>
                <a:ea typeface="Consolas"/>
                <a:cs typeface="Consolas"/>
                <a:sym typeface="Consolas"/>
              </a:rPr>
              <a:t>balance</a:t>
            </a:r>
            <a:endParaRPr b="1">
              <a:latin typeface="Consolas"/>
              <a:ea typeface="Consolas"/>
              <a:cs typeface="Consolas"/>
              <a:sym typeface="Consolas"/>
            </a:endParaRPr>
          </a:p>
        </p:txBody>
      </p:sp>
      <p:sp>
        <p:nvSpPr>
          <p:cNvPr id="583" name="Google Shape;583;p54"/>
          <p:cNvSpPr/>
          <p:nvPr/>
        </p:nvSpPr>
        <p:spPr>
          <a:xfrm>
            <a:off x="9778563" y="5236800"/>
            <a:ext cx="937200" cy="428100"/>
          </a:xfrm>
          <a:prstGeom prst="rect">
            <a:avLst/>
          </a:prstGeom>
          <a:noFill/>
          <a:ln w="2857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84" name="Google Shape;584;p54"/>
          <p:cNvPicPr preferRelativeResize="0"/>
          <p:nvPr/>
        </p:nvPicPr>
        <p:blipFill>
          <a:blip r:embed="rId5">
            <a:alphaModFix/>
          </a:blip>
          <a:stretch>
            <a:fillRect/>
          </a:stretch>
        </p:blipFill>
        <p:spPr>
          <a:xfrm>
            <a:off x="10560900" y="3461700"/>
            <a:ext cx="500700" cy="500700"/>
          </a:xfrm>
          <a:prstGeom prst="rect">
            <a:avLst/>
          </a:prstGeom>
          <a:noFill/>
          <a:ln>
            <a:noFill/>
          </a:ln>
        </p:spPr>
      </p:pic>
      <p:pic>
        <p:nvPicPr>
          <p:cNvPr id="585" name="Google Shape;585;p54"/>
          <p:cNvPicPr preferRelativeResize="0"/>
          <p:nvPr/>
        </p:nvPicPr>
        <p:blipFill>
          <a:blip r:embed="rId6">
            <a:alphaModFix/>
          </a:blip>
          <a:stretch>
            <a:fillRect/>
          </a:stretch>
        </p:blipFill>
        <p:spPr>
          <a:xfrm>
            <a:off x="10903019" y="4789050"/>
            <a:ext cx="591700" cy="591700"/>
          </a:xfrm>
          <a:prstGeom prst="rect">
            <a:avLst/>
          </a:prstGeom>
          <a:noFill/>
          <a:ln>
            <a:noFill/>
          </a:ln>
        </p:spPr>
      </p:pic>
      <p:sp>
        <p:nvSpPr>
          <p:cNvPr id="586" name="Google Shape;586;p54"/>
          <p:cNvSpPr txBox="1"/>
          <p:nvPr/>
        </p:nvSpPr>
        <p:spPr>
          <a:xfrm>
            <a:off x="8510913" y="1353800"/>
            <a:ext cx="1103700" cy="36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b="1">
                <a:solidFill>
                  <a:srgbClr val="FF0000"/>
                </a:solidFill>
                <a:latin typeface="Consolas"/>
                <a:ea typeface="Consolas"/>
                <a:cs typeface="Consolas"/>
                <a:sym typeface="Consolas"/>
              </a:rPr>
              <a:t>Thread 1</a:t>
            </a:r>
            <a:endParaRPr/>
          </a:p>
        </p:txBody>
      </p:sp>
      <p:sp>
        <p:nvSpPr>
          <p:cNvPr id="587" name="Google Shape;587;p54"/>
          <p:cNvSpPr txBox="1"/>
          <p:nvPr/>
        </p:nvSpPr>
        <p:spPr>
          <a:xfrm>
            <a:off x="10030800" y="1353800"/>
            <a:ext cx="1103700" cy="36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b="1">
                <a:solidFill>
                  <a:srgbClr val="6AA84F"/>
                </a:solidFill>
                <a:latin typeface="Consolas"/>
                <a:ea typeface="Consolas"/>
                <a:cs typeface="Consolas"/>
                <a:sym typeface="Consolas"/>
              </a:rPr>
              <a:t>Thread 2</a:t>
            </a:r>
            <a:endParaRPr>
              <a:solidFill>
                <a:srgbClr val="6AA84F"/>
              </a:solidFill>
            </a:endParaRPr>
          </a:p>
        </p:txBody>
      </p:sp>
      <p:cxnSp>
        <p:nvCxnSpPr>
          <p:cNvPr id="588" name="Google Shape;588;p54"/>
          <p:cNvCxnSpPr/>
          <p:nvPr/>
        </p:nvCxnSpPr>
        <p:spPr>
          <a:xfrm>
            <a:off x="8926125" y="2794225"/>
            <a:ext cx="403800" cy="443100"/>
          </a:xfrm>
          <a:prstGeom prst="straightConnector1">
            <a:avLst/>
          </a:prstGeom>
          <a:noFill/>
          <a:ln w="28575" cap="flat" cmpd="sng">
            <a:solidFill>
              <a:srgbClr val="FF0000"/>
            </a:solidFill>
            <a:prstDash val="solid"/>
            <a:round/>
            <a:headEnd type="none" w="med" len="med"/>
            <a:tailEnd type="triangle" w="med" len="med"/>
          </a:ln>
        </p:spPr>
      </p:cxnSp>
      <p:cxnSp>
        <p:nvCxnSpPr>
          <p:cNvPr id="589" name="Google Shape;589;p54"/>
          <p:cNvCxnSpPr/>
          <p:nvPr/>
        </p:nvCxnSpPr>
        <p:spPr>
          <a:xfrm flipH="1">
            <a:off x="10206950" y="2826825"/>
            <a:ext cx="309300" cy="442800"/>
          </a:xfrm>
          <a:prstGeom prst="straightConnector1">
            <a:avLst/>
          </a:prstGeom>
          <a:noFill/>
          <a:ln w="28575" cap="flat" cmpd="sng">
            <a:solidFill>
              <a:srgbClr val="6AA84F"/>
            </a:solidFill>
            <a:prstDash val="solid"/>
            <a:round/>
            <a:headEnd type="none" w="med" len="med"/>
            <a:tailEnd type="triangle" w="med" len="med"/>
          </a:ln>
        </p:spPr>
      </p:cxnSp>
      <p:sp>
        <p:nvSpPr>
          <p:cNvPr id="590" name="Google Shape;590;p54"/>
          <p:cNvSpPr txBox="1"/>
          <p:nvPr/>
        </p:nvSpPr>
        <p:spPr>
          <a:xfrm>
            <a:off x="9078525" y="1871475"/>
            <a:ext cx="9372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b="1">
                <a:solidFill>
                  <a:srgbClr val="FF0000"/>
                </a:solidFill>
                <a:latin typeface="Consolas"/>
                <a:ea typeface="Consolas"/>
                <a:cs typeface="Consolas"/>
                <a:sym typeface="Consolas"/>
              </a:rPr>
              <a:t>amount</a:t>
            </a:r>
            <a:endParaRPr b="1">
              <a:solidFill>
                <a:srgbClr val="FF0000"/>
              </a:solidFill>
              <a:latin typeface="Consolas"/>
              <a:ea typeface="Consolas"/>
              <a:cs typeface="Consolas"/>
              <a:sym typeface="Consolas"/>
            </a:endParaRPr>
          </a:p>
        </p:txBody>
      </p:sp>
      <p:sp>
        <p:nvSpPr>
          <p:cNvPr id="591" name="Google Shape;591;p54"/>
          <p:cNvSpPr txBox="1"/>
          <p:nvPr/>
        </p:nvSpPr>
        <p:spPr>
          <a:xfrm>
            <a:off x="10903025" y="1857938"/>
            <a:ext cx="9372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b="1">
                <a:solidFill>
                  <a:srgbClr val="6AA84F"/>
                </a:solidFill>
                <a:latin typeface="Consolas"/>
                <a:ea typeface="Consolas"/>
                <a:cs typeface="Consolas"/>
                <a:sym typeface="Consolas"/>
              </a:rPr>
              <a:t>amount</a:t>
            </a:r>
            <a:endParaRPr b="1">
              <a:solidFill>
                <a:srgbClr val="6AA84F"/>
              </a:solidFill>
              <a:latin typeface="Consolas"/>
              <a:ea typeface="Consolas"/>
              <a:cs typeface="Consolas"/>
              <a:sym typeface="Consolas"/>
            </a:endParaRPr>
          </a:p>
        </p:txBody>
      </p:sp>
      <p:sp>
        <p:nvSpPr>
          <p:cNvPr id="592" name="Google Shape;592;p54"/>
          <p:cNvSpPr/>
          <p:nvPr/>
        </p:nvSpPr>
        <p:spPr>
          <a:xfrm>
            <a:off x="9078525" y="2275071"/>
            <a:ext cx="937200" cy="273600"/>
          </a:xfrm>
          <a:prstGeom prst="rect">
            <a:avLst/>
          </a:prstGeom>
          <a:no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54"/>
          <p:cNvSpPr/>
          <p:nvPr/>
        </p:nvSpPr>
        <p:spPr>
          <a:xfrm>
            <a:off x="10903025" y="2275071"/>
            <a:ext cx="937200" cy="273600"/>
          </a:xfrm>
          <a:prstGeom prst="rect">
            <a:avLst/>
          </a:prstGeom>
          <a:noFill/>
          <a:ln w="28575" cap="flat" cmpd="sng">
            <a:solidFill>
              <a:srgbClr val="6AA8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97"/>
        <p:cNvGrpSpPr/>
        <p:nvPr/>
      </p:nvGrpSpPr>
      <p:grpSpPr>
        <a:xfrm>
          <a:off x="0" y="0"/>
          <a:ext cx="0" cy="0"/>
          <a:chOff x="0" y="0"/>
          <a:chExt cx="0" cy="0"/>
        </a:xfrm>
      </p:grpSpPr>
      <p:sp>
        <p:nvSpPr>
          <p:cNvPr id="598" name="Google Shape;598;p55"/>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latin typeface="+mj-lt"/>
              </a:rPr>
              <a:t>Virtualización de recursos</a:t>
            </a:r>
            <a:endParaRPr>
              <a:latin typeface="+mj-lt"/>
            </a:endParaRPr>
          </a:p>
        </p:txBody>
      </p:sp>
      <p:sp>
        <p:nvSpPr>
          <p:cNvPr id="599" name="Google Shape;599;p55"/>
          <p:cNvSpPr txBox="1">
            <a:spLocks noGrp="1"/>
          </p:cNvSpPr>
          <p:nvPr>
            <p:ph type="body" idx="1"/>
          </p:nvPr>
        </p:nvSpPr>
        <p:spPr>
          <a:xfrm>
            <a:off x="916650" y="932700"/>
            <a:ext cx="105297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Ejemplo</a:t>
            </a:r>
            <a:endParaRPr sz="2800" b="1" dirty="0">
              <a:solidFill>
                <a:schemeClr val="accent1"/>
              </a:solidFill>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9144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sp>
        <p:nvSpPr>
          <p:cNvPr id="600" name="Google Shape;600;p55"/>
          <p:cNvSpPr txBox="1"/>
          <p:nvPr/>
        </p:nvSpPr>
        <p:spPr>
          <a:xfrm>
            <a:off x="982400" y="3156825"/>
            <a:ext cx="1167300" cy="40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t>threads.c</a:t>
            </a:r>
            <a:endParaRPr sz="1600" b="1"/>
          </a:p>
        </p:txBody>
      </p:sp>
      <p:pic>
        <p:nvPicPr>
          <p:cNvPr id="601" name="Google Shape;601;p55"/>
          <p:cNvPicPr preferRelativeResize="0"/>
          <p:nvPr/>
        </p:nvPicPr>
        <p:blipFill>
          <a:blip r:embed="rId3">
            <a:alphaModFix/>
          </a:blip>
          <a:stretch>
            <a:fillRect/>
          </a:stretch>
        </p:blipFill>
        <p:spPr>
          <a:xfrm>
            <a:off x="1054538" y="1955025"/>
            <a:ext cx="1095375" cy="1114425"/>
          </a:xfrm>
          <a:prstGeom prst="rect">
            <a:avLst/>
          </a:prstGeom>
          <a:noFill/>
          <a:ln>
            <a:noFill/>
          </a:ln>
        </p:spPr>
      </p:pic>
      <p:sp>
        <p:nvSpPr>
          <p:cNvPr id="602" name="Google Shape;602;p55"/>
          <p:cNvSpPr txBox="1"/>
          <p:nvPr/>
        </p:nvSpPr>
        <p:spPr>
          <a:xfrm>
            <a:off x="2703875" y="1238575"/>
            <a:ext cx="3396900" cy="5414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&lt;stdio.h&gt;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&lt;stdlib.h&gt;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"common.h"</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"common_threads.h"</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D73A49"/>
                </a:solidFill>
                <a:highlight>
                  <a:srgbClr val="FFFFFF"/>
                </a:highlight>
                <a:latin typeface="Consolas"/>
                <a:ea typeface="Consolas"/>
                <a:cs typeface="Consolas"/>
                <a:sym typeface="Consolas"/>
              </a:rPr>
              <a:t>volatile</a:t>
            </a: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counter = </a:t>
            </a:r>
            <a:r>
              <a:rPr lang="es-ES" sz="1600">
                <a:solidFill>
                  <a:srgbClr val="005CC5"/>
                </a:solidFill>
                <a:highlight>
                  <a:srgbClr val="FFFFFF"/>
                </a:highlight>
                <a:latin typeface="Consolas"/>
                <a:ea typeface="Consolas"/>
                <a:cs typeface="Consolas"/>
                <a:sym typeface="Consolas"/>
              </a:rPr>
              <a:t>0</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loops;</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D73A49"/>
                </a:solidFill>
                <a:highlight>
                  <a:srgbClr val="FFFFFF"/>
                </a:highlight>
                <a:latin typeface="Consolas"/>
                <a:ea typeface="Consolas"/>
                <a:cs typeface="Consolas"/>
                <a:sym typeface="Consolas"/>
              </a:rPr>
              <a:t>void</a:t>
            </a:r>
            <a:r>
              <a:rPr lang="es-ES" sz="1600">
                <a:solidFill>
                  <a:srgbClr val="24292E"/>
                </a:solidFill>
                <a:highlight>
                  <a:srgbClr val="FFFFFF"/>
                </a:highlight>
                <a:latin typeface="Consolas"/>
                <a:ea typeface="Consolas"/>
                <a:cs typeface="Consolas"/>
                <a:sym typeface="Consolas"/>
              </a:rPr>
              <a:t> *</a:t>
            </a:r>
            <a:r>
              <a:rPr lang="es-ES" sz="1600">
                <a:solidFill>
                  <a:srgbClr val="6F42C1"/>
                </a:solidFill>
                <a:highlight>
                  <a:srgbClr val="FFFFFF"/>
                </a:highlight>
                <a:latin typeface="Consolas"/>
                <a:ea typeface="Consolas"/>
                <a:cs typeface="Consolas"/>
                <a:sym typeface="Consolas"/>
              </a:rPr>
              <a:t>worker</a:t>
            </a: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void</a:t>
            </a:r>
            <a:r>
              <a:rPr lang="es-ES" sz="1600">
                <a:solidFill>
                  <a:srgbClr val="24292E"/>
                </a:solidFill>
                <a:highlight>
                  <a:srgbClr val="FFFFFF"/>
                </a:highlight>
                <a:latin typeface="Consolas"/>
                <a:ea typeface="Consolas"/>
                <a:cs typeface="Consolas"/>
                <a:sym typeface="Consolas"/>
              </a:rPr>
              <a:t> *arg)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i;</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for</a:t>
            </a:r>
            <a:r>
              <a:rPr lang="es-ES" sz="1600">
                <a:solidFill>
                  <a:srgbClr val="24292E"/>
                </a:solidFill>
                <a:highlight>
                  <a:srgbClr val="FFFFFF"/>
                </a:highlight>
                <a:latin typeface="Consolas"/>
                <a:ea typeface="Consolas"/>
                <a:cs typeface="Consolas"/>
                <a:sym typeface="Consolas"/>
              </a:rPr>
              <a:t> (i = </a:t>
            </a:r>
            <a:r>
              <a:rPr lang="es-ES" sz="1600">
                <a:solidFill>
                  <a:srgbClr val="005CC5"/>
                </a:solidFill>
                <a:highlight>
                  <a:srgbClr val="FFFFFF"/>
                </a:highlight>
                <a:latin typeface="Consolas"/>
                <a:ea typeface="Consolas"/>
                <a:cs typeface="Consolas"/>
                <a:sym typeface="Consolas"/>
              </a:rPr>
              <a:t>0</a:t>
            </a:r>
            <a:r>
              <a:rPr lang="es-ES" sz="1600">
                <a:solidFill>
                  <a:srgbClr val="24292E"/>
                </a:solidFill>
                <a:highlight>
                  <a:srgbClr val="FFFFFF"/>
                </a:highlight>
                <a:latin typeface="Consolas"/>
                <a:ea typeface="Consolas"/>
                <a:cs typeface="Consolas"/>
                <a:sym typeface="Consolas"/>
              </a:rPr>
              <a:t>; i &lt; loops; i++)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counter++;</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return</a:t>
            </a: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NULL</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1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1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700">
              <a:solidFill>
                <a:srgbClr val="24292E"/>
              </a:solidFill>
              <a:highlight>
                <a:srgbClr val="FFFFFF"/>
              </a:highlight>
              <a:latin typeface="Consolas"/>
              <a:ea typeface="Consolas"/>
              <a:cs typeface="Consolas"/>
              <a:sym typeface="Consolas"/>
            </a:endParaRPr>
          </a:p>
        </p:txBody>
      </p:sp>
      <p:sp>
        <p:nvSpPr>
          <p:cNvPr id="603" name="Google Shape;603;p55"/>
          <p:cNvSpPr txBox="1"/>
          <p:nvPr/>
        </p:nvSpPr>
        <p:spPr>
          <a:xfrm>
            <a:off x="6399175" y="1238575"/>
            <a:ext cx="5779500" cy="4181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a:t>
            </a:r>
            <a:r>
              <a:rPr lang="es-ES" sz="1600">
                <a:solidFill>
                  <a:srgbClr val="6F42C1"/>
                </a:solidFill>
                <a:highlight>
                  <a:srgbClr val="FFFFFF"/>
                </a:highlight>
                <a:latin typeface="Consolas"/>
                <a:ea typeface="Consolas"/>
                <a:cs typeface="Consolas"/>
                <a:sym typeface="Consolas"/>
              </a:rPr>
              <a:t>main</a:t>
            </a: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argc, </a:t>
            </a:r>
            <a:r>
              <a:rPr lang="es-ES" sz="1600">
                <a:solidFill>
                  <a:srgbClr val="D73A49"/>
                </a:solidFill>
                <a:highlight>
                  <a:srgbClr val="FFFFFF"/>
                </a:highlight>
                <a:latin typeface="Consolas"/>
                <a:ea typeface="Consolas"/>
                <a:cs typeface="Consolas"/>
                <a:sym typeface="Consolas"/>
              </a:rPr>
              <a:t>char</a:t>
            </a:r>
            <a:r>
              <a:rPr lang="es-ES" sz="1600">
                <a:solidFill>
                  <a:srgbClr val="24292E"/>
                </a:solidFill>
                <a:highlight>
                  <a:srgbClr val="FFFFFF"/>
                </a:highlight>
                <a:latin typeface="Consolas"/>
                <a:ea typeface="Consolas"/>
                <a:cs typeface="Consolas"/>
                <a:sym typeface="Consolas"/>
              </a:rPr>
              <a:t> *argv[])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if</a:t>
            </a:r>
            <a:r>
              <a:rPr lang="es-ES" sz="1600">
                <a:solidFill>
                  <a:srgbClr val="24292E"/>
                </a:solidFill>
                <a:highlight>
                  <a:srgbClr val="FFFFFF"/>
                </a:highlight>
                <a:latin typeface="Consolas"/>
                <a:ea typeface="Consolas"/>
                <a:cs typeface="Consolas"/>
                <a:sym typeface="Consolas"/>
              </a:rPr>
              <a:t> (argc != </a:t>
            </a:r>
            <a:r>
              <a:rPr lang="es-ES" sz="1600">
                <a:solidFill>
                  <a:srgbClr val="005CC5"/>
                </a:solidFill>
                <a:highlight>
                  <a:srgbClr val="FFFFFF"/>
                </a:highlight>
                <a:latin typeface="Consolas"/>
                <a:ea typeface="Consolas"/>
                <a:cs typeface="Consolas"/>
                <a:sym typeface="Consolas"/>
              </a:rPr>
              <a:t>2</a:t>
            </a:r>
            <a:r>
              <a:rPr lang="es-ES" sz="1600">
                <a:solidFill>
                  <a:srgbClr val="24292E"/>
                </a:solidFill>
                <a:highlight>
                  <a:srgbClr val="FFFFFF"/>
                </a:highlight>
                <a:latin typeface="Consolas"/>
                <a:ea typeface="Consolas"/>
                <a:cs typeface="Consolas"/>
                <a:sym typeface="Consolas"/>
              </a:rPr>
              <a:t>)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fprintf</a:t>
            </a:r>
            <a:r>
              <a:rPr lang="es-ES" sz="1600">
                <a:solidFill>
                  <a:srgbClr val="24292E"/>
                </a:solidFill>
                <a:highlight>
                  <a:srgbClr val="FFFFFF"/>
                </a:highlight>
                <a:latin typeface="Consolas"/>
                <a:ea typeface="Consolas"/>
                <a:cs typeface="Consolas"/>
                <a:sym typeface="Consolas"/>
              </a:rPr>
              <a:t>(stderr, </a:t>
            </a:r>
            <a:r>
              <a:rPr lang="es-ES" sz="1600">
                <a:solidFill>
                  <a:srgbClr val="032F62"/>
                </a:solidFill>
                <a:highlight>
                  <a:srgbClr val="FFFFFF"/>
                </a:highlight>
                <a:latin typeface="Consolas"/>
                <a:ea typeface="Consolas"/>
                <a:cs typeface="Consolas"/>
                <a:sym typeface="Consolas"/>
              </a:rPr>
              <a:t>"usage: threads &lt;loops&gt;\n"</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exit</a:t>
            </a:r>
            <a:r>
              <a:rPr lang="es-ES" sz="1600">
                <a:solidFill>
                  <a:srgbClr val="24292E"/>
                </a:solidFill>
                <a:highlight>
                  <a:srgbClr val="FFFFFF"/>
                </a:highlight>
                <a:latin typeface="Consolas"/>
                <a:ea typeface="Consolas"/>
                <a:cs typeface="Consolas"/>
                <a:sym typeface="Consolas"/>
              </a:rPr>
              <a:t>(</a:t>
            </a:r>
            <a:r>
              <a:rPr lang="es-ES" sz="1600">
                <a:solidFill>
                  <a:srgbClr val="005CC5"/>
                </a:solidFill>
                <a:highlight>
                  <a:srgbClr val="FFFFFF"/>
                </a:highlight>
                <a:latin typeface="Consolas"/>
                <a:ea typeface="Consolas"/>
                <a:cs typeface="Consolas"/>
                <a:sym typeface="Consolas"/>
              </a:rPr>
              <a:t>1</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loops = </a:t>
            </a:r>
            <a:r>
              <a:rPr lang="es-ES" sz="1600">
                <a:solidFill>
                  <a:srgbClr val="005CC5"/>
                </a:solidFill>
                <a:highlight>
                  <a:srgbClr val="FFFFFF"/>
                </a:highlight>
                <a:latin typeface="Consolas"/>
                <a:ea typeface="Consolas"/>
                <a:cs typeface="Consolas"/>
                <a:sym typeface="Consolas"/>
              </a:rPr>
              <a:t>atoi</a:t>
            </a:r>
            <a:r>
              <a:rPr lang="es-ES" sz="1600">
                <a:solidFill>
                  <a:srgbClr val="24292E"/>
                </a:solidFill>
                <a:highlight>
                  <a:srgbClr val="FFFFFF"/>
                </a:highlight>
                <a:latin typeface="Consolas"/>
                <a:ea typeface="Consolas"/>
                <a:cs typeface="Consolas"/>
                <a:sym typeface="Consolas"/>
              </a:rPr>
              <a:t>(argv[</a:t>
            </a:r>
            <a:r>
              <a:rPr lang="es-ES" sz="1600">
                <a:solidFill>
                  <a:srgbClr val="005CC5"/>
                </a:solidFill>
                <a:highlight>
                  <a:srgbClr val="FFFFFF"/>
                </a:highlight>
                <a:latin typeface="Consolas"/>
                <a:ea typeface="Consolas"/>
                <a:cs typeface="Consolas"/>
                <a:sym typeface="Consolas"/>
              </a:rPr>
              <a:t>1</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pthread_t</a:t>
            </a:r>
            <a:r>
              <a:rPr lang="es-ES" sz="1600">
                <a:solidFill>
                  <a:srgbClr val="24292E"/>
                </a:solidFill>
                <a:highlight>
                  <a:srgbClr val="FFFFFF"/>
                </a:highlight>
                <a:latin typeface="Consolas"/>
                <a:ea typeface="Consolas"/>
                <a:cs typeface="Consolas"/>
                <a:sym typeface="Consolas"/>
              </a:rPr>
              <a:t> p1, p2;</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printf</a:t>
            </a:r>
            <a:r>
              <a:rPr lang="es-ES" sz="1600">
                <a:solidFill>
                  <a:srgbClr val="24292E"/>
                </a:solidFill>
                <a:highlight>
                  <a:srgbClr val="FFFFFF"/>
                </a:highlight>
                <a:latin typeface="Consolas"/>
                <a:ea typeface="Consolas"/>
                <a:cs typeface="Consolas"/>
                <a:sym typeface="Consolas"/>
              </a:rPr>
              <a:t>(</a:t>
            </a:r>
            <a:r>
              <a:rPr lang="es-ES" sz="1600">
                <a:solidFill>
                  <a:srgbClr val="032F62"/>
                </a:solidFill>
                <a:highlight>
                  <a:srgbClr val="FFFFFF"/>
                </a:highlight>
                <a:latin typeface="Consolas"/>
                <a:ea typeface="Consolas"/>
                <a:cs typeface="Consolas"/>
                <a:sym typeface="Consolas"/>
              </a:rPr>
              <a:t>"Initial value : </a:t>
            </a:r>
            <a:r>
              <a:rPr lang="es-ES" sz="1600">
                <a:solidFill>
                  <a:srgbClr val="005CC5"/>
                </a:solidFill>
                <a:highlight>
                  <a:srgbClr val="FFFFFF"/>
                </a:highlight>
                <a:latin typeface="Consolas"/>
                <a:ea typeface="Consolas"/>
                <a:cs typeface="Consolas"/>
                <a:sym typeface="Consolas"/>
              </a:rPr>
              <a:t>%d</a:t>
            </a:r>
            <a:r>
              <a:rPr lang="es-ES" sz="1600">
                <a:solidFill>
                  <a:srgbClr val="032F62"/>
                </a:solidFill>
                <a:highlight>
                  <a:srgbClr val="FFFFFF"/>
                </a:highlight>
                <a:latin typeface="Consolas"/>
                <a:ea typeface="Consolas"/>
                <a:cs typeface="Consolas"/>
                <a:sym typeface="Consolas"/>
              </a:rPr>
              <a:t>\n"</a:t>
            </a:r>
            <a:r>
              <a:rPr lang="es-ES" sz="1600">
                <a:solidFill>
                  <a:srgbClr val="24292E"/>
                </a:solidFill>
                <a:highlight>
                  <a:srgbClr val="FFFFFF"/>
                </a:highlight>
                <a:latin typeface="Consolas"/>
                <a:ea typeface="Consolas"/>
                <a:cs typeface="Consolas"/>
                <a:sym typeface="Consolas"/>
              </a:rPr>
              <a:t>, counter);</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Pthread_create</a:t>
            </a:r>
            <a:r>
              <a:rPr lang="es-ES" sz="1600">
                <a:solidFill>
                  <a:srgbClr val="24292E"/>
                </a:solidFill>
                <a:highlight>
                  <a:srgbClr val="FFFFFF"/>
                </a:highlight>
                <a:latin typeface="Consolas"/>
                <a:ea typeface="Consolas"/>
                <a:cs typeface="Consolas"/>
                <a:sym typeface="Consolas"/>
              </a:rPr>
              <a:t>(&amp;p1, </a:t>
            </a:r>
            <a:r>
              <a:rPr lang="es-ES" sz="1600">
                <a:solidFill>
                  <a:srgbClr val="005CC5"/>
                </a:solidFill>
                <a:highlight>
                  <a:srgbClr val="FFFFFF"/>
                </a:highlight>
                <a:latin typeface="Consolas"/>
                <a:ea typeface="Consolas"/>
                <a:cs typeface="Consolas"/>
                <a:sym typeface="Consolas"/>
              </a:rPr>
              <a:t>NULL</a:t>
            </a:r>
            <a:r>
              <a:rPr lang="es-ES" sz="1600">
                <a:solidFill>
                  <a:srgbClr val="24292E"/>
                </a:solidFill>
                <a:highlight>
                  <a:srgbClr val="FFFFFF"/>
                </a:highlight>
                <a:latin typeface="Consolas"/>
                <a:ea typeface="Consolas"/>
                <a:cs typeface="Consolas"/>
                <a:sym typeface="Consolas"/>
              </a:rPr>
              <a:t>, worker, </a:t>
            </a:r>
            <a:r>
              <a:rPr lang="es-ES" sz="1600">
                <a:solidFill>
                  <a:srgbClr val="005CC5"/>
                </a:solidFill>
                <a:highlight>
                  <a:srgbClr val="FFFFFF"/>
                </a:highlight>
                <a:latin typeface="Consolas"/>
                <a:ea typeface="Consolas"/>
                <a:cs typeface="Consolas"/>
                <a:sym typeface="Consolas"/>
              </a:rPr>
              <a:t>NULL</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Pthread_create</a:t>
            </a:r>
            <a:r>
              <a:rPr lang="es-ES" sz="1600">
                <a:solidFill>
                  <a:srgbClr val="24292E"/>
                </a:solidFill>
                <a:highlight>
                  <a:srgbClr val="FFFFFF"/>
                </a:highlight>
                <a:latin typeface="Consolas"/>
                <a:ea typeface="Consolas"/>
                <a:cs typeface="Consolas"/>
                <a:sym typeface="Consolas"/>
              </a:rPr>
              <a:t>(&amp;p2, </a:t>
            </a:r>
            <a:r>
              <a:rPr lang="es-ES" sz="1600">
                <a:solidFill>
                  <a:srgbClr val="005CC5"/>
                </a:solidFill>
                <a:highlight>
                  <a:srgbClr val="FFFFFF"/>
                </a:highlight>
                <a:latin typeface="Consolas"/>
                <a:ea typeface="Consolas"/>
                <a:cs typeface="Consolas"/>
                <a:sym typeface="Consolas"/>
              </a:rPr>
              <a:t>NULL</a:t>
            </a:r>
            <a:r>
              <a:rPr lang="es-ES" sz="1600">
                <a:solidFill>
                  <a:srgbClr val="24292E"/>
                </a:solidFill>
                <a:highlight>
                  <a:srgbClr val="FFFFFF"/>
                </a:highlight>
                <a:latin typeface="Consolas"/>
                <a:ea typeface="Consolas"/>
                <a:cs typeface="Consolas"/>
                <a:sym typeface="Consolas"/>
              </a:rPr>
              <a:t>, worker, </a:t>
            </a:r>
            <a:r>
              <a:rPr lang="es-ES" sz="1600">
                <a:solidFill>
                  <a:srgbClr val="005CC5"/>
                </a:solidFill>
                <a:highlight>
                  <a:srgbClr val="FFFFFF"/>
                </a:highlight>
                <a:latin typeface="Consolas"/>
                <a:ea typeface="Consolas"/>
                <a:cs typeface="Consolas"/>
                <a:sym typeface="Consolas"/>
              </a:rPr>
              <a:t>NULL</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Pthread_join</a:t>
            </a:r>
            <a:r>
              <a:rPr lang="es-ES" sz="1600">
                <a:solidFill>
                  <a:srgbClr val="24292E"/>
                </a:solidFill>
                <a:highlight>
                  <a:srgbClr val="FFFFFF"/>
                </a:highlight>
                <a:latin typeface="Consolas"/>
                <a:ea typeface="Consolas"/>
                <a:cs typeface="Consolas"/>
                <a:sym typeface="Consolas"/>
              </a:rPr>
              <a:t>(p1, </a:t>
            </a:r>
            <a:r>
              <a:rPr lang="es-ES" sz="1600">
                <a:solidFill>
                  <a:srgbClr val="005CC5"/>
                </a:solidFill>
                <a:highlight>
                  <a:srgbClr val="FFFFFF"/>
                </a:highlight>
                <a:latin typeface="Consolas"/>
                <a:ea typeface="Consolas"/>
                <a:cs typeface="Consolas"/>
                <a:sym typeface="Consolas"/>
              </a:rPr>
              <a:t>NULL</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Pthread_join</a:t>
            </a:r>
            <a:r>
              <a:rPr lang="es-ES" sz="1600">
                <a:solidFill>
                  <a:srgbClr val="24292E"/>
                </a:solidFill>
                <a:highlight>
                  <a:srgbClr val="FFFFFF"/>
                </a:highlight>
                <a:latin typeface="Consolas"/>
                <a:ea typeface="Consolas"/>
                <a:cs typeface="Consolas"/>
                <a:sym typeface="Consolas"/>
              </a:rPr>
              <a:t>(p2, </a:t>
            </a:r>
            <a:r>
              <a:rPr lang="es-ES" sz="1600">
                <a:solidFill>
                  <a:srgbClr val="005CC5"/>
                </a:solidFill>
                <a:highlight>
                  <a:srgbClr val="FFFFFF"/>
                </a:highlight>
                <a:latin typeface="Consolas"/>
                <a:ea typeface="Consolas"/>
                <a:cs typeface="Consolas"/>
                <a:sym typeface="Consolas"/>
              </a:rPr>
              <a:t>NULL</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printf</a:t>
            </a:r>
            <a:r>
              <a:rPr lang="es-ES" sz="1600">
                <a:solidFill>
                  <a:srgbClr val="24292E"/>
                </a:solidFill>
                <a:highlight>
                  <a:srgbClr val="FFFFFF"/>
                </a:highlight>
                <a:latin typeface="Consolas"/>
                <a:ea typeface="Consolas"/>
                <a:cs typeface="Consolas"/>
                <a:sym typeface="Consolas"/>
              </a:rPr>
              <a:t>(</a:t>
            </a:r>
            <a:r>
              <a:rPr lang="es-ES" sz="1600">
                <a:solidFill>
                  <a:srgbClr val="032F62"/>
                </a:solidFill>
                <a:highlight>
                  <a:srgbClr val="FFFFFF"/>
                </a:highlight>
                <a:latin typeface="Consolas"/>
                <a:ea typeface="Consolas"/>
                <a:cs typeface="Consolas"/>
                <a:sym typeface="Consolas"/>
              </a:rPr>
              <a:t>"Final value   : </a:t>
            </a:r>
            <a:r>
              <a:rPr lang="es-ES" sz="1600">
                <a:solidFill>
                  <a:srgbClr val="005CC5"/>
                </a:solidFill>
                <a:highlight>
                  <a:srgbClr val="FFFFFF"/>
                </a:highlight>
                <a:latin typeface="Consolas"/>
                <a:ea typeface="Consolas"/>
                <a:cs typeface="Consolas"/>
                <a:sym typeface="Consolas"/>
              </a:rPr>
              <a:t>%d</a:t>
            </a:r>
            <a:r>
              <a:rPr lang="es-ES" sz="1600">
                <a:solidFill>
                  <a:srgbClr val="032F62"/>
                </a:solidFill>
                <a:highlight>
                  <a:srgbClr val="FFFFFF"/>
                </a:highlight>
                <a:latin typeface="Consolas"/>
                <a:ea typeface="Consolas"/>
                <a:cs typeface="Consolas"/>
                <a:sym typeface="Consolas"/>
              </a:rPr>
              <a:t>\n"</a:t>
            </a:r>
            <a:r>
              <a:rPr lang="es-ES" sz="1600">
                <a:solidFill>
                  <a:srgbClr val="24292E"/>
                </a:solidFill>
                <a:highlight>
                  <a:srgbClr val="FFFFFF"/>
                </a:highlight>
                <a:latin typeface="Consolas"/>
                <a:ea typeface="Consolas"/>
                <a:cs typeface="Consolas"/>
                <a:sym typeface="Consolas"/>
              </a:rPr>
              <a:t>, counter);</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return</a:t>
            </a: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0</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8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700">
              <a:solidFill>
                <a:srgbClr val="24292E"/>
              </a:solidFill>
              <a:highlight>
                <a:srgbClr val="FFFFFF"/>
              </a:highlight>
              <a:latin typeface="Consolas"/>
              <a:ea typeface="Consolas"/>
              <a:cs typeface="Consolas"/>
              <a:sym typeface="Consolas"/>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07"/>
        <p:cNvGrpSpPr/>
        <p:nvPr/>
      </p:nvGrpSpPr>
      <p:grpSpPr>
        <a:xfrm>
          <a:off x="0" y="0"/>
          <a:ext cx="0" cy="0"/>
          <a:chOff x="0" y="0"/>
          <a:chExt cx="0" cy="0"/>
        </a:xfrm>
      </p:grpSpPr>
      <p:sp>
        <p:nvSpPr>
          <p:cNvPr id="608" name="Google Shape;608;p56"/>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latin typeface="+mj-lt"/>
              </a:rPr>
              <a:t>Virtualización de recursos</a:t>
            </a:r>
            <a:endParaRPr>
              <a:latin typeface="+mj-lt"/>
            </a:endParaRPr>
          </a:p>
        </p:txBody>
      </p:sp>
      <p:sp>
        <p:nvSpPr>
          <p:cNvPr id="609" name="Google Shape;609;p56"/>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sp>
        <p:nvSpPr>
          <p:cNvPr id="610" name="Google Shape;610;p56"/>
          <p:cNvSpPr txBox="1"/>
          <p:nvPr/>
        </p:nvSpPr>
        <p:spPr>
          <a:xfrm>
            <a:off x="948100" y="869325"/>
            <a:ext cx="5650500" cy="3000000"/>
          </a:xfrm>
          <a:prstGeom prst="rect">
            <a:avLst/>
          </a:prstGeom>
          <a:noFill/>
          <a:ln>
            <a:noFill/>
          </a:ln>
        </p:spPr>
        <p:txBody>
          <a:bodyPr spcFirstLastPara="1" wrap="square" lIns="91425" tIns="91425" rIns="91425" bIns="91425" anchor="t" anchorCtr="0">
            <a:noAutofit/>
          </a:bodyPr>
          <a:lstStyle/>
          <a:p>
            <a:pPr marL="0" lvl="0" indent="0" algn="l" rtl="0">
              <a:spcBef>
                <a:spcPts val="480"/>
              </a:spcBef>
              <a:spcAft>
                <a:spcPts val="0"/>
              </a:spcAft>
              <a:buNone/>
            </a:pPr>
            <a:r>
              <a:rPr lang="es-ES" sz="2800" b="1">
                <a:solidFill>
                  <a:schemeClr val="accent1"/>
                </a:solidFill>
                <a:latin typeface="Roboto"/>
                <a:ea typeface="Roboto"/>
                <a:cs typeface="Roboto"/>
                <a:sym typeface="Roboto"/>
              </a:rPr>
              <a:t>Ejemplo concurrencia</a:t>
            </a:r>
            <a:endParaRPr sz="2800" b="1">
              <a:solidFill>
                <a:schemeClr val="accent1"/>
              </a:solidFill>
              <a:latin typeface="Roboto"/>
              <a:ea typeface="Roboto"/>
              <a:cs typeface="Roboto"/>
              <a:sym typeface="Roboto"/>
            </a:endParaRPr>
          </a:p>
        </p:txBody>
      </p:sp>
      <p:pic>
        <p:nvPicPr>
          <p:cNvPr id="611" name="Google Shape;611;p56"/>
          <p:cNvPicPr preferRelativeResize="0"/>
          <p:nvPr/>
        </p:nvPicPr>
        <p:blipFill>
          <a:blip r:embed="rId3">
            <a:alphaModFix/>
          </a:blip>
          <a:stretch>
            <a:fillRect/>
          </a:stretch>
        </p:blipFill>
        <p:spPr>
          <a:xfrm>
            <a:off x="2679810" y="1987538"/>
            <a:ext cx="363275" cy="763575"/>
          </a:xfrm>
          <a:prstGeom prst="rect">
            <a:avLst/>
          </a:prstGeom>
          <a:noFill/>
          <a:ln>
            <a:noFill/>
          </a:ln>
        </p:spPr>
      </p:pic>
      <p:pic>
        <p:nvPicPr>
          <p:cNvPr id="612" name="Google Shape;612;p56"/>
          <p:cNvPicPr preferRelativeResize="0"/>
          <p:nvPr/>
        </p:nvPicPr>
        <p:blipFill>
          <a:blip r:embed="rId3">
            <a:alphaModFix/>
          </a:blip>
          <a:stretch>
            <a:fillRect/>
          </a:stretch>
        </p:blipFill>
        <p:spPr>
          <a:xfrm>
            <a:off x="4152310" y="1987550"/>
            <a:ext cx="363275" cy="763575"/>
          </a:xfrm>
          <a:prstGeom prst="rect">
            <a:avLst/>
          </a:prstGeom>
          <a:noFill/>
          <a:ln>
            <a:noFill/>
          </a:ln>
        </p:spPr>
      </p:pic>
      <p:grpSp>
        <p:nvGrpSpPr>
          <p:cNvPr id="613" name="Google Shape;613;p56"/>
          <p:cNvGrpSpPr/>
          <p:nvPr/>
        </p:nvGrpSpPr>
        <p:grpSpPr>
          <a:xfrm>
            <a:off x="1578050" y="3591500"/>
            <a:ext cx="2962200" cy="627900"/>
            <a:chOff x="1578050" y="3591500"/>
            <a:chExt cx="2962200" cy="627900"/>
          </a:xfrm>
        </p:grpSpPr>
        <p:sp>
          <p:nvSpPr>
            <p:cNvPr id="614" name="Google Shape;614;p56"/>
            <p:cNvSpPr/>
            <p:nvPr/>
          </p:nvSpPr>
          <p:spPr>
            <a:xfrm>
              <a:off x="1578050" y="3591500"/>
              <a:ext cx="2962200" cy="627900"/>
            </a:xfrm>
            <a:prstGeom prst="rect">
              <a:avLst/>
            </a:prstGeom>
            <a:solidFill>
              <a:schemeClr val="lt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56"/>
            <p:cNvSpPr txBox="1"/>
            <p:nvPr/>
          </p:nvSpPr>
          <p:spPr>
            <a:xfrm>
              <a:off x="1718650" y="3699900"/>
              <a:ext cx="966000" cy="45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latin typeface="Consolas"/>
                  <a:ea typeface="Consolas"/>
                  <a:cs typeface="Consolas"/>
                  <a:sym typeface="Consolas"/>
                </a:rPr>
                <a:t>counter</a:t>
              </a:r>
              <a:endParaRPr sz="1600" b="1">
                <a:latin typeface="Consolas"/>
                <a:ea typeface="Consolas"/>
                <a:cs typeface="Consolas"/>
                <a:sym typeface="Consolas"/>
              </a:endParaRPr>
            </a:p>
          </p:txBody>
        </p:sp>
        <p:sp>
          <p:nvSpPr>
            <p:cNvPr id="616" name="Google Shape;616;p56"/>
            <p:cNvSpPr/>
            <p:nvPr/>
          </p:nvSpPr>
          <p:spPr>
            <a:xfrm>
              <a:off x="2809050" y="3693100"/>
              <a:ext cx="1521900" cy="3816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617" name="Google Shape;617;p56"/>
          <p:cNvCxnSpPr>
            <a:stCxn id="611" idx="2"/>
          </p:cNvCxnSpPr>
          <p:nvPr/>
        </p:nvCxnSpPr>
        <p:spPr>
          <a:xfrm>
            <a:off x="2861447" y="2751113"/>
            <a:ext cx="659100" cy="1114200"/>
          </a:xfrm>
          <a:prstGeom prst="straightConnector1">
            <a:avLst/>
          </a:prstGeom>
          <a:noFill/>
          <a:ln w="28575" cap="flat" cmpd="sng">
            <a:solidFill>
              <a:srgbClr val="6AA84F"/>
            </a:solidFill>
            <a:prstDash val="solid"/>
            <a:round/>
            <a:headEnd type="none" w="med" len="med"/>
            <a:tailEnd type="triangle" w="med" len="med"/>
          </a:ln>
        </p:spPr>
      </p:cxnSp>
      <p:cxnSp>
        <p:nvCxnSpPr>
          <p:cNvPr id="618" name="Google Shape;618;p56"/>
          <p:cNvCxnSpPr/>
          <p:nvPr/>
        </p:nvCxnSpPr>
        <p:spPr>
          <a:xfrm flipH="1">
            <a:off x="3745950" y="2770475"/>
            <a:ext cx="579600" cy="1094700"/>
          </a:xfrm>
          <a:prstGeom prst="straightConnector1">
            <a:avLst/>
          </a:prstGeom>
          <a:noFill/>
          <a:ln w="28575" cap="flat" cmpd="sng">
            <a:solidFill>
              <a:srgbClr val="FF9900"/>
            </a:solidFill>
            <a:prstDash val="solid"/>
            <a:round/>
            <a:headEnd type="none" w="med" len="med"/>
            <a:tailEnd type="triangle" w="med" len="med"/>
          </a:ln>
        </p:spPr>
      </p:cxnSp>
      <p:pic>
        <p:nvPicPr>
          <p:cNvPr id="619" name="Google Shape;619;p56"/>
          <p:cNvPicPr preferRelativeResize="0"/>
          <p:nvPr/>
        </p:nvPicPr>
        <p:blipFill>
          <a:blip r:embed="rId4">
            <a:alphaModFix/>
          </a:blip>
          <a:stretch>
            <a:fillRect/>
          </a:stretch>
        </p:blipFill>
        <p:spPr>
          <a:xfrm>
            <a:off x="6718800" y="1256250"/>
            <a:ext cx="4437900" cy="3193275"/>
          </a:xfrm>
          <a:prstGeom prst="rect">
            <a:avLst/>
          </a:prstGeom>
          <a:noFill/>
          <a:ln>
            <a:noFill/>
          </a:ln>
        </p:spPr>
      </p:pic>
      <p:sp>
        <p:nvSpPr>
          <p:cNvPr id="620" name="Google Shape;620;p56"/>
          <p:cNvSpPr txBox="1"/>
          <p:nvPr/>
        </p:nvSpPr>
        <p:spPr>
          <a:xfrm>
            <a:off x="948100" y="4914388"/>
            <a:ext cx="10529700" cy="370200"/>
          </a:xfrm>
          <a:prstGeom prst="rect">
            <a:avLst/>
          </a:prstGeom>
          <a:solidFill>
            <a:schemeClr val="lt2"/>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ea typeface="Roboto"/>
                <a:cs typeface="Roboto"/>
                <a:sym typeface="Roboto"/>
              </a:rPr>
              <a:t>Ver video</a:t>
            </a:r>
            <a:r>
              <a:rPr lang="es-ES" sz="1600">
                <a:ea typeface="Roboto"/>
                <a:cs typeface="Roboto"/>
                <a:sym typeface="Roboto"/>
              </a:rPr>
              <a:t>: C01P11 - C01P12 - Ejemplo concurrencia - ISI485 Sistemas Operativos (</a:t>
            </a:r>
            <a:r>
              <a:rPr lang="es-ES" sz="1600" u="sng">
                <a:solidFill>
                  <a:schemeClr val="hlink"/>
                </a:solidFill>
                <a:ea typeface="Roboto"/>
                <a:cs typeface="Roboto"/>
                <a:sym typeface="Roboto"/>
                <a:hlinkClick r:id="rId5"/>
              </a:rPr>
              <a:t>link</a:t>
            </a:r>
            <a:r>
              <a:rPr lang="es-ES" sz="1600">
                <a:ea typeface="Roboto"/>
                <a:cs typeface="Roboto"/>
                <a:sym typeface="Roboto"/>
              </a:rPr>
              <a:t>)</a:t>
            </a:r>
            <a:endParaRPr sz="1600">
              <a:ea typeface="Roboto"/>
              <a:cs typeface="Roboto"/>
              <a:sym typeface="Robot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24"/>
        <p:cNvGrpSpPr/>
        <p:nvPr/>
      </p:nvGrpSpPr>
      <p:grpSpPr>
        <a:xfrm>
          <a:off x="0" y="0"/>
          <a:ext cx="0" cy="0"/>
          <a:chOff x="0" y="0"/>
          <a:chExt cx="0" cy="0"/>
        </a:xfrm>
      </p:grpSpPr>
      <p:pic>
        <p:nvPicPr>
          <p:cNvPr id="625" name="Google Shape;625;p57"/>
          <p:cNvPicPr preferRelativeResize="0"/>
          <p:nvPr/>
        </p:nvPicPr>
        <p:blipFill>
          <a:blip r:embed="rId3">
            <a:alphaModFix/>
          </a:blip>
          <a:stretch>
            <a:fillRect/>
          </a:stretch>
        </p:blipFill>
        <p:spPr>
          <a:xfrm>
            <a:off x="7317954" y="4024925"/>
            <a:ext cx="4788194" cy="2316875"/>
          </a:xfrm>
          <a:prstGeom prst="rect">
            <a:avLst/>
          </a:prstGeom>
          <a:noFill/>
          <a:ln>
            <a:noFill/>
          </a:ln>
        </p:spPr>
      </p:pic>
      <p:sp>
        <p:nvSpPr>
          <p:cNvPr id="626" name="Google Shape;626;p57"/>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latin typeface="+mj-lt"/>
              </a:rPr>
              <a:t>Virtualización de recursos</a:t>
            </a:r>
            <a:endParaRPr>
              <a:latin typeface="+mj-lt"/>
            </a:endParaRPr>
          </a:p>
        </p:txBody>
      </p:sp>
      <p:sp>
        <p:nvSpPr>
          <p:cNvPr id="627" name="Google Shape;627;p57"/>
          <p:cNvSpPr txBox="1">
            <a:spLocks noGrp="1"/>
          </p:cNvSpPr>
          <p:nvPr>
            <p:ph type="body" idx="1"/>
          </p:nvPr>
        </p:nvSpPr>
        <p:spPr>
          <a:xfrm>
            <a:off x="916650" y="856500"/>
            <a:ext cx="79218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Persistencia</a:t>
            </a:r>
            <a:endParaRPr sz="2800" b="1" dirty="0">
              <a:solidFill>
                <a:schemeClr val="accent1"/>
              </a:solidFill>
              <a:latin typeface="+mn-lt"/>
            </a:endParaRPr>
          </a:p>
          <a:p>
            <a:pPr marL="457200" lvl="0" indent="-381000" algn="l" rtl="0">
              <a:lnSpc>
                <a:spcPct val="100000"/>
              </a:lnSpc>
              <a:spcBef>
                <a:spcPts val="600"/>
              </a:spcBef>
              <a:spcAft>
                <a:spcPts val="0"/>
              </a:spcAft>
              <a:buSzPts val="2400"/>
              <a:buFont typeface="Times New Roman"/>
              <a:buChar char="●"/>
            </a:pPr>
            <a:r>
              <a:rPr lang="es-ES" sz="2400" dirty="0">
                <a:latin typeface="+mn-lt"/>
              </a:rPr>
              <a:t>La memoria principal usa una tecnología de </a:t>
            </a:r>
            <a:r>
              <a:rPr lang="es-ES" sz="2400" b="1" dirty="0">
                <a:solidFill>
                  <a:srgbClr val="FF0000"/>
                </a:solidFill>
                <a:latin typeface="+mn-lt"/>
              </a:rPr>
              <a:t>memoria volátil</a:t>
            </a:r>
            <a:r>
              <a:rPr lang="es-ES" sz="2400" dirty="0">
                <a:latin typeface="+mn-lt"/>
              </a:rPr>
              <a:t>. </a:t>
            </a:r>
            <a:endParaRPr sz="2400" dirty="0">
              <a:latin typeface="+mn-lt"/>
            </a:endParaRPr>
          </a:p>
          <a:p>
            <a:pPr marL="914400" lvl="1" indent="-342900" algn="l" rtl="0">
              <a:lnSpc>
                <a:spcPct val="100000"/>
              </a:lnSpc>
              <a:spcBef>
                <a:spcPts val="0"/>
              </a:spcBef>
              <a:spcAft>
                <a:spcPts val="0"/>
              </a:spcAft>
              <a:buSzPts val="1800"/>
              <a:buFont typeface="Times New Roman"/>
              <a:buChar char="○"/>
            </a:pPr>
            <a:r>
              <a:rPr lang="es-ES" sz="2000" dirty="0">
                <a:latin typeface="+mn-lt"/>
              </a:rPr>
              <a:t>Los datos se pierden si deja de haber alimentación.</a:t>
            </a:r>
            <a:endParaRPr sz="2000" dirty="0">
              <a:latin typeface="+mn-lt"/>
            </a:endParaRPr>
          </a:p>
          <a:p>
            <a:pPr marL="457200" lvl="0" indent="-381000" algn="l" rtl="0">
              <a:lnSpc>
                <a:spcPct val="100000"/>
              </a:lnSpc>
              <a:spcBef>
                <a:spcPts val="0"/>
              </a:spcBef>
              <a:spcAft>
                <a:spcPts val="0"/>
              </a:spcAft>
              <a:buSzPts val="2400"/>
              <a:buFont typeface="Times New Roman"/>
              <a:buChar char="●"/>
            </a:pPr>
            <a:r>
              <a:rPr lang="es-ES" sz="2400" dirty="0">
                <a:latin typeface="+mn-lt"/>
              </a:rPr>
              <a:t>Es necesario tener alguna forma de mantener los datos (persistencia).</a:t>
            </a:r>
            <a:endParaRPr sz="2400" dirty="0">
              <a:latin typeface="+mn-lt"/>
            </a:endParaRPr>
          </a:p>
          <a:p>
            <a:pPr marL="0" lvl="0" indent="0" algn="l" rtl="0">
              <a:lnSpc>
                <a:spcPct val="100000"/>
              </a:lnSpc>
              <a:spcBef>
                <a:spcPts val="600"/>
              </a:spcBef>
              <a:spcAft>
                <a:spcPts val="0"/>
              </a:spcAft>
              <a:buNone/>
            </a:pPr>
            <a:endParaRPr sz="2000" dirty="0">
              <a:latin typeface="+mn-lt"/>
            </a:endParaRPr>
          </a:p>
          <a:p>
            <a:pPr marL="914400" lvl="0" indent="0" algn="l" rtl="0">
              <a:lnSpc>
                <a:spcPct val="100000"/>
              </a:lnSpc>
              <a:spcBef>
                <a:spcPts val="600"/>
              </a:spcBef>
              <a:spcAft>
                <a:spcPts val="0"/>
              </a:spcAft>
              <a:buNone/>
            </a:pPr>
            <a:endParaRPr sz="2000" dirty="0">
              <a:latin typeface="+mn-lt"/>
            </a:endParaRPr>
          </a:p>
          <a:p>
            <a:pPr marL="0" lvl="0" indent="0" algn="l" rtl="0">
              <a:lnSpc>
                <a:spcPct val="100000"/>
              </a:lnSpc>
              <a:spcBef>
                <a:spcPts val="600"/>
              </a:spcBef>
              <a:spcAft>
                <a:spcPts val="0"/>
              </a:spcAft>
              <a:buNone/>
            </a:pPr>
            <a:endParaRPr sz="2400"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9144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pic>
        <p:nvPicPr>
          <p:cNvPr id="628" name="Google Shape;628;p57"/>
          <p:cNvPicPr preferRelativeResize="0"/>
          <p:nvPr/>
        </p:nvPicPr>
        <p:blipFill>
          <a:blip r:embed="rId4">
            <a:alphaModFix/>
          </a:blip>
          <a:stretch>
            <a:fillRect/>
          </a:stretch>
        </p:blipFill>
        <p:spPr>
          <a:xfrm>
            <a:off x="9592238" y="1273963"/>
            <a:ext cx="1066800" cy="1066800"/>
          </a:xfrm>
          <a:prstGeom prst="rect">
            <a:avLst/>
          </a:prstGeom>
          <a:noFill/>
          <a:ln>
            <a:noFill/>
          </a:ln>
        </p:spPr>
      </p:pic>
      <p:sp>
        <p:nvSpPr>
          <p:cNvPr id="629" name="Google Shape;629;p57"/>
          <p:cNvSpPr txBox="1"/>
          <p:nvPr/>
        </p:nvSpPr>
        <p:spPr>
          <a:xfrm>
            <a:off x="840450" y="3139200"/>
            <a:ext cx="7294500" cy="1285500"/>
          </a:xfrm>
          <a:prstGeom prst="rect">
            <a:avLst/>
          </a:prstGeom>
          <a:noFill/>
          <a:ln>
            <a:noFill/>
          </a:ln>
        </p:spPr>
        <p:txBody>
          <a:bodyPr spcFirstLastPara="1" wrap="square" lIns="91425" tIns="91425" rIns="91425" bIns="91425" anchor="t" anchorCtr="0">
            <a:noAutofit/>
          </a:bodyPr>
          <a:lstStyle/>
          <a:p>
            <a:pPr marL="914400" lvl="1" indent="-355600" algn="l" rtl="0">
              <a:spcBef>
                <a:spcPts val="600"/>
              </a:spcBef>
              <a:spcAft>
                <a:spcPts val="0"/>
              </a:spcAft>
              <a:buClr>
                <a:schemeClr val="dk1"/>
              </a:buClr>
              <a:buSzPts val="2000"/>
              <a:buFont typeface="Times New Roman"/>
              <a:buChar char="○"/>
            </a:pPr>
            <a:r>
              <a:rPr lang="es-ES" sz="2000" b="1" dirty="0">
                <a:solidFill>
                  <a:schemeClr val="dk1"/>
                </a:solidFill>
                <a:ea typeface="Roboto"/>
                <a:cs typeface="Roboto"/>
                <a:sym typeface="Roboto"/>
              </a:rPr>
              <a:t>Hardware</a:t>
            </a:r>
            <a:r>
              <a:rPr lang="es-ES" sz="2000" dirty="0">
                <a:solidFill>
                  <a:schemeClr val="dk1"/>
                </a:solidFill>
                <a:ea typeface="Roboto"/>
                <a:cs typeface="Roboto"/>
                <a:sym typeface="Roboto"/>
              </a:rPr>
              <a:t>: permite el almacenamiento de datos (discos, duros, discos de estado sólido, </a:t>
            </a:r>
            <a:r>
              <a:rPr lang="es-ES" sz="2000" dirty="0" err="1">
                <a:solidFill>
                  <a:schemeClr val="dk1"/>
                </a:solidFill>
                <a:ea typeface="Roboto"/>
                <a:cs typeface="Roboto"/>
                <a:sym typeface="Roboto"/>
              </a:rPr>
              <a:t>etc</a:t>
            </a:r>
            <a:r>
              <a:rPr lang="es-ES" sz="2000" dirty="0">
                <a:solidFill>
                  <a:schemeClr val="dk1"/>
                </a:solidFill>
                <a:ea typeface="Roboto"/>
                <a:cs typeface="Roboto"/>
                <a:sym typeface="Roboto"/>
              </a:rPr>
              <a:t>).</a:t>
            </a:r>
            <a:endParaRPr sz="2000" dirty="0">
              <a:solidFill>
                <a:schemeClr val="dk1"/>
              </a:solidFill>
              <a:ea typeface="Roboto"/>
              <a:cs typeface="Roboto"/>
              <a:sym typeface="Roboto"/>
            </a:endParaRPr>
          </a:p>
        </p:txBody>
      </p:sp>
      <p:sp>
        <p:nvSpPr>
          <p:cNvPr id="630" name="Google Shape;630;p57"/>
          <p:cNvSpPr txBox="1"/>
          <p:nvPr/>
        </p:nvSpPr>
        <p:spPr>
          <a:xfrm>
            <a:off x="840450" y="4227500"/>
            <a:ext cx="6806700" cy="1575900"/>
          </a:xfrm>
          <a:prstGeom prst="rect">
            <a:avLst/>
          </a:prstGeom>
          <a:noFill/>
          <a:ln>
            <a:noFill/>
          </a:ln>
        </p:spPr>
        <p:txBody>
          <a:bodyPr spcFirstLastPara="1" wrap="square" lIns="91425" tIns="91425" rIns="91425" bIns="91425" anchor="t" anchorCtr="0">
            <a:noAutofit/>
          </a:bodyPr>
          <a:lstStyle/>
          <a:p>
            <a:pPr marL="914400" lvl="1" indent="-355600" algn="l" rtl="0">
              <a:spcBef>
                <a:spcPts val="600"/>
              </a:spcBef>
              <a:spcAft>
                <a:spcPts val="0"/>
              </a:spcAft>
              <a:buClr>
                <a:schemeClr val="dk1"/>
              </a:buClr>
              <a:buSzPts val="2000"/>
              <a:buFont typeface="Times New Roman"/>
              <a:buChar char="○"/>
            </a:pPr>
            <a:r>
              <a:rPr lang="es-ES" sz="2000" b="1" dirty="0">
                <a:solidFill>
                  <a:schemeClr val="dk1"/>
                </a:solidFill>
                <a:ea typeface="Roboto"/>
                <a:cs typeface="Roboto"/>
                <a:sym typeface="Roboto"/>
              </a:rPr>
              <a:t>Software</a:t>
            </a:r>
            <a:r>
              <a:rPr lang="es-ES" sz="2000" dirty="0">
                <a:solidFill>
                  <a:schemeClr val="dk1"/>
                </a:solidFill>
                <a:ea typeface="Roboto"/>
                <a:cs typeface="Roboto"/>
                <a:sym typeface="Roboto"/>
              </a:rPr>
              <a:t>: </a:t>
            </a:r>
            <a:r>
              <a:rPr lang="es-ES" sz="2000" b="1" dirty="0">
                <a:solidFill>
                  <a:srgbClr val="1A73E8"/>
                </a:solidFill>
                <a:ea typeface="Roboto"/>
                <a:cs typeface="Roboto"/>
                <a:sym typeface="Roboto"/>
              </a:rPr>
              <a:t>sistema de archivos</a:t>
            </a:r>
            <a:r>
              <a:rPr lang="es-ES" sz="2000" dirty="0">
                <a:solidFill>
                  <a:schemeClr val="dk1"/>
                </a:solidFill>
                <a:ea typeface="Roboto"/>
                <a:cs typeface="Roboto"/>
                <a:sym typeface="Roboto"/>
              </a:rPr>
              <a:t> (controla el disco). Este software es el responsable de almacenar los archivos que crea el usuario de una manera confiable y eficiente en el disco.</a:t>
            </a:r>
            <a:endParaRPr dirty="0"/>
          </a:p>
        </p:txBody>
      </p:sp>
      <p:pic>
        <p:nvPicPr>
          <p:cNvPr id="631" name="Google Shape;631;p57"/>
          <p:cNvPicPr preferRelativeResize="0"/>
          <p:nvPr/>
        </p:nvPicPr>
        <p:blipFill>
          <a:blip r:embed="rId5">
            <a:alphaModFix/>
          </a:blip>
          <a:stretch>
            <a:fillRect/>
          </a:stretch>
        </p:blipFill>
        <p:spPr>
          <a:xfrm>
            <a:off x="8271125" y="2744248"/>
            <a:ext cx="949525" cy="952854"/>
          </a:xfrm>
          <a:prstGeom prst="rect">
            <a:avLst/>
          </a:prstGeom>
          <a:noFill/>
          <a:ln>
            <a:noFill/>
          </a:ln>
        </p:spPr>
      </p:pic>
      <p:pic>
        <p:nvPicPr>
          <p:cNvPr id="632" name="Google Shape;632;p57"/>
          <p:cNvPicPr preferRelativeResize="0"/>
          <p:nvPr/>
        </p:nvPicPr>
        <p:blipFill>
          <a:blip r:embed="rId6">
            <a:alphaModFix/>
          </a:blip>
          <a:stretch>
            <a:fillRect/>
          </a:stretch>
        </p:blipFill>
        <p:spPr>
          <a:xfrm>
            <a:off x="9197238" y="2782075"/>
            <a:ext cx="877225" cy="877200"/>
          </a:xfrm>
          <a:prstGeom prst="rect">
            <a:avLst/>
          </a:prstGeom>
          <a:noFill/>
          <a:ln>
            <a:noFill/>
          </a:ln>
        </p:spPr>
      </p:pic>
      <p:pic>
        <p:nvPicPr>
          <p:cNvPr id="633" name="Google Shape;633;p57"/>
          <p:cNvPicPr preferRelativeResize="0"/>
          <p:nvPr/>
        </p:nvPicPr>
        <p:blipFill>
          <a:blip r:embed="rId7">
            <a:alphaModFix/>
          </a:blip>
          <a:stretch>
            <a:fillRect/>
          </a:stretch>
        </p:blipFill>
        <p:spPr>
          <a:xfrm>
            <a:off x="10223975" y="2744250"/>
            <a:ext cx="640747" cy="877200"/>
          </a:xfrm>
          <a:prstGeom prst="rect">
            <a:avLst/>
          </a:prstGeom>
          <a:noFill/>
          <a:ln>
            <a:noFill/>
          </a:ln>
        </p:spPr>
      </p:pic>
      <p:pic>
        <p:nvPicPr>
          <p:cNvPr id="634" name="Google Shape;634;p57"/>
          <p:cNvPicPr preferRelativeResize="0"/>
          <p:nvPr/>
        </p:nvPicPr>
        <p:blipFill>
          <a:blip r:embed="rId8">
            <a:alphaModFix/>
          </a:blip>
          <a:stretch>
            <a:fillRect/>
          </a:stretch>
        </p:blipFill>
        <p:spPr>
          <a:xfrm>
            <a:off x="11014250" y="2744249"/>
            <a:ext cx="877225" cy="877202"/>
          </a:xfrm>
          <a:prstGeom prst="rect">
            <a:avLst/>
          </a:prstGeom>
          <a:noFill/>
          <a:ln>
            <a:noFill/>
          </a:ln>
        </p:spPr>
      </p:pic>
      <p:sp>
        <p:nvSpPr>
          <p:cNvPr id="635" name="Google Shape;635;p57"/>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a:t>
            </a:r>
            <a:r>
              <a:rPr lang="es-ES" sz="1000" u="sng">
                <a:solidFill>
                  <a:schemeClr val="hlink"/>
                </a:solidFill>
                <a:hlinkClick r:id="rId9"/>
              </a:rPr>
              <a:t>https://cumulusnetworks.com/blog/linux-basics-part-2/</a:t>
            </a:r>
            <a:r>
              <a:rPr lang="es-ES" sz="1000"/>
              <a:t> </a:t>
            </a:r>
            <a:endParaRPr sz="100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39"/>
        <p:cNvGrpSpPr/>
        <p:nvPr/>
      </p:nvGrpSpPr>
      <p:grpSpPr>
        <a:xfrm>
          <a:off x="0" y="0"/>
          <a:ext cx="0" cy="0"/>
          <a:chOff x="0" y="0"/>
          <a:chExt cx="0" cy="0"/>
        </a:xfrm>
      </p:grpSpPr>
      <p:sp>
        <p:nvSpPr>
          <p:cNvPr id="640" name="Google Shape;640;p58"/>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latin typeface="+mj-lt"/>
              </a:rPr>
              <a:t>Virtualización de recursos</a:t>
            </a:r>
            <a:endParaRPr>
              <a:latin typeface="+mj-lt"/>
            </a:endParaRPr>
          </a:p>
        </p:txBody>
      </p:sp>
      <p:sp>
        <p:nvSpPr>
          <p:cNvPr id="641" name="Google Shape;641;p58"/>
          <p:cNvSpPr txBox="1">
            <a:spLocks noGrp="1"/>
          </p:cNvSpPr>
          <p:nvPr>
            <p:ph type="body" idx="1"/>
          </p:nvPr>
        </p:nvSpPr>
        <p:spPr>
          <a:xfrm>
            <a:off x="916650" y="932700"/>
            <a:ext cx="105297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a:solidFill>
                  <a:schemeClr val="accent1"/>
                </a:solidFill>
                <a:latin typeface="+mn-lt"/>
              </a:rPr>
              <a:t>Ejemplo</a:t>
            </a:r>
            <a:endParaRPr sz="2800" b="1">
              <a:solidFill>
                <a:schemeClr val="accent1"/>
              </a:solidFill>
              <a:latin typeface="+mn-lt"/>
            </a:endParaRPr>
          </a:p>
          <a:p>
            <a:pPr marL="457200" lvl="0" indent="0" algn="l" rtl="0">
              <a:lnSpc>
                <a:spcPct val="100000"/>
              </a:lnSpc>
              <a:spcBef>
                <a:spcPts val="600"/>
              </a:spcBef>
              <a:spcAft>
                <a:spcPts val="0"/>
              </a:spcAft>
              <a:buNone/>
            </a:pPr>
            <a:endParaRPr>
              <a:latin typeface="+mn-lt"/>
            </a:endParaRPr>
          </a:p>
          <a:p>
            <a:pPr marL="457200" lvl="0" indent="0" algn="l" rtl="0">
              <a:lnSpc>
                <a:spcPct val="100000"/>
              </a:lnSpc>
              <a:spcBef>
                <a:spcPts val="600"/>
              </a:spcBef>
              <a:spcAft>
                <a:spcPts val="0"/>
              </a:spcAft>
              <a:buNone/>
            </a:pPr>
            <a:endParaRPr>
              <a:latin typeface="+mn-lt"/>
            </a:endParaRPr>
          </a:p>
          <a:p>
            <a:pPr marL="457200" lvl="0" indent="0" algn="l" rtl="0">
              <a:lnSpc>
                <a:spcPct val="100000"/>
              </a:lnSpc>
              <a:spcBef>
                <a:spcPts val="600"/>
              </a:spcBef>
              <a:spcAft>
                <a:spcPts val="0"/>
              </a:spcAft>
              <a:buNone/>
            </a:pPr>
            <a:endParaRPr>
              <a:latin typeface="+mn-lt"/>
            </a:endParaRPr>
          </a:p>
          <a:p>
            <a:pPr marL="914400" lvl="0" indent="0" algn="l" rtl="0">
              <a:lnSpc>
                <a:spcPct val="100000"/>
              </a:lnSpc>
              <a:spcBef>
                <a:spcPts val="600"/>
              </a:spcBef>
              <a:spcAft>
                <a:spcPts val="0"/>
              </a:spcAft>
              <a:buNone/>
            </a:pPr>
            <a:endParaRPr b="1">
              <a:latin typeface="+mn-lt"/>
            </a:endParaRPr>
          </a:p>
          <a:p>
            <a:pPr marL="457200" lvl="0" indent="0" algn="l" rtl="0">
              <a:lnSpc>
                <a:spcPct val="100000"/>
              </a:lnSpc>
              <a:spcBef>
                <a:spcPts val="600"/>
              </a:spcBef>
              <a:spcAft>
                <a:spcPts val="0"/>
              </a:spcAft>
              <a:buNone/>
            </a:pPr>
            <a:endParaRPr b="1">
              <a:latin typeface="+mn-lt"/>
            </a:endParaRPr>
          </a:p>
          <a:p>
            <a:pPr marL="457200" lvl="0" indent="0" algn="l" rtl="0">
              <a:lnSpc>
                <a:spcPct val="100000"/>
              </a:lnSpc>
              <a:spcBef>
                <a:spcPts val="480"/>
              </a:spcBef>
              <a:spcAft>
                <a:spcPts val="0"/>
              </a:spcAft>
              <a:buNone/>
            </a:pPr>
            <a:endParaRPr sz="2400">
              <a:latin typeface="+mn-lt"/>
            </a:endParaRPr>
          </a:p>
          <a:p>
            <a:pPr marL="457200" lvl="0" indent="0" algn="l" rtl="0">
              <a:lnSpc>
                <a:spcPct val="100000"/>
              </a:lnSpc>
              <a:spcBef>
                <a:spcPts val="480"/>
              </a:spcBef>
              <a:spcAft>
                <a:spcPts val="0"/>
              </a:spcAft>
              <a:buNone/>
            </a:pPr>
            <a:endParaRPr>
              <a:latin typeface="+mn-lt"/>
            </a:endParaRPr>
          </a:p>
          <a:p>
            <a:pPr marL="0" lvl="0" indent="0" algn="l" rtl="0">
              <a:spcBef>
                <a:spcPts val="1000"/>
              </a:spcBef>
              <a:spcAft>
                <a:spcPts val="0"/>
              </a:spcAft>
              <a:buNone/>
            </a:pPr>
            <a:endParaRPr>
              <a:latin typeface="+mn-lt"/>
            </a:endParaRPr>
          </a:p>
          <a:p>
            <a:pPr marL="457200" lvl="0" indent="0" algn="l" rtl="0">
              <a:spcBef>
                <a:spcPts val="1000"/>
              </a:spcBef>
              <a:spcAft>
                <a:spcPts val="0"/>
              </a:spcAft>
              <a:buNone/>
            </a:pPr>
            <a:endParaRPr>
              <a:latin typeface="+mn-lt"/>
            </a:endParaRPr>
          </a:p>
        </p:txBody>
      </p:sp>
      <p:sp>
        <p:nvSpPr>
          <p:cNvPr id="642" name="Google Shape;642;p58"/>
          <p:cNvSpPr txBox="1"/>
          <p:nvPr/>
        </p:nvSpPr>
        <p:spPr>
          <a:xfrm>
            <a:off x="1239975" y="3156825"/>
            <a:ext cx="1030200" cy="40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t>io.c</a:t>
            </a:r>
            <a:endParaRPr sz="1600" b="1"/>
          </a:p>
        </p:txBody>
      </p:sp>
      <p:pic>
        <p:nvPicPr>
          <p:cNvPr id="643" name="Google Shape;643;p58"/>
          <p:cNvPicPr preferRelativeResize="0"/>
          <p:nvPr/>
        </p:nvPicPr>
        <p:blipFill>
          <a:blip r:embed="rId3">
            <a:alphaModFix/>
          </a:blip>
          <a:stretch>
            <a:fillRect/>
          </a:stretch>
        </p:blipFill>
        <p:spPr>
          <a:xfrm>
            <a:off x="1054538" y="1955025"/>
            <a:ext cx="1095375" cy="1114425"/>
          </a:xfrm>
          <a:prstGeom prst="rect">
            <a:avLst/>
          </a:prstGeom>
          <a:noFill/>
          <a:ln>
            <a:noFill/>
          </a:ln>
        </p:spPr>
      </p:pic>
      <p:sp>
        <p:nvSpPr>
          <p:cNvPr id="644" name="Google Shape;644;p58"/>
          <p:cNvSpPr txBox="1"/>
          <p:nvPr/>
        </p:nvSpPr>
        <p:spPr>
          <a:xfrm>
            <a:off x="2672750" y="969350"/>
            <a:ext cx="9272700" cy="5414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&lt;stdio.h&gt;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&lt;unistd.h&gt;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&lt;assert.h&gt;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&lt;fcntl.h&gt;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&lt;sys/stat.h&gt;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&lt;sys/types.h&gt;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&lt;string.h&gt;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a:t>
            </a:r>
            <a:r>
              <a:rPr lang="es-ES" sz="1600">
                <a:solidFill>
                  <a:srgbClr val="6F42C1"/>
                </a:solidFill>
                <a:highlight>
                  <a:srgbClr val="FFFFFF"/>
                </a:highlight>
                <a:latin typeface="Consolas"/>
                <a:ea typeface="Consolas"/>
                <a:cs typeface="Consolas"/>
                <a:sym typeface="Consolas"/>
              </a:rPr>
              <a:t>main</a:t>
            </a: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argc, </a:t>
            </a:r>
            <a:r>
              <a:rPr lang="es-ES" sz="1600">
                <a:solidFill>
                  <a:srgbClr val="D73A49"/>
                </a:solidFill>
                <a:highlight>
                  <a:srgbClr val="FFFFFF"/>
                </a:highlight>
                <a:latin typeface="Consolas"/>
                <a:ea typeface="Consolas"/>
                <a:cs typeface="Consolas"/>
                <a:sym typeface="Consolas"/>
              </a:rPr>
              <a:t>char</a:t>
            </a:r>
            <a:r>
              <a:rPr lang="es-ES" sz="1600">
                <a:solidFill>
                  <a:srgbClr val="24292E"/>
                </a:solidFill>
                <a:highlight>
                  <a:srgbClr val="FFFFFF"/>
                </a:highlight>
                <a:latin typeface="Consolas"/>
                <a:ea typeface="Consolas"/>
                <a:cs typeface="Consolas"/>
                <a:sym typeface="Consolas"/>
              </a:rPr>
              <a:t> *argv[])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fd = </a:t>
            </a:r>
            <a:r>
              <a:rPr lang="es-ES" sz="1600">
                <a:solidFill>
                  <a:srgbClr val="005CC5"/>
                </a:solidFill>
                <a:highlight>
                  <a:srgbClr val="FFFFFF"/>
                </a:highlight>
                <a:latin typeface="Consolas"/>
                <a:ea typeface="Consolas"/>
                <a:cs typeface="Consolas"/>
                <a:sym typeface="Consolas"/>
              </a:rPr>
              <a:t>open</a:t>
            </a:r>
            <a:r>
              <a:rPr lang="es-ES" sz="1600">
                <a:solidFill>
                  <a:srgbClr val="24292E"/>
                </a:solidFill>
                <a:highlight>
                  <a:srgbClr val="FFFFFF"/>
                </a:highlight>
                <a:latin typeface="Consolas"/>
                <a:ea typeface="Consolas"/>
                <a:cs typeface="Consolas"/>
                <a:sym typeface="Consolas"/>
              </a:rPr>
              <a:t>(</a:t>
            </a:r>
            <a:r>
              <a:rPr lang="es-ES" sz="1600">
                <a:solidFill>
                  <a:srgbClr val="032F62"/>
                </a:solidFill>
                <a:highlight>
                  <a:srgbClr val="FFFFFF"/>
                </a:highlight>
                <a:latin typeface="Consolas"/>
                <a:ea typeface="Consolas"/>
                <a:cs typeface="Consolas"/>
                <a:sym typeface="Consolas"/>
              </a:rPr>
              <a:t>"/tmp/file"</a:t>
            </a:r>
            <a:r>
              <a:rPr lang="es-ES" sz="1600">
                <a:solidFill>
                  <a:srgbClr val="24292E"/>
                </a:solidFill>
                <a:highlight>
                  <a:srgbClr val="FFFFFF"/>
                </a:highlight>
                <a:latin typeface="Consolas"/>
                <a:ea typeface="Consolas"/>
                <a:cs typeface="Consolas"/>
                <a:sym typeface="Consolas"/>
              </a:rPr>
              <a:t>, O_WRONLY | O_CREAT | O_TRUNC, S_IRUSR | S_IWUSR);</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assert</a:t>
            </a:r>
            <a:r>
              <a:rPr lang="es-ES" sz="1600">
                <a:solidFill>
                  <a:srgbClr val="24292E"/>
                </a:solidFill>
                <a:highlight>
                  <a:srgbClr val="FFFFFF"/>
                </a:highlight>
                <a:latin typeface="Consolas"/>
                <a:ea typeface="Consolas"/>
                <a:cs typeface="Consolas"/>
                <a:sym typeface="Consolas"/>
              </a:rPr>
              <a:t>(fd &gt;= </a:t>
            </a:r>
            <a:r>
              <a:rPr lang="es-ES" sz="1600">
                <a:solidFill>
                  <a:srgbClr val="005CC5"/>
                </a:solidFill>
                <a:highlight>
                  <a:srgbClr val="FFFFFF"/>
                </a:highlight>
                <a:latin typeface="Consolas"/>
                <a:ea typeface="Consolas"/>
                <a:cs typeface="Consolas"/>
                <a:sym typeface="Consolas"/>
              </a:rPr>
              <a:t>0</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char</a:t>
            </a:r>
            <a:r>
              <a:rPr lang="es-ES" sz="1600">
                <a:solidFill>
                  <a:srgbClr val="24292E"/>
                </a:solidFill>
                <a:highlight>
                  <a:srgbClr val="FFFFFF"/>
                </a:highlight>
                <a:latin typeface="Consolas"/>
                <a:ea typeface="Consolas"/>
                <a:cs typeface="Consolas"/>
                <a:sym typeface="Consolas"/>
              </a:rPr>
              <a:t> buffer[</a:t>
            </a:r>
            <a:r>
              <a:rPr lang="es-ES" sz="1600">
                <a:solidFill>
                  <a:srgbClr val="005CC5"/>
                </a:solidFill>
                <a:highlight>
                  <a:srgbClr val="FFFFFF"/>
                </a:highlight>
                <a:latin typeface="Consolas"/>
                <a:ea typeface="Consolas"/>
                <a:cs typeface="Consolas"/>
                <a:sym typeface="Consolas"/>
              </a:rPr>
              <a:t>20</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sprintf</a:t>
            </a:r>
            <a:r>
              <a:rPr lang="es-ES" sz="1600">
                <a:solidFill>
                  <a:srgbClr val="24292E"/>
                </a:solidFill>
                <a:highlight>
                  <a:srgbClr val="FFFFFF"/>
                </a:highlight>
                <a:latin typeface="Consolas"/>
                <a:ea typeface="Consolas"/>
                <a:cs typeface="Consolas"/>
                <a:sym typeface="Consolas"/>
              </a:rPr>
              <a:t>(buffer, </a:t>
            </a:r>
            <a:r>
              <a:rPr lang="es-ES" sz="1600">
                <a:solidFill>
                  <a:srgbClr val="032F62"/>
                </a:solidFill>
                <a:highlight>
                  <a:srgbClr val="FFFFFF"/>
                </a:highlight>
                <a:latin typeface="Consolas"/>
                <a:ea typeface="Consolas"/>
                <a:cs typeface="Consolas"/>
                <a:sym typeface="Consolas"/>
              </a:rPr>
              <a:t>"hello world\n"</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rc = </a:t>
            </a:r>
            <a:r>
              <a:rPr lang="es-ES" sz="1600">
                <a:solidFill>
                  <a:srgbClr val="005CC5"/>
                </a:solidFill>
                <a:highlight>
                  <a:srgbClr val="FFFFFF"/>
                </a:highlight>
                <a:latin typeface="Consolas"/>
                <a:ea typeface="Consolas"/>
                <a:cs typeface="Consolas"/>
                <a:sym typeface="Consolas"/>
              </a:rPr>
              <a:t>write</a:t>
            </a:r>
            <a:r>
              <a:rPr lang="es-ES" sz="1600">
                <a:solidFill>
                  <a:srgbClr val="24292E"/>
                </a:solidFill>
                <a:highlight>
                  <a:srgbClr val="FFFFFF"/>
                </a:highlight>
                <a:latin typeface="Consolas"/>
                <a:ea typeface="Consolas"/>
                <a:cs typeface="Consolas"/>
                <a:sym typeface="Consolas"/>
              </a:rPr>
              <a:t>(fd, buffer, </a:t>
            </a:r>
            <a:r>
              <a:rPr lang="es-ES" sz="1600">
                <a:solidFill>
                  <a:srgbClr val="005CC5"/>
                </a:solidFill>
                <a:highlight>
                  <a:srgbClr val="FFFFFF"/>
                </a:highlight>
                <a:latin typeface="Consolas"/>
                <a:ea typeface="Consolas"/>
                <a:cs typeface="Consolas"/>
                <a:sym typeface="Consolas"/>
              </a:rPr>
              <a:t>strlen</a:t>
            </a:r>
            <a:r>
              <a:rPr lang="es-ES" sz="1600">
                <a:solidFill>
                  <a:srgbClr val="24292E"/>
                </a:solidFill>
                <a:highlight>
                  <a:srgbClr val="FFFFFF"/>
                </a:highlight>
                <a:latin typeface="Consolas"/>
                <a:ea typeface="Consolas"/>
                <a:cs typeface="Consolas"/>
                <a:sym typeface="Consolas"/>
              </a:rPr>
              <a:t>(buffer));</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assert</a:t>
            </a:r>
            <a:r>
              <a:rPr lang="es-ES" sz="1600">
                <a:solidFill>
                  <a:srgbClr val="24292E"/>
                </a:solidFill>
                <a:highlight>
                  <a:srgbClr val="FFFFFF"/>
                </a:highlight>
                <a:latin typeface="Consolas"/>
                <a:ea typeface="Consolas"/>
                <a:cs typeface="Consolas"/>
                <a:sym typeface="Consolas"/>
              </a:rPr>
              <a:t>(rc == (</a:t>
            </a:r>
            <a:r>
              <a:rPr lang="es-ES" sz="1600">
                <a:solidFill>
                  <a:srgbClr val="005CC5"/>
                </a:solidFill>
                <a:highlight>
                  <a:srgbClr val="FFFFFF"/>
                </a:highlight>
                <a:latin typeface="Consolas"/>
                <a:ea typeface="Consolas"/>
                <a:cs typeface="Consolas"/>
                <a:sym typeface="Consolas"/>
              </a:rPr>
              <a:t>strlen</a:t>
            </a:r>
            <a:r>
              <a:rPr lang="es-ES" sz="1600">
                <a:solidFill>
                  <a:srgbClr val="24292E"/>
                </a:solidFill>
                <a:highlight>
                  <a:srgbClr val="FFFFFF"/>
                </a:highlight>
                <a:latin typeface="Consolas"/>
                <a:ea typeface="Consolas"/>
                <a:cs typeface="Consolas"/>
                <a:sym typeface="Consolas"/>
              </a:rPr>
              <a:t>(buffer)));</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fsync</a:t>
            </a:r>
            <a:r>
              <a:rPr lang="es-ES" sz="1600">
                <a:solidFill>
                  <a:srgbClr val="24292E"/>
                </a:solidFill>
                <a:highlight>
                  <a:srgbClr val="FFFFFF"/>
                </a:highlight>
                <a:latin typeface="Consolas"/>
                <a:ea typeface="Consolas"/>
                <a:cs typeface="Consolas"/>
                <a:sym typeface="Consolas"/>
              </a:rPr>
              <a:t>(fd);</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close</a:t>
            </a:r>
            <a:r>
              <a:rPr lang="es-ES" sz="1600">
                <a:solidFill>
                  <a:srgbClr val="24292E"/>
                </a:solidFill>
                <a:highlight>
                  <a:srgbClr val="FFFFFF"/>
                </a:highlight>
                <a:latin typeface="Consolas"/>
                <a:ea typeface="Consolas"/>
                <a:cs typeface="Consolas"/>
                <a:sym typeface="Consolas"/>
              </a:rPr>
              <a:t>(fd);</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return</a:t>
            </a: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0</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600">
              <a:solidFill>
                <a:srgbClr val="24292E"/>
              </a:solidFill>
              <a:highlight>
                <a:srgbClr val="FFFFFF"/>
              </a:highlight>
              <a:latin typeface="Consolas"/>
              <a:ea typeface="Consolas"/>
              <a:cs typeface="Consolas"/>
              <a:sym typeface="Consolas"/>
            </a:endParaRPr>
          </a:p>
          <a:p>
            <a:pPr marL="0" lvl="0" indent="0" algn="l" rtl="0">
              <a:spcBef>
                <a:spcPts val="0"/>
              </a:spcBef>
              <a:spcAft>
                <a:spcPts val="0"/>
              </a:spcAft>
              <a:buNone/>
            </a:pPr>
            <a:endParaRPr sz="1700">
              <a:solidFill>
                <a:srgbClr val="24292E"/>
              </a:solidFill>
              <a:highlight>
                <a:srgbClr val="FFFFF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48"/>
        <p:cNvGrpSpPr/>
        <p:nvPr/>
      </p:nvGrpSpPr>
      <p:grpSpPr>
        <a:xfrm>
          <a:off x="0" y="0"/>
          <a:ext cx="0" cy="0"/>
          <a:chOff x="0" y="0"/>
          <a:chExt cx="0" cy="0"/>
        </a:xfrm>
      </p:grpSpPr>
      <p:sp>
        <p:nvSpPr>
          <p:cNvPr id="649" name="Google Shape;649;p59"/>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latin typeface="+mj-lt"/>
              </a:rPr>
              <a:t>Virtualización de recursos</a:t>
            </a:r>
            <a:endParaRPr>
              <a:latin typeface="+mj-lt"/>
            </a:endParaRPr>
          </a:p>
        </p:txBody>
      </p:sp>
      <p:sp>
        <p:nvSpPr>
          <p:cNvPr id="650" name="Google Shape;650;p59"/>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sp>
        <p:nvSpPr>
          <p:cNvPr id="651" name="Google Shape;651;p59"/>
          <p:cNvSpPr txBox="1"/>
          <p:nvPr/>
        </p:nvSpPr>
        <p:spPr>
          <a:xfrm>
            <a:off x="948100" y="869325"/>
            <a:ext cx="5650500" cy="3000000"/>
          </a:xfrm>
          <a:prstGeom prst="rect">
            <a:avLst/>
          </a:prstGeom>
          <a:noFill/>
          <a:ln>
            <a:noFill/>
          </a:ln>
        </p:spPr>
        <p:txBody>
          <a:bodyPr spcFirstLastPara="1" wrap="square" lIns="91425" tIns="91425" rIns="91425" bIns="91425" anchor="t" anchorCtr="0">
            <a:noAutofit/>
          </a:bodyPr>
          <a:lstStyle/>
          <a:p>
            <a:pPr marL="0" lvl="0" indent="0" algn="l" rtl="0">
              <a:spcBef>
                <a:spcPts val="480"/>
              </a:spcBef>
              <a:spcAft>
                <a:spcPts val="0"/>
              </a:spcAft>
              <a:buNone/>
            </a:pPr>
            <a:r>
              <a:rPr lang="es-ES" sz="2800" b="1" dirty="0">
                <a:solidFill>
                  <a:schemeClr val="accent1"/>
                </a:solidFill>
                <a:ea typeface="Roboto"/>
                <a:cs typeface="Roboto"/>
                <a:sym typeface="Roboto"/>
              </a:rPr>
              <a:t>Ejemplo persistencia</a:t>
            </a:r>
            <a:endParaRPr sz="2800" b="1" dirty="0">
              <a:solidFill>
                <a:schemeClr val="accent1"/>
              </a:solidFill>
              <a:ea typeface="Roboto"/>
              <a:cs typeface="Roboto"/>
              <a:sym typeface="Roboto"/>
            </a:endParaRPr>
          </a:p>
        </p:txBody>
      </p:sp>
      <p:pic>
        <p:nvPicPr>
          <p:cNvPr id="652" name="Google Shape;652;p59"/>
          <p:cNvPicPr preferRelativeResize="0"/>
          <p:nvPr/>
        </p:nvPicPr>
        <p:blipFill>
          <a:blip r:embed="rId3">
            <a:alphaModFix/>
          </a:blip>
          <a:stretch>
            <a:fillRect/>
          </a:stretch>
        </p:blipFill>
        <p:spPr>
          <a:xfrm>
            <a:off x="2196925" y="1870400"/>
            <a:ext cx="1524000" cy="3638550"/>
          </a:xfrm>
          <a:prstGeom prst="rect">
            <a:avLst/>
          </a:prstGeom>
          <a:noFill/>
          <a:ln>
            <a:noFill/>
          </a:ln>
        </p:spPr>
      </p:pic>
      <p:pic>
        <p:nvPicPr>
          <p:cNvPr id="653" name="Google Shape;653;p59"/>
          <p:cNvPicPr preferRelativeResize="0"/>
          <p:nvPr/>
        </p:nvPicPr>
        <p:blipFill>
          <a:blip r:embed="rId4">
            <a:alphaModFix/>
          </a:blip>
          <a:stretch>
            <a:fillRect/>
          </a:stretch>
        </p:blipFill>
        <p:spPr>
          <a:xfrm>
            <a:off x="5758100" y="1230125"/>
            <a:ext cx="5366425" cy="1609925"/>
          </a:xfrm>
          <a:prstGeom prst="rect">
            <a:avLst/>
          </a:prstGeom>
          <a:noFill/>
          <a:ln>
            <a:noFill/>
          </a:ln>
        </p:spPr>
      </p:pic>
      <p:sp>
        <p:nvSpPr>
          <p:cNvPr id="654" name="Google Shape;654;p59"/>
          <p:cNvSpPr txBox="1"/>
          <p:nvPr/>
        </p:nvSpPr>
        <p:spPr>
          <a:xfrm>
            <a:off x="5758100" y="3504575"/>
            <a:ext cx="5577000" cy="707700"/>
          </a:xfrm>
          <a:prstGeom prst="rect">
            <a:avLst/>
          </a:prstGeom>
          <a:solidFill>
            <a:schemeClr val="lt2"/>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latin typeface="Roboto"/>
                <a:ea typeface="Roboto"/>
                <a:cs typeface="Roboto"/>
                <a:sym typeface="Roboto"/>
              </a:rPr>
              <a:t>Ver video</a:t>
            </a:r>
            <a:r>
              <a:rPr lang="es-ES" sz="1600">
                <a:latin typeface="Roboto"/>
                <a:ea typeface="Roboto"/>
                <a:cs typeface="Roboto"/>
                <a:sym typeface="Roboto"/>
              </a:rPr>
              <a:t>: C01P13 - Ejemplo Persistencia - ISI485 Sistemas Operativos (</a:t>
            </a:r>
            <a:r>
              <a:rPr lang="es-ES" sz="1600" u="sng">
                <a:solidFill>
                  <a:schemeClr val="hlink"/>
                </a:solidFill>
                <a:latin typeface="Roboto"/>
                <a:ea typeface="Roboto"/>
                <a:cs typeface="Roboto"/>
                <a:sym typeface="Roboto"/>
                <a:hlinkClick r:id="rId5"/>
              </a:rPr>
              <a:t>link</a:t>
            </a:r>
            <a:r>
              <a:rPr lang="es-ES" sz="1600">
                <a:latin typeface="Roboto"/>
                <a:ea typeface="Roboto"/>
                <a:cs typeface="Roboto"/>
                <a:sym typeface="Roboto"/>
              </a:rPr>
              <a:t>)</a:t>
            </a:r>
            <a:endParaRPr sz="1600">
              <a:latin typeface="Roboto"/>
              <a:ea typeface="Roboto"/>
              <a:cs typeface="Roboto"/>
              <a:sym typeface="Robot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707"/>
        <p:cNvGrpSpPr/>
        <p:nvPr/>
      </p:nvGrpSpPr>
      <p:grpSpPr>
        <a:xfrm>
          <a:off x="0" y="0"/>
          <a:ext cx="0" cy="0"/>
          <a:chOff x="0" y="0"/>
          <a:chExt cx="0" cy="0"/>
        </a:xfrm>
      </p:grpSpPr>
      <p:sp>
        <p:nvSpPr>
          <p:cNvPr id="708" name="Google Shape;708;p65"/>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0B6937"/>
              </a:buClr>
              <a:buSzPts val="2880"/>
              <a:buFont typeface="Roboto Slab"/>
              <a:buNone/>
            </a:pPr>
            <a:r>
              <a:rPr lang="es-ES"/>
              <a:t>Objetivos de diseño de los SO</a:t>
            </a:r>
            <a:endParaRPr b="1">
              <a:solidFill>
                <a:srgbClr val="0B6937"/>
              </a:solidFill>
              <a:latin typeface="Roboto Slab"/>
              <a:ea typeface="Roboto Slab"/>
              <a:cs typeface="Roboto Slab"/>
              <a:sym typeface="Roboto Slab"/>
            </a:endParaRPr>
          </a:p>
        </p:txBody>
      </p:sp>
      <p:sp>
        <p:nvSpPr>
          <p:cNvPr id="709" name="Google Shape;709;p65"/>
          <p:cNvSpPr txBox="1">
            <a:spLocks noGrp="1"/>
          </p:cNvSpPr>
          <p:nvPr>
            <p:ph idx="1"/>
          </p:nvPr>
        </p:nvSpPr>
        <p:spPr>
          <a:xfrm>
            <a:off x="838200" y="1013201"/>
            <a:ext cx="10515600" cy="4859100"/>
          </a:xfrm>
          <a:prstGeom prst="rect">
            <a:avLst/>
          </a:prstGeom>
        </p:spPr>
        <p:txBody>
          <a:bodyPr spcFirstLastPara="1" wrap="square" lIns="91425" tIns="45700" rIns="91425" bIns="45700" anchor="t" anchorCtr="0">
            <a:noAutofit/>
          </a:bodyPr>
          <a:lstStyle/>
          <a:p>
            <a:pPr marL="457200" lvl="0" indent="-381000" algn="l" rtl="0">
              <a:lnSpc>
                <a:spcPct val="100000"/>
              </a:lnSpc>
              <a:spcBef>
                <a:spcPts val="600"/>
              </a:spcBef>
              <a:spcAft>
                <a:spcPts val="0"/>
              </a:spcAft>
              <a:buSzPts val="2400"/>
              <a:buFont typeface="Times New Roman"/>
              <a:buAutoNum type="arabicPeriod"/>
            </a:pPr>
            <a:r>
              <a:rPr lang="es-ES" sz="2400" dirty="0"/>
              <a:t>Construir </a:t>
            </a:r>
            <a:r>
              <a:rPr lang="es-ES" sz="2400" b="1" dirty="0"/>
              <a:t>abstracciones:</a:t>
            </a:r>
            <a:endParaRPr sz="2400" b="1" dirty="0"/>
          </a:p>
          <a:p>
            <a:pPr marL="914400" lvl="1" indent="-361950" algn="l" rtl="0">
              <a:lnSpc>
                <a:spcPct val="100000"/>
              </a:lnSpc>
              <a:spcBef>
                <a:spcPts val="0"/>
              </a:spcBef>
              <a:spcAft>
                <a:spcPts val="0"/>
              </a:spcAft>
              <a:buSzPts val="2100"/>
              <a:buFont typeface="Times New Roman"/>
              <a:buChar char="○"/>
            </a:pPr>
            <a:r>
              <a:rPr lang="es-ES" sz="2100" dirty="0"/>
              <a:t>Hacen que el sistema sea </a:t>
            </a:r>
            <a:r>
              <a:rPr lang="es-ES" sz="2100" b="1" dirty="0">
                <a:solidFill>
                  <a:srgbClr val="8BAB42"/>
                </a:solidFill>
              </a:rPr>
              <a:t>fácil de usar!</a:t>
            </a:r>
            <a:endParaRPr sz="2400" dirty="0"/>
          </a:p>
          <a:p>
            <a:pPr marL="457200" lvl="0" indent="-381000" algn="l" rtl="0">
              <a:lnSpc>
                <a:spcPct val="100000"/>
              </a:lnSpc>
              <a:spcBef>
                <a:spcPts val="0"/>
              </a:spcBef>
              <a:spcAft>
                <a:spcPts val="0"/>
              </a:spcAft>
              <a:buSzPts val="2400"/>
              <a:buFont typeface="Times New Roman"/>
              <a:buAutoNum type="arabicPeriod"/>
            </a:pPr>
            <a:r>
              <a:rPr lang="es-ES" sz="2400" dirty="0"/>
              <a:t>Proporcionar un </a:t>
            </a:r>
            <a:r>
              <a:rPr lang="es-ES" sz="2400" b="1" dirty="0"/>
              <a:t>buen desempeño:</a:t>
            </a:r>
            <a:endParaRPr sz="2400" b="1" dirty="0"/>
          </a:p>
          <a:p>
            <a:pPr marL="914400" lvl="1" indent="-355600" algn="l" rtl="0">
              <a:lnSpc>
                <a:spcPct val="100000"/>
              </a:lnSpc>
              <a:spcBef>
                <a:spcPts val="0"/>
              </a:spcBef>
              <a:spcAft>
                <a:spcPts val="0"/>
              </a:spcAft>
              <a:buSzPts val="2000"/>
              <a:buFont typeface="Times New Roman"/>
              <a:buChar char="○"/>
            </a:pPr>
            <a:r>
              <a:rPr lang="es-ES" sz="2000" dirty="0"/>
              <a:t>Minimizar el </a:t>
            </a:r>
            <a:r>
              <a:rPr lang="es-ES" sz="2000" b="1" dirty="0">
                <a:solidFill>
                  <a:srgbClr val="FF0000"/>
                </a:solidFill>
              </a:rPr>
              <a:t>sobrecosto</a:t>
            </a:r>
            <a:r>
              <a:rPr lang="es-ES" sz="2000" dirty="0"/>
              <a:t> (</a:t>
            </a:r>
            <a:r>
              <a:rPr lang="es-ES" sz="2000" i="1" dirty="0" err="1"/>
              <a:t>overhead</a:t>
            </a:r>
            <a:r>
              <a:rPr lang="es-ES" sz="2000" dirty="0"/>
              <a:t>) del SO.</a:t>
            </a:r>
            <a:endParaRPr sz="2000" dirty="0"/>
          </a:p>
          <a:p>
            <a:pPr marL="914400" lvl="1" indent="-355600" algn="l" rtl="0">
              <a:lnSpc>
                <a:spcPct val="100000"/>
              </a:lnSpc>
              <a:spcBef>
                <a:spcPts val="0"/>
              </a:spcBef>
              <a:spcAft>
                <a:spcPts val="0"/>
              </a:spcAft>
              <a:buSzPts val="2000"/>
              <a:buChar char="○"/>
            </a:pPr>
            <a:r>
              <a:rPr lang="es-ES" sz="2000" dirty="0"/>
              <a:t>SO debe proporcionar la virtualización sin generar un sobrecosto excesivo.</a:t>
            </a:r>
            <a:endParaRPr sz="2400" dirty="0"/>
          </a:p>
          <a:p>
            <a:pPr marL="457200" lvl="0" indent="-381000" algn="l" rtl="0">
              <a:lnSpc>
                <a:spcPct val="100000"/>
              </a:lnSpc>
              <a:spcBef>
                <a:spcPts val="0"/>
              </a:spcBef>
              <a:spcAft>
                <a:spcPts val="0"/>
              </a:spcAft>
              <a:buSzPts val="2400"/>
              <a:buFont typeface="Times New Roman"/>
              <a:buAutoNum type="arabicPeriod"/>
            </a:pPr>
            <a:r>
              <a:rPr lang="es-ES" sz="2400" b="1" dirty="0"/>
              <a:t>Protección</a:t>
            </a:r>
            <a:r>
              <a:rPr lang="es-ES" sz="2400" dirty="0"/>
              <a:t> entre aplicaciones:</a:t>
            </a:r>
            <a:endParaRPr sz="2400" dirty="0"/>
          </a:p>
          <a:p>
            <a:pPr marL="914400" lvl="1" indent="-355600" algn="l" rtl="0">
              <a:lnSpc>
                <a:spcPct val="100000"/>
              </a:lnSpc>
              <a:spcBef>
                <a:spcPts val="0"/>
              </a:spcBef>
              <a:spcAft>
                <a:spcPts val="0"/>
              </a:spcAft>
              <a:buSzPts val="2000"/>
              <a:buFont typeface="Times New Roman"/>
              <a:buChar char="○"/>
            </a:pPr>
            <a:r>
              <a:rPr lang="es-ES" sz="2000" b="1" dirty="0"/>
              <a:t>Aislamiento</a:t>
            </a:r>
            <a:r>
              <a:rPr lang="es-ES" sz="2000" dirty="0"/>
              <a:t>: Un mal comportamiento de un proceso </a:t>
            </a:r>
            <a:r>
              <a:rPr lang="es-ES" sz="2000" b="1" dirty="0">
                <a:solidFill>
                  <a:srgbClr val="8BAB42"/>
                </a:solidFill>
              </a:rPr>
              <a:t>no debe afectar otros </a:t>
            </a:r>
            <a:r>
              <a:rPr lang="es-ES" sz="2000" dirty="0"/>
              <a:t>(o al sistema)</a:t>
            </a:r>
            <a:endParaRPr sz="2000" dirty="0"/>
          </a:p>
          <a:p>
            <a:pPr marL="457200" lvl="0" indent="-381000" algn="l" rtl="0">
              <a:lnSpc>
                <a:spcPct val="100000"/>
              </a:lnSpc>
              <a:spcBef>
                <a:spcPts val="0"/>
              </a:spcBef>
              <a:spcAft>
                <a:spcPts val="0"/>
              </a:spcAft>
              <a:buSzPts val="2400"/>
              <a:buAutoNum type="arabicPeriod"/>
            </a:pPr>
            <a:r>
              <a:rPr lang="es-ES" sz="2400" dirty="0"/>
              <a:t>Confiabilidad:</a:t>
            </a:r>
            <a:endParaRPr sz="2400" dirty="0"/>
          </a:p>
          <a:p>
            <a:pPr marL="914400" lvl="1" indent="-355600" algn="l" rtl="0">
              <a:lnSpc>
                <a:spcPct val="100000"/>
              </a:lnSpc>
              <a:spcBef>
                <a:spcPts val="0"/>
              </a:spcBef>
              <a:spcAft>
                <a:spcPts val="0"/>
              </a:spcAft>
              <a:buSzPts val="2000"/>
              <a:buFont typeface="Times New Roman"/>
              <a:buChar char="○"/>
            </a:pPr>
            <a:r>
              <a:rPr lang="es-ES" sz="2000" dirty="0"/>
              <a:t>El SO debería ejecutarse</a:t>
            </a:r>
            <a:r>
              <a:rPr lang="es-ES" sz="2000" b="1" dirty="0"/>
              <a:t> sin problema</a:t>
            </a:r>
            <a:r>
              <a:rPr lang="es-ES" sz="2000" dirty="0"/>
              <a:t> por un plazo largo de tiempo.</a:t>
            </a:r>
            <a:endParaRPr sz="2000" dirty="0"/>
          </a:p>
          <a:p>
            <a:pPr marL="457200" lvl="0" indent="-381000" algn="l" rtl="0">
              <a:lnSpc>
                <a:spcPct val="100000"/>
              </a:lnSpc>
              <a:spcBef>
                <a:spcPts val="0"/>
              </a:spcBef>
              <a:spcAft>
                <a:spcPts val="0"/>
              </a:spcAft>
              <a:buSzPts val="2400"/>
              <a:buAutoNum type="arabicPeriod"/>
            </a:pPr>
            <a:r>
              <a:rPr lang="es-ES" sz="2400" dirty="0"/>
              <a:t>Otros:</a:t>
            </a:r>
            <a:endParaRPr sz="2400" dirty="0"/>
          </a:p>
          <a:p>
            <a:pPr marL="914400" lvl="1" indent="-355600" algn="l" rtl="0">
              <a:lnSpc>
                <a:spcPct val="100000"/>
              </a:lnSpc>
              <a:spcBef>
                <a:spcPts val="0"/>
              </a:spcBef>
              <a:spcAft>
                <a:spcPts val="0"/>
              </a:spcAft>
              <a:buSzPts val="2000"/>
              <a:buChar char="○"/>
            </a:pPr>
            <a:r>
              <a:rPr lang="es-ES" sz="2000" dirty="0"/>
              <a:t>Eficiencia energética</a:t>
            </a:r>
            <a:endParaRPr sz="2000" dirty="0"/>
          </a:p>
          <a:p>
            <a:pPr marL="914400" lvl="1" indent="-355600" algn="l" rtl="0">
              <a:lnSpc>
                <a:spcPct val="100000"/>
              </a:lnSpc>
              <a:spcBef>
                <a:spcPts val="0"/>
              </a:spcBef>
              <a:spcAft>
                <a:spcPts val="0"/>
              </a:spcAft>
              <a:buSzPts val="2000"/>
              <a:buChar char="○"/>
            </a:pPr>
            <a:r>
              <a:rPr lang="es-ES" sz="2000" dirty="0"/>
              <a:t>Seguridad</a:t>
            </a:r>
            <a:endParaRPr sz="2000" dirty="0"/>
          </a:p>
          <a:p>
            <a:pPr marL="914400" lvl="1" indent="-355600" algn="l" rtl="0">
              <a:lnSpc>
                <a:spcPct val="100000"/>
              </a:lnSpc>
              <a:spcBef>
                <a:spcPts val="0"/>
              </a:spcBef>
              <a:spcAft>
                <a:spcPts val="0"/>
              </a:spcAft>
              <a:buSzPts val="2000"/>
              <a:buChar char="○"/>
            </a:pPr>
            <a:r>
              <a:rPr lang="es-ES" sz="2000" dirty="0"/>
              <a:t>Movilidad</a:t>
            </a:r>
            <a:endParaRPr sz="2000" dirty="0"/>
          </a:p>
          <a:p>
            <a:pPr marL="457200" lvl="0" indent="0" algn="l" rtl="0">
              <a:lnSpc>
                <a:spcPct val="100000"/>
              </a:lnSpc>
              <a:spcBef>
                <a:spcPts val="480"/>
              </a:spcBef>
              <a:spcAft>
                <a:spcPts val="0"/>
              </a:spcAft>
              <a:buNone/>
            </a:pPr>
            <a:endParaRPr sz="2000" dirty="0"/>
          </a:p>
          <a:p>
            <a:pPr marL="457200" lvl="0" indent="0" algn="l" rtl="0">
              <a:spcBef>
                <a:spcPts val="1000"/>
              </a:spcBef>
              <a:spcAft>
                <a:spcPts val="0"/>
              </a:spcAft>
              <a:buNone/>
            </a:pPr>
            <a:endParaRPr dirty="0"/>
          </a:p>
        </p:txBody>
      </p:sp>
    </p:spTree>
  </p:cSld>
  <p:clrMapOvr>
    <a:masterClrMapping/>
  </p:clrMapOvr>
</p:sld>
</file>

<file path=ppt/theme/theme1.xml><?xml version="1.0" encoding="utf-8"?>
<a:theme xmlns:a="http://schemas.openxmlformats.org/drawingml/2006/main" name="Office Theme">
  <a:themeElements>
    <a:clrScheme name="Tema d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Tema d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Office Theme">
  <a:themeElements>
    <a:clrScheme name="Tema d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117</TotalTime>
  <Words>2989</Words>
  <Application>Microsoft Office PowerPoint</Application>
  <PresentationFormat>Panorámica</PresentationFormat>
  <Paragraphs>616</Paragraphs>
  <Slides>34</Slides>
  <Notes>33</Notes>
  <HiddenSlides>0</HiddenSlides>
  <MMClips>0</MMClips>
  <ScaleCrop>false</ScaleCrop>
  <HeadingPairs>
    <vt:vector size="6" baseType="variant">
      <vt:variant>
        <vt:lpstr>Fuentes usadas</vt:lpstr>
      </vt:variant>
      <vt:variant>
        <vt:i4>8</vt:i4>
      </vt:variant>
      <vt:variant>
        <vt:lpstr>Tema</vt:lpstr>
      </vt:variant>
      <vt:variant>
        <vt:i4>3</vt:i4>
      </vt:variant>
      <vt:variant>
        <vt:lpstr>Títulos de diapositiva</vt:lpstr>
      </vt:variant>
      <vt:variant>
        <vt:i4>34</vt:i4>
      </vt:variant>
    </vt:vector>
  </HeadingPairs>
  <TitlesOfParts>
    <vt:vector size="45" baseType="lpstr">
      <vt:lpstr>Arial</vt:lpstr>
      <vt:lpstr>Calibri</vt:lpstr>
      <vt:lpstr>Calibri Light</vt:lpstr>
      <vt:lpstr>Consolas</vt:lpstr>
      <vt:lpstr>Courier New</vt:lpstr>
      <vt:lpstr>Roboto</vt:lpstr>
      <vt:lpstr>Roboto Slab</vt:lpstr>
      <vt:lpstr>Times New Roman</vt:lpstr>
      <vt:lpstr>Office Theme</vt:lpstr>
      <vt:lpstr>1_Office Theme</vt:lpstr>
      <vt:lpstr>2_Office Theme</vt:lpstr>
      <vt:lpstr>Apuntes clase 2</vt:lpstr>
      <vt:lpstr>Agenda</vt:lpstr>
      <vt:lpstr>¿Que hace un sistema operativo?</vt:lpstr>
      <vt:lpstr>¿Que hace un sistema operativo?</vt:lpstr>
      <vt:lpstr>¿Que hace un sistema operativo?</vt:lpstr>
      <vt:lpstr>¿Que hace un sistema operativo?</vt:lpstr>
      <vt:lpstr>¿Que hace un sistema operativo?</vt:lpstr>
      <vt:lpstr>¿Que hace un sistema operativo?</vt:lpstr>
      <vt:lpstr>¿Que hace un sistema operativo?</vt:lpstr>
      <vt:lpstr>Definición de Sistema Operativo</vt:lpstr>
      <vt:lpstr>Definición de Sistema Operativo</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Objetivos de diseño de los SO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Apuntes clase 2</dc:title>
  <dc:creator>Henry Arcila</dc:creator>
  <cp:lastModifiedBy>HENRY ALBERTO ARCILA RAMIREZ</cp:lastModifiedBy>
  <cp:revision>8</cp:revision>
  <dcterms:created xsi:type="dcterms:W3CDTF">2026-02-17T03:53:21Z</dcterms:created>
  <dcterms:modified xsi:type="dcterms:W3CDTF">2026-08-11T03:06:10Z</dcterms:modified>
</cp:coreProperties>
</file>