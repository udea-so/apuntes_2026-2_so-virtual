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7" r:id="rId2"/>
    <p:sldMasterId id="2147483690" r:id="rId3"/>
  </p:sldMasterIdLst>
  <p:notesMasterIdLst>
    <p:notesMasterId r:id="rId65"/>
  </p:notesMasterIdLst>
  <p:sldIdLst>
    <p:sldId id="256" r:id="rId4"/>
    <p:sldId id="257" r:id="rId5"/>
    <p:sldId id="265" r:id="rId6"/>
    <p:sldId id="266" r:id="rId7"/>
    <p:sldId id="267" r:id="rId8"/>
    <p:sldId id="268" r:id="rId9"/>
    <p:sldId id="269" r:id="rId10"/>
    <p:sldId id="270" r:id="rId11"/>
    <p:sldId id="271" r:id="rId12"/>
    <p:sldId id="273" r:id="rId13"/>
    <p:sldId id="274" r:id="rId14"/>
    <p:sldId id="276" r:id="rId15"/>
    <p:sldId id="278" r:id="rId16"/>
    <p:sldId id="279" r:id="rId17"/>
    <p:sldId id="280" r:id="rId18"/>
    <p:sldId id="281" r:id="rId19"/>
    <p:sldId id="282" r:id="rId20"/>
    <p:sldId id="283" r:id="rId21"/>
    <p:sldId id="284" r:id="rId22"/>
    <p:sldId id="285" r:id="rId23"/>
    <p:sldId id="286" r:id="rId24"/>
    <p:sldId id="334" r:id="rId25"/>
    <p:sldId id="288" r:id="rId26"/>
    <p:sldId id="289" r:id="rId27"/>
    <p:sldId id="290" r:id="rId28"/>
    <p:sldId id="291" r:id="rId29"/>
    <p:sldId id="292" r:id="rId30"/>
    <p:sldId id="293" r:id="rId31"/>
    <p:sldId id="294" r:id="rId32"/>
    <p:sldId id="295" r:id="rId33"/>
    <p:sldId id="296" r:id="rId34"/>
    <p:sldId id="297" r:id="rId35"/>
    <p:sldId id="298" r:id="rId36"/>
    <p:sldId id="304" r:id="rId37"/>
    <p:sldId id="333" r:id="rId38"/>
    <p:sldId id="261" r:id="rId39"/>
    <p:sldId id="306" r:id="rId40"/>
    <p:sldId id="305" r:id="rId41"/>
    <p:sldId id="307" r:id="rId42"/>
    <p:sldId id="308" r:id="rId43"/>
    <p:sldId id="309" r:id="rId44"/>
    <p:sldId id="312" r:id="rId45"/>
    <p:sldId id="311" r:id="rId46"/>
    <p:sldId id="310" r:id="rId47"/>
    <p:sldId id="313" r:id="rId48"/>
    <p:sldId id="287" r:id="rId49"/>
    <p:sldId id="315" r:id="rId50"/>
    <p:sldId id="317" r:id="rId51"/>
    <p:sldId id="316" r:id="rId52"/>
    <p:sldId id="318" r:id="rId53"/>
    <p:sldId id="319" r:id="rId54"/>
    <p:sldId id="320" r:id="rId55"/>
    <p:sldId id="321" r:id="rId56"/>
    <p:sldId id="322" r:id="rId57"/>
    <p:sldId id="323" r:id="rId58"/>
    <p:sldId id="324" r:id="rId59"/>
    <p:sldId id="325" r:id="rId60"/>
    <p:sldId id="326" r:id="rId61"/>
    <p:sldId id="327" r:id="rId62"/>
    <p:sldId id="328" r:id="rId63"/>
    <p:sldId id="329" r:id="rId6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CB702-8691-46C7-8F45-ADD5335D54F9}" type="datetimeFigureOut">
              <a:rPr lang="es-CO" smtClean="0"/>
              <a:t>6/08/2026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F6D2D5-9B13-49F8-9469-365765D81898}" type="slidenum">
              <a:rPr lang="es-CO" smtClean="0"/>
              <a:t>‹Nº›</a:t>
            </a:fld>
            <a:endParaRPr lang="es-CO"/>
          </a:p>
        </p:txBody>
      </p:sp>
    </p:spTree>
    <p:extLst>
      <p:ext uri="{BB962C8B-B14F-4D97-AF65-F5344CB8AC3E}">
        <p14:creationId xmlns:p14="http://schemas.microsoft.com/office/powerpoint/2010/main" val="3057751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cse.iitb.ac.in/~mythili/os/anno_slides/lecture1.pdf"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143" name="Google Shape;14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91542c71b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91542c71b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1542c71b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1542c71b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0292d3bc98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10292d3bc9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91542c71bb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91542c71b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91542c71bb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91542c71b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926a7ab31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926a7ab31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926a7ab31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926a7ab31e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926a7ab31e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926a7ab31e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926a7ab31e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926a7ab31e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926a7ab31e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926a7ab31e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926a7ab31e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926a7ab31e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926a7ab31e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926a7ab31e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926a7ab31e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926a7ab31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926a7ab31e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926a7ab31e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926a7ab31e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926a7ab31e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926a7ab31e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926a7ab31e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926a7ab31e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926a7ab31e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926a7ab31e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926a7ab31e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926a7ab31e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926a7ab31e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926a7ab31e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926a7ab31e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10292d3bc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10292d3bc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10292d3bc98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10292d3bc98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926a7ab31e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926a7ab31e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926a7ab31e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926a7ab31e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926a7ab31e_0_4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926a7ab31e_0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926a7ab31e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926a7ab31e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926a7ab31e_0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926a7ab31e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91542c71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91542c71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MPI (</a:t>
            </a:r>
            <a:r>
              <a:rPr lang="es-ES" sz="2400" i="1">
                <a:solidFill>
                  <a:schemeClr val="dk1"/>
                </a:solidFill>
                <a:latin typeface="Roboto"/>
                <a:ea typeface="Roboto"/>
                <a:cs typeface="Roboto"/>
                <a:sym typeface="Roboto"/>
              </a:rPr>
              <a:t>Message Passing Interface</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45720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RPC (</a:t>
            </a:r>
            <a:r>
              <a:rPr lang="es-ES" sz="2400" i="1">
                <a:solidFill>
                  <a:schemeClr val="dk1"/>
                </a:solidFill>
                <a:latin typeface="Roboto"/>
                <a:ea typeface="Roboto"/>
                <a:cs typeface="Roboto"/>
                <a:sym typeface="Roboto"/>
              </a:rPr>
              <a:t>Remote Procedure Calls</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400">
              <a:solidFill>
                <a:schemeClr val="dk1"/>
              </a:solidFill>
              <a:latin typeface="Roboto"/>
              <a:ea typeface="Roboto"/>
              <a:cs typeface="Roboto"/>
              <a:sym typeface="Roboto"/>
            </a:endParaRPr>
          </a:p>
          <a:p>
            <a:pPr marL="457200" lvl="0" indent="-381000" algn="l" rtl="0">
              <a:lnSpc>
                <a:spcPct val="90000"/>
              </a:lnSpc>
              <a:spcBef>
                <a:spcPts val="10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Java RMI (</a:t>
            </a:r>
            <a:r>
              <a:rPr lang="es-ES" sz="2400" i="1">
                <a:solidFill>
                  <a:schemeClr val="dk1"/>
                </a:solidFill>
                <a:latin typeface="Roboto"/>
                <a:ea typeface="Roboto"/>
                <a:cs typeface="Roboto"/>
                <a:sym typeface="Roboto"/>
              </a:rPr>
              <a:t>Remote Method Invocation</a:t>
            </a:r>
            <a:r>
              <a:rPr lang="es-ES"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043d1bb18a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043d1bb18a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2411565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10542923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37650169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2456391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1335704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5267367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4807936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33661481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292d3bc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292d3bc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u="sng">
                <a:solidFill>
                  <a:schemeClr val="hlink"/>
                </a:solidFill>
                <a:hlinkClick r:id="rId3"/>
              </a:rPr>
              <a:t>https://www.cse.iitb.ac.in/~mythili/os/anno_slides/lecture1.pdf</a:t>
            </a:r>
            <a:endParaRPr sz="2400"/>
          </a:p>
        </p:txBody>
      </p:sp>
    </p:spTree>
    <p:extLst>
      <p:ext uri="{BB962C8B-B14F-4D97-AF65-F5344CB8AC3E}">
        <p14:creationId xmlns:p14="http://schemas.microsoft.com/office/powerpoint/2010/main" val="1184003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52940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50642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85629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98307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42175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72623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21259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9378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7371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5153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96479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43900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79243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92162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Está presente en casi todos los computadores que nos rodean.</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Los lenguajes de programación más populares no fueron diseñados para programación paralela.</a:t>
            </a:r>
            <a:endParaRPr sz="2400">
              <a:solidFill>
                <a:schemeClr val="dk1"/>
              </a:solidFill>
              <a:latin typeface="Roboto"/>
              <a:ea typeface="Roboto"/>
              <a:cs typeface="Roboto"/>
              <a:sym typeface="Roboto"/>
            </a:endParaRPr>
          </a:p>
          <a:p>
            <a:pPr marL="914400" lvl="0" indent="0" algn="l" rtl="0">
              <a:lnSpc>
                <a:spcPct val="90000"/>
              </a:lnSpc>
              <a:spcBef>
                <a:spcPts val="500"/>
              </a:spcBef>
              <a:spcAft>
                <a:spcPts val="0"/>
              </a:spcAft>
              <a:buNone/>
            </a:pPr>
            <a:endParaRPr sz="2400">
              <a:solidFill>
                <a:schemeClr val="dk1"/>
              </a:solidFill>
              <a:latin typeface="Roboto"/>
              <a:ea typeface="Roboto"/>
              <a:cs typeface="Roboto"/>
              <a:sym typeface="Roboto"/>
            </a:endParaRPr>
          </a:p>
        </p:txBody>
      </p:sp>
      <p:sp>
        <p:nvSpPr>
          <p:cNvPr id="550" name="Google Shape;550;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2445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226252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17232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3784158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429564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27C41C-8DAC-4880-9EBF-4A80A4FB9896}" type="datetimeFigureOut">
              <a:rPr lang="es-CO" smtClean="0"/>
              <a:t>6/08/2026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727125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27C41C-8DAC-4880-9EBF-4A80A4FB9896}" type="datetimeFigureOut">
              <a:rPr lang="es-CO" smtClean="0"/>
              <a:t>6/08/2026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854717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7C41C-8DAC-4880-9EBF-4A80A4FB9896}" type="datetimeFigureOut">
              <a:rPr lang="es-CO" smtClean="0"/>
              <a:t>6/08/2026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38979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784014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420316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51068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593686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910886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29" name="Google Shape;29;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31" name="Google Shape;31;p3"/>
          <p:cNvSpPr/>
          <p:nvPr/>
        </p:nvSpPr>
        <p:spPr>
          <a:xfrm rot="5400000">
            <a:off x="-3061973" y="3062100"/>
            <a:ext cx="6858000" cy="7338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32" name="Google Shape;32;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3"/>
          <p:cNvSpPr/>
          <p:nvPr/>
        </p:nvSpPr>
        <p:spPr>
          <a:xfrm>
            <a:off x="11347918"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3"/>
          <p:cNvSpPr/>
          <p:nvPr/>
        </p:nvSpPr>
        <p:spPr>
          <a:xfrm>
            <a:off x="11042181" y="6386352"/>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 name="Google Shape;35;p3"/>
          <p:cNvSpPr/>
          <p:nvPr/>
        </p:nvSpPr>
        <p:spPr>
          <a:xfrm>
            <a:off x="10736444"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306781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776667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44724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02402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162772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27C41C-8DAC-4880-9EBF-4A80A4FB9896}" type="datetimeFigureOut">
              <a:rPr lang="es-CO" smtClean="0"/>
              <a:t>6/08/2026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3160247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27C41C-8DAC-4880-9EBF-4A80A4FB9896}" type="datetimeFigureOut">
              <a:rPr lang="es-CO" smtClean="0"/>
              <a:t>6/08/2026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641645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7C41C-8DAC-4880-9EBF-4A80A4FB9896}" type="datetimeFigureOut">
              <a:rPr lang="es-CO" smtClean="0"/>
              <a:t>6/08/2026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6544598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485714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077227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9315300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3306207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650216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591978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39860786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5933129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5463825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27C41C-8DAC-4880-9EBF-4A80A4FB9896}" type="datetimeFigureOut">
              <a:rPr lang="es-CO" smtClean="0"/>
              <a:t>6/08/2026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6888206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27C41C-8DAC-4880-9EBF-4A80A4FB9896}" type="datetimeFigureOut">
              <a:rPr lang="es-CO" smtClean="0"/>
              <a:t>6/08/2026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6544009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7C41C-8DAC-4880-9EBF-4A80A4FB9896}" type="datetimeFigureOut">
              <a:rPr lang="es-CO" smtClean="0"/>
              <a:t>6/08/2026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6333370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27855182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27C41C-8DAC-4880-9EBF-4A80A4FB9896}" type="datetimeFigureOut">
              <a:rPr lang="es-CO" smtClean="0"/>
              <a:t>6/08/2026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3150151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15524739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27C41C-8DAC-4880-9EBF-4A80A4FB9896}" type="datetimeFigureOut">
              <a:rPr lang="es-CO" smtClean="0"/>
              <a:t>6/08/2026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C0A391A-6BD3-4883-BED2-53F471EE51CE}" type="slidenum">
              <a:rPr lang="es-CO" smtClean="0"/>
              <a:t>‹Nº›</a:t>
            </a:fld>
            <a:endParaRPr lang="es-CO"/>
          </a:p>
        </p:txBody>
      </p:sp>
    </p:spTree>
    <p:extLst>
      <p:ext uri="{BB962C8B-B14F-4D97-AF65-F5344CB8AC3E}">
        <p14:creationId xmlns:p14="http://schemas.microsoft.com/office/powerpoint/2010/main" val="34662037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62598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7C41C-8DAC-4880-9EBF-4A80A4FB9896}" type="datetimeFigureOut">
              <a:rPr lang="es-CO" smtClean="0"/>
              <a:t>6/08/2026</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0A391A-6BD3-4883-BED2-53F471EE51CE}" type="slidenum">
              <a:rPr lang="es-CO" smtClean="0"/>
              <a:t>‹Nº›</a:t>
            </a:fld>
            <a:endParaRPr lang="es-CO"/>
          </a:p>
        </p:txBody>
      </p:sp>
    </p:spTree>
    <p:extLst>
      <p:ext uri="{BB962C8B-B14F-4D97-AF65-F5344CB8AC3E}">
        <p14:creationId xmlns:p14="http://schemas.microsoft.com/office/powerpoint/2010/main" val="105622699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7C41C-8DAC-4880-9EBF-4A80A4FB9896}" type="datetimeFigureOut">
              <a:rPr lang="es-CO" smtClean="0"/>
              <a:t>6/08/2026</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0A391A-6BD3-4883-BED2-53F471EE51CE}" type="slidenum">
              <a:rPr lang="es-CO" smtClean="0"/>
              <a:t>‹Nº›</a:t>
            </a:fld>
            <a:endParaRPr lang="es-CO"/>
          </a:p>
        </p:txBody>
      </p:sp>
    </p:spTree>
    <p:extLst>
      <p:ext uri="{BB962C8B-B14F-4D97-AF65-F5344CB8AC3E}">
        <p14:creationId xmlns:p14="http://schemas.microsoft.com/office/powerpoint/2010/main" val="180006024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7C41C-8DAC-4880-9EBF-4A80A4FB9896}" type="datetimeFigureOut">
              <a:rPr lang="es-CO" smtClean="0"/>
              <a:t>6/08/2026</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0A391A-6BD3-4883-BED2-53F471EE51CE}" type="slidenum">
              <a:rPr lang="es-CO" smtClean="0"/>
              <a:t>‹Nº›</a:t>
            </a:fld>
            <a:endParaRPr lang="es-CO"/>
          </a:p>
        </p:txBody>
      </p:sp>
    </p:spTree>
    <p:extLst>
      <p:ext uri="{BB962C8B-B14F-4D97-AF65-F5344CB8AC3E}">
        <p14:creationId xmlns:p14="http://schemas.microsoft.com/office/powerpoint/2010/main" val="328597698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hyperlink" Target="https://www.youtube.com/watch?v=Z5JC9Ve1sfI&amp;t=49s"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6.png"/><Relationship Id="rId11" Type="http://schemas.openxmlformats.org/officeDocument/2006/relationships/hyperlink" Target="https://wepsim.github.io/" TargetMode="External"/><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7.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7.xml"/><Relationship Id="rId6" Type="http://schemas.openxmlformats.org/officeDocument/2006/relationships/image" Target="../media/image9.png"/><Relationship Id="rId11" Type="http://schemas.openxmlformats.org/officeDocument/2006/relationships/image" Target="../media/image21.png"/><Relationship Id="rId5" Type="http://schemas.openxmlformats.org/officeDocument/2006/relationships/image" Target="../media/image8.pn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7.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hyperlink" Target="https://www.gnu.org/software/guile/manual/html_node/POSIX.html" TargetMode="External"/><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5.xml"/><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5.xml"/><Relationship Id="rId6" Type="http://schemas.openxmlformats.org/officeDocument/2006/relationships/hyperlink" Target="https://www.youtube.com/watch?v=9JbWiGwspBw&amp;list=PLlTZ99qnw3zKBiKz7pZ_ErH3AR3rpaaKT&amp;index=10" TargetMode="External"/><Relationship Id="rId5" Type="http://schemas.openxmlformats.org/officeDocument/2006/relationships/image" Target="../media/image4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25.xml"/><Relationship Id="rId6" Type="http://schemas.openxmlformats.org/officeDocument/2006/relationships/hyperlink" Target="https://www.youtube.com/watch?v=IDQjjIFhOFk&amp;list=PLlTZ99qnw3zKBiKz7pZ_ErH3AR3rpaaKT" TargetMode="External"/><Relationship Id="rId5" Type="http://schemas.openxmlformats.org/officeDocument/2006/relationships/image" Target="../media/image45.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5.xml"/><Relationship Id="rId5" Type="http://schemas.openxmlformats.org/officeDocument/2006/relationships/image" Target="../media/image4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5.xml"/><Relationship Id="rId6" Type="http://schemas.openxmlformats.org/officeDocument/2006/relationships/image" Target="../media/image48.png"/><Relationship Id="rId5" Type="http://schemas.openxmlformats.org/officeDocument/2006/relationships/image" Target="../media/image38.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hyperlink" Target="http://pages.cs.wisc.edu/~remzi/Classes/537/Fall2005/Lectures/lecture4.pdf" TargetMode="External"/><Relationship Id="rId2" Type="http://schemas.openxmlformats.org/officeDocument/2006/relationships/notesSlide" Target="../notesSlides/notesSlide24.xml"/><Relationship Id="rId1" Type="http://schemas.openxmlformats.org/officeDocument/2006/relationships/slideLayout" Target="../slideLayouts/slideLayout25.xml"/><Relationship Id="rId5" Type="http://schemas.openxmlformats.org/officeDocument/2006/relationships/image" Target="../media/image4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hyperlink" Target="http://pages.cs.wisc.edu/~remzi/Classes/537/Fall2005/Lectures/lecture4.pdf" TargetMode="External"/><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pages.cs.wisc.edu/~remzi/Classes/537/Fall2005/Lectures/lecture4.pdf"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pages.cs.wisc.edu/~remzi/Classes/537/Fall2005/Lectures/lecture4.pd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5.xml"/><Relationship Id="rId5" Type="http://schemas.openxmlformats.org/officeDocument/2006/relationships/hyperlink" Target="https://www.youtube.com/watch?v=nToNUxqotkk&amp;list=PLlTZ99qnw3zKBiKz7pZ_ErH3AR3rpaaKT" TargetMode="Externa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25.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0.png"/><Relationship Id="rId9" Type="http://schemas.openxmlformats.org/officeDocument/2006/relationships/hyperlink" Target="https://cumulusnetworks.com/blog/linux-basics-part-2/"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25.xml"/><Relationship Id="rId5" Type="http://schemas.openxmlformats.org/officeDocument/2006/relationships/hyperlink" Target="https://www.youtube.com/watch?v=YTidM1KgFCc&amp;list=PLlTZ99qnw3zKBiKz7pZ_ErH3AR3rpaaKT" TargetMode="Externa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8" Type="http://schemas.openxmlformats.org/officeDocument/2006/relationships/hyperlink" Target="https://www.os-book.com/OS10/index.html" TargetMode="External"/><Relationship Id="rId3" Type="http://schemas.openxmlformats.org/officeDocument/2006/relationships/hyperlink" Target="http://pages.cs.wisc.edu/~remzi/OSTEP/" TargetMode="External"/><Relationship Id="rId7" Type="http://schemas.openxmlformats.org/officeDocument/2006/relationships/hyperlink" Target="http://pages.cs.wisc.edu/~remzi/" TargetMode="External"/><Relationship Id="rId2" Type="http://schemas.openxmlformats.org/officeDocument/2006/relationships/notesSlide" Target="../notesSlides/notesSlide34.xml"/><Relationship Id="rId1" Type="http://schemas.openxmlformats.org/officeDocument/2006/relationships/slideLayout" Target="../slideLayouts/slideLayout37.xml"/><Relationship Id="rId6" Type="http://schemas.openxmlformats.org/officeDocument/2006/relationships/hyperlink" Target="https://www.youtube.com/playlist?list=PLlTZ99qnw3zKBiKz7pZ_ErH3AR3rpaaKT" TargetMode="External"/><Relationship Id="rId5" Type="http://schemas.openxmlformats.org/officeDocument/2006/relationships/hyperlink" Target="http://pages.cs.wisc.edu/~remzi/OSTEP/intro.pdf" TargetMode="External"/><Relationship Id="rId4" Type="http://schemas.openxmlformats.org/officeDocument/2006/relationships/hyperlink" Target="http://pages.cs.wisc.edu/~remzi/OSTEP/dialogue-threeeasy.pdf" TargetMode="External"/><Relationship Id="rId9" Type="http://schemas.openxmlformats.org/officeDocument/2006/relationships/hyperlink" Target="https://applied-programming.github.io/Operating-Systems-Notes/"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27.xml"/><Relationship Id="rId6" Type="http://schemas.openxmlformats.org/officeDocument/2006/relationships/image" Target="../media/image60.png"/><Relationship Id="rId5" Type="http://schemas.openxmlformats.org/officeDocument/2006/relationships/image" Target="../media/image3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2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8.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39.xml"/><Relationship Id="rId1" Type="http://schemas.openxmlformats.org/officeDocument/2006/relationships/slideLayout" Target="../slideLayouts/slideLayout2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73.png"/><Relationship Id="rId7" Type="http://schemas.openxmlformats.org/officeDocument/2006/relationships/image" Target="../media/image71.png"/><Relationship Id="rId2" Type="http://schemas.openxmlformats.org/officeDocument/2006/relationships/notesSlide" Target="../notesSlides/notesSlide40.xml"/><Relationship Id="rId1" Type="http://schemas.openxmlformats.org/officeDocument/2006/relationships/slideLayout" Target="../slideLayouts/slideLayout27.xml"/><Relationship Id="rId6" Type="http://schemas.openxmlformats.org/officeDocument/2006/relationships/image" Target="../media/image75.png"/><Relationship Id="rId5" Type="http://schemas.openxmlformats.org/officeDocument/2006/relationships/image" Target="../media/image69.png"/><Relationship Id="rId4" Type="http://schemas.openxmlformats.org/officeDocument/2006/relationships/image" Target="../media/image74.png"/><Relationship Id="rId9" Type="http://schemas.openxmlformats.org/officeDocument/2006/relationships/image" Target="../media/image76.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9.png"/><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8.png"/><Relationship Id="rId5" Type="http://schemas.openxmlformats.org/officeDocument/2006/relationships/image" Target="../media/image78.png"/><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2.xml"/><Relationship Id="rId1" Type="http://schemas.openxmlformats.org/officeDocument/2006/relationships/slideLayout" Target="../slideLayouts/slideLayout27.xml"/><Relationship Id="rId6" Type="http://schemas.openxmlformats.org/officeDocument/2006/relationships/hyperlink" Target="https://pythontutor.com/render.html#code=%23include%20%3Cstdio.h%3E%0A%0Aint%20x%3B%0Aint%20y%20%3D%2015%3B%0A%0Aint%20main%28%29%20%7B%0A%20%20int%20*values%3B%0A%20%20int%20i%3B%0A%20%20%0A%20%20values%20%3D%20%28int%20*%29malloc%28sizeof%28int%29*5%29%3B%0A%20%20%0A%20%20for%28i%20%3D%200%3B%20i%20%3C%205%3B%20i%2B%2B%29%20%7B%0A%20%20%20%20values%5Bi%5D%20%3D%20i%3B%20%20%20%20%0A%20%20%7D%0A%20%20%0A%20%20return%200%3B%0A%7D&amp;cumulative=false&amp;curInstr=0&amp;heapPrimitives=nevernest&amp;mode=display&amp;origin=opt-frontend.js&amp;py=c_gcc9.3.0&amp;rawInputLstJSON=%5B%5D&amp;textReferences=false" TargetMode="External"/><Relationship Id="rId5" Type="http://schemas.openxmlformats.org/officeDocument/2006/relationships/image" Target="../media/image82.png"/><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3.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44.xml"/><Relationship Id="rId1" Type="http://schemas.openxmlformats.org/officeDocument/2006/relationships/slideLayout" Target="../slideLayouts/slideLayout2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5.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6.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7.xml"/><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8.xml"/><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9.xml"/><Relationship Id="rId1" Type="http://schemas.openxmlformats.org/officeDocument/2006/relationships/slideLayout" Target="../slideLayouts/slideLayout27.xml"/><Relationship Id="rId4" Type="http://schemas.openxmlformats.org/officeDocument/2006/relationships/image" Target="../media/image91.png"/></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0.xml"/><Relationship Id="rId1" Type="http://schemas.openxmlformats.org/officeDocument/2006/relationships/slideLayout" Target="../slideLayouts/slideLayout27.xml"/><Relationship Id="rId4" Type="http://schemas.openxmlformats.org/officeDocument/2006/relationships/image" Target="../media/image94.png"/></Relationships>
</file>

<file path=ppt/slides/_rels/slide5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1.xml"/><Relationship Id="rId1" Type="http://schemas.openxmlformats.org/officeDocument/2006/relationships/slideLayout" Target="../slideLayouts/slideLayout27.xml"/><Relationship Id="rId4" Type="http://schemas.openxmlformats.org/officeDocument/2006/relationships/image" Target="../media/image95.png"/></Relationships>
</file>

<file path=ppt/slides/_rels/slide5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2.xml"/><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3.xml"/><Relationship Id="rId1" Type="http://schemas.openxmlformats.org/officeDocument/2006/relationships/slideLayout" Target="../slideLayouts/slideLayout2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5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4.xml"/><Relationship Id="rId1" Type="http://schemas.openxmlformats.org/officeDocument/2006/relationships/slideLayout" Target="../slideLayouts/slideLayout27.xml"/><Relationship Id="rId4" Type="http://schemas.openxmlformats.org/officeDocument/2006/relationships/image" Target="../media/image97.png"/></Relationships>
</file>

<file path=ppt/slides/_rels/slide5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5.xml"/><Relationship Id="rId1" Type="http://schemas.openxmlformats.org/officeDocument/2006/relationships/slideLayout" Target="../slideLayouts/slideLayout27.xml"/><Relationship Id="rId4" Type="http://schemas.openxmlformats.org/officeDocument/2006/relationships/image" Target="../media/image92.png"/></Relationships>
</file>

<file path=ppt/slides/_rels/slide5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6.xml"/><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7.xml"/><Relationship Id="rId1" Type="http://schemas.openxmlformats.org/officeDocument/2006/relationships/slideLayout" Target="../slideLayouts/slideLayout27.xml"/><Relationship Id="rId5" Type="http://schemas.openxmlformats.org/officeDocument/2006/relationships/image" Target="../media/image103.png"/><Relationship Id="rId4" Type="http://schemas.openxmlformats.org/officeDocument/2006/relationships/hyperlink" Target="https://github.com/mit-pdos/xv6-public/blob/master/proc.h"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8.xml"/><Relationship Id="rId1" Type="http://schemas.openxmlformats.org/officeDocument/2006/relationships/slideLayout" Target="../slideLayouts/slideLayout27.xml"/><Relationship Id="rId5" Type="http://schemas.openxmlformats.org/officeDocument/2006/relationships/image" Target="../media/image103.png"/><Relationship Id="rId4" Type="http://schemas.openxmlformats.org/officeDocument/2006/relationships/hyperlink" Target="https://github.com/mit-pdos/xv6-public/blob/master/proc.h"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github.com/mit-pdos/xv6-public/blob/master/proc.h" TargetMode="External"/><Relationship Id="rId2" Type="http://schemas.openxmlformats.org/officeDocument/2006/relationships/notesSlide" Target="../notesSlides/notesSlide59.xml"/><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mit-pdos/xv6-public/blob/master/proc.h" TargetMode="External"/><Relationship Id="rId2" Type="http://schemas.openxmlformats.org/officeDocument/2006/relationships/notesSlide" Target="../notesSlides/notesSlide6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85FF3-2D97-4FD2-BC3C-E374020627C2}"/>
              </a:ext>
            </a:extLst>
          </p:cNvPr>
          <p:cNvSpPr>
            <a:spLocks noGrp="1"/>
          </p:cNvSpPr>
          <p:nvPr>
            <p:ph type="ctrTitle"/>
          </p:nvPr>
        </p:nvSpPr>
        <p:spPr/>
        <p:txBody>
          <a:bodyPr/>
          <a:lstStyle/>
          <a:p>
            <a:r>
              <a:rPr lang="es-CO" dirty="0"/>
              <a:t>Apuntes clase 2</a:t>
            </a:r>
          </a:p>
        </p:txBody>
      </p:sp>
      <p:sp>
        <p:nvSpPr>
          <p:cNvPr id="3" name="Subtítulo 2">
            <a:extLst>
              <a:ext uri="{FF2B5EF4-FFF2-40B4-BE49-F238E27FC236}">
                <a16:creationId xmlns:a16="http://schemas.microsoft.com/office/drawing/2014/main" id="{9A5AAC6F-29B1-4561-BED7-077A25CE9B1F}"/>
              </a:ext>
            </a:extLst>
          </p:cNvPr>
          <p:cNvSpPr>
            <a:spLocks noGrp="1"/>
          </p:cNvSpPr>
          <p:nvPr>
            <p:ph type="subTitle" idx="1"/>
          </p:nvPr>
        </p:nvSpPr>
        <p:spPr>
          <a:xfrm>
            <a:off x="1524000" y="3602038"/>
            <a:ext cx="9144000" cy="1995198"/>
          </a:xfrm>
        </p:spPr>
        <p:txBody>
          <a:bodyPr>
            <a:normAutofit/>
          </a:bodyPr>
          <a:lstStyle/>
          <a:p>
            <a:r>
              <a:rPr lang="es-CO" sz="3200" dirty="0"/>
              <a:t>Sistemas Operativos</a:t>
            </a:r>
          </a:p>
          <a:p>
            <a:r>
              <a:rPr lang="es-CO" dirty="0"/>
              <a:t>Universidad de Antioquia</a:t>
            </a:r>
          </a:p>
          <a:p>
            <a:r>
              <a:rPr lang="es-CO" dirty="0"/>
              <a:t>Facultad de Ingeniería</a:t>
            </a:r>
          </a:p>
          <a:p>
            <a:r>
              <a:rPr lang="es-CO" dirty="0"/>
              <a:t>Ingeniería de Sistemas</a:t>
            </a:r>
          </a:p>
        </p:txBody>
      </p:sp>
    </p:spTree>
    <p:extLst>
      <p:ext uri="{BB962C8B-B14F-4D97-AF65-F5344CB8AC3E}">
        <p14:creationId xmlns:p14="http://schemas.microsoft.com/office/powerpoint/2010/main" val="3492589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Agenda</a:t>
            </a:r>
            <a:endParaRPr b="1" dirty="0">
              <a:solidFill>
                <a:srgbClr val="0B6937"/>
              </a:solidFill>
              <a:latin typeface="Roboto Slab"/>
              <a:ea typeface="Roboto Slab"/>
              <a:cs typeface="Roboto Slab"/>
              <a:sym typeface="Roboto Slab"/>
            </a:endParaRPr>
          </a:p>
        </p:txBody>
      </p:sp>
      <p:sp>
        <p:nvSpPr>
          <p:cNvPr id="146" name="Google Shape;146;p18"/>
          <p:cNvSpPr txBox="1">
            <a:spLocks noGrp="1"/>
          </p:cNvSpPr>
          <p:nvPr>
            <p:ph idx="1"/>
          </p:nvPr>
        </p:nvSpPr>
        <p:spPr>
          <a:xfrm>
            <a:off x="838200" y="1318001"/>
            <a:ext cx="10515600" cy="4859100"/>
          </a:xfrm>
          <a:prstGeom prst="rect">
            <a:avLst/>
          </a:prstGeom>
        </p:spPr>
        <p:txBody>
          <a:bodyPr spcFirstLastPara="1" wrap="square" lIns="91425" tIns="45700" rIns="91425" bIns="45700" anchor="t" anchorCtr="0">
            <a:noAutofit/>
          </a:bodyPr>
          <a:lstStyle/>
          <a:p>
            <a:pPr marL="457200" lvl="0" indent="-400050" algn="l" rtl="0">
              <a:spcBef>
                <a:spcPts val="0"/>
              </a:spcBef>
              <a:spcAft>
                <a:spcPts val="0"/>
              </a:spcAft>
              <a:buSzPts val="2700"/>
              <a:buChar char="●"/>
            </a:pPr>
            <a:r>
              <a:rPr lang="es-ES" sz="2700" dirty="0"/>
              <a:t>¿Qué hace un Sistema Operativo?</a:t>
            </a:r>
            <a:endParaRPr sz="2700" dirty="0"/>
          </a:p>
          <a:p>
            <a:pPr marL="457200" lvl="0" indent="-400050" algn="l" rtl="0">
              <a:spcBef>
                <a:spcPts val="0"/>
              </a:spcBef>
              <a:spcAft>
                <a:spcPts val="0"/>
              </a:spcAft>
              <a:buSzPts val="2700"/>
              <a:buChar char="●"/>
            </a:pPr>
            <a:r>
              <a:rPr lang="es-ES" sz="2700" dirty="0"/>
              <a:t>Definición de los Sistemas Operativos</a:t>
            </a:r>
            <a:endParaRPr sz="2700" dirty="0"/>
          </a:p>
          <a:p>
            <a:pPr marL="457200" lvl="0" indent="-400050" algn="l" rtl="0">
              <a:spcBef>
                <a:spcPts val="0"/>
              </a:spcBef>
              <a:spcAft>
                <a:spcPts val="0"/>
              </a:spcAft>
              <a:buSzPts val="2700"/>
              <a:buChar char="●"/>
            </a:pPr>
            <a:r>
              <a:rPr lang="es-ES" sz="2700" dirty="0"/>
              <a:t>Virtualización de Recursos</a:t>
            </a:r>
            <a:endParaRPr sz="2700" dirty="0"/>
          </a:p>
          <a:p>
            <a:pPr marL="457200" lvl="0" indent="-400050" algn="l" rtl="0">
              <a:spcBef>
                <a:spcPts val="0"/>
              </a:spcBef>
              <a:spcAft>
                <a:spcPts val="0"/>
              </a:spcAft>
              <a:buSzPts val="2700"/>
              <a:buChar char="●"/>
            </a:pPr>
            <a:r>
              <a:rPr lang="es-ES" sz="2700" dirty="0"/>
              <a:t>Operaciones del sistema operativo</a:t>
            </a:r>
            <a:endParaRPr sz="2700" dirty="0"/>
          </a:p>
          <a:p>
            <a:pPr marL="457200" lvl="0" indent="-400050" algn="l" rtl="0">
              <a:spcBef>
                <a:spcPts val="0"/>
              </a:spcBef>
              <a:spcAft>
                <a:spcPts val="0"/>
              </a:spcAft>
              <a:buSzPts val="2700"/>
              <a:buChar char="●"/>
            </a:pPr>
            <a:r>
              <a:rPr lang="es-ES" sz="2700" dirty="0"/>
              <a:t>Objetivos de diseño de los Sistemas Operativos</a:t>
            </a:r>
            <a:endParaRPr sz="2700" dirty="0"/>
          </a:p>
          <a:p>
            <a:pPr marL="457200" lvl="0" indent="0" algn="l" rtl="0">
              <a:spcBef>
                <a:spcPts val="100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09" name="Google Shape;209;p26"/>
          <p:cNvSpPr txBox="1">
            <a:spLocks noGrp="1"/>
          </p:cNvSpPr>
          <p:nvPr>
            <p:ph idx="1"/>
          </p:nvPr>
        </p:nvSpPr>
        <p:spPr>
          <a:xfrm>
            <a:off x="377748" y="957200"/>
            <a:ext cx="5540700" cy="43050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dirty="0">
                <a:solidFill>
                  <a:srgbClr val="8CC63E"/>
                </a:solidFill>
              </a:rPr>
              <a:t>¿Como se ejecuta un programa?</a:t>
            </a:r>
            <a:endParaRPr b="1" dirty="0">
              <a:solidFill>
                <a:srgbClr val="8CC63E"/>
              </a:solidFill>
            </a:endParaRPr>
          </a:p>
          <a:p>
            <a:pPr marL="0" lvl="0" indent="0" algn="l" rtl="0">
              <a:spcBef>
                <a:spcPts val="1000"/>
              </a:spcBef>
              <a:spcAft>
                <a:spcPts val="0"/>
              </a:spcAft>
              <a:buNone/>
            </a:pPr>
            <a:r>
              <a:rPr lang="es-ES" sz="2200" dirty="0">
                <a:solidFill>
                  <a:srgbClr val="000000"/>
                </a:solidFill>
              </a:rPr>
              <a:t>Para esto la CPU lleva cabo los siguientes pasos:</a:t>
            </a:r>
            <a:endParaRPr sz="2200" dirty="0">
              <a:solidFill>
                <a:srgbClr val="000000"/>
              </a:solidFill>
            </a:endParaRPr>
          </a:p>
          <a:p>
            <a:pPr marL="457200" lvl="0" indent="-368300" algn="l" rtl="0">
              <a:spcBef>
                <a:spcPts val="1000"/>
              </a:spcBef>
              <a:spcAft>
                <a:spcPts val="0"/>
              </a:spcAft>
              <a:buClr>
                <a:srgbClr val="000000"/>
              </a:buClr>
              <a:buSzPts val="2200"/>
              <a:buAutoNum type="arabicPeriod"/>
            </a:pPr>
            <a:r>
              <a:rPr lang="es-ES" sz="2200" b="1" dirty="0" err="1"/>
              <a:t>Fetch</a:t>
            </a:r>
            <a:r>
              <a:rPr lang="es-ES" sz="2200" dirty="0"/>
              <a:t>: Obtiene la instrucción de memoria.</a:t>
            </a:r>
            <a:endParaRPr sz="2200" dirty="0"/>
          </a:p>
          <a:p>
            <a:pPr marL="457200" lvl="0" indent="-368300" algn="l" rtl="0">
              <a:spcBef>
                <a:spcPts val="1000"/>
              </a:spcBef>
              <a:spcAft>
                <a:spcPts val="0"/>
              </a:spcAft>
              <a:buSzPts val="2200"/>
              <a:buAutoNum type="arabicPeriod"/>
            </a:pPr>
            <a:r>
              <a:rPr lang="es-ES" sz="2200" b="1" dirty="0" err="1"/>
              <a:t>Decode</a:t>
            </a:r>
            <a:r>
              <a:rPr lang="es-ES" sz="2200" dirty="0"/>
              <a:t>: Averigua la instrucción a ejecutar.</a:t>
            </a:r>
            <a:endParaRPr sz="2200" dirty="0"/>
          </a:p>
          <a:p>
            <a:pPr marL="457200" lvl="0" indent="-368300" algn="l" rtl="0">
              <a:spcBef>
                <a:spcPts val="1000"/>
              </a:spcBef>
              <a:spcAft>
                <a:spcPts val="0"/>
              </a:spcAft>
              <a:buSzPts val="2200"/>
              <a:buAutoNum type="arabicPeriod"/>
            </a:pPr>
            <a:r>
              <a:rPr lang="es-ES" sz="2200" b="1" dirty="0" err="1"/>
              <a:t>Exec</a:t>
            </a:r>
            <a:r>
              <a:rPr lang="es-ES" sz="2200" dirty="0"/>
              <a:t>: Realiza la operación indicada.</a:t>
            </a:r>
            <a:endParaRPr sz="2200" dirty="0"/>
          </a:p>
          <a:p>
            <a:pPr marL="457200" lvl="0" indent="-368300" algn="l" rtl="0">
              <a:spcBef>
                <a:spcPts val="1000"/>
              </a:spcBef>
              <a:spcAft>
                <a:spcPts val="0"/>
              </a:spcAft>
              <a:buSzPts val="2200"/>
              <a:buAutoNum type="arabicPeriod"/>
            </a:pPr>
            <a:r>
              <a:rPr lang="es-ES" sz="2200" dirty="0"/>
              <a:t>Se salta a la próxima instrucción y se repite el procedimiento</a:t>
            </a:r>
            <a:endParaRPr sz="2700" dirty="0"/>
          </a:p>
        </p:txBody>
      </p:sp>
      <p:pic>
        <p:nvPicPr>
          <p:cNvPr id="211" name="Google Shape;211;p26"/>
          <p:cNvPicPr preferRelativeResize="0"/>
          <p:nvPr/>
        </p:nvPicPr>
        <p:blipFill>
          <a:blip r:embed="rId3">
            <a:alphaModFix/>
          </a:blip>
          <a:stretch>
            <a:fillRect/>
          </a:stretch>
        </p:blipFill>
        <p:spPr>
          <a:xfrm>
            <a:off x="7830763" y="1210529"/>
            <a:ext cx="2779773" cy="2218471"/>
          </a:xfrm>
          <a:prstGeom prst="rect">
            <a:avLst/>
          </a:prstGeom>
          <a:noFill/>
          <a:ln>
            <a:noFill/>
          </a:ln>
        </p:spPr>
      </p:pic>
      <p:sp>
        <p:nvSpPr>
          <p:cNvPr id="212" name="Google Shape;212;p26"/>
          <p:cNvSpPr txBox="1"/>
          <p:nvPr/>
        </p:nvSpPr>
        <p:spPr>
          <a:xfrm>
            <a:off x="452550" y="5262200"/>
            <a:ext cx="4899900" cy="5961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latin typeface="Roboto"/>
                <a:ea typeface="Roboto"/>
                <a:cs typeface="Roboto"/>
                <a:sym typeface="Roboto"/>
              </a:rPr>
              <a:t>Ver video</a:t>
            </a:r>
            <a:r>
              <a:rPr lang="es-ES" sz="1600">
                <a:latin typeface="Roboto"/>
                <a:ea typeface="Roboto"/>
                <a:cs typeface="Roboto"/>
                <a:sym typeface="Roboto"/>
              </a:rPr>
              <a:t>: The Fetch-Execute Cycle: What's Your Computer Actually Doing? (</a:t>
            </a:r>
            <a:r>
              <a:rPr lang="es-ES" sz="1600" u="sng">
                <a:solidFill>
                  <a:schemeClr val="hlink"/>
                </a:solidFill>
                <a:latin typeface="Roboto"/>
                <a:ea typeface="Roboto"/>
                <a:cs typeface="Roboto"/>
                <a:sym typeface="Roboto"/>
                <a:hlinkClick r:id="rId4"/>
              </a:rPr>
              <a:t>link</a:t>
            </a:r>
            <a:r>
              <a:rPr lang="es-ES" sz="1600">
                <a:latin typeface="Roboto"/>
                <a:ea typeface="Roboto"/>
                <a:cs typeface="Roboto"/>
                <a:sym typeface="Roboto"/>
              </a:rPr>
              <a:t>)</a:t>
            </a:r>
            <a:endParaRPr sz="160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7"/>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18" name="Google Shape;218;p27"/>
          <p:cNvSpPr txBox="1">
            <a:spLocks noGrp="1"/>
          </p:cNvSpPr>
          <p:nvPr>
            <p:ph idx="1"/>
          </p:nvPr>
        </p:nvSpPr>
        <p:spPr>
          <a:xfrm>
            <a:off x="916650" y="912825"/>
            <a:ext cx="5244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dirty="0">
                <a:solidFill>
                  <a:srgbClr val="8CC63E"/>
                </a:solidFill>
              </a:rPr>
              <a:t>¿Como se ejecuta un programa?</a:t>
            </a:r>
            <a:endParaRPr b="1" dirty="0">
              <a:solidFill>
                <a:srgbClr val="8CC63E"/>
              </a:solidFill>
            </a:endParaRPr>
          </a:p>
          <a:p>
            <a:pPr marL="457200" lvl="0" indent="0" algn="l" rtl="0">
              <a:spcBef>
                <a:spcPts val="1000"/>
              </a:spcBef>
              <a:spcAft>
                <a:spcPts val="0"/>
              </a:spcAft>
              <a:buNone/>
            </a:pPr>
            <a:endParaRPr sz="2200" dirty="0"/>
          </a:p>
          <a:p>
            <a:pPr marL="0" lvl="0" indent="0" algn="l" rtl="0">
              <a:spcBef>
                <a:spcPts val="1000"/>
              </a:spcBef>
              <a:spcAft>
                <a:spcPts val="0"/>
              </a:spcAft>
              <a:buNone/>
            </a:pPr>
            <a:endParaRPr dirty="0"/>
          </a:p>
        </p:txBody>
      </p:sp>
      <p:pic>
        <p:nvPicPr>
          <p:cNvPr id="219" name="Google Shape;219;p27"/>
          <p:cNvPicPr preferRelativeResize="0"/>
          <p:nvPr/>
        </p:nvPicPr>
        <p:blipFill>
          <a:blip r:embed="rId3">
            <a:alphaModFix/>
          </a:blip>
          <a:stretch>
            <a:fillRect/>
          </a:stretch>
        </p:blipFill>
        <p:spPr>
          <a:xfrm>
            <a:off x="5796200" y="2129475"/>
            <a:ext cx="4839400" cy="4468475"/>
          </a:xfrm>
          <a:prstGeom prst="rect">
            <a:avLst/>
          </a:prstGeom>
          <a:noFill/>
          <a:ln>
            <a:noFill/>
          </a:ln>
        </p:spPr>
      </p:pic>
      <p:pic>
        <p:nvPicPr>
          <p:cNvPr id="220" name="Google Shape;220;p27"/>
          <p:cNvPicPr preferRelativeResize="0"/>
          <p:nvPr/>
        </p:nvPicPr>
        <p:blipFill>
          <a:blip r:embed="rId4">
            <a:alphaModFix/>
          </a:blip>
          <a:stretch>
            <a:fillRect/>
          </a:stretch>
        </p:blipFill>
        <p:spPr>
          <a:xfrm>
            <a:off x="8875725" y="5648528"/>
            <a:ext cx="438300" cy="438300"/>
          </a:xfrm>
          <a:prstGeom prst="rect">
            <a:avLst/>
          </a:prstGeom>
          <a:noFill/>
          <a:ln>
            <a:noFill/>
          </a:ln>
        </p:spPr>
      </p:pic>
      <p:pic>
        <p:nvPicPr>
          <p:cNvPr id="221" name="Google Shape;221;p27"/>
          <p:cNvPicPr preferRelativeResize="0"/>
          <p:nvPr/>
        </p:nvPicPr>
        <p:blipFill>
          <a:blip r:embed="rId5">
            <a:alphaModFix/>
          </a:blip>
          <a:stretch>
            <a:fillRect/>
          </a:stretch>
        </p:blipFill>
        <p:spPr>
          <a:xfrm>
            <a:off x="9391225" y="5697901"/>
            <a:ext cx="358575" cy="358575"/>
          </a:xfrm>
          <a:prstGeom prst="rect">
            <a:avLst/>
          </a:prstGeom>
          <a:noFill/>
          <a:ln>
            <a:noFill/>
          </a:ln>
        </p:spPr>
      </p:pic>
      <p:pic>
        <p:nvPicPr>
          <p:cNvPr id="222" name="Google Shape;222;p27"/>
          <p:cNvPicPr preferRelativeResize="0"/>
          <p:nvPr/>
        </p:nvPicPr>
        <p:blipFill>
          <a:blip r:embed="rId4">
            <a:alphaModFix/>
          </a:blip>
          <a:stretch>
            <a:fillRect/>
          </a:stretch>
        </p:blipFill>
        <p:spPr>
          <a:xfrm>
            <a:off x="10381125" y="2514453"/>
            <a:ext cx="438300" cy="438300"/>
          </a:xfrm>
          <a:prstGeom prst="rect">
            <a:avLst/>
          </a:prstGeom>
          <a:noFill/>
          <a:ln>
            <a:noFill/>
          </a:ln>
        </p:spPr>
      </p:pic>
      <p:pic>
        <p:nvPicPr>
          <p:cNvPr id="223" name="Google Shape;223;p27"/>
          <p:cNvPicPr preferRelativeResize="0"/>
          <p:nvPr/>
        </p:nvPicPr>
        <p:blipFill>
          <a:blip r:embed="rId5">
            <a:alphaModFix/>
          </a:blip>
          <a:stretch>
            <a:fillRect/>
          </a:stretch>
        </p:blipFill>
        <p:spPr>
          <a:xfrm>
            <a:off x="10422750" y="3033401"/>
            <a:ext cx="358575" cy="358575"/>
          </a:xfrm>
          <a:prstGeom prst="rect">
            <a:avLst/>
          </a:prstGeom>
          <a:noFill/>
          <a:ln>
            <a:noFill/>
          </a:ln>
        </p:spPr>
      </p:pic>
      <p:pic>
        <p:nvPicPr>
          <p:cNvPr id="224" name="Google Shape;224;p27"/>
          <p:cNvPicPr preferRelativeResize="0"/>
          <p:nvPr/>
        </p:nvPicPr>
        <p:blipFill>
          <a:blip r:embed="rId4">
            <a:alphaModFix/>
          </a:blip>
          <a:stretch>
            <a:fillRect/>
          </a:stretch>
        </p:blipFill>
        <p:spPr>
          <a:xfrm>
            <a:off x="10382888" y="3472628"/>
            <a:ext cx="438300" cy="438300"/>
          </a:xfrm>
          <a:prstGeom prst="rect">
            <a:avLst/>
          </a:prstGeom>
          <a:noFill/>
          <a:ln>
            <a:noFill/>
          </a:ln>
        </p:spPr>
      </p:pic>
      <p:pic>
        <p:nvPicPr>
          <p:cNvPr id="225" name="Google Shape;225;p27"/>
          <p:cNvPicPr preferRelativeResize="0"/>
          <p:nvPr/>
        </p:nvPicPr>
        <p:blipFill>
          <a:blip r:embed="rId6">
            <a:alphaModFix/>
          </a:blip>
          <a:stretch>
            <a:fillRect/>
          </a:stretch>
        </p:blipFill>
        <p:spPr>
          <a:xfrm>
            <a:off x="10740400" y="2381250"/>
            <a:ext cx="307825" cy="243700"/>
          </a:xfrm>
          <a:prstGeom prst="rect">
            <a:avLst/>
          </a:prstGeom>
          <a:noFill/>
          <a:ln>
            <a:noFill/>
          </a:ln>
        </p:spPr>
      </p:pic>
      <p:pic>
        <p:nvPicPr>
          <p:cNvPr id="226" name="Google Shape;226;p27"/>
          <p:cNvPicPr preferRelativeResize="0"/>
          <p:nvPr/>
        </p:nvPicPr>
        <p:blipFill>
          <a:blip r:embed="rId6">
            <a:alphaModFix/>
          </a:blip>
          <a:stretch>
            <a:fillRect/>
          </a:stretch>
        </p:blipFill>
        <p:spPr>
          <a:xfrm>
            <a:off x="10781325" y="2917413"/>
            <a:ext cx="307825" cy="243700"/>
          </a:xfrm>
          <a:prstGeom prst="rect">
            <a:avLst/>
          </a:prstGeom>
          <a:noFill/>
          <a:ln>
            <a:noFill/>
          </a:ln>
        </p:spPr>
      </p:pic>
      <p:pic>
        <p:nvPicPr>
          <p:cNvPr id="227" name="Google Shape;227;p27"/>
          <p:cNvPicPr preferRelativeResize="0"/>
          <p:nvPr/>
        </p:nvPicPr>
        <p:blipFill>
          <a:blip r:embed="rId6">
            <a:alphaModFix/>
          </a:blip>
          <a:stretch>
            <a:fillRect/>
          </a:stretch>
        </p:blipFill>
        <p:spPr>
          <a:xfrm>
            <a:off x="10781325" y="3391975"/>
            <a:ext cx="307825" cy="243700"/>
          </a:xfrm>
          <a:prstGeom prst="rect">
            <a:avLst/>
          </a:prstGeom>
          <a:noFill/>
          <a:ln>
            <a:noFill/>
          </a:ln>
        </p:spPr>
      </p:pic>
      <p:pic>
        <p:nvPicPr>
          <p:cNvPr id="228" name="Google Shape;228;p27"/>
          <p:cNvPicPr preferRelativeResize="0"/>
          <p:nvPr/>
        </p:nvPicPr>
        <p:blipFill>
          <a:blip r:embed="rId4">
            <a:alphaModFix/>
          </a:blip>
          <a:stretch>
            <a:fillRect/>
          </a:stretch>
        </p:blipFill>
        <p:spPr>
          <a:xfrm>
            <a:off x="5532900" y="3095478"/>
            <a:ext cx="438300" cy="438300"/>
          </a:xfrm>
          <a:prstGeom prst="rect">
            <a:avLst/>
          </a:prstGeom>
          <a:noFill/>
          <a:ln>
            <a:noFill/>
          </a:ln>
        </p:spPr>
      </p:pic>
      <p:pic>
        <p:nvPicPr>
          <p:cNvPr id="229" name="Google Shape;229;p27"/>
          <p:cNvPicPr preferRelativeResize="0"/>
          <p:nvPr/>
        </p:nvPicPr>
        <p:blipFill>
          <a:blip r:embed="rId6">
            <a:alphaModFix/>
          </a:blip>
          <a:stretch>
            <a:fillRect/>
          </a:stretch>
        </p:blipFill>
        <p:spPr>
          <a:xfrm>
            <a:off x="5796200" y="2851775"/>
            <a:ext cx="307825" cy="243700"/>
          </a:xfrm>
          <a:prstGeom prst="rect">
            <a:avLst/>
          </a:prstGeom>
          <a:noFill/>
          <a:ln>
            <a:noFill/>
          </a:ln>
        </p:spPr>
      </p:pic>
      <p:pic>
        <p:nvPicPr>
          <p:cNvPr id="230" name="Google Shape;230;p27"/>
          <p:cNvPicPr preferRelativeResize="0"/>
          <p:nvPr/>
        </p:nvPicPr>
        <p:blipFill>
          <a:blip r:embed="rId7">
            <a:alphaModFix/>
          </a:blip>
          <a:stretch>
            <a:fillRect/>
          </a:stretch>
        </p:blipFill>
        <p:spPr>
          <a:xfrm>
            <a:off x="6757563" y="5648525"/>
            <a:ext cx="723900" cy="581025"/>
          </a:xfrm>
          <a:prstGeom prst="rect">
            <a:avLst/>
          </a:prstGeom>
          <a:noFill/>
          <a:ln>
            <a:noFill/>
          </a:ln>
        </p:spPr>
      </p:pic>
      <p:pic>
        <p:nvPicPr>
          <p:cNvPr id="231" name="Google Shape;231;p27"/>
          <p:cNvPicPr preferRelativeResize="0"/>
          <p:nvPr/>
        </p:nvPicPr>
        <p:blipFill>
          <a:blip r:embed="rId8">
            <a:alphaModFix/>
          </a:blip>
          <a:stretch>
            <a:fillRect/>
          </a:stretch>
        </p:blipFill>
        <p:spPr>
          <a:xfrm>
            <a:off x="9314025" y="1491300"/>
            <a:ext cx="666750" cy="638175"/>
          </a:xfrm>
          <a:prstGeom prst="rect">
            <a:avLst/>
          </a:prstGeom>
          <a:noFill/>
          <a:ln>
            <a:noFill/>
          </a:ln>
        </p:spPr>
      </p:pic>
      <p:pic>
        <p:nvPicPr>
          <p:cNvPr id="232" name="Google Shape;232;p27"/>
          <p:cNvPicPr preferRelativeResize="0"/>
          <p:nvPr/>
        </p:nvPicPr>
        <p:blipFill>
          <a:blip r:embed="rId9">
            <a:alphaModFix/>
          </a:blip>
          <a:stretch>
            <a:fillRect/>
          </a:stretch>
        </p:blipFill>
        <p:spPr>
          <a:xfrm>
            <a:off x="6621925" y="1857375"/>
            <a:ext cx="504825" cy="523875"/>
          </a:xfrm>
          <a:prstGeom prst="rect">
            <a:avLst/>
          </a:prstGeom>
          <a:noFill/>
          <a:ln>
            <a:noFill/>
          </a:ln>
        </p:spPr>
      </p:pic>
      <p:sp>
        <p:nvSpPr>
          <p:cNvPr id="233" name="Google Shape;233;p27"/>
          <p:cNvSpPr txBox="1"/>
          <p:nvPr/>
        </p:nvSpPr>
        <p:spPr>
          <a:xfrm>
            <a:off x="1408925" y="2624950"/>
            <a:ext cx="3438900" cy="3154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.data</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x: .word 1 </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y: .word 0</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.text</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main:</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lw   $t0 x</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li   $t1 2</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add  $t1 $t0 $t1</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sw $t1, y  	</a:t>
            </a:r>
            <a:endParaRPr sz="17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s-ES" sz="1700">
                <a:solidFill>
                  <a:schemeClr val="dk1"/>
                </a:solidFill>
                <a:latin typeface="Courier New"/>
                <a:ea typeface="Courier New"/>
                <a:cs typeface="Courier New"/>
                <a:sym typeface="Courier New"/>
              </a:rPr>
              <a:t>    	jr $ra</a:t>
            </a:r>
            <a:endParaRPr sz="1700">
              <a:solidFill>
                <a:schemeClr val="dk1"/>
              </a:solidFill>
              <a:latin typeface="Courier New"/>
              <a:ea typeface="Courier New"/>
              <a:cs typeface="Courier New"/>
              <a:sym typeface="Courier New"/>
            </a:endParaRPr>
          </a:p>
        </p:txBody>
      </p:sp>
      <p:pic>
        <p:nvPicPr>
          <p:cNvPr id="234" name="Google Shape;234;p27"/>
          <p:cNvPicPr preferRelativeResize="0"/>
          <p:nvPr/>
        </p:nvPicPr>
        <p:blipFill>
          <a:blip r:embed="rId10">
            <a:alphaModFix/>
          </a:blip>
          <a:stretch>
            <a:fillRect/>
          </a:stretch>
        </p:blipFill>
        <p:spPr>
          <a:xfrm>
            <a:off x="1790674" y="1728425"/>
            <a:ext cx="2911650" cy="420100"/>
          </a:xfrm>
          <a:prstGeom prst="rect">
            <a:avLst/>
          </a:prstGeom>
          <a:noFill/>
          <a:ln>
            <a:noFill/>
          </a:ln>
        </p:spPr>
      </p:pic>
      <p:sp>
        <p:nvSpPr>
          <p:cNvPr id="235" name="Google Shape;235;p27"/>
          <p:cNvSpPr txBox="1"/>
          <p:nvPr/>
        </p:nvSpPr>
        <p:spPr>
          <a:xfrm>
            <a:off x="1461875" y="5951250"/>
            <a:ext cx="35052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100" u="sng">
                <a:solidFill>
                  <a:schemeClr val="hlink"/>
                </a:solidFill>
                <a:latin typeface="Calibri"/>
                <a:ea typeface="Calibri"/>
                <a:cs typeface="Calibri"/>
                <a:sym typeface="Calibri"/>
                <a:hlinkClick r:id="rId11"/>
              </a:rPr>
              <a:t>https://wepsim.github.io/</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8"/>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41" name="Google Shape;241;p28"/>
          <p:cNvSpPr txBox="1">
            <a:spLocks noGrp="1"/>
          </p:cNvSpPr>
          <p:nvPr>
            <p:ph idx="1"/>
          </p:nvPr>
        </p:nvSpPr>
        <p:spPr>
          <a:xfrm>
            <a:off x="784725" y="951700"/>
            <a:ext cx="10578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a:solidFill>
                  <a:srgbClr val="8CC63E"/>
                </a:solidFill>
              </a:rPr>
              <a:t>¿Como facilitar la ejecución de programas en un computador?</a:t>
            </a:r>
            <a:endParaRPr b="1">
              <a:solidFill>
                <a:srgbClr val="8CC63E"/>
              </a:solidFill>
            </a:endParaRPr>
          </a:p>
          <a:p>
            <a:pPr marL="457200" lvl="0" indent="0" algn="l" rtl="0">
              <a:spcBef>
                <a:spcPts val="1000"/>
              </a:spcBef>
              <a:spcAft>
                <a:spcPts val="0"/>
              </a:spcAft>
              <a:buNone/>
            </a:pPr>
            <a:endParaRPr sz="2500">
              <a:solidFill>
                <a:srgbClr val="000000"/>
              </a:solidFill>
            </a:endParaRPr>
          </a:p>
        </p:txBody>
      </p:sp>
      <p:pic>
        <p:nvPicPr>
          <p:cNvPr id="242" name="Google Shape;242;p28"/>
          <p:cNvPicPr preferRelativeResize="0"/>
          <p:nvPr/>
        </p:nvPicPr>
        <p:blipFill>
          <a:blip r:embed="rId3">
            <a:alphaModFix/>
          </a:blip>
          <a:stretch>
            <a:fillRect/>
          </a:stretch>
        </p:blipFill>
        <p:spPr>
          <a:xfrm>
            <a:off x="6444087" y="1778900"/>
            <a:ext cx="5217713" cy="4859100"/>
          </a:xfrm>
          <a:prstGeom prst="rect">
            <a:avLst/>
          </a:prstGeom>
          <a:noFill/>
          <a:ln>
            <a:noFill/>
          </a:ln>
        </p:spPr>
      </p:pic>
      <p:sp>
        <p:nvSpPr>
          <p:cNvPr id="243" name="Google Shape;243;p28"/>
          <p:cNvSpPr txBox="1"/>
          <p:nvPr/>
        </p:nvSpPr>
        <p:spPr>
          <a:xfrm>
            <a:off x="1130125" y="4843525"/>
            <a:ext cx="4670100" cy="15504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400" b="1">
                <a:solidFill>
                  <a:schemeClr val="dk1"/>
                </a:solidFill>
                <a:latin typeface="Roboto"/>
                <a:ea typeface="Roboto"/>
                <a:cs typeface="Roboto"/>
                <a:sym typeface="Roboto"/>
              </a:rPr>
              <a:t>Incluso</a:t>
            </a:r>
            <a:r>
              <a:rPr lang="es-ES" sz="2400">
                <a:solidFill>
                  <a:schemeClr val="dk1"/>
                </a:solidFill>
                <a:latin typeface="Roboto"/>
                <a:ea typeface="Roboto"/>
                <a:cs typeface="Roboto"/>
                <a:sym typeface="Roboto"/>
              </a:rPr>
              <a:t>, ¿cómo permitir que se puedan ejecutar </a:t>
            </a:r>
            <a:r>
              <a:rPr lang="es-ES" sz="2400" b="1">
                <a:solidFill>
                  <a:srgbClr val="FF9900"/>
                </a:solidFill>
                <a:latin typeface="Roboto"/>
                <a:ea typeface="Roboto"/>
                <a:cs typeface="Roboto"/>
                <a:sym typeface="Roboto"/>
              </a:rPr>
              <a:t>varios programas</a:t>
            </a:r>
            <a:r>
              <a:rPr lang="es-ES" sz="2400">
                <a:solidFill>
                  <a:schemeClr val="dk1"/>
                </a:solidFill>
                <a:latin typeface="Roboto"/>
                <a:ea typeface="Roboto"/>
                <a:cs typeface="Roboto"/>
                <a:sym typeface="Roboto"/>
              </a:rPr>
              <a:t> al mismo tiempo?</a:t>
            </a:r>
            <a:endParaRPr/>
          </a:p>
        </p:txBody>
      </p:sp>
      <p:pic>
        <p:nvPicPr>
          <p:cNvPr id="244" name="Google Shape;244;p28"/>
          <p:cNvPicPr preferRelativeResize="0"/>
          <p:nvPr/>
        </p:nvPicPr>
        <p:blipFill>
          <a:blip r:embed="rId4">
            <a:alphaModFix/>
          </a:blip>
          <a:stretch>
            <a:fillRect/>
          </a:stretch>
        </p:blipFill>
        <p:spPr>
          <a:xfrm>
            <a:off x="1426975" y="2502662"/>
            <a:ext cx="3868925" cy="2176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50" name="Google Shape;250;p29"/>
          <p:cNvSpPr txBox="1">
            <a:spLocks noGrp="1"/>
          </p:cNvSpPr>
          <p:nvPr>
            <p:ph idx="1"/>
          </p:nvPr>
        </p:nvSpPr>
        <p:spPr>
          <a:xfrm>
            <a:off x="285959" y="951700"/>
            <a:ext cx="10578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a:solidFill>
                  <a:srgbClr val="8CC63E"/>
                </a:solidFill>
              </a:rPr>
              <a:t>Estructura de los sistemas de cómputo</a:t>
            </a:r>
            <a:endParaRPr b="1">
              <a:solidFill>
                <a:srgbClr val="8CC63E"/>
              </a:solidFill>
            </a:endParaRPr>
          </a:p>
          <a:p>
            <a:pPr marL="457200" lvl="0" indent="0" algn="l" rtl="0">
              <a:spcBef>
                <a:spcPts val="1000"/>
              </a:spcBef>
              <a:spcAft>
                <a:spcPts val="0"/>
              </a:spcAft>
              <a:buNone/>
            </a:pPr>
            <a:endParaRPr sz="2500">
              <a:solidFill>
                <a:srgbClr val="000000"/>
              </a:solidFill>
            </a:endParaRPr>
          </a:p>
        </p:txBody>
      </p:sp>
      <p:sp>
        <p:nvSpPr>
          <p:cNvPr id="251" name="Google Shape;251;p29"/>
          <p:cNvSpPr txBox="1"/>
          <p:nvPr/>
        </p:nvSpPr>
        <p:spPr>
          <a:xfrm>
            <a:off x="341684" y="1358100"/>
            <a:ext cx="5353500" cy="4859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500" b="1" dirty="0">
                <a:solidFill>
                  <a:schemeClr val="dk1"/>
                </a:solidFill>
                <a:latin typeface="Roboto"/>
                <a:ea typeface="Roboto"/>
                <a:cs typeface="Roboto"/>
                <a:sym typeface="Roboto"/>
              </a:rPr>
              <a:t>Componentes principales</a:t>
            </a:r>
            <a:r>
              <a:rPr lang="es-ES" sz="2500" dirty="0">
                <a:solidFill>
                  <a:schemeClr val="dk1"/>
                </a:solidFill>
                <a:latin typeface="Roboto"/>
                <a:ea typeface="Roboto"/>
                <a:cs typeface="Roboto"/>
                <a:sym typeface="Roboto"/>
              </a:rPr>
              <a:t>:</a:t>
            </a:r>
            <a:endParaRPr sz="2500" dirty="0">
              <a:solidFill>
                <a:schemeClr val="dk1"/>
              </a:solidFill>
              <a:latin typeface="Roboto"/>
              <a:ea typeface="Roboto"/>
              <a:cs typeface="Roboto"/>
              <a:sym typeface="Roboto"/>
            </a:endParaRPr>
          </a:p>
          <a:p>
            <a:pPr marL="457200" lvl="0" indent="-368300" algn="l" rtl="0">
              <a:lnSpc>
                <a:spcPct val="90000"/>
              </a:lnSpc>
              <a:spcBef>
                <a:spcPts val="1000"/>
              </a:spcBef>
              <a:spcAft>
                <a:spcPts val="0"/>
              </a:spcAft>
              <a:buClr>
                <a:schemeClr val="dk1"/>
              </a:buClr>
              <a:buSzPts val="2200"/>
              <a:buFont typeface="Roboto"/>
              <a:buAutoNum type="arabicPeriod"/>
            </a:pPr>
            <a:r>
              <a:rPr lang="es-ES" sz="2200" b="1" dirty="0">
                <a:solidFill>
                  <a:schemeClr val="dk1"/>
                </a:solidFill>
                <a:latin typeface="Roboto"/>
                <a:ea typeface="Roboto"/>
                <a:cs typeface="Roboto"/>
                <a:sym typeface="Roboto"/>
              </a:rPr>
              <a:t>Usuarios </a:t>
            </a: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r>
              <a:rPr lang="es-ES" sz="2200" dirty="0">
                <a:solidFill>
                  <a:schemeClr val="dk1"/>
                </a:solidFill>
                <a:latin typeface="Roboto"/>
                <a:ea typeface="Roboto"/>
                <a:cs typeface="Roboto"/>
                <a:sym typeface="Roboto"/>
              </a:rPr>
              <a:t>Personas, máquinas, otras computadoras</a:t>
            </a: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dirty="0">
              <a:solidFill>
                <a:schemeClr val="dk1"/>
              </a:solidFill>
              <a:latin typeface="Roboto"/>
              <a:ea typeface="Roboto"/>
              <a:cs typeface="Roboto"/>
              <a:sym typeface="Roboto"/>
            </a:endParaRPr>
          </a:p>
          <a:p>
            <a:pPr marL="546100" lvl="0" indent="-457200" algn="l" rtl="0">
              <a:lnSpc>
                <a:spcPct val="90000"/>
              </a:lnSpc>
              <a:spcBef>
                <a:spcPts val="1000"/>
              </a:spcBef>
              <a:spcAft>
                <a:spcPts val="0"/>
              </a:spcAft>
              <a:buClr>
                <a:schemeClr val="dk1"/>
              </a:buClr>
              <a:buSzPts val="2200"/>
              <a:buFont typeface="+mj-lt"/>
              <a:buAutoNum type="arabicPeriod" startAt="2"/>
            </a:pPr>
            <a:r>
              <a:rPr lang="es-ES" sz="2200" b="1" dirty="0">
                <a:solidFill>
                  <a:schemeClr val="dk1"/>
                </a:solidFill>
                <a:latin typeface="Roboto"/>
                <a:ea typeface="Roboto"/>
                <a:cs typeface="Roboto"/>
                <a:sym typeface="Roboto"/>
              </a:rPr>
              <a:t>Aplicaciones </a:t>
            </a: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r>
              <a:rPr lang="es-ES" sz="2200" dirty="0">
                <a:solidFill>
                  <a:schemeClr val="dk1"/>
                </a:solidFill>
                <a:latin typeface="Roboto"/>
                <a:ea typeface="Roboto"/>
                <a:cs typeface="Roboto"/>
                <a:sym typeface="Roboto"/>
              </a:rPr>
              <a:t>Compiladores, procesadores  de texto, navegadores, etc.</a:t>
            </a:r>
            <a:endParaRPr sz="2200" dirty="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dirty="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p:txBody>
      </p:sp>
      <p:pic>
        <p:nvPicPr>
          <p:cNvPr id="252" name="Google Shape;252;p29"/>
          <p:cNvPicPr preferRelativeResize="0"/>
          <p:nvPr/>
        </p:nvPicPr>
        <p:blipFill>
          <a:blip r:embed="rId3">
            <a:alphaModFix/>
          </a:blip>
          <a:stretch>
            <a:fillRect/>
          </a:stretch>
        </p:blipFill>
        <p:spPr>
          <a:xfrm>
            <a:off x="6310275" y="1691400"/>
            <a:ext cx="5680850" cy="4525801"/>
          </a:xfrm>
          <a:prstGeom prst="rect">
            <a:avLst/>
          </a:prstGeom>
          <a:noFill/>
          <a:ln>
            <a:noFill/>
          </a:ln>
        </p:spPr>
      </p:pic>
      <p:pic>
        <p:nvPicPr>
          <p:cNvPr id="253" name="Google Shape;253;p29"/>
          <p:cNvPicPr preferRelativeResize="0"/>
          <p:nvPr/>
        </p:nvPicPr>
        <p:blipFill>
          <a:blip r:embed="rId4">
            <a:alphaModFix/>
          </a:blip>
          <a:stretch>
            <a:fillRect/>
          </a:stretch>
        </p:blipFill>
        <p:spPr>
          <a:xfrm>
            <a:off x="1465586" y="3312900"/>
            <a:ext cx="788373" cy="949500"/>
          </a:xfrm>
          <a:prstGeom prst="rect">
            <a:avLst/>
          </a:prstGeom>
          <a:noFill/>
          <a:ln>
            <a:noFill/>
          </a:ln>
        </p:spPr>
      </p:pic>
      <p:pic>
        <p:nvPicPr>
          <p:cNvPr id="254" name="Google Shape;254;p29"/>
          <p:cNvPicPr preferRelativeResize="0"/>
          <p:nvPr/>
        </p:nvPicPr>
        <p:blipFill>
          <a:blip r:embed="rId5">
            <a:alphaModFix/>
          </a:blip>
          <a:stretch>
            <a:fillRect/>
          </a:stretch>
        </p:blipFill>
        <p:spPr>
          <a:xfrm>
            <a:off x="2777834" y="3312900"/>
            <a:ext cx="949500" cy="949500"/>
          </a:xfrm>
          <a:prstGeom prst="rect">
            <a:avLst/>
          </a:prstGeom>
          <a:noFill/>
          <a:ln>
            <a:noFill/>
          </a:ln>
        </p:spPr>
      </p:pic>
      <p:pic>
        <p:nvPicPr>
          <p:cNvPr id="255" name="Google Shape;255;p29"/>
          <p:cNvPicPr preferRelativeResize="0"/>
          <p:nvPr/>
        </p:nvPicPr>
        <p:blipFill>
          <a:blip r:embed="rId6">
            <a:alphaModFix/>
          </a:blip>
          <a:stretch>
            <a:fillRect/>
          </a:stretch>
        </p:blipFill>
        <p:spPr>
          <a:xfrm>
            <a:off x="1465584" y="5810798"/>
            <a:ext cx="721700" cy="721700"/>
          </a:xfrm>
          <a:prstGeom prst="rect">
            <a:avLst/>
          </a:prstGeom>
          <a:noFill/>
          <a:ln>
            <a:noFill/>
          </a:ln>
        </p:spPr>
      </p:pic>
      <p:pic>
        <p:nvPicPr>
          <p:cNvPr id="256" name="Google Shape;256;p29"/>
          <p:cNvPicPr preferRelativeResize="0"/>
          <p:nvPr/>
        </p:nvPicPr>
        <p:blipFill>
          <a:blip r:embed="rId7">
            <a:alphaModFix/>
          </a:blip>
          <a:stretch>
            <a:fillRect/>
          </a:stretch>
        </p:blipFill>
        <p:spPr>
          <a:xfrm>
            <a:off x="2377784" y="5885900"/>
            <a:ext cx="571500" cy="571500"/>
          </a:xfrm>
          <a:prstGeom prst="rect">
            <a:avLst/>
          </a:prstGeom>
          <a:noFill/>
          <a:ln>
            <a:noFill/>
          </a:ln>
        </p:spPr>
      </p:pic>
      <p:pic>
        <p:nvPicPr>
          <p:cNvPr id="257" name="Google Shape;257;p29"/>
          <p:cNvPicPr preferRelativeResize="0"/>
          <p:nvPr/>
        </p:nvPicPr>
        <p:blipFill>
          <a:blip r:embed="rId8">
            <a:alphaModFix/>
          </a:blip>
          <a:stretch>
            <a:fillRect/>
          </a:stretch>
        </p:blipFill>
        <p:spPr>
          <a:xfrm>
            <a:off x="3293534" y="5835479"/>
            <a:ext cx="571500" cy="67234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0"/>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63" name="Google Shape;263;p30"/>
          <p:cNvSpPr txBox="1">
            <a:spLocks noGrp="1"/>
          </p:cNvSpPr>
          <p:nvPr>
            <p:ph idx="1"/>
          </p:nvPr>
        </p:nvSpPr>
        <p:spPr>
          <a:xfrm>
            <a:off x="784725" y="951700"/>
            <a:ext cx="10578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a:solidFill>
                  <a:srgbClr val="8CC63E"/>
                </a:solidFill>
              </a:rPr>
              <a:t>Estructura de los sistemas de cómputo</a:t>
            </a:r>
            <a:endParaRPr b="1">
              <a:solidFill>
                <a:srgbClr val="8CC63E"/>
              </a:solidFill>
            </a:endParaRPr>
          </a:p>
          <a:p>
            <a:pPr marL="457200" lvl="0" indent="0" algn="l" rtl="0">
              <a:spcBef>
                <a:spcPts val="1000"/>
              </a:spcBef>
              <a:spcAft>
                <a:spcPts val="0"/>
              </a:spcAft>
              <a:buNone/>
            </a:pPr>
            <a:endParaRPr sz="2500">
              <a:solidFill>
                <a:srgbClr val="000000"/>
              </a:solidFill>
            </a:endParaRPr>
          </a:p>
        </p:txBody>
      </p:sp>
      <p:sp>
        <p:nvSpPr>
          <p:cNvPr id="264" name="Google Shape;264;p30"/>
          <p:cNvSpPr txBox="1"/>
          <p:nvPr/>
        </p:nvSpPr>
        <p:spPr>
          <a:xfrm>
            <a:off x="840450" y="1358100"/>
            <a:ext cx="5353500" cy="52812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500" b="1">
                <a:solidFill>
                  <a:schemeClr val="dk1"/>
                </a:solidFill>
                <a:latin typeface="Roboto"/>
                <a:ea typeface="Roboto"/>
                <a:cs typeface="Roboto"/>
                <a:sym typeface="Roboto"/>
              </a:rPr>
              <a:t>Componentes principales</a:t>
            </a:r>
            <a:r>
              <a:rPr lang="es-ES" sz="2500">
                <a:solidFill>
                  <a:schemeClr val="dk1"/>
                </a:solidFill>
                <a:latin typeface="Roboto"/>
                <a:ea typeface="Roboto"/>
                <a:cs typeface="Roboto"/>
                <a:sym typeface="Roboto"/>
              </a:rPr>
              <a:t>:</a:t>
            </a:r>
            <a:endParaRPr sz="2500">
              <a:solidFill>
                <a:schemeClr val="dk1"/>
              </a:solidFill>
              <a:latin typeface="Roboto"/>
              <a:ea typeface="Roboto"/>
              <a:cs typeface="Roboto"/>
              <a:sym typeface="Roboto"/>
            </a:endParaRPr>
          </a:p>
          <a:p>
            <a:pPr marL="457200" lvl="0" indent="-368300" algn="l" rtl="0">
              <a:lnSpc>
                <a:spcPct val="90000"/>
              </a:lnSpc>
              <a:spcBef>
                <a:spcPts val="1000"/>
              </a:spcBef>
              <a:spcAft>
                <a:spcPts val="0"/>
              </a:spcAft>
              <a:buClr>
                <a:schemeClr val="dk1"/>
              </a:buClr>
              <a:buSzPts val="2200"/>
              <a:buFont typeface="Roboto"/>
              <a:buAutoNum type="arabicPeriod" startAt="3"/>
            </a:pPr>
            <a:r>
              <a:rPr lang="es-ES" sz="2200" b="1">
                <a:solidFill>
                  <a:schemeClr val="dk1"/>
                </a:solidFill>
                <a:latin typeface="Roboto"/>
                <a:ea typeface="Roboto"/>
                <a:cs typeface="Roboto"/>
                <a:sym typeface="Roboto"/>
              </a:rPr>
              <a:t>Sistema Operativo</a:t>
            </a:r>
            <a:r>
              <a:rPr lang="es-ES" sz="2200">
                <a:solidFill>
                  <a:schemeClr val="dk1"/>
                </a:solidFill>
                <a:latin typeface="Roboto"/>
                <a:ea typeface="Roboto"/>
                <a:cs typeface="Roboto"/>
                <a:sym typeface="Roboto"/>
              </a:rPr>
              <a:t> </a:t>
            </a:r>
            <a:endParaRPr sz="220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r>
              <a:rPr lang="es-ES" sz="2200">
                <a:solidFill>
                  <a:schemeClr val="dk1"/>
                </a:solidFill>
                <a:latin typeface="Roboto"/>
                <a:ea typeface="Roboto"/>
                <a:cs typeface="Roboto"/>
                <a:sym typeface="Roboto"/>
              </a:rPr>
              <a:t>Controla y coordina el uso del hardware entre varias aplicaciones y usuarios</a:t>
            </a:r>
            <a:endParaRPr sz="220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endParaRPr sz="2200">
              <a:solidFill>
                <a:schemeClr val="dk1"/>
              </a:solidFill>
              <a:latin typeface="Roboto"/>
              <a:ea typeface="Roboto"/>
              <a:cs typeface="Roboto"/>
              <a:sym typeface="Roboto"/>
            </a:endParaRPr>
          </a:p>
          <a:p>
            <a:pPr marL="457200" lvl="0" indent="-368300" algn="l" rtl="0">
              <a:lnSpc>
                <a:spcPct val="90000"/>
              </a:lnSpc>
              <a:spcBef>
                <a:spcPts val="1000"/>
              </a:spcBef>
              <a:spcAft>
                <a:spcPts val="0"/>
              </a:spcAft>
              <a:buClr>
                <a:schemeClr val="dk1"/>
              </a:buClr>
              <a:buSzPts val="2200"/>
              <a:buFont typeface="Roboto"/>
              <a:buAutoNum type="arabicPeriod" startAt="3"/>
            </a:pPr>
            <a:r>
              <a:rPr lang="es-ES" sz="2200" b="1">
                <a:solidFill>
                  <a:schemeClr val="dk1"/>
                </a:solidFill>
                <a:latin typeface="Roboto"/>
                <a:ea typeface="Roboto"/>
                <a:cs typeface="Roboto"/>
                <a:sym typeface="Roboto"/>
              </a:rPr>
              <a:t>Hardware</a:t>
            </a:r>
            <a:r>
              <a:rPr lang="es-ES" sz="2200">
                <a:solidFill>
                  <a:schemeClr val="dk1"/>
                </a:solidFill>
                <a:latin typeface="Roboto"/>
                <a:ea typeface="Roboto"/>
                <a:cs typeface="Roboto"/>
                <a:sym typeface="Roboto"/>
              </a:rPr>
              <a:t> </a:t>
            </a:r>
            <a:endParaRPr sz="2200">
              <a:solidFill>
                <a:schemeClr val="dk1"/>
              </a:solidFill>
              <a:latin typeface="Roboto"/>
              <a:ea typeface="Roboto"/>
              <a:cs typeface="Roboto"/>
              <a:sym typeface="Roboto"/>
            </a:endParaRPr>
          </a:p>
          <a:p>
            <a:pPr marL="457200" lvl="0" indent="0" algn="l" rtl="0">
              <a:lnSpc>
                <a:spcPct val="90000"/>
              </a:lnSpc>
              <a:spcBef>
                <a:spcPts val="1000"/>
              </a:spcBef>
              <a:spcAft>
                <a:spcPts val="0"/>
              </a:spcAft>
              <a:buNone/>
            </a:pPr>
            <a:r>
              <a:rPr lang="es-ES" sz="2200">
                <a:solidFill>
                  <a:schemeClr val="dk1"/>
                </a:solidFill>
                <a:latin typeface="Roboto"/>
                <a:ea typeface="Roboto"/>
                <a:cs typeface="Roboto"/>
                <a:sym typeface="Roboto"/>
              </a:rPr>
              <a:t>CPU - Memoria - Dispositivos  E/S</a:t>
            </a:r>
            <a:endParaRPr sz="2200">
              <a:solidFill>
                <a:schemeClr val="dk1"/>
              </a:solidFill>
              <a:latin typeface="Roboto"/>
              <a:ea typeface="Roboto"/>
              <a:cs typeface="Roboto"/>
              <a:sym typeface="Roboto"/>
            </a:endParaRPr>
          </a:p>
          <a:p>
            <a:pPr marL="0" lvl="0" indent="0" algn="l" rtl="0">
              <a:lnSpc>
                <a:spcPct val="90000"/>
              </a:lnSpc>
              <a:spcBef>
                <a:spcPts val="1000"/>
              </a:spcBef>
              <a:spcAft>
                <a:spcPts val="0"/>
              </a:spcAft>
              <a:buClr>
                <a:schemeClr val="dk1"/>
              </a:buClr>
              <a:buSzPts val="1100"/>
              <a:buFont typeface="Arial"/>
              <a:buNone/>
            </a:pPr>
            <a:endParaRPr sz="22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p:txBody>
      </p:sp>
      <p:pic>
        <p:nvPicPr>
          <p:cNvPr id="265" name="Google Shape;265;p30"/>
          <p:cNvPicPr preferRelativeResize="0"/>
          <p:nvPr/>
        </p:nvPicPr>
        <p:blipFill>
          <a:blip r:embed="rId3">
            <a:alphaModFix/>
          </a:blip>
          <a:stretch>
            <a:fillRect/>
          </a:stretch>
        </p:blipFill>
        <p:spPr>
          <a:xfrm>
            <a:off x="6310275" y="1691400"/>
            <a:ext cx="5680850" cy="4525801"/>
          </a:xfrm>
          <a:prstGeom prst="rect">
            <a:avLst/>
          </a:prstGeom>
          <a:noFill/>
          <a:ln>
            <a:noFill/>
          </a:ln>
        </p:spPr>
      </p:pic>
      <p:pic>
        <p:nvPicPr>
          <p:cNvPr id="266" name="Google Shape;266;p30"/>
          <p:cNvPicPr preferRelativeResize="0"/>
          <p:nvPr/>
        </p:nvPicPr>
        <p:blipFill>
          <a:blip r:embed="rId4">
            <a:alphaModFix/>
          </a:blip>
          <a:stretch>
            <a:fillRect/>
          </a:stretch>
        </p:blipFill>
        <p:spPr>
          <a:xfrm>
            <a:off x="2242725" y="5528129"/>
            <a:ext cx="723900" cy="581020"/>
          </a:xfrm>
          <a:prstGeom prst="rect">
            <a:avLst/>
          </a:prstGeom>
          <a:noFill/>
          <a:ln>
            <a:noFill/>
          </a:ln>
        </p:spPr>
      </p:pic>
      <p:pic>
        <p:nvPicPr>
          <p:cNvPr id="267" name="Google Shape;267;p30"/>
          <p:cNvPicPr preferRelativeResize="0"/>
          <p:nvPr/>
        </p:nvPicPr>
        <p:blipFill>
          <a:blip r:embed="rId5">
            <a:alphaModFix/>
          </a:blip>
          <a:stretch>
            <a:fillRect/>
          </a:stretch>
        </p:blipFill>
        <p:spPr>
          <a:xfrm>
            <a:off x="3037713" y="5369295"/>
            <a:ext cx="887388" cy="849343"/>
          </a:xfrm>
          <a:prstGeom prst="rect">
            <a:avLst/>
          </a:prstGeom>
          <a:noFill/>
          <a:ln>
            <a:noFill/>
          </a:ln>
        </p:spPr>
      </p:pic>
      <p:pic>
        <p:nvPicPr>
          <p:cNvPr id="268" name="Google Shape;268;p30"/>
          <p:cNvPicPr preferRelativeResize="0"/>
          <p:nvPr/>
        </p:nvPicPr>
        <p:blipFill>
          <a:blip r:embed="rId6">
            <a:alphaModFix/>
          </a:blip>
          <a:stretch>
            <a:fillRect/>
          </a:stretch>
        </p:blipFill>
        <p:spPr>
          <a:xfrm>
            <a:off x="1397475" y="5418350"/>
            <a:ext cx="723900" cy="751217"/>
          </a:xfrm>
          <a:prstGeom prst="rect">
            <a:avLst/>
          </a:prstGeom>
          <a:noFill/>
          <a:ln>
            <a:noFill/>
          </a:ln>
        </p:spPr>
      </p:pic>
      <p:pic>
        <p:nvPicPr>
          <p:cNvPr id="269" name="Google Shape;269;p30"/>
          <p:cNvPicPr preferRelativeResize="0"/>
          <p:nvPr/>
        </p:nvPicPr>
        <p:blipFill>
          <a:blip r:embed="rId7">
            <a:alphaModFix/>
          </a:blip>
          <a:stretch>
            <a:fillRect/>
          </a:stretch>
        </p:blipFill>
        <p:spPr>
          <a:xfrm>
            <a:off x="5036925" y="5369288"/>
            <a:ext cx="849350" cy="849350"/>
          </a:xfrm>
          <a:prstGeom prst="rect">
            <a:avLst/>
          </a:prstGeom>
          <a:noFill/>
          <a:ln>
            <a:noFill/>
          </a:ln>
        </p:spPr>
      </p:pic>
      <p:pic>
        <p:nvPicPr>
          <p:cNvPr id="270" name="Google Shape;270;p30"/>
          <p:cNvPicPr preferRelativeResize="0"/>
          <p:nvPr/>
        </p:nvPicPr>
        <p:blipFill>
          <a:blip r:embed="rId8">
            <a:alphaModFix/>
          </a:blip>
          <a:stretch>
            <a:fillRect/>
          </a:stretch>
        </p:blipFill>
        <p:spPr>
          <a:xfrm>
            <a:off x="3996200" y="5256100"/>
            <a:ext cx="1007875" cy="1007875"/>
          </a:xfrm>
          <a:prstGeom prst="rect">
            <a:avLst/>
          </a:prstGeom>
          <a:noFill/>
          <a:ln>
            <a:noFill/>
          </a:ln>
        </p:spPr>
      </p:pic>
      <p:pic>
        <p:nvPicPr>
          <p:cNvPr id="271" name="Google Shape;271;p30"/>
          <p:cNvPicPr preferRelativeResize="0"/>
          <p:nvPr/>
        </p:nvPicPr>
        <p:blipFill>
          <a:blip r:embed="rId9">
            <a:alphaModFix/>
          </a:blip>
          <a:stretch>
            <a:fillRect/>
          </a:stretch>
        </p:blipFill>
        <p:spPr>
          <a:xfrm>
            <a:off x="2277141" y="3491575"/>
            <a:ext cx="628134" cy="887375"/>
          </a:xfrm>
          <a:prstGeom prst="rect">
            <a:avLst/>
          </a:prstGeom>
          <a:noFill/>
          <a:ln>
            <a:noFill/>
          </a:ln>
        </p:spPr>
      </p:pic>
      <p:pic>
        <p:nvPicPr>
          <p:cNvPr id="272" name="Google Shape;272;p30"/>
          <p:cNvPicPr preferRelativeResize="0"/>
          <p:nvPr/>
        </p:nvPicPr>
        <p:blipFill>
          <a:blip r:embed="rId10">
            <a:alphaModFix/>
          </a:blip>
          <a:stretch>
            <a:fillRect/>
          </a:stretch>
        </p:blipFill>
        <p:spPr>
          <a:xfrm>
            <a:off x="3168750" y="3491578"/>
            <a:ext cx="887375" cy="887375"/>
          </a:xfrm>
          <a:prstGeom prst="rect">
            <a:avLst/>
          </a:prstGeom>
          <a:noFill/>
          <a:ln>
            <a:noFill/>
          </a:ln>
        </p:spPr>
      </p:pic>
      <p:pic>
        <p:nvPicPr>
          <p:cNvPr id="273" name="Google Shape;273;p30"/>
          <p:cNvPicPr preferRelativeResize="0"/>
          <p:nvPr/>
        </p:nvPicPr>
        <p:blipFill>
          <a:blip r:embed="rId11">
            <a:alphaModFix/>
          </a:blip>
          <a:stretch>
            <a:fillRect/>
          </a:stretch>
        </p:blipFill>
        <p:spPr>
          <a:xfrm>
            <a:off x="4319600" y="3396300"/>
            <a:ext cx="849350" cy="84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1"/>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79" name="Google Shape;279;p31"/>
          <p:cNvSpPr txBox="1">
            <a:spLocks noGrp="1"/>
          </p:cNvSpPr>
          <p:nvPr>
            <p:ph idx="1"/>
          </p:nvPr>
        </p:nvSpPr>
        <p:spPr>
          <a:xfrm>
            <a:off x="784725" y="951700"/>
            <a:ext cx="10578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dirty="0">
                <a:solidFill>
                  <a:srgbClr val="8CC63E"/>
                </a:solidFill>
              </a:rPr>
              <a:t>Clasificación de los sistemas de cómputo</a:t>
            </a:r>
            <a:endParaRPr b="1" dirty="0">
              <a:solidFill>
                <a:srgbClr val="8CC63E"/>
              </a:solidFill>
            </a:endParaRPr>
          </a:p>
          <a:p>
            <a:pPr marL="457200" lvl="0" indent="-317500" algn="l" rtl="0">
              <a:spcBef>
                <a:spcPts val="1000"/>
              </a:spcBef>
              <a:spcAft>
                <a:spcPts val="0"/>
              </a:spcAft>
              <a:buClr>
                <a:srgbClr val="FF9900"/>
              </a:buClr>
              <a:buSzPts val="1400"/>
              <a:buChar char="●"/>
            </a:pPr>
            <a:r>
              <a:rPr lang="es-ES" sz="2400" dirty="0">
                <a:solidFill>
                  <a:srgbClr val="FF9900"/>
                </a:solidFill>
              </a:rPr>
              <a:t>Depende del punto de vista</a:t>
            </a:r>
            <a:endParaRPr sz="2400" dirty="0">
              <a:solidFill>
                <a:srgbClr val="FF9900"/>
              </a:solidFill>
            </a:endParaRPr>
          </a:p>
          <a:p>
            <a:pPr marL="457200" lvl="0" indent="0" algn="l" rtl="0">
              <a:spcBef>
                <a:spcPts val="1000"/>
              </a:spcBef>
              <a:spcAft>
                <a:spcPts val="0"/>
              </a:spcAft>
              <a:buNone/>
            </a:pPr>
            <a:endParaRPr sz="2500" dirty="0">
              <a:solidFill>
                <a:srgbClr val="000000"/>
              </a:solidFill>
            </a:endParaRPr>
          </a:p>
        </p:txBody>
      </p:sp>
      <p:sp>
        <p:nvSpPr>
          <p:cNvPr id="280" name="Google Shape;280;p31"/>
          <p:cNvSpPr txBox="1"/>
          <p:nvPr/>
        </p:nvSpPr>
        <p:spPr>
          <a:xfrm>
            <a:off x="2975800" y="2372350"/>
            <a:ext cx="3749400" cy="132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200" b="1">
                <a:solidFill>
                  <a:schemeClr val="dk1"/>
                </a:solidFill>
                <a:latin typeface="Roboto"/>
                <a:ea typeface="Roboto"/>
                <a:cs typeface="Roboto"/>
                <a:sym typeface="Roboto"/>
              </a:rPr>
              <a:t>Usuarios</a:t>
            </a:r>
            <a:endParaRPr sz="2200" b="1">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r>
              <a:rPr lang="es-ES" sz="2000">
                <a:solidFill>
                  <a:schemeClr val="dk1"/>
                </a:solidFill>
                <a:latin typeface="Roboto"/>
                <a:ea typeface="Roboto"/>
                <a:cs typeface="Roboto"/>
                <a:sym typeface="Roboto"/>
              </a:rPr>
              <a:t>No importa mucho la utilización de los recursos</a:t>
            </a:r>
            <a:endParaRPr sz="20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p:txBody>
      </p:sp>
      <p:sp>
        <p:nvSpPr>
          <p:cNvPr id="281" name="Google Shape;281;p31"/>
          <p:cNvSpPr txBox="1"/>
          <p:nvPr/>
        </p:nvSpPr>
        <p:spPr>
          <a:xfrm>
            <a:off x="916650" y="4787150"/>
            <a:ext cx="3411900" cy="132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200" b="1">
                <a:solidFill>
                  <a:schemeClr val="dk1"/>
                </a:solidFill>
                <a:latin typeface="Roboto"/>
                <a:ea typeface="Roboto"/>
                <a:cs typeface="Roboto"/>
                <a:sym typeface="Roboto"/>
              </a:rPr>
              <a:t>Computadora compartida </a:t>
            </a:r>
            <a:endParaRPr sz="2200" b="1">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r>
              <a:rPr lang="es-ES" sz="2000">
                <a:solidFill>
                  <a:schemeClr val="dk1"/>
                </a:solidFill>
                <a:latin typeface="Roboto"/>
                <a:ea typeface="Roboto"/>
                <a:cs typeface="Roboto"/>
                <a:sym typeface="Roboto"/>
              </a:rPr>
              <a:t>Mantener a todos los usuarios felices</a:t>
            </a:r>
            <a:endParaRPr sz="20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p:txBody>
      </p:sp>
      <p:sp>
        <p:nvSpPr>
          <p:cNvPr id="282" name="Google Shape;282;p31"/>
          <p:cNvSpPr txBox="1"/>
          <p:nvPr/>
        </p:nvSpPr>
        <p:spPr>
          <a:xfrm>
            <a:off x="8335650" y="1702975"/>
            <a:ext cx="3749400" cy="132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200" b="1">
                <a:solidFill>
                  <a:schemeClr val="dk1"/>
                </a:solidFill>
                <a:latin typeface="Roboto"/>
                <a:ea typeface="Roboto"/>
                <a:cs typeface="Roboto"/>
                <a:sym typeface="Roboto"/>
              </a:rPr>
              <a:t>Sistema dedicado</a:t>
            </a:r>
            <a:endParaRPr sz="2200" b="1">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r>
              <a:rPr lang="es-ES" sz="2000">
                <a:solidFill>
                  <a:schemeClr val="dk1"/>
                </a:solidFill>
                <a:latin typeface="Roboto"/>
                <a:ea typeface="Roboto"/>
                <a:cs typeface="Roboto"/>
                <a:sym typeface="Roboto"/>
              </a:rPr>
              <a:t>Compromiso entre usabilidad y utilización de recursos</a:t>
            </a:r>
            <a:endParaRPr sz="20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p:txBody>
      </p:sp>
      <p:pic>
        <p:nvPicPr>
          <p:cNvPr id="283" name="Google Shape;283;p31"/>
          <p:cNvPicPr preferRelativeResize="0"/>
          <p:nvPr/>
        </p:nvPicPr>
        <p:blipFill>
          <a:blip r:embed="rId3">
            <a:alphaModFix/>
          </a:blip>
          <a:stretch>
            <a:fillRect/>
          </a:stretch>
        </p:blipFill>
        <p:spPr>
          <a:xfrm>
            <a:off x="916650" y="2372346"/>
            <a:ext cx="1944550" cy="2281325"/>
          </a:xfrm>
          <a:prstGeom prst="rect">
            <a:avLst/>
          </a:prstGeom>
          <a:noFill/>
          <a:ln>
            <a:noFill/>
          </a:ln>
        </p:spPr>
      </p:pic>
      <p:pic>
        <p:nvPicPr>
          <p:cNvPr id="284" name="Google Shape;284;p31"/>
          <p:cNvPicPr preferRelativeResize="0"/>
          <p:nvPr/>
        </p:nvPicPr>
        <p:blipFill>
          <a:blip r:embed="rId4">
            <a:alphaModFix/>
          </a:blip>
          <a:stretch>
            <a:fillRect/>
          </a:stretch>
        </p:blipFill>
        <p:spPr>
          <a:xfrm>
            <a:off x="4577775" y="4787149"/>
            <a:ext cx="3263650" cy="2017100"/>
          </a:xfrm>
          <a:prstGeom prst="rect">
            <a:avLst/>
          </a:prstGeom>
          <a:noFill/>
          <a:ln>
            <a:noFill/>
          </a:ln>
        </p:spPr>
      </p:pic>
      <p:pic>
        <p:nvPicPr>
          <p:cNvPr id="285" name="Google Shape;285;p31"/>
          <p:cNvPicPr preferRelativeResize="0"/>
          <p:nvPr/>
        </p:nvPicPr>
        <p:blipFill>
          <a:blip r:embed="rId5">
            <a:alphaModFix/>
          </a:blip>
          <a:stretch>
            <a:fillRect/>
          </a:stretch>
        </p:blipFill>
        <p:spPr>
          <a:xfrm>
            <a:off x="8414875" y="3026575"/>
            <a:ext cx="3590925" cy="2400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2"/>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¿Que hace un sistema operativo?</a:t>
            </a:r>
            <a:endParaRPr/>
          </a:p>
        </p:txBody>
      </p:sp>
      <p:sp>
        <p:nvSpPr>
          <p:cNvPr id="291" name="Google Shape;291;p32"/>
          <p:cNvSpPr txBox="1">
            <a:spLocks noGrp="1"/>
          </p:cNvSpPr>
          <p:nvPr>
            <p:ph idx="1"/>
          </p:nvPr>
        </p:nvSpPr>
        <p:spPr>
          <a:xfrm>
            <a:off x="784725" y="951700"/>
            <a:ext cx="10578900" cy="4859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b="1">
                <a:solidFill>
                  <a:srgbClr val="8CC63E"/>
                </a:solidFill>
              </a:rPr>
              <a:t>Clasificación de los sistemas de cómputo</a:t>
            </a:r>
            <a:endParaRPr b="1">
              <a:solidFill>
                <a:srgbClr val="8CC63E"/>
              </a:solidFill>
            </a:endParaRPr>
          </a:p>
          <a:p>
            <a:pPr marL="457200" lvl="0" indent="-317500" algn="l" rtl="0">
              <a:spcBef>
                <a:spcPts val="1000"/>
              </a:spcBef>
              <a:spcAft>
                <a:spcPts val="0"/>
              </a:spcAft>
              <a:buClr>
                <a:srgbClr val="FF9900"/>
              </a:buClr>
              <a:buSzPts val="1400"/>
              <a:buChar char="●"/>
            </a:pPr>
            <a:r>
              <a:rPr lang="es-ES" sz="2400">
                <a:solidFill>
                  <a:srgbClr val="FF9900"/>
                </a:solidFill>
              </a:rPr>
              <a:t>Depende del punto de vista</a:t>
            </a:r>
            <a:endParaRPr sz="2400">
              <a:solidFill>
                <a:srgbClr val="FF9900"/>
              </a:solidFill>
            </a:endParaRPr>
          </a:p>
          <a:p>
            <a:pPr marL="457200" lvl="0" indent="0" algn="l" rtl="0">
              <a:spcBef>
                <a:spcPts val="1000"/>
              </a:spcBef>
              <a:spcAft>
                <a:spcPts val="0"/>
              </a:spcAft>
              <a:buNone/>
            </a:pPr>
            <a:endParaRPr sz="2500">
              <a:solidFill>
                <a:srgbClr val="000000"/>
              </a:solidFill>
            </a:endParaRPr>
          </a:p>
        </p:txBody>
      </p:sp>
      <p:sp>
        <p:nvSpPr>
          <p:cNvPr id="292" name="Google Shape;292;p32"/>
          <p:cNvSpPr txBox="1"/>
          <p:nvPr/>
        </p:nvSpPr>
        <p:spPr>
          <a:xfrm>
            <a:off x="1144325" y="2465925"/>
            <a:ext cx="3749400" cy="132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200" b="1">
                <a:solidFill>
                  <a:schemeClr val="dk1"/>
                </a:solidFill>
                <a:latin typeface="Roboto"/>
                <a:ea typeface="Roboto"/>
                <a:cs typeface="Roboto"/>
                <a:sym typeface="Roboto"/>
              </a:rPr>
              <a:t>Dispositivo portátil </a:t>
            </a:r>
            <a:endParaRPr sz="2200" b="1">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r>
              <a:rPr lang="es-ES" sz="2000">
                <a:solidFill>
                  <a:schemeClr val="dk1"/>
                </a:solidFill>
                <a:latin typeface="Roboto"/>
                <a:ea typeface="Roboto"/>
                <a:cs typeface="Roboto"/>
                <a:sym typeface="Roboto"/>
              </a:rPr>
              <a:t>Gestionar recursos limitados, optimizar la usabilidad  </a:t>
            </a:r>
            <a:endParaRPr sz="20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000">
              <a:solidFill>
                <a:schemeClr val="dk1"/>
              </a:solidFill>
              <a:latin typeface="Roboto"/>
              <a:ea typeface="Roboto"/>
              <a:cs typeface="Roboto"/>
              <a:sym typeface="Roboto"/>
            </a:endParaRPr>
          </a:p>
        </p:txBody>
      </p:sp>
      <p:sp>
        <p:nvSpPr>
          <p:cNvPr id="293" name="Google Shape;293;p32"/>
          <p:cNvSpPr txBox="1"/>
          <p:nvPr/>
        </p:nvSpPr>
        <p:spPr>
          <a:xfrm>
            <a:off x="6329025" y="2465925"/>
            <a:ext cx="4646700" cy="132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s-ES" sz="2200" b="1">
                <a:solidFill>
                  <a:schemeClr val="dk1"/>
                </a:solidFill>
                <a:latin typeface="Roboto"/>
                <a:ea typeface="Roboto"/>
                <a:cs typeface="Roboto"/>
                <a:sym typeface="Roboto"/>
              </a:rPr>
              <a:t>Sistemas embebidos</a:t>
            </a:r>
            <a:endParaRPr sz="2200" b="1">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r>
              <a:rPr lang="es-ES" sz="2000">
                <a:solidFill>
                  <a:schemeClr val="dk1"/>
                </a:solidFill>
                <a:latin typeface="Roboto"/>
                <a:ea typeface="Roboto"/>
                <a:cs typeface="Roboto"/>
                <a:sym typeface="Roboto"/>
              </a:rPr>
              <a:t>Interfaz de usuario muy limitada o inexistente</a:t>
            </a:r>
            <a:endParaRPr sz="20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p:txBody>
      </p:sp>
      <p:pic>
        <p:nvPicPr>
          <p:cNvPr id="294" name="Google Shape;294;p32"/>
          <p:cNvPicPr preferRelativeResize="0"/>
          <p:nvPr/>
        </p:nvPicPr>
        <p:blipFill>
          <a:blip r:embed="rId3">
            <a:alphaModFix/>
          </a:blip>
          <a:stretch>
            <a:fillRect/>
          </a:stretch>
        </p:blipFill>
        <p:spPr>
          <a:xfrm>
            <a:off x="1323825" y="3975775"/>
            <a:ext cx="3206550" cy="2290400"/>
          </a:xfrm>
          <a:prstGeom prst="rect">
            <a:avLst/>
          </a:prstGeom>
          <a:noFill/>
          <a:ln>
            <a:noFill/>
          </a:ln>
        </p:spPr>
      </p:pic>
      <p:pic>
        <p:nvPicPr>
          <p:cNvPr id="295" name="Google Shape;295;p32"/>
          <p:cNvPicPr preferRelativeResize="0"/>
          <p:nvPr/>
        </p:nvPicPr>
        <p:blipFill>
          <a:blip r:embed="rId4">
            <a:alphaModFix/>
          </a:blip>
          <a:stretch>
            <a:fillRect/>
          </a:stretch>
        </p:blipFill>
        <p:spPr>
          <a:xfrm>
            <a:off x="7078434" y="3789525"/>
            <a:ext cx="2812641" cy="229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90002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Definición de Sistema Operativo</a:t>
            </a:r>
            <a:endParaRPr dirty="0">
              <a:latin typeface="+mj-lt"/>
            </a:endParaRPr>
          </a:p>
        </p:txBody>
      </p:sp>
      <p:sp>
        <p:nvSpPr>
          <p:cNvPr id="310" name="Google Shape;310;p34"/>
          <p:cNvSpPr txBox="1">
            <a:spLocks noGrp="1"/>
          </p:cNvSpPr>
          <p:nvPr>
            <p:ph type="body" idx="1"/>
          </p:nvPr>
        </p:nvSpPr>
        <p:spPr>
          <a:xfrm>
            <a:off x="838200" y="784600"/>
            <a:ext cx="10515600" cy="5387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dirty="0">
                <a:latin typeface="+mn-lt"/>
              </a:rPr>
              <a:t>Es un </a:t>
            </a:r>
            <a:r>
              <a:rPr lang="es-ES" b="1" dirty="0">
                <a:solidFill>
                  <a:srgbClr val="FF9900"/>
                </a:solidFill>
                <a:latin typeface="+mn-lt"/>
              </a:rPr>
              <a:t>software</a:t>
            </a:r>
            <a:r>
              <a:rPr lang="es-ES" dirty="0">
                <a:latin typeface="+mn-lt"/>
              </a:rPr>
              <a:t> que:</a:t>
            </a:r>
            <a:endParaRPr dirty="0">
              <a:latin typeface="+mn-lt"/>
            </a:endParaRPr>
          </a:p>
          <a:p>
            <a:pPr marL="457200" lvl="0" indent="-381000" algn="l" rtl="0">
              <a:spcBef>
                <a:spcPts val="1000"/>
              </a:spcBef>
              <a:spcAft>
                <a:spcPts val="0"/>
              </a:spcAft>
              <a:buSzPts val="2400"/>
              <a:buAutoNum type="arabicPeriod"/>
            </a:pPr>
            <a:r>
              <a:rPr lang="es-ES" sz="2400" dirty="0">
                <a:latin typeface="+mn-lt"/>
              </a:rPr>
              <a:t>Administrar eficiente y justa (</a:t>
            </a:r>
            <a:r>
              <a:rPr lang="es-ES" sz="2400" dirty="0" err="1">
                <a:latin typeface="+mn-lt"/>
              </a:rPr>
              <a:t>fair</a:t>
            </a:r>
            <a:r>
              <a:rPr lang="es-ES" sz="2400" dirty="0">
                <a:latin typeface="+mn-lt"/>
              </a:rPr>
              <a:t>) </a:t>
            </a:r>
            <a:r>
              <a:rPr lang="es-ES" sz="2400" b="1" dirty="0">
                <a:solidFill>
                  <a:schemeClr val="accent1"/>
                </a:solidFill>
                <a:latin typeface="+mn-lt"/>
              </a:rPr>
              <a:t>recursos</a:t>
            </a:r>
            <a:r>
              <a:rPr lang="es-ES" sz="2400" dirty="0">
                <a:latin typeface="+mn-lt"/>
              </a:rPr>
              <a:t>.</a:t>
            </a:r>
            <a:endParaRPr sz="2400" dirty="0">
              <a:latin typeface="+mn-lt"/>
            </a:endParaRPr>
          </a:p>
          <a:p>
            <a:pPr marL="45720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sz="2400" dirty="0">
              <a:latin typeface="+mn-lt"/>
            </a:endParaRPr>
          </a:p>
          <a:p>
            <a:pPr marL="0" lvl="0" indent="0" algn="l" rtl="0">
              <a:spcBef>
                <a:spcPts val="1000"/>
              </a:spcBef>
              <a:spcAft>
                <a:spcPts val="0"/>
              </a:spcAft>
              <a:buNone/>
            </a:pPr>
            <a:endParaRPr sz="2400" dirty="0">
              <a:latin typeface="+mn-lt"/>
            </a:endParaRPr>
          </a:p>
          <a:p>
            <a:pPr marL="457200" lvl="0" indent="0" algn="l" rtl="0">
              <a:spcBef>
                <a:spcPts val="1000"/>
              </a:spcBef>
              <a:spcAft>
                <a:spcPts val="0"/>
              </a:spcAft>
              <a:buNone/>
            </a:pPr>
            <a:endParaRPr sz="2400" dirty="0">
              <a:latin typeface="+mn-lt"/>
            </a:endParaRPr>
          </a:p>
          <a:p>
            <a:pPr marL="457200" lvl="0" indent="-381000" algn="l" rtl="0">
              <a:spcBef>
                <a:spcPts val="1000"/>
              </a:spcBef>
              <a:spcAft>
                <a:spcPts val="0"/>
              </a:spcAft>
              <a:buSzPts val="2400"/>
              <a:buAutoNum type="arabicPeriod"/>
            </a:pPr>
            <a:r>
              <a:rPr lang="es-ES" sz="2400" dirty="0">
                <a:latin typeface="+mn-lt"/>
              </a:rPr>
              <a:t>Se encarga de controlar la ejecución de programas</a:t>
            </a:r>
            <a:endParaRPr sz="2400" dirty="0">
              <a:latin typeface="+mn-lt"/>
            </a:endParaRPr>
          </a:p>
          <a:p>
            <a:pPr marL="914400" lvl="1" indent="-368300" algn="l" rtl="0">
              <a:spcBef>
                <a:spcPts val="0"/>
              </a:spcBef>
              <a:spcAft>
                <a:spcPts val="0"/>
              </a:spcAft>
              <a:buSzPts val="2200"/>
              <a:buChar char="○"/>
            </a:pPr>
            <a:r>
              <a:rPr lang="es-ES" b="1" dirty="0">
                <a:solidFill>
                  <a:srgbClr val="FF0000"/>
                </a:solidFill>
                <a:latin typeface="+mn-lt"/>
              </a:rPr>
              <a:t>Previene</a:t>
            </a:r>
            <a:r>
              <a:rPr lang="es-ES" dirty="0">
                <a:latin typeface="+mn-lt"/>
              </a:rPr>
              <a:t> errores.</a:t>
            </a:r>
            <a:endParaRPr dirty="0">
              <a:latin typeface="+mn-lt"/>
            </a:endParaRPr>
          </a:p>
          <a:p>
            <a:pPr marL="914400" lvl="1" indent="-368300" algn="l" rtl="0">
              <a:spcBef>
                <a:spcPts val="0"/>
              </a:spcBef>
              <a:spcAft>
                <a:spcPts val="0"/>
              </a:spcAft>
              <a:buSzPts val="2200"/>
              <a:buChar char="○"/>
            </a:pPr>
            <a:r>
              <a:rPr lang="es-ES" dirty="0">
                <a:latin typeface="+mn-lt"/>
              </a:rPr>
              <a:t>Evita el </a:t>
            </a:r>
            <a:r>
              <a:rPr lang="es-ES" b="1" dirty="0">
                <a:solidFill>
                  <a:srgbClr val="FF0000"/>
                </a:solidFill>
                <a:latin typeface="+mn-lt"/>
              </a:rPr>
              <a:t>uso inadecuado</a:t>
            </a:r>
            <a:r>
              <a:rPr lang="es-ES" dirty="0">
                <a:latin typeface="+mn-lt"/>
              </a:rPr>
              <a:t> del sistema de computo</a:t>
            </a:r>
            <a:endParaRPr dirty="0">
              <a:latin typeface="+mn-lt"/>
            </a:endParaRPr>
          </a:p>
          <a:p>
            <a:pPr marL="0" lvl="0" indent="0" algn="l" rtl="0">
              <a:spcBef>
                <a:spcPts val="1000"/>
              </a:spcBef>
              <a:spcAft>
                <a:spcPts val="0"/>
              </a:spcAft>
              <a:buClr>
                <a:schemeClr val="dk1"/>
              </a:buClr>
              <a:buSzPts val="1100"/>
              <a:buFont typeface="Arial"/>
              <a:buNone/>
            </a:pPr>
            <a:endParaRPr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pic>
        <p:nvPicPr>
          <p:cNvPr id="311" name="Google Shape;311;p34"/>
          <p:cNvPicPr preferRelativeResize="0"/>
          <p:nvPr/>
        </p:nvPicPr>
        <p:blipFill>
          <a:blip r:embed="rId3">
            <a:alphaModFix/>
          </a:blip>
          <a:stretch>
            <a:fillRect/>
          </a:stretch>
        </p:blipFill>
        <p:spPr>
          <a:xfrm>
            <a:off x="3260363" y="2098913"/>
            <a:ext cx="5671275" cy="2786175"/>
          </a:xfrm>
          <a:prstGeom prst="rect">
            <a:avLst/>
          </a:prstGeom>
          <a:noFill/>
          <a:ln>
            <a:noFill/>
          </a:ln>
        </p:spPr>
      </p:pic>
      <p:sp>
        <p:nvSpPr>
          <p:cNvPr id="312" name="Google Shape;312;p34"/>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5"/>
          <p:cNvSpPr txBox="1">
            <a:spLocks noGrp="1"/>
          </p:cNvSpPr>
          <p:nvPr>
            <p:ph type="title"/>
          </p:nvPr>
        </p:nvSpPr>
        <p:spPr>
          <a:xfrm>
            <a:off x="568036" y="96038"/>
            <a:ext cx="865261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Definición de Sistema Operativo</a:t>
            </a:r>
            <a:endParaRPr dirty="0">
              <a:latin typeface="+mj-lt"/>
            </a:endParaRPr>
          </a:p>
        </p:txBody>
      </p:sp>
      <p:sp>
        <p:nvSpPr>
          <p:cNvPr id="318" name="Google Shape;318;p35"/>
          <p:cNvSpPr txBox="1">
            <a:spLocks noGrp="1"/>
          </p:cNvSpPr>
          <p:nvPr>
            <p:ph type="body" idx="1"/>
          </p:nvPr>
        </p:nvSpPr>
        <p:spPr>
          <a:xfrm>
            <a:off x="568036" y="784600"/>
            <a:ext cx="11342864" cy="5387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s-ES" dirty="0">
                <a:latin typeface="+mn-lt"/>
              </a:rPr>
              <a:t>No hay una definición universalmente aceptada:</a:t>
            </a:r>
            <a:endParaRPr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sp>
        <p:nvSpPr>
          <p:cNvPr id="319" name="Google Shape;319;p35"/>
          <p:cNvSpPr txBox="1"/>
          <p:nvPr/>
        </p:nvSpPr>
        <p:spPr>
          <a:xfrm>
            <a:off x="733355" y="6135275"/>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dirty="0"/>
              <a:t>Imagen tomada de</a:t>
            </a:r>
            <a:r>
              <a:rPr lang="es-ES" sz="1000" dirty="0"/>
              <a:t>: </a:t>
            </a:r>
            <a:r>
              <a:rPr lang="es-ES" sz="1000" dirty="0" err="1"/>
              <a:t>Operating</a:t>
            </a:r>
            <a:r>
              <a:rPr lang="es-ES" sz="1000" dirty="0"/>
              <a:t> </a:t>
            </a:r>
            <a:r>
              <a:rPr lang="es-ES" sz="1000" dirty="0" err="1"/>
              <a:t>Systems</a:t>
            </a:r>
            <a:r>
              <a:rPr lang="es-ES" sz="1000" dirty="0"/>
              <a:t> </a:t>
            </a:r>
            <a:r>
              <a:rPr lang="es-ES" sz="1000" dirty="0" err="1"/>
              <a:t>Concepts</a:t>
            </a:r>
            <a:r>
              <a:rPr lang="es-ES" sz="1000" dirty="0"/>
              <a:t> (</a:t>
            </a:r>
            <a:r>
              <a:rPr lang="es-ES" sz="1000" dirty="0" err="1"/>
              <a:t>Silberschatz</a:t>
            </a:r>
            <a:r>
              <a:rPr lang="es-ES" sz="1000" dirty="0"/>
              <a:t>, </a:t>
            </a:r>
            <a:r>
              <a:rPr lang="es-ES" sz="1000" dirty="0" err="1"/>
              <a:t>Gagne</a:t>
            </a:r>
            <a:r>
              <a:rPr lang="es-ES" sz="1000" dirty="0"/>
              <a:t>, </a:t>
            </a:r>
            <a:r>
              <a:rPr lang="es-ES" sz="1000" dirty="0" err="1"/>
              <a:t>Galvin</a:t>
            </a:r>
            <a:r>
              <a:rPr lang="es-ES" sz="1000" dirty="0"/>
              <a:t>)</a:t>
            </a:r>
            <a:endParaRPr sz="1000" dirty="0"/>
          </a:p>
        </p:txBody>
      </p:sp>
      <p:sp>
        <p:nvSpPr>
          <p:cNvPr id="320" name="Google Shape;320;p35"/>
          <p:cNvSpPr txBox="1"/>
          <p:nvPr/>
        </p:nvSpPr>
        <p:spPr>
          <a:xfrm>
            <a:off x="2946300" y="1727825"/>
            <a:ext cx="8964600" cy="16977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s-ES" sz="2800" b="1" i="1" dirty="0">
                <a:solidFill>
                  <a:schemeClr val="dk1"/>
                </a:solidFill>
                <a:latin typeface="Times New Roman"/>
                <a:ea typeface="Times New Roman"/>
                <a:cs typeface="Times New Roman"/>
                <a:sym typeface="Times New Roman"/>
              </a:rPr>
              <a:t>Tanenbaum</a:t>
            </a:r>
            <a:r>
              <a:rPr lang="es-ES" sz="2800" b="1" dirty="0">
                <a:solidFill>
                  <a:schemeClr val="dk1"/>
                </a:solidFill>
                <a:latin typeface="Times New Roman"/>
                <a:ea typeface="Times New Roman"/>
                <a:cs typeface="Times New Roman"/>
                <a:sym typeface="Times New Roman"/>
              </a:rPr>
              <a:t>:</a:t>
            </a:r>
            <a:endParaRPr sz="2800" b="1" dirty="0">
              <a:solidFill>
                <a:schemeClr val="dk1"/>
              </a:solidFill>
              <a:latin typeface="Times New Roman"/>
              <a:ea typeface="Times New Roman"/>
              <a:cs typeface="Times New Roman"/>
              <a:sym typeface="Times New Roman"/>
            </a:endParaRPr>
          </a:p>
          <a:p>
            <a:pPr marL="0" lvl="0" indent="0" algn="l" rtl="0">
              <a:spcBef>
                <a:spcPts val="480"/>
              </a:spcBef>
              <a:spcAft>
                <a:spcPts val="0"/>
              </a:spcAft>
              <a:buNone/>
            </a:pPr>
            <a:r>
              <a:rPr lang="es-ES" sz="2200" i="1" dirty="0" err="1">
                <a:solidFill>
                  <a:schemeClr val="dk1"/>
                </a:solidFill>
                <a:latin typeface="Times New Roman"/>
                <a:ea typeface="Times New Roman"/>
                <a:cs typeface="Times New Roman"/>
                <a:sym typeface="Times New Roman"/>
              </a:rPr>
              <a:t>An</a:t>
            </a:r>
            <a:r>
              <a:rPr lang="es-ES" sz="2200" i="1" dirty="0">
                <a:solidFill>
                  <a:schemeClr val="dk1"/>
                </a:solidFill>
                <a:latin typeface="Times New Roman"/>
                <a:ea typeface="Times New Roman"/>
                <a:cs typeface="Times New Roman"/>
                <a:sym typeface="Times New Roman"/>
              </a:rPr>
              <a:t> OS </a:t>
            </a:r>
            <a:r>
              <a:rPr lang="es-ES" sz="2200" i="1" dirty="0" err="1">
                <a:solidFill>
                  <a:schemeClr val="dk1"/>
                </a:solidFill>
                <a:latin typeface="Times New Roman"/>
                <a:ea typeface="Times New Roman"/>
                <a:cs typeface="Times New Roman"/>
                <a:sym typeface="Times New Roman"/>
              </a:rPr>
              <a:t>is</a:t>
            </a:r>
            <a:r>
              <a:rPr lang="es-ES" sz="2200" i="1" dirty="0">
                <a:solidFill>
                  <a:schemeClr val="dk1"/>
                </a:solidFill>
                <a:latin typeface="Times New Roman"/>
                <a:ea typeface="Times New Roman"/>
                <a:cs typeface="Times New Roman"/>
                <a:sym typeface="Times New Roman"/>
              </a:rPr>
              <a:t> a software </a:t>
            </a:r>
            <a:r>
              <a:rPr lang="es-ES" sz="2200" i="1" dirty="0" err="1">
                <a:solidFill>
                  <a:schemeClr val="dk1"/>
                </a:solidFill>
                <a:latin typeface="Times New Roman"/>
                <a:ea typeface="Times New Roman"/>
                <a:cs typeface="Times New Roman"/>
                <a:sym typeface="Times New Roman"/>
              </a:rPr>
              <a:t>that</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performs</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two</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essentially</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unrelated</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functions</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providing</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application</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programmers</a:t>
            </a:r>
            <a:r>
              <a:rPr lang="es-ES" sz="2200" i="1" dirty="0">
                <a:solidFill>
                  <a:schemeClr val="dk1"/>
                </a:solidFill>
                <a:latin typeface="Times New Roman"/>
                <a:ea typeface="Times New Roman"/>
                <a:cs typeface="Times New Roman"/>
                <a:sym typeface="Times New Roman"/>
              </a:rPr>
              <a:t> a </a:t>
            </a:r>
            <a:r>
              <a:rPr lang="es-ES" sz="2200" b="1" i="1" dirty="0" err="1">
                <a:solidFill>
                  <a:srgbClr val="3A81BA"/>
                </a:solidFill>
                <a:latin typeface="Times New Roman"/>
                <a:ea typeface="Times New Roman"/>
                <a:cs typeface="Times New Roman"/>
                <a:sym typeface="Times New Roman"/>
              </a:rPr>
              <a:t>clean</a:t>
            </a:r>
            <a:r>
              <a:rPr lang="es-ES" sz="2200" b="1" i="1" dirty="0">
                <a:solidFill>
                  <a:srgbClr val="3A81BA"/>
                </a:solidFill>
                <a:latin typeface="Times New Roman"/>
                <a:ea typeface="Times New Roman"/>
                <a:cs typeface="Times New Roman"/>
                <a:sym typeface="Times New Roman"/>
              </a:rPr>
              <a:t> </a:t>
            </a:r>
            <a:r>
              <a:rPr lang="es-ES" sz="2200" b="1" i="1" dirty="0" err="1">
                <a:solidFill>
                  <a:srgbClr val="3A81BA"/>
                </a:solidFill>
                <a:latin typeface="Times New Roman"/>
                <a:ea typeface="Times New Roman"/>
                <a:cs typeface="Times New Roman"/>
                <a:sym typeface="Times New Roman"/>
              </a:rPr>
              <a:t>abstract</a:t>
            </a:r>
            <a:r>
              <a:rPr lang="es-ES" sz="2200" b="1" i="1" dirty="0">
                <a:solidFill>
                  <a:srgbClr val="3A81BA"/>
                </a:solidFill>
                <a:latin typeface="Times New Roman"/>
                <a:ea typeface="Times New Roman"/>
                <a:cs typeface="Times New Roman"/>
                <a:sym typeface="Times New Roman"/>
              </a:rPr>
              <a:t> set </a:t>
            </a:r>
            <a:r>
              <a:rPr lang="es-ES" sz="2200" i="1" dirty="0" err="1">
                <a:solidFill>
                  <a:schemeClr val="dk1"/>
                </a:solidFill>
                <a:latin typeface="Times New Roman"/>
                <a:ea typeface="Times New Roman"/>
                <a:cs typeface="Times New Roman"/>
                <a:sym typeface="Times New Roman"/>
              </a:rPr>
              <a:t>of</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resources</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instead</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of</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the</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messy</a:t>
            </a:r>
            <a:r>
              <a:rPr lang="es-ES" sz="2200" i="1" dirty="0">
                <a:solidFill>
                  <a:schemeClr val="dk1"/>
                </a:solidFill>
                <a:latin typeface="Times New Roman"/>
                <a:ea typeface="Times New Roman"/>
                <a:cs typeface="Times New Roman"/>
                <a:sym typeface="Times New Roman"/>
              </a:rPr>
              <a:t> hardware </a:t>
            </a:r>
            <a:r>
              <a:rPr lang="es-ES" sz="2200" i="1" dirty="0" err="1">
                <a:solidFill>
                  <a:schemeClr val="dk1"/>
                </a:solidFill>
                <a:latin typeface="Times New Roman"/>
                <a:ea typeface="Times New Roman"/>
                <a:cs typeface="Times New Roman"/>
                <a:sym typeface="Times New Roman"/>
              </a:rPr>
              <a:t>ones</a:t>
            </a:r>
            <a:r>
              <a:rPr lang="es-ES" sz="2200" i="1" dirty="0">
                <a:solidFill>
                  <a:schemeClr val="dk1"/>
                </a:solidFill>
                <a:latin typeface="Times New Roman"/>
                <a:ea typeface="Times New Roman"/>
                <a:cs typeface="Times New Roman"/>
                <a:sym typeface="Times New Roman"/>
              </a:rPr>
              <a:t> and </a:t>
            </a:r>
            <a:r>
              <a:rPr lang="es-ES" sz="2200" b="1" i="1" dirty="0" err="1">
                <a:solidFill>
                  <a:srgbClr val="963334"/>
                </a:solidFill>
                <a:latin typeface="Times New Roman"/>
                <a:ea typeface="Times New Roman"/>
                <a:cs typeface="Times New Roman"/>
                <a:sym typeface="Times New Roman"/>
              </a:rPr>
              <a:t>managing</a:t>
            </a:r>
            <a:r>
              <a:rPr lang="es-ES" sz="2200" i="1" dirty="0">
                <a:solidFill>
                  <a:schemeClr val="dk1"/>
                </a:solidFill>
                <a:latin typeface="Times New Roman"/>
                <a:ea typeface="Times New Roman"/>
                <a:cs typeface="Times New Roman"/>
                <a:sym typeface="Times New Roman"/>
              </a:rPr>
              <a:t> </a:t>
            </a:r>
            <a:r>
              <a:rPr lang="es-ES" sz="2200" i="1" dirty="0" err="1">
                <a:solidFill>
                  <a:schemeClr val="dk1"/>
                </a:solidFill>
                <a:latin typeface="Times New Roman"/>
                <a:ea typeface="Times New Roman"/>
                <a:cs typeface="Times New Roman"/>
                <a:sym typeface="Times New Roman"/>
              </a:rPr>
              <a:t>these</a:t>
            </a:r>
            <a:r>
              <a:rPr lang="es-ES" sz="2200" i="1" dirty="0">
                <a:solidFill>
                  <a:schemeClr val="dk1"/>
                </a:solidFill>
                <a:latin typeface="Times New Roman"/>
                <a:ea typeface="Times New Roman"/>
                <a:cs typeface="Times New Roman"/>
                <a:sym typeface="Times New Roman"/>
              </a:rPr>
              <a:t> hardware </a:t>
            </a:r>
            <a:r>
              <a:rPr lang="es-ES" sz="2200" i="1" dirty="0" err="1">
                <a:solidFill>
                  <a:schemeClr val="dk1"/>
                </a:solidFill>
                <a:latin typeface="Times New Roman"/>
                <a:ea typeface="Times New Roman"/>
                <a:cs typeface="Times New Roman"/>
                <a:sym typeface="Times New Roman"/>
              </a:rPr>
              <a:t>resources</a:t>
            </a:r>
            <a:r>
              <a:rPr lang="es-ES" sz="2200" i="1" dirty="0">
                <a:solidFill>
                  <a:schemeClr val="dk1"/>
                </a:solidFill>
                <a:latin typeface="Times New Roman"/>
                <a:ea typeface="Times New Roman"/>
                <a:cs typeface="Times New Roman"/>
                <a:sym typeface="Times New Roman"/>
              </a:rPr>
              <a:t>” </a:t>
            </a:r>
            <a:r>
              <a:rPr lang="es-ES" sz="2200" dirty="0">
                <a:solidFill>
                  <a:schemeClr val="dk1"/>
                </a:solidFill>
                <a:latin typeface="Times New Roman"/>
                <a:ea typeface="Times New Roman"/>
                <a:cs typeface="Times New Roman"/>
                <a:sym typeface="Times New Roman"/>
              </a:rPr>
              <a:t> </a:t>
            </a: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p>
        </p:txBody>
      </p:sp>
      <p:pic>
        <p:nvPicPr>
          <p:cNvPr id="321" name="Google Shape;321;p35"/>
          <p:cNvPicPr preferRelativeResize="0"/>
          <p:nvPr/>
        </p:nvPicPr>
        <p:blipFill>
          <a:blip r:embed="rId3">
            <a:alphaModFix/>
          </a:blip>
          <a:stretch>
            <a:fillRect/>
          </a:stretch>
        </p:blipFill>
        <p:spPr>
          <a:xfrm>
            <a:off x="1451575" y="1622025"/>
            <a:ext cx="1272850" cy="1909300"/>
          </a:xfrm>
          <a:prstGeom prst="rect">
            <a:avLst/>
          </a:prstGeom>
          <a:noFill/>
          <a:ln>
            <a:noFill/>
          </a:ln>
        </p:spPr>
      </p:pic>
      <p:sp>
        <p:nvSpPr>
          <p:cNvPr id="322" name="Google Shape;322;p35"/>
          <p:cNvSpPr txBox="1"/>
          <p:nvPr/>
        </p:nvSpPr>
        <p:spPr>
          <a:xfrm>
            <a:off x="3098700" y="3739550"/>
            <a:ext cx="8964600" cy="16977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s-ES" sz="2800" b="1" i="1">
                <a:solidFill>
                  <a:schemeClr val="dk1"/>
                </a:solidFill>
                <a:latin typeface="Times New Roman"/>
                <a:ea typeface="Times New Roman"/>
                <a:cs typeface="Times New Roman"/>
                <a:sym typeface="Times New Roman"/>
              </a:rPr>
              <a:t>Arpaci-Dusseau</a:t>
            </a:r>
            <a:r>
              <a:rPr lang="es-ES" sz="2800" b="1">
                <a:solidFill>
                  <a:schemeClr val="dk1"/>
                </a:solidFill>
                <a:latin typeface="Times New Roman"/>
                <a:ea typeface="Times New Roman"/>
                <a:cs typeface="Times New Roman"/>
                <a:sym typeface="Times New Roman"/>
              </a:rPr>
              <a:t>:</a:t>
            </a:r>
            <a:endParaRPr sz="2800" b="1">
              <a:solidFill>
                <a:schemeClr val="dk1"/>
              </a:solidFill>
              <a:latin typeface="Times New Roman"/>
              <a:ea typeface="Times New Roman"/>
              <a:cs typeface="Times New Roman"/>
              <a:sym typeface="Times New Roman"/>
            </a:endParaRPr>
          </a:p>
          <a:p>
            <a:pPr marL="0" lvl="0" indent="0" algn="l" rtl="0">
              <a:spcBef>
                <a:spcPts val="480"/>
              </a:spcBef>
              <a:spcAft>
                <a:spcPts val="0"/>
              </a:spcAft>
              <a:buNone/>
            </a:pPr>
            <a:r>
              <a:rPr lang="es-ES" sz="2100" i="1">
                <a:solidFill>
                  <a:schemeClr val="dk1"/>
                </a:solidFill>
                <a:latin typeface="Times New Roman"/>
                <a:ea typeface="Times New Roman"/>
                <a:cs typeface="Times New Roman"/>
                <a:sym typeface="Times New Roman"/>
              </a:rPr>
              <a:t>An OS is a body of software that “is responsible for making it easy to run programs, allowing programs to share memory, enabling programs to interact with devices, …, as it is in charge of making sure the system operates </a:t>
            </a:r>
            <a:r>
              <a:rPr lang="es-ES" sz="2100" b="1" i="1">
                <a:solidFill>
                  <a:srgbClr val="963334"/>
                </a:solidFill>
                <a:latin typeface="Times New Roman"/>
                <a:ea typeface="Times New Roman"/>
                <a:cs typeface="Times New Roman"/>
                <a:sym typeface="Times New Roman"/>
              </a:rPr>
              <a:t>correctly</a:t>
            </a:r>
            <a:r>
              <a:rPr lang="es-ES" sz="2100" i="1">
                <a:solidFill>
                  <a:schemeClr val="dk1"/>
                </a:solidFill>
                <a:latin typeface="Times New Roman"/>
                <a:ea typeface="Times New Roman"/>
                <a:cs typeface="Times New Roman"/>
                <a:sym typeface="Times New Roman"/>
              </a:rPr>
              <a:t> and </a:t>
            </a:r>
            <a:r>
              <a:rPr lang="es-ES" sz="2100" b="1" i="1">
                <a:solidFill>
                  <a:srgbClr val="963334"/>
                </a:solidFill>
                <a:latin typeface="Times New Roman"/>
                <a:ea typeface="Times New Roman"/>
                <a:cs typeface="Times New Roman"/>
                <a:sym typeface="Times New Roman"/>
              </a:rPr>
              <a:t>efficiently</a:t>
            </a:r>
            <a:r>
              <a:rPr lang="es-ES" sz="2100" i="1">
                <a:solidFill>
                  <a:schemeClr val="dk1"/>
                </a:solidFill>
                <a:latin typeface="Times New Roman"/>
                <a:ea typeface="Times New Roman"/>
                <a:cs typeface="Times New Roman"/>
                <a:sym typeface="Times New Roman"/>
              </a:rPr>
              <a:t> in an </a:t>
            </a:r>
            <a:r>
              <a:rPr lang="es-ES" sz="2100" b="1" i="1">
                <a:solidFill>
                  <a:srgbClr val="3A81BA"/>
                </a:solidFill>
                <a:latin typeface="Times New Roman"/>
                <a:ea typeface="Times New Roman"/>
                <a:cs typeface="Times New Roman"/>
                <a:sym typeface="Times New Roman"/>
              </a:rPr>
              <a:t>easy-to-use manner</a:t>
            </a:r>
            <a:r>
              <a:rPr lang="es-ES" sz="2100" i="1">
                <a:solidFill>
                  <a:schemeClr val="dk1"/>
                </a:solidFill>
                <a:latin typeface="Times New Roman"/>
                <a:ea typeface="Times New Roman"/>
                <a:cs typeface="Times New Roman"/>
                <a:sym typeface="Times New Roman"/>
              </a:rPr>
              <a:t>”</a:t>
            </a:r>
            <a:endParaRPr sz="2100" i="1">
              <a:solidFill>
                <a:schemeClr val="dk1"/>
              </a:solidFill>
              <a:latin typeface="Times New Roman"/>
              <a:ea typeface="Times New Roman"/>
              <a:cs typeface="Times New Roman"/>
              <a:sym typeface="Times New Roman"/>
            </a:endParaRPr>
          </a:p>
          <a:p>
            <a:pPr marL="0" lvl="0" indent="0" algn="l" rtl="0">
              <a:spcBef>
                <a:spcPts val="480"/>
              </a:spcBef>
              <a:spcAft>
                <a:spcPts val="0"/>
              </a:spcAft>
              <a:buNone/>
            </a:pPr>
            <a:endParaRPr sz="2200" i="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pic>
        <p:nvPicPr>
          <p:cNvPr id="323" name="Google Shape;323;p35"/>
          <p:cNvPicPr preferRelativeResize="0"/>
          <p:nvPr/>
        </p:nvPicPr>
        <p:blipFill>
          <a:blip r:embed="rId4">
            <a:alphaModFix/>
          </a:blip>
          <a:stretch>
            <a:fillRect/>
          </a:stretch>
        </p:blipFill>
        <p:spPr>
          <a:xfrm>
            <a:off x="1239150" y="4030812"/>
            <a:ext cx="1697700" cy="1697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335" name="Google Shape;335;p37"/>
          <p:cNvSpPr txBox="1">
            <a:spLocks noGrp="1"/>
          </p:cNvSpPr>
          <p:nvPr>
            <p:ph type="body" idx="1"/>
          </p:nvPr>
        </p:nvSpPr>
        <p:spPr>
          <a:xfrm>
            <a:off x="838200" y="1013201"/>
            <a:ext cx="105156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b="1">
                <a:solidFill>
                  <a:schemeClr val="accent1"/>
                </a:solidFill>
                <a:latin typeface="+mn-lt"/>
              </a:rPr>
              <a:t>Sistema operativo como máquina virtual</a:t>
            </a:r>
            <a:endParaRPr b="1">
              <a:solidFill>
                <a:schemeClr val="accent1"/>
              </a:solidFill>
              <a:latin typeface="+mn-lt"/>
            </a:endParaRPr>
          </a:p>
          <a:p>
            <a:pPr marL="457200" lvl="0" indent="-381000" algn="l" rtl="0">
              <a:lnSpc>
                <a:spcPct val="100000"/>
              </a:lnSpc>
              <a:spcBef>
                <a:spcPts val="480"/>
              </a:spcBef>
              <a:spcAft>
                <a:spcPts val="0"/>
              </a:spcAft>
              <a:buSzPts val="2400"/>
              <a:buFont typeface="Times New Roman"/>
              <a:buChar char="●"/>
            </a:pPr>
            <a:r>
              <a:rPr lang="es-ES" sz="2400">
                <a:latin typeface="+mn-lt"/>
              </a:rPr>
              <a:t>El sistema operativo toma un </a:t>
            </a:r>
            <a:r>
              <a:rPr lang="es-ES" sz="2400" b="1">
                <a:solidFill>
                  <a:srgbClr val="FF0000"/>
                </a:solidFill>
                <a:latin typeface="+mn-lt"/>
              </a:rPr>
              <a:t>recurso físico</a:t>
            </a:r>
            <a:r>
              <a:rPr lang="es-ES" sz="2400">
                <a:latin typeface="+mn-lt"/>
              </a:rPr>
              <a:t> y lo transforma en una </a:t>
            </a:r>
            <a:r>
              <a:rPr lang="es-ES" sz="2400" b="1">
                <a:solidFill>
                  <a:srgbClr val="8BAB42"/>
                </a:solidFill>
                <a:latin typeface="+mn-lt"/>
              </a:rPr>
              <a:t>forma virtual</a:t>
            </a:r>
            <a:r>
              <a:rPr lang="es-ES" sz="2400">
                <a:solidFill>
                  <a:srgbClr val="8BAB42"/>
                </a:solidFill>
                <a:latin typeface="+mn-lt"/>
              </a:rPr>
              <a:t> </a:t>
            </a:r>
            <a:r>
              <a:rPr lang="es-ES" sz="2400">
                <a:latin typeface="+mn-lt"/>
              </a:rPr>
              <a:t>de sí mismo.</a:t>
            </a:r>
            <a:endParaRPr sz="2400">
              <a:latin typeface="+mn-lt"/>
            </a:endParaRPr>
          </a:p>
          <a:p>
            <a:pPr marL="0" lvl="0" indent="0" algn="l" rtl="0">
              <a:lnSpc>
                <a:spcPct val="100000"/>
              </a:lnSpc>
              <a:spcBef>
                <a:spcPts val="480"/>
              </a:spcBef>
              <a:spcAft>
                <a:spcPts val="0"/>
              </a:spcAft>
              <a:buNone/>
            </a:pPr>
            <a:endParaRPr sz="2400">
              <a:latin typeface="+mn-lt"/>
            </a:endParaRPr>
          </a:p>
          <a:p>
            <a:pPr marL="0" lvl="0" indent="0" algn="l" rtl="0">
              <a:lnSpc>
                <a:spcPct val="100000"/>
              </a:lnSpc>
              <a:spcBef>
                <a:spcPts val="480"/>
              </a:spcBef>
              <a:spcAft>
                <a:spcPts val="0"/>
              </a:spcAft>
              <a:buNone/>
            </a:pPr>
            <a:endParaRPr sz="2400">
              <a:latin typeface="+mn-lt"/>
            </a:endParaRPr>
          </a:p>
          <a:p>
            <a:pPr marL="0" lvl="0" indent="0" algn="l" rtl="0">
              <a:lnSpc>
                <a:spcPct val="100000"/>
              </a:lnSpc>
              <a:spcBef>
                <a:spcPts val="480"/>
              </a:spcBef>
              <a:spcAft>
                <a:spcPts val="0"/>
              </a:spcAft>
              <a:buNone/>
            </a:pPr>
            <a:endParaRPr sz="2400">
              <a:latin typeface="+mn-lt"/>
            </a:endParaRPr>
          </a:p>
          <a:p>
            <a:pPr marL="0" lvl="0" indent="0" algn="l" rtl="0">
              <a:lnSpc>
                <a:spcPct val="100000"/>
              </a:lnSpc>
              <a:spcBef>
                <a:spcPts val="480"/>
              </a:spcBef>
              <a:spcAft>
                <a:spcPts val="0"/>
              </a:spcAft>
              <a:buNone/>
            </a:pPr>
            <a:endParaRPr sz="2400">
              <a:latin typeface="+mn-lt"/>
            </a:endParaRPr>
          </a:p>
          <a:p>
            <a:pPr marL="0" lvl="0" indent="0" algn="l" rtl="0">
              <a:lnSpc>
                <a:spcPct val="100000"/>
              </a:lnSpc>
              <a:spcBef>
                <a:spcPts val="480"/>
              </a:spcBef>
              <a:spcAft>
                <a:spcPts val="0"/>
              </a:spcAft>
              <a:buNone/>
            </a:pPr>
            <a:endParaRPr sz="2400">
              <a:latin typeface="+mn-lt"/>
            </a:endParaRPr>
          </a:p>
          <a:p>
            <a:pPr marL="457200" lvl="0" indent="-381000" algn="l" rtl="0">
              <a:lnSpc>
                <a:spcPct val="100000"/>
              </a:lnSpc>
              <a:spcBef>
                <a:spcPts val="480"/>
              </a:spcBef>
              <a:spcAft>
                <a:spcPts val="0"/>
              </a:spcAft>
              <a:buSzPts val="2400"/>
              <a:buFont typeface="Times New Roman"/>
              <a:buChar char="●"/>
            </a:pPr>
            <a:r>
              <a:rPr lang="es-ES" sz="2400">
                <a:latin typeface="+mn-lt"/>
              </a:rPr>
              <a:t>La forma virtual es más </a:t>
            </a:r>
            <a:r>
              <a:rPr lang="es-ES" sz="2400" b="1">
                <a:solidFill>
                  <a:srgbClr val="8BAB42"/>
                </a:solidFill>
                <a:latin typeface="+mn-lt"/>
              </a:rPr>
              <a:t>general</a:t>
            </a:r>
            <a:r>
              <a:rPr lang="es-ES" sz="2400">
                <a:latin typeface="+mn-lt"/>
              </a:rPr>
              <a:t>, </a:t>
            </a:r>
            <a:r>
              <a:rPr lang="es-ES" sz="2400" b="1">
                <a:solidFill>
                  <a:srgbClr val="57A7B5"/>
                </a:solidFill>
                <a:latin typeface="+mn-lt"/>
              </a:rPr>
              <a:t>potente</a:t>
            </a:r>
            <a:r>
              <a:rPr lang="es-ES" sz="2400">
                <a:latin typeface="+mn-lt"/>
              </a:rPr>
              <a:t> y </a:t>
            </a:r>
            <a:r>
              <a:rPr lang="es-ES" sz="2400" b="1">
                <a:solidFill>
                  <a:srgbClr val="8B81D2"/>
                </a:solidFill>
                <a:latin typeface="+mn-lt"/>
              </a:rPr>
              <a:t>fácil de usar</a:t>
            </a:r>
            <a:r>
              <a:rPr lang="es-ES" sz="2400">
                <a:latin typeface="+mn-lt"/>
              </a:rPr>
              <a:t>.</a:t>
            </a:r>
            <a:endParaRPr sz="2400">
              <a:latin typeface="+mn-lt"/>
            </a:endParaRPr>
          </a:p>
          <a:p>
            <a:pPr marL="0" lvl="0" indent="0" algn="l" rtl="0">
              <a:spcBef>
                <a:spcPts val="1000"/>
              </a:spcBef>
              <a:spcAft>
                <a:spcPts val="0"/>
              </a:spcAft>
              <a:buNone/>
            </a:pPr>
            <a:endParaRPr>
              <a:latin typeface="+mn-lt"/>
            </a:endParaRPr>
          </a:p>
          <a:p>
            <a:pPr marL="0" lvl="0" indent="0" algn="l" rtl="0">
              <a:spcBef>
                <a:spcPts val="1000"/>
              </a:spcBef>
              <a:spcAft>
                <a:spcPts val="0"/>
              </a:spcAft>
              <a:buNone/>
            </a:pPr>
            <a:endParaRPr>
              <a:latin typeface="+mn-lt"/>
            </a:endParaRPr>
          </a:p>
          <a:p>
            <a:pPr marL="457200" lvl="0" indent="0" algn="l" rtl="0">
              <a:spcBef>
                <a:spcPts val="1000"/>
              </a:spcBef>
              <a:spcAft>
                <a:spcPts val="0"/>
              </a:spcAft>
              <a:buNone/>
            </a:pPr>
            <a:endParaRPr>
              <a:latin typeface="+mn-lt"/>
            </a:endParaRPr>
          </a:p>
        </p:txBody>
      </p:sp>
      <p:pic>
        <p:nvPicPr>
          <p:cNvPr id="336" name="Google Shape;336;p37"/>
          <p:cNvPicPr preferRelativeResize="0"/>
          <p:nvPr/>
        </p:nvPicPr>
        <p:blipFill>
          <a:blip r:embed="rId3">
            <a:alphaModFix/>
          </a:blip>
          <a:stretch>
            <a:fillRect/>
          </a:stretch>
        </p:blipFill>
        <p:spPr>
          <a:xfrm>
            <a:off x="4007350" y="2673364"/>
            <a:ext cx="1021225" cy="1021225"/>
          </a:xfrm>
          <a:prstGeom prst="rect">
            <a:avLst/>
          </a:prstGeom>
          <a:noFill/>
          <a:ln>
            <a:noFill/>
          </a:ln>
        </p:spPr>
      </p:pic>
      <p:pic>
        <p:nvPicPr>
          <p:cNvPr id="337" name="Google Shape;337;p37"/>
          <p:cNvPicPr preferRelativeResize="0"/>
          <p:nvPr/>
        </p:nvPicPr>
        <p:blipFill>
          <a:blip r:embed="rId4">
            <a:alphaModFix/>
          </a:blip>
          <a:stretch>
            <a:fillRect/>
          </a:stretch>
        </p:blipFill>
        <p:spPr>
          <a:xfrm>
            <a:off x="5612948" y="2609349"/>
            <a:ext cx="1149300" cy="1149270"/>
          </a:xfrm>
          <a:prstGeom prst="rect">
            <a:avLst/>
          </a:prstGeom>
          <a:noFill/>
          <a:ln>
            <a:noFill/>
          </a:ln>
        </p:spPr>
      </p:pic>
      <p:pic>
        <p:nvPicPr>
          <p:cNvPr id="338" name="Google Shape;338;p37"/>
          <p:cNvPicPr preferRelativeResize="0"/>
          <p:nvPr/>
        </p:nvPicPr>
        <p:blipFill>
          <a:blip r:embed="rId5">
            <a:alphaModFix/>
          </a:blip>
          <a:stretch>
            <a:fillRect/>
          </a:stretch>
        </p:blipFill>
        <p:spPr>
          <a:xfrm>
            <a:off x="7427504" y="2609338"/>
            <a:ext cx="1267672" cy="949500"/>
          </a:xfrm>
          <a:prstGeom prst="rect">
            <a:avLst/>
          </a:prstGeom>
          <a:noFill/>
          <a:ln>
            <a:noFill/>
          </a:ln>
        </p:spPr>
      </p:pic>
      <p:sp>
        <p:nvSpPr>
          <p:cNvPr id="339" name="Google Shape;339;p37"/>
          <p:cNvSpPr txBox="1"/>
          <p:nvPr/>
        </p:nvSpPr>
        <p:spPr>
          <a:xfrm>
            <a:off x="1417075" y="2988700"/>
            <a:ext cx="2092800" cy="39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0000"/>
                </a:solidFill>
              </a:rPr>
              <a:t>Recurso físico</a:t>
            </a:r>
            <a:endParaRPr sz="2000" b="1">
              <a:solidFill>
                <a:srgbClr val="FF0000"/>
              </a:solidFill>
            </a:endParaRPr>
          </a:p>
        </p:txBody>
      </p:sp>
      <p:sp>
        <p:nvSpPr>
          <p:cNvPr id="340" name="Google Shape;340;p37"/>
          <p:cNvSpPr txBox="1"/>
          <p:nvPr/>
        </p:nvSpPr>
        <p:spPr>
          <a:xfrm>
            <a:off x="3668950" y="3758613"/>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Procesador</a:t>
            </a:r>
            <a:endParaRPr/>
          </a:p>
        </p:txBody>
      </p:sp>
      <p:sp>
        <p:nvSpPr>
          <p:cNvPr id="341" name="Google Shape;341;p37"/>
          <p:cNvSpPr txBox="1"/>
          <p:nvPr/>
        </p:nvSpPr>
        <p:spPr>
          <a:xfrm>
            <a:off x="5338600" y="3758613"/>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Memoria</a:t>
            </a:r>
            <a:endParaRPr/>
          </a:p>
        </p:txBody>
      </p:sp>
      <p:sp>
        <p:nvSpPr>
          <p:cNvPr id="342" name="Google Shape;342;p37"/>
          <p:cNvSpPr txBox="1"/>
          <p:nvPr/>
        </p:nvSpPr>
        <p:spPr>
          <a:xfrm>
            <a:off x="7212338" y="3758613"/>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Disco</a:t>
            </a:r>
            <a:endParaRPr/>
          </a:p>
        </p:txBody>
      </p:sp>
      <p:sp>
        <p:nvSpPr>
          <p:cNvPr id="343" name="Google Shape;343;p37"/>
          <p:cNvSpPr txBox="1"/>
          <p:nvPr/>
        </p:nvSpPr>
        <p:spPr>
          <a:xfrm>
            <a:off x="8910338" y="2760013"/>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2300" b="1"/>
              <a:t>. . .</a:t>
            </a:r>
            <a:endParaRPr sz="2300" b="1"/>
          </a:p>
        </p:txBody>
      </p:sp>
      <p:pic>
        <p:nvPicPr>
          <p:cNvPr id="344" name="Google Shape;344;p37"/>
          <p:cNvPicPr preferRelativeResize="0"/>
          <p:nvPr/>
        </p:nvPicPr>
        <p:blipFill>
          <a:blip r:embed="rId6">
            <a:alphaModFix/>
          </a:blip>
          <a:stretch>
            <a:fillRect/>
          </a:stretch>
        </p:blipFill>
        <p:spPr>
          <a:xfrm>
            <a:off x="3877825" y="5394725"/>
            <a:ext cx="1149300" cy="903735"/>
          </a:xfrm>
          <a:prstGeom prst="rect">
            <a:avLst/>
          </a:prstGeom>
          <a:noFill/>
          <a:ln>
            <a:noFill/>
          </a:ln>
        </p:spPr>
      </p:pic>
      <p:pic>
        <p:nvPicPr>
          <p:cNvPr id="345" name="Google Shape;345;p37"/>
          <p:cNvPicPr preferRelativeResize="0"/>
          <p:nvPr/>
        </p:nvPicPr>
        <p:blipFill>
          <a:blip r:embed="rId7">
            <a:alphaModFix/>
          </a:blip>
          <a:stretch>
            <a:fillRect/>
          </a:stretch>
        </p:blipFill>
        <p:spPr>
          <a:xfrm>
            <a:off x="7845525" y="5357657"/>
            <a:ext cx="1021225" cy="1231469"/>
          </a:xfrm>
          <a:prstGeom prst="rect">
            <a:avLst/>
          </a:prstGeom>
          <a:noFill/>
          <a:ln>
            <a:noFill/>
          </a:ln>
        </p:spPr>
      </p:pic>
      <p:grpSp>
        <p:nvGrpSpPr>
          <p:cNvPr id="346" name="Google Shape;346;p37"/>
          <p:cNvGrpSpPr/>
          <p:nvPr/>
        </p:nvGrpSpPr>
        <p:grpSpPr>
          <a:xfrm>
            <a:off x="6021000" y="5415500"/>
            <a:ext cx="567750" cy="808500"/>
            <a:chOff x="6021000" y="4729700"/>
            <a:chExt cx="567750" cy="808500"/>
          </a:xfrm>
        </p:grpSpPr>
        <p:sp>
          <p:nvSpPr>
            <p:cNvPr id="347" name="Google Shape;347;p37"/>
            <p:cNvSpPr/>
            <p:nvPr/>
          </p:nvSpPr>
          <p:spPr>
            <a:xfrm>
              <a:off x="6021000" y="4729700"/>
              <a:ext cx="565800" cy="808500"/>
            </a:xfrm>
            <a:prstGeom prst="rect">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7"/>
            <p:cNvSpPr/>
            <p:nvPr/>
          </p:nvSpPr>
          <p:spPr>
            <a:xfrm>
              <a:off x="6022950" y="4932550"/>
              <a:ext cx="565800" cy="1347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9" name="Google Shape;349;p37"/>
          <p:cNvSpPr txBox="1"/>
          <p:nvPr/>
        </p:nvSpPr>
        <p:spPr>
          <a:xfrm>
            <a:off x="1336575" y="5778088"/>
            <a:ext cx="2092800" cy="390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ES" sz="2000" b="1">
                <a:solidFill>
                  <a:srgbClr val="8BAB42"/>
                </a:solidFill>
                <a:latin typeface="Roboto"/>
                <a:ea typeface="Roboto"/>
                <a:cs typeface="Roboto"/>
                <a:sym typeface="Roboto"/>
              </a:rPr>
              <a:t>Forma Virtual</a:t>
            </a:r>
            <a:endParaRPr sz="2000" b="1">
              <a:solidFill>
                <a:srgbClr val="8BAB42"/>
              </a:solidFill>
              <a:latin typeface="Roboto"/>
              <a:ea typeface="Roboto"/>
              <a:cs typeface="Roboto"/>
              <a:sym typeface="Roboto"/>
            </a:endParaRPr>
          </a:p>
        </p:txBody>
      </p:sp>
      <p:sp>
        <p:nvSpPr>
          <p:cNvPr id="350" name="Google Shape;350;p37"/>
          <p:cNvSpPr txBox="1"/>
          <p:nvPr/>
        </p:nvSpPr>
        <p:spPr>
          <a:xfrm>
            <a:off x="3527275" y="6253288"/>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Proceso</a:t>
            </a:r>
            <a:endParaRPr/>
          </a:p>
        </p:txBody>
      </p:sp>
      <p:sp>
        <p:nvSpPr>
          <p:cNvPr id="351" name="Google Shape;351;p37"/>
          <p:cNvSpPr txBox="1"/>
          <p:nvPr/>
        </p:nvSpPr>
        <p:spPr>
          <a:xfrm>
            <a:off x="5455875" y="6248988"/>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Espacio de direccionamiento</a:t>
            </a:r>
            <a:endParaRPr/>
          </a:p>
        </p:txBody>
      </p:sp>
      <p:sp>
        <p:nvSpPr>
          <p:cNvPr id="352" name="Google Shape;352;p37"/>
          <p:cNvSpPr txBox="1"/>
          <p:nvPr/>
        </p:nvSpPr>
        <p:spPr>
          <a:xfrm>
            <a:off x="7419963" y="6348788"/>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a:t>Archivo</a:t>
            </a:r>
            <a:endParaRPr/>
          </a:p>
        </p:txBody>
      </p:sp>
      <p:sp>
        <p:nvSpPr>
          <p:cNvPr id="353" name="Google Shape;353;p37"/>
          <p:cNvSpPr txBox="1"/>
          <p:nvPr/>
        </p:nvSpPr>
        <p:spPr>
          <a:xfrm>
            <a:off x="9020063" y="5624450"/>
            <a:ext cx="1698000" cy="39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2300" b="1"/>
              <a:t>. . .</a:t>
            </a:r>
            <a:endParaRPr sz="23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9"/>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n-lt"/>
              </a:rPr>
              <a:t>Virtualización de recursos</a:t>
            </a:r>
            <a:endParaRPr dirty="0">
              <a:latin typeface="+mn-lt"/>
            </a:endParaRPr>
          </a:p>
        </p:txBody>
      </p:sp>
      <p:sp>
        <p:nvSpPr>
          <p:cNvPr id="369" name="Google Shape;369;p39"/>
          <p:cNvSpPr txBox="1">
            <a:spLocks noGrp="1"/>
          </p:cNvSpPr>
          <p:nvPr>
            <p:ph type="body" idx="1"/>
          </p:nvPr>
        </p:nvSpPr>
        <p:spPr>
          <a:xfrm>
            <a:off x="916650" y="932700"/>
            <a:ext cx="6015900" cy="51543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b="1" dirty="0">
                <a:solidFill>
                  <a:schemeClr val="accent1"/>
                </a:solidFill>
                <a:latin typeface="+mn-lt"/>
              </a:rPr>
              <a:t>Llamadas al sistema</a:t>
            </a:r>
            <a:endParaRPr b="1" dirty="0">
              <a:solidFill>
                <a:schemeClr val="accent1"/>
              </a:solidFill>
              <a:latin typeface="+mn-lt"/>
            </a:endParaRPr>
          </a:p>
          <a:p>
            <a:pPr marL="457200" lvl="0" indent="-381000" algn="l" rtl="0">
              <a:lnSpc>
                <a:spcPct val="100000"/>
              </a:lnSpc>
              <a:spcBef>
                <a:spcPts val="480"/>
              </a:spcBef>
              <a:spcAft>
                <a:spcPts val="0"/>
              </a:spcAft>
              <a:buSzPts val="2400"/>
              <a:buFont typeface="Times New Roman"/>
              <a:buChar char="●"/>
            </a:pPr>
            <a:r>
              <a:rPr lang="es-ES" sz="2400" dirty="0">
                <a:latin typeface="+mn-lt"/>
              </a:rPr>
              <a:t>Las </a:t>
            </a:r>
            <a:r>
              <a:rPr lang="es-ES" sz="2400" b="1" dirty="0">
                <a:latin typeface="+mn-lt"/>
              </a:rPr>
              <a:t>llamadas al sistema</a:t>
            </a:r>
            <a:r>
              <a:rPr lang="es-ES" sz="2400" dirty="0">
                <a:latin typeface="+mn-lt"/>
              </a:rPr>
              <a:t> permiten que el usuario pueda</a:t>
            </a:r>
            <a:r>
              <a:rPr lang="es-ES" sz="2400" b="1" dirty="0">
                <a:latin typeface="+mn-lt"/>
              </a:rPr>
              <a:t> </a:t>
            </a:r>
            <a:r>
              <a:rPr lang="es-ES" sz="2400" b="1" dirty="0">
                <a:solidFill>
                  <a:srgbClr val="8BAB42"/>
                </a:solidFill>
                <a:latin typeface="+mn-lt"/>
              </a:rPr>
              <a:t>decirle </a:t>
            </a:r>
            <a:r>
              <a:rPr lang="es-ES" sz="2400" dirty="0">
                <a:latin typeface="+mn-lt"/>
              </a:rPr>
              <a:t>al Sistema Operativo</a:t>
            </a:r>
            <a:r>
              <a:rPr lang="es-ES" sz="2400" b="1" dirty="0">
                <a:solidFill>
                  <a:srgbClr val="8BAB42"/>
                </a:solidFill>
                <a:latin typeface="+mn-lt"/>
              </a:rPr>
              <a:t> qué hacer</a:t>
            </a:r>
            <a:r>
              <a:rPr lang="es-ES" sz="2400" dirty="0">
                <a:latin typeface="+mn-lt"/>
              </a:rPr>
              <a:t>.</a:t>
            </a:r>
            <a:endParaRPr sz="2400" dirty="0">
              <a:latin typeface="+mn-lt"/>
            </a:endParaRPr>
          </a:p>
          <a:p>
            <a:pPr marL="457200" lvl="0" indent="-381000" algn="l" rtl="0">
              <a:lnSpc>
                <a:spcPct val="100000"/>
              </a:lnSpc>
              <a:spcBef>
                <a:spcPts val="0"/>
              </a:spcBef>
              <a:spcAft>
                <a:spcPts val="0"/>
              </a:spcAft>
              <a:buSzPts val="2400"/>
              <a:buFont typeface="Times New Roman"/>
              <a:buChar char="●"/>
            </a:pPr>
            <a:r>
              <a:rPr lang="es-ES" sz="2400" dirty="0">
                <a:latin typeface="+mn-lt"/>
              </a:rPr>
              <a:t>El sistema operativo proporciona una interfaz (</a:t>
            </a:r>
            <a:r>
              <a:rPr lang="es-ES" sz="2400" b="1" dirty="0">
                <a:latin typeface="+mn-lt"/>
              </a:rPr>
              <a:t>API</a:t>
            </a:r>
            <a:r>
              <a:rPr lang="es-ES" sz="2400" dirty="0">
                <a:latin typeface="+mn-lt"/>
              </a:rPr>
              <a:t>, librería estándar).</a:t>
            </a:r>
            <a:endParaRPr sz="2400" dirty="0">
              <a:latin typeface="+mn-lt"/>
            </a:endParaRPr>
          </a:p>
          <a:p>
            <a:pPr marL="457200" lvl="0" indent="-381000" algn="l" rtl="0">
              <a:lnSpc>
                <a:spcPct val="100000"/>
              </a:lnSpc>
              <a:spcBef>
                <a:spcPts val="0"/>
              </a:spcBef>
              <a:spcAft>
                <a:spcPts val="0"/>
              </a:spcAft>
              <a:buSzPts val="2400"/>
              <a:buFont typeface="Times New Roman"/>
              <a:buChar char="●"/>
            </a:pPr>
            <a:r>
              <a:rPr lang="es-ES" sz="2400" dirty="0">
                <a:latin typeface="+mn-lt"/>
              </a:rPr>
              <a:t>Un sistema operativo típico proporciona cientos de llamadas al sistema:</a:t>
            </a:r>
            <a:endParaRPr sz="2400"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Ejecutar programas</a:t>
            </a:r>
            <a:endParaRPr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Acceder a memoria</a:t>
            </a:r>
            <a:endParaRPr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Acceder a los dispositivos</a:t>
            </a:r>
            <a:endParaRPr dirty="0">
              <a:latin typeface="+mn-lt"/>
            </a:endParaRPr>
          </a:p>
          <a:p>
            <a:pPr marL="457200" lvl="0" indent="-381000" algn="l" rtl="0">
              <a:lnSpc>
                <a:spcPct val="100000"/>
              </a:lnSpc>
              <a:spcBef>
                <a:spcPts val="0"/>
              </a:spcBef>
              <a:spcAft>
                <a:spcPts val="0"/>
              </a:spcAft>
              <a:buSzPts val="2400"/>
              <a:buFont typeface="Times New Roman"/>
              <a:buChar char="●"/>
            </a:pPr>
            <a:r>
              <a:rPr lang="es-ES" dirty="0">
                <a:latin typeface="+mn-lt"/>
              </a:rPr>
              <a:t>Ejemplo: </a:t>
            </a:r>
            <a:r>
              <a:rPr lang="es-ES" u="sng" dirty="0">
                <a:solidFill>
                  <a:schemeClr val="hlink"/>
                </a:solidFill>
                <a:latin typeface="+mn-lt"/>
                <a:hlinkClick r:id="rId3"/>
              </a:rPr>
              <a:t>POSIX API</a:t>
            </a:r>
            <a:endParaRPr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pic>
        <p:nvPicPr>
          <p:cNvPr id="370" name="Google Shape;370;p39"/>
          <p:cNvPicPr preferRelativeResize="0"/>
          <p:nvPr/>
        </p:nvPicPr>
        <p:blipFill>
          <a:blip r:embed="rId4">
            <a:alphaModFix/>
          </a:blip>
          <a:stretch>
            <a:fillRect/>
          </a:stretch>
        </p:blipFill>
        <p:spPr>
          <a:xfrm>
            <a:off x="7044006" y="1045550"/>
            <a:ext cx="4802169" cy="5154175"/>
          </a:xfrm>
          <a:prstGeom prst="rect">
            <a:avLst/>
          </a:prstGeom>
          <a:noFill/>
          <a:ln>
            <a:noFill/>
          </a:ln>
        </p:spPr>
      </p:pic>
      <p:sp>
        <p:nvSpPr>
          <p:cNvPr id="371" name="Google Shape;371;p39"/>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0"/>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377" name="Google Shape;377;p40"/>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b="1" dirty="0">
                <a:solidFill>
                  <a:schemeClr val="accent1"/>
                </a:solidFill>
                <a:latin typeface="+mn-lt"/>
              </a:rPr>
              <a:t>Administrador de recursos</a:t>
            </a:r>
            <a:endParaRPr b="1" dirty="0">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sz="2400" dirty="0">
                <a:latin typeface="+mn-lt"/>
              </a:rPr>
              <a:t>El SO administra los </a:t>
            </a:r>
            <a:r>
              <a:rPr lang="es-ES" sz="2400" b="1" dirty="0">
                <a:solidFill>
                  <a:srgbClr val="8BAB42"/>
                </a:solidFill>
                <a:latin typeface="+mn-lt"/>
              </a:rPr>
              <a:t>recursos de un sistema</a:t>
            </a:r>
            <a:r>
              <a:rPr lang="es-ES" sz="2400" dirty="0">
                <a:latin typeface="+mn-lt"/>
              </a:rPr>
              <a:t> de cómputo: procesador, memoria, disco duro.</a:t>
            </a:r>
            <a:endParaRPr sz="2400" dirty="0">
              <a:latin typeface="+mn-lt"/>
            </a:endParaRPr>
          </a:p>
          <a:p>
            <a:pPr marL="457200" lvl="0" indent="-381000" algn="l" rtl="0">
              <a:lnSpc>
                <a:spcPct val="100000"/>
              </a:lnSpc>
              <a:spcBef>
                <a:spcPts val="0"/>
              </a:spcBef>
              <a:spcAft>
                <a:spcPts val="0"/>
              </a:spcAft>
              <a:buSzPts val="2400"/>
              <a:buFont typeface="Times New Roman"/>
              <a:buChar char="●"/>
            </a:pPr>
            <a:r>
              <a:rPr lang="es-ES" sz="2400" dirty="0">
                <a:latin typeface="+mn-lt"/>
              </a:rPr>
              <a:t>El SO permite:</a:t>
            </a:r>
            <a:endParaRPr sz="2400"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La ejecución de múltiples programas </a:t>
            </a:r>
            <a:r>
              <a:rPr lang="es-ES" b="1" dirty="0">
                <a:solidFill>
                  <a:srgbClr val="222222"/>
                </a:solidFill>
                <a:highlight>
                  <a:schemeClr val="lt1"/>
                </a:highlight>
                <a:latin typeface="+mn-lt"/>
              </a:rPr>
              <a:t>→ </a:t>
            </a:r>
            <a:r>
              <a:rPr lang="es-ES" b="1" dirty="0">
                <a:latin typeface="+mn-lt"/>
              </a:rPr>
              <a:t>compartiendo la CPU</a:t>
            </a:r>
            <a:endParaRPr b="1"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Que múltiples programas accedan simultáneamente a sus datos e instrucciones </a:t>
            </a:r>
            <a:r>
              <a:rPr lang="es-ES" b="1" dirty="0">
                <a:solidFill>
                  <a:srgbClr val="222222"/>
                </a:solidFill>
                <a:highlight>
                  <a:schemeClr val="lt1"/>
                </a:highlight>
                <a:latin typeface="+mn-lt"/>
              </a:rPr>
              <a:t>→</a:t>
            </a:r>
            <a:r>
              <a:rPr lang="es-ES" b="1" dirty="0">
                <a:latin typeface="+mn-lt"/>
              </a:rPr>
              <a:t> compartiendo la memoria</a:t>
            </a:r>
            <a:endParaRPr b="1"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Que múltiples programas accedan a los dispositivos </a:t>
            </a:r>
            <a:r>
              <a:rPr lang="es-ES" b="1" dirty="0">
                <a:solidFill>
                  <a:srgbClr val="222222"/>
                </a:solidFill>
                <a:highlight>
                  <a:schemeClr val="lt1"/>
                </a:highlight>
                <a:latin typeface="+mn-lt"/>
              </a:rPr>
              <a:t>→</a:t>
            </a:r>
            <a:r>
              <a:rPr lang="es-ES" b="1" dirty="0">
                <a:latin typeface="+mn-lt"/>
              </a:rPr>
              <a:t> compartiendo los discos</a:t>
            </a: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sp>
        <p:nvSpPr>
          <p:cNvPr id="378" name="Google Shape;378;p40"/>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1"/>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384" name="Google Shape;384;p41"/>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a:solidFill>
                  <a:schemeClr val="accent1"/>
                </a:solidFill>
                <a:latin typeface="+mn-lt"/>
              </a:rPr>
              <a:t>Virtualización de la CPU</a:t>
            </a:r>
            <a:endParaRPr sz="2800" b="1">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a:latin typeface="+mn-lt"/>
              </a:rPr>
              <a:t>El sistema tiene un gran número de CPUs virtuales.</a:t>
            </a:r>
            <a:endParaRPr>
              <a:latin typeface="+mn-lt"/>
            </a:endParaRPr>
          </a:p>
          <a:p>
            <a:pPr marL="914400" lvl="1" indent="-368300" algn="l" rtl="0">
              <a:lnSpc>
                <a:spcPct val="100000"/>
              </a:lnSpc>
              <a:spcBef>
                <a:spcPts val="0"/>
              </a:spcBef>
              <a:spcAft>
                <a:spcPts val="0"/>
              </a:spcAft>
              <a:buSzPts val="2200"/>
              <a:buFont typeface="Times New Roman"/>
              <a:buChar char="○"/>
            </a:pPr>
            <a:r>
              <a:rPr lang="es-ES">
                <a:latin typeface="+mn-lt"/>
              </a:rPr>
              <a:t>Convierte una CPU en “</a:t>
            </a:r>
            <a:r>
              <a:rPr lang="es-ES" b="1">
                <a:solidFill>
                  <a:srgbClr val="FF0000"/>
                </a:solidFill>
                <a:latin typeface="+mn-lt"/>
              </a:rPr>
              <a:t>infinitas</a:t>
            </a:r>
            <a:r>
              <a:rPr lang="es-ES">
                <a:latin typeface="+mn-lt"/>
              </a:rPr>
              <a:t>” CPUs virtuales</a:t>
            </a:r>
            <a:endParaRPr>
              <a:latin typeface="+mn-lt"/>
            </a:endParaRPr>
          </a:p>
          <a:p>
            <a:pPr marL="914400" lvl="1" indent="-368300" algn="l" rtl="0">
              <a:lnSpc>
                <a:spcPct val="100000"/>
              </a:lnSpc>
              <a:spcBef>
                <a:spcPts val="0"/>
              </a:spcBef>
              <a:spcAft>
                <a:spcPts val="0"/>
              </a:spcAft>
              <a:buSzPts val="2200"/>
              <a:buFont typeface="Times New Roman"/>
              <a:buChar char="○"/>
            </a:pPr>
            <a:r>
              <a:rPr lang="es-ES">
                <a:latin typeface="+mn-lt"/>
              </a:rPr>
              <a:t>Permite que múltiples programas se ejecuten “</a:t>
            </a:r>
            <a:r>
              <a:rPr lang="es-ES" b="1">
                <a:solidFill>
                  <a:srgbClr val="8BAB42"/>
                </a:solidFill>
                <a:latin typeface="+mn-lt"/>
              </a:rPr>
              <a:t>de manera concurrente</a:t>
            </a:r>
            <a:r>
              <a:rPr lang="es-ES">
                <a:latin typeface="+mn-lt"/>
              </a:rPr>
              <a:t>”</a:t>
            </a:r>
            <a:endParaRPr>
              <a:latin typeface="+mn-lt"/>
            </a:endParaRPr>
          </a:p>
          <a:p>
            <a:pPr marL="457200" lvl="0" indent="-381000" algn="l" rtl="0">
              <a:lnSpc>
                <a:spcPct val="100000"/>
              </a:lnSpc>
              <a:spcBef>
                <a:spcPts val="0"/>
              </a:spcBef>
              <a:spcAft>
                <a:spcPts val="0"/>
              </a:spcAft>
              <a:buSzPts val="2400"/>
              <a:buFont typeface="Times New Roman"/>
              <a:buChar char="●"/>
            </a:pPr>
            <a:r>
              <a:rPr lang="es-ES">
                <a:latin typeface="+mn-lt"/>
              </a:rPr>
              <a:t>Convención</a:t>
            </a:r>
            <a:endParaRPr>
              <a:latin typeface="+mn-lt"/>
            </a:endParaRPr>
          </a:p>
          <a:p>
            <a:pPr marL="914400" lvl="0" indent="0" algn="l" rtl="0">
              <a:lnSpc>
                <a:spcPct val="100000"/>
              </a:lnSpc>
              <a:spcBef>
                <a:spcPts val="600"/>
              </a:spcBef>
              <a:spcAft>
                <a:spcPts val="0"/>
              </a:spcAft>
              <a:buNone/>
            </a:pPr>
            <a:endParaRPr b="1">
              <a:latin typeface="+mn-lt"/>
            </a:endParaRPr>
          </a:p>
          <a:p>
            <a:pPr marL="457200" lvl="0" indent="0" algn="l" rtl="0">
              <a:lnSpc>
                <a:spcPct val="100000"/>
              </a:lnSpc>
              <a:spcBef>
                <a:spcPts val="600"/>
              </a:spcBef>
              <a:spcAft>
                <a:spcPts val="0"/>
              </a:spcAft>
              <a:buNone/>
            </a:pPr>
            <a:endParaRPr b="1">
              <a:latin typeface="+mn-lt"/>
            </a:endParaRPr>
          </a:p>
          <a:p>
            <a:pPr marL="457200" lvl="0" indent="0" algn="l" rtl="0">
              <a:lnSpc>
                <a:spcPct val="100000"/>
              </a:lnSpc>
              <a:spcBef>
                <a:spcPts val="480"/>
              </a:spcBef>
              <a:spcAft>
                <a:spcPts val="0"/>
              </a:spcAft>
              <a:buNone/>
            </a:pPr>
            <a:endParaRPr sz="2400">
              <a:latin typeface="+mn-lt"/>
            </a:endParaRPr>
          </a:p>
          <a:p>
            <a:pPr marL="457200" lvl="0" indent="0" algn="l" rtl="0">
              <a:lnSpc>
                <a:spcPct val="100000"/>
              </a:lnSpc>
              <a:spcBef>
                <a:spcPts val="480"/>
              </a:spcBef>
              <a:spcAft>
                <a:spcPts val="0"/>
              </a:spcAft>
              <a:buNone/>
            </a:pPr>
            <a:endParaRPr>
              <a:latin typeface="+mn-lt"/>
            </a:endParaRPr>
          </a:p>
          <a:p>
            <a:pPr marL="0" lvl="0" indent="0" algn="l" rtl="0">
              <a:spcBef>
                <a:spcPts val="1000"/>
              </a:spcBef>
              <a:spcAft>
                <a:spcPts val="0"/>
              </a:spcAft>
              <a:buNone/>
            </a:pPr>
            <a:endParaRPr>
              <a:latin typeface="+mn-lt"/>
            </a:endParaRPr>
          </a:p>
          <a:p>
            <a:pPr marL="457200" lvl="0" indent="0" algn="l" rtl="0">
              <a:spcBef>
                <a:spcPts val="1000"/>
              </a:spcBef>
              <a:spcAft>
                <a:spcPts val="0"/>
              </a:spcAft>
              <a:buNone/>
            </a:pPr>
            <a:endParaRPr>
              <a:latin typeface="+mn-lt"/>
            </a:endParaRPr>
          </a:p>
        </p:txBody>
      </p:sp>
      <p:sp>
        <p:nvSpPr>
          <p:cNvPr id="385" name="Google Shape;385;p41"/>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pic>
        <p:nvPicPr>
          <p:cNvPr id="386" name="Google Shape;386;p41"/>
          <p:cNvPicPr preferRelativeResize="0"/>
          <p:nvPr/>
        </p:nvPicPr>
        <p:blipFill>
          <a:blip r:embed="rId3">
            <a:alphaModFix/>
          </a:blip>
          <a:stretch>
            <a:fillRect/>
          </a:stretch>
        </p:blipFill>
        <p:spPr>
          <a:xfrm>
            <a:off x="7960225" y="4031750"/>
            <a:ext cx="1095375" cy="1114425"/>
          </a:xfrm>
          <a:prstGeom prst="rect">
            <a:avLst/>
          </a:prstGeom>
          <a:noFill/>
          <a:ln>
            <a:noFill/>
          </a:ln>
        </p:spPr>
      </p:pic>
      <p:pic>
        <p:nvPicPr>
          <p:cNvPr id="387" name="Google Shape;387;p41"/>
          <p:cNvPicPr preferRelativeResize="0"/>
          <p:nvPr/>
        </p:nvPicPr>
        <p:blipFill>
          <a:blip r:embed="rId4">
            <a:alphaModFix/>
          </a:blip>
          <a:stretch>
            <a:fillRect/>
          </a:stretch>
        </p:blipFill>
        <p:spPr>
          <a:xfrm>
            <a:off x="3247713" y="4076775"/>
            <a:ext cx="1095375" cy="1024373"/>
          </a:xfrm>
          <a:prstGeom prst="rect">
            <a:avLst/>
          </a:prstGeom>
          <a:noFill/>
          <a:ln>
            <a:noFill/>
          </a:ln>
        </p:spPr>
      </p:pic>
      <p:pic>
        <p:nvPicPr>
          <p:cNvPr id="388" name="Google Shape;388;p41"/>
          <p:cNvPicPr preferRelativeResize="0"/>
          <p:nvPr/>
        </p:nvPicPr>
        <p:blipFill>
          <a:blip r:embed="rId5">
            <a:alphaModFix/>
          </a:blip>
          <a:stretch>
            <a:fillRect/>
          </a:stretch>
        </p:blipFill>
        <p:spPr>
          <a:xfrm>
            <a:off x="5948138" y="4098425"/>
            <a:ext cx="466725" cy="981075"/>
          </a:xfrm>
          <a:prstGeom prst="rect">
            <a:avLst/>
          </a:prstGeom>
          <a:noFill/>
          <a:ln>
            <a:noFill/>
          </a:ln>
        </p:spPr>
      </p:pic>
      <p:sp>
        <p:nvSpPr>
          <p:cNvPr id="389" name="Google Shape;389;p41"/>
          <p:cNvSpPr txBox="1"/>
          <p:nvPr/>
        </p:nvSpPr>
        <p:spPr>
          <a:xfrm>
            <a:off x="3187900" y="5346250"/>
            <a:ext cx="1215000" cy="44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1600" b="1"/>
              <a:t>Proceso</a:t>
            </a:r>
            <a:endParaRPr sz="1600" b="1"/>
          </a:p>
        </p:txBody>
      </p:sp>
      <p:sp>
        <p:nvSpPr>
          <p:cNvPr id="390" name="Google Shape;390;p41"/>
          <p:cNvSpPr txBox="1"/>
          <p:nvPr/>
        </p:nvSpPr>
        <p:spPr>
          <a:xfrm>
            <a:off x="5574013" y="5346250"/>
            <a:ext cx="1215000" cy="44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1600" b="1"/>
              <a:t>Hilo</a:t>
            </a:r>
            <a:endParaRPr sz="1600" b="1"/>
          </a:p>
        </p:txBody>
      </p:sp>
      <p:sp>
        <p:nvSpPr>
          <p:cNvPr id="391" name="Google Shape;391;p41"/>
          <p:cNvSpPr txBox="1"/>
          <p:nvPr/>
        </p:nvSpPr>
        <p:spPr>
          <a:xfrm>
            <a:off x="7960138" y="5273250"/>
            <a:ext cx="1215000" cy="44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1600" b="1"/>
              <a:t>Archivo ejecutable</a:t>
            </a:r>
            <a:endParaRPr sz="16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2"/>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397" name="Google Shape;397;p42"/>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Virtualización de la CPU</a:t>
            </a:r>
            <a:endParaRPr sz="2800" b="1" dirty="0">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dirty="0">
                <a:latin typeface="+mn-lt"/>
              </a:rPr>
              <a:t>El sistema tiene un gran número de </a:t>
            </a:r>
            <a:r>
              <a:rPr lang="es-ES" dirty="0" err="1">
                <a:latin typeface="+mn-lt"/>
              </a:rPr>
              <a:t>CPUs</a:t>
            </a:r>
            <a:r>
              <a:rPr lang="es-ES" dirty="0">
                <a:latin typeface="+mn-lt"/>
              </a:rPr>
              <a:t> virtuales.</a:t>
            </a:r>
            <a:endParaRPr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Convierte una CPU en “</a:t>
            </a:r>
            <a:r>
              <a:rPr lang="es-ES" b="1" dirty="0">
                <a:solidFill>
                  <a:srgbClr val="FF0000"/>
                </a:solidFill>
                <a:latin typeface="+mn-lt"/>
              </a:rPr>
              <a:t>infinitas</a:t>
            </a:r>
            <a:r>
              <a:rPr lang="es-ES" dirty="0">
                <a:latin typeface="+mn-lt"/>
              </a:rPr>
              <a:t>” </a:t>
            </a:r>
            <a:r>
              <a:rPr lang="es-ES" dirty="0" err="1">
                <a:latin typeface="+mn-lt"/>
              </a:rPr>
              <a:t>CPUs</a:t>
            </a:r>
            <a:r>
              <a:rPr lang="es-ES" dirty="0">
                <a:latin typeface="+mn-lt"/>
              </a:rPr>
              <a:t> virtuales</a:t>
            </a:r>
            <a:endParaRPr dirty="0">
              <a:latin typeface="+mn-lt"/>
            </a:endParaRPr>
          </a:p>
          <a:p>
            <a:pPr marL="914400" lvl="1" indent="-368300" algn="l" rtl="0">
              <a:lnSpc>
                <a:spcPct val="100000"/>
              </a:lnSpc>
              <a:spcBef>
                <a:spcPts val="0"/>
              </a:spcBef>
              <a:spcAft>
                <a:spcPts val="0"/>
              </a:spcAft>
              <a:buSzPts val="2200"/>
              <a:buFont typeface="Times New Roman"/>
              <a:buChar char="○"/>
            </a:pPr>
            <a:r>
              <a:rPr lang="es-ES" dirty="0">
                <a:latin typeface="+mn-lt"/>
              </a:rPr>
              <a:t>Permite que múltiples programas se ejecuten “</a:t>
            </a:r>
            <a:r>
              <a:rPr lang="es-ES" b="1" dirty="0">
                <a:solidFill>
                  <a:srgbClr val="8BAB42"/>
                </a:solidFill>
                <a:latin typeface="+mn-lt"/>
              </a:rPr>
              <a:t>de manera concurrente</a:t>
            </a:r>
            <a:r>
              <a:rPr lang="es-ES" dirty="0">
                <a:latin typeface="+mn-lt"/>
              </a:rPr>
              <a:t>”</a:t>
            </a: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grpSp>
        <p:nvGrpSpPr>
          <p:cNvPr id="398" name="Google Shape;398;p42"/>
          <p:cNvGrpSpPr/>
          <p:nvPr/>
        </p:nvGrpSpPr>
        <p:grpSpPr>
          <a:xfrm>
            <a:off x="3992575" y="2963650"/>
            <a:ext cx="5715525" cy="3305162"/>
            <a:chOff x="1396400" y="2931450"/>
            <a:chExt cx="5715525" cy="3305162"/>
          </a:xfrm>
        </p:grpSpPr>
        <p:pic>
          <p:nvPicPr>
            <p:cNvPr id="399" name="Google Shape;399;p42"/>
            <p:cNvPicPr preferRelativeResize="0"/>
            <p:nvPr/>
          </p:nvPicPr>
          <p:blipFill>
            <a:blip r:embed="rId3">
              <a:alphaModFix/>
            </a:blip>
            <a:stretch>
              <a:fillRect/>
            </a:stretch>
          </p:blipFill>
          <p:spPr>
            <a:xfrm>
              <a:off x="1396400" y="2931450"/>
              <a:ext cx="5715525" cy="1931825"/>
            </a:xfrm>
            <a:prstGeom prst="rect">
              <a:avLst/>
            </a:prstGeom>
            <a:noFill/>
            <a:ln>
              <a:noFill/>
            </a:ln>
          </p:spPr>
        </p:pic>
        <p:pic>
          <p:nvPicPr>
            <p:cNvPr id="400" name="Google Shape;400;p42"/>
            <p:cNvPicPr preferRelativeResize="0"/>
            <p:nvPr/>
          </p:nvPicPr>
          <p:blipFill>
            <a:blip r:embed="rId4">
              <a:alphaModFix/>
            </a:blip>
            <a:stretch>
              <a:fillRect/>
            </a:stretch>
          </p:blipFill>
          <p:spPr>
            <a:xfrm>
              <a:off x="3720763" y="5169813"/>
              <a:ext cx="1066800" cy="1066800"/>
            </a:xfrm>
            <a:prstGeom prst="rect">
              <a:avLst/>
            </a:prstGeom>
            <a:noFill/>
            <a:ln>
              <a:noFill/>
            </a:ln>
          </p:spPr>
        </p:pic>
      </p:grpSp>
      <p:grpSp>
        <p:nvGrpSpPr>
          <p:cNvPr id="401" name="Google Shape;401;p42"/>
          <p:cNvGrpSpPr/>
          <p:nvPr/>
        </p:nvGrpSpPr>
        <p:grpSpPr>
          <a:xfrm>
            <a:off x="1056100" y="3291000"/>
            <a:ext cx="2548275" cy="853200"/>
            <a:chOff x="1589500" y="3672000"/>
            <a:chExt cx="2548275" cy="853200"/>
          </a:xfrm>
        </p:grpSpPr>
        <p:sp>
          <p:nvSpPr>
            <p:cNvPr id="402" name="Google Shape;402;p42"/>
            <p:cNvSpPr/>
            <p:nvPr/>
          </p:nvSpPr>
          <p:spPr>
            <a:xfrm>
              <a:off x="1589500" y="3672000"/>
              <a:ext cx="869400" cy="853200"/>
            </a:xfrm>
            <a:prstGeom prst="ellipse">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2"/>
            <p:cNvSpPr txBox="1"/>
            <p:nvPr/>
          </p:nvSpPr>
          <p:spPr>
            <a:xfrm>
              <a:off x="2560075" y="391350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t>Proceso</a:t>
              </a:r>
              <a:endParaRPr sz="2000" b="1"/>
            </a:p>
          </p:txBody>
        </p:sp>
      </p:grpSp>
      <p:cxnSp>
        <p:nvCxnSpPr>
          <p:cNvPr id="404" name="Google Shape;404;p42"/>
          <p:cNvCxnSpPr/>
          <p:nvPr/>
        </p:nvCxnSpPr>
        <p:spPr>
          <a:xfrm>
            <a:off x="3799650" y="4959875"/>
            <a:ext cx="8145900" cy="0"/>
          </a:xfrm>
          <a:prstGeom prst="straightConnector1">
            <a:avLst/>
          </a:prstGeom>
          <a:noFill/>
          <a:ln w="38100" cap="flat" cmpd="sng">
            <a:solidFill>
              <a:srgbClr val="FF9900"/>
            </a:solidFill>
            <a:prstDash val="solid"/>
            <a:round/>
            <a:headEnd type="none" w="med" len="med"/>
            <a:tailEnd type="none" w="med" len="med"/>
          </a:ln>
        </p:spPr>
      </p:cxnSp>
      <p:sp>
        <p:nvSpPr>
          <p:cNvPr id="405" name="Google Shape;405;p42"/>
          <p:cNvSpPr txBox="1"/>
          <p:nvPr/>
        </p:nvSpPr>
        <p:spPr>
          <a:xfrm>
            <a:off x="10367850" y="550295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Recurso</a:t>
            </a:r>
            <a:endParaRPr sz="2000" b="1">
              <a:solidFill>
                <a:srgbClr val="FF9900"/>
              </a:solidFill>
            </a:endParaRPr>
          </a:p>
        </p:txBody>
      </p:sp>
      <p:sp>
        <p:nvSpPr>
          <p:cNvPr id="406" name="Google Shape;406;p42"/>
          <p:cNvSpPr txBox="1"/>
          <p:nvPr/>
        </p:nvSpPr>
        <p:spPr>
          <a:xfrm>
            <a:off x="10445150" y="404660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Ilusión</a:t>
            </a:r>
            <a:endParaRPr sz="2000" b="1">
              <a:solidFill>
                <a:srgbClr val="FF99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3"/>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12" name="Google Shape;412;p43"/>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Ejemplo</a:t>
            </a:r>
            <a:endParaRPr sz="2800" b="1" dirty="0">
              <a:solidFill>
                <a:schemeClr val="accent1"/>
              </a:solidFill>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sp>
        <p:nvSpPr>
          <p:cNvPr id="413" name="Google Shape;413;p43"/>
          <p:cNvSpPr txBox="1"/>
          <p:nvPr/>
        </p:nvSpPr>
        <p:spPr>
          <a:xfrm>
            <a:off x="1239975" y="3156825"/>
            <a:ext cx="724500" cy="40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t>cpu.c</a:t>
            </a:r>
            <a:endParaRPr sz="1600" b="1"/>
          </a:p>
        </p:txBody>
      </p:sp>
      <p:pic>
        <p:nvPicPr>
          <p:cNvPr id="414" name="Google Shape;414;p43"/>
          <p:cNvPicPr preferRelativeResize="0"/>
          <p:nvPr/>
        </p:nvPicPr>
        <p:blipFill>
          <a:blip r:embed="rId3">
            <a:alphaModFix/>
          </a:blip>
          <a:stretch>
            <a:fillRect/>
          </a:stretch>
        </p:blipFill>
        <p:spPr>
          <a:xfrm>
            <a:off x="1054538" y="1955025"/>
            <a:ext cx="1095375" cy="1114425"/>
          </a:xfrm>
          <a:prstGeom prst="rect">
            <a:avLst/>
          </a:prstGeom>
          <a:noFill/>
          <a:ln>
            <a:noFill/>
          </a:ln>
        </p:spPr>
      </p:pic>
      <p:sp>
        <p:nvSpPr>
          <p:cNvPr id="415" name="Google Shape;415;p43"/>
          <p:cNvSpPr txBox="1"/>
          <p:nvPr/>
        </p:nvSpPr>
        <p:spPr>
          <a:xfrm>
            <a:off x="2994750" y="1045550"/>
            <a:ext cx="8304000" cy="541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a:t>
            </a:r>
            <a:r>
              <a:rPr lang="es-ES" sz="1700">
                <a:solidFill>
                  <a:srgbClr val="D73A49"/>
                </a:solidFill>
                <a:highlight>
                  <a:srgbClr val="FFFFFF"/>
                </a:highlight>
                <a:latin typeface="Consolas"/>
                <a:ea typeface="Consolas"/>
                <a:cs typeface="Consolas"/>
                <a:sym typeface="Consolas"/>
              </a:rPr>
              <a:t>include</a:t>
            </a:r>
            <a:r>
              <a:rPr lang="es-ES" sz="1700">
                <a:solidFill>
                  <a:srgbClr val="24292E"/>
                </a:solidFill>
                <a:highlight>
                  <a:srgbClr val="FFFFFF"/>
                </a:highlight>
                <a:latin typeface="Consolas"/>
                <a:ea typeface="Consolas"/>
                <a:cs typeface="Consolas"/>
                <a:sym typeface="Consolas"/>
              </a:rPr>
              <a:t> </a:t>
            </a:r>
            <a:r>
              <a:rPr lang="es-ES" sz="1700">
                <a:solidFill>
                  <a:srgbClr val="032F62"/>
                </a:solidFill>
                <a:highlight>
                  <a:srgbClr val="FFFFFF"/>
                </a:highlight>
                <a:latin typeface="Consolas"/>
                <a:ea typeface="Consolas"/>
                <a:cs typeface="Consolas"/>
                <a:sym typeface="Consolas"/>
              </a:rPr>
              <a:t>&lt;stdio.h&gt;</a:t>
            </a:r>
            <a:endParaRPr sz="17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a:t>
            </a:r>
            <a:r>
              <a:rPr lang="es-ES" sz="1700">
                <a:solidFill>
                  <a:srgbClr val="D73A49"/>
                </a:solidFill>
                <a:highlight>
                  <a:srgbClr val="FFFFFF"/>
                </a:highlight>
                <a:latin typeface="Consolas"/>
                <a:ea typeface="Consolas"/>
                <a:cs typeface="Consolas"/>
                <a:sym typeface="Consolas"/>
              </a:rPr>
              <a:t>include</a:t>
            </a:r>
            <a:r>
              <a:rPr lang="es-ES" sz="1700">
                <a:solidFill>
                  <a:srgbClr val="24292E"/>
                </a:solidFill>
                <a:highlight>
                  <a:srgbClr val="FFFFFF"/>
                </a:highlight>
                <a:latin typeface="Consolas"/>
                <a:ea typeface="Consolas"/>
                <a:cs typeface="Consolas"/>
                <a:sym typeface="Consolas"/>
              </a:rPr>
              <a:t> </a:t>
            </a:r>
            <a:r>
              <a:rPr lang="es-ES" sz="1700">
                <a:solidFill>
                  <a:srgbClr val="032F62"/>
                </a:solidFill>
                <a:highlight>
                  <a:srgbClr val="FFFFFF"/>
                </a:highlight>
                <a:latin typeface="Consolas"/>
                <a:ea typeface="Consolas"/>
                <a:cs typeface="Consolas"/>
                <a:sym typeface="Consolas"/>
              </a:rPr>
              <a:t>&lt;stdlib.h&gt;</a:t>
            </a:r>
            <a:endParaRPr sz="17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a:t>
            </a:r>
            <a:r>
              <a:rPr lang="es-ES" sz="1700">
                <a:solidFill>
                  <a:srgbClr val="D73A49"/>
                </a:solidFill>
                <a:highlight>
                  <a:srgbClr val="FFFFFF"/>
                </a:highlight>
                <a:latin typeface="Consolas"/>
                <a:ea typeface="Consolas"/>
                <a:cs typeface="Consolas"/>
                <a:sym typeface="Consolas"/>
              </a:rPr>
              <a:t>include</a:t>
            </a:r>
            <a:r>
              <a:rPr lang="es-ES" sz="1700">
                <a:solidFill>
                  <a:srgbClr val="24292E"/>
                </a:solidFill>
                <a:highlight>
                  <a:srgbClr val="FFFFFF"/>
                </a:highlight>
                <a:latin typeface="Consolas"/>
                <a:ea typeface="Consolas"/>
                <a:cs typeface="Consolas"/>
                <a:sym typeface="Consolas"/>
              </a:rPr>
              <a:t> </a:t>
            </a:r>
            <a:r>
              <a:rPr lang="es-ES" sz="1700">
                <a:solidFill>
                  <a:srgbClr val="032F62"/>
                </a:solidFill>
                <a:highlight>
                  <a:srgbClr val="FFFFFF"/>
                </a:highlight>
                <a:latin typeface="Consolas"/>
                <a:ea typeface="Consolas"/>
                <a:cs typeface="Consolas"/>
                <a:sym typeface="Consolas"/>
              </a:rPr>
              <a:t>"common.h"</a:t>
            </a:r>
            <a:endParaRPr sz="17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D73A49"/>
                </a:solidFill>
                <a:highlight>
                  <a:srgbClr val="FFFFFF"/>
                </a:highlight>
                <a:latin typeface="Consolas"/>
                <a:ea typeface="Consolas"/>
                <a:cs typeface="Consolas"/>
                <a:sym typeface="Consolas"/>
              </a:rPr>
              <a:t>int</a:t>
            </a:r>
            <a:r>
              <a:rPr lang="es-ES" sz="1700">
                <a:solidFill>
                  <a:srgbClr val="24292E"/>
                </a:solidFill>
                <a:highlight>
                  <a:srgbClr val="FFFFFF"/>
                </a:highlight>
                <a:latin typeface="Consolas"/>
                <a:ea typeface="Consolas"/>
                <a:cs typeface="Consolas"/>
                <a:sym typeface="Consolas"/>
              </a:rPr>
              <a:t> </a:t>
            </a:r>
            <a:r>
              <a:rPr lang="es-ES" sz="1700">
                <a:solidFill>
                  <a:srgbClr val="6F42C1"/>
                </a:solidFill>
                <a:highlight>
                  <a:srgbClr val="FFFFFF"/>
                </a:highlight>
                <a:latin typeface="Consolas"/>
                <a:ea typeface="Consolas"/>
                <a:cs typeface="Consolas"/>
                <a:sym typeface="Consolas"/>
              </a:rPr>
              <a:t>main</a:t>
            </a:r>
            <a:r>
              <a:rPr lang="es-ES" sz="1700">
                <a:solidFill>
                  <a:srgbClr val="24292E"/>
                </a:solidFill>
                <a:highlight>
                  <a:srgbClr val="FFFFFF"/>
                </a:highlight>
                <a:latin typeface="Consolas"/>
                <a:ea typeface="Consolas"/>
                <a:cs typeface="Consolas"/>
                <a:sym typeface="Consolas"/>
              </a:rPr>
              <a:t>(</a:t>
            </a:r>
            <a:r>
              <a:rPr lang="es-ES" sz="1700">
                <a:solidFill>
                  <a:srgbClr val="D73A49"/>
                </a:solidFill>
                <a:highlight>
                  <a:srgbClr val="FFFFFF"/>
                </a:highlight>
                <a:latin typeface="Consolas"/>
                <a:ea typeface="Consolas"/>
                <a:cs typeface="Consolas"/>
                <a:sym typeface="Consolas"/>
              </a:rPr>
              <a:t>int</a:t>
            </a:r>
            <a:r>
              <a:rPr lang="es-ES" sz="1700">
                <a:solidFill>
                  <a:srgbClr val="24292E"/>
                </a:solidFill>
                <a:highlight>
                  <a:srgbClr val="FFFFFF"/>
                </a:highlight>
                <a:latin typeface="Consolas"/>
                <a:ea typeface="Consolas"/>
                <a:cs typeface="Consolas"/>
                <a:sym typeface="Consolas"/>
              </a:rPr>
              <a:t> argc, </a:t>
            </a:r>
            <a:r>
              <a:rPr lang="es-ES" sz="1700">
                <a:solidFill>
                  <a:srgbClr val="D73A49"/>
                </a:solidFill>
                <a:highlight>
                  <a:srgbClr val="FFFFFF"/>
                </a:highlight>
                <a:latin typeface="Consolas"/>
                <a:ea typeface="Consolas"/>
                <a:cs typeface="Consolas"/>
                <a:sym typeface="Consolas"/>
              </a:rPr>
              <a:t>char</a:t>
            </a:r>
            <a:r>
              <a:rPr lang="es-ES" sz="1700">
                <a:solidFill>
                  <a:srgbClr val="24292E"/>
                </a:solidFill>
                <a:highlight>
                  <a:srgbClr val="FFFFFF"/>
                </a:highlight>
                <a:latin typeface="Consolas"/>
                <a:ea typeface="Consolas"/>
                <a:cs typeface="Consolas"/>
                <a:sym typeface="Consolas"/>
              </a:rPr>
              <a:t> *argv[])</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D73A49"/>
                </a:solidFill>
                <a:highlight>
                  <a:srgbClr val="FFFFFF"/>
                </a:highlight>
                <a:latin typeface="Consolas"/>
                <a:ea typeface="Consolas"/>
                <a:cs typeface="Consolas"/>
                <a:sym typeface="Consolas"/>
              </a:rPr>
              <a:t>if</a:t>
            </a:r>
            <a:r>
              <a:rPr lang="es-ES" sz="1700">
                <a:solidFill>
                  <a:srgbClr val="24292E"/>
                </a:solidFill>
                <a:highlight>
                  <a:srgbClr val="FFFFFF"/>
                </a:highlight>
                <a:latin typeface="Consolas"/>
                <a:ea typeface="Consolas"/>
                <a:cs typeface="Consolas"/>
                <a:sym typeface="Consolas"/>
              </a:rPr>
              <a:t> (argc != </a:t>
            </a:r>
            <a:r>
              <a:rPr lang="es-ES" sz="1700">
                <a:solidFill>
                  <a:srgbClr val="005CC5"/>
                </a:solidFill>
                <a:highlight>
                  <a:srgbClr val="FFFFFF"/>
                </a:highlight>
                <a:latin typeface="Consolas"/>
                <a:ea typeface="Consolas"/>
                <a:cs typeface="Consolas"/>
                <a:sym typeface="Consolas"/>
              </a:rPr>
              <a:t>2</a:t>
            </a:r>
            <a:r>
              <a:rPr lang="es-ES" sz="1700">
                <a:solidFill>
                  <a:srgbClr val="24292E"/>
                </a:solidFill>
                <a:highlight>
                  <a:srgbClr val="FFFFFF"/>
                </a:highlight>
                <a:latin typeface="Consolas"/>
                <a:ea typeface="Consolas"/>
                <a:cs typeface="Consolas"/>
                <a:sym typeface="Consolas"/>
              </a:rPr>
              <a:t>) {</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fprintf</a:t>
            </a:r>
            <a:r>
              <a:rPr lang="es-ES" sz="1700">
                <a:solidFill>
                  <a:srgbClr val="24292E"/>
                </a:solidFill>
                <a:highlight>
                  <a:srgbClr val="FFFFFF"/>
                </a:highlight>
                <a:latin typeface="Consolas"/>
                <a:ea typeface="Consolas"/>
                <a:cs typeface="Consolas"/>
                <a:sym typeface="Consolas"/>
              </a:rPr>
              <a:t>(stderr, </a:t>
            </a:r>
            <a:r>
              <a:rPr lang="es-ES" sz="1700">
                <a:solidFill>
                  <a:srgbClr val="032F62"/>
                </a:solidFill>
                <a:highlight>
                  <a:srgbClr val="FFFFFF"/>
                </a:highlight>
                <a:latin typeface="Consolas"/>
                <a:ea typeface="Consolas"/>
                <a:cs typeface="Consolas"/>
                <a:sym typeface="Consolas"/>
              </a:rPr>
              <a:t>"usage: cpu &lt;string&gt;\n"</a:t>
            </a: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exit</a:t>
            </a:r>
            <a:r>
              <a:rPr lang="es-ES" sz="1700">
                <a:solidFill>
                  <a:srgbClr val="24292E"/>
                </a:solidFill>
                <a:highlight>
                  <a:srgbClr val="FFFFFF"/>
                </a:highlight>
                <a:latin typeface="Consolas"/>
                <a:ea typeface="Consolas"/>
                <a:cs typeface="Consolas"/>
                <a:sym typeface="Consolas"/>
              </a:rPr>
              <a:t>(</a:t>
            </a:r>
            <a:r>
              <a:rPr lang="es-ES" sz="1700">
                <a:solidFill>
                  <a:srgbClr val="005CC5"/>
                </a:solidFill>
                <a:highlight>
                  <a:srgbClr val="FFFFFF"/>
                </a:highlight>
                <a:latin typeface="Consolas"/>
                <a:ea typeface="Consolas"/>
                <a:cs typeface="Consolas"/>
                <a:sym typeface="Consolas"/>
              </a:rPr>
              <a:t>1</a:t>
            </a: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D73A49"/>
                </a:solidFill>
                <a:highlight>
                  <a:srgbClr val="FFFFFF"/>
                </a:highlight>
                <a:latin typeface="Consolas"/>
                <a:ea typeface="Consolas"/>
                <a:cs typeface="Consolas"/>
                <a:sym typeface="Consolas"/>
              </a:rPr>
              <a:t>char</a:t>
            </a:r>
            <a:r>
              <a:rPr lang="es-ES" sz="1700">
                <a:solidFill>
                  <a:srgbClr val="24292E"/>
                </a:solidFill>
                <a:highlight>
                  <a:srgbClr val="FFFFFF"/>
                </a:highlight>
                <a:latin typeface="Consolas"/>
                <a:ea typeface="Consolas"/>
                <a:cs typeface="Consolas"/>
                <a:sym typeface="Consolas"/>
              </a:rPr>
              <a:t> *str = argv[</a:t>
            </a:r>
            <a:r>
              <a:rPr lang="es-ES" sz="1700">
                <a:solidFill>
                  <a:srgbClr val="005CC5"/>
                </a:solidFill>
                <a:highlight>
                  <a:srgbClr val="FFFFFF"/>
                </a:highlight>
                <a:latin typeface="Consolas"/>
                <a:ea typeface="Consolas"/>
                <a:cs typeface="Consolas"/>
                <a:sym typeface="Consolas"/>
              </a:rPr>
              <a:t>1</a:t>
            </a: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D73A49"/>
                </a:solidFill>
                <a:highlight>
                  <a:srgbClr val="FFFFFF"/>
                </a:highlight>
                <a:latin typeface="Consolas"/>
                <a:ea typeface="Consolas"/>
                <a:cs typeface="Consolas"/>
                <a:sym typeface="Consolas"/>
              </a:rPr>
              <a:t>while</a:t>
            </a: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1</a:t>
            </a:r>
            <a:r>
              <a:rPr lang="es-ES" sz="1700">
                <a:solidFill>
                  <a:srgbClr val="24292E"/>
                </a:solidFill>
                <a:highlight>
                  <a:srgbClr val="FFFFFF"/>
                </a:highlight>
                <a:latin typeface="Consolas"/>
                <a:ea typeface="Consolas"/>
                <a:cs typeface="Consolas"/>
                <a:sym typeface="Consolas"/>
              </a:rPr>
              <a:t>) {</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printf</a:t>
            </a:r>
            <a:r>
              <a:rPr lang="es-ES" sz="1700">
                <a:solidFill>
                  <a:srgbClr val="24292E"/>
                </a:solidFill>
                <a:highlight>
                  <a:srgbClr val="FFFFFF"/>
                </a:highlight>
                <a:latin typeface="Consolas"/>
                <a:ea typeface="Consolas"/>
                <a:cs typeface="Consolas"/>
                <a:sym typeface="Consolas"/>
              </a:rPr>
              <a:t>(</a:t>
            </a:r>
            <a:r>
              <a:rPr lang="es-ES" sz="1700">
                <a:solidFill>
                  <a:srgbClr val="032F62"/>
                </a:solidFill>
                <a:highlight>
                  <a:srgbClr val="FFFFFF"/>
                </a:highlight>
                <a:latin typeface="Consolas"/>
                <a:ea typeface="Consolas"/>
                <a:cs typeface="Consolas"/>
                <a:sym typeface="Consolas"/>
              </a:rPr>
              <a:t>"</a:t>
            </a:r>
            <a:r>
              <a:rPr lang="es-ES" sz="1700">
                <a:solidFill>
                  <a:srgbClr val="005CC5"/>
                </a:solidFill>
                <a:highlight>
                  <a:srgbClr val="FFFFFF"/>
                </a:highlight>
                <a:latin typeface="Consolas"/>
                <a:ea typeface="Consolas"/>
                <a:cs typeface="Consolas"/>
                <a:sym typeface="Consolas"/>
              </a:rPr>
              <a:t>%s</a:t>
            </a:r>
            <a:r>
              <a:rPr lang="es-ES" sz="1700">
                <a:solidFill>
                  <a:srgbClr val="032F62"/>
                </a:solidFill>
                <a:highlight>
                  <a:srgbClr val="FFFFFF"/>
                </a:highlight>
                <a:latin typeface="Consolas"/>
                <a:ea typeface="Consolas"/>
                <a:cs typeface="Consolas"/>
                <a:sym typeface="Consolas"/>
              </a:rPr>
              <a:t>\n"</a:t>
            </a:r>
            <a:r>
              <a:rPr lang="es-ES" sz="1700">
                <a:solidFill>
                  <a:srgbClr val="24292E"/>
                </a:solidFill>
                <a:highlight>
                  <a:srgbClr val="FFFFFF"/>
                </a:highlight>
                <a:latin typeface="Consolas"/>
                <a:ea typeface="Consolas"/>
                <a:cs typeface="Consolas"/>
                <a:sym typeface="Consolas"/>
              </a:rPr>
              <a:t>, str);</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Spin</a:t>
            </a:r>
            <a:r>
              <a:rPr lang="es-ES" sz="1700">
                <a:solidFill>
                  <a:srgbClr val="24292E"/>
                </a:solidFill>
                <a:highlight>
                  <a:srgbClr val="FFFFFF"/>
                </a:highlight>
                <a:latin typeface="Consolas"/>
                <a:ea typeface="Consolas"/>
                <a:cs typeface="Consolas"/>
                <a:sym typeface="Consolas"/>
              </a:rPr>
              <a:t>(</a:t>
            </a:r>
            <a:r>
              <a:rPr lang="es-ES" sz="1700">
                <a:solidFill>
                  <a:srgbClr val="005CC5"/>
                </a:solidFill>
                <a:highlight>
                  <a:srgbClr val="FFFFFF"/>
                </a:highlight>
                <a:latin typeface="Consolas"/>
                <a:ea typeface="Consolas"/>
                <a:cs typeface="Consolas"/>
                <a:sym typeface="Consolas"/>
              </a:rPr>
              <a:t>1</a:t>
            </a: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   </a:t>
            </a:r>
            <a:r>
              <a:rPr lang="es-ES" sz="1700">
                <a:solidFill>
                  <a:srgbClr val="D73A49"/>
                </a:solidFill>
                <a:highlight>
                  <a:srgbClr val="FFFFFF"/>
                </a:highlight>
                <a:latin typeface="Consolas"/>
                <a:ea typeface="Consolas"/>
                <a:cs typeface="Consolas"/>
                <a:sym typeface="Consolas"/>
              </a:rPr>
              <a:t>return</a:t>
            </a:r>
            <a:r>
              <a:rPr lang="es-ES" sz="1700">
                <a:solidFill>
                  <a:srgbClr val="24292E"/>
                </a:solidFill>
                <a:highlight>
                  <a:srgbClr val="FFFFFF"/>
                </a:highlight>
                <a:latin typeface="Consolas"/>
                <a:ea typeface="Consolas"/>
                <a:cs typeface="Consolas"/>
                <a:sym typeface="Consolas"/>
              </a:rPr>
              <a:t> </a:t>
            </a:r>
            <a:r>
              <a:rPr lang="es-ES" sz="1700">
                <a:solidFill>
                  <a:srgbClr val="005CC5"/>
                </a:solidFill>
                <a:highlight>
                  <a:srgbClr val="FFFFFF"/>
                </a:highlight>
                <a:latin typeface="Consolas"/>
                <a:ea typeface="Consolas"/>
                <a:cs typeface="Consolas"/>
                <a:sym typeface="Consolas"/>
              </a:rPr>
              <a:t>0</a:t>
            </a: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700">
                <a:solidFill>
                  <a:srgbClr val="24292E"/>
                </a:solidFill>
                <a:highlight>
                  <a:srgbClr val="FFFFFF"/>
                </a:highlight>
                <a:latin typeface="Consolas"/>
                <a:ea typeface="Consolas"/>
                <a:cs typeface="Consolas"/>
                <a:sym typeface="Consolas"/>
              </a:rPr>
              <a:t>}</a:t>
            </a:r>
            <a:endParaRPr sz="1700">
              <a:solidFill>
                <a:srgbClr val="24292E"/>
              </a:solidFill>
              <a:highlight>
                <a:srgbClr val="FFFFFF"/>
              </a:highlight>
              <a:latin typeface="Consolas"/>
              <a:ea typeface="Consolas"/>
              <a:cs typeface="Consolas"/>
              <a:sym typeface="Consolas"/>
            </a:endParaRPr>
          </a:p>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21" name="Google Shape;421;p44"/>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Virtualización de la CPU</a:t>
            </a:r>
            <a:endParaRPr sz="2800" b="1" dirty="0">
              <a:solidFill>
                <a:schemeClr val="accent1"/>
              </a:solidFill>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pic>
        <p:nvPicPr>
          <p:cNvPr id="422" name="Google Shape;422;p44"/>
          <p:cNvPicPr preferRelativeResize="0"/>
          <p:nvPr/>
        </p:nvPicPr>
        <p:blipFill>
          <a:blip r:embed="rId3">
            <a:alphaModFix/>
          </a:blip>
          <a:stretch>
            <a:fillRect/>
          </a:stretch>
        </p:blipFill>
        <p:spPr>
          <a:xfrm>
            <a:off x="2638025" y="1623513"/>
            <a:ext cx="1924050" cy="2305050"/>
          </a:xfrm>
          <a:prstGeom prst="rect">
            <a:avLst/>
          </a:prstGeom>
          <a:noFill/>
          <a:ln>
            <a:noFill/>
          </a:ln>
        </p:spPr>
      </p:pic>
      <p:pic>
        <p:nvPicPr>
          <p:cNvPr id="423" name="Google Shape;423;p44"/>
          <p:cNvPicPr preferRelativeResize="0"/>
          <p:nvPr/>
        </p:nvPicPr>
        <p:blipFill>
          <a:blip r:embed="rId4">
            <a:alphaModFix/>
          </a:blip>
          <a:stretch>
            <a:fillRect/>
          </a:stretch>
        </p:blipFill>
        <p:spPr>
          <a:xfrm>
            <a:off x="2907225" y="4281150"/>
            <a:ext cx="1066800" cy="1066800"/>
          </a:xfrm>
          <a:prstGeom prst="rect">
            <a:avLst/>
          </a:prstGeom>
          <a:noFill/>
          <a:ln>
            <a:noFill/>
          </a:ln>
        </p:spPr>
      </p:pic>
      <p:cxnSp>
        <p:nvCxnSpPr>
          <p:cNvPr id="424" name="Google Shape;424;p44"/>
          <p:cNvCxnSpPr/>
          <p:nvPr/>
        </p:nvCxnSpPr>
        <p:spPr>
          <a:xfrm>
            <a:off x="1014600" y="3913475"/>
            <a:ext cx="3622200" cy="0"/>
          </a:xfrm>
          <a:prstGeom prst="straightConnector1">
            <a:avLst/>
          </a:prstGeom>
          <a:noFill/>
          <a:ln w="38100" cap="flat" cmpd="sng">
            <a:solidFill>
              <a:srgbClr val="FF9900"/>
            </a:solidFill>
            <a:prstDash val="solid"/>
            <a:round/>
            <a:headEnd type="none" w="med" len="med"/>
            <a:tailEnd type="none" w="med" len="med"/>
          </a:ln>
        </p:spPr>
      </p:cxnSp>
      <p:sp>
        <p:nvSpPr>
          <p:cNvPr id="425" name="Google Shape;425;p44"/>
          <p:cNvSpPr txBox="1"/>
          <p:nvPr/>
        </p:nvSpPr>
        <p:spPr>
          <a:xfrm>
            <a:off x="1060325" y="2662125"/>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Ilusión</a:t>
            </a:r>
            <a:endParaRPr sz="2000" b="1">
              <a:solidFill>
                <a:srgbClr val="FF9900"/>
              </a:solidFill>
            </a:endParaRPr>
          </a:p>
        </p:txBody>
      </p:sp>
      <p:sp>
        <p:nvSpPr>
          <p:cNvPr id="426" name="Google Shape;426;p44"/>
          <p:cNvSpPr txBox="1"/>
          <p:nvPr/>
        </p:nvSpPr>
        <p:spPr>
          <a:xfrm>
            <a:off x="1060325" y="464890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Recurso</a:t>
            </a:r>
            <a:endParaRPr sz="2000" b="1">
              <a:solidFill>
                <a:srgbClr val="FF9900"/>
              </a:solidFill>
            </a:endParaRPr>
          </a:p>
        </p:txBody>
      </p:sp>
      <p:pic>
        <p:nvPicPr>
          <p:cNvPr id="427" name="Google Shape;427;p44"/>
          <p:cNvPicPr preferRelativeResize="0"/>
          <p:nvPr/>
        </p:nvPicPr>
        <p:blipFill>
          <a:blip r:embed="rId5">
            <a:alphaModFix/>
          </a:blip>
          <a:stretch>
            <a:fillRect/>
          </a:stretch>
        </p:blipFill>
        <p:spPr>
          <a:xfrm>
            <a:off x="5707425" y="2265259"/>
            <a:ext cx="5400850" cy="2753841"/>
          </a:xfrm>
          <a:prstGeom prst="rect">
            <a:avLst/>
          </a:prstGeom>
          <a:noFill/>
          <a:ln>
            <a:noFill/>
          </a:ln>
        </p:spPr>
      </p:pic>
      <p:sp>
        <p:nvSpPr>
          <p:cNvPr id="428" name="Google Shape;428;p44"/>
          <p:cNvSpPr txBox="1"/>
          <p:nvPr/>
        </p:nvSpPr>
        <p:spPr>
          <a:xfrm>
            <a:off x="990675" y="5739425"/>
            <a:ext cx="10529700" cy="370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latin typeface="Roboto"/>
                <a:ea typeface="Roboto"/>
                <a:cs typeface="Roboto"/>
                <a:sym typeface="Roboto"/>
              </a:rPr>
              <a:t>Ver video</a:t>
            </a:r>
            <a:r>
              <a:rPr lang="es-ES" sz="1600">
                <a:latin typeface="Roboto"/>
                <a:ea typeface="Roboto"/>
                <a:cs typeface="Roboto"/>
                <a:sym typeface="Roboto"/>
              </a:rPr>
              <a:t>: C01P10 - Virtualización de la CPU: Ejemplos - ISI485 Sistemas Operativos (</a:t>
            </a:r>
            <a:r>
              <a:rPr lang="es-ES" sz="1600" u="sng">
                <a:solidFill>
                  <a:schemeClr val="hlink"/>
                </a:solidFill>
                <a:latin typeface="Roboto"/>
                <a:ea typeface="Roboto"/>
                <a:cs typeface="Roboto"/>
                <a:sym typeface="Roboto"/>
                <a:hlinkClick r:id="rId6"/>
              </a:rPr>
              <a:t>link</a:t>
            </a:r>
            <a:r>
              <a:rPr lang="es-ES" sz="1600">
                <a:latin typeface="Roboto"/>
                <a:ea typeface="Roboto"/>
                <a:cs typeface="Roboto"/>
                <a:sym typeface="Roboto"/>
              </a:rPr>
              <a:t>)</a:t>
            </a:r>
            <a:endParaRPr sz="16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5"/>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434" name="Google Shape;434;p45"/>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Virtualización de la CPU</a:t>
            </a:r>
            <a:endParaRPr sz="2800" b="1" dirty="0">
              <a:solidFill>
                <a:schemeClr val="accent1"/>
              </a:solidFill>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pic>
        <p:nvPicPr>
          <p:cNvPr id="435" name="Google Shape;435;p45"/>
          <p:cNvPicPr preferRelativeResize="0"/>
          <p:nvPr/>
        </p:nvPicPr>
        <p:blipFill>
          <a:blip r:embed="rId3">
            <a:alphaModFix/>
          </a:blip>
          <a:stretch>
            <a:fillRect/>
          </a:stretch>
        </p:blipFill>
        <p:spPr>
          <a:xfrm>
            <a:off x="1565900" y="2122325"/>
            <a:ext cx="5340775" cy="4030775"/>
          </a:xfrm>
          <a:prstGeom prst="rect">
            <a:avLst/>
          </a:prstGeom>
          <a:noFill/>
          <a:ln>
            <a:noFill/>
          </a:ln>
        </p:spPr>
      </p:pic>
      <p:cxnSp>
        <p:nvCxnSpPr>
          <p:cNvPr id="436" name="Google Shape;436;p45"/>
          <p:cNvCxnSpPr/>
          <p:nvPr/>
        </p:nvCxnSpPr>
        <p:spPr>
          <a:xfrm rot="10800000" flipH="1">
            <a:off x="916650" y="4460800"/>
            <a:ext cx="5410500" cy="20400"/>
          </a:xfrm>
          <a:prstGeom prst="straightConnector1">
            <a:avLst/>
          </a:prstGeom>
          <a:noFill/>
          <a:ln w="38100" cap="flat" cmpd="sng">
            <a:solidFill>
              <a:srgbClr val="FF9900"/>
            </a:solidFill>
            <a:prstDash val="solid"/>
            <a:round/>
            <a:headEnd type="none" w="med" len="med"/>
            <a:tailEnd type="none" w="med" len="med"/>
          </a:ln>
        </p:spPr>
      </p:cxnSp>
      <p:sp>
        <p:nvSpPr>
          <p:cNvPr id="437" name="Google Shape;437;p45"/>
          <p:cNvSpPr txBox="1"/>
          <p:nvPr/>
        </p:nvSpPr>
        <p:spPr>
          <a:xfrm>
            <a:off x="962375" y="322985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Ilusión</a:t>
            </a:r>
            <a:endParaRPr sz="2000" b="1">
              <a:solidFill>
                <a:srgbClr val="FF9900"/>
              </a:solidFill>
            </a:endParaRPr>
          </a:p>
        </p:txBody>
      </p:sp>
      <p:sp>
        <p:nvSpPr>
          <p:cNvPr id="438" name="Google Shape;438;p45"/>
          <p:cNvSpPr txBox="1"/>
          <p:nvPr/>
        </p:nvSpPr>
        <p:spPr>
          <a:xfrm>
            <a:off x="962375" y="5216625"/>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Recurso</a:t>
            </a:r>
            <a:endParaRPr sz="2000" b="1">
              <a:solidFill>
                <a:srgbClr val="FF9900"/>
              </a:solidFill>
            </a:endParaRPr>
          </a:p>
        </p:txBody>
      </p:sp>
      <p:pic>
        <p:nvPicPr>
          <p:cNvPr id="439" name="Google Shape;439;p45"/>
          <p:cNvPicPr preferRelativeResize="0"/>
          <p:nvPr/>
        </p:nvPicPr>
        <p:blipFill>
          <a:blip r:embed="rId4">
            <a:alphaModFix/>
          </a:blip>
          <a:stretch>
            <a:fillRect/>
          </a:stretch>
        </p:blipFill>
        <p:spPr>
          <a:xfrm>
            <a:off x="6513475" y="2807513"/>
            <a:ext cx="5526125" cy="285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6"/>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45" name="Google Shape;445;p46"/>
          <p:cNvSpPr txBox="1">
            <a:spLocks noGrp="1"/>
          </p:cNvSpPr>
          <p:nvPr>
            <p:ph type="body" idx="1"/>
          </p:nvPr>
        </p:nvSpPr>
        <p:spPr>
          <a:xfrm>
            <a:off x="916650" y="932700"/>
            <a:ext cx="56520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Virtualización de Memoria</a:t>
            </a:r>
            <a:endParaRPr sz="2800" b="1" dirty="0">
              <a:solidFill>
                <a:schemeClr val="accent1"/>
              </a:solidFill>
              <a:latin typeface="+mn-lt"/>
            </a:endParaRPr>
          </a:p>
          <a:p>
            <a:pPr marL="457200" lvl="0" indent="-393700" algn="l" rtl="0">
              <a:lnSpc>
                <a:spcPct val="100000"/>
              </a:lnSpc>
              <a:spcBef>
                <a:spcPts val="600"/>
              </a:spcBef>
              <a:spcAft>
                <a:spcPts val="0"/>
              </a:spcAft>
              <a:buSzPts val="2600"/>
              <a:buFont typeface="Times New Roman"/>
              <a:buChar char="●"/>
            </a:pPr>
            <a:r>
              <a:rPr lang="es-ES" dirty="0">
                <a:latin typeface="+mn-lt"/>
              </a:rPr>
              <a:t>La memoria física </a:t>
            </a:r>
            <a:r>
              <a:rPr lang="es-ES" b="1" dirty="0">
                <a:solidFill>
                  <a:srgbClr val="FF0000"/>
                </a:solidFill>
                <a:latin typeface="+mn-lt"/>
              </a:rPr>
              <a:t>es un arreglo de bytes</a:t>
            </a:r>
            <a:r>
              <a:rPr lang="es-ES" dirty="0">
                <a:latin typeface="+mn-lt"/>
              </a:rPr>
              <a:t>.</a:t>
            </a:r>
            <a:endParaRPr dirty="0">
              <a:latin typeface="+mn-lt"/>
            </a:endParaRPr>
          </a:p>
          <a:p>
            <a:pPr marL="457200" lvl="0" indent="-393700" algn="l" rtl="0">
              <a:lnSpc>
                <a:spcPct val="100000"/>
              </a:lnSpc>
              <a:spcBef>
                <a:spcPts val="0"/>
              </a:spcBef>
              <a:spcAft>
                <a:spcPts val="0"/>
              </a:spcAft>
              <a:buSzPts val="2600"/>
              <a:buFont typeface="Roboto"/>
              <a:buChar char="●"/>
            </a:pPr>
            <a:r>
              <a:rPr lang="es-ES" dirty="0">
                <a:latin typeface="+mn-lt"/>
              </a:rPr>
              <a:t>Un programa almacena todas sus estructuras de datos en la memoria:</a:t>
            </a:r>
            <a:endParaRPr dirty="0">
              <a:latin typeface="+mn-lt"/>
            </a:endParaRPr>
          </a:p>
          <a:p>
            <a:pPr marL="914400" lvl="1" indent="-381000" algn="l" rtl="0">
              <a:lnSpc>
                <a:spcPct val="100000"/>
              </a:lnSpc>
              <a:spcBef>
                <a:spcPts val="0"/>
              </a:spcBef>
              <a:spcAft>
                <a:spcPts val="0"/>
              </a:spcAft>
              <a:buSzPts val="2400"/>
              <a:buFont typeface="Times New Roman"/>
              <a:buChar char="○"/>
            </a:pPr>
            <a:r>
              <a:rPr lang="es-ES" sz="2400" dirty="0">
                <a:latin typeface="+mn-lt"/>
              </a:rPr>
              <a:t>Lee la memoria (</a:t>
            </a:r>
            <a:r>
              <a:rPr lang="es-ES" sz="2400" b="1" dirty="0">
                <a:latin typeface="+mn-lt"/>
              </a:rPr>
              <a:t>load</a:t>
            </a:r>
            <a:r>
              <a:rPr lang="es-ES" sz="2400" dirty="0">
                <a:latin typeface="+mn-lt"/>
              </a:rPr>
              <a:t>): Especifica una dirección para poder acceder a un dato</a:t>
            </a:r>
            <a:endParaRPr sz="2400" dirty="0">
              <a:latin typeface="+mn-lt"/>
            </a:endParaRPr>
          </a:p>
          <a:p>
            <a:pPr marL="914400" lvl="1" indent="-381000" algn="l" rtl="0">
              <a:lnSpc>
                <a:spcPct val="100000"/>
              </a:lnSpc>
              <a:spcBef>
                <a:spcPts val="0"/>
              </a:spcBef>
              <a:spcAft>
                <a:spcPts val="0"/>
              </a:spcAft>
              <a:buSzPts val="2400"/>
              <a:buFont typeface="Times New Roman"/>
              <a:buChar char="○"/>
            </a:pPr>
            <a:r>
              <a:rPr lang="es-ES" sz="2400" dirty="0">
                <a:latin typeface="+mn-lt"/>
              </a:rPr>
              <a:t>Escribe en la memoria (</a:t>
            </a:r>
            <a:r>
              <a:rPr lang="es-ES" sz="2400" b="1" dirty="0" err="1">
                <a:latin typeface="+mn-lt"/>
              </a:rPr>
              <a:t>write</a:t>
            </a:r>
            <a:r>
              <a:rPr lang="es-ES" sz="2400" dirty="0">
                <a:latin typeface="+mn-lt"/>
              </a:rPr>
              <a:t>):Especifica el dato para ser escrito en una dirección dada.</a:t>
            </a:r>
            <a:endParaRPr sz="2400"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sp>
        <p:nvSpPr>
          <p:cNvPr id="446" name="Google Shape;446;p46"/>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graphicFrame>
        <p:nvGraphicFramePr>
          <p:cNvPr id="447" name="Google Shape;447;p46"/>
          <p:cNvGraphicFramePr/>
          <p:nvPr/>
        </p:nvGraphicFramePr>
        <p:xfrm>
          <a:off x="7432525" y="1623275"/>
          <a:ext cx="3935750" cy="2285850"/>
        </p:xfrm>
        <a:graphic>
          <a:graphicData uri="http://schemas.openxmlformats.org/drawingml/2006/table">
            <a:tbl>
              <a:tblPr>
                <a:noFill/>
              </a:tblPr>
              <a:tblGrid>
                <a:gridCol w="953650">
                  <a:extLst>
                    <a:ext uri="{9D8B030D-6E8A-4147-A177-3AD203B41FA5}">
                      <a16:colId xmlns:a16="http://schemas.microsoft.com/office/drawing/2014/main" val="20000"/>
                    </a:ext>
                  </a:extLst>
                </a:gridCol>
                <a:gridCol w="29821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4"/>
                  </a:ext>
                </a:extLst>
              </a:tr>
            </a:tbl>
          </a:graphicData>
        </a:graphic>
      </p:graphicFrame>
      <p:sp>
        <p:nvSpPr>
          <p:cNvPr id="448" name="Google Shape;448;p46"/>
          <p:cNvSpPr/>
          <p:nvPr/>
        </p:nvSpPr>
        <p:spPr>
          <a:xfrm>
            <a:off x="9514650" y="3591500"/>
            <a:ext cx="402300" cy="724500"/>
          </a:xfrm>
          <a:prstGeom prst="upDownArrow">
            <a:avLst>
              <a:gd name="adj1" fmla="val 50000"/>
              <a:gd name="adj2" fmla="val 50000"/>
            </a:avLst>
          </a:pr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6"/>
          <p:cNvSpPr/>
          <p:nvPr/>
        </p:nvSpPr>
        <p:spPr>
          <a:xfrm>
            <a:off x="7386950" y="4867575"/>
            <a:ext cx="4026900" cy="418500"/>
          </a:xfrm>
          <a:prstGeom prst="leftRightArrow">
            <a:avLst>
              <a:gd name="adj1" fmla="val 50000"/>
              <a:gd name="adj2" fmla="val 50000"/>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6"/>
          <p:cNvSpPr/>
          <p:nvPr/>
        </p:nvSpPr>
        <p:spPr>
          <a:xfrm>
            <a:off x="7370850" y="4166850"/>
            <a:ext cx="4026900" cy="418500"/>
          </a:xfrm>
          <a:prstGeom prst="leftRightArrow">
            <a:avLst>
              <a:gd name="adj1" fmla="val 50000"/>
              <a:gd name="adj2" fmla="val 50000"/>
            </a:avLst>
          </a:pr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6"/>
          <p:cNvSpPr/>
          <p:nvPr/>
        </p:nvSpPr>
        <p:spPr>
          <a:xfrm>
            <a:off x="7727725" y="3591500"/>
            <a:ext cx="402300" cy="1449000"/>
          </a:xfrm>
          <a:prstGeom prst="upArrow">
            <a:avLst>
              <a:gd name="adj1" fmla="val 50000"/>
              <a:gd name="adj2" fmla="val 50000"/>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6"/>
          <p:cNvSpPr txBox="1"/>
          <p:nvPr/>
        </p:nvSpPr>
        <p:spPr>
          <a:xfrm>
            <a:off x="7370850" y="1201363"/>
            <a:ext cx="1046400" cy="41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latin typeface="Consolas"/>
                <a:ea typeface="Consolas"/>
                <a:cs typeface="Consolas"/>
                <a:sym typeface="Consolas"/>
              </a:rPr>
              <a:t>Address</a:t>
            </a:r>
            <a:endParaRPr b="1">
              <a:latin typeface="Consolas"/>
              <a:ea typeface="Consolas"/>
              <a:cs typeface="Consolas"/>
              <a:sym typeface="Consolas"/>
            </a:endParaRPr>
          </a:p>
        </p:txBody>
      </p:sp>
      <p:sp>
        <p:nvSpPr>
          <p:cNvPr id="453" name="Google Shape;453;p46"/>
          <p:cNvSpPr txBox="1"/>
          <p:nvPr/>
        </p:nvSpPr>
        <p:spPr>
          <a:xfrm>
            <a:off x="9362250" y="1155188"/>
            <a:ext cx="1046400" cy="41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latin typeface="Consolas"/>
                <a:ea typeface="Consolas"/>
                <a:cs typeface="Consolas"/>
                <a:sym typeface="Consolas"/>
              </a:rPr>
              <a:t>Data</a:t>
            </a:r>
            <a:endParaRPr b="1">
              <a:latin typeface="Consolas"/>
              <a:ea typeface="Consolas"/>
              <a:cs typeface="Consolas"/>
              <a:sym typeface="Consolas"/>
            </a:endParaRPr>
          </a:p>
        </p:txBody>
      </p:sp>
      <p:sp>
        <p:nvSpPr>
          <p:cNvPr id="454" name="Google Shape;454;p46"/>
          <p:cNvSpPr txBox="1"/>
          <p:nvPr/>
        </p:nvSpPr>
        <p:spPr>
          <a:xfrm>
            <a:off x="10078100" y="3744488"/>
            <a:ext cx="1046400" cy="41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latin typeface="Consolas"/>
                <a:ea typeface="Consolas"/>
                <a:cs typeface="Consolas"/>
                <a:sym typeface="Consolas"/>
              </a:rPr>
              <a:t>Data bus</a:t>
            </a:r>
            <a:endParaRPr b="1">
              <a:latin typeface="Consolas"/>
              <a:ea typeface="Consolas"/>
              <a:cs typeface="Consolas"/>
              <a:sym typeface="Consolas"/>
            </a:endParaRPr>
          </a:p>
        </p:txBody>
      </p:sp>
      <p:sp>
        <p:nvSpPr>
          <p:cNvPr id="455" name="Google Shape;455;p46"/>
          <p:cNvSpPr txBox="1"/>
          <p:nvPr/>
        </p:nvSpPr>
        <p:spPr>
          <a:xfrm>
            <a:off x="9361550" y="4585350"/>
            <a:ext cx="1686900" cy="418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ES" b="1">
                <a:latin typeface="Consolas"/>
                <a:ea typeface="Consolas"/>
                <a:cs typeface="Consolas"/>
                <a:sym typeface="Consolas"/>
              </a:rPr>
              <a:t>Address bus</a:t>
            </a:r>
            <a:endParaRPr b="1">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7"/>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61" name="Google Shape;461;p47"/>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a:solidFill>
                  <a:schemeClr val="accent1"/>
                </a:solidFill>
              </a:rPr>
              <a:t>Ejemplo</a:t>
            </a:r>
            <a:endParaRPr sz="2800" b="1">
              <a:solidFill>
                <a:schemeClr val="accent1"/>
              </a:solidFill>
            </a:endParaRPr>
          </a:p>
          <a:p>
            <a:pPr marL="457200" lvl="0" indent="0" algn="l" rtl="0">
              <a:lnSpc>
                <a:spcPct val="100000"/>
              </a:lnSpc>
              <a:spcBef>
                <a:spcPts val="600"/>
              </a:spcBef>
              <a:spcAft>
                <a:spcPts val="0"/>
              </a:spcAft>
              <a:buNone/>
            </a:pPr>
            <a:endParaRPr/>
          </a:p>
          <a:p>
            <a:pPr marL="457200" lvl="0" indent="0" algn="l" rtl="0">
              <a:lnSpc>
                <a:spcPct val="100000"/>
              </a:lnSpc>
              <a:spcBef>
                <a:spcPts val="600"/>
              </a:spcBef>
              <a:spcAft>
                <a:spcPts val="0"/>
              </a:spcAft>
              <a:buNone/>
            </a:pPr>
            <a:endParaRPr/>
          </a:p>
          <a:p>
            <a:pPr marL="457200" lvl="0" indent="0" algn="l" rtl="0">
              <a:lnSpc>
                <a:spcPct val="100000"/>
              </a:lnSpc>
              <a:spcBef>
                <a:spcPts val="600"/>
              </a:spcBef>
              <a:spcAft>
                <a:spcPts val="0"/>
              </a:spcAft>
              <a:buNone/>
            </a:pPr>
            <a:endParaRPr/>
          </a:p>
          <a:p>
            <a:pPr marL="914400" lvl="0" indent="0" algn="l" rtl="0">
              <a:lnSpc>
                <a:spcPct val="100000"/>
              </a:lnSpc>
              <a:spcBef>
                <a:spcPts val="600"/>
              </a:spcBef>
              <a:spcAft>
                <a:spcPts val="0"/>
              </a:spcAft>
              <a:buNone/>
            </a:pPr>
            <a:endParaRPr b="1"/>
          </a:p>
          <a:p>
            <a:pPr marL="457200" lvl="0" indent="0" algn="l" rtl="0">
              <a:lnSpc>
                <a:spcPct val="100000"/>
              </a:lnSpc>
              <a:spcBef>
                <a:spcPts val="600"/>
              </a:spcBef>
              <a:spcAft>
                <a:spcPts val="0"/>
              </a:spcAft>
              <a:buNone/>
            </a:pPr>
            <a:endParaRPr b="1"/>
          </a:p>
          <a:p>
            <a:pPr marL="457200" lvl="0" indent="0" algn="l" rtl="0">
              <a:lnSpc>
                <a:spcPct val="100000"/>
              </a:lnSpc>
              <a:spcBef>
                <a:spcPts val="480"/>
              </a:spcBef>
              <a:spcAft>
                <a:spcPts val="0"/>
              </a:spcAft>
              <a:buNone/>
            </a:pPr>
            <a:endParaRPr sz="2400"/>
          </a:p>
          <a:p>
            <a:pPr marL="457200" lvl="0" indent="0" algn="l" rtl="0">
              <a:lnSpc>
                <a:spcPct val="100000"/>
              </a:lnSpc>
              <a:spcBef>
                <a:spcPts val="480"/>
              </a:spcBef>
              <a:spcAft>
                <a:spcPts val="0"/>
              </a:spcAft>
              <a:buNone/>
            </a:pPr>
            <a:endParaRPr/>
          </a:p>
          <a:p>
            <a:pPr marL="0" lvl="0" indent="0" algn="l" rtl="0">
              <a:spcBef>
                <a:spcPts val="1000"/>
              </a:spcBef>
              <a:spcAft>
                <a:spcPts val="0"/>
              </a:spcAft>
              <a:buNone/>
            </a:pPr>
            <a:endParaRPr/>
          </a:p>
          <a:p>
            <a:pPr marL="457200" lvl="0" indent="0" algn="l" rtl="0">
              <a:spcBef>
                <a:spcPts val="1000"/>
              </a:spcBef>
              <a:spcAft>
                <a:spcPts val="0"/>
              </a:spcAft>
              <a:buNone/>
            </a:pPr>
            <a:endParaRPr/>
          </a:p>
        </p:txBody>
      </p:sp>
      <p:sp>
        <p:nvSpPr>
          <p:cNvPr id="462" name="Google Shape;462;p47"/>
          <p:cNvSpPr txBox="1"/>
          <p:nvPr/>
        </p:nvSpPr>
        <p:spPr>
          <a:xfrm>
            <a:off x="1239975" y="3156825"/>
            <a:ext cx="1030200" cy="40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t>mem.c</a:t>
            </a:r>
            <a:endParaRPr sz="1600" b="1"/>
          </a:p>
        </p:txBody>
      </p:sp>
      <p:pic>
        <p:nvPicPr>
          <p:cNvPr id="463" name="Google Shape;463;p47"/>
          <p:cNvPicPr preferRelativeResize="0"/>
          <p:nvPr/>
        </p:nvPicPr>
        <p:blipFill>
          <a:blip r:embed="rId3">
            <a:alphaModFix/>
          </a:blip>
          <a:stretch>
            <a:fillRect/>
          </a:stretch>
        </p:blipFill>
        <p:spPr>
          <a:xfrm>
            <a:off x="1054538" y="1955025"/>
            <a:ext cx="1095375" cy="1114425"/>
          </a:xfrm>
          <a:prstGeom prst="rect">
            <a:avLst/>
          </a:prstGeom>
          <a:noFill/>
          <a:ln>
            <a:noFill/>
          </a:ln>
        </p:spPr>
      </p:pic>
      <p:sp>
        <p:nvSpPr>
          <p:cNvPr id="464" name="Google Shape;464;p47"/>
          <p:cNvSpPr txBox="1"/>
          <p:nvPr/>
        </p:nvSpPr>
        <p:spPr>
          <a:xfrm>
            <a:off x="2672750" y="969350"/>
            <a:ext cx="8625900" cy="541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&lt;unistd.h&gt;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&lt;stdio.h&gt;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&lt;stdlib.h&gt;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"common.h"</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t>
            </a:r>
            <a:r>
              <a:rPr lang="es-ES" sz="1600">
                <a:solidFill>
                  <a:srgbClr val="6F42C1"/>
                </a:solidFill>
                <a:highlight>
                  <a:srgbClr val="FFFFFF"/>
                </a:highlight>
                <a:latin typeface="Consolas"/>
                <a:ea typeface="Consolas"/>
                <a:cs typeface="Consolas"/>
                <a:sym typeface="Consolas"/>
              </a:rPr>
              <a:t>main</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argc, </a:t>
            </a:r>
            <a:r>
              <a:rPr lang="es-ES" sz="1600">
                <a:solidFill>
                  <a:srgbClr val="D73A49"/>
                </a:solidFill>
                <a:highlight>
                  <a:srgbClr val="FFFFFF"/>
                </a:highlight>
                <a:latin typeface="Consolas"/>
                <a:ea typeface="Consolas"/>
                <a:cs typeface="Consolas"/>
                <a:sym typeface="Consolas"/>
              </a:rPr>
              <a:t>char</a:t>
            </a:r>
            <a:r>
              <a:rPr lang="es-ES" sz="1600">
                <a:solidFill>
                  <a:srgbClr val="24292E"/>
                </a:solidFill>
                <a:highlight>
                  <a:srgbClr val="FFFFFF"/>
                </a:highlight>
                <a:latin typeface="Consolas"/>
                <a:ea typeface="Consolas"/>
                <a:cs typeface="Consolas"/>
                <a:sym typeface="Consolas"/>
              </a:rPr>
              <a:t> *argv[])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if</a:t>
            </a:r>
            <a:r>
              <a:rPr lang="es-ES" sz="1600">
                <a:solidFill>
                  <a:srgbClr val="24292E"/>
                </a:solidFill>
                <a:highlight>
                  <a:srgbClr val="FFFFFF"/>
                </a:highlight>
                <a:latin typeface="Consolas"/>
                <a:ea typeface="Consolas"/>
                <a:cs typeface="Consolas"/>
                <a:sym typeface="Consolas"/>
              </a:rPr>
              <a:t> (argc != </a:t>
            </a:r>
            <a:r>
              <a:rPr lang="es-ES" sz="1600">
                <a:solidFill>
                  <a:srgbClr val="005CC5"/>
                </a:solidFill>
                <a:highlight>
                  <a:srgbClr val="FFFFFF"/>
                </a:highlight>
                <a:latin typeface="Consolas"/>
                <a:ea typeface="Consolas"/>
                <a:cs typeface="Consolas"/>
                <a:sym typeface="Consolas"/>
              </a:rPr>
              <a:t>2</a:t>
            </a: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fprintf</a:t>
            </a:r>
            <a:r>
              <a:rPr lang="es-ES" sz="1600">
                <a:solidFill>
                  <a:srgbClr val="24292E"/>
                </a:solidFill>
                <a:highlight>
                  <a:srgbClr val="FFFFFF"/>
                </a:highlight>
                <a:latin typeface="Consolas"/>
                <a:ea typeface="Consolas"/>
                <a:cs typeface="Consolas"/>
                <a:sym typeface="Consolas"/>
              </a:rPr>
              <a:t>(stderr, </a:t>
            </a:r>
            <a:r>
              <a:rPr lang="es-ES" sz="1600">
                <a:solidFill>
                  <a:srgbClr val="032F62"/>
                </a:solidFill>
                <a:highlight>
                  <a:srgbClr val="FFFFFF"/>
                </a:highlight>
                <a:latin typeface="Consolas"/>
                <a:ea typeface="Consolas"/>
                <a:cs typeface="Consolas"/>
                <a:sym typeface="Consolas"/>
              </a:rPr>
              <a:t>"usage: mem &lt;value&gt;\n"</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exit</a:t>
            </a:r>
            <a:r>
              <a:rPr lang="es-ES" sz="1600">
                <a:solidFill>
                  <a:srgbClr val="24292E"/>
                </a:solidFill>
                <a:highlight>
                  <a:srgbClr val="FFFFFF"/>
                </a:highlight>
                <a:latin typeface="Consolas"/>
                <a:ea typeface="Consolas"/>
                <a:cs typeface="Consolas"/>
                <a:sym typeface="Consolas"/>
              </a:rPr>
              <a:t>(</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*p;</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p = </a:t>
            </a:r>
            <a:r>
              <a:rPr lang="es-ES" sz="1600">
                <a:solidFill>
                  <a:srgbClr val="005CC5"/>
                </a:solidFill>
                <a:highlight>
                  <a:srgbClr val="FFFFFF"/>
                </a:highlight>
                <a:latin typeface="Consolas"/>
                <a:ea typeface="Consolas"/>
                <a:cs typeface="Consolas"/>
                <a:sym typeface="Consolas"/>
              </a:rPr>
              <a:t>malloc</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sizeof</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assert</a:t>
            </a:r>
            <a:r>
              <a:rPr lang="es-ES" sz="1600">
                <a:solidFill>
                  <a:srgbClr val="24292E"/>
                </a:solidFill>
                <a:highlight>
                  <a:srgbClr val="FFFFFF"/>
                </a:highlight>
                <a:latin typeface="Consolas"/>
                <a:ea typeface="Consolas"/>
                <a:cs typeface="Consolas"/>
                <a:sym typeface="Consolas"/>
              </a:rPr>
              <a:t>(p !=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printf</a:t>
            </a:r>
            <a:r>
              <a:rPr lang="es-ES" sz="1600">
                <a:solidFill>
                  <a:srgbClr val="24292E"/>
                </a:solidFill>
                <a:highlight>
                  <a:srgbClr val="FFFFFF"/>
                </a:highlight>
                <a:latin typeface="Consolas"/>
                <a:ea typeface="Consolas"/>
                <a:cs typeface="Consolas"/>
                <a:sym typeface="Consolas"/>
              </a:rPr>
              <a:t>(</a:t>
            </a:r>
            <a:r>
              <a:rPr lang="es-ES" sz="1600">
                <a:solidFill>
                  <a:srgbClr val="032F62"/>
                </a:solidFill>
                <a:highlight>
                  <a:srgbClr val="FFFFFF"/>
                </a:highlight>
                <a:latin typeface="Consolas"/>
                <a:ea typeface="Consolas"/>
                <a:cs typeface="Consolas"/>
                <a:sym typeface="Consolas"/>
              </a:rPr>
              <a:t>"(</a:t>
            </a:r>
            <a:r>
              <a:rPr lang="es-ES" sz="1600">
                <a:solidFill>
                  <a:srgbClr val="005CC5"/>
                </a:solidFill>
                <a:highlight>
                  <a:srgbClr val="FFFFFF"/>
                </a:highlight>
                <a:latin typeface="Consolas"/>
                <a:ea typeface="Consolas"/>
                <a:cs typeface="Consolas"/>
                <a:sym typeface="Consolas"/>
              </a:rPr>
              <a:t>%d</a:t>
            </a:r>
            <a:r>
              <a:rPr lang="es-ES" sz="1600">
                <a:solidFill>
                  <a:srgbClr val="032F62"/>
                </a:solidFill>
                <a:highlight>
                  <a:srgbClr val="FFFFFF"/>
                </a:highlight>
                <a:latin typeface="Consolas"/>
                <a:ea typeface="Consolas"/>
                <a:cs typeface="Consolas"/>
                <a:sym typeface="Consolas"/>
              </a:rPr>
              <a:t>) addr pointed to by p: </a:t>
            </a:r>
            <a:r>
              <a:rPr lang="es-ES" sz="1600">
                <a:solidFill>
                  <a:srgbClr val="005CC5"/>
                </a:solidFill>
                <a:highlight>
                  <a:srgbClr val="FFFFFF"/>
                </a:highlight>
                <a:latin typeface="Consolas"/>
                <a:ea typeface="Consolas"/>
                <a:cs typeface="Consolas"/>
                <a:sym typeface="Consolas"/>
              </a:rPr>
              <a:t>%p</a:t>
            </a:r>
            <a:r>
              <a:rPr lang="es-ES" sz="1600">
                <a:solidFill>
                  <a:srgbClr val="032F62"/>
                </a:solidFill>
                <a:highlight>
                  <a:srgbClr val="FFFFFF"/>
                </a:highlight>
                <a:latin typeface="Consolas"/>
                <a:ea typeface="Consolas"/>
                <a:cs typeface="Consolas"/>
                <a:sym typeface="Consolas"/>
              </a:rPr>
              <a:t>\n"</a:t>
            </a: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getpid</a:t>
            </a:r>
            <a:r>
              <a:rPr lang="es-ES" sz="1600">
                <a:solidFill>
                  <a:srgbClr val="24292E"/>
                </a:solidFill>
                <a:highlight>
                  <a:srgbClr val="FFFFFF"/>
                </a:highlight>
                <a:latin typeface="Consolas"/>
                <a:ea typeface="Consolas"/>
                <a:cs typeface="Consolas"/>
                <a:sym typeface="Consolas"/>
              </a:rPr>
              <a:t>(), p);</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*p = </a:t>
            </a:r>
            <a:r>
              <a:rPr lang="es-ES" sz="1600">
                <a:solidFill>
                  <a:srgbClr val="005CC5"/>
                </a:solidFill>
                <a:highlight>
                  <a:srgbClr val="FFFFFF"/>
                </a:highlight>
                <a:latin typeface="Consolas"/>
                <a:ea typeface="Consolas"/>
                <a:cs typeface="Consolas"/>
                <a:sym typeface="Consolas"/>
              </a:rPr>
              <a:t>atoi</a:t>
            </a:r>
            <a:r>
              <a:rPr lang="es-ES" sz="1600">
                <a:solidFill>
                  <a:srgbClr val="24292E"/>
                </a:solidFill>
                <a:highlight>
                  <a:srgbClr val="FFFFFF"/>
                </a:highlight>
                <a:latin typeface="Consolas"/>
                <a:ea typeface="Consolas"/>
                <a:cs typeface="Consolas"/>
                <a:sym typeface="Consolas"/>
              </a:rPr>
              <a:t>(argv[</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 </a:t>
            </a:r>
            <a:r>
              <a:rPr lang="es-ES" sz="1600">
                <a:solidFill>
                  <a:srgbClr val="6A737D"/>
                </a:solidFill>
                <a:highlight>
                  <a:srgbClr val="FFFFFF"/>
                </a:highlight>
                <a:latin typeface="Consolas"/>
                <a:ea typeface="Consolas"/>
                <a:cs typeface="Consolas"/>
                <a:sym typeface="Consolas"/>
              </a:rPr>
              <a:t>// assign value to addr stored in p</a:t>
            </a:r>
            <a:endParaRPr sz="1600">
              <a:solidFill>
                <a:srgbClr val="6A737D"/>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while</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Spin</a:t>
            </a:r>
            <a:r>
              <a:rPr lang="es-ES" sz="1600">
                <a:solidFill>
                  <a:srgbClr val="24292E"/>
                </a:solidFill>
                <a:highlight>
                  <a:srgbClr val="FFFFFF"/>
                </a:highlight>
                <a:latin typeface="Consolas"/>
                <a:ea typeface="Consolas"/>
                <a:cs typeface="Consolas"/>
                <a:sym typeface="Consolas"/>
              </a:rPr>
              <a:t>(</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*p = *p + </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printf</a:t>
            </a:r>
            <a:r>
              <a:rPr lang="es-ES" sz="1600">
                <a:solidFill>
                  <a:srgbClr val="24292E"/>
                </a:solidFill>
                <a:highlight>
                  <a:srgbClr val="FFFFFF"/>
                </a:highlight>
                <a:latin typeface="Consolas"/>
                <a:ea typeface="Consolas"/>
                <a:cs typeface="Consolas"/>
                <a:sym typeface="Consolas"/>
              </a:rPr>
              <a:t>(</a:t>
            </a:r>
            <a:r>
              <a:rPr lang="es-ES" sz="1600">
                <a:solidFill>
                  <a:srgbClr val="032F62"/>
                </a:solidFill>
                <a:highlight>
                  <a:srgbClr val="FFFFFF"/>
                </a:highlight>
                <a:latin typeface="Consolas"/>
                <a:ea typeface="Consolas"/>
                <a:cs typeface="Consolas"/>
                <a:sym typeface="Consolas"/>
              </a:rPr>
              <a:t>"(</a:t>
            </a:r>
            <a:r>
              <a:rPr lang="es-ES" sz="1600">
                <a:solidFill>
                  <a:srgbClr val="005CC5"/>
                </a:solidFill>
                <a:highlight>
                  <a:srgbClr val="FFFFFF"/>
                </a:highlight>
                <a:latin typeface="Consolas"/>
                <a:ea typeface="Consolas"/>
                <a:cs typeface="Consolas"/>
                <a:sym typeface="Consolas"/>
              </a:rPr>
              <a:t>%d</a:t>
            </a:r>
            <a:r>
              <a:rPr lang="es-ES" sz="1600">
                <a:solidFill>
                  <a:srgbClr val="032F62"/>
                </a:solidFill>
                <a:highlight>
                  <a:srgbClr val="FFFFFF"/>
                </a:highlight>
                <a:latin typeface="Consolas"/>
                <a:ea typeface="Consolas"/>
                <a:cs typeface="Consolas"/>
                <a:sym typeface="Consolas"/>
              </a:rPr>
              <a:t>) value of p: </a:t>
            </a:r>
            <a:r>
              <a:rPr lang="es-ES" sz="1600">
                <a:solidFill>
                  <a:srgbClr val="005CC5"/>
                </a:solidFill>
                <a:highlight>
                  <a:srgbClr val="FFFFFF"/>
                </a:highlight>
                <a:latin typeface="Consolas"/>
                <a:ea typeface="Consolas"/>
                <a:cs typeface="Consolas"/>
                <a:sym typeface="Consolas"/>
              </a:rPr>
              <a:t>%d</a:t>
            </a:r>
            <a:r>
              <a:rPr lang="es-ES" sz="1600">
                <a:solidFill>
                  <a:srgbClr val="032F62"/>
                </a:solidFill>
                <a:highlight>
                  <a:srgbClr val="FFFFFF"/>
                </a:highlight>
                <a:latin typeface="Consolas"/>
                <a:ea typeface="Consolas"/>
                <a:cs typeface="Consolas"/>
                <a:sym typeface="Consolas"/>
              </a:rPr>
              <a:t>\n"</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getpid</a:t>
            </a:r>
            <a:r>
              <a:rPr lang="es-ES" sz="1600">
                <a:solidFill>
                  <a:srgbClr val="24292E"/>
                </a:solidFill>
                <a:highlight>
                  <a:srgbClr val="FFFFFF"/>
                </a:highlight>
                <a:latin typeface="Consolas"/>
                <a:ea typeface="Consolas"/>
                <a:cs typeface="Consolas"/>
                <a:sym typeface="Consolas"/>
              </a:rPr>
              <a:t>(), *p);</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return</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spcBef>
                <a:spcPts val="0"/>
              </a:spcBef>
              <a:spcAft>
                <a:spcPts val="0"/>
              </a:spcAft>
              <a:buNone/>
            </a:pPr>
            <a:endParaRPr sz="1700">
              <a:solidFill>
                <a:srgbClr val="24292E"/>
              </a:solidFill>
              <a:highlight>
                <a:srgbClr val="FFFFFF"/>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8"/>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p>
        </p:txBody>
      </p:sp>
      <p:sp>
        <p:nvSpPr>
          <p:cNvPr id="470" name="Google Shape;470;p48"/>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pic>
        <p:nvPicPr>
          <p:cNvPr id="471" name="Google Shape;471;p48"/>
          <p:cNvPicPr preferRelativeResize="0"/>
          <p:nvPr/>
        </p:nvPicPr>
        <p:blipFill rotWithShape="1">
          <a:blip r:embed="rId3">
            <a:alphaModFix/>
          </a:blip>
          <a:srcRect r="28351" b="28351"/>
          <a:stretch/>
        </p:blipFill>
        <p:spPr>
          <a:xfrm>
            <a:off x="6785025" y="1456342"/>
            <a:ext cx="5160916" cy="1825975"/>
          </a:xfrm>
          <a:prstGeom prst="rect">
            <a:avLst/>
          </a:prstGeom>
          <a:noFill/>
          <a:ln>
            <a:noFill/>
          </a:ln>
        </p:spPr>
      </p:pic>
      <p:sp>
        <p:nvSpPr>
          <p:cNvPr id="472" name="Google Shape;472;p48"/>
          <p:cNvSpPr txBox="1"/>
          <p:nvPr/>
        </p:nvSpPr>
        <p:spPr>
          <a:xfrm>
            <a:off x="948100" y="869325"/>
            <a:ext cx="5650500" cy="3000000"/>
          </a:xfrm>
          <a:prstGeom prst="rect">
            <a:avLst/>
          </a:prstGeom>
          <a:noFill/>
          <a:ln>
            <a:noFill/>
          </a:ln>
        </p:spPr>
        <p:txBody>
          <a:bodyPr spcFirstLastPara="1" wrap="square" lIns="91425" tIns="91425" rIns="91425" bIns="91425" anchor="t" anchorCtr="0">
            <a:noAutofit/>
          </a:bodyPr>
          <a:lstStyle/>
          <a:p>
            <a:pPr marL="0" lvl="0" indent="0" algn="l" rtl="0">
              <a:spcBef>
                <a:spcPts val="480"/>
              </a:spcBef>
              <a:spcAft>
                <a:spcPts val="0"/>
              </a:spcAft>
              <a:buNone/>
            </a:pPr>
            <a:r>
              <a:rPr lang="es-ES" sz="2800" b="1" dirty="0">
                <a:solidFill>
                  <a:schemeClr val="accent1"/>
                </a:solidFill>
                <a:ea typeface="Roboto"/>
                <a:cs typeface="Roboto"/>
                <a:sym typeface="Roboto"/>
              </a:rPr>
              <a:t>Virtualización de Memoria</a:t>
            </a:r>
            <a:endParaRPr sz="2800" b="1" dirty="0">
              <a:solidFill>
                <a:schemeClr val="accent1"/>
              </a:solidFill>
              <a:ea typeface="Roboto"/>
              <a:cs typeface="Roboto"/>
              <a:sym typeface="Roboto"/>
            </a:endParaRPr>
          </a:p>
        </p:txBody>
      </p:sp>
      <p:pic>
        <p:nvPicPr>
          <p:cNvPr id="473" name="Google Shape;473;p48"/>
          <p:cNvPicPr preferRelativeResize="0"/>
          <p:nvPr/>
        </p:nvPicPr>
        <p:blipFill>
          <a:blip r:embed="rId4">
            <a:alphaModFix/>
          </a:blip>
          <a:stretch>
            <a:fillRect/>
          </a:stretch>
        </p:blipFill>
        <p:spPr>
          <a:xfrm>
            <a:off x="3211375" y="4153950"/>
            <a:ext cx="1123950" cy="1123950"/>
          </a:xfrm>
          <a:prstGeom prst="rect">
            <a:avLst/>
          </a:prstGeom>
          <a:noFill/>
          <a:ln>
            <a:noFill/>
          </a:ln>
        </p:spPr>
      </p:pic>
      <p:pic>
        <p:nvPicPr>
          <p:cNvPr id="474" name="Google Shape;474;p48"/>
          <p:cNvPicPr preferRelativeResize="0"/>
          <p:nvPr/>
        </p:nvPicPr>
        <p:blipFill>
          <a:blip r:embed="rId5">
            <a:alphaModFix/>
          </a:blip>
          <a:stretch>
            <a:fillRect/>
          </a:stretch>
        </p:blipFill>
        <p:spPr>
          <a:xfrm>
            <a:off x="2887525" y="2002400"/>
            <a:ext cx="1771650" cy="1533525"/>
          </a:xfrm>
          <a:prstGeom prst="rect">
            <a:avLst/>
          </a:prstGeom>
          <a:noFill/>
          <a:ln>
            <a:noFill/>
          </a:ln>
        </p:spPr>
      </p:pic>
      <p:cxnSp>
        <p:nvCxnSpPr>
          <p:cNvPr id="475" name="Google Shape;475;p48"/>
          <p:cNvCxnSpPr/>
          <p:nvPr/>
        </p:nvCxnSpPr>
        <p:spPr>
          <a:xfrm rot="10800000" flipH="1">
            <a:off x="916650" y="3775000"/>
            <a:ext cx="5410500" cy="20400"/>
          </a:xfrm>
          <a:prstGeom prst="straightConnector1">
            <a:avLst/>
          </a:prstGeom>
          <a:noFill/>
          <a:ln w="38100" cap="flat" cmpd="sng">
            <a:solidFill>
              <a:srgbClr val="FF9900"/>
            </a:solidFill>
            <a:prstDash val="solid"/>
            <a:round/>
            <a:headEnd type="none" w="med" len="med"/>
            <a:tailEnd type="none" w="med" len="med"/>
          </a:ln>
        </p:spPr>
      </p:cxnSp>
      <p:sp>
        <p:nvSpPr>
          <p:cNvPr id="476" name="Google Shape;476;p48"/>
          <p:cNvSpPr txBox="1"/>
          <p:nvPr/>
        </p:nvSpPr>
        <p:spPr>
          <a:xfrm>
            <a:off x="962375" y="254405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Ilusión</a:t>
            </a:r>
            <a:endParaRPr sz="2000" b="1">
              <a:solidFill>
                <a:srgbClr val="FF9900"/>
              </a:solidFill>
            </a:endParaRPr>
          </a:p>
        </p:txBody>
      </p:sp>
      <p:sp>
        <p:nvSpPr>
          <p:cNvPr id="477" name="Google Shape;477;p48"/>
          <p:cNvSpPr txBox="1"/>
          <p:nvPr/>
        </p:nvSpPr>
        <p:spPr>
          <a:xfrm>
            <a:off x="962375" y="4530825"/>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Recurso</a:t>
            </a:r>
            <a:endParaRPr sz="2000" b="1">
              <a:solidFill>
                <a:srgbClr val="FF9900"/>
              </a:solidFill>
            </a:endParaRPr>
          </a:p>
        </p:txBody>
      </p:sp>
      <p:sp>
        <p:nvSpPr>
          <p:cNvPr id="478" name="Google Shape;478;p48"/>
          <p:cNvSpPr txBox="1"/>
          <p:nvPr/>
        </p:nvSpPr>
        <p:spPr>
          <a:xfrm>
            <a:off x="990675" y="5739425"/>
            <a:ext cx="10529700" cy="370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latin typeface="Roboto"/>
                <a:ea typeface="Roboto"/>
                <a:cs typeface="Roboto"/>
                <a:sym typeface="Roboto"/>
              </a:rPr>
              <a:t>Ver video</a:t>
            </a:r>
            <a:r>
              <a:rPr lang="es-ES" sz="1600">
                <a:latin typeface="Roboto"/>
                <a:ea typeface="Roboto"/>
                <a:cs typeface="Roboto"/>
                <a:sym typeface="Roboto"/>
              </a:rPr>
              <a:t>: C01P11 - Ejemplo Virtualización de Memoria - ISI485 Sistemas Operativos (</a:t>
            </a:r>
            <a:r>
              <a:rPr lang="es-ES" sz="1600" u="sng">
                <a:solidFill>
                  <a:schemeClr val="hlink"/>
                </a:solidFill>
                <a:latin typeface="Roboto"/>
                <a:ea typeface="Roboto"/>
                <a:cs typeface="Roboto"/>
                <a:sym typeface="Roboto"/>
                <a:hlinkClick r:id="rId6"/>
              </a:rPr>
              <a:t>link</a:t>
            </a:r>
            <a:r>
              <a:rPr lang="es-ES" sz="1600">
                <a:latin typeface="Roboto"/>
                <a:ea typeface="Roboto"/>
                <a:cs typeface="Roboto"/>
                <a:sym typeface="Roboto"/>
              </a:rPr>
              <a:t>)</a:t>
            </a:r>
            <a:endParaRPr sz="16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9"/>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84" name="Google Shape;484;p49"/>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
        <p:nvSpPr>
          <p:cNvPr id="485" name="Google Shape;485;p49"/>
          <p:cNvSpPr txBox="1"/>
          <p:nvPr/>
        </p:nvSpPr>
        <p:spPr>
          <a:xfrm>
            <a:off x="948100" y="869325"/>
            <a:ext cx="5650500" cy="3000000"/>
          </a:xfrm>
          <a:prstGeom prst="rect">
            <a:avLst/>
          </a:prstGeom>
          <a:noFill/>
          <a:ln>
            <a:noFill/>
          </a:ln>
        </p:spPr>
        <p:txBody>
          <a:bodyPr spcFirstLastPara="1" wrap="square" lIns="91425" tIns="91425" rIns="91425" bIns="91425" anchor="t" anchorCtr="0">
            <a:noAutofit/>
          </a:bodyPr>
          <a:lstStyle/>
          <a:p>
            <a:pPr marL="0" lvl="0" indent="0" algn="l" rtl="0">
              <a:spcBef>
                <a:spcPts val="480"/>
              </a:spcBef>
              <a:spcAft>
                <a:spcPts val="0"/>
              </a:spcAft>
              <a:buNone/>
            </a:pPr>
            <a:r>
              <a:rPr lang="es-ES" sz="2800" b="1" dirty="0">
                <a:solidFill>
                  <a:schemeClr val="accent1"/>
                </a:solidFill>
                <a:ea typeface="Roboto"/>
                <a:cs typeface="Roboto"/>
                <a:sym typeface="Roboto"/>
              </a:rPr>
              <a:t>Virtualización de Memoria</a:t>
            </a:r>
            <a:endParaRPr sz="2800" b="1" dirty="0">
              <a:solidFill>
                <a:schemeClr val="accent1"/>
              </a:solidFill>
              <a:ea typeface="Roboto"/>
              <a:cs typeface="Roboto"/>
              <a:sym typeface="Roboto"/>
            </a:endParaRPr>
          </a:p>
        </p:txBody>
      </p:sp>
      <p:pic>
        <p:nvPicPr>
          <p:cNvPr id="486" name="Google Shape;486;p49"/>
          <p:cNvPicPr preferRelativeResize="0"/>
          <p:nvPr/>
        </p:nvPicPr>
        <p:blipFill>
          <a:blip r:embed="rId3">
            <a:alphaModFix/>
          </a:blip>
          <a:stretch>
            <a:fillRect/>
          </a:stretch>
        </p:blipFill>
        <p:spPr>
          <a:xfrm>
            <a:off x="3722063" y="4153950"/>
            <a:ext cx="1123950" cy="1123950"/>
          </a:xfrm>
          <a:prstGeom prst="rect">
            <a:avLst/>
          </a:prstGeom>
          <a:noFill/>
          <a:ln>
            <a:noFill/>
          </a:ln>
        </p:spPr>
      </p:pic>
      <p:cxnSp>
        <p:nvCxnSpPr>
          <p:cNvPr id="487" name="Google Shape;487;p49"/>
          <p:cNvCxnSpPr/>
          <p:nvPr/>
        </p:nvCxnSpPr>
        <p:spPr>
          <a:xfrm rot="10800000" flipH="1">
            <a:off x="916650" y="3775000"/>
            <a:ext cx="5410500" cy="20400"/>
          </a:xfrm>
          <a:prstGeom prst="straightConnector1">
            <a:avLst/>
          </a:prstGeom>
          <a:noFill/>
          <a:ln w="38100" cap="flat" cmpd="sng">
            <a:solidFill>
              <a:srgbClr val="FF9900"/>
            </a:solidFill>
            <a:prstDash val="solid"/>
            <a:round/>
            <a:headEnd type="none" w="med" len="med"/>
            <a:tailEnd type="none" w="med" len="med"/>
          </a:ln>
        </p:spPr>
      </p:cxnSp>
      <p:sp>
        <p:nvSpPr>
          <p:cNvPr id="488" name="Google Shape;488;p49"/>
          <p:cNvSpPr txBox="1"/>
          <p:nvPr/>
        </p:nvSpPr>
        <p:spPr>
          <a:xfrm>
            <a:off x="962375" y="2544050"/>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Ilusión</a:t>
            </a:r>
            <a:endParaRPr sz="2000" b="1">
              <a:solidFill>
                <a:srgbClr val="FF9900"/>
              </a:solidFill>
            </a:endParaRPr>
          </a:p>
        </p:txBody>
      </p:sp>
      <p:sp>
        <p:nvSpPr>
          <p:cNvPr id="489" name="Google Shape;489;p49"/>
          <p:cNvSpPr txBox="1"/>
          <p:nvPr/>
        </p:nvSpPr>
        <p:spPr>
          <a:xfrm>
            <a:off x="962375" y="4530825"/>
            <a:ext cx="15777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000" b="1">
                <a:solidFill>
                  <a:srgbClr val="FF9900"/>
                </a:solidFill>
              </a:rPr>
              <a:t>Recurso</a:t>
            </a:r>
            <a:endParaRPr sz="2000" b="1">
              <a:solidFill>
                <a:srgbClr val="FF9900"/>
              </a:solidFill>
            </a:endParaRPr>
          </a:p>
        </p:txBody>
      </p:sp>
      <p:pic>
        <p:nvPicPr>
          <p:cNvPr id="490" name="Google Shape;490;p49"/>
          <p:cNvPicPr preferRelativeResize="0"/>
          <p:nvPr/>
        </p:nvPicPr>
        <p:blipFill>
          <a:blip r:embed="rId4">
            <a:alphaModFix/>
          </a:blip>
          <a:stretch>
            <a:fillRect/>
          </a:stretch>
        </p:blipFill>
        <p:spPr>
          <a:xfrm>
            <a:off x="2240925" y="2097625"/>
            <a:ext cx="4086225" cy="1381125"/>
          </a:xfrm>
          <a:prstGeom prst="rect">
            <a:avLst/>
          </a:prstGeom>
          <a:noFill/>
          <a:ln>
            <a:noFill/>
          </a:ln>
        </p:spPr>
      </p:pic>
      <p:pic>
        <p:nvPicPr>
          <p:cNvPr id="491" name="Google Shape;491;p49"/>
          <p:cNvPicPr preferRelativeResize="0"/>
          <p:nvPr/>
        </p:nvPicPr>
        <p:blipFill>
          <a:blip r:embed="rId5">
            <a:alphaModFix/>
          </a:blip>
          <a:stretch>
            <a:fillRect/>
          </a:stretch>
        </p:blipFill>
        <p:spPr>
          <a:xfrm>
            <a:off x="6767075" y="1487006"/>
            <a:ext cx="5055862" cy="1764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0"/>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497" name="Google Shape;497;p50"/>
          <p:cNvSpPr txBox="1">
            <a:spLocks noGrp="1"/>
          </p:cNvSpPr>
          <p:nvPr>
            <p:ph type="body" idx="1"/>
          </p:nvPr>
        </p:nvSpPr>
        <p:spPr>
          <a:xfrm>
            <a:off x="916650" y="932700"/>
            <a:ext cx="107391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Recurrencia</a:t>
            </a:r>
            <a:endParaRPr sz="2800" b="1" dirty="0">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sz="2400" dirty="0">
                <a:latin typeface="+mn-lt"/>
              </a:rPr>
              <a:t>El SO está realizando muchas cosas a la vez, primero ejecutando un proceso, luego otro, y así sucesivamente.</a:t>
            </a:r>
            <a:endParaRPr sz="2400" dirty="0">
              <a:latin typeface="+mn-lt"/>
            </a:endParaRPr>
          </a:p>
          <a:p>
            <a:pPr marL="457200" lvl="0" indent="-381000" algn="l" rtl="0">
              <a:lnSpc>
                <a:spcPct val="100000"/>
              </a:lnSpc>
              <a:spcBef>
                <a:spcPts val="0"/>
              </a:spcBef>
              <a:spcAft>
                <a:spcPts val="0"/>
              </a:spcAft>
              <a:buSzPts val="2400"/>
              <a:buFont typeface="Times New Roman"/>
              <a:buChar char="●"/>
            </a:pPr>
            <a:r>
              <a:rPr lang="es-ES" sz="2400" dirty="0">
                <a:latin typeface="+mn-lt"/>
              </a:rPr>
              <a:t>Programas modernos </a:t>
            </a:r>
            <a:r>
              <a:rPr lang="es-ES" sz="2400" dirty="0" err="1">
                <a:latin typeface="+mn-lt"/>
              </a:rPr>
              <a:t>multi-hilo</a:t>
            </a:r>
            <a:r>
              <a:rPr lang="es-ES" sz="2400" dirty="0">
                <a:latin typeface="+mn-lt"/>
              </a:rPr>
              <a:t> presentan </a:t>
            </a:r>
            <a:r>
              <a:rPr lang="es-ES" sz="2400" b="1" dirty="0">
                <a:solidFill>
                  <a:srgbClr val="FF0000"/>
                </a:solidFill>
                <a:latin typeface="+mn-lt"/>
              </a:rPr>
              <a:t>problemas de concurrencia</a:t>
            </a:r>
            <a:r>
              <a:rPr lang="es-ES" sz="2400" dirty="0">
                <a:latin typeface="+mn-lt"/>
              </a:rPr>
              <a:t>.</a:t>
            </a:r>
            <a:endParaRPr dirty="0">
              <a:latin typeface="+mn-lt"/>
            </a:endParaRPr>
          </a:p>
          <a:p>
            <a:pPr marL="457200" lvl="0" indent="0" algn="l" rtl="0">
              <a:spcBef>
                <a:spcPts val="1000"/>
              </a:spcBef>
              <a:spcAft>
                <a:spcPts val="0"/>
              </a:spcAft>
              <a:buNone/>
            </a:pPr>
            <a:endParaRPr dirty="0">
              <a:latin typeface="+mn-lt"/>
            </a:endParaRPr>
          </a:p>
        </p:txBody>
      </p:sp>
      <p:sp>
        <p:nvSpPr>
          <p:cNvPr id="498" name="Google Shape;498;p50"/>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grpSp>
        <p:nvGrpSpPr>
          <p:cNvPr id="499" name="Google Shape;499;p50"/>
          <p:cNvGrpSpPr/>
          <p:nvPr/>
        </p:nvGrpSpPr>
        <p:grpSpPr>
          <a:xfrm>
            <a:off x="6484435" y="3165575"/>
            <a:ext cx="3771675" cy="2371038"/>
            <a:chOff x="1623085" y="3117300"/>
            <a:chExt cx="3771675" cy="2371038"/>
          </a:xfrm>
        </p:grpSpPr>
        <p:pic>
          <p:nvPicPr>
            <p:cNvPr id="500" name="Google Shape;500;p50"/>
            <p:cNvPicPr preferRelativeResize="0"/>
            <p:nvPr/>
          </p:nvPicPr>
          <p:blipFill>
            <a:blip r:embed="rId3">
              <a:alphaModFix/>
            </a:blip>
            <a:stretch>
              <a:fillRect/>
            </a:stretch>
          </p:blipFill>
          <p:spPr>
            <a:xfrm>
              <a:off x="2245575" y="4421538"/>
              <a:ext cx="1066800" cy="1066800"/>
            </a:xfrm>
            <a:prstGeom prst="rect">
              <a:avLst/>
            </a:prstGeom>
            <a:noFill/>
            <a:ln>
              <a:noFill/>
            </a:ln>
          </p:spPr>
        </p:pic>
        <p:pic>
          <p:nvPicPr>
            <p:cNvPr id="501" name="Google Shape;501;p50"/>
            <p:cNvPicPr preferRelativeResize="0"/>
            <p:nvPr/>
          </p:nvPicPr>
          <p:blipFill>
            <a:blip r:embed="rId4">
              <a:alphaModFix/>
            </a:blip>
            <a:stretch>
              <a:fillRect/>
            </a:stretch>
          </p:blipFill>
          <p:spPr>
            <a:xfrm>
              <a:off x="3895413" y="4316763"/>
              <a:ext cx="1123950" cy="1123950"/>
            </a:xfrm>
            <a:prstGeom prst="rect">
              <a:avLst/>
            </a:prstGeom>
            <a:noFill/>
            <a:ln>
              <a:noFill/>
            </a:ln>
          </p:spPr>
        </p:pic>
        <p:pic>
          <p:nvPicPr>
            <p:cNvPr id="502" name="Google Shape;502;p50"/>
            <p:cNvPicPr preferRelativeResize="0"/>
            <p:nvPr/>
          </p:nvPicPr>
          <p:blipFill>
            <a:blip r:embed="rId5">
              <a:alphaModFix/>
            </a:blip>
            <a:stretch>
              <a:fillRect/>
            </a:stretch>
          </p:blipFill>
          <p:spPr>
            <a:xfrm>
              <a:off x="1623085" y="3117300"/>
              <a:ext cx="363275" cy="763575"/>
            </a:xfrm>
            <a:prstGeom prst="rect">
              <a:avLst/>
            </a:prstGeom>
            <a:noFill/>
            <a:ln>
              <a:noFill/>
            </a:ln>
          </p:spPr>
        </p:pic>
        <p:pic>
          <p:nvPicPr>
            <p:cNvPr id="503" name="Google Shape;503;p50"/>
            <p:cNvPicPr preferRelativeResize="0"/>
            <p:nvPr/>
          </p:nvPicPr>
          <p:blipFill>
            <a:blip r:embed="rId5">
              <a:alphaModFix/>
            </a:blip>
            <a:stretch>
              <a:fillRect/>
            </a:stretch>
          </p:blipFill>
          <p:spPr>
            <a:xfrm>
              <a:off x="2467735" y="3117300"/>
              <a:ext cx="363275" cy="763575"/>
            </a:xfrm>
            <a:prstGeom prst="rect">
              <a:avLst/>
            </a:prstGeom>
            <a:noFill/>
            <a:ln>
              <a:noFill/>
            </a:ln>
          </p:spPr>
        </p:pic>
        <p:pic>
          <p:nvPicPr>
            <p:cNvPr id="504" name="Google Shape;504;p50"/>
            <p:cNvPicPr preferRelativeResize="0"/>
            <p:nvPr/>
          </p:nvPicPr>
          <p:blipFill>
            <a:blip r:embed="rId5">
              <a:alphaModFix/>
            </a:blip>
            <a:stretch>
              <a:fillRect/>
            </a:stretch>
          </p:blipFill>
          <p:spPr>
            <a:xfrm>
              <a:off x="3312372" y="3117300"/>
              <a:ext cx="363275" cy="763575"/>
            </a:xfrm>
            <a:prstGeom prst="rect">
              <a:avLst/>
            </a:prstGeom>
            <a:noFill/>
            <a:ln>
              <a:noFill/>
            </a:ln>
          </p:spPr>
        </p:pic>
        <p:pic>
          <p:nvPicPr>
            <p:cNvPr id="505" name="Google Shape;505;p50"/>
            <p:cNvPicPr preferRelativeResize="0"/>
            <p:nvPr/>
          </p:nvPicPr>
          <p:blipFill>
            <a:blip r:embed="rId5">
              <a:alphaModFix/>
            </a:blip>
            <a:stretch>
              <a:fillRect/>
            </a:stretch>
          </p:blipFill>
          <p:spPr>
            <a:xfrm>
              <a:off x="4189785" y="3117300"/>
              <a:ext cx="363275" cy="763575"/>
            </a:xfrm>
            <a:prstGeom prst="rect">
              <a:avLst/>
            </a:prstGeom>
            <a:noFill/>
            <a:ln>
              <a:noFill/>
            </a:ln>
          </p:spPr>
        </p:pic>
        <p:pic>
          <p:nvPicPr>
            <p:cNvPr id="506" name="Google Shape;506;p50"/>
            <p:cNvPicPr preferRelativeResize="0"/>
            <p:nvPr/>
          </p:nvPicPr>
          <p:blipFill>
            <a:blip r:embed="rId5">
              <a:alphaModFix/>
            </a:blip>
            <a:stretch>
              <a:fillRect/>
            </a:stretch>
          </p:blipFill>
          <p:spPr>
            <a:xfrm>
              <a:off x="5031485" y="3117300"/>
              <a:ext cx="363275" cy="763575"/>
            </a:xfrm>
            <a:prstGeom prst="rect">
              <a:avLst/>
            </a:prstGeom>
            <a:noFill/>
            <a:ln>
              <a:noFill/>
            </a:ln>
          </p:spPr>
        </p:pic>
      </p:grpSp>
      <p:pic>
        <p:nvPicPr>
          <p:cNvPr id="507" name="Google Shape;507;p50"/>
          <p:cNvPicPr preferRelativeResize="0"/>
          <p:nvPr/>
        </p:nvPicPr>
        <p:blipFill>
          <a:blip r:embed="rId6">
            <a:alphaModFix/>
          </a:blip>
          <a:stretch>
            <a:fillRect/>
          </a:stretch>
        </p:blipFill>
        <p:spPr>
          <a:xfrm>
            <a:off x="2540295" y="2869175"/>
            <a:ext cx="2686579" cy="3287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1"/>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513" name="Google Shape;513;p51"/>
          <p:cNvSpPr txBox="1">
            <a:spLocks noGrp="1"/>
          </p:cNvSpPr>
          <p:nvPr>
            <p:ph type="body" idx="1"/>
          </p:nvPr>
        </p:nvSpPr>
        <p:spPr>
          <a:xfrm>
            <a:off x="916650" y="780300"/>
            <a:ext cx="107874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Recurrencia</a:t>
            </a:r>
            <a:endParaRPr sz="2800" b="1" dirty="0">
              <a:solidFill>
                <a:schemeClr val="accent1"/>
              </a:solidFill>
              <a:latin typeface="+mn-lt"/>
            </a:endParaRPr>
          </a:p>
          <a:p>
            <a:pPr marL="457200" lvl="0" indent="-361950" algn="l" rtl="0">
              <a:lnSpc>
                <a:spcPct val="100000"/>
              </a:lnSpc>
              <a:spcBef>
                <a:spcPts val="600"/>
              </a:spcBef>
              <a:spcAft>
                <a:spcPts val="0"/>
              </a:spcAft>
              <a:buSzPts val="2100"/>
              <a:buFont typeface="Times New Roman"/>
              <a:buChar char="●"/>
            </a:pPr>
            <a:r>
              <a:rPr lang="es-ES" sz="2100" b="1" dirty="0">
                <a:solidFill>
                  <a:srgbClr val="93C47D"/>
                </a:solidFill>
                <a:latin typeface="+mn-lt"/>
              </a:rPr>
              <a:t>Contextualización:</a:t>
            </a:r>
            <a:r>
              <a:rPr lang="es-ES" sz="2100" dirty="0">
                <a:latin typeface="+mn-lt"/>
              </a:rPr>
              <a:t> Dos hilos (</a:t>
            </a:r>
            <a:r>
              <a:rPr lang="es-ES" sz="2100" b="1" dirty="0" err="1">
                <a:latin typeface="+mn-lt"/>
              </a:rPr>
              <a:t>threads</a:t>
            </a:r>
            <a:r>
              <a:rPr lang="es-ES" sz="2100" dirty="0">
                <a:latin typeface="+mn-lt"/>
              </a:rPr>
              <a:t>) comparten el balance de una cuenta en memoria). Cada hilo corre su propio código llamado </a:t>
            </a:r>
            <a:r>
              <a:rPr lang="es-ES" sz="2100" b="1" dirty="0" err="1">
                <a:latin typeface="+mn-lt"/>
                <a:ea typeface="Consolas"/>
                <a:cs typeface="Consolas"/>
                <a:sym typeface="Consolas"/>
              </a:rPr>
              <a:t>deposit</a:t>
            </a:r>
            <a:r>
              <a:rPr lang="es-ES" sz="2100" b="1" dirty="0">
                <a:latin typeface="+mn-lt"/>
                <a:ea typeface="Consolas"/>
                <a:cs typeface="Consolas"/>
                <a:sym typeface="Consolas"/>
              </a:rPr>
              <a:t>()</a:t>
            </a:r>
            <a:r>
              <a:rPr lang="es-ES" sz="2100" dirty="0">
                <a:latin typeface="+mn-lt"/>
              </a:rPr>
              <a:t> tal y como se muestra a continuación.</a:t>
            </a:r>
            <a:endParaRPr sz="21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457200" lvl="0" indent="0" algn="l" rtl="0">
              <a:spcBef>
                <a:spcPts val="1000"/>
              </a:spcBef>
              <a:spcAft>
                <a:spcPts val="0"/>
              </a:spcAft>
              <a:buNone/>
            </a:pPr>
            <a:endParaRPr dirty="0">
              <a:latin typeface="+mn-lt"/>
            </a:endParaRPr>
          </a:p>
        </p:txBody>
      </p:sp>
      <p:sp>
        <p:nvSpPr>
          <p:cNvPr id="514" name="Google Shape;514;p51"/>
          <p:cNvSpPr txBox="1"/>
          <p:nvPr/>
        </p:nvSpPr>
        <p:spPr>
          <a:xfrm>
            <a:off x="916650" y="6432000"/>
            <a:ext cx="87093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a:t>Ejemplo tomado de: </a:t>
            </a:r>
            <a:r>
              <a:rPr lang="es-ES" sz="1100" u="sng">
                <a:solidFill>
                  <a:schemeClr val="hlink"/>
                </a:solidFill>
                <a:hlinkClick r:id="rId3"/>
              </a:rPr>
              <a:t>http://pages.cs.wisc.edu/~remzi/Classes/537/Fall2005/Lectures/lecture4.pdf</a:t>
            </a:r>
            <a:endParaRPr/>
          </a:p>
        </p:txBody>
      </p:sp>
      <p:sp>
        <p:nvSpPr>
          <p:cNvPr id="515" name="Google Shape;515;p51"/>
          <p:cNvSpPr txBox="1"/>
          <p:nvPr/>
        </p:nvSpPr>
        <p:spPr>
          <a:xfrm>
            <a:off x="1762650" y="2658850"/>
            <a:ext cx="4250100" cy="10818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ES" sz="1800" b="1">
                <a:latin typeface="Consolas"/>
                <a:ea typeface="Consolas"/>
                <a:cs typeface="Consolas"/>
                <a:sym typeface="Consolas"/>
              </a:rPr>
              <a:t>void deposit (int amount) {  </a:t>
            </a:r>
            <a:endParaRPr sz="1800" b="1">
              <a:latin typeface="Consolas"/>
              <a:ea typeface="Consolas"/>
              <a:cs typeface="Consolas"/>
              <a:sym typeface="Consolas"/>
            </a:endParaRPr>
          </a:p>
          <a:p>
            <a:pPr marL="0" lvl="0" indent="0" algn="l" rtl="0">
              <a:spcBef>
                <a:spcPts val="0"/>
              </a:spcBef>
              <a:spcAft>
                <a:spcPts val="0"/>
              </a:spcAft>
              <a:buNone/>
            </a:pPr>
            <a:r>
              <a:rPr lang="es-ES" sz="1800" b="1">
                <a:latin typeface="Consolas"/>
                <a:ea typeface="Consolas"/>
                <a:cs typeface="Consolas"/>
                <a:sym typeface="Consolas"/>
              </a:rPr>
              <a:t>   balance = balance + amount; </a:t>
            </a:r>
            <a:endParaRPr sz="1800" b="1">
              <a:latin typeface="Consolas"/>
              <a:ea typeface="Consolas"/>
              <a:cs typeface="Consolas"/>
              <a:sym typeface="Consolas"/>
            </a:endParaRPr>
          </a:p>
          <a:p>
            <a:pPr marL="0" lvl="0" indent="0" algn="l" rtl="0">
              <a:spcBef>
                <a:spcPts val="0"/>
              </a:spcBef>
              <a:spcAft>
                <a:spcPts val="0"/>
              </a:spcAft>
              <a:buNone/>
            </a:pPr>
            <a:r>
              <a:rPr lang="es-ES" sz="1800" b="1">
                <a:latin typeface="Consolas"/>
                <a:ea typeface="Consolas"/>
                <a:cs typeface="Consolas"/>
                <a:sym typeface="Consolas"/>
              </a:rPr>
              <a:t>}</a:t>
            </a:r>
            <a:endParaRPr sz="1800" b="1">
              <a:latin typeface="Consolas"/>
              <a:ea typeface="Consolas"/>
              <a:cs typeface="Consolas"/>
              <a:sym typeface="Consolas"/>
            </a:endParaRPr>
          </a:p>
        </p:txBody>
      </p:sp>
      <p:sp>
        <p:nvSpPr>
          <p:cNvPr id="516" name="Google Shape;516;p51"/>
          <p:cNvSpPr txBox="1"/>
          <p:nvPr/>
        </p:nvSpPr>
        <p:spPr>
          <a:xfrm>
            <a:off x="7285550" y="2628800"/>
            <a:ext cx="4250100" cy="10818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ES" sz="1800" b="1">
                <a:latin typeface="Consolas"/>
                <a:ea typeface="Consolas"/>
                <a:cs typeface="Consolas"/>
                <a:sym typeface="Consolas"/>
              </a:rPr>
              <a:t>load R1, balance </a:t>
            </a:r>
            <a:endParaRPr sz="1800" b="1">
              <a:latin typeface="Consolas"/>
              <a:ea typeface="Consolas"/>
              <a:cs typeface="Consolas"/>
              <a:sym typeface="Consolas"/>
            </a:endParaRPr>
          </a:p>
          <a:p>
            <a:pPr marL="0" lvl="0" indent="0" algn="l" rtl="0">
              <a:spcBef>
                <a:spcPts val="0"/>
              </a:spcBef>
              <a:spcAft>
                <a:spcPts val="0"/>
              </a:spcAft>
              <a:buNone/>
            </a:pPr>
            <a:r>
              <a:rPr lang="es-ES" sz="1800" b="1">
                <a:latin typeface="Consolas"/>
                <a:ea typeface="Consolas"/>
                <a:cs typeface="Consolas"/>
                <a:sym typeface="Consolas"/>
              </a:rPr>
              <a:t>add R1, amount </a:t>
            </a:r>
            <a:endParaRPr sz="1800" b="1">
              <a:latin typeface="Consolas"/>
              <a:ea typeface="Consolas"/>
              <a:cs typeface="Consolas"/>
              <a:sym typeface="Consolas"/>
            </a:endParaRPr>
          </a:p>
          <a:p>
            <a:pPr marL="0" lvl="0" indent="0" algn="l" rtl="0">
              <a:spcBef>
                <a:spcPts val="0"/>
              </a:spcBef>
              <a:spcAft>
                <a:spcPts val="0"/>
              </a:spcAft>
              <a:buNone/>
            </a:pPr>
            <a:r>
              <a:rPr lang="es-ES" sz="1800" b="1">
                <a:latin typeface="Consolas"/>
                <a:ea typeface="Consolas"/>
                <a:cs typeface="Consolas"/>
                <a:sym typeface="Consolas"/>
              </a:rPr>
              <a:t>store R1, balance</a:t>
            </a:r>
            <a:endParaRPr sz="1800" b="1">
              <a:latin typeface="Consolas"/>
              <a:ea typeface="Consolas"/>
              <a:cs typeface="Consolas"/>
              <a:sym typeface="Consolas"/>
            </a:endParaRPr>
          </a:p>
        </p:txBody>
      </p:sp>
      <p:pic>
        <p:nvPicPr>
          <p:cNvPr id="517" name="Google Shape;517;p51"/>
          <p:cNvPicPr preferRelativeResize="0"/>
          <p:nvPr/>
        </p:nvPicPr>
        <p:blipFill>
          <a:blip r:embed="rId4">
            <a:alphaModFix/>
          </a:blip>
          <a:stretch>
            <a:fillRect/>
          </a:stretch>
        </p:blipFill>
        <p:spPr>
          <a:xfrm>
            <a:off x="916660" y="2787900"/>
            <a:ext cx="363275" cy="763575"/>
          </a:xfrm>
          <a:prstGeom prst="rect">
            <a:avLst/>
          </a:prstGeom>
          <a:noFill/>
          <a:ln>
            <a:noFill/>
          </a:ln>
        </p:spPr>
      </p:pic>
      <p:pic>
        <p:nvPicPr>
          <p:cNvPr id="518" name="Google Shape;518;p51"/>
          <p:cNvPicPr preferRelativeResize="0"/>
          <p:nvPr/>
        </p:nvPicPr>
        <p:blipFill>
          <a:blip r:embed="rId4">
            <a:alphaModFix/>
          </a:blip>
          <a:stretch>
            <a:fillRect/>
          </a:stretch>
        </p:blipFill>
        <p:spPr>
          <a:xfrm>
            <a:off x="1339647" y="2828050"/>
            <a:ext cx="363275" cy="763575"/>
          </a:xfrm>
          <a:prstGeom prst="rect">
            <a:avLst/>
          </a:prstGeom>
          <a:noFill/>
          <a:ln>
            <a:noFill/>
          </a:ln>
        </p:spPr>
      </p:pic>
      <p:sp>
        <p:nvSpPr>
          <p:cNvPr id="519" name="Google Shape;519;p51"/>
          <p:cNvSpPr/>
          <p:nvPr/>
        </p:nvSpPr>
        <p:spPr>
          <a:xfrm>
            <a:off x="6234850" y="3062950"/>
            <a:ext cx="828600" cy="273600"/>
          </a:xfrm>
          <a:prstGeom prst="righ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0" name="Google Shape;520;p51"/>
          <p:cNvPicPr preferRelativeResize="0"/>
          <p:nvPr/>
        </p:nvPicPr>
        <p:blipFill>
          <a:blip r:embed="rId5">
            <a:alphaModFix/>
          </a:blip>
          <a:stretch>
            <a:fillRect/>
          </a:stretch>
        </p:blipFill>
        <p:spPr>
          <a:xfrm>
            <a:off x="2857550" y="3893050"/>
            <a:ext cx="1487450" cy="2555375"/>
          </a:xfrm>
          <a:prstGeom prst="rect">
            <a:avLst/>
          </a:prstGeom>
          <a:noFill/>
          <a:ln>
            <a:noFill/>
          </a:ln>
        </p:spPr>
      </p:pic>
      <p:sp>
        <p:nvSpPr>
          <p:cNvPr id="521" name="Google Shape;521;p51"/>
          <p:cNvSpPr txBox="1"/>
          <p:nvPr/>
        </p:nvSpPr>
        <p:spPr>
          <a:xfrm>
            <a:off x="5358250" y="4059525"/>
            <a:ext cx="5453700" cy="15798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s-ES" sz="2000" b="1" dirty="0">
                <a:solidFill>
                  <a:schemeClr val="dk1"/>
                </a:solidFill>
                <a:ea typeface="Roboto"/>
                <a:cs typeface="Roboto"/>
                <a:sym typeface="Roboto"/>
              </a:rPr>
              <a:t>Responda:</a:t>
            </a:r>
            <a:endParaRPr sz="2000" b="1" dirty="0">
              <a:solidFill>
                <a:schemeClr val="dk1"/>
              </a:solidFill>
              <a:ea typeface="Roboto"/>
              <a:cs typeface="Roboto"/>
              <a:sym typeface="Roboto"/>
            </a:endParaRPr>
          </a:p>
          <a:p>
            <a:pPr marL="457200" lvl="0" indent="-355600" algn="l" rtl="0">
              <a:spcBef>
                <a:spcPts val="600"/>
              </a:spcBef>
              <a:spcAft>
                <a:spcPts val="0"/>
              </a:spcAft>
              <a:buClr>
                <a:schemeClr val="dk1"/>
              </a:buClr>
              <a:buSzPts val="2000"/>
              <a:buFont typeface="Roboto"/>
              <a:buChar char="●"/>
            </a:pPr>
            <a:r>
              <a:rPr lang="es-ES" sz="2000" dirty="0">
                <a:solidFill>
                  <a:schemeClr val="dk1"/>
                </a:solidFill>
                <a:ea typeface="Roboto"/>
                <a:cs typeface="Roboto"/>
                <a:sym typeface="Roboto"/>
              </a:rPr>
              <a:t>¿Cuales son variables compartidas?</a:t>
            </a:r>
            <a:endParaRPr sz="2000" dirty="0">
              <a:solidFill>
                <a:schemeClr val="dk1"/>
              </a:solidFill>
              <a:ea typeface="Roboto"/>
              <a:cs typeface="Roboto"/>
              <a:sym typeface="Roboto"/>
            </a:endParaRPr>
          </a:p>
          <a:p>
            <a:pPr marL="457200" lvl="0" indent="-355600" algn="l" rtl="0">
              <a:spcBef>
                <a:spcPts val="0"/>
              </a:spcBef>
              <a:spcAft>
                <a:spcPts val="0"/>
              </a:spcAft>
              <a:buClr>
                <a:schemeClr val="dk1"/>
              </a:buClr>
              <a:buSzPts val="2000"/>
              <a:buFont typeface="Roboto"/>
              <a:buChar char="●"/>
            </a:pPr>
            <a:r>
              <a:rPr lang="es-ES" sz="2000" dirty="0">
                <a:solidFill>
                  <a:schemeClr val="dk1"/>
                </a:solidFill>
                <a:ea typeface="Roboto"/>
                <a:cs typeface="Roboto"/>
                <a:sym typeface="Roboto"/>
              </a:rPr>
              <a:t>¿Cuales con variables privadas?</a:t>
            </a:r>
            <a:endParaRPr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2"/>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p>
        </p:txBody>
      </p:sp>
      <p:sp>
        <p:nvSpPr>
          <p:cNvPr id="527" name="Google Shape;527;p52"/>
          <p:cNvSpPr txBox="1">
            <a:spLocks noGrp="1"/>
          </p:cNvSpPr>
          <p:nvPr>
            <p:ph type="body" idx="1"/>
          </p:nvPr>
        </p:nvSpPr>
        <p:spPr>
          <a:xfrm>
            <a:off x="916650" y="856500"/>
            <a:ext cx="108546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Recurrencia</a:t>
            </a:r>
            <a:endParaRPr sz="2800" b="1" dirty="0">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sz="2400" dirty="0">
                <a:latin typeface="+mn-lt"/>
              </a:rPr>
              <a:t>Incrementar una </a:t>
            </a:r>
            <a:r>
              <a:rPr lang="es-ES" sz="2400" b="1" dirty="0">
                <a:solidFill>
                  <a:srgbClr val="8BAB42"/>
                </a:solidFill>
                <a:latin typeface="+mn-lt"/>
              </a:rPr>
              <a:t>variable compartida</a:t>
            </a:r>
            <a:r>
              <a:rPr lang="es-ES" sz="2400" dirty="0">
                <a:latin typeface="+mn-lt"/>
              </a:rPr>
              <a:t> usa tres instrucciones:</a:t>
            </a:r>
            <a:endParaRPr sz="2400" dirty="0">
              <a:latin typeface="+mn-lt"/>
            </a:endParaRPr>
          </a:p>
          <a:p>
            <a:pPr marL="914400" lvl="1" indent="-355600" algn="l" rtl="0">
              <a:lnSpc>
                <a:spcPct val="100000"/>
              </a:lnSpc>
              <a:spcBef>
                <a:spcPts val="0"/>
              </a:spcBef>
              <a:spcAft>
                <a:spcPts val="0"/>
              </a:spcAft>
              <a:buSzPts val="2000"/>
              <a:buFont typeface="Times New Roman"/>
              <a:buChar char="○"/>
            </a:pPr>
            <a:r>
              <a:rPr lang="es-ES" b="1" dirty="0">
                <a:latin typeface="+mn-lt"/>
              </a:rPr>
              <a:t>Cargar</a:t>
            </a:r>
            <a:r>
              <a:rPr lang="es-ES" dirty="0">
                <a:latin typeface="+mn-lt"/>
              </a:rPr>
              <a:t> el valor del contador de la memoria a un registro</a:t>
            </a:r>
            <a:endParaRPr dirty="0">
              <a:latin typeface="+mn-lt"/>
            </a:endParaRPr>
          </a:p>
          <a:p>
            <a:pPr marL="914400" lvl="1" indent="-355600" algn="l" rtl="0">
              <a:lnSpc>
                <a:spcPct val="100000"/>
              </a:lnSpc>
              <a:spcBef>
                <a:spcPts val="0"/>
              </a:spcBef>
              <a:spcAft>
                <a:spcPts val="0"/>
              </a:spcAft>
              <a:buSzPts val="2000"/>
              <a:buFont typeface="Roboto"/>
              <a:buChar char="○"/>
            </a:pPr>
            <a:r>
              <a:rPr lang="es-ES" b="1" dirty="0">
                <a:latin typeface="+mn-lt"/>
              </a:rPr>
              <a:t>Incrementar</a:t>
            </a:r>
            <a:endParaRPr b="1" dirty="0">
              <a:latin typeface="+mn-lt"/>
            </a:endParaRPr>
          </a:p>
          <a:p>
            <a:pPr marL="914400" lvl="1" indent="-355600" algn="l" rtl="0">
              <a:lnSpc>
                <a:spcPct val="100000"/>
              </a:lnSpc>
              <a:spcBef>
                <a:spcPts val="0"/>
              </a:spcBef>
              <a:spcAft>
                <a:spcPts val="0"/>
              </a:spcAft>
              <a:buSzPts val="2000"/>
              <a:buFont typeface="Times New Roman"/>
              <a:buChar char="○"/>
            </a:pPr>
            <a:r>
              <a:rPr lang="es-ES" b="1" dirty="0">
                <a:latin typeface="+mn-lt"/>
              </a:rPr>
              <a:t>Almacenar</a:t>
            </a:r>
            <a:r>
              <a:rPr lang="es-ES" dirty="0">
                <a:latin typeface="+mn-lt"/>
              </a:rPr>
              <a:t> el valor modificado en la memoria</a:t>
            </a:r>
            <a:endParaRPr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457200" lvl="0" indent="0" algn="l" rtl="0">
              <a:spcBef>
                <a:spcPts val="1000"/>
              </a:spcBef>
              <a:spcAft>
                <a:spcPts val="0"/>
              </a:spcAft>
              <a:buNone/>
            </a:pPr>
            <a:endParaRPr dirty="0">
              <a:latin typeface="+mn-lt"/>
            </a:endParaRPr>
          </a:p>
        </p:txBody>
      </p:sp>
      <p:sp>
        <p:nvSpPr>
          <p:cNvPr id="528" name="Google Shape;528;p52"/>
          <p:cNvSpPr txBox="1"/>
          <p:nvPr/>
        </p:nvSpPr>
        <p:spPr>
          <a:xfrm>
            <a:off x="916650" y="6432000"/>
            <a:ext cx="87093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a:t>Ejemplo tomado de: </a:t>
            </a:r>
            <a:r>
              <a:rPr lang="es-ES" sz="1100" u="sng">
                <a:solidFill>
                  <a:schemeClr val="hlink"/>
                </a:solidFill>
                <a:hlinkClick r:id="rId3"/>
              </a:rPr>
              <a:t>http://pages.cs.wisc.edu/~remzi/Classes/537/Fall2005/Lectures/lecture4.pdf</a:t>
            </a:r>
            <a:endParaRPr/>
          </a:p>
        </p:txBody>
      </p:sp>
      <p:sp>
        <p:nvSpPr>
          <p:cNvPr id="529" name="Google Shape;529;p52"/>
          <p:cNvSpPr txBox="1"/>
          <p:nvPr/>
        </p:nvSpPr>
        <p:spPr>
          <a:xfrm>
            <a:off x="1407975" y="3706600"/>
            <a:ext cx="4490400" cy="10818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ES" sz="2000">
                <a:latin typeface="Consolas"/>
                <a:ea typeface="Consolas"/>
                <a:cs typeface="Consolas"/>
                <a:sym typeface="Consolas"/>
              </a:rPr>
              <a:t>void deposit (int amount) {  </a:t>
            </a:r>
            <a:endParaRPr sz="2000">
              <a:latin typeface="Consolas"/>
              <a:ea typeface="Consolas"/>
              <a:cs typeface="Consolas"/>
              <a:sym typeface="Consolas"/>
            </a:endParaRPr>
          </a:p>
          <a:p>
            <a:pPr marL="0" lvl="0" indent="0" algn="l" rtl="0">
              <a:spcBef>
                <a:spcPts val="0"/>
              </a:spcBef>
              <a:spcAft>
                <a:spcPts val="0"/>
              </a:spcAft>
              <a:buNone/>
            </a:pPr>
            <a:r>
              <a:rPr lang="es-ES" sz="2000">
                <a:latin typeface="Consolas"/>
                <a:ea typeface="Consolas"/>
                <a:cs typeface="Consolas"/>
                <a:sym typeface="Consolas"/>
              </a:rPr>
              <a:t>   balance = balance + amount; </a:t>
            </a:r>
            <a:endParaRPr sz="2000">
              <a:latin typeface="Consolas"/>
              <a:ea typeface="Consolas"/>
              <a:cs typeface="Consolas"/>
              <a:sym typeface="Consolas"/>
            </a:endParaRPr>
          </a:p>
          <a:p>
            <a:pPr marL="0" lvl="0" indent="0" algn="l" rtl="0">
              <a:spcBef>
                <a:spcPts val="0"/>
              </a:spcBef>
              <a:spcAft>
                <a:spcPts val="0"/>
              </a:spcAft>
              <a:buNone/>
            </a:pPr>
            <a:r>
              <a:rPr lang="es-ES" sz="2000">
                <a:latin typeface="Consolas"/>
                <a:ea typeface="Consolas"/>
                <a:cs typeface="Consolas"/>
                <a:sym typeface="Consolas"/>
              </a:rPr>
              <a:t>}</a:t>
            </a:r>
            <a:endParaRPr sz="2000">
              <a:latin typeface="Consolas"/>
              <a:ea typeface="Consolas"/>
              <a:cs typeface="Consolas"/>
              <a:sym typeface="Consolas"/>
            </a:endParaRPr>
          </a:p>
        </p:txBody>
      </p:sp>
      <p:sp>
        <p:nvSpPr>
          <p:cNvPr id="530" name="Google Shape;530;p52"/>
          <p:cNvSpPr txBox="1"/>
          <p:nvPr/>
        </p:nvSpPr>
        <p:spPr>
          <a:xfrm>
            <a:off x="7171325" y="3706600"/>
            <a:ext cx="4490400" cy="10818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ES" sz="2000">
                <a:latin typeface="Consolas"/>
                <a:ea typeface="Consolas"/>
                <a:cs typeface="Consolas"/>
                <a:sym typeface="Consolas"/>
              </a:rPr>
              <a:t>load R1, balance </a:t>
            </a:r>
            <a:endParaRPr sz="2000">
              <a:latin typeface="Consolas"/>
              <a:ea typeface="Consolas"/>
              <a:cs typeface="Consolas"/>
              <a:sym typeface="Consolas"/>
            </a:endParaRPr>
          </a:p>
          <a:p>
            <a:pPr marL="0" lvl="0" indent="0" algn="l" rtl="0">
              <a:spcBef>
                <a:spcPts val="0"/>
              </a:spcBef>
              <a:spcAft>
                <a:spcPts val="0"/>
              </a:spcAft>
              <a:buNone/>
            </a:pPr>
            <a:r>
              <a:rPr lang="es-ES" sz="2000">
                <a:latin typeface="Consolas"/>
                <a:ea typeface="Consolas"/>
                <a:cs typeface="Consolas"/>
                <a:sym typeface="Consolas"/>
              </a:rPr>
              <a:t>add R1, amount </a:t>
            </a:r>
            <a:endParaRPr sz="2000">
              <a:latin typeface="Consolas"/>
              <a:ea typeface="Consolas"/>
              <a:cs typeface="Consolas"/>
              <a:sym typeface="Consolas"/>
            </a:endParaRPr>
          </a:p>
          <a:p>
            <a:pPr marL="0" lvl="0" indent="0" algn="l" rtl="0">
              <a:spcBef>
                <a:spcPts val="0"/>
              </a:spcBef>
              <a:spcAft>
                <a:spcPts val="0"/>
              </a:spcAft>
              <a:buNone/>
            </a:pPr>
            <a:r>
              <a:rPr lang="es-ES" sz="2000">
                <a:latin typeface="Consolas"/>
                <a:ea typeface="Consolas"/>
                <a:cs typeface="Consolas"/>
                <a:sym typeface="Consolas"/>
              </a:rPr>
              <a:t>store R1, balance</a:t>
            </a:r>
            <a:endParaRPr sz="2000">
              <a:latin typeface="Consolas"/>
              <a:ea typeface="Consolas"/>
              <a:cs typeface="Consolas"/>
              <a:sym typeface="Consolas"/>
            </a:endParaRPr>
          </a:p>
        </p:txBody>
      </p:sp>
      <p:sp>
        <p:nvSpPr>
          <p:cNvPr id="531" name="Google Shape;531;p52"/>
          <p:cNvSpPr/>
          <p:nvPr/>
        </p:nvSpPr>
        <p:spPr>
          <a:xfrm>
            <a:off x="6120550" y="4110700"/>
            <a:ext cx="828600" cy="273600"/>
          </a:xfrm>
          <a:prstGeom prst="righ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3"/>
          <p:cNvSpPr/>
          <p:nvPr/>
        </p:nvSpPr>
        <p:spPr>
          <a:xfrm>
            <a:off x="8146275" y="3237325"/>
            <a:ext cx="3477300" cy="3014700"/>
          </a:xfrm>
          <a:prstGeom prst="roundRect">
            <a:avLst>
              <a:gd name="adj" fmla="val 10931"/>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3"/>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538" name="Google Shape;538;p53"/>
          <p:cNvSpPr txBox="1">
            <a:spLocks noGrp="1"/>
          </p:cNvSpPr>
          <p:nvPr>
            <p:ph type="body" idx="1"/>
          </p:nvPr>
        </p:nvSpPr>
        <p:spPr>
          <a:xfrm>
            <a:off x="916650" y="856500"/>
            <a:ext cx="7406700" cy="5916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Recurrencia</a:t>
            </a:r>
            <a:endParaRPr sz="2800" b="1" dirty="0">
              <a:solidFill>
                <a:schemeClr val="accent1"/>
              </a:solidFill>
              <a:latin typeface="+mn-lt"/>
            </a:endParaRPr>
          </a:p>
          <a:p>
            <a:pPr marL="457200" lvl="0" indent="0" algn="l" rtl="0">
              <a:lnSpc>
                <a:spcPct val="100000"/>
              </a:lnSpc>
              <a:spcBef>
                <a:spcPts val="600"/>
              </a:spcBef>
              <a:spcAft>
                <a:spcPts val="0"/>
              </a:spcAft>
              <a:buNone/>
            </a:pPr>
            <a:endParaRPr sz="20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457200" lvl="0" indent="0" algn="l" rtl="0">
              <a:spcBef>
                <a:spcPts val="1000"/>
              </a:spcBef>
              <a:spcAft>
                <a:spcPts val="0"/>
              </a:spcAft>
              <a:buNone/>
            </a:pPr>
            <a:endParaRPr dirty="0">
              <a:latin typeface="+mn-lt"/>
            </a:endParaRPr>
          </a:p>
        </p:txBody>
      </p:sp>
      <p:pic>
        <p:nvPicPr>
          <p:cNvPr id="539" name="Google Shape;539;p53"/>
          <p:cNvPicPr preferRelativeResize="0"/>
          <p:nvPr/>
        </p:nvPicPr>
        <p:blipFill>
          <a:blip r:embed="rId3">
            <a:alphaModFix/>
          </a:blip>
          <a:stretch>
            <a:fillRect/>
          </a:stretch>
        </p:blipFill>
        <p:spPr>
          <a:xfrm>
            <a:off x="10401022" y="1871475"/>
            <a:ext cx="363275" cy="763575"/>
          </a:xfrm>
          <a:prstGeom prst="rect">
            <a:avLst/>
          </a:prstGeom>
          <a:noFill/>
          <a:ln>
            <a:noFill/>
          </a:ln>
        </p:spPr>
      </p:pic>
      <p:pic>
        <p:nvPicPr>
          <p:cNvPr id="540" name="Google Shape;540;p53"/>
          <p:cNvPicPr preferRelativeResize="0"/>
          <p:nvPr/>
        </p:nvPicPr>
        <p:blipFill>
          <a:blip r:embed="rId3">
            <a:alphaModFix/>
          </a:blip>
          <a:stretch>
            <a:fillRect/>
          </a:stretch>
        </p:blipFill>
        <p:spPr>
          <a:xfrm>
            <a:off x="8618110" y="1871475"/>
            <a:ext cx="363275" cy="763575"/>
          </a:xfrm>
          <a:prstGeom prst="rect">
            <a:avLst/>
          </a:prstGeom>
          <a:noFill/>
          <a:ln>
            <a:noFill/>
          </a:ln>
        </p:spPr>
      </p:pic>
      <p:sp>
        <p:nvSpPr>
          <p:cNvPr id="541" name="Google Shape;541;p53"/>
          <p:cNvSpPr txBox="1"/>
          <p:nvPr/>
        </p:nvSpPr>
        <p:spPr>
          <a:xfrm>
            <a:off x="916650" y="6432000"/>
            <a:ext cx="87093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a:t>Ejemplo tomado de: </a:t>
            </a:r>
            <a:r>
              <a:rPr lang="es-ES" sz="1100" u="sng">
                <a:solidFill>
                  <a:schemeClr val="hlink"/>
                </a:solidFill>
                <a:hlinkClick r:id="rId4"/>
              </a:rPr>
              <a:t>http://pages.cs.wisc.edu/~remzi/Classes/537/Fall2005/Lectures/lecture4.pdf</a:t>
            </a:r>
            <a:endParaRPr/>
          </a:p>
        </p:txBody>
      </p:sp>
      <p:graphicFrame>
        <p:nvGraphicFramePr>
          <p:cNvPr id="542" name="Google Shape;542;p53"/>
          <p:cNvGraphicFramePr/>
          <p:nvPr/>
        </p:nvGraphicFramePr>
        <p:xfrm>
          <a:off x="1229150" y="1871485"/>
          <a:ext cx="6353250" cy="3657360"/>
        </p:xfrm>
        <a:graphic>
          <a:graphicData uri="http://schemas.openxmlformats.org/drawingml/2006/table">
            <a:tbl>
              <a:tblPr>
                <a:noFill/>
              </a:tblPr>
              <a:tblGrid>
                <a:gridCol w="3176625">
                  <a:extLst>
                    <a:ext uri="{9D8B030D-6E8A-4147-A177-3AD203B41FA5}">
                      <a16:colId xmlns:a16="http://schemas.microsoft.com/office/drawing/2014/main" val="20000"/>
                    </a:ext>
                  </a:extLst>
                </a:gridCol>
                <a:gridCol w="3176625">
                  <a:extLst>
                    <a:ext uri="{9D8B030D-6E8A-4147-A177-3AD203B41FA5}">
                      <a16:colId xmlns:a16="http://schemas.microsoft.com/office/drawing/2014/main" val="20001"/>
                    </a:ext>
                  </a:extLst>
                </a:gridCol>
              </a:tblGrid>
              <a:tr h="396200">
                <a:tc>
                  <a:txBody>
                    <a:bodyPr/>
                    <a:lstStyle/>
                    <a:p>
                      <a:pPr marL="0" lvl="0" indent="0" algn="l" rtl="0">
                        <a:spcBef>
                          <a:spcPts val="0"/>
                        </a:spcBef>
                        <a:spcAft>
                          <a:spcPts val="0"/>
                        </a:spcAft>
                        <a:buNone/>
                      </a:pPr>
                      <a:r>
                        <a:rPr lang="es-ES" sz="1800" b="1">
                          <a:latin typeface="Consolas"/>
                          <a:ea typeface="Consolas"/>
                          <a:cs typeface="Consolas"/>
                          <a:sym typeface="Consolas"/>
                        </a:rPr>
                        <a:t>Initial balance: $100</a:t>
                      </a: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238275">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Thread 1:deposit(10)</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Thread 2:deposit(20)</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Load R1, balance</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Load R1, balance</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Add R1, amount</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Add R1, amount</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Store R1, balance</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396200">
                <a:tc>
                  <a:txBody>
                    <a:bodyPr/>
                    <a:lstStyle/>
                    <a:p>
                      <a:pPr marL="0" lvl="0" indent="0" algn="l" rtl="0">
                        <a:spcBef>
                          <a:spcPts val="0"/>
                        </a:spcBef>
                        <a:spcAft>
                          <a:spcPts val="0"/>
                        </a:spcAft>
                        <a:buNone/>
                      </a:pP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Store R1, balance</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pSp>
        <p:nvGrpSpPr>
          <p:cNvPr id="543" name="Google Shape;543;p53"/>
          <p:cNvGrpSpPr/>
          <p:nvPr/>
        </p:nvGrpSpPr>
        <p:grpSpPr>
          <a:xfrm>
            <a:off x="1229079" y="2724237"/>
            <a:ext cx="5942167" cy="3104692"/>
            <a:chOff x="1400975" y="3913475"/>
            <a:chExt cx="5537900" cy="2338575"/>
          </a:xfrm>
        </p:grpSpPr>
        <p:cxnSp>
          <p:nvCxnSpPr>
            <p:cNvPr id="544" name="Google Shape;544;p53"/>
            <p:cNvCxnSpPr/>
            <p:nvPr/>
          </p:nvCxnSpPr>
          <p:spPr>
            <a:xfrm>
              <a:off x="1400975" y="3917750"/>
              <a:ext cx="32100" cy="2334300"/>
            </a:xfrm>
            <a:prstGeom prst="straightConnector1">
              <a:avLst/>
            </a:prstGeom>
            <a:noFill/>
            <a:ln w="28575" cap="flat" cmpd="sng">
              <a:solidFill>
                <a:srgbClr val="000000"/>
              </a:solidFill>
              <a:prstDash val="solid"/>
              <a:round/>
              <a:headEnd type="none" w="med" len="med"/>
              <a:tailEnd type="triangle" w="med" len="med"/>
            </a:ln>
          </p:spPr>
        </p:cxnSp>
        <p:cxnSp>
          <p:nvCxnSpPr>
            <p:cNvPr id="545" name="Google Shape;545;p53"/>
            <p:cNvCxnSpPr/>
            <p:nvPr/>
          </p:nvCxnSpPr>
          <p:spPr>
            <a:xfrm flipH="1">
              <a:off x="1401175" y="3913475"/>
              <a:ext cx="5537700" cy="15900"/>
            </a:xfrm>
            <a:prstGeom prst="straightConnector1">
              <a:avLst/>
            </a:prstGeom>
            <a:noFill/>
            <a:ln w="28575" cap="flat" cmpd="sng">
              <a:solidFill>
                <a:schemeClr val="dk2"/>
              </a:solidFill>
              <a:prstDash val="solid"/>
              <a:round/>
              <a:headEnd type="none" w="med" len="med"/>
              <a:tailEnd type="none" w="med" len="med"/>
            </a:ln>
          </p:spPr>
        </p:cxnSp>
      </p:grpSp>
      <p:sp>
        <p:nvSpPr>
          <p:cNvPr id="546" name="Google Shape;546;p53"/>
          <p:cNvSpPr txBox="1"/>
          <p:nvPr/>
        </p:nvSpPr>
        <p:spPr>
          <a:xfrm>
            <a:off x="833100" y="3565925"/>
            <a:ext cx="270900" cy="5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600" b="1"/>
              <a:t>t</a:t>
            </a:r>
            <a:endParaRPr sz="2600" b="1"/>
          </a:p>
        </p:txBody>
      </p:sp>
      <p:sp>
        <p:nvSpPr>
          <p:cNvPr id="547" name="Google Shape;547;p53"/>
          <p:cNvSpPr/>
          <p:nvPr/>
        </p:nvSpPr>
        <p:spPr>
          <a:xfrm>
            <a:off x="8916950" y="3623675"/>
            <a:ext cx="1837200" cy="12396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3"/>
          <p:cNvSpPr/>
          <p:nvPr/>
        </p:nvSpPr>
        <p:spPr>
          <a:xfrm>
            <a:off x="8618100" y="5024275"/>
            <a:ext cx="2443500" cy="853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3"/>
          <p:cNvSpPr/>
          <p:nvPr/>
        </p:nvSpPr>
        <p:spPr>
          <a:xfrm>
            <a:off x="9579050" y="3977850"/>
            <a:ext cx="937200" cy="428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3"/>
          <p:cNvSpPr txBox="1"/>
          <p:nvPr/>
        </p:nvSpPr>
        <p:spPr>
          <a:xfrm>
            <a:off x="9078450" y="3994025"/>
            <a:ext cx="5007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latin typeface="Consolas"/>
                <a:ea typeface="Consolas"/>
                <a:cs typeface="Consolas"/>
                <a:sym typeface="Consolas"/>
              </a:rPr>
              <a:t>R1</a:t>
            </a:r>
            <a:endParaRPr b="1">
              <a:latin typeface="Consolas"/>
              <a:ea typeface="Consolas"/>
              <a:cs typeface="Consolas"/>
              <a:sym typeface="Consolas"/>
            </a:endParaRPr>
          </a:p>
        </p:txBody>
      </p:sp>
      <p:sp>
        <p:nvSpPr>
          <p:cNvPr id="551" name="Google Shape;551;p53"/>
          <p:cNvSpPr txBox="1"/>
          <p:nvPr/>
        </p:nvSpPr>
        <p:spPr>
          <a:xfrm>
            <a:off x="8774125" y="5314050"/>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latin typeface="Consolas"/>
                <a:ea typeface="Consolas"/>
                <a:cs typeface="Consolas"/>
                <a:sym typeface="Consolas"/>
              </a:rPr>
              <a:t>balance</a:t>
            </a:r>
            <a:endParaRPr b="1">
              <a:latin typeface="Consolas"/>
              <a:ea typeface="Consolas"/>
              <a:cs typeface="Consolas"/>
              <a:sym typeface="Consolas"/>
            </a:endParaRPr>
          </a:p>
        </p:txBody>
      </p:sp>
      <p:sp>
        <p:nvSpPr>
          <p:cNvPr id="552" name="Google Shape;552;p53"/>
          <p:cNvSpPr/>
          <p:nvPr/>
        </p:nvSpPr>
        <p:spPr>
          <a:xfrm>
            <a:off x="9778563" y="5236800"/>
            <a:ext cx="937200" cy="428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3" name="Google Shape;553;p53"/>
          <p:cNvPicPr preferRelativeResize="0"/>
          <p:nvPr/>
        </p:nvPicPr>
        <p:blipFill>
          <a:blip r:embed="rId5">
            <a:alphaModFix/>
          </a:blip>
          <a:stretch>
            <a:fillRect/>
          </a:stretch>
        </p:blipFill>
        <p:spPr>
          <a:xfrm>
            <a:off x="10560900" y="3461700"/>
            <a:ext cx="500700" cy="500700"/>
          </a:xfrm>
          <a:prstGeom prst="rect">
            <a:avLst/>
          </a:prstGeom>
          <a:noFill/>
          <a:ln>
            <a:noFill/>
          </a:ln>
        </p:spPr>
      </p:pic>
      <p:pic>
        <p:nvPicPr>
          <p:cNvPr id="554" name="Google Shape;554;p53"/>
          <p:cNvPicPr preferRelativeResize="0"/>
          <p:nvPr/>
        </p:nvPicPr>
        <p:blipFill>
          <a:blip r:embed="rId6">
            <a:alphaModFix/>
          </a:blip>
          <a:stretch>
            <a:fillRect/>
          </a:stretch>
        </p:blipFill>
        <p:spPr>
          <a:xfrm>
            <a:off x="10903019" y="4789050"/>
            <a:ext cx="591700" cy="591700"/>
          </a:xfrm>
          <a:prstGeom prst="rect">
            <a:avLst/>
          </a:prstGeom>
          <a:noFill/>
          <a:ln>
            <a:noFill/>
          </a:ln>
        </p:spPr>
      </p:pic>
      <p:sp>
        <p:nvSpPr>
          <p:cNvPr id="555" name="Google Shape;555;p53"/>
          <p:cNvSpPr txBox="1"/>
          <p:nvPr/>
        </p:nvSpPr>
        <p:spPr>
          <a:xfrm>
            <a:off x="8510913" y="1353800"/>
            <a:ext cx="1103700" cy="36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solidFill>
                  <a:srgbClr val="FF0000"/>
                </a:solidFill>
                <a:latin typeface="Consolas"/>
                <a:ea typeface="Consolas"/>
                <a:cs typeface="Consolas"/>
                <a:sym typeface="Consolas"/>
              </a:rPr>
              <a:t>Thread 1</a:t>
            </a:r>
            <a:endParaRPr/>
          </a:p>
        </p:txBody>
      </p:sp>
      <p:sp>
        <p:nvSpPr>
          <p:cNvPr id="556" name="Google Shape;556;p53"/>
          <p:cNvSpPr txBox="1"/>
          <p:nvPr/>
        </p:nvSpPr>
        <p:spPr>
          <a:xfrm>
            <a:off x="10030800" y="1353800"/>
            <a:ext cx="1103700" cy="36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solidFill>
                  <a:srgbClr val="6AA84F"/>
                </a:solidFill>
                <a:latin typeface="Consolas"/>
                <a:ea typeface="Consolas"/>
                <a:cs typeface="Consolas"/>
                <a:sym typeface="Consolas"/>
              </a:rPr>
              <a:t>Thread 2</a:t>
            </a:r>
            <a:endParaRPr>
              <a:solidFill>
                <a:srgbClr val="6AA84F"/>
              </a:solidFill>
            </a:endParaRPr>
          </a:p>
        </p:txBody>
      </p:sp>
      <p:cxnSp>
        <p:nvCxnSpPr>
          <p:cNvPr id="557" name="Google Shape;557;p53"/>
          <p:cNvCxnSpPr/>
          <p:nvPr/>
        </p:nvCxnSpPr>
        <p:spPr>
          <a:xfrm>
            <a:off x="8926125" y="2794225"/>
            <a:ext cx="403800" cy="443100"/>
          </a:xfrm>
          <a:prstGeom prst="straightConnector1">
            <a:avLst/>
          </a:prstGeom>
          <a:noFill/>
          <a:ln w="28575" cap="flat" cmpd="sng">
            <a:solidFill>
              <a:srgbClr val="FF0000"/>
            </a:solidFill>
            <a:prstDash val="solid"/>
            <a:round/>
            <a:headEnd type="none" w="med" len="med"/>
            <a:tailEnd type="triangle" w="med" len="med"/>
          </a:ln>
        </p:spPr>
      </p:cxnSp>
      <p:cxnSp>
        <p:nvCxnSpPr>
          <p:cNvPr id="558" name="Google Shape;558;p53"/>
          <p:cNvCxnSpPr/>
          <p:nvPr/>
        </p:nvCxnSpPr>
        <p:spPr>
          <a:xfrm flipH="1">
            <a:off x="10206950" y="2826825"/>
            <a:ext cx="309300" cy="442800"/>
          </a:xfrm>
          <a:prstGeom prst="straightConnector1">
            <a:avLst/>
          </a:prstGeom>
          <a:noFill/>
          <a:ln w="28575" cap="flat" cmpd="sng">
            <a:solidFill>
              <a:srgbClr val="6AA84F"/>
            </a:solidFill>
            <a:prstDash val="solid"/>
            <a:round/>
            <a:headEnd type="none" w="med" len="med"/>
            <a:tailEnd type="triangle" w="med" len="med"/>
          </a:ln>
        </p:spPr>
      </p:cxnSp>
      <p:sp>
        <p:nvSpPr>
          <p:cNvPr id="559" name="Google Shape;559;p53"/>
          <p:cNvSpPr txBox="1"/>
          <p:nvPr/>
        </p:nvSpPr>
        <p:spPr>
          <a:xfrm>
            <a:off x="9078525" y="1871475"/>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solidFill>
                  <a:srgbClr val="FF0000"/>
                </a:solidFill>
                <a:latin typeface="Consolas"/>
                <a:ea typeface="Consolas"/>
                <a:cs typeface="Consolas"/>
                <a:sym typeface="Consolas"/>
              </a:rPr>
              <a:t>amount</a:t>
            </a:r>
            <a:endParaRPr b="1">
              <a:solidFill>
                <a:srgbClr val="FF0000"/>
              </a:solidFill>
              <a:latin typeface="Consolas"/>
              <a:ea typeface="Consolas"/>
              <a:cs typeface="Consolas"/>
              <a:sym typeface="Consolas"/>
            </a:endParaRPr>
          </a:p>
        </p:txBody>
      </p:sp>
      <p:sp>
        <p:nvSpPr>
          <p:cNvPr id="560" name="Google Shape;560;p53"/>
          <p:cNvSpPr txBox="1"/>
          <p:nvPr/>
        </p:nvSpPr>
        <p:spPr>
          <a:xfrm>
            <a:off x="10903025" y="1857938"/>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solidFill>
                  <a:srgbClr val="6AA84F"/>
                </a:solidFill>
                <a:latin typeface="Consolas"/>
                <a:ea typeface="Consolas"/>
                <a:cs typeface="Consolas"/>
                <a:sym typeface="Consolas"/>
              </a:rPr>
              <a:t>amount</a:t>
            </a:r>
            <a:endParaRPr b="1">
              <a:solidFill>
                <a:srgbClr val="6AA84F"/>
              </a:solidFill>
              <a:latin typeface="Consolas"/>
              <a:ea typeface="Consolas"/>
              <a:cs typeface="Consolas"/>
              <a:sym typeface="Consolas"/>
            </a:endParaRPr>
          </a:p>
        </p:txBody>
      </p:sp>
      <p:sp>
        <p:nvSpPr>
          <p:cNvPr id="561" name="Google Shape;561;p53"/>
          <p:cNvSpPr/>
          <p:nvPr/>
        </p:nvSpPr>
        <p:spPr>
          <a:xfrm>
            <a:off x="9078525" y="2275071"/>
            <a:ext cx="937200" cy="2736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3"/>
          <p:cNvSpPr/>
          <p:nvPr/>
        </p:nvSpPr>
        <p:spPr>
          <a:xfrm>
            <a:off x="10903025" y="2275071"/>
            <a:ext cx="937200" cy="273600"/>
          </a:xfrm>
          <a:prstGeom prst="rect">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54"/>
          <p:cNvSpPr/>
          <p:nvPr/>
        </p:nvSpPr>
        <p:spPr>
          <a:xfrm>
            <a:off x="8146275" y="3237325"/>
            <a:ext cx="3477300" cy="3014700"/>
          </a:xfrm>
          <a:prstGeom prst="roundRect">
            <a:avLst>
              <a:gd name="adj" fmla="val 10931"/>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Virtualización de recursos</a:t>
            </a:r>
            <a:endParaRPr dirty="0">
              <a:latin typeface="+mj-lt"/>
            </a:endParaRPr>
          </a:p>
        </p:txBody>
      </p:sp>
      <p:sp>
        <p:nvSpPr>
          <p:cNvPr id="569" name="Google Shape;569;p54"/>
          <p:cNvSpPr txBox="1">
            <a:spLocks noGrp="1"/>
          </p:cNvSpPr>
          <p:nvPr>
            <p:ph type="body" idx="1"/>
          </p:nvPr>
        </p:nvSpPr>
        <p:spPr>
          <a:xfrm>
            <a:off x="916650" y="856500"/>
            <a:ext cx="7406700" cy="5916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Recurrencia</a:t>
            </a:r>
            <a:endParaRPr sz="2800" b="1" dirty="0">
              <a:solidFill>
                <a:schemeClr val="accent1"/>
              </a:solidFill>
              <a:latin typeface="+mn-lt"/>
            </a:endParaRPr>
          </a:p>
          <a:p>
            <a:pPr marL="457200" lvl="0" indent="0" algn="l" rtl="0">
              <a:lnSpc>
                <a:spcPct val="100000"/>
              </a:lnSpc>
              <a:spcBef>
                <a:spcPts val="600"/>
              </a:spcBef>
              <a:spcAft>
                <a:spcPts val="0"/>
              </a:spcAft>
              <a:buNone/>
            </a:pPr>
            <a:endParaRPr sz="20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0" lvl="0" indent="0" algn="l" rtl="0">
              <a:lnSpc>
                <a:spcPct val="100000"/>
              </a:lnSpc>
              <a:spcBef>
                <a:spcPts val="600"/>
              </a:spcBef>
              <a:spcAft>
                <a:spcPts val="0"/>
              </a:spcAft>
              <a:buNone/>
            </a:pPr>
            <a:endParaRPr sz="2400" dirty="0">
              <a:latin typeface="+mn-lt"/>
            </a:endParaRPr>
          </a:p>
          <a:p>
            <a:pPr marL="457200" lvl="0" indent="0" algn="l" rtl="0">
              <a:spcBef>
                <a:spcPts val="1000"/>
              </a:spcBef>
              <a:spcAft>
                <a:spcPts val="0"/>
              </a:spcAft>
              <a:buNone/>
            </a:pPr>
            <a:endParaRPr dirty="0">
              <a:latin typeface="+mn-lt"/>
            </a:endParaRPr>
          </a:p>
        </p:txBody>
      </p:sp>
      <p:pic>
        <p:nvPicPr>
          <p:cNvPr id="570" name="Google Shape;570;p54"/>
          <p:cNvPicPr preferRelativeResize="0"/>
          <p:nvPr/>
        </p:nvPicPr>
        <p:blipFill>
          <a:blip r:embed="rId3">
            <a:alphaModFix/>
          </a:blip>
          <a:stretch>
            <a:fillRect/>
          </a:stretch>
        </p:blipFill>
        <p:spPr>
          <a:xfrm>
            <a:off x="10401022" y="1871475"/>
            <a:ext cx="363275" cy="763575"/>
          </a:xfrm>
          <a:prstGeom prst="rect">
            <a:avLst/>
          </a:prstGeom>
          <a:noFill/>
          <a:ln>
            <a:noFill/>
          </a:ln>
        </p:spPr>
      </p:pic>
      <p:pic>
        <p:nvPicPr>
          <p:cNvPr id="571" name="Google Shape;571;p54"/>
          <p:cNvPicPr preferRelativeResize="0"/>
          <p:nvPr/>
        </p:nvPicPr>
        <p:blipFill>
          <a:blip r:embed="rId3">
            <a:alphaModFix/>
          </a:blip>
          <a:stretch>
            <a:fillRect/>
          </a:stretch>
        </p:blipFill>
        <p:spPr>
          <a:xfrm>
            <a:off x="8618110" y="1871475"/>
            <a:ext cx="363275" cy="763575"/>
          </a:xfrm>
          <a:prstGeom prst="rect">
            <a:avLst/>
          </a:prstGeom>
          <a:noFill/>
          <a:ln>
            <a:noFill/>
          </a:ln>
        </p:spPr>
      </p:pic>
      <p:sp>
        <p:nvSpPr>
          <p:cNvPr id="572" name="Google Shape;572;p54"/>
          <p:cNvSpPr txBox="1"/>
          <p:nvPr/>
        </p:nvSpPr>
        <p:spPr>
          <a:xfrm>
            <a:off x="916650" y="6432000"/>
            <a:ext cx="87093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a:t>Ejemplo tomado de: </a:t>
            </a:r>
            <a:r>
              <a:rPr lang="es-ES" sz="1100" u="sng">
                <a:solidFill>
                  <a:schemeClr val="hlink"/>
                </a:solidFill>
                <a:hlinkClick r:id="rId4"/>
              </a:rPr>
              <a:t>http://pages.cs.wisc.edu/~remzi/Classes/537/Fall2005/Lectures/lecture4.pdf</a:t>
            </a:r>
            <a:endParaRPr/>
          </a:p>
        </p:txBody>
      </p:sp>
      <p:graphicFrame>
        <p:nvGraphicFramePr>
          <p:cNvPr id="573" name="Google Shape;573;p54"/>
          <p:cNvGraphicFramePr/>
          <p:nvPr/>
        </p:nvGraphicFramePr>
        <p:xfrm>
          <a:off x="1229150" y="1871485"/>
          <a:ext cx="6353250" cy="3657360"/>
        </p:xfrm>
        <a:graphic>
          <a:graphicData uri="http://schemas.openxmlformats.org/drawingml/2006/table">
            <a:tbl>
              <a:tblPr>
                <a:noFill/>
              </a:tblPr>
              <a:tblGrid>
                <a:gridCol w="3176625">
                  <a:extLst>
                    <a:ext uri="{9D8B030D-6E8A-4147-A177-3AD203B41FA5}">
                      <a16:colId xmlns:a16="http://schemas.microsoft.com/office/drawing/2014/main" val="20000"/>
                    </a:ext>
                  </a:extLst>
                </a:gridCol>
                <a:gridCol w="3176625">
                  <a:extLst>
                    <a:ext uri="{9D8B030D-6E8A-4147-A177-3AD203B41FA5}">
                      <a16:colId xmlns:a16="http://schemas.microsoft.com/office/drawing/2014/main" val="20001"/>
                    </a:ext>
                  </a:extLst>
                </a:gridCol>
              </a:tblGrid>
              <a:tr h="396200">
                <a:tc>
                  <a:txBody>
                    <a:bodyPr/>
                    <a:lstStyle/>
                    <a:p>
                      <a:pPr marL="0" lvl="0" indent="0" algn="l" rtl="0">
                        <a:spcBef>
                          <a:spcPts val="0"/>
                        </a:spcBef>
                        <a:spcAft>
                          <a:spcPts val="0"/>
                        </a:spcAft>
                        <a:buNone/>
                      </a:pPr>
                      <a:r>
                        <a:rPr lang="es-ES" sz="1800" b="1">
                          <a:latin typeface="Consolas"/>
                          <a:ea typeface="Consolas"/>
                          <a:cs typeface="Consolas"/>
                          <a:sym typeface="Consolas"/>
                        </a:rPr>
                        <a:t>Initial balance: $100</a:t>
                      </a: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238275">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Thread 1:deposit(10)</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Thread 2:deposit(20)</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Load R1, balance</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Load R1, balance</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lvl="0" indent="0" algn="l" rtl="0">
                        <a:spcBef>
                          <a:spcPts val="0"/>
                        </a:spcBef>
                        <a:spcAft>
                          <a:spcPts val="0"/>
                        </a:spcAft>
                        <a:buNone/>
                      </a:pP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s-ES" sz="1800" b="1">
                          <a:solidFill>
                            <a:srgbClr val="6AA84F"/>
                          </a:solidFill>
                          <a:latin typeface="Consolas"/>
                          <a:ea typeface="Consolas"/>
                          <a:cs typeface="Consolas"/>
                          <a:sym typeface="Consolas"/>
                        </a:rPr>
                        <a:t>Add R1, amount</a:t>
                      </a:r>
                      <a:endParaRPr sz="1800">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Add R1, amount</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None/>
                      </a:pPr>
                      <a:r>
                        <a:rPr lang="es-ES" sz="1800" b="1">
                          <a:solidFill>
                            <a:srgbClr val="FF0000"/>
                          </a:solidFill>
                          <a:latin typeface="Consolas"/>
                          <a:ea typeface="Consolas"/>
                          <a:cs typeface="Consolas"/>
                          <a:sym typeface="Consolas"/>
                        </a:rPr>
                        <a:t>Store R1, balance</a:t>
                      </a:r>
                      <a:endParaRPr sz="1800" b="1">
                        <a:solidFill>
                          <a:srgbClr val="FF00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1800">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396200">
                <a:tc>
                  <a:txBody>
                    <a:bodyPr/>
                    <a:lstStyle/>
                    <a:p>
                      <a:pPr marL="0" lvl="0" indent="0" algn="l" rtl="0">
                        <a:spcBef>
                          <a:spcPts val="0"/>
                        </a:spcBef>
                        <a:spcAft>
                          <a:spcPts val="0"/>
                        </a:spcAft>
                        <a:buNone/>
                      </a:pPr>
                      <a:endParaRPr sz="1800" b="1">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s-ES" sz="1800" b="1">
                          <a:solidFill>
                            <a:srgbClr val="6AA84F"/>
                          </a:solidFill>
                          <a:latin typeface="Consolas"/>
                          <a:ea typeface="Consolas"/>
                          <a:cs typeface="Consolas"/>
                          <a:sym typeface="Consolas"/>
                        </a:rPr>
                        <a:t>Store R1, balance</a:t>
                      </a:r>
                      <a:endParaRPr sz="1800" b="1">
                        <a:solidFill>
                          <a:srgbClr val="6AA84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pSp>
        <p:nvGrpSpPr>
          <p:cNvPr id="574" name="Google Shape;574;p54"/>
          <p:cNvGrpSpPr/>
          <p:nvPr/>
        </p:nvGrpSpPr>
        <p:grpSpPr>
          <a:xfrm>
            <a:off x="1229079" y="2724237"/>
            <a:ext cx="5942167" cy="3104692"/>
            <a:chOff x="1400975" y="3913475"/>
            <a:chExt cx="5537900" cy="2338575"/>
          </a:xfrm>
        </p:grpSpPr>
        <p:cxnSp>
          <p:nvCxnSpPr>
            <p:cNvPr id="575" name="Google Shape;575;p54"/>
            <p:cNvCxnSpPr/>
            <p:nvPr/>
          </p:nvCxnSpPr>
          <p:spPr>
            <a:xfrm>
              <a:off x="1400975" y="3917750"/>
              <a:ext cx="32100" cy="2334300"/>
            </a:xfrm>
            <a:prstGeom prst="straightConnector1">
              <a:avLst/>
            </a:prstGeom>
            <a:noFill/>
            <a:ln w="28575" cap="flat" cmpd="sng">
              <a:solidFill>
                <a:srgbClr val="000000"/>
              </a:solidFill>
              <a:prstDash val="solid"/>
              <a:round/>
              <a:headEnd type="none" w="med" len="med"/>
              <a:tailEnd type="triangle" w="med" len="med"/>
            </a:ln>
          </p:spPr>
        </p:cxnSp>
        <p:cxnSp>
          <p:nvCxnSpPr>
            <p:cNvPr id="576" name="Google Shape;576;p54"/>
            <p:cNvCxnSpPr/>
            <p:nvPr/>
          </p:nvCxnSpPr>
          <p:spPr>
            <a:xfrm flipH="1">
              <a:off x="1401175" y="3913475"/>
              <a:ext cx="5537700" cy="15900"/>
            </a:xfrm>
            <a:prstGeom prst="straightConnector1">
              <a:avLst/>
            </a:prstGeom>
            <a:noFill/>
            <a:ln w="28575" cap="flat" cmpd="sng">
              <a:solidFill>
                <a:schemeClr val="dk2"/>
              </a:solidFill>
              <a:prstDash val="solid"/>
              <a:round/>
              <a:headEnd type="none" w="med" len="med"/>
              <a:tailEnd type="none" w="med" len="med"/>
            </a:ln>
          </p:spPr>
        </p:cxnSp>
      </p:grpSp>
      <p:sp>
        <p:nvSpPr>
          <p:cNvPr id="577" name="Google Shape;577;p54"/>
          <p:cNvSpPr txBox="1"/>
          <p:nvPr/>
        </p:nvSpPr>
        <p:spPr>
          <a:xfrm>
            <a:off x="833100" y="3565925"/>
            <a:ext cx="270900" cy="5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600" b="1"/>
              <a:t>t</a:t>
            </a:r>
            <a:endParaRPr sz="2600" b="1"/>
          </a:p>
        </p:txBody>
      </p:sp>
      <p:sp>
        <p:nvSpPr>
          <p:cNvPr id="578" name="Google Shape;578;p54"/>
          <p:cNvSpPr/>
          <p:nvPr/>
        </p:nvSpPr>
        <p:spPr>
          <a:xfrm>
            <a:off x="8916950" y="3623675"/>
            <a:ext cx="1837200" cy="12396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4"/>
          <p:cNvSpPr/>
          <p:nvPr/>
        </p:nvSpPr>
        <p:spPr>
          <a:xfrm>
            <a:off x="8618100" y="5024275"/>
            <a:ext cx="2443500" cy="853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4"/>
          <p:cNvSpPr/>
          <p:nvPr/>
        </p:nvSpPr>
        <p:spPr>
          <a:xfrm>
            <a:off x="9579050" y="3977850"/>
            <a:ext cx="937200" cy="428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4"/>
          <p:cNvSpPr txBox="1"/>
          <p:nvPr/>
        </p:nvSpPr>
        <p:spPr>
          <a:xfrm>
            <a:off x="9078450" y="3994025"/>
            <a:ext cx="500700" cy="4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latin typeface="Consolas"/>
                <a:ea typeface="Consolas"/>
                <a:cs typeface="Consolas"/>
                <a:sym typeface="Consolas"/>
              </a:rPr>
              <a:t>R1</a:t>
            </a:r>
            <a:endParaRPr b="1">
              <a:latin typeface="Consolas"/>
              <a:ea typeface="Consolas"/>
              <a:cs typeface="Consolas"/>
              <a:sym typeface="Consolas"/>
            </a:endParaRPr>
          </a:p>
        </p:txBody>
      </p:sp>
      <p:sp>
        <p:nvSpPr>
          <p:cNvPr id="582" name="Google Shape;582;p54"/>
          <p:cNvSpPr txBox="1"/>
          <p:nvPr/>
        </p:nvSpPr>
        <p:spPr>
          <a:xfrm>
            <a:off x="8774125" y="5314050"/>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latin typeface="Consolas"/>
                <a:ea typeface="Consolas"/>
                <a:cs typeface="Consolas"/>
                <a:sym typeface="Consolas"/>
              </a:rPr>
              <a:t>balance</a:t>
            </a:r>
            <a:endParaRPr b="1">
              <a:latin typeface="Consolas"/>
              <a:ea typeface="Consolas"/>
              <a:cs typeface="Consolas"/>
              <a:sym typeface="Consolas"/>
            </a:endParaRPr>
          </a:p>
        </p:txBody>
      </p:sp>
      <p:sp>
        <p:nvSpPr>
          <p:cNvPr id="583" name="Google Shape;583;p54"/>
          <p:cNvSpPr/>
          <p:nvPr/>
        </p:nvSpPr>
        <p:spPr>
          <a:xfrm>
            <a:off x="9778563" y="5236800"/>
            <a:ext cx="937200" cy="428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4" name="Google Shape;584;p54"/>
          <p:cNvPicPr preferRelativeResize="0"/>
          <p:nvPr/>
        </p:nvPicPr>
        <p:blipFill>
          <a:blip r:embed="rId5">
            <a:alphaModFix/>
          </a:blip>
          <a:stretch>
            <a:fillRect/>
          </a:stretch>
        </p:blipFill>
        <p:spPr>
          <a:xfrm>
            <a:off x="10560900" y="3461700"/>
            <a:ext cx="500700" cy="500700"/>
          </a:xfrm>
          <a:prstGeom prst="rect">
            <a:avLst/>
          </a:prstGeom>
          <a:noFill/>
          <a:ln>
            <a:noFill/>
          </a:ln>
        </p:spPr>
      </p:pic>
      <p:pic>
        <p:nvPicPr>
          <p:cNvPr id="585" name="Google Shape;585;p54"/>
          <p:cNvPicPr preferRelativeResize="0"/>
          <p:nvPr/>
        </p:nvPicPr>
        <p:blipFill>
          <a:blip r:embed="rId6">
            <a:alphaModFix/>
          </a:blip>
          <a:stretch>
            <a:fillRect/>
          </a:stretch>
        </p:blipFill>
        <p:spPr>
          <a:xfrm>
            <a:off x="10903019" y="4789050"/>
            <a:ext cx="591700" cy="591700"/>
          </a:xfrm>
          <a:prstGeom prst="rect">
            <a:avLst/>
          </a:prstGeom>
          <a:noFill/>
          <a:ln>
            <a:noFill/>
          </a:ln>
        </p:spPr>
      </p:pic>
      <p:sp>
        <p:nvSpPr>
          <p:cNvPr id="586" name="Google Shape;586;p54"/>
          <p:cNvSpPr txBox="1"/>
          <p:nvPr/>
        </p:nvSpPr>
        <p:spPr>
          <a:xfrm>
            <a:off x="8510913" y="1353800"/>
            <a:ext cx="1103700" cy="36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solidFill>
                  <a:srgbClr val="FF0000"/>
                </a:solidFill>
                <a:latin typeface="Consolas"/>
                <a:ea typeface="Consolas"/>
                <a:cs typeface="Consolas"/>
                <a:sym typeface="Consolas"/>
              </a:rPr>
              <a:t>Thread 1</a:t>
            </a:r>
            <a:endParaRPr/>
          </a:p>
        </p:txBody>
      </p:sp>
      <p:sp>
        <p:nvSpPr>
          <p:cNvPr id="587" name="Google Shape;587;p54"/>
          <p:cNvSpPr txBox="1"/>
          <p:nvPr/>
        </p:nvSpPr>
        <p:spPr>
          <a:xfrm>
            <a:off x="10030800" y="1353800"/>
            <a:ext cx="1103700" cy="36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b="1">
                <a:solidFill>
                  <a:srgbClr val="6AA84F"/>
                </a:solidFill>
                <a:latin typeface="Consolas"/>
                <a:ea typeface="Consolas"/>
                <a:cs typeface="Consolas"/>
                <a:sym typeface="Consolas"/>
              </a:rPr>
              <a:t>Thread 2</a:t>
            </a:r>
            <a:endParaRPr>
              <a:solidFill>
                <a:srgbClr val="6AA84F"/>
              </a:solidFill>
            </a:endParaRPr>
          </a:p>
        </p:txBody>
      </p:sp>
      <p:cxnSp>
        <p:nvCxnSpPr>
          <p:cNvPr id="588" name="Google Shape;588;p54"/>
          <p:cNvCxnSpPr/>
          <p:nvPr/>
        </p:nvCxnSpPr>
        <p:spPr>
          <a:xfrm>
            <a:off x="8926125" y="2794225"/>
            <a:ext cx="403800" cy="443100"/>
          </a:xfrm>
          <a:prstGeom prst="straightConnector1">
            <a:avLst/>
          </a:prstGeom>
          <a:noFill/>
          <a:ln w="28575" cap="flat" cmpd="sng">
            <a:solidFill>
              <a:srgbClr val="FF0000"/>
            </a:solidFill>
            <a:prstDash val="solid"/>
            <a:round/>
            <a:headEnd type="none" w="med" len="med"/>
            <a:tailEnd type="triangle" w="med" len="med"/>
          </a:ln>
        </p:spPr>
      </p:cxnSp>
      <p:cxnSp>
        <p:nvCxnSpPr>
          <p:cNvPr id="589" name="Google Shape;589;p54"/>
          <p:cNvCxnSpPr/>
          <p:nvPr/>
        </p:nvCxnSpPr>
        <p:spPr>
          <a:xfrm flipH="1">
            <a:off x="10206950" y="2826825"/>
            <a:ext cx="309300" cy="442800"/>
          </a:xfrm>
          <a:prstGeom prst="straightConnector1">
            <a:avLst/>
          </a:prstGeom>
          <a:noFill/>
          <a:ln w="28575" cap="flat" cmpd="sng">
            <a:solidFill>
              <a:srgbClr val="6AA84F"/>
            </a:solidFill>
            <a:prstDash val="solid"/>
            <a:round/>
            <a:headEnd type="none" w="med" len="med"/>
            <a:tailEnd type="triangle" w="med" len="med"/>
          </a:ln>
        </p:spPr>
      </p:cxnSp>
      <p:sp>
        <p:nvSpPr>
          <p:cNvPr id="590" name="Google Shape;590;p54"/>
          <p:cNvSpPr txBox="1"/>
          <p:nvPr/>
        </p:nvSpPr>
        <p:spPr>
          <a:xfrm>
            <a:off x="9078525" y="1871475"/>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solidFill>
                  <a:srgbClr val="FF0000"/>
                </a:solidFill>
                <a:latin typeface="Consolas"/>
                <a:ea typeface="Consolas"/>
                <a:cs typeface="Consolas"/>
                <a:sym typeface="Consolas"/>
              </a:rPr>
              <a:t>amount</a:t>
            </a:r>
            <a:endParaRPr b="1">
              <a:solidFill>
                <a:srgbClr val="FF0000"/>
              </a:solidFill>
              <a:latin typeface="Consolas"/>
              <a:ea typeface="Consolas"/>
              <a:cs typeface="Consolas"/>
              <a:sym typeface="Consolas"/>
            </a:endParaRPr>
          </a:p>
        </p:txBody>
      </p:sp>
      <p:sp>
        <p:nvSpPr>
          <p:cNvPr id="591" name="Google Shape;591;p54"/>
          <p:cNvSpPr txBox="1"/>
          <p:nvPr/>
        </p:nvSpPr>
        <p:spPr>
          <a:xfrm>
            <a:off x="10903025" y="1857938"/>
            <a:ext cx="937200" cy="2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solidFill>
                  <a:srgbClr val="6AA84F"/>
                </a:solidFill>
                <a:latin typeface="Consolas"/>
                <a:ea typeface="Consolas"/>
                <a:cs typeface="Consolas"/>
                <a:sym typeface="Consolas"/>
              </a:rPr>
              <a:t>amount</a:t>
            </a:r>
            <a:endParaRPr b="1">
              <a:solidFill>
                <a:srgbClr val="6AA84F"/>
              </a:solidFill>
              <a:latin typeface="Consolas"/>
              <a:ea typeface="Consolas"/>
              <a:cs typeface="Consolas"/>
              <a:sym typeface="Consolas"/>
            </a:endParaRPr>
          </a:p>
        </p:txBody>
      </p:sp>
      <p:sp>
        <p:nvSpPr>
          <p:cNvPr id="592" name="Google Shape;592;p54"/>
          <p:cNvSpPr/>
          <p:nvPr/>
        </p:nvSpPr>
        <p:spPr>
          <a:xfrm>
            <a:off x="9078525" y="2275071"/>
            <a:ext cx="937200" cy="2736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4"/>
          <p:cNvSpPr/>
          <p:nvPr/>
        </p:nvSpPr>
        <p:spPr>
          <a:xfrm>
            <a:off x="10903025" y="2275071"/>
            <a:ext cx="937200" cy="273600"/>
          </a:xfrm>
          <a:prstGeom prst="rect">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5"/>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599" name="Google Shape;599;p55"/>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Ejemplo</a:t>
            </a:r>
            <a:endParaRPr sz="2800" b="1" dirty="0">
              <a:solidFill>
                <a:schemeClr val="accent1"/>
              </a:solidFill>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sp>
        <p:nvSpPr>
          <p:cNvPr id="600" name="Google Shape;600;p55"/>
          <p:cNvSpPr txBox="1"/>
          <p:nvPr/>
        </p:nvSpPr>
        <p:spPr>
          <a:xfrm>
            <a:off x="982400" y="3156825"/>
            <a:ext cx="1167300" cy="40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t>threads.c</a:t>
            </a:r>
            <a:endParaRPr sz="1600" b="1"/>
          </a:p>
        </p:txBody>
      </p:sp>
      <p:pic>
        <p:nvPicPr>
          <p:cNvPr id="601" name="Google Shape;601;p55"/>
          <p:cNvPicPr preferRelativeResize="0"/>
          <p:nvPr/>
        </p:nvPicPr>
        <p:blipFill>
          <a:blip r:embed="rId3">
            <a:alphaModFix/>
          </a:blip>
          <a:stretch>
            <a:fillRect/>
          </a:stretch>
        </p:blipFill>
        <p:spPr>
          <a:xfrm>
            <a:off x="1054538" y="1955025"/>
            <a:ext cx="1095375" cy="1114425"/>
          </a:xfrm>
          <a:prstGeom prst="rect">
            <a:avLst/>
          </a:prstGeom>
          <a:noFill/>
          <a:ln>
            <a:noFill/>
          </a:ln>
        </p:spPr>
      </p:pic>
      <p:sp>
        <p:nvSpPr>
          <p:cNvPr id="602" name="Google Shape;602;p55"/>
          <p:cNvSpPr txBox="1"/>
          <p:nvPr/>
        </p:nvSpPr>
        <p:spPr>
          <a:xfrm>
            <a:off x="2703875" y="1238575"/>
            <a:ext cx="3396900" cy="541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&lt;stdio.h&gt;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&lt;stdlib.h&gt;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"common.h"</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"common_threads.h"</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volatile</a:t>
            </a: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counter =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loops;</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void</a:t>
            </a:r>
            <a:r>
              <a:rPr lang="es-ES" sz="1600">
                <a:solidFill>
                  <a:srgbClr val="24292E"/>
                </a:solidFill>
                <a:highlight>
                  <a:srgbClr val="FFFFFF"/>
                </a:highlight>
                <a:latin typeface="Consolas"/>
                <a:ea typeface="Consolas"/>
                <a:cs typeface="Consolas"/>
                <a:sym typeface="Consolas"/>
              </a:rPr>
              <a:t> *</a:t>
            </a:r>
            <a:r>
              <a:rPr lang="es-ES" sz="1600">
                <a:solidFill>
                  <a:srgbClr val="6F42C1"/>
                </a:solidFill>
                <a:highlight>
                  <a:srgbClr val="FFFFFF"/>
                </a:highlight>
                <a:latin typeface="Consolas"/>
                <a:ea typeface="Consolas"/>
                <a:cs typeface="Consolas"/>
                <a:sym typeface="Consolas"/>
              </a:rPr>
              <a:t>worker</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void</a:t>
            </a:r>
            <a:r>
              <a:rPr lang="es-ES" sz="1600">
                <a:solidFill>
                  <a:srgbClr val="24292E"/>
                </a:solidFill>
                <a:highlight>
                  <a:srgbClr val="FFFFFF"/>
                </a:highlight>
                <a:latin typeface="Consolas"/>
                <a:ea typeface="Consolas"/>
                <a:cs typeface="Consolas"/>
                <a:sym typeface="Consolas"/>
              </a:rPr>
              <a:t> *arg)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i;</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for</a:t>
            </a:r>
            <a:r>
              <a:rPr lang="es-ES" sz="1600">
                <a:solidFill>
                  <a:srgbClr val="24292E"/>
                </a:solidFill>
                <a:highlight>
                  <a:srgbClr val="FFFFFF"/>
                </a:highlight>
                <a:latin typeface="Consolas"/>
                <a:ea typeface="Consolas"/>
                <a:cs typeface="Consolas"/>
                <a:sym typeface="Consolas"/>
              </a:rPr>
              <a:t> (i =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 i &lt; loops; i++)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counter++;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return</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p:txBody>
      </p:sp>
      <p:sp>
        <p:nvSpPr>
          <p:cNvPr id="603" name="Google Shape;603;p55"/>
          <p:cNvSpPr txBox="1"/>
          <p:nvPr/>
        </p:nvSpPr>
        <p:spPr>
          <a:xfrm>
            <a:off x="6399175" y="1238575"/>
            <a:ext cx="5779500" cy="4181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t>
            </a:r>
            <a:r>
              <a:rPr lang="es-ES" sz="1600">
                <a:solidFill>
                  <a:srgbClr val="6F42C1"/>
                </a:solidFill>
                <a:highlight>
                  <a:srgbClr val="FFFFFF"/>
                </a:highlight>
                <a:latin typeface="Consolas"/>
                <a:ea typeface="Consolas"/>
                <a:cs typeface="Consolas"/>
                <a:sym typeface="Consolas"/>
              </a:rPr>
              <a:t>main</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argc, </a:t>
            </a:r>
            <a:r>
              <a:rPr lang="es-ES" sz="1600">
                <a:solidFill>
                  <a:srgbClr val="D73A49"/>
                </a:solidFill>
                <a:highlight>
                  <a:srgbClr val="FFFFFF"/>
                </a:highlight>
                <a:latin typeface="Consolas"/>
                <a:ea typeface="Consolas"/>
                <a:cs typeface="Consolas"/>
                <a:sym typeface="Consolas"/>
              </a:rPr>
              <a:t>char</a:t>
            </a:r>
            <a:r>
              <a:rPr lang="es-ES" sz="1600">
                <a:solidFill>
                  <a:srgbClr val="24292E"/>
                </a:solidFill>
                <a:highlight>
                  <a:srgbClr val="FFFFFF"/>
                </a:highlight>
                <a:latin typeface="Consolas"/>
                <a:ea typeface="Consolas"/>
                <a:cs typeface="Consolas"/>
                <a:sym typeface="Consolas"/>
              </a:rPr>
              <a:t> *argv[])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if</a:t>
            </a:r>
            <a:r>
              <a:rPr lang="es-ES" sz="1600">
                <a:solidFill>
                  <a:srgbClr val="24292E"/>
                </a:solidFill>
                <a:highlight>
                  <a:srgbClr val="FFFFFF"/>
                </a:highlight>
                <a:latin typeface="Consolas"/>
                <a:ea typeface="Consolas"/>
                <a:cs typeface="Consolas"/>
                <a:sym typeface="Consolas"/>
              </a:rPr>
              <a:t> (argc != </a:t>
            </a:r>
            <a:r>
              <a:rPr lang="es-ES" sz="1600">
                <a:solidFill>
                  <a:srgbClr val="005CC5"/>
                </a:solidFill>
                <a:highlight>
                  <a:srgbClr val="FFFFFF"/>
                </a:highlight>
                <a:latin typeface="Consolas"/>
                <a:ea typeface="Consolas"/>
                <a:cs typeface="Consolas"/>
                <a:sym typeface="Consolas"/>
              </a:rPr>
              <a:t>2</a:t>
            </a: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fprintf</a:t>
            </a:r>
            <a:r>
              <a:rPr lang="es-ES" sz="1600">
                <a:solidFill>
                  <a:srgbClr val="24292E"/>
                </a:solidFill>
                <a:highlight>
                  <a:srgbClr val="FFFFFF"/>
                </a:highlight>
                <a:latin typeface="Consolas"/>
                <a:ea typeface="Consolas"/>
                <a:cs typeface="Consolas"/>
                <a:sym typeface="Consolas"/>
              </a:rPr>
              <a:t>(stderr, </a:t>
            </a:r>
            <a:r>
              <a:rPr lang="es-ES" sz="1600">
                <a:solidFill>
                  <a:srgbClr val="032F62"/>
                </a:solidFill>
                <a:highlight>
                  <a:srgbClr val="FFFFFF"/>
                </a:highlight>
                <a:latin typeface="Consolas"/>
                <a:ea typeface="Consolas"/>
                <a:cs typeface="Consolas"/>
                <a:sym typeface="Consolas"/>
              </a:rPr>
              <a:t>"usage: threads &lt;loops&gt;\n"</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exit</a:t>
            </a:r>
            <a:r>
              <a:rPr lang="es-ES" sz="1600">
                <a:solidFill>
                  <a:srgbClr val="24292E"/>
                </a:solidFill>
                <a:highlight>
                  <a:srgbClr val="FFFFFF"/>
                </a:highlight>
                <a:latin typeface="Consolas"/>
                <a:ea typeface="Consolas"/>
                <a:cs typeface="Consolas"/>
                <a:sym typeface="Consolas"/>
              </a:rPr>
              <a:t>(</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loops = </a:t>
            </a:r>
            <a:r>
              <a:rPr lang="es-ES" sz="1600">
                <a:solidFill>
                  <a:srgbClr val="005CC5"/>
                </a:solidFill>
                <a:highlight>
                  <a:srgbClr val="FFFFFF"/>
                </a:highlight>
                <a:latin typeface="Consolas"/>
                <a:ea typeface="Consolas"/>
                <a:cs typeface="Consolas"/>
                <a:sym typeface="Consolas"/>
              </a:rPr>
              <a:t>atoi</a:t>
            </a:r>
            <a:r>
              <a:rPr lang="es-ES" sz="1600">
                <a:solidFill>
                  <a:srgbClr val="24292E"/>
                </a:solidFill>
                <a:highlight>
                  <a:srgbClr val="FFFFFF"/>
                </a:highlight>
                <a:latin typeface="Consolas"/>
                <a:ea typeface="Consolas"/>
                <a:cs typeface="Consolas"/>
                <a:sym typeface="Consolas"/>
              </a:rPr>
              <a:t>(argv[</a:t>
            </a:r>
            <a:r>
              <a:rPr lang="es-ES" sz="1600">
                <a:solidFill>
                  <a:srgbClr val="005CC5"/>
                </a:solidFill>
                <a:highlight>
                  <a:srgbClr val="FFFFFF"/>
                </a:highlight>
                <a:latin typeface="Consolas"/>
                <a:ea typeface="Consolas"/>
                <a:cs typeface="Consolas"/>
                <a:sym typeface="Consolas"/>
              </a:rPr>
              <a:t>1</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pthread_t</a:t>
            </a:r>
            <a:r>
              <a:rPr lang="es-ES" sz="1600">
                <a:solidFill>
                  <a:srgbClr val="24292E"/>
                </a:solidFill>
                <a:highlight>
                  <a:srgbClr val="FFFFFF"/>
                </a:highlight>
                <a:latin typeface="Consolas"/>
                <a:ea typeface="Consolas"/>
                <a:cs typeface="Consolas"/>
                <a:sym typeface="Consolas"/>
              </a:rPr>
              <a:t> p1, p2;</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printf</a:t>
            </a:r>
            <a:r>
              <a:rPr lang="es-ES" sz="1600">
                <a:solidFill>
                  <a:srgbClr val="24292E"/>
                </a:solidFill>
                <a:highlight>
                  <a:srgbClr val="FFFFFF"/>
                </a:highlight>
                <a:latin typeface="Consolas"/>
                <a:ea typeface="Consolas"/>
                <a:cs typeface="Consolas"/>
                <a:sym typeface="Consolas"/>
              </a:rPr>
              <a:t>(</a:t>
            </a:r>
            <a:r>
              <a:rPr lang="es-ES" sz="1600">
                <a:solidFill>
                  <a:srgbClr val="032F62"/>
                </a:solidFill>
                <a:highlight>
                  <a:srgbClr val="FFFFFF"/>
                </a:highlight>
                <a:latin typeface="Consolas"/>
                <a:ea typeface="Consolas"/>
                <a:cs typeface="Consolas"/>
                <a:sym typeface="Consolas"/>
              </a:rPr>
              <a:t>"Initial value : </a:t>
            </a:r>
            <a:r>
              <a:rPr lang="es-ES" sz="1600">
                <a:solidFill>
                  <a:srgbClr val="005CC5"/>
                </a:solidFill>
                <a:highlight>
                  <a:srgbClr val="FFFFFF"/>
                </a:highlight>
                <a:latin typeface="Consolas"/>
                <a:ea typeface="Consolas"/>
                <a:cs typeface="Consolas"/>
                <a:sym typeface="Consolas"/>
              </a:rPr>
              <a:t>%d</a:t>
            </a:r>
            <a:r>
              <a:rPr lang="es-ES" sz="1600">
                <a:solidFill>
                  <a:srgbClr val="032F62"/>
                </a:solidFill>
                <a:highlight>
                  <a:srgbClr val="FFFFFF"/>
                </a:highlight>
                <a:latin typeface="Consolas"/>
                <a:ea typeface="Consolas"/>
                <a:cs typeface="Consolas"/>
                <a:sym typeface="Consolas"/>
              </a:rPr>
              <a:t>\n"</a:t>
            </a:r>
            <a:r>
              <a:rPr lang="es-ES" sz="1600">
                <a:solidFill>
                  <a:srgbClr val="24292E"/>
                </a:solidFill>
                <a:highlight>
                  <a:srgbClr val="FFFFFF"/>
                </a:highlight>
                <a:latin typeface="Consolas"/>
                <a:ea typeface="Consolas"/>
                <a:cs typeface="Consolas"/>
                <a:sym typeface="Consolas"/>
              </a:rPr>
              <a:t>, counter);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Pthread_create</a:t>
            </a:r>
            <a:r>
              <a:rPr lang="es-ES" sz="1600">
                <a:solidFill>
                  <a:srgbClr val="24292E"/>
                </a:solidFill>
                <a:highlight>
                  <a:srgbClr val="FFFFFF"/>
                </a:highlight>
                <a:latin typeface="Consolas"/>
                <a:ea typeface="Consolas"/>
                <a:cs typeface="Consolas"/>
                <a:sym typeface="Consolas"/>
              </a:rPr>
              <a:t>(&amp;p1,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 worker,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Pthread_create</a:t>
            </a:r>
            <a:r>
              <a:rPr lang="es-ES" sz="1600">
                <a:solidFill>
                  <a:srgbClr val="24292E"/>
                </a:solidFill>
                <a:highlight>
                  <a:srgbClr val="FFFFFF"/>
                </a:highlight>
                <a:latin typeface="Consolas"/>
                <a:ea typeface="Consolas"/>
                <a:cs typeface="Consolas"/>
                <a:sym typeface="Consolas"/>
              </a:rPr>
              <a:t>(&amp;p2,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 worker,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Pthread_join</a:t>
            </a:r>
            <a:r>
              <a:rPr lang="es-ES" sz="1600">
                <a:solidFill>
                  <a:srgbClr val="24292E"/>
                </a:solidFill>
                <a:highlight>
                  <a:srgbClr val="FFFFFF"/>
                </a:highlight>
                <a:latin typeface="Consolas"/>
                <a:ea typeface="Consolas"/>
                <a:cs typeface="Consolas"/>
                <a:sym typeface="Consolas"/>
              </a:rPr>
              <a:t>(p1,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Pthread_join</a:t>
            </a:r>
            <a:r>
              <a:rPr lang="es-ES" sz="1600">
                <a:solidFill>
                  <a:srgbClr val="24292E"/>
                </a:solidFill>
                <a:highlight>
                  <a:srgbClr val="FFFFFF"/>
                </a:highlight>
                <a:latin typeface="Consolas"/>
                <a:ea typeface="Consolas"/>
                <a:cs typeface="Consolas"/>
                <a:sym typeface="Consolas"/>
              </a:rPr>
              <a:t>(p2, </a:t>
            </a:r>
            <a:r>
              <a:rPr lang="es-ES" sz="1600">
                <a:solidFill>
                  <a:srgbClr val="005CC5"/>
                </a:solidFill>
                <a:highlight>
                  <a:srgbClr val="FFFFFF"/>
                </a:highlight>
                <a:latin typeface="Consolas"/>
                <a:ea typeface="Consolas"/>
                <a:cs typeface="Consolas"/>
                <a:sym typeface="Consolas"/>
              </a:rPr>
              <a:t>NULL</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printf</a:t>
            </a:r>
            <a:r>
              <a:rPr lang="es-ES" sz="1600">
                <a:solidFill>
                  <a:srgbClr val="24292E"/>
                </a:solidFill>
                <a:highlight>
                  <a:srgbClr val="FFFFFF"/>
                </a:highlight>
                <a:latin typeface="Consolas"/>
                <a:ea typeface="Consolas"/>
                <a:cs typeface="Consolas"/>
                <a:sym typeface="Consolas"/>
              </a:rPr>
              <a:t>(</a:t>
            </a:r>
            <a:r>
              <a:rPr lang="es-ES" sz="1600">
                <a:solidFill>
                  <a:srgbClr val="032F62"/>
                </a:solidFill>
                <a:highlight>
                  <a:srgbClr val="FFFFFF"/>
                </a:highlight>
                <a:latin typeface="Consolas"/>
                <a:ea typeface="Consolas"/>
                <a:cs typeface="Consolas"/>
                <a:sym typeface="Consolas"/>
              </a:rPr>
              <a:t>"Final value   : </a:t>
            </a:r>
            <a:r>
              <a:rPr lang="es-ES" sz="1600">
                <a:solidFill>
                  <a:srgbClr val="005CC5"/>
                </a:solidFill>
                <a:highlight>
                  <a:srgbClr val="FFFFFF"/>
                </a:highlight>
                <a:latin typeface="Consolas"/>
                <a:ea typeface="Consolas"/>
                <a:cs typeface="Consolas"/>
                <a:sym typeface="Consolas"/>
              </a:rPr>
              <a:t>%d</a:t>
            </a:r>
            <a:r>
              <a:rPr lang="es-ES" sz="1600">
                <a:solidFill>
                  <a:srgbClr val="032F62"/>
                </a:solidFill>
                <a:highlight>
                  <a:srgbClr val="FFFFFF"/>
                </a:highlight>
                <a:latin typeface="Consolas"/>
                <a:ea typeface="Consolas"/>
                <a:cs typeface="Consolas"/>
                <a:sym typeface="Consolas"/>
              </a:rPr>
              <a:t>\n"</a:t>
            </a:r>
            <a:r>
              <a:rPr lang="es-ES" sz="1600">
                <a:solidFill>
                  <a:srgbClr val="24292E"/>
                </a:solidFill>
                <a:highlight>
                  <a:srgbClr val="FFFFFF"/>
                </a:highlight>
                <a:latin typeface="Consolas"/>
                <a:ea typeface="Consolas"/>
                <a:cs typeface="Consolas"/>
                <a:sym typeface="Consolas"/>
              </a:rPr>
              <a:t>, counter);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return</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8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700">
              <a:solidFill>
                <a:srgbClr val="24292E"/>
              </a:solidFill>
              <a:highlight>
                <a:srgbClr val="FFFFFF"/>
              </a:highlight>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56"/>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609" name="Google Shape;609;p56"/>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
        <p:nvSpPr>
          <p:cNvPr id="610" name="Google Shape;610;p56"/>
          <p:cNvSpPr txBox="1"/>
          <p:nvPr/>
        </p:nvSpPr>
        <p:spPr>
          <a:xfrm>
            <a:off x="948100" y="869325"/>
            <a:ext cx="5650500" cy="3000000"/>
          </a:xfrm>
          <a:prstGeom prst="rect">
            <a:avLst/>
          </a:prstGeom>
          <a:noFill/>
          <a:ln>
            <a:noFill/>
          </a:ln>
        </p:spPr>
        <p:txBody>
          <a:bodyPr spcFirstLastPara="1" wrap="square" lIns="91425" tIns="91425" rIns="91425" bIns="91425" anchor="t" anchorCtr="0">
            <a:noAutofit/>
          </a:bodyPr>
          <a:lstStyle/>
          <a:p>
            <a:pPr marL="0" lvl="0" indent="0" algn="l" rtl="0">
              <a:spcBef>
                <a:spcPts val="480"/>
              </a:spcBef>
              <a:spcAft>
                <a:spcPts val="0"/>
              </a:spcAft>
              <a:buNone/>
            </a:pPr>
            <a:r>
              <a:rPr lang="es-ES" sz="2800" b="1">
                <a:solidFill>
                  <a:schemeClr val="accent1"/>
                </a:solidFill>
                <a:latin typeface="Roboto"/>
                <a:ea typeface="Roboto"/>
                <a:cs typeface="Roboto"/>
                <a:sym typeface="Roboto"/>
              </a:rPr>
              <a:t>Ejemplo concurrencia</a:t>
            </a:r>
            <a:endParaRPr sz="2800" b="1">
              <a:solidFill>
                <a:schemeClr val="accent1"/>
              </a:solidFill>
              <a:latin typeface="Roboto"/>
              <a:ea typeface="Roboto"/>
              <a:cs typeface="Roboto"/>
              <a:sym typeface="Roboto"/>
            </a:endParaRPr>
          </a:p>
        </p:txBody>
      </p:sp>
      <p:pic>
        <p:nvPicPr>
          <p:cNvPr id="611" name="Google Shape;611;p56"/>
          <p:cNvPicPr preferRelativeResize="0"/>
          <p:nvPr/>
        </p:nvPicPr>
        <p:blipFill>
          <a:blip r:embed="rId3">
            <a:alphaModFix/>
          </a:blip>
          <a:stretch>
            <a:fillRect/>
          </a:stretch>
        </p:blipFill>
        <p:spPr>
          <a:xfrm>
            <a:off x="2679810" y="1987538"/>
            <a:ext cx="363275" cy="763575"/>
          </a:xfrm>
          <a:prstGeom prst="rect">
            <a:avLst/>
          </a:prstGeom>
          <a:noFill/>
          <a:ln>
            <a:noFill/>
          </a:ln>
        </p:spPr>
      </p:pic>
      <p:pic>
        <p:nvPicPr>
          <p:cNvPr id="612" name="Google Shape;612;p56"/>
          <p:cNvPicPr preferRelativeResize="0"/>
          <p:nvPr/>
        </p:nvPicPr>
        <p:blipFill>
          <a:blip r:embed="rId3">
            <a:alphaModFix/>
          </a:blip>
          <a:stretch>
            <a:fillRect/>
          </a:stretch>
        </p:blipFill>
        <p:spPr>
          <a:xfrm>
            <a:off x="4152310" y="1987550"/>
            <a:ext cx="363275" cy="763575"/>
          </a:xfrm>
          <a:prstGeom prst="rect">
            <a:avLst/>
          </a:prstGeom>
          <a:noFill/>
          <a:ln>
            <a:noFill/>
          </a:ln>
        </p:spPr>
      </p:pic>
      <p:grpSp>
        <p:nvGrpSpPr>
          <p:cNvPr id="613" name="Google Shape;613;p56"/>
          <p:cNvGrpSpPr/>
          <p:nvPr/>
        </p:nvGrpSpPr>
        <p:grpSpPr>
          <a:xfrm>
            <a:off x="1578050" y="3591500"/>
            <a:ext cx="2962200" cy="627900"/>
            <a:chOff x="1578050" y="3591500"/>
            <a:chExt cx="2962200" cy="627900"/>
          </a:xfrm>
        </p:grpSpPr>
        <p:sp>
          <p:nvSpPr>
            <p:cNvPr id="614" name="Google Shape;614;p56"/>
            <p:cNvSpPr/>
            <p:nvPr/>
          </p:nvSpPr>
          <p:spPr>
            <a:xfrm>
              <a:off x="1578050" y="3591500"/>
              <a:ext cx="2962200" cy="627900"/>
            </a:xfrm>
            <a:prstGeom prst="rect">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6"/>
            <p:cNvSpPr txBox="1"/>
            <p:nvPr/>
          </p:nvSpPr>
          <p:spPr>
            <a:xfrm>
              <a:off x="1718650" y="3699900"/>
              <a:ext cx="966000"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latin typeface="Consolas"/>
                  <a:ea typeface="Consolas"/>
                  <a:cs typeface="Consolas"/>
                  <a:sym typeface="Consolas"/>
                </a:rPr>
                <a:t>counter</a:t>
              </a:r>
              <a:endParaRPr sz="1600" b="1">
                <a:latin typeface="Consolas"/>
                <a:ea typeface="Consolas"/>
                <a:cs typeface="Consolas"/>
                <a:sym typeface="Consolas"/>
              </a:endParaRPr>
            </a:p>
          </p:txBody>
        </p:sp>
        <p:sp>
          <p:nvSpPr>
            <p:cNvPr id="616" name="Google Shape;616;p56"/>
            <p:cNvSpPr/>
            <p:nvPr/>
          </p:nvSpPr>
          <p:spPr>
            <a:xfrm>
              <a:off x="2809050" y="3693100"/>
              <a:ext cx="1521900" cy="3816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17" name="Google Shape;617;p56"/>
          <p:cNvCxnSpPr>
            <a:stCxn id="611" idx="2"/>
          </p:cNvCxnSpPr>
          <p:nvPr/>
        </p:nvCxnSpPr>
        <p:spPr>
          <a:xfrm>
            <a:off x="2861447" y="2751113"/>
            <a:ext cx="659100" cy="1114200"/>
          </a:xfrm>
          <a:prstGeom prst="straightConnector1">
            <a:avLst/>
          </a:prstGeom>
          <a:noFill/>
          <a:ln w="28575" cap="flat" cmpd="sng">
            <a:solidFill>
              <a:srgbClr val="6AA84F"/>
            </a:solidFill>
            <a:prstDash val="solid"/>
            <a:round/>
            <a:headEnd type="none" w="med" len="med"/>
            <a:tailEnd type="triangle" w="med" len="med"/>
          </a:ln>
        </p:spPr>
      </p:cxnSp>
      <p:cxnSp>
        <p:nvCxnSpPr>
          <p:cNvPr id="618" name="Google Shape;618;p56"/>
          <p:cNvCxnSpPr/>
          <p:nvPr/>
        </p:nvCxnSpPr>
        <p:spPr>
          <a:xfrm flipH="1">
            <a:off x="3745950" y="2770475"/>
            <a:ext cx="579600" cy="1094700"/>
          </a:xfrm>
          <a:prstGeom prst="straightConnector1">
            <a:avLst/>
          </a:prstGeom>
          <a:noFill/>
          <a:ln w="28575" cap="flat" cmpd="sng">
            <a:solidFill>
              <a:srgbClr val="FF9900"/>
            </a:solidFill>
            <a:prstDash val="solid"/>
            <a:round/>
            <a:headEnd type="none" w="med" len="med"/>
            <a:tailEnd type="triangle" w="med" len="med"/>
          </a:ln>
        </p:spPr>
      </p:cxnSp>
      <p:pic>
        <p:nvPicPr>
          <p:cNvPr id="619" name="Google Shape;619;p56"/>
          <p:cNvPicPr preferRelativeResize="0"/>
          <p:nvPr/>
        </p:nvPicPr>
        <p:blipFill>
          <a:blip r:embed="rId4">
            <a:alphaModFix/>
          </a:blip>
          <a:stretch>
            <a:fillRect/>
          </a:stretch>
        </p:blipFill>
        <p:spPr>
          <a:xfrm>
            <a:off x="6718800" y="1256250"/>
            <a:ext cx="4437900" cy="3193275"/>
          </a:xfrm>
          <a:prstGeom prst="rect">
            <a:avLst/>
          </a:prstGeom>
          <a:noFill/>
          <a:ln>
            <a:noFill/>
          </a:ln>
        </p:spPr>
      </p:pic>
      <p:sp>
        <p:nvSpPr>
          <p:cNvPr id="620" name="Google Shape;620;p56"/>
          <p:cNvSpPr txBox="1"/>
          <p:nvPr/>
        </p:nvSpPr>
        <p:spPr>
          <a:xfrm>
            <a:off x="948100" y="4914388"/>
            <a:ext cx="10529700" cy="370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ea typeface="Roboto"/>
                <a:cs typeface="Roboto"/>
                <a:sym typeface="Roboto"/>
              </a:rPr>
              <a:t>Ver video</a:t>
            </a:r>
            <a:r>
              <a:rPr lang="es-ES" sz="1600">
                <a:ea typeface="Roboto"/>
                <a:cs typeface="Roboto"/>
                <a:sym typeface="Roboto"/>
              </a:rPr>
              <a:t>: C01P11 - C01P12 - Ejemplo concurrencia - ISI485 Sistemas Operativos (</a:t>
            </a:r>
            <a:r>
              <a:rPr lang="es-ES" sz="1600" u="sng">
                <a:solidFill>
                  <a:schemeClr val="hlink"/>
                </a:solidFill>
                <a:ea typeface="Roboto"/>
                <a:cs typeface="Roboto"/>
                <a:sym typeface="Roboto"/>
                <a:hlinkClick r:id="rId5"/>
              </a:rPr>
              <a:t>link</a:t>
            </a:r>
            <a:r>
              <a:rPr lang="es-ES" sz="1600">
                <a:ea typeface="Roboto"/>
                <a:cs typeface="Roboto"/>
                <a:sym typeface="Roboto"/>
              </a:rPr>
              <a:t>)</a:t>
            </a:r>
            <a:endParaRPr sz="1600">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Google Shape;625;p57"/>
          <p:cNvPicPr preferRelativeResize="0"/>
          <p:nvPr/>
        </p:nvPicPr>
        <p:blipFill>
          <a:blip r:embed="rId3">
            <a:alphaModFix/>
          </a:blip>
          <a:stretch>
            <a:fillRect/>
          </a:stretch>
        </p:blipFill>
        <p:spPr>
          <a:xfrm>
            <a:off x="7317954" y="4024925"/>
            <a:ext cx="4788194" cy="2316875"/>
          </a:xfrm>
          <a:prstGeom prst="rect">
            <a:avLst/>
          </a:prstGeom>
          <a:noFill/>
          <a:ln>
            <a:noFill/>
          </a:ln>
        </p:spPr>
      </p:pic>
      <p:sp>
        <p:nvSpPr>
          <p:cNvPr id="626" name="Google Shape;626;p57"/>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627" name="Google Shape;627;p57"/>
          <p:cNvSpPr txBox="1">
            <a:spLocks noGrp="1"/>
          </p:cNvSpPr>
          <p:nvPr>
            <p:ph type="body" idx="1"/>
          </p:nvPr>
        </p:nvSpPr>
        <p:spPr>
          <a:xfrm>
            <a:off x="916650" y="856500"/>
            <a:ext cx="79218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dirty="0">
                <a:solidFill>
                  <a:schemeClr val="accent1"/>
                </a:solidFill>
                <a:latin typeface="+mn-lt"/>
              </a:rPr>
              <a:t>Persistencia</a:t>
            </a:r>
            <a:endParaRPr sz="2800" b="1" dirty="0">
              <a:solidFill>
                <a:schemeClr val="accent1"/>
              </a:solidFill>
              <a:latin typeface="+mn-lt"/>
            </a:endParaRPr>
          </a:p>
          <a:p>
            <a:pPr marL="457200" lvl="0" indent="-381000" algn="l" rtl="0">
              <a:lnSpc>
                <a:spcPct val="100000"/>
              </a:lnSpc>
              <a:spcBef>
                <a:spcPts val="600"/>
              </a:spcBef>
              <a:spcAft>
                <a:spcPts val="0"/>
              </a:spcAft>
              <a:buSzPts val="2400"/>
              <a:buFont typeface="Times New Roman"/>
              <a:buChar char="●"/>
            </a:pPr>
            <a:r>
              <a:rPr lang="es-ES" sz="2400" dirty="0">
                <a:latin typeface="+mn-lt"/>
              </a:rPr>
              <a:t>La memoria principal usa una tecnología de </a:t>
            </a:r>
            <a:r>
              <a:rPr lang="es-ES" sz="2400" b="1" dirty="0">
                <a:solidFill>
                  <a:srgbClr val="FF0000"/>
                </a:solidFill>
                <a:latin typeface="+mn-lt"/>
              </a:rPr>
              <a:t>memoria volátil</a:t>
            </a:r>
            <a:r>
              <a:rPr lang="es-ES" sz="2400" dirty="0">
                <a:latin typeface="+mn-lt"/>
              </a:rPr>
              <a:t>. </a:t>
            </a:r>
            <a:endParaRPr sz="2400" dirty="0">
              <a:latin typeface="+mn-lt"/>
            </a:endParaRPr>
          </a:p>
          <a:p>
            <a:pPr marL="914400" lvl="1" indent="-342900" algn="l" rtl="0">
              <a:lnSpc>
                <a:spcPct val="100000"/>
              </a:lnSpc>
              <a:spcBef>
                <a:spcPts val="0"/>
              </a:spcBef>
              <a:spcAft>
                <a:spcPts val="0"/>
              </a:spcAft>
              <a:buSzPts val="1800"/>
              <a:buFont typeface="Times New Roman"/>
              <a:buChar char="○"/>
            </a:pPr>
            <a:r>
              <a:rPr lang="es-ES" sz="2000" dirty="0">
                <a:latin typeface="+mn-lt"/>
              </a:rPr>
              <a:t>Los datos se pierden si deja de haber alimentación.</a:t>
            </a:r>
            <a:endParaRPr sz="2000" dirty="0">
              <a:latin typeface="+mn-lt"/>
            </a:endParaRPr>
          </a:p>
          <a:p>
            <a:pPr marL="457200" lvl="0" indent="-381000" algn="l" rtl="0">
              <a:lnSpc>
                <a:spcPct val="100000"/>
              </a:lnSpc>
              <a:spcBef>
                <a:spcPts val="0"/>
              </a:spcBef>
              <a:spcAft>
                <a:spcPts val="0"/>
              </a:spcAft>
              <a:buSzPts val="2400"/>
              <a:buFont typeface="Times New Roman"/>
              <a:buChar char="●"/>
            </a:pPr>
            <a:r>
              <a:rPr lang="es-ES" sz="2400" dirty="0">
                <a:latin typeface="+mn-lt"/>
              </a:rPr>
              <a:t>Es necesario tener alguna forma de mantener los datos (persistencia).</a:t>
            </a:r>
            <a:endParaRPr sz="2400" dirty="0">
              <a:latin typeface="+mn-lt"/>
            </a:endParaRPr>
          </a:p>
          <a:p>
            <a:pPr marL="0" lvl="0" indent="0" algn="l" rtl="0">
              <a:lnSpc>
                <a:spcPct val="100000"/>
              </a:lnSpc>
              <a:spcBef>
                <a:spcPts val="600"/>
              </a:spcBef>
              <a:spcAft>
                <a:spcPts val="0"/>
              </a:spcAft>
              <a:buNone/>
            </a:pPr>
            <a:endParaRPr sz="2000" dirty="0">
              <a:latin typeface="+mn-lt"/>
            </a:endParaRPr>
          </a:p>
          <a:p>
            <a:pPr marL="914400" lvl="0" indent="0" algn="l" rtl="0">
              <a:lnSpc>
                <a:spcPct val="100000"/>
              </a:lnSpc>
              <a:spcBef>
                <a:spcPts val="600"/>
              </a:spcBef>
              <a:spcAft>
                <a:spcPts val="0"/>
              </a:spcAft>
              <a:buNone/>
            </a:pPr>
            <a:endParaRPr sz="2000" dirty="0">
              <a:latin typeface="+mn-lt"/>
            </a:endParaRPr>
          </a:p>
          <a:p>
            <a:pPr marL="0" lvl="0" indent="0" algn="l" rtl="0">
              <a:lnSpc>
                <a:spcPct val="100000"/>
              </a:lnSpc>
              <a:spcBef>
                <a:spcPts val="600"/>
              </a:spcBef>
              <a:spcAft>
                <a:spcPts val="0"/>
              </a:spcAft>
              <a:buNone/>
            </a:pPr>
            <a:endParaRPr sz="2400"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457200" lvl="0" indent="0" algn="l" rtl="0">
              <a:lnSpc>
                <a:spcPct val="100000"/>
              </a:lnSpc>
              <a:spcBef>
                <a:spcPts val="600"/>
              </a:spcBef>
              <a:spcAft>
                <a:spcPts val="0"/>
              </a:spcAft>
              <a:buNone/>
            </a:pPr>
            <a:endParaRPr dirty="0">
              <a:latin typeface="+mn-lt"/>
            </a:endParaRPr>
          </a:p>
          <a:p>
            <a:pPr marL="9144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600"/>
              </a:spcBef>
              <a:spcAft>
                <a:spcPts val="0"/>
              </a:spcAft>
              <a:buNone/>
            </a:pPr>
            <a:endParaRPr b="1" dirty="0">
              <a:latin typeface="+mn-lt"/>
            </a:endParaRPr>
          </a:p>
          <a:p>
            <a:pPr marL="457200" lvl="0" indent="0" algn="l" rtl="0">
              <a:lnSpc>
                <a:spcPct val="100000"/>
              </a:lnSpc>
              <a:spcBef>
                <a:spcPts val="480"/>
              </a:spcBef>
              <a:spcAft>
                <a:spcPts val="0"/>
              </a:spcAft>
              <a:buNone/>
            </a:pPr>
            <a:endParaRPr sz="2400" dirty="0">
              <a:latin typeface="+mn-lt"/>
            </a:endParaRPr>
          </a:p>
          <a:p>
            <a:pPr marL="457200" lvl="0" indent="0" algn="l" rtl="0">
              <a:lnSpc>
                <a:spcPct val="100000"/>
              </a:lnSpc>
              <a:spcBef>
                <a:spcPts val="480"/>
              </a:spcBef>
              <a:spcAft>
                <a:spcPts val="0"/>
              </a:spcAft>
              <a:buNone/>
            </a:pPr>
            <a:endParaRPr dirty="0">
              <a:latin typeface="+mn-lt"/>
            </a:endParaRPr>
          </a:p>
          <a:p>
            <a:pPr marL="0" lvl="0" indent="0" algn="l" rtl="0">
              <a:spcBef>
                <a:spcPts val="1000"/>
              </a:spcBef>
              <a:spcAft>
                <a:spcPts val="0"/>
              </a:spcAft>
              <a:buNone/>
            </a:pPr>
            <a:endParaRPr dirty="0">
              <a:latin typeface="+mn-lt"/>
            </a:endParaRPr>
          </a:p>
          <a:p>
            <a:pPr marL="457200" lvl="0" indent="0" algn="l" rtl="0">
              <a:spcBef>
                <a:spcPts val="1000"/>
              </a:spcBef>
              <a:spcAft>
                <a:spcPts val="0"/>
              </a:spcAft>
              <a:buNone/>
            </a:pPr>
            <a:endParaRPr dirty="0">
              <a:latin typeface="+mn-lt"/>
            </a:endParaRPr>
          </a:p>
        </p:txBody>
      </p:sp>
      <p:pic>
        <p:nvPicPr>
          <p:cNvPr id="628" name="Google Shape;628;p57"/>
          <p:cNvPicPr preferRelativeResize="0"/>
          <p:nvPr/>
        </p:nvPicPr>
        <p:blipFill>
          <a:blip r:embed="rId4">
            <a:alphaModFix/>
          </a:blip>
          <a:stretch>
            <a:fillRect/>
          </a:stretch>
        </p:blipFill>
        <p:spPr>
          <a:xfrm>
            <a:off x="9592238" y="1273963"/>
            <a:ext cx="1066800" cy="1066800"/>
          </a:xfrm>
          <a:prstGeom prst="rect">
            <a:avLst/>
          </a:prstGeom>
          <a:noFill/>
          <a:ln>
            <a:noFill/>
          </a:ln>
        </p:spPr>
      </p:pic>
      <p:sp>
        <p:nvSpPr>
          <p:cNvPr id="629" name="Google Shape;629;p57"/>
          <p:cNvSpPr txBox="1"/>
          <p:nvPr/>
        </p:nvSpPr>
        <p:spPr>
          <a:xfrm>
            <a:off x="840450" y="3139200"/>
            <a:ext cx="7294500" cy="1285500"/>
          </a:xfrm>
          <a:prstGeom prst="rect">
            <a:avLst/>
          </a:prstGeom>
          <a:noFill/>
          <a:ln>
            <a:noFill/>
          </a:ln>
        </p:spPr>
        <p:txBody>
          <a:bodyPr spcFirstLastPara="1" wrap="square" lIns="91425" tIns="91425" rIns="91425" bIns="91425" anchor="t" anchorCtr="0">
            <a:noAutofit/>
          </a:bodyPr>
          <a:lstStyle/>
          <a:p>
            <a:pPr marL="914400" lvl="1" indent="-355600" algn="l" rtl="0">
              <a:spcBef>
                <a:spcPts val="600"/>
              </a:spcBef>
              <a:spcAft>
                <a:spcPts val="0"/>
              </a:spcAft>
              <a:buClr>
                <a:schemeClr val="dk1"/>
              </a:buClr>
              <a:buSzPts val="2000"/>
              <a:buFont typeface="Times New Roman"/>
              <a:buChar char="○"/>
            </a:pPr>
            <a:r>
              <a:rPr lang="es-ES" sz="2000" b="1" dirty="0">
                <a:solidFill>
                  <a:schemeClr val="dk1"/>
                </a:solidFill>
                <a:ea typeface="Roboto"/>
                <a:cs typeface="Roboto"/>
                <a:sym typeface="Roboto"/>
              </a:rPr>
              <a:t>Hardware</a:t>
            </a:r>
            <a:r>
              <a:rPr lang="es-ES" sz="2000" dirty="0">
                <a:solidFill>
                  <a:schemeClr val="dk1"/>
                </a:solidFill>
                <a:ea typeface="Roboto"/>
                <a:cs typeface="Roboto"/>
                <a:sym typeface="Roboto"/>
              </a:rPr>
              <a:t>: permite el almacenamiento de datos (discos, duros, discos de estado sólido, </a:t>
            </a:r>
            <a:r>
              <a:rPr lang="es-ES" sz="2000" dirty="0" err="1">
                <a:solidFill>
                  <a:schemeClr val="dk1"/>
                </a:solidFill>
                <a:ea typeface="Roboto"/>
                <a:cs typeface="Roboto"/>
                <a:sym typeface="Roboto"/>
              </a:rPr>
              <a:t>etc</a:t>
            </a:r>
            <a:r>
              <a:rPr lang="es-ES" sz="2000" dirty="0">
                <a:solidFill>
                  <a:schemeClr val="dk1"/>
                </a:solidFill>
                <a:ea typeface="Roboto"/>
                <a:cs typeface="Roboto"/>
                <a:sym typeface="Roboto"/>
              </a:rPr>
              <a:t>).</a:t>
            </a:r>
            <a:endParaRPr sz="2000" dirty="0">
              <a:solidFill>
                <a:schemeClr val="dk1"/>
              </a:solidFill>
              <a:ea typeface="Roboto"/>
              <a:cs typeface="Roboto"/>
              <a:sym typeface="Roboto"/>
            </a:endParaRPr>
          </a:p>
        </p:txBody>
      </p:sp>
      <p:sp>
        <p:nvSpPr>
          <p:cNvPr id="630" name="Google Shape;630;p57"/>
          <p:cNvSpPr txBox="1"/>
          <p:nvPr/>
        </p:nvSpPr>
        <p:spPr>
          <a:xfrm>
            <a:off x="840450" y="4227500"/>
            <a:ext cx="6806700" cy="1575900"/>
          </a:xfrm>
          <a:prstGeom prst="rect">
            <a:avLst/>
          </a:prstGeom>
          <a:noFill/>
          <a:ln>
            <a:noFill/>
          </a:ln>
        </p:spPr>
        <p:txBody>
          <a:bodyPr spcFirstLastPara="1" wrap="square" lIns="91425" tIns="91425" rIns="91425" bIns="91425" anchor="t" anchorCtr="0">
            <a:noAutofit/>
          </a:bodyPr>
          <a:lstStyle/>
          <a:p>
            <a:pPr marL="914400" lvl="1" indent="-355600" algn="l" rtl="0">
              <a:spcBef>
                <a:spcPts val="600"/>
              </a:spcBef>
              <a:spcAft>
                <a:spcPts val="0"/>
              </a:spcAft>
              <a:buClr>
                <a:schemeClr val="dk1"/>
              </a:buClr>
              <a:buSzPts val="2000"/>
              <a:buFont typeface="Times New Roman"/>
              <a:buChar char="○"/>
            </a:pPr>
            <a:r>
              <a:rPr lang="es-ES" sz="2000" b="1" dirty="0">
                <a:solidFill>
                  <a:schemeClr val="dk1"/>
                </a:solidFill>
                <a:ea typeface="Roboto"/>
                <a:cs typeface="Roboto"/>
                <a:sym typeface="Roboto"/>
              </a:rPr>
              <a:t>Software</a:t>
            </a:r>
            <a:r>
              <a:rPr lang="es-ES" sz="2000" dirty="0">
                <a:solidFill>
                  <a:schemeClr val="dk1"/>
                </a:solidFill>
                <a:ea typeface="Roboto"/>
                <a:cs typeface="Roboto"/>
                <a:sym typeface="Roboto"/>
              </a:rPr>
              <a:t>: </a:t>
            </a:r>
            <a:r>
              <a:rPr lang="es-ES" sz="2000" b="1" dirty="0">
                <a:solidFill>
                  <a:srgbClr val="1A73E8"/>
                </a:solidFill>
                <a:ea typeface="Roboto"/>
                <a:cs typeface="Roboto"/>
                <a:sym typeface="Roboto"/>
              </a:rPr>
              <a:t>sistema de archivos</a:t>
            </a:r>
            <a:r>
              <a:rPr lang="es-ES" sz="2000" dirty="0">
                <a:solidFill>
                  <a:schemeClr val="dk1"/>
                </a:solidFill>
                <a:ea typeface="Roboto"/>
                <a:cs typeface="Roboto"/>
                <a:sym typeface="Roboto"/>
              </a:rPr>
              <a:t> (controla el disco). Este software es el responsable de almacenar los archivos que crea el usuario de una manera confiable y eficiente en el disco.</a:t>
            </a:r>
            <a:endParaRPr dirty="0"/>
          </a:p>
        </p:txBody>
      </p:sp>
      <p:pic>
        <p:nvPicPr>
          <p:cNvPr id="631" name="Google Shape;631;p57"/>
          <p:cNvPicPr preferRelativeResize="0"/>
          <p:nvPr/>
        </p:nvPicPr>
        <p:blipFill>
          <a:blip r:embed="rId5">
            <a:alphaModFix/>
          </a:blip>
          <a:stretch>
            <a:fillRect/>
          </a:stretch>
        </p:blipFill>
        <p:spPr>
          <a:xfrm>
            <a:off x="8271125" y="2744248"/>
            <a:ext cx="949525" cy="952854"/>
          </a:xfrm>
          <a:prstGeom prst="rect">
            <a:avLst/>
          </a:prstGeom>
          <a:noFill/>
          <a:ln>
            <a:noFill/>
          </a:ln>
        </p:spPr>
      </p:pic>
      <p:pic>
        <p:nvPicPr>
          <p:cNvPr id="632" name="Google Shape;632;p57"/>
          <p:cNvPicPr preferRelativeResize="0"/>
          <p:nvPr/>
        </p:nvPicPr>
        <p:blipFill>
          <a:blip r:embed="rId6">
            <a:alphaModFix/>
          </a:blip>
          <a:stretch>
            <a:fillRect/>
          </a:stretch>
        </p:blipFill>
        <p:spPr>
          <a:xfrm>
            <a:off x="9197238" y="2782075"/>
            <a:ext cx="877225" cy="877200"/>
          </a:xfrm>
          <a:prstGeom prst="rect">
            <a:avLst/>
          </a:prstGeom>
          <a:noFill/>
          <a:ln>
            <a:noFill/>
          </a:ln>
        </p:spPr>
      </p:pic>
      <p:pic>
        <p:nvPicPr>
          <p:cNvPr id="633" name="Google Shape;633;p57"/>
          <p:cNvPicPr preferRelativeResize="0"/>
          <p:nvPr/>
        </p:nvPicPr>
        <p:blipFill>
          <a:blip r:embed="rId7">
            <a:alphaModFix/>
          </a:blip>
          <a:stretch>
            <a:fillRect/>
          </a:stretch>
        </p:blipFill>
        <p:spPr>
          <a:xfrm>
            <a:off x="10223975" y="2744250"/>
            <a:ext cx="640747" cy="877200"/>
          </a:xfrm>
          <a:prstGeom prst="rect">
            <a:avLst/>
          </a:prstGeom>
          <a:noFill/>
          <a:ln>
            <a:noFill/>
          </a:ln>
        </p:spPr>
      </p:pic>
      <p:pic>
        <p:nvPicPr>
          <p:cNvPr id="634" name="Google Shape;634;p57"/>
          <p:cNvPicPr preferRelativeResize="0"/>
          <p:nvPr/>
        </p:nvPicPr>
        <p:blipFill>
          <a:blip r:embed="rId8">
            <a:alphaModFix/>
          </a:blip>
          <a:stretch>
            <a:fillRect/>
          </a:stretch>
        </p:blipFill>
        <p:spPr>
          <a:xfrm>
            <a:off x="11014250" y="2744249"/>
            <a:ext cx="877225" cy="877202"/>
          </a:xfrm>
          <a:prstGeom prst="rect">
            <a:avLst/>
          </a:prstGeom>
          <a:noFill/>
          <a:ln>
            <a:noFill/>
          </a:ln>
        </p:spPr>
      </p:pic>
      <p:sp>
        <p:nvSpPr>
          <p:cNvPr id="635" name="Google Shape;635;p57"/>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a:t>
            </a:r>
            <a:r>
              <a:rPr lang="es-ES" sz="1000" u="sng">
                <a:solidFill>
                  <a:schemeClr val="hlink"/>
                </a:solidFill>
                <a:hlinkClick r:id="rId9"/>
              </a:rPr>
              <a:t>https://cumulusnetworks.com/blog/linux-basics-part-2/</a:t>
            </a:r>
            <a:r>
              <a:rPr lang="es-ES" sz="1000"/>
              <a:t> </a:t>
            </a:r>
            <a:endParaRPr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58"/>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641" name="Google Shape;641;p58"/>
          <p:cNvSpPr txBox="1">
            <a:spLocks noGrp="1"/>
          </p:cNvSpPr>
          <p:nvPr>
            <p:ph type="body" idx="1"/>
          </p:nvPr>
        </p:nvSpPr>
        <p:spPr>
          <a:xfrm>
            <a:off x="916650" y="932700"/>
            <a:ext cx="10529700" cy="4859100"/>
          </a:xfrm>
          <a:prstGeom prst="rect">
            <a:avLst/>
          </a:prstGeom>
        </p:spPr>
        <p:txBody>
          <a:bodyPr spcFirstLastPara="1" wrap="square" lIns="91425" tIns="45700" rIns="91425" bIns="45700" anchor="t" anchorCtr="0">
            <a:noAutofit/>
          </a:bodyPr>
          <a:lstStyle/>
          <a:p>
            <a:pPr marL="0" lvl="0" indent="0" algn="l" rtl="0">
              <a:lnSpc>
                <a:spcPct val="100000"/>
              </a:lnSpc>
              <a:spcBef>
                <a:spcPts val="480"/>
              </a:spcBef>
              <a:spcAft>
                <a:spcPts val="0"/>
              </a:spcAft>
              <a:buNone/>
            </a:pPr>
            <a:r>
              <a:rPr lang="es-ES" sz="2800" b="1">
                <a:solidFill>
                  <a:schemeClr val="accent1"/>
                </a:solidFill>
                <a:latin typeface="+mn-lt"/>
              </a:rPr>
              <a:t>Ejemplo</a:t>
            </a:r>
            <a:endParaRPr sz="2800" b="1">
              <a:solidFill>
                <a:schemeClr val="accent1"/>
              </a:solidFill>
              <a:latin typeface="+mn-lt"/>
            </a:endParaRPr>
          </a:p>
          <a:p>
            <a:pPr marL="457200" lvl="0" indent="0" algn="l" rtl="0">
              <a:lnSpc>
                <a:spcPct val="100000"/>
              </a:lnSpc>
              <a:spcBef>
                <a:spcPts val="600"/>
              </a:spcBef>
              <a:spcAft>
                <a:spcPts val="0"/>
              </a:spcAft>
              <a:buNone/>
            </a:pPr>
            <a:endParaRPr>
              <a:latin typeface="+mn-lt"/>
            </a:endParaRPr>
          </a:p>
          <a:p>
            <a:pPr marL="457200" lvl="0" indent="0" algn="l" rtl="0">
              <a:lnSpc>
                <a:spcPct val="100000"/>
              </a:lnSpc>
              <a:spcBef>
                <a:spcPts val="600"/>
              </a:spcBef>
              <a:spcAft>
                <a:spcPts val="0"/>
              </a:spcAft>
              <a:buNone/>
            </a:pPr>
            <a:endParaRPr>
              <a:latin typeface="+mn-lt"/>
            </a:endParaRPr>
          </a:p>
          <a:p>
            <a:pPr marL="457200" lvl="0" indent="0" algn="l" rtl="0">
              <a:lnSpc>
                <a:spcPct val="100000"/>
              </a:lnSpc>
              <a:spcBef>
                <a:spcPts val="600"/>
              </a:spcBef>
              <a:spcAft>
                <a:spcPts val="0"/>
              </a:spcAft>
              <a:buNone/>
            </a:pPr>
            <a:endParaRPr>
              <a:latin typeface="+mn-lt"/>
            </a:endParaRPr>
          </a:p>
          <a:p>
            <a:pPr marL="914400" lvl="0" indent="0" algn="l" rtl="0">
              <a:lnSpc>
                <a:spcPct val="100000"/>
              </a:lnSpc>
              <a:spcBef>
                <a:spcPts val="600"/>
              </a:spcBef>
              <a:spcAft>
                <a:spcPts val="0"/>
              </a:spcAft>
              <a:buNone/>
            </a:pPr>
            <a:endParaRPr b="1">
              <a:latin typeface="+mn-lt"/>
            </a:endParaRPr>
          </a:p>
          <a:p>
            <a:pPr marL="457200" lvl="0" indent="0" algn="l" rtl="0">
              <a:lnSpc>
                <a:spcPct val="100000"/>
              </a:lnSpc>
              <a:spcBef>
                <a:spcPts val="600"/>
              </a:spcBef>
              <a:spcAft>
                <a:spcPts val="0"/>
              </a:spcAft>
              <a:buNone/>
            </a:pPr>
            <a:endParaRPr b="1">
              <a:latin typeface="+mn-lt"/>
            </a:endParaRPr>
          </a:p>
          <a:p>
            <a:pPr marL="457200" lvl="0" indent="0" algn="l" rtl="0">
              <a:lnSpc>
                <a:spcPct val="100000"/>
              </a:lnSpc>
              <a:spcBef>
                <a:spcPts val="480"/>
              </a:spcBef>
              <a:spcAft>
                <a:spcPts val="0"/>
              </a:spcAft>
              <a:buNone/>
            </a:pPr>
            <a:endParaRPr sz="2400">
              <a:latin typeface="+mn-lt"/>
            </a:endParaRPr>
          </a:p>
          <a:p>
            <a:pPr marL="457200" lvl="0" indent="0" algn="l" rtl="0">
              <a:lnSpc>
                <a:spcPct val="100000"/>
              </a:lnSpc>
              <a:spcBef>
                <a:spcPts val="480"/>
              </a:spcBef>
              <a:spcAft>
                <a:spcPts val="0"/>
              </a:spcAft>
              <a:buNone/>
            </a:pPr>
            <a:endParaRPr>
              <a:latin typeface="+mn-lt"/>
            </a:endParaRPr>
          </a:p>
          <a:p>
            <a:pPr marL="0" lvl="0" indent="0" algn="l" rtl="0">
              <a:spcBef>
                <a:spcPts val="1000"/>
              </a:spcBef>
              <a:spcAft>
                <a:spcPts val="0"/>
              </a:spcAft>
              <a:buNone/>
            </a:pPr>
            <a:endParaRPr>
              <a:latin typeface="+mn-lt"/>
            </a:endParaRPr>
          </a:p>
          <a:p>
            <a:pPr marL="457200" lvl="0" indent="0" algn="l" rtl="0">
              <a:spcBef>
                <a:spcPts val="1000"/>
              </a:spcBef>
              <a:spcAft>
                <a:spcPts val="0"/>
              </a:spcAft>
              <a:buNone/>
            </a:pPr>
            <a:endParaRPr>
              <a:latin typeface="+mn-lt"/>
            </a:endParaRPr>
          </a:p>
        </p:txBody>
      </p:sp>
      <p:sp>
        <p:nvSpPr>
          <p:cNvPr id="642" name="Google Shape;642;p58"/>
          <p:cNvSpPr txBox="1"/>
          <p:nvPr/>
        </p:nvSpPr>
        <p:spPr>
          <a:xfrm>
            <a:off x="1239975" y="3156825"/>
            <a:ext cx="1030200" cy="40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t>io.c</a:t>
            </a:r>
            <a:endParaRPr sz="1600" b="1"/>
          </a:p>
        </p:txBody>
      </p:sp>
      <p:pic>
        <p:nvPicPr>
          <p:cNvPr id="643" name="Google Shape;643;p58"/>
          <p:cNvPicPr preferRelativeResize="0"/>
          <p:nvPr/>
        </p:nvPicPr>
        <p:blipFill>
          <a:blip r:embed="rId3">
            <a:alphaModFix/>
          </a:blip>
          <a:stretch>
            <a:fillRect/>
          </a:stretch>
        </p:blipFill>
        <p:spPr>
          <a:xfrm>
            <a:off x="1054538" y="1955025"/>
            <a:ext cx="1095375" cy="1114425"/>
          </a:xfrm>
          <a:prstGeom prst="rect">
            <a:avLst/>
          </a:prstGeom>
          <a:noFill/>
          <a:ln>
            <a:noFill/>
          </a:ln>
        </p:spPr>
      </p:pic>
      <p:sp>
        <p:nvSpPr>
          <p:cNvPr id="644" name="Google Shape;644;p58"/>
          <p:cNvSpPr txBox="1"/>
          <p:nvPr/>
        </p:nvSpPr>
        <p:spPr>
          <a:xfrm>
            <a:off x="2672750" y="969350"/>
            <a:ext cx="9272700" cy="541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&lt;stdio.h&gt;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&lt;unistd.h&gt;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&lt;assert.h&gt;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&lt;fcntl.h&gt;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&lt;sys/stat.h&gt;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&lt;sys/types.h&gt;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include</a:t>
            </a:r>
            <a:r>
              <a:rPr lang="es-ES" sz="1600">
                <a:solidFill>
                  <a:srgbClr val="24292E"/>
                </a:solidFill>
                <a:highlight>
                  <a:srgbClr val="FFFFFF"/>
                </a:highlight>
                <a:latin typeface="Consolas"/>
                <a:ea typeface="Consolas"/>
                <a:cs typeface="Consolas"/>
                <a:sym typeface="Consolas"/>
              </a:rPr>
              <a:t> </a:t>
            </a:r>
            <a:r>
              <a:rPr lang="es-ES" sz="1600">
                <a:solidFill>
                  <a:srgbClr val="032F62"/>
                </a:solidFill>
                <a:highlight>
                  <a:srgbClr val="FFFFFF"/>
                </a:highlight>
                <a:latin typeface="Consolas"/>
                <a:ea typeface="Consolas"/>
                <a:cs typeface="Consolas"/>
                <a:sym typeface="Consolas"/>
              </a:rPr>
              <a:t>&lt;string.h&gt;</a:t>
            </a:r>
            <a:endParaRPr sz="1600">
              <a:solidFill>
                <a:srgbClr val="032F62"/>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t>
            </a:r>
            <a:r>
              <a:rPr lang="es-ES" sz="1600">
                <a:solidFill>
                  <a:srgbClr val="6F42C1"/>
                </a:solidFill>
                <a:highlight>
                  <a:srgbClr val="FFFFFF"/>
                </a:highlight>
                <a:latin typeface="Consolas"/>
                <a:ea typeface="Consolas"/>
                <a:cs typeface="Consolas"/>
                <a:sym typeface="Consolas"/>
              </a:rPr>
              <a:t>main</a:t>
            </a:r>
            <a:r>
              <a:rPr lang="es-ES" sz="1600">
                <a:solidFill>
                  <a:srgbClr val="24292E"/>
                </a:solidFill>
                <a:highlight>
                  <a:srgbClr val="FFFFFF"/>
                </a:highlight>
                <a:latin typeface="Consolas"/>
                <a:ea typeface="Consolas"/>
                <a:cs typeface="Consolas"/>
                <a:sym typeface="Consolas"/>
              </a:rPr>
              <a:t>(</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argc, </a:t>
            </a:r>
            <a:r>
              <a:rPr lang="es-ES" sz="1600">
                <a:solidFill>
                  <a:srgbClr val="D73A49"/>
                </a:solidFill>
                <a:highlight>
                  <a:srgbClr val="FFFFFF"/>
                </a:highlight>
                <a:latin typeface="Consolas"/>
                <a:ea typeface="Consolas"/>
                <a:cs typeface="Consolas"/>
                <a:sym typeface="Consolas"/>
              </a:rPr>
              <a:t>char</a:t>
            </a:r>
            <a:r>
              <a:rPr lang="es-ES" sz="1600">
                <a:solidFill>
                  <a:srgbClr val="24292E"/>
                </a:solidFill>
                <a:highlight>
                  <a:srgbClr val="FFFFFF"/>
                </a:highlight>
                <a:latin typeface="Consolas"/>
                <a:ea typeface="Consolas"/>
                <a:cs typeface="Consolas"/>
                <a:sym typeface="Consolas"/>
              </a:rPr>
              <a:t> *argv[]) {</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fd = </a:t>
            </a:r>
            <a:r>
              <a:rPr lang="es-ES" sz="1600">
                <a:solidFill>
                  <a:srgbClr val="005CC5"/>
                </a:solidFill>
                <a:highlight>
                  <a:srgbClr val="FFFFFF"/>
                </a:highlight>
                <a:latin typeface="Consolas"/>
                <a:ea typeface="Consolas"/>
                <a:cs typeface="Consolas"/>
                <a:sym typeface="Consolas"/>
              </a:rPr>
              <a:t>open</a:t>
            </a:r>
            <a:r>
              <a:rPr lang="es-ES" sz="1600">
                <a:solidFill>
                  <a:srgbClr val="24292E"/>
                </a:solidFill>
                <a:highlight>
                  <a:srgbClr val="FFFFFF"/>
                </a:highlight>
                <a:latin typeface="Consolas"/>
                <a:ea typeface="Consolas"/>
                <a:cs typeface="Consolas"/>
                <a:sym typeface="Consolas"/>
              </a:rPr>
              <a:t>(</a:t>
            </a:r>
            <a:r>
              <a:rPr lang="es-ES" sz="1600">
                <a:solidFill>
                  <a:srgbClr val="032F62"/>
                </a:solidFill>
                <a:highlight>
                  <a:srgbClr val="FFFFFF"/>
                </a:highlight>
                <a:latin typeface="Consolas"/>
                <a:ea typeface="Consolas"/>
                <a:cs typeface="Consolas"/>
                <a:sym typeface="Consolas"/>
              </a:rPr>
              <a:t>"/tmp/file"</a:t>
            </a:r>
            <a:r>
              <a:rPr lang="es-ES" sz="1600">
                <a:solidFill>
                  <a:srgbClr val="24292E"/>
                </a:solidFill>
                <a:highlight>
                  <a:srgbClr val="FFFFFF"/>
                </a:highlight>
                <a:latin typeface="Consolas"/>
                <a:ea typeface="Consolas"/>
                <a:cs typeface="Consolas"/>
                <a:sym typeface="Consolas"/>
              </a:rPr>
              <a:t>, O_WRONLY | O_CREAT | O_TRUNC, S_IRUSR | S_IWUSR);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assert</a:t>
            </a:r>
            <a:r>
              <a:rPr lang="es-ES" sz="1600">
                <a:solidFill>
                  <a:srgbClr val="24292E"/>
                </a:solidFill>
                <a:highlight>
                  <a:srgbClr val="FFFFFF"/>
                </a:highlight>
                <a:latin typeface="Consolas"/>
                <a:ea typeface="Consolas"/>
                <a:cs typeface="Consolas"/>
                <a:sym typeface="Consolas"/>
              </a:rPr>
              <a:t>(fd &gt;=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char</a:t>
            </a:r>
            <a:r>
              <a:rPr lang="es-ES" sz="1600">
                <a:solidFill>
                  <a:srgbClr val="24292E"/>
                </a:solidFill>
                <a:highlight>
                  <a:srgbClr val="FFFFFF"/>
                </a:highlight>
                <a:latin typeface="Consolas"/>
                <a:ea typeface="Consolas"/>
                <a:cs typeface="Consolas"/>
                <a:sym typeface="Consolas"/>
              </a:rPr>
              <a:t> buffer[</a:t>
            </a:r>
            <a:r>
              <a:rPr lang="es-ES" sz="1600">
                <a:solidFill>
                  <a:srgbClr val="005CC5"/>
                </a:solidFill>
                <a:highlight>
                  <a:srgbClr val="FFFFFF"/>
                </a:highlight>
                <a:latin typeface="Consolas"/>
                <a:ea typeface="Consolas"/>
                <a:cs typeface="Consolas"/>
                <a:sym typeface="Consolas"/>
              </a:rPr>
              <a:t>20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sprintf</a:t>
            </a:r>
            <a:r>
              <a:rPr lang="es-ES" sz="1600">
                <a:solidFill>
                  <a:srgbClr val="24292E"/>
                </a:solidFill>
                <a:highlight>
                  <a:srgbClr val="FFFFFF"/>
                </a:highlight>
                <a:latin typeface="Consolas"/>
                <a:ea typeface="Consolas"/>
                <a:cs typeface="Consolas"/>
                <a:sym typeface="Consolas"/>
              </a:rPr>
              <a:t>(buffer, </a:t>
            </a:r>
            <a:r>
              <a:rPr lang="es-ES" sz="1600">
                <a:solidFill>
                  <a:srgbClr val="032F62"/>
                </a:solidFill>
                <a:highlight>
                  <a:srgbClr val="FFFFFF"/>
                </a:highlight>
                <a:latin typeface="Consolas"/>
                <a:ea typeface="Consolas"/>
                <a:cs typeface="Consolas"/>
                <a:sym typeface="Consolas"/>
              </a:rPr>
              <a:t>"hello world\n"</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int</a:t>
            </a:r>
            <a:r>
              <a:rPr lang="es-ES" sz="1600">
                <a:solidFill>
                  <a:srgbClr val="24292E"/>
                </a:solidFill>
                <a:highlight>
                  <a:srgbClr val="FFFFFF"/>
                </a:highlight>
                <a:latin typeface="Consolas"/>
                <a:ea typeface="Consolas"/>
                <a:cs typeface="Consolas"/>
                <a:sym typeface="Consolas"/>
              </a:rPr>
              <a:t> rc = </a:t>
            </a:r>
            <a:r>
              <a:rPr lang="es-ES" sz="1600">
                <a:solidFill>
                  <a:srgbClr val="005CC5"/>
                </a:solidFill>
                <a:highlight>
                  <a:srgbClr val="FFFFFF"/>
                </a:highlight>
                <a:latin typeface="Consolas"/>
                <a:ea typeface="Consolas"/>
                <a:cs typeface="Consolas"/>
                <a:sym typeface="Consolas"/>
              </a:rPr>
              <a:t>write</a:t>
            </a:r>
            <a:r>
              <a:rPr lang="es-ES" sz="1600">
                <a:solidFill>
                  <a:srgbClr val="24292E"/>
                </a:solidFill>
                <a:highlight>
                  <a:srgbClr val="FFFFFF"/>
                </a:highlight>
                <a:latin typeface="Consolas"/>
                <a:ea typeface="Consolas"/>
                <a:cs typeface="Consolas"/>
                <a:sym typeface="Consolas"/>
              </a:rPr>
              <a:t>(fd, buffer, </a:t>
            </a:r>
            <a:r>
              <a:rPr lang="es-ES" sz="1600">
                <a:solidFill>
                  <a:srgbClr val="005CC5"/>
                </a:solidFill>
                <a:highlight>
                  <a:srgbClr val="FFFFFF"/>
                </a:highlight>
                <a:latin typeface="Consolas"/>
                <a:ea typeface="Consolas"/>
                <a:cs typeface="Consolas"/>
                <a:sym typeface="Consolas"/>
              </a:rPr>
              <a:t>strlen</a:t>
            </a:r>
            <a:r>
              <a:rPr lang="es-ES" sz="1600">
                <a:solidFill>
                  <a:srgbClr val="24292E"/>
                </a:solidFill>
                <a:highlight>
                  <a:srgbClr val="FFFFFF"/>
                </a:highlight>
                <a:latin typeface="Consolas"/>
                <a:ea typeface="Consolas"/>
                <a:cs typeface="Consolas"/>
                <a:sym typeface="Consolas"/>
              </a:rPr>
              <a:t>(buffer));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assert</a:t>
            </a:r>
            <a:r>
              <a:rPr lang="es-ES" sz="1600">
                <a:solidFill>
                  <a:srgbClr val="24292E"/>
                </a:solidFill>
                <a:highlight>
                  <a:srgbClr val="FFFFFF"/>
                </a:highlight>
                <a:latin typeface="Consolas"/>
                <a:ea typeface="Consolas"/>
                <a:cs typeface="Consolas"/>
                <a:sym typeface="Consolas"/>
              </a:rPr>
              <a:t>(rc == (</a:t>
            </a:r>
            <a:r>
              <a:rPr lang="es-ES" sz="1600">
                <a:solidFill>
                  <a:srgbClr val="005CC5"/>
                </a:solidFill>
                <a:highlight>
                  <a:srgbClr val="FFFFFF"/>
                </a:highlight>
                <a:latin typeface="Consolas"/>
                <a:ea typeface="Consolas"/>
                <a:cs typeface="Consolas"/>
                <a:sym typeface="Consolas"/>
              </a:rPr>
              <a:t>strlen</a:t>
            </a:r>
            <a:r>
              <a:rPr lang="es-ES" sz="1600">
                <a:solidFill>
                  <a:srgbClr val="24292E"/>
                </a:solidFill>
                <a:highlight>
                  <a:srgbClr val="FFFFFF"/>
                </a:highlight>
                <a:latin typeface="Consolas"/>
                <a:ea typeface="Consolas"/>
                <a:cs typeface="Consolas"/>
                <a:sym typeface="Consolas"/>
              </a:rPr>
              <a:t>(buffer)));</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fsync</a:t>
            </a:r>
            <a:r>
              <a:rPr lang="es-ES" sz="1600">
                <a:solidFill>
                  <a:srgbClr val="24292E"/>
                </a:solidFill>
                <a:highlight>
                  <a:srgbClr val="FFFFFF"/>
                </a:highlight>
                <a:latin typeface="Consolas"/>
                <a:ea typeface="Consolas"/>
                <a:cs typeface="Consolas"/>
                <a:sym typeface="Consolas"/>
              </a:rPr>
              <a:t>(fd);</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close</a:t>
            </a:r>
            <a:r>
              <a:rPr lang="es-ES" sz="1600">
                <a:solidFill>
                  <a:srgbClr val="24292E"/>
                </a:solidFill>
                <a:highlight>
                  <a:srgbClr val="FFFFFF"/>
                </a:highlight>
                <a:latin typeface="Consolas"/>
                <a:ea typeface="Consolas"/>
                <a:cs typeface="Consolas"/>
                <a:sym typeface="Consolas"/>
              </a:rPr>
              <a:t>(fd);</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   </a:t>
            </a:r>
            <a:r>
              <a:rPr lang="es-ES" sz="1600">
                <a:solidFill>
                  <a:srgbClr val="D73A49"/>
                </a:solidFill>
                <a:highlight>
                  <a:srgbClr val="FFFFFF"/>
                </a:highlight>
                <a:latin typeface="Consolas"/>
                <a:ea typeface="Consolas"/>
                <a:cs typeface="Consolas"/>
                <a:sym typeface="Consolas"/>
              </a:rPr>
              <a:t>return</a:t>
            </a:r>
            <a:r>
              <a:rPr lang="es-ES" sz="1600">
                <a:solidFill>
                  <a:srgbClr val="24292E"/>
                </a:solidFill>
                <a:highlight>
                  <a:srgbClr val="FFFFFF"/>
                </a:highlight>
                <a:latin typeface="Consolas"/>
                <a:ea typeface="Consolas"/>
                <a:cs typeface="Consolas"/>
                <a:sym typeface="Consolas"/>
              </a:rPr>
              <a:t> </a:t>
            </a:r>
            <a:r>
              <a:rPr lang="es-ES" sz="1600">
                <a:solidFill>
                  <a:srgbClr val="005CC5"/>
                </a:solidFill>
                <a:highlight>
                  <a:srgbClr val="FFFFFF"/>
                </a:highlight>
                <a:latin typeface="Consolas"/>
                <a:ea typeface="Consolas"/>
                <a:cs typeface="Consolas"/>
                <a:sym typeface="Consolas"/>
              </a:rPr>
              <a:t>0</a:t>
            </a: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s-ES" sz="1600">
                <a:solidFill>
                  <a:srgbClr val="24292E"/>
                </a:solidFill>
                <a:highlight>
                  <a:srgbClr val="FFFFFF"/>
                </a:highlight>
                <a:latin typeface="Consolas"/>
                <a:ea typeface="Consolas"/>
                <a:cs typeface="Consolas"/>
                <a:sym typeface="Consolas"/>
              </a:rPr>
              <a:t>}</a:t>
            </a:r>
            <a:endParaRPr sz="1600">
              <a:solidFill>
                <a:srgbClr val="24292E"/>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24292E"/>
              </a:solidFill>
              <a:highlight>
                <a:srgbClr val="FFFFFF"/>
              </a:highlight>
              <a:latin typeface="Consolas"/>
              <a:ea typeface="Consolas"/>
              <a:cs typeface="Consolas"/>
              <a:sym typeface="Consolas"/>
            </a:endParaRPr>
          </a:p>
          <a:p>
            <a:pPr marL="0" lvl="0" indent="0" algn="l" rtl="0">
              <a:spcBef>
                <a:spcPts val="0"/>
              </a:spcBef>
              <a:spcAft>
                <a:spcPts val="0"/>
              </a:spcAft>
              <a:buNone/>
            </a:pPr>
            <a:endParaRPr sz="1700">
              <a:solidFill>
                <a:srgbClr val="24292E"/>
              </a:solidFill>
              <a:highlight>
                <a:srgbClr val="FFFFFF"/>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9"/>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latin typeface="+mj-lt"/>
              </a:rPr>
              <a:t>Virtualización de recursos</a:t>
            </a:r>
            <a:endParaRPr>
              <a:latin typeface="+mj-lt"/>
            </a:endParaRPr>
          </a:p>
        </p:txBody>
      </p:sp>
      <p:sp>
        <p:nvSpPr>
          <p:cNvPr id="650" name="Google Shape;650;p59"/>
          <p:cNvSpPr txBox="1"/>
          <p:nvPr/>
        </p:nvSpPr>
        <p:spPr>
          <a:xfrm>
            <a:off x="1024300" y="6333800"/>
            <a:ext cx="8892600" cy="2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000" b="1"/>
              <a:t>Imagen tomada de</a:t>
            </a:r>
            <a:r>
              <a:rPr lang="es-ES" sz="1000"/>
              <a:t>: Operating Systems Concepts (Silberschatz, Gagne, Galvin)</a:t>
            </a:r>
            <a:endParaRPr sz="1000"/>
          </a:p>
        </p:txBody>
      </p:sp>
      <p:sp>
        <p:nvSpPr>
          <p:cNvPr id="651" name="Google Shape;651;p59"/>
          <p:cNvSpPr txBox="1"/>
          <p:nvPr/>
        </p:nvSpPr>
        <p:spPr>
          <a:xfrm>
            <a:off x="948100" y="869325"/>
            <a:ext cx="5650500" cy="3000000"/>
          </a:xfrm>
          <a:prstGeom prst="rect">
            <a:avLst/>
          </a:prstGeom>
          <a:noFill/>
          <a:ln>
            <a:noFill/>
          </a:ln>
        </p:spPr>
        <p:txBody>
          <a:bodyPr spcFirstLastPara="1" wrap="square" lIns="91425" tIns="91425" rIns="91425" bIns="91425" anchor="t" anchorCtr="0">
            <a:noAutofit/>
          </a:bodyPr>
          <a:lstStyle/>
          <a:p>
            <a:pPr marL="0" lvl="0" indent="0" algn="l" rtl="0">
              <a:spcBef>
                <a:spcPts val="480"/>
              </a:spcBef>
              <a:spcAft>
                <a:spcPts val="0"/>
              </a:spcAft>
              <a:buNone/>
            </a:pPr>
            <a:r>
              <a:rPr lang="es-ES" sz="2800" b="1" dirty="0">
                <a:solidFill>
                  <a:schemeClr val="accent1"/>
                </a:solidFill>
                <a:ea typeface="Roboto"/>
                <a:cs typeface="Roboto"/>
                <a:sym typeface="Roboto"/>
              </a:rPr>
              <a:t>Ejemplo persistencia</a:t>
            </a:r>
            <a:endParaRPr sz="2800" b="1" dirty="0">
              <a:solidFill>
                <a:schemeClr val="accent1"/>
              </a:solidFill>
              <a:ea typeface="Roboto"/>
              <a:cs typeface="Roboto"/>
              <a:sym typeface="Roboto"/>
            </a:endParaRPr>
          </a:p>
        </p:txBody>
      </p:sp>
      <p:pic>
        <p:nvPicPr>
          <p:cNvPr id="652" name="Google Shape;652;p59"/>
          <p:cNvPicPr preferRelativeResize="0"/>
          <p:nvPr/>
        </p:nvPicPr>
        <p:blipFill>
          <a:blip r:embed="rId3">
            <a:alphaModFix/>
          </a:blip>
          <a:stretch>
            <a:fillRect/>
          </a:stretch>
        </p:blipFill>
        <p:spPr>
          <a:xfrm>
            <a:off x="2196925" y="1870400"/>
            <a:ext cx="1524000" cy="3638550"/>
          </a:xfrm>
          <a:prstGeom prst="rect">
            <a:avLst/>
          </a:prstGeom>
          <a:noFill/>
          <a:ln>
            <a:noFill/>
          </a:ln>
        </p:spPr>
      </p:pic>
      <p:pic>
        <p:nvPicPr>
          <p:cNvPr id="653" name="Google Shape;653;p59"/>
          <p:cNvPicPr preferRelativeResize="0"/>
          <p:nvPr/>
        </p:nvPicPr>
        <p:blipFill>
          <a:blip r:embed="rId4">
            <a:alphaModFix/>
          </a:blip>
          <a:stretch>
            <a:fillRect/>
          </a:stretch>
        </p:blipFill>
        <p:spPr>
          <a:xfrm>
            <a:off x="5758100" y="1230125"/>
            <a:ext cx="5366425" cy="1609925"/>
          </a:xfrm>
          <a:prstGeom prst="rect">
            <a:avLst/>
          </a:prstGeom>
          <a:noFill/>
          <a:ln>
            <a:noFill/>
          </a:ln>
        </p:spPr>
      </p:pic>
      <p:sp>
        <p:nvSpPr>
          <p:cNvPr id="654" name="Google Shape;654;p59"/>
          <p:cNvSpPr txBox="1"/>
          <p:nvPr/>
        </p:nvSpPr>
        <p:spPr>
          <a:xfrm>
            <a:off x="5758100" y="3504575"/>
            <a:ext cx="5577000" cy="7077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1600" b="1">
                <a:latin typeface="Roboto"/>
                <a:ea typeface="Roboto"/>
                <a:cs typeface="Roboto"/>
                <a:sym typeface="Roboto"/>
              </a:rPr>
              <a:t>Ver video</a:t>
            </a:r>
            <a:r>
              <a:rPr lang="es-ES" sz="1600">
                <a:latin typeface="Roboto"/>
                <a:ea typeface="Roboto"/>
                <a:cs typeface="Roboto"/>
                <a:sym typeface="Roboto"/>
              </a:rPr>
              <a:t>: C01P13 - Ejemplo Persistencia - ISI485 Sistemas Operativos (</a:t>
            </a:r>
            <a:r>
              <a:rPr lang="es-ES" sz="1600" u="sng">
                <a:solidFill>
                  <a:schemeClr val="hlink"/>
                </a:solidFill>
                <a:latin typeface="Roboto"/>
                <a:ea typeface="Roboto"/>
                <a:cs typeface="Roboto"/>
                <a:sym typeface="Roboto"/>
                <a:hlinkClick r:id="rId5"/>
              </a:rPr>
              <a:t>link</a:t>
            </a:r>
            <a:r>
              <a:rPr lang="es-ES" sz="1600">
                <a:latin typeface="Roboto"/>
                <a:ea typeface="Roboto"/>
                <a:cs typeface="Roboto"/>
                <a:sym typeface="Roboto"/>
              </a:rPr>
              <a:t>)</a:t>
            </a:r>
            <a:endParaRPr sz="160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a:t>Objetivos de diseño de los SO</a:t>
            </a:r>
            <a:endParaRPr b="1">
              <a:solidFill>
                <a:srgbClr val="0B6937"/>
              </a:solidFill>
              <a:latin typeface="Roboto Slab"/>
              <a:ea typeface="Roboto Slab"/>
              <a:cs typeface="Roboto Slab"/>
              <a:sym typeface="Roboto Slab"/>
            </a:endParaRPr>
          </a:p>
        </p:txBody>
      </p:sp>
      <p:sp>
        <p:nvSpPr>
          <p:cNvPr id="709" name="Google Shape;709;p65"/>
          <p:cNvSpPr txBox="1">
            <a:spLocks noGrp="1"/>
          </p:cNvSpPr>
          <p:nvPr>
            <p:ph idx="1"/>
          </p:nvPr>
        </p:nvSpPr>
        <p:spPr>
          <a:xfrm>
            <a:off x="838200" y="1013201"/>
            <a:ext cx="10515600" cy="4859100"/>
          </a:xfrm>
          <a:prstGeom prst="rect">
            <a:avLst/>
          </a:prstGeom>
        </p:spPr>
        <p:txBody>
          <a:bodyPr spcFirstLastPara="1" wrap="square" lIns="91425" tIns="45700" rIns="91425" bIns="45700" anchor="t" anchorCtr="0">
            <a:noAutofit/>
          </a:bodyPr>
          <a:lstStyle/>
          <a:p>
            <a:pPr marL="457200" lvl="0" indent="-381000" algn="l" rtl="0">
              <a:lnSpc>
                <a:spcPct val="100000"/>
              </a:lnSpc>
              <a:spcBef>
                <a:spcPts val="600"/>
              </a:spcBef>
              <a:spcAft>
                <a:spcPts val="0"/>
              </a:spcAft>
              <a:buSzPts val="2400"/>
              <a:buFont typeface="Times New Roman"/>
              <a:buAutoNum type="arabicPeriod"/>
            </a:pPr>
            <a:r>
              <a:rPr lang="es-ES" sz="2400" dirty="0"/>
              <a:t>Construir </a:t>
            </a:r>
            <a:r>
              <a:rPr lang="es-ES" sz="2400" b="1" dirty="0"/>
              <a:t>abstracciones:</a:t>
            </a:r>
            <a:endParaRPr sz="2400" b="1" dirty="0"/>
          </a:p>
          <a:p>
            <a:pPr marL="914400" lvl="1" indent="-361950" algn="l" rtl="0">
              <a:lnSpc>
                <a:spcPct val="100000"/>
              </a:lnSpc>
              <a:spcBef>
                <a:spcPts val="0"/>
              </a:spcBef>
              <a:spcAft>
                <a:spcPts val="0"/>
              </a:spcAft>
              <a:buSzPts val="2100"/>
              <a:buFont typeface="Times New Roman"/>
              <a:buChar char="○"/>
            </a:pPr>
            <a:r>
              <a:rPr lang="es-ES" sz="2100" dirty="0"/>
              <a:t>Hacen que el sistema sea </a:t>
            </a:r>
            <a:r>
              <a:rPr lang="es-ES" sz="2100" b="1" dirty="0">
                <a:solidFill>
                  <a:srgbClr val="8BAB42"/>
                </a:solidFill>
              </a:rPr>
              <a:t>fácil de usar!</a:t>
            </a:r>
            <a:endParaRPr sz="2400" dirty="0"/>
          </a:p>
          <a:p>
            <a:pPr marL="457200" lvl="0" indent="-381000" algn="l" rtl="0">
              <a:lnSpc>
                <a:spcPct val="100000"/>
              </a:lnSpc>
              <a:spcBef>
                <a:spcPts val="0"/>
              </a:spcBef>
              <a:spcAft>
                <a:spcPts val="0"/>
              </a:spcAft>
              <a:buSzPts val="2400"/>
              <a:buFont typeface="Times New Roman"/>
              <a:buAutoNum type="arabicPeriod"/>
            </a:pPr>
            <a:r>
              <a:rPr lang="es-ES" sz="2400" dirty="0"/>
              <a:t>Proporcionar un </a:t>
            </a:r>
            <a:r>
              <a:rPr lang="es-ES" sz="2400" b="1" dirty="0"/>
              <a:t>buen desempeño:</a:t>
            </a:r>
            <a:endParaRPr sz="2400" b="1" dirty="0"/>
          </a:p>
          <a:p>
            <a:pPr marL="914400" lvl="1" indent="-355600" algn="l" rtl="0">
              <a:lnSpc>
                <a:spcPct val="100000"/>
              </a:lnSpc>
              <a:spcBef>
                <a:spcPts val="0"/>
              </a:spcBef>
              <a:spcAft>
                <a:spcPts val="0"/>
              </a:spcAft>
              <a:buSzPts val="2000"/>
              <a:buFont typeface="Times New Roman"/>
              <a:buChar char="○"/>
            </a:pPr>
            <a:r>
              <a:rPr lang="es-ES" sz="2000" dirty="0"/>
              <a:t>Minimizar el </a:t>
            </a:r>
            <a:r>
              <a:rPr lang="es-ES" sz="2000" b="1" dirty="0">
                <a:solidFill>
                  <a:srgbClr val="FF0000"/>
                </a:solidFill>
              </a:rPr>
              <a:t>sobrecosto</a:t>
            </a:r>
            <a:r>
              <a:rPr lang="es-ES" sz="2000" dirty="0"/>
              <a:t> (</a:t>
            </a:r>
            <a:r>
              <a:rPr lang="es-ES" sz="2000" i="1" dirty="0" err="1"/>
              <a:t>overhead</a:t>
            </a:r>
            <a:r>
              <a:rPr lang="es-ES" sz="2000" dirty="0"/>
              <a:t>) del SO.</a:t>
            </a:r>
            <a:endParaRPr sz="2000" dirty="0"/>
          </a:p>
          <a:p>
            <a:pPr marL="914400" lvl="1" indent="-355600" algn="l" rtl="0">
              <a:lnSpc>
                <a:spcPct val="100000"/>
              </a:lnSpc>
              <a:spcBef>
                <a:spcPts val="0"/>
              </a:spcBef>
              <a:spcAft>
                <a:spcPts val="0"/>
              </a:spcAft>
              <a:buSzPts val="2000"/>
              <a:buChar char="○"/>
            </a:pPr>
            <a:r>
              <a:rPr lang="es-ES" sz="2000" dirty="0"/>
              <a:t>SO debe proporcionar la virtualización sin generar un sobrecosto excesivo.</a:t>
            </a:r>
            <a:endParaRPr sz="2400" dirty="0"/>
          </a:p>
          <a:p>
            <a:pPr marL="457200" lvl="0" indent="-381000" algn="l" rtl="0">
              <a:lnSpc>
                <a:spcPct val="100000"/>
              </a:lnSpc>
              <a:spcBef>
                <a:spcPts val="0"/>
              </a:spcBef>
              <a:spcAft>
                <a:spcPts val="0"/>
              </a:spcAft>
              <a:buSzPts val="2400"/>
              <a:buFont typeface="Times New Roman"/>
              <a:buAutoNum type="arabicPeriod"/>
            </a:pPr>
            <a:r>
              <a:rPr lang="es-ES" sz="2400" b="1" dirty="0"/>
              <a:t>Protección</a:t>
            </a:r>
            <a:r>
              <a:rPr lang="es-ES" sz="2400" dirty="0"/>
              <a:t> entre aplicaciones:</a:t>
            </a:r>
            <a:endParaRPr sz="2400" dirty="0"/>
          </a:p>
          <a:p>
            <a:pPr marL="914400" lvl="1" indent="-355600" algn="l" rtl="0">
              <a:lnSpc>
                <a:spcPct val="100000"/>
              </a:lnSpc>
              <a:spcBef>
                <a:spcPts val="0"/>
              </a:spcBef>
              <a:spcAft>
                <a:spcPts val="0"/>
              </a:spcAft>
              <a:buSzPts val="2000"/>
              <a:buFont typeface="Times New Roman"/>
              <a:buChar char="○"/>
            </a:pPr>
            <a:r>
              <a:rPr lang="es-ES" sz="2000" b="1" dirty="0"/>
              <a:t>Aislamiento</a:t>
            </a:r>
            <a:r>
              <a:rPr lang="es-ES" sz="2000" dirty="0"/>
              <a:t>: Un mal comportamiento de un proceso </a:t>
            </a:r>
            <a:r>
              <a:rPr lang="es-ES" sz="2000" b="1" dirty="0">
                <a:solidFill>
                  <a:srgbClr val="8BAB42"/>
                </a:solidFill>
              </a:rPr>
              <a:t>no debe afectar otros </a:t>
            </a:r>
            <a:r>
              <a:rPr lang="es-ES" sz="2000" dirty="0"/>
              <a:t>(o al sistema)</a:t>
            </a:r>
            <a:endParaRPr sz="2000" dirty="0"/>
          </a:p>
          <a:p>
            <a:pPr marL="457200" lvl="0" indent="-381000" algn="l" rtl="0">
              <a:lnSpc>
                <a:spcPct val="100000"/>
              </a:lnSpc>
              <a:spcBef>
                <a:spcPts val="0"/>
              </a:spcBef>
              <a:spcAft>
                <a:spcPts val="0"/>
              </a:spcAft>
              <a:buSzPts val="2400"/>
              <a:buAutoNum type="arabicPeriod"/>
            </a:pPr>
            <a:r>
              <a:rPr lang="es-ES" sz="2400" dirty="0"/>
              <a:t>Confiabilidad:</a:t>
            </a:r>
            <a:endParaRPr sz="2400" dirty="0"/>
          </a:p>
          <a:p>
            <a:pPr marL="914400" lvl="1" indent="-355600" algn="l" rtl="0">
              <a:lnSpc>
                <a:spcPct val="100000"/>
              </a:lnSpc>
              <a:spcBef>
                <a:spcPts val="0"/>
              </a:spcBef>
              <a:spcAft>
                <a:spcPts val="0"/>
              </a:spcAft>
              <a:buSzPts val="2000"/>
              <a:buFont typeface="Times New Roman"/>
              <a:buChar char="○"/>
            </a:pPr>
            <a:r>
              <a:rPr lang="es-ES" sz="2000" dirty="0"/>
              <a:t>El SO debería ejecutarse</a:t>
            </a:r>
            <a:r>
              <a:rPr lang="es-ES" sz="2000" b="1" dirty="0"/>
              <a:t> sin problema</a:t>
            </a:r>
            <a:r>
              <a:rPr lang="es-ES" sz="2000" dirty="0"/>
              <a:t> por un plazo largo de tiempo.</a:t>
            </a:r>
            <a:endParaRPr sz="2000" dirty="0"/>
          </a:p>
          <a:p>
            <a:pPr marL="457200" lvl="0" indent="-381000" algn="l" rtl="0">
              <a:lnSpc>
                <a:spcPct val="100000"/>
              </a:lnSpc>
              <a:spcBef>
                <a:spcPts val="0"/>
              </a:spcBef>
              <a:spcAft>
                <a:spcPts val="0"/>
              </a:spcAft>
              <a:buSzPts val="2400"/>
              <a:buAutoNum type="arabicPeriod"/>
            </a:pPr>
            <a:r>
              <a:rPr lang="es-ES" sz="2400" dirty="0"/>
              <a:t>Otros:</a:t>
            </a:r>
            <a:endParaRPr sz="2400" dirty="0"/>
          </a:p>
          <a:p>
            <a:pPr marL="914400" lvl="1" indent="-355600" algn="l" rtl="0">
              <a:lnSpc>
                <a:spcPct val="100000"/>
              </a:lnSpc>
              <a:spcBef>
                <a:spcPts val="0"/>
              </a:spcBef>
              <a:spcAft>
                <a:spcPts val="0"/>
              </a:spcAft>
              <a:buSzPts val="2000"/>
              <a:buChar char="○"/>
            </a:pPr>
            <a:r>
              <a:rPr lang="es-ES" sz="2000" dirty="0"/>
              <a:t>Eficiencia energética</a:t>
            </a:r>
            <a:endParaRPr sz="2000" dirty="0"/>
          </a:p>
          <a:p>
            <a:pPr marL="914400" lvl="1" indent="-355600" algn="l" rtl="0">
              <a:lnSpc>
                <a:spcPct val="100000"/>
              </a:lnSpc>
              <a:spcBef>
                <a:spcPts val="0"/>
              </a:spcBef>
              <a:spcAft>
                <a:spcPts val="0"/>
              </a:spcAft>
              <a:buSzPts val="2000"/>
              <a:buChar char="○"/>
            </a:pPr>
            <a:r>
              <a:rPr lang="es-ES" sz="2000" dirty="0"/>
              <a:t>Seguridad</a:t>
            </a:r>
            <a:endParaRPr sz="2000" dirty="0"/>
          </a:p>
          <a:p>
            <a:pPr marL="914400" lvl="1" indent="-355600" algn="l" rtl="0">
              <a:lnSpc>
                <a:spcPct val="100000"/>
              </a:lnSpc>
              <a:spcBef>
                <a:spcPts val="0"/>
              </a:spcBef>
              <a:spcAft>
                <a:spcPts val="0"/>
              </a:spcAft>
              <a:buSzPts val="2000"/>
              <a:buChar char="○"/>
            </a:pPr>
            <a:r>
              <a:rPr lang="es-ES" sz="2000" dirty="0"/>
              <a:t>Movilidad</a:t>
            </a:r>
            <a:endParaRPr sz="2000" dirty="0"/>
          </a:p>
          <a:p>
            <a:pPr marL="457200" lvl="0" indent="0" algn="l" rtl="0">
              <a:lnSpc>
                <a:spcPct val="100000"/>
              </a:lnSpc>
              <a:spcBef>
                <a:spcPts val="480"/>
              </a:spcBef>
              <a:spcAft>
                <a:spcPts val="0"/>
              </a:spcAft>
              <a:buNone/>
            </a:pPr>
            <a:endParaRPr sz="2000" dirty="0"/>
          </a:p>
          <a:p>
            <a:pPr marL="457200" lvl="0" indent="0" algn="l" rtl="0">
              <a:spcBef>
                <a:spcPts val="1000"/>
              </a:spcBef>
              <a:spcAft>
                <a:spcPts val="0"/>
              </a:spcAft>
              <a:buNone/>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66"/>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Referencias</a:t>
            </a:r>
            <a:endParaRPr dirty="0">
              <a:latin typeface="+mj-lt"/>
            </a:endParaRPr>
          </a:p>
        </p:txBody>
      </p:sp>
      <p:sp>
        <p:nvSpPr>
          <p:cNvPr id="715" name="Google Shape;715;p66"/>
          <p:cNvSpPr txBox="1">
            <a:spLocks noGrp="1"/>
          </p:cNvSpPr>
          <p:nvPr>
            <p:ph type="body" idx="1"/>
          </p:nvPr>
        </p:nvSpPr>
        <p:spPr>
          <a:prstGeom prst="rect">
            <a:avLst/>
          </a:prstGeom>
        </p:spPr>
        <p:txBody>
          <a:bodyPr spcFirstLastPara="1" wrap="square" lIns="91425" tIns="45700" rIns="91425" bIns="45700" anchor="t" anchorCtr="0">
            <a:noAutofit/>
          </a:bodyPr>
          <a:lstStyle/>
          <a:p>
            <a:pPr marL="457200" lvl="0" indent="-381000" algn="l" rtl="0">
              <a:lnSpc>
                <a:spcPct val="100000"/>
              </a:lnSpc>
              <a:spcBef>
                <a:spcPts val="600"/>
              </a:spcBef>
              <a:spcAft>
                <a:spcPts val="0"/>
              </a:spcAft>
              <a:buSzPts val="2400"/>
              <a:buFont typeface="Roboto"/>
              <a:buChar char="●"/>
            </a:pPr>
            <a:r>
              <a:rPr lang="es-ES" sz="2400" b="1">
                <a:latin typeface="+mn-lt"/>
              </a:rPr>
              <a:t>Operating Systems Three Easy Pieces </a:t>
            </a:r>
            <a:r>
              <a:rPr lang="es-ES" sz="2400">
                <a:latin typeface="+mn-lt"/>
              </a:rPr>
              <a:t>(</a:t>
            </a:r>
            <a:r>
              <a:rPr lang="es-ES" sz="2400" u="sng">
                <a:solidFill>
                  <a:schemeClr val="hlink"/>
                </a:solidFill>
                <a:latin typeface="+mn-lt"/>
                <a:hlinkClick r:id="rId3"/>
              </a:rPr>
              <a:t>website</a:t>
            </a:r>
            <a:r>
              <a:rPr lang="es-ES" sz="2400">
                <a:latin typeface="+mn-lt"/>
              </a:rPr>
              <a:t>: Capítulos </a:t>
            </a:r>
            <a:r>
              <a:rPr lang="es-ES" sz="2400" u="sng">
                <a:solidFill>
                  <a:schemeClr val="hlink"/>
                </a:solidFill>
                <a:latin typeface="+mn-lt"/>
                <a:hlinkClick r:id="rId4"/>
              </a:rPr>
              <a:t>1</a:t>
            </a:r>
            <a:r>
              <a:rPr lang="es-ES" sz="2400">
                <a:latin typeface="+mn-lt"/>
              </a:rPr>
              <a:t> y </a:t>
            </a:r>
            <a:r>
              <a:rPr lang="es-ES" sz="2400" u="sng">
                <a:solidFill>
                  <a:schemeClr val="hlink"/>
                </a:solidFill>
                <a:latin typeface="+mn-lt"/>
                <a:hlinkClick r:id="rId5"/>
              </a:rPr>
              <a:t>2</a:t>
            </a:r>
            <a:r>
              <a:rPr lang="es-ES" sz="2400">
                <a:latin typeface="+mn-lt"/>
              </a:rPr>
              <a:t>)</a:t>
            </a:r>
            <a:endParaRPr sz="2400">
              <a:latin typeface="+mn-lt"/>
            </a:endParaRPr>
          </a:p>
          <a:p>
            <a:pPr marL="457200" lvl="0" indent="-381000" algn="l" rtl="0">
              <a:lnSpc>
                <a:spcPct val="100000"/>
              </a:lnSpc>
              <a:spcBef>
                <a:spcPts val="0"/>
              </a:spcBef>
              <a:spcAft>
                <a:spcPts val="0"/>
              </a:spcAft>
              <a:buSzPts val="2400"/>
              <a:buFont typeface="Times New Roman"/>
              <a:buChar char="●"/>
            </a:pPr>
            <a:r>
              <a:rPr lang="es-ES" sz="2400">
                <a:latin typeface="+mn-lt"/>
              </a:rPr>
              <a:t>Videos de youtube: Clase 1 - Introducción a los sistemas operativos (</a:t>
            </a:r>
            <a:r>
              <a:rPr lang="es-ES" sz="2400" u="sng">
                <a:solidFill>
                  <a:schemeClr val="hlink"/>
                </a:solidFill>
                <a:latin typeface="+mn-lt"/>
                <a:hlinkClick r:id="rId6"/>
              </a:rPr>
              <a:t>link</a:t>
            </a:r>
            <a:r>
              <a:rPr lang="es-ES" sz="2400">
                <a:latin typeface="+mn-lt"/>
              </a:rPr>
              <a:t>).</a:t>
            </a:r>
            <a:endParaRPr sz="2400">
              <a:latin typeface="+mn-lt"/>
            </a:endParaRPr>
          </a:p>
          <a:p>
            <a:pPr marL="457200" lvl="0" indent="-381000" algn="l" rtl="0">
              <a:lnSpc>
                <a:spcPct val="100000"/>
              </a:lnSpc>
              <a:spcBef>
                <a:spcPts val="0"/>
              </a:spcBef>
              <a:spcAft>
                <a:spcPts val="0"/>
              </a:spcAft>
              <a:buSzPts val="2400"/>
              <a:buFont typeface="Times New Roman"/>
              <a:buChar char="●"/>
            </a:pPr>
            <a:r>
              <a:rPr lang="es-ES" sz="2400">
                <a:latin typeface="+mn-lt"/>
              </a:rPr>
              <a:t>Página de Remzi H. Arpaci-Dusseau (</a:t>
            </a:r>
            <a:r>
              <a:rPr lang="es-ES" sz="2400" u="sng">
                <a:solidFill>
                  <a:schemeClr val="hlink"/>
                </a:solidFill>
                <a:latin typeface="+mn-lt"/>
                <a:hlinkClick r:id="rId7"/>
              </a:rPr>
              <a:t>link</a:t>
            </a:r>
            <a:r>
              <a:rPr lang="es-ES" sz="2400">
                <a:latin typeface="+mn-lt"/>
              </a:rPr>
              <a:t>)</a:t>
            </a:r>
            <a:endParaRPr sz="2400">
              <a:latin typeface="+mn-lt"/>
            </a:endParaRPr>
          </a:p>
          <a:p>
            <a:pPr marL="457200" lvl="0" indent="-381000" algn="l" rtl="0">
              <a:lnSpc>
                <a:spcPct val="100000"/>
              </a:lnSpc>
              <a:spcBef>
                <a:spcPts val="0"/>
              </a:spcBef>
              <a:spcAft>
                <a:spcPts val="0"/>
              </a:spcAft>
              <a:buSzPts val="2400"/>
              <a:buFont typeface="Times New Roman"/>
              <a:buChar char="●"/>
            </a:pPr>
            <a:r>
              <a:rPr lang="es-ES" sz="2400">
                <a:latin typeface="+mn-lt"/>
              </a:rPr>
              <a:t>Operating System Concepts - Tenth Edition (</a:t>
            </a:r>
            <a:r>
              <a:rPr lang="es-ES" sz="2400" u="sng">
                <a:solidFill>
                  <a:schemeClr val="hlink"/>
                </a:solidFill>
                <a:latin typeface="+mn-lt"/>
                <a:hlinkClick r:id="rId8"/>
              </a:rPr>
              <a:t>website</a:t>
            </a:r>
            <a:r>
              <a:rPr lang="es-ES" sz="2400">
                <a:latin typeface="+mn-lt"/>
              </a:rPr>
              <a:t>)</a:t>
            </a:r>
            <a:endParaRPr sz="2400">
              <a:latin typeface="+mn-lt"/>
            </a:endParaRPr>
          </a:p>
          <a:p>
            <a:pPr marL="457200" lvl="0" indent="-381000" algn="l" rtl="0">
              <a:lnSpc>
                <a:spcPct val="100000"/>
              </a:lnSpc>
              <a:spcBef>
                <a:spcPts val="0"/>
              </a:spcBef>
              <a:spcAft>
                <a:spcPts val="0"/>
              </a:spcAft>
              <a:buSzPts val="2400"/>
              <a:buFont typeface="Times New Roman"/>
              <a:buChar char="●"/>
            </a:pPr>
            <a:r>
              <a:rPr lang="es-ES" sz="2400">
                <a:latin typeface="+mn-lt"/>
              </a:rPr>
              <a:t>Operating Systems Notes (</a:t>
            </a:r>
            <a:r>
              <a:rPr lang="es-ES" sz="2400" u="sng">
                <a:solidFill>
                  <a:schemeClr val="hlink"/>
                </a:solidFill>
                <a:latin typeface="+mn-lt"/>
                <a:hlinkClick r:id="rId9"/>
              </a:rPr>
              <a:t>link</a:t>
            </a:r>
            <a:r>
              <a:rPr lang="es-ES" sz="2400">
                <a:latin typeface="+mn-lt"/>
              </a:rPr>
              <a:t>)</a:t>
            </a:r>
            <a:endParaRPr sz="2400">
              <a:latin typeface="+mn-lt"/>
            </a:endParaRPr>
          </a:p>
          <a:p>
            <a:pPr marL="0" lvl="0" indent="0" algn="l" rtl="0">
              <a:spcBef>
                <a:spcPts val="1000"/>
              </a:spcBef>
              <a:spcAft>
                <a:spcPts val="0"/>
              </a:spcAft>
              <a:buNone/>
            </a:pPr>
            <a:endParaRPr sz="1100">
              <a:latin typeface="+mn-lt"/>
              <a:ea typeface="Arial"/>
              <a:cs typeface="Arial"/>
              <a:sym typeface="Arial"/>
            </a:endParaRPr>
          </a:p>
          <a:p>
            <a:pPr marL="0" lvl="0" indent="0" algn="l" rtl="0">
              <a:spcBef>
                <a:spcPts val="1000"/>
              </a:spcBef>
              <a:spcAft>
                <a:spcPts val="0"/>
              </a:spcAft>
              <a:buNone/>
            </a:pPr>
            <a:endParaRPr>
              <a:latin typeface="+mn-lt"/>
            </a:endParaRPr>
          </a:p>
          <a:p>
            <a:pPr marL="457200" lvl="0" indent="0" algn="l" rtl="0">
              <a:spcBef>
                <a:spcPts val="1000"/>
              </a:spcBef>
              <a:spcAft>
                <a:spcPts val="0"/>
              </a:spcAft>
              <a:buNone/>
            </a:pPr>
            <a:endParaRPr>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916650" y="96038"/>
            <a:ext cx="1031938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Instruction fecth</a:t>
            </a:r>
            <a:endParaRPr dirty="0"/>
          </a:p>
        </p:txBody>
      </p:sp>
      <p:sp>
        <p:nvSpPr>
          <p:cNvPr id="182" name="Google Shape;182;p21"/>
          <p:cNvSpPr/>
          <p:nvPr/>
        </p:nvSpPr>
        <p:spPr>
          <a:xfrm>
            <a:off x="3084075" y="1437774"/>
            <a:ext cx="1123200" cy="1063259"/>
          </a:xfrm>
          <a:prstGeom prst="ellipse">
            <a:avLst/>
          </a:prstGeom>
          <a:solidFill>
            <a:srgbClr val="B6D7A8"/>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dirty="0">
                <a:latin typeface="Courier New"/>
                <a:ea typeface="Courier New"/>
                <a:cs typeface="Courier New"/>
                <a:sym typeface="Courier New"/>
              </a:rPr>
              <a:t>Start</a:t>
            </a:r>
            <a:endParaRPr sz="1400" dirty="0">
              <a:latin typeface="Courier New"/>
              <a:ea typeface="Courier New"/>
              <a:cs typeface="Courier New"/>
              <a:sym typeface="Courier New"/>
            </a:endParaRPr>
          </a:p>
        </p:txBody>
      </p:sp>
      <p:sp>
        <p:nvSpPr>
          <p:cNvPr id="183" name="Google Shape;183;p21"/>
          <p:cNvSpPr/>
          <p:nvPr/>
        </p:nvSpPr>
        <p:spPr>
          <a:xfrm>
            <a:off x="2862675" y="2849271"/>
            <a:ext cx="1568700" cy="3585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dirty="0" err="1">
                <a:latin typeface="Courier New"/>
                <a:ea typeface="Courier New"/>
                <a:cs typeface="Courier New"/>
                <a:sym typeface="Courier New"/>
              </a:rPr>
              <a:t>Fetch</a:t>
            </a:r>
            <a:endParaRPr sz="1600">
              <a:latin typeface="Courier New"/>
              <a:ea typeface="Courier New"/>
              <a:cs typeface="Courier New"/>
              <a:sym typeface="Courier New"/>
            </a:endParaRPr>
          </a:p>
        </p:txBody>
      </p:sp>
      <p:sp>
        <p:nvSpPr>
          <p:cNvPr id="184" name="Google Shape;184;p21"/>
          <p:cNvSpPr/>
          <p:nvPr/>
        </p:nvSpPr>
        <p:spPr>
          <a:xfrm>
            <a:off x="2865525" y="3538371"/>
            <a:ext cx="1568700" cy="3585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a:latin typeface="Courier New"/>
                <a:ea typeface="Courier New"/>
                <a:cs typeface="Courier New"/>
                <a:sym typeface="Courier New"/>
              </a:rPr>
              <a:t>Decode</a:t>
            </a:r>
            <a:endParaRPr sz="1600">
              <a:latin typeface="Courier New"/>
              <a:ea typeface="Courier New"/>
              <a:cs typeface="Courier New"/>
              <a:sym typeface="Courier New"/>
            </a:endParaRPr>
          </a:p>
        </p:txBody>
      </p:sp>
      <p:sp>
        <p:nvSpPr>
          <p:cNvPr id="185" name="Google Shape;185;p21"/>
          <p:cNvSpPr/>
          <p:nvPr/>
        </p:nvSpPr>
        <p:spPr>
          <a:xfrm>
            <a:off x="2865525" y="4227471"/>
            <a:ext cx="1568700" cy="3585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a:latin typeface="Courier New"/>
                <a:ea typeface="Courier New"/>
                <a:cs typeface="Courier New"/>
                <a:sym typeface="Courier New"/>
              </a:rPr>
              <a:t>Execute</a:t>
            </a:r>
            <a:endParaRPr sz="1600">
              <a:latin typeface="Courier New"/>
              <a:ea typeface="Courier New"/>
              <a:cs typeface="Courier New"/>
              <a:sym typeface="Courier New"/>
            </a:endParaRPr>
          </a:p>
        </p:txBody>
      </p:sp>
      <p:sp>
        <p:nvSpPr>
          <p:cNvPr id="186" name="Google Shape;186;p21"/>
          <p:cNvSpPr/>
          <p:nvPr/>
        </p:nvSpPr>
        <p:spPr>
          <a:xfrm>
            <a:off x="2693925" y="4916571"/>
            <a:ext cx="1911900" cy="523800"/>
          </a:xfrm>
          <a:prstGeom prst="diamond">
            <a:avLst/>
          </a:prstGeom>
          <a:solidFill>
            <a:srgbClr val="F9CB9C"/>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dirty="0" err="1">
                <a:latin typeface="Courier New"/>
                <a:ea typeface="Courier New"/>
                <a:cs typeface="Courier New"/>
                <a:sym typeface="Courier New"/>
              </a:rPr>
              <a:t>Any</a:t>
            </a:r>
            <a:r>
              <a:rPr lang="es-ES" sz="1600" dirty="0">
                <a:latin typeface="Courier New"/>
                <a:ea typeface="Courier New"/>
                <a:cs typeface="Courier New"/>
                <a:sym typeface="Courier New"/>
              </a:rPr>
              <a:t>?</a:t>
            </a:r>
            <a:endParaRPr sz="1600" dirty="0">
              <a:latin typeface="Courier New"/>
              <a:ea typeface="Courier New"/>
              <a:cs typeface="Courier New"/>
              <a:sym typeface="Courier New"/>
            </a:endParaRPr>
          </a:p>
        </p:txBody>
      </p:sp>
      <p:sp>
        <p:nvSpPr>
          <p:cNvPr id="187" name="Google Shape;187;p21"/>
          <p:cNvSpPr/>
          <p:nvPr/>
        </p:nvSpPr>
        <p:spPr>
          <a:xfrm>
            <a:off x="3095775" y="5700604"/>
            <a:ext cx="1080900" cy="1073187"/>
          </a:xfrm>
          <a:prstGeom prst="ellipse">
            <a:avLst/>
          </a:prstGeom>
          <a:solidFill>
            <a:srgbClr val="F4CCCC"/>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1600" dirty="0" err="1">
                <a:latin typeface="Courier New"/>
                <a:ea typeface="Courier New"/>
                <a:cs typeface="Courier New"/>
                <a:sym typeface="Courier New"/>
              </a:rPr>
              <a:t>End</a:t>
            </a:r>
            <a:endParaRPr sz="1600" dirty="0">
              <a:latin typeface="Courier New"/>
              <a:ea typeface="Courier New"/>
              <a:cs typeface="Courier New"/>
              <a:sym typeface="Courier New"/>
            </a:endParaRPr>
          </a:p>
        </p:txBody>
      </p:sp>
      <p:cxnSp>
        <p:nvCxnSpPr>
          <p:cNvPr id="188" name="Google Shape;188;p21"/>
          <p:cNvCxnSpPr>
            <a:cxnSpLocks/>
            <a:stCxn id="182" idx="4"/>
            <a:endCxn id="183" idx="0"/>
          </p:cNvCxnSpPr>
          <p:nvPr/>
        </p:nvCxnSpPr>
        <p:spPr>
          <a:xfrm>
            <a:off x="3645675" y="2501033"/>
            <a:ext cx="1350" cy="348238"/>
          </a:xfrm>
          <a:prstGeom prst="straightConnector1">
            <a:avLst/>
          </a:prstGeom>
          <a:noFill/>
          <a:ln w="19050" cap="flat" cmpd="sng">
            <a:solidFill>
              <a:schemeClr val="dk1"/>
            </a:solidFill>
            <a:prstDash val="solid"/>
            <a:round/>
            <a:headEnd type="none" w="med" len="med"/>
            <a:tailEnd type="triangle" w="med" len="med"/>
          </a:ln>
        </p:spPr>
      </p:cxnSp>
      <p:cxnSp>
        <p:nvCxnSpPr>
          <p:cNvPr id="189" name="Google Shape;189;p21"/>
          <p:cNvCxnSpPr>
            <a:stCxn id="183" idx="2"/>
            <a:endCxn id="184" idx="0"/>
          </p:cNvCxnSpPr>
          <p:nvPr/>
        </p:nvCxnSpPr>
        <p:spPr>
          <a:xfrm>
            <a:off x="3647025" y="3207771"/>
            <a:ext cx="3000" cy="330600"/>
          </a:xfrm>
          <a:prstGeom prst="straightConnector1">
            <a:avLst/>
          </a:prstGeom>
          <a:noFill/>
          <a:ln w="19050" cap="flat" cmpd="sng">
            <a:solidFill>
              <a:schemeClr val="dk1"/>
            </a:solidFill>
            <a:prstDash val="solid"/>
            <a:round/>
            <a:headEnd type="none" w="med" len="med"/>
            <a:tailEnd type="triangle" w="med" len="med"/>
          </a:ln>
        </p:spPr>
      </p:cxnSp>
      <p:cxnSp>
        <p:nvCxnSpPr>
          <p:cNvPr id="190" name="Google Shape;190;p21"/>
          <p:cNvCxnSpPr>
            <a:stCxn id="184" idx="2"/>
            <a:endCxn id="185" idx="0"/>
          </p:cNvCxnSpPr>
          <p:nvPr/>
        </p:nvCxnSpPr>
        <p:spPr>
          <a:xfrm>
            <a:off x="3649875" y="3896871"/>
            <a:ext cx="0" cy="330600"/>
          </a:xfrm>
          <a:prstGeom prst="straightConnector1">
            <a:avLst/>
          </a:prstGeom>
          <a:noFill/>
          <a:ln w="19050" cap="flat" cmpd="sng">
            <a:solidFill>
              <a:schemeClr val="dk1"/>
            </a:solidFill>
            <a:prstDash val="solid"/>
            <a:round/>
            <a:headEnd type="none" w="med" len="med"/>
            <a:tailEnd type="triangle" w="med" len="med"/>
          </a:ln>
        </p:spPr>
      </p:cxnSp>
      <p:cxnSp>
        <p:nvCxnSpPr>
          <p:cNvPr id="191" name="Google Shape;191;p21"/>
          <p:cNvCxnSpPr>
            <a:stCxn id="185" idx="2"/>
            <a:endCxn id="186" idx="0"/>
          </p:cNvCxnSpPr>
          <p:nvPr/>
        </p:nvCxnSpPr>
        <p:spPr>
          <a:xfrm>
            <a:off x="3649875" y="4585971"/>
            <a:ext cx="0" cy="330600"/>
          </a:xfrm>
          <a:prstGeom prst="straightConnector1">
            <a:avLst/>
          </a:prstGeom>
          <a:noFill/>
          <a:ln w="19050" cap="flat" cmpd="sng">
            <a:solidFill>
              <a:schemeClr val="dk1"/>
            </a:solidFill>
            <a:prstDash val="solid"/>
            <a:round/>
            <a:headEnd type="none" w="med" len="med"/>
            <a:tailEnd type="triangle" w="med" len="med"/>
          </a:ln>
        </p:spPr>
      </p:cxnSp>
      <p:cxnSp>
        <p:nvCxnSpPr>
          <p:cNvPr id="192" name="Google Shape;192;p21"/>
          <p:cNvCxnSpPr>
            <a:cxnSpLocks/>
            <a:stCxn id="186" idx="2"/>
            <a:endCxn id="187" idx="0"/>
          </p:cNvCxnSpPr>
          <p:nvPr/>
        </p:nvCxnSpPr>
        <p:spPr>
          <a:xfrm flipH="1">
            <a:off x="3636225" y="5440371"/>
            <a:ext cx="13650" cy="260233"/>
          </a:xfrm>
          <a:prstGeom prst="straightConnector1">
            <a:avLst/>
          </a:prstGeom>
          <a:noFill/>
          <a:ln w="19050" cap="flat" cmpd="sng">
            <a:solidFill>
              <a:schemeClr val="dk1"/>
            </a:solidFill>
            <a:prstDash val="solid"/>
            <a:round/>
            <a:headEnd type="none" w="med" len="med"/>
            <a:tailEnd type="triangle" w="med" len="med"/>
          </a:ln>
        </p:spPr>
      </p:cxnSp>
      <p:cxnSp>
        <p:nvCxnSpPr>
          <p:cNvPr id="193" name="Google Shape;193;p21"/>
          <p:cNvCxnSpPr/>
          <p:nvPr/>
        </p:nvCxnSpPr>
        <p:spPr>
          <a:xfrm rot="-5400000" flipH="1">
            <a:off x="1021125" y="3505671"/>
            <a:ext cx="2535000" cy="810600"/>
          </a:xfrm>
          <a:prstGeom prst="bentConnector3">
            <a:avLst>
              <a:gd name="adj1" fmla="val 99953"/>
            </a:avLst>
          </a:prstGeom>
          <a:noFill/>
          <a:ln w="19050" cap="flat" cmpd="sng">
            <a:solidFill>
              <a:schemeClr val="dk1"/>
            </a:solidFill>
            <a:prstDash val="solid"/>
            <a:round/>
            <a:headEnd type="none" w="med" len="med"/>
            <a:tailEnd type="none" w="med" len="med"/>
          </a:ln>
        </p:spPr>
      </p:cxnSp>
      <p:cxnSp>
        <p:nvCxnSpPr>
          <p:cNvPr id="194" name="Google Shape;194;p21"/>
          <p:cNvCxnSpPr/>
          <p:nvPr/>
        </p:nvCxnSpPr>
        <p:spPr>
          <a:xfrm>
            <a:off x="1864425" y="2643621"/>
            <a:ext cx="1771800" cy="0"/>
          </a:xfrm>
          <a:prstGeom prst="straightConnector1">
            <a:avLst/>
          </a:prstGeom>
          <a:noFill/>
          <a:ln w="19050" cap="flat" cmpd="sng">
            <a:solidFill>
              <a:schemeClr val="dk1"/>
            </a:solidFill>
            <a:prstDash val="solid"/>
            <a:round/>
            <a:headEnd type="none" w="med" len="med"/>
            <a:tailEnd type="none" w="med" len="med"/>
          </a:ln>
        </p:spPr>
      </p:cxnSp>
      <p:sp>
        <p:nvSpPr>
          <p:cNvPr id="195" name="Google Shape;195;p21"/>
          <p:cNvSpPr txBox="1"/>
          <p:nvPr/>
        </p:nvSpPr>
        <p:spPr>
          <a:xfrm>
            <a:off x="3763709" y="5390946"/>
            <a:ext cx="479515"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200" dirty="0">
                <a:latin typeface="Courier New"/>
                <a:ea typeface="Courier New"/>
                <a:cs typeface="Courier New"/>
                <a:sym typeface="Courier New"/>
              </a:rPr>
              <a:t>no</a:t>
            </a:r>
            <a:endParaRPr sz="1200" dirty="0">
              <a:latin typeface="Courier New"/>
              <a:ea typeface="Courier New"/>
              <a:cs typeface="Courier New"/>
              <a:sym typeface="Courier New"/>
            </a:endParaRPr>
          </a:p>
        </p:txBody>
      </p:sp>
      <p:sp>
        <p:nvSpPr>
          <p:cNvPr id="196" name="Google Shape;196;p21"/>
          <p:cNvSpPr txBox="1"/>
          <p:nvPr/>
        </p:nvSpPr>
        <p:spPr>
          <a:xfrm>
            <a:off x="2027325" y="4885371"/>
            <a:ext cx="666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200">
                <a:latin typeface="Courier New"/>
                <a:ea typeface="Courier New"/>
                <a:cs typeface="Courier New"/>
                <a:sym typeface="Courier New"/>
              </a:rPr>
              <a:t>yes</a:t>
            </a:r>
            <a:endParaRPr sz="1200">
              <a:latin typeface="Courier New"/>
              <a:ea typeface="Courier New"/>
              <a:cs typeface="Courier New"/>
              <a:sym typeface="Courier New"/>
            </a:endParaRPr>
          </a:p>
        </p:txBody>
      </p:sp>
      <p:sp>
        <p:nvSpPr>
          <p:cNvPr id="45" name="CuadroTexto 44">
            <a:extLst>
              <a:ext uri="{FF2B5EF4-FFF2-40B4-BE49-F238E27FC236}">
                <a16:creationId xmlns:a16="http://schemas.microsoft.com/office/drawing/2014/main" id="{EE6F3BCA-8953-4BB6-B023-06A39845F5FC}"/>
              </a:ext>
            </a:extLst>
          </p:cNvPr>
          <p:cNvSpPr txBox="1"/>
          <p:nvPr/>
        </p:nvSpPr>
        <p:spPr>
          <a:xfrm>
            <a:off x="5570047" y="1212639"/>
            <a:ext cx="2620606" cy="1815882"/>
          </a:xfrm>
          <a:prstGeom prst="rect">
            <a:avLst/>
          </a:prstGeom>
          <a:noFill/>
          <a:ln>
            <a:solidFill>
              <a:schemeClr val="tx1"/>
            </a:solidFill>
          </a:ln>
        </p:spPr>
        <p:txBody>
          <a:bodyPr wrap="square">
            <a:spAutoFit/>
          </a:bodyPr>
          <a:lstStyle/>
          <a:p>
            <a:r>
              <a:rPr lang="es-CO" sz="1400" dirty="0">
                <a:latin typeface="Consolas" panose="020B0609020204030204" pitchFamily="49" charset="0"/>
              </a:rPr>
              <a:t>.data</a:t>
            </a:r>
          </a:p>
          <a:p>
            <a:r>
              <a:rPr lang="es-CO" sz="1400" dirty="0">
                <a:latin typeface="Consolas" panose="020B0609020204030204" pitchFamily="49" charset="0"/>
              </a:rPr>
              <a:t>    </a:t>
            </a:r>
            <a:r>
              <a:rPr lang="es-CO" sz="1400" dirty="0" err="1">
                <a:latin typeface="Consolas" panose="020B0609020204030204" pitchFamily="49" charset="0"/>
              </a:rPr>
              <a:t>var_x</a:t>
            </a:r>
            <a:r>
              <a:rPr lang="es-CO" sz="1400" dirty="0">
                <a:latin typeface="Consolas" panose="020B0609020204030204" pitchFamily="49" charset="0"/>
              </a:rPr>
              <a:t>: .</a:t>
            </a:r>
            <a:r>
              <a:rPr lang="es-CO" sz="1400" dirty="0" err="1">
                <a:latin typeface="Consolas" panose="020B0609020204030204" pitchFamily="49" charset="0"/>
              </a:rPr>
              <a:t>word</a:t>
            </a:r>
            <a:r>
              <a:rPr lang="es-CO" sz="1400" dirty="0">
                <a:latin typeface="Consolas" panose="020B0609020204030204" pitchFamily="49" charset="0"/>
              </a:rPr>
              <a:t> 30     </a:t>
            </a:r>
          </a:p>
          <a:p>
            <a:r>
              <a:rPr lang="es-CO" sz="1400" dirty="0">
                <a:latin typeface="Consolas" panose="020B0609020204030204" pitchFamily="49" charset="0"/>
              </a:rPr>
              <a:t>.</a:t>
            </a:r>
            <a:r>
              <a:rPr lang="es-CO" sz="1400" dirty="0" err="1">
                <a:latin typeface="Consolas" panose="020B0609020204030204" pitchFamily="49" charset="0"/>
              </a:rPr>
              <a:t>text</a:t>
            </a:r>
            <a:endParaRPr lang="es-CO" sz="1400" dirty="0">
              <a:latin typeface="Consolas" panose="020B0609020204030204" pitchFamily="49" charset="0"/>
            </a:endParaRPr>
          </a:p>
          <a:p>
            <a:r>
              <a:rPr lang="es-CO" sz="1400" dirty="0" err="1">
                <a:latin typeface="Consolas" panose="020B0609020204030204" pitchFamily="49" charset="0"/>
              </a:rPr>
              <a:t>main</a:t>
            </a:r>
            <a:r>
              <a:rPr lang="es-CO" sz="1400" dirty="0">
                <a:latin typeface="Consolas" panose="020B0609020204030204" pitchFamily="49" charset="0"/>
              </a:rPr>
              <a:t>:</a:t>
            </a:r>
          </a:p>
          <a:p>
            <a:r>
              <a:rPr lang="es-CO" sz="1400" dirty="0">
                <a:latin typeface="Consolas" panose="020B0609020204030204" pitchFamily="49" charset="0"/>
              </a:rPr>
              <a:t>    la $t1, </a:t>
            </a:r>
            <a:r>
              <a:rPr lang="es-CO" sz="1400" dirty="0" err="1">
                <a:latin typeface="Consolas" panose="020B0609020204030204" pitchFamily="49" charset="0"/>
              </a:rPr>
              <a:t>var_x</a:t>
            </a:r>
            <a:r>
              <a:rPr lang="es-CO" sz="1400" dirty="0">
                <a:latin typeface="Consolas" panose="020B0609020204030204" pitchFamily="49" charset="0"/>
              </a:rPr>
              <a:t>       </a:t>
            </a:r>
          </a:p>
          <a:p>
            <a:r>
              <a:rPr lang="es-CO" sz="1400" dirty="0">
                <a:latin typeface="Consolas" panose="020B0609020204030204" pitchFamily="49" charset="0"/>
              </a:rPr>
              <a:t>    </a:t>
            </a:r>
            <a:r>
              <a:rPr lang="es-CO" sz="1400" dirty="0" err="1">
                <a:latin typeface="Consolas" panose="020B0609020204030204" pitchFamily="49" charset="0"/>
              </a:rPr>
              <a:t>lw</a:t>
            </a:r>
            <a:r>
              <a:rPr lang="es-CO" sz="1400" dirty="0">
                <a:latin typeface="Consolas" panose="020B0609020204030204" pitchFamily="49" charset="0"/>
              </a:rPr>
              <a:t> $t0, 0($t1)           </a:t>
            </a:r>
          </a:p>
          <a:p>
            <a:r>
              <a:rPr lang="es-CO" sz="1400" dirty="0">
                <a:latin typeface="Consolas" panose="020B0609020204030204" pitchFamily="49" charset="0"/>
              </a:rPr>
              <a:t>    </a:t>
            </a:r>
            <a:r>
              <a:rPr lang="es-CO" sz="1400" dirty="0" err="1">
                <a:latin typeface="Consolas" panose="020B0609020204030204" pitchFamily="49" charset="0"/>
              </a:rPr>
              <a:t>addi</a:t>
            </a:r>
            <a:r>
              <a:rPr lang="es-CO" sz="1400" dirty="0">
                <a:latin typeface="Consolas" panose="020B0609020204030204" pitchFamily="49" charset="0"/>
              </a:rPr>
              <a:t> $t0, $t0, 1       </a:t>
            </a:r>
          </a:p>
          <a:p>
            <a:r>
              <a:rPr lang="es-CO" sz="1400" dirty="0">
                <a:latin typeface="Consolas" panose="020B0609020204030204" pitchFamily="49" charset="0"/>
              </a:rPr>
              <a:t>    </a:t>
            </a:r>
            <a:r>
              <a:rPr lang="es-CO" sz="1400" dirty="0" err="1">
                <a:latin typeface="Consolas" panose="020B0609020204030204" pitchFamily="49" charset="0"/>
              </a:rPr>
              <a:t>sw</a:t>
            </a:r>
            <a:r>
              <a:rPr lang="es-CO" sz="1400" dirty="0">
                <a:latin typeface="Consolas" panose="020B0609020204030204" pitchFamily="49" charset="0"/>
              </a:rPr>
              <a:t> $t0, 0($t1) </a:t>
            </a:r>
          </a:p>
        </p:txBody>
      </p:sp>
      <p:pic>
        <p:nvPicPr>
          <p:cNvPr id="48" name="Google Shape;225;p23">
            <a:extLst>
              <a:ext uri="{FF2B5EF4-FFF2-40B4-BE49-F238E27FC236}">
                <a16:creationId xmlns:a16="http://schemas.microsoft.com/office/drawing/2014/main" id="{E525A3FF-FFE5-4399-BD5C-6A50F32C4582}"/>
              </a:ext>
            </a:extLst>
          </p:cNvPr>
          <p:cNvPicPr preferRelativeResize="0"/>
          <p:nvPr/>
        </p:nvPicPr>
        <p:blipFill>
          <a:blip r:embed="rId3">
            <a:alphaModFix/>
          </a:blip>
          <a:stretch>
            <a:fillRect/>
          </a:stretch>
        </p:blipFill>
        <p:spPr>
          <a:xfrm>
            <a:off x="9329325" y="1572602"/>
            <a:ext cx="914963" cy="949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7"/>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Contraste</a:t>
            </a:r>
            <a:endParaRPr dirty="0"/>
          </a:p>
        </p:txBody>
      </p:sp>
      <p:pic>
        <p:nvPicPr>
          <p:cNvPr id="11" name="Google Shape;330;p29">
            <a:extLst>
              <a:ext uri="{FF2B5EF4-FFF2-40B4-BE49-F238E27FC236}">
                <a16:creationId xmlns:a16="http://schemas.microsoft.com/office/drawing/2014/main" id="{984F2F3F-AD09-4946-BAD0-3F8271201BD0}"/>
              </a:ext>
            </a:extLst>
          </p:cNvPr>
          <p:cNvPicPr preferRelativeResize="0"/>
          <p:nvPr/>
        </p:nvPicPr>
        <p:blipFill>
          <a:blip r:embed="rId3">
            <a:alphaModFix/>
          </a:blip>
          <a:stretch>
            <a:fillRect/>
          </a:stretch>
        </p:blipFill>
        <p:spPr>
          <a:xfrm>
            <a:off x="1328084" y="1769565"/>
            <a:ext cx="4105551" cy="1928070"/>
          </a:xfrm>
          <a:prstGeom prst="rect">
            <a:avLst/>
          </a:prstGeom>
          <a:noFill/>
          <a:ln>
            <a:noFill/>
          </a:ln>
        </p:spPr>
      </p:pic>
      <p:sp>
        <p:nvSpPr>
          <p:cNvPr id="4" name="CuadroTexto 3">
            <a:extLst>
              <a:ext uri="{FF2B5EF4-FFF2-40B4-BE49-F238E27FC236}">
                <a16:creationId xmlns:a16="http://schemas.microsoft.com/office/drawing/2014/main" id="{F3AC62D7-7CD9-4FBD-8648-30A719F0F196}"/>
              </a:ext>
            </a:extLst>
          </p:cNvPr>
          <p:cNvSpPr txBox="1"/>
          <p:nvPr/>
        </p:nvSpPr>
        <p:spPr>
          <a:xfrm>
            <a:off x="6982691" y="1228169"/>
            <a:ext cx="3632958" cy="461665"/>
          </a:xfrm>
          <a:prstGeom prst="rect">
            <a:avLst/>
          </a:prstGeom>
          <a:noFill/>
        </p:spPr>
        <p:txBody>
          <a:bodyPr wrap="square" rtlCol="0">
            <a:spAutoFit/>
          </a:bodyPr>
          <a:lstStyle/>
          <a:p>
            <a:pPr algn="ctr"/>
            <a:r>
              <a:rPr lang="es-CO" sz="2400" b="1" dirty="0"/>
              <a:t>Con sistema Operativo</a:t>
            </a:r>
          </a:p>
        </p:txBody>
      </p:sp>
      <p:sp>
        <p:nvSpPr>
          <p:cNvPr id="17" name="CuadroTexto 16">
            <a:extLst>
              <a:ext uri="{FF2B5EF4-FFF2-40B4-BE49-F238E27FC236}">
                <a16:creationId xmlns:a16="http://schemas.microsoft.com/office/drawing/2014/main" id="{729DAB69-D538-4B5D-8E84-4D9E425B0BC3}"/>
              </a:ext>
            </a:extLst>
          </p:cNvPr>
          <p:cNvSpPr txBox="1"/>
          <p:nvPr/>
        </p:nvSpPr>
        <p:spPr>
          <a:xfrm>
            <a:off x="1741313" y="1192067"/>
            <a:ext cx="3313769" cy="461665"/>
          </a:xfrm>
          <a:prstGeom prst="rect">
            <a:avLst/>
          </a:prstGeom>
          <a:noFill/>
        </p:spPr>
        <p:txBody>
          <a:bodyPr wrap="square" rtlCol="0">
            <a:spAutoFit/>
          </a:bodyPr>
          <a:lstStyle/>
          <a:p>
            <a:pPr algn="ctr"/>
            <a:r>
              <a:rPr lang="es-CO" sz="2400" b="1" dirty="0"/>
              <a:t>Sin sistema Operativo</a:t>
            </a:r>
          </a:p>
        </p:txBody>
      </p:sp>
      <p:pic>
        <p:nvPicPr>
          <p:cNvPr id="8" name="Imagen 7">
            <a:extLst>
              <a:ext uri="{FF2B5EF4-FFF2-40B4-BE49-F238E27FC236}">
                <a16:creationId xmlns:a16="http://schemas.microsoft.com/office/drawing/2014/main" id="{0383FCD2-7407-498A-924C-ECC3332327C0}"/>
              </a:ext>
            </a:extLst>
          </p:cNvPr>
          <p:cNvPicPr>
            <a:picLocks noChangeAspect="1"/>
          </p:cNvPicPr>
          <p:nvPr/>
        </p:nvPicPr>
        <p:blipFill>
          <a:blip r:embed="rId4"/>
          <a:stretch>
            <a:fillRect/>
          </a:stretch>
        </p:blipFill>
        <p:spPr>
          <a:xfrm>
            <a:off x="7483258" y="1999864"/>
            <a:ext cx="2631823" cy="2584450"/>
          </a:xfrm>
          <a:prstGeom prst="rect">
            <a:avLst/>
          </a:prstGeom>
        </p:spPr>
      </p:pic>
      <p:pic>
        <p:nvPicPr>
          <p:cNvPr id="22" name="Google Shape;347;p30">
            <a:extLst>
              <a:ext uri="{FF2B5EF4-FFF2-40B4-BE49-F238E27FC236}">
                <a16:creationId xmlns:a16="http://schemas.microsoft.com/office/drawing/2014/main" id="{F885AD9E-6A49-46F4-AC16-4AB2CA4EB8D3}"/>
              </a:ext>
            </a:extLst>
          </p:cNvPr>
          <p:cNvPicPr preferRelativeResize="0"/>
          <p:nvPr/>
        </p:nvPicPr>
        <p:blipFill>
          <a:blip r:embed="rId5">
            <a:alphaModFix/>
          </a:blip>
          <a:stretch>
            <a:fillRect/>
          </a:stretch>
        </p:blipFill>
        <p:spPr>
          <a:xfrm>
            <a:off x="8876662" y="5629831"/>
            <a:ext cx="687975" cy="687975"/>
          </a:xfrm>
          <a:prstGeom prst="rect">
            <a:avLst/>
          </a:prstGeom>
          <a:noFill/>
          <a:ln>
            <a:noFill/>
          </a:ln>
        </p:spPr>
      </p:pic>
      <p:cxnSp>
        <p:nvCxnSpPr>
          <p:cNvPr id="23" name="Google Shape;348;p30">
            <a:extLst>
              <a:ext uri="{FF2B5EF4-FFF2-40B4-BE49-F238E27FC236}">
                <a16:creationId xmlns:a16="http://schemas.microsoft.com/office/drawing/2014/main" id="{11C89CC7-4BC7-4543-9DC0-A9E3890606F6}"/>
              </a:ext>
            </a:extLst>
          </p:cNvPr>
          <p:cNvCxnSpPr>
            <a:cxnSpLocks/>
          </p:cNvCxnSpPr>
          <p:nvPr/>
        </p:nvCxnSpPr>
        <p:spPr>
          <a:xfrm>
            <a:off x="7248891" y="5486372"/>
            <a:ext cx="3494337" cy="0"/>
          </a:xfrm>
          <a:prstGeom prst="straightConnector1">
            <a:avLst/>
          </a:prstGeom>
          <a:noFill/>
          <a:ln w="38100" cap="flat" cmpd="sng">
            <a:solidFill>
              <a:srgbClr val="FF9900"/>
            </a:solidFill>
            <a:prstDash val="solid"/>
            <a:round/>
            <a:headEnd type="none" w="med" len="med"/>
            <a:tailEnd type="none" w="med" len="med"/>
          </a:ln>
        </p:spPr>
      </p:cxnSp>
      <p:pic>
        <p:nvPicPr>
          <p:cNvPr id="24" name="Google Shape;349;p30">
            <a:extLst>
              <a:ext uri="{FF2B5EF4-FFF2-40B4-BE49-F238E27FC236}">
                <a16:creationId xmlns:a16="http://schemas.microsoft.com/office/drawing/2014/main" id="{432A2C81-41A9-4156-A192-79CEB00B671E}"/>
              </a:ext>
            </a:extLst>
          </p:cNvPr>
          <p:cNvPicPr preferRelativeResize="0"/>
          <p:nvPr/>
        </p:nvPicPr>
        <p:blipFill>
          <a:blip r:embed="rId5">
            <a:alphaModFix/>
          </a:blip>
          <a:stretch>
            <a:fillRect/>
          </a:stretch>
        </p:blipFill>
        <p:spPr>
          <a:xfrm>
            <a:off x="3398198" y="5486372"/>
            <a:ext cx="687975" cy="687975"/>
          </a:xfrm>
          <a:prstGeom prst="rect">
            <a:avLst/>
          </a:prstGeom>
          <a:noFill/>
          <a:ln>
            <a:noFill/>
          </a:ln>
        </p:spPr>
      </p:pic>
      <p:cxnSp>
        <p:nvCxnSpPr>
          <p:cNvPr id="25" name="Google Shape;350;p30">
            <a:extLst>
              <a:ext uri="{FF2B5EF4-FFF2-40B4-BE49-F238E27FC236}">
                <a16:creationId xmlns:a16="http://schemas.microsoft.com/office/drawing/2014/main" id="{5D4267FD-88F1-4CD3-81FA-A9CA7224C836}"/>
              </a:ext>
            </a:extLst>
          </p:cNvPr>
          <p:cNvCxnSpPr>
            <a:cxnSpLocks/>
          </p:cNvCxnSpPr>
          <p:nvPr/>
        </p:nvCxnSpPr>
        <p:spPr>
          <a:xfrm>
            <a:off x="2050473" y="5312076"/>
            <a:ext cx="3534979" cy="0"/>
          </a:xfrm>
          <a:prstGeom prst="straightConnector1">
            <a:avLst/>
          </a:prstGeom>
          <a:noFill/>
          <a:ln w="38100" cap="flat" cmpd="sng">
            <a:solidFill>
              <a:srgbClr val="FF9900"/>
            </a:solidFill>
            <a:prstDash val="solid"/>
            <a:round/>
            <a:headEnd type="none" w="med" len="med"/>
            <a:tailEnd type="none" w="med" len="med"/>
          </a:ln>
        </p:spPr>
      </p:cxnSp>
      <p:pic>
        <p:nvPicPr>
          <p:cNvPr id="26" name="Google Shape;351;p30">
            <a:extLst>
              <a:ext uri="{FF2B5EF4-FFF2-40B4-BE49-F238E27FC236}">
                <a16:creationId xmlns:a16="http://schemas.microsoft.com/office/drawing/2014/main" id="{CAAD765B-584B-4AB8-AD7F-231DE15D0A84}"/>
              </a:ext>
            </a:extLst>
          </p:cNvPr>
          <p:cNvPicPr preferRelativeResize="0"/>
          <p:nvPr/>
        </p:nvPicPr>
        <p:blipFill>
          <a:blip r:embed="rId6">
            <a:alphaModFix/>
          </a:blip>
          <a:stretch>
            <a:fillRect/>
          </a:stretch>
        </p:blipFill>
        <p:spPr>
          <a:xfrm>
            <a:off x="7673036" y="4770131"/>
            <a:ext cx="701567" cy="552562"/>
          </a:xfrm>
          <a:prstGeom prst="rect">
            <a:avLst/>
          </a:prstGeom>
          <a:noFill/>
          <a:ln>
            <a:noFill/>
          </a:ln>
        </p:spPr>
      </p:pic>
      <p:pic>
        <p:nvPicPr>
          <p:cNvPr id="27" name="Google Shape;352;p30">
            <a:extLst>
              <a:ext uri="{FF2B5EF4-FFF2-40B4-BE49-F238E27FC236}">
                <a16:creationId xmlns:a16="http://schemas.microsoft.com/office/drawing/2014/main" id="{331D929C-E9D1-4FF6-82E5-3EE9F00A5A30}"/>
              </a:ext>
            </a:extLst>
          </p:cNvPr>
          <p:cNvPicPr preferRelativeResize="0"/>
          <p:nvPr/>
        </p:nvPicPr>
        <p:blipFill>
          <a:blip r:embed="rId6">
            <a:alphaModFix/>
          </a:blip>
          <a:stretch>
            <a:fillRect/>
          </a:stretch>
        </p:blipFill>
        <p:spPr>
          <a:xfrm>
            <a:off x="8776986" y="4770131"/>
            <a:ext cx="701567" cy="552562"/>
          </a:xfrm>
          <a:prstGeom prst="rect">
            <a:avLst/>
          </a:prstGeom>
          <a:noFill/>
          <a:ln>
            <a:noFill/>
          </a:ln>
        </p:spPr>
      </p:pic>
      <p:pic>
        <p:nvPicPr>
          <p:cNvPr id="28" name="Google Shape;353;p30">
            <a:extLst>
              <a:ext uri="{FF2B5EF4-FFF2-40B4-BE49-F238E27FC236}">
                <a16:creationId xmlns:a16="http://schemas.microsoft.com/office/drawing/2014/main" id="{DA48FD32-569D-491B-9127-E520E89E83AC}"/>
              </a:ext>
            </a:extLst>
          </p:cNvPr>
          <p:cNvPicPr preferRelativeResize="0"/>
          <p:nvPr/>
        </p:nvPicPr>
        <p:blipFill>
          <a:blip r:embed="rId6">
            <a:alphaModFix/>
          </a:blip>
          <a:stretch>
            <a:fillRect/>
          </a:stretch>
        </p:blipFill>
        <p:spPr>
          <a:xfrm>
            <a:off x="9880936" y="4770131"/>
            <a:ext cx="701567" cy="552562"/>
          </a:xfrm>
          <a:prstGeom prst="rect">
            <a:avLst/>
          </a:prstGeom>
          <a:noFill/>
          <a:ln>
            <a:noFill/>
          </a:ln>
        </p:spPr>
      </p:pic>
      <p:pic>
        <p:nvPicPr>
          <p:cNvPr id="29" name="Google Shape;354;p30">
            <a:extLst>
              <a:ext uri="{FF2B5EF4-FFF2-40B4-BE49-F238E27FC236}">
                <a16:creationId xmlns:a16="http://schemas.microsoft.com/office/drawing/2014/main" id="{0EF6AFD3-20FB-4B2F-B494-28C7C7236F5A}"/>
              </a:ext>
            </a:extLst>
          </p:cNvPr>
          <p:cNvPicPr preferRelativeResize="0"/>
          <p:nvPr/>
        </p:nvPicPr>
        <p:blipFill>
          <a:blip r:embed="rId6">
            <a:alphaModFix/>
          </a:blip>
          <a:stretch>
            <a:fillRect/>
          </a:stretch>
        </p:blipFill>
        <p:spPr>
          <a:xfrm>
            <a:off x="3466615" y="4584314"/>
            <a:ext cx="701567" cy="552562"/>
          </a:xfrm>
          <a:prstGeom prst="rect">
            <a:avLst/>
          </a:prstGeom>
          <a:noFill/>
          <a:ln>
            <a:noFill/>
          </a:ln>
        </p:spPr>
      </p:pic>
    </p:spTree>
    <p:extLst>
      <p:ext uri="{BB962C8B-B14F-4D97-AF65-F5344CB8AC3E}">
        <p14:creationId xmlns:p14="http://schemas.microsoft.com/office/powerpoint/2010/main" val="63759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Virtualización</a:t>
            </a:r>
            <a:endParaRPr dirty="0"/>
          </a:p>
        </p:txBody>
      </p:sp>
      <p:pic>
        <p:nvPicPr>
          <p:cNvPr id="3" name="Imagen 2">
            <a:extLst>
              <a:ext uri="{FF2B5EF4-FFF2-40B4-BE49-F238E27FC236}">
                <a16:creationId xmlns:a16="http://schemas.microsoft.com/office/drawing/2014/main" id="{F59FDFBF-51EB-446C-8616-607A4D9D25A5}"/>
              </a:ext>
            </a:extLst>
          </p:cNvPr>
          <p:cNvPicPr>
            <a:picLocks noChangeAspect="1"/>
          </p:cNvPicPr>
          <p:nvPr/>
        </p:nvPicPr>
        <p:blipFill>
          <a:blip r:embed="rId3"/>
          <a:stretch>
            <a:fillRect/>
          </a:stretch>
        </p:blipFill>
        <p:spPr>
          <a:xfrm>
            <a:off x="1191568" y="1949400"/>
            <a:ext cx="4695064" cy="1846984"/>
          </a:xfrm>
          <a:prstGeom prst="rect">
            <a:avLst/>
          </a:prstGeom>
        </p:spPr>
      </p:pic>
      <p:pic>
        <p:nvPicPr>
          <p:cNvPr id="5" name="Imagen 4">
            <a:extLst>
              <a:ext uri="{FF2B5EF4-FFF2-40B4-BE49-F238E27FC236}">
                <a16:creationId xmlns:a16="http://schemas.microsoft.com/office/drawing/2014/main" id="{93406A98-1E23-446D-A5CA-33B886E69361}"/>
              </a:ext>
            </a:extLst>
          </p:cNvPr>
          <p:cNvPicPr>
            <a:picLocks noChangeAspect="1"/>
          </p:cNvPicPr>
          <p:nvPr/>
        </p:nvPicPr>
        <p:blipFill>
          <a:blip r:embed="rId4"/>
          <a:stretch>
            <a:fillRect/>
          </a:stretch>
        </p:blipFill>
        <p:spPr>
          <a:xfrm>
            <a:off x="7221206" y="1841726"/>
            <a:ext cx="2980952" cy="2091229"/>
          </a:xfrm>
          <a:prstGeom prst="rect">
            <a:avLst/>
          </a:prstGeom>
        </p:spPr>
      </p:pic>
      <p:pic>
        <p:nvPicPr>
          <p:cNvPr id="7" name="Imagen 6">
            <a:extLst>
              <a:ext uri="{FF2B5EF4-FFF2-40B4-BE49-F238E27FC236}">
                <a16:creationId xmlns:a16="http://schemas.microsoft.com/office/drawing/2014/main" id="{A35AD63C-52E3-4B37-94E9-0E937668315C}"/>
              </a:ext>
            </a:extLst>
          </p:cNvPr>
          <p:cNvPicPr>
            <a:picLocks noChangeAspect="1"/>
          </p:cNvPicPr>
          <p:nvPr/>
        </p:nvPicPr>
        <p:blipFill>
          <a:blip r:embed="rId5"/>
          <a:stretch>
            <a:fillRect/>
          </a:stretch>
        </p:blipFill>
        <p:spPr>
          <a:xfrm>
            <a:off x="1989842" y="4700246"/>
            <a:ext cx="2715400" cy="1374629"/>
          </a:xfrm>
          <a:prstGeom prst="rect">
            <a:avLst/>
          </a:prstGeom>
        </p:spPr>
      </p:pic>
      <p:pic>
        <p:nvPicPr>
          <p:cNvPr id="9" name="Imagen 8">
            <a:extLst>
              <a:ext uri="{FF2B5EF4-FFF2-40B4-BE49-F238E27FC236}">
                <a16:creationId xmlns:a16="http://schemas.microsoft.com/office/drawing/2014/main" id="{6609E9AF-2C83-4520-B4D1-E90C57A5D3C1}"/>
              </a:ext>
            </a:extLst>
          </p:cNvPr>
          <p:cNvPicPr>
            <a:picLocks noChangeAspect="1"/>
          </p:cNvPicPr>
          <p:nvPr/>
        </p:nvPicPr>
        <p:blipFill>
          <a:blip r:embed="rId6"/>
          <a:stretch>
            <a:fillRect/>
          </a:stretch>
        </p:blipFill>
        <p:spPr>
          <a:xfrm>
            <a:off x="6784809" y="4636928"/>
            <a:ext cx="3640281" cy="1908928"/>
          </a:xfrm>
          <a:prstGeom prst="rect">
            <a:avLst/>
          </a:prstGeom>
        </p:spPr>
      </p:pic>
      <p:sp>
        <p:nvSpPr>
          <p:cNvPr id="10" name="CuadroTexto 9">
            <a:extLst>
              <a:ext uri="{FF2B5EF4-FFF2-40B4-BE49-F238E27FC236}">
                <a16:creationId xmlns:a16="http://schemas.microsoft.com/office/drawing/2014/main" id="{94D42BCF-535F-47E4-950D-2721E55F3FFD}"/>
              </a:ext>
            </a:extLst>
          </p:cNvPr>
          <p:cNvSpPr txBox="1"/>
          <p:nvPr/>
        </p:nvSpPr>
        <p:spPr>
          <a:xfrm>
            <a:off x="1989842" y="1471095"/>
            <a:ext cx="2230354" cy="369332"/>
          </a:xfrm>
          <a:prstGeom prst="rect">
            <a:avLst/>
          </a:prstGeom>
          <a:noFill/>
        </p:spPr>
        <p:txBody>
          <a:bodyPr wrap="none" rtlCol="0">
            <a:spAutoFit/>
          </a:bodyPr>
          <a:lstStyle/>
          <a:p>
            <a:r>
              <a:rPr lang="es-CO" b="1" dirty="0"/>
              <a:t>Virtualización de CPU</a:t>
            </a:r>
          </a:p>
        </p:txBody>
      </p:sp>
      <p:sp>
        <p:nvSpPr>
          <p:cNvPr id="30" name="CuadroTexto 29">
            <a:extLst>
              <a:ext uri="{FF2B5EF4-FFF2-40B4-BE49-F238E27FC236}">
                <a16:creationId xmlns:a16="http://schemas.microsoft.com/office/drawing/2014/main" id="{B326432A-CFB9-4E64-A6BE-09C11B509E57}"/>
              </a:ext>
            </a:extLst>
          </p:cNvPr>
          <p:cNvSpPr txBox="1"/>
          <p:nvPr/>
        </p:nvSpPr>
        <p:spPr>
          <a:xfrm>
            <a:off x="7487697" y="1395038"/>
            <a:ext cx="2714461" cy="369332"/>
          </a:xfrm>
          <a:prstGeom prst="rect">
            <a:avLst/>
          </a:prstGeom>
          <a:noFill/>
        </p:spPr>
        <p:txBody>
          <a:bodyPr wrap="none" rtlCol="0">
            <a:spAutoFit/>
          </a:bodyPr>
          <a:lstStyle/>
          <a:p>
            <a:r>
              <a:rPr lang="es-CO" b="1" dirty="0"/>
              <a:t>Virtualización de Memoria</a:t>
            </a:r>
          </a:p>
        </p:txBody>
      </p:sp>
      <p:sp>
        <p:nvSpPr>
          <p:cNvPr id="31" name="CuadroTexto 30">
            <a:extLst>
              <a:ext uri="{FF2B5EF4-FFF2-40B4-BE49-F238E27FC236}">
                <a16:creationId xmlns:a16="http://schemas.microsoft.com/office/drawing/2014/main" id="{4D6EDAA0-3790-4E52-813A-431168D9EF5B}"/>
              </a:ext>
            </a:extLst>
          </p:cNvPr>
          <p:cNvSpPr txBox="1"/>
          <p:nvPr/>
        </p:nvSpPr>
        <p:spPr>
          <a:xfrm>
            <a:off x="1990781" y="4267596"/>
            <a:ext cx="2767489" cy="369332"/>
          </a:xfrm>
          <a:prstGeom prst="rect">
            <a:avLst/>
          </a:prstGeom>
          <a:noFill/>
        </p:spPr>
        <p:txBody>
          <a:bodyPr wrap="none" rtlCol="0">
            <a:spAutoFit/>
          </a:bodyPr>
          <a:lstStyle/>
          <a:p>
            <a:r>
              <a:rPr lang="es-CO" b="1" dirty="0"/>
              <a:t>Concurrencia y paralelismo</a:t>
            </a:r>
          </a:p>
        </p:txBody>
      </p:sp>
      <p:sp>
        <p:nvSpPr>
          <p:cNvPr id="32" name="CuadroTexto 31">
            <a:extLst>
              <a:ext uri="{FF2B5EF4-FFF2-40B4-BE49-F238E27FC236}">
                <a16:creationId xmlns:a16="http://schemas.microsoft.com/office/drawing/2014/main" id="{494F3312-B0F9-4441-8C43-AE5C39818737}"/>
              </a:ext>
            </a:extLst>
          </p:cNvPr>
          <p:cNvSpPr txBox="1"/>
          <p:nvPr/>
        </p:nvSpPr>
        <p:spPr>
          <a:xfrm>
            <a:off x="7221206" y="4267596"/>
            <a:ext cx="1317284" cy="369332"/>
          </a:xfrm>
          <a:prstGeom prst="rect">
            <a:avLst/>
          </a:prstGeom>
          <a:noFill/>
        </p:spPr>
        <p:txBody>
          <a:bodyPr wrap="none" rtlCol="0">
            <a:spAutoFit/>
          </a:bodyPr>
          <a:lstStyle/>
          <a:p>
            <a:r>
              <a:rPr lang="es-CO" b="1" dirty="0"/>
              <a:t>Persistencia</a:t>
            </a:r>
          </a:p>
        </p:txBody>
      </p:sp>
    </p:spTree>
    <p:extLst>
      <p:ext uri="{BB962C8B-B14F-4D97-AF65-F5344CB8AC3E}">
        <p14:creationId xmlns:p14="http://schemas.microsoft.com/office/powerpoint/2010/main" val="2213807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Contextualización</a:t>
            </a:r>
            <a:endParaRPr dirty="0"/>
          </a:p>
        </p:txBody>
      </p:sp>
      <p:pic>
        <p:nvPicPr>
          <p:cNvPr id="11" name="Google Shape;361;p31">
            <a:extLst>
              <a:ext uri="{FF2B5EF4-FFF2-40B4-BE49-F238E27FC236}">
                <a16:creationId xmlns:a16="http://schemas.microsoft.com/office/drawing/2014/main" id="{69E2D9B0-00B2-41F6-A008-D41F2A9F5854}"/>
              </a:ext>
            </a:extLst>
          </p:cNvPr>
          <p:cNvPicPr preferRelativeResize="0"/>
          <p:nvPr/>
        </p:nvPicPr>
        <p:blipFill>
          <a:blip r:embed="rId3">
            <a:alphaModFix/>
          </a:blip>
          <a:stretch>
            <a:fillRect/>
          </a:stretch>
        </p:blipFill>
        <p:spPr>
          <a:xfrm>
            <a:off x="3607681" y="2460847"/>
            <a:ext cx="5419005" cy="4303500"/>
          </a:xfrm>
          <a:prstGeom prst="rect">
            <a:avLst/>
          </a:prstGeom>
          <a:noFill/>
          <a:ln>
            <a:noFill/>
          </a:ln>
        </p:spPr>
      </p:pic>
      <p:sp>
        <p:nvSpPr>
          <p:cNvPr id="12" name="Google Shape;360;p31">
            <a:extLst>
              <a:ext uri="{FF2B5EF4-FFF2-40B4-BE49-F238E27FC236}">
                <a16:creationId xmlns:a16="http://schemas.microsoft.com/office/drawing/2014/main" id="{FBA9FAF8-507F-489E-B3FF-EBD7D9FEA39A}"/>
              </a:ext>
            </a:extLst>
          </p:cNvPr>
          <p:cNvSpPr txBox="1">
            <a:spLocks/>
          </p:cNvSpPr>
          <p:nvPr/>
        </p:nvSpPr>
        <p:spPr>
          <a:xfrm>
            <a:off x="722686" y="1161847"/>
            <a:ext cx="10746628" cy="1299000"/>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b="1" dirty="0">
                <a:solidFill>
                  <a:srgbClr val="FF9900"/>
                </a:solidFill>
              </a:rPr>
              <a:t>Virtualización de CPU </a:t>
            </a:r>
          </a:p>
          <a:p>
            <a:pPr marL="0" indent="0">
              <a:buFont typeface="Arial" panose="020B0604020202020204" pitchFamily="34" charset="0"/>
              <a:buNone/>
            </a:pPr>
            <a:r>
              <a:rPr lang="es-MX" sz="2400" dirty="0">
                <a:solidFill>
                  <a:srgbClr val="FF0000"/>
                </a:solidFill>
              </a:rPr>
              <a:t>¿Cómo es que teniendo una sola CPU (en teoría) puedo correr varias tareas a la vez?</a:t>
            </a:r>
          </a:p>
          <a:p>
            <a:pPr marL="0" indent="0">
              <a:buFont typeface="Arial" panose="020B0604020202020204" pitchFamily="34" charset="0"/>
              <a:buNone/>
            </a:pPr>
            <a:endParaRPr lang="es-MX" dirty="0"/>
          </a:p>
          <a:p>
            <a:pPr marL="457200" indent="0">
              <a:buFont typeface="Arial" panose="020B0604020202020204" pitchFamily="34" charset="0"/>
              <a:buNone/>
            </a:pPr>
            <a:endParaRPr lang="es-MX" dirty="0"/>
          </a:p>
        </p:txBody>
      </p:sp>
    </p:spTree>
    <p:extLst>
      <p:ext uri="{BB962C8B-B14F-4D97-AF65-F5344CB8AC3E}">
        <p14:creationId xmlns:p14="http://schemas.microsoft.com/office/powerpoint/2010/main" val="369658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Programa .vs. Proceso</a:t>
            </a:r>
            <a:endParaRPr dirty="0"/>
          </a:p>
        </p:txBody>
      </p:sp>
      <p:sp>
        <p:nvSpPr>
          <p:cNvPr id="11" name="Google Shape;368;p32">
            <a:extLst>
              <a:ext uri="{FF2B5EF4-FFF2-40B4-BE49-F238E27FC236}">
                <a16:creationId xmlns:a16="http://schemas.microsoft.com/office/drawing/2014/main" id="{B298AA17-C483-4A1B-BA69-ED5FDB760061}"/>
              </a:ext>
            </a:extLst>
          </p:cNvPr>
          <p:cNvSpPr txBox="1"/>
          <p:nvPr/>
        </p:nvSpPr>
        <p:spPr>
          <a:xfrm>
            <a:off x="1283145" y="1535525"/>
            <a:ext cx="1915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solidFill>
                  <a:srgbClr val="FF0000"/>
                </a:solidFill>
              </a:rPr>
              <a:t>Programa</a:t>
            </a:r>
            <a:endParaRPr sz="2400">
              <a:solidFill>
                <a:srgbClr val="FF0000"/>
              </a:solidFill>
            </a:endParaRPr>
          </a:p>
        </p:txBody>
      </p:sp>
      <p:sp>
        <p:nvSpPr>
          <p:cNvPr id="12" name="Google Shape;369;p32">
            <a:extLst>
              <a:ext uri="{FF2B5EF4-FFF2-40B4-BE49-F238E27FC236}">
                <a16:creationId xmlns:a16="http://schemas.microsoft.com/office/drawing/2014/main" id="{82F1400E-DA4C-4533-9238-B002B86BD91E}"/>
              </a:ext>
            </a:extLst>
          </p:cNvPr>
          <p:cNvSpPr txBox="1"/>
          <p:nvPr/>
        </p:nvSpPr>
        <p:spPr>
          <a:xfrm>
            <a:off x="7762750" y="1535525"/>
            <a:ext cx="37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2400" b="1">
                <a:solidFill>
                  <a:srgbClr val="0B6937"/>
                </a:solidFill>
              </a:rPr>
              <a:t>Proceso</a:t>
            </a:r>
            <a:endParaRPr sz="2400" b="1">
              <a:solidFill>
                <a:srgbClr val="0B6937"/>
              </a:solidFill>
            </a:endParaRPr>
          </a:p>
        </p:txBody>
      </p:sp>
      <p:pic>
        <p:nvPicPr>
          <p:cNvPr id="13" name="Google Shape;370;p32">
            <a:extLst>
              <a:ext uri="{FF2B5EF4-FFF2-40B4-BE49-F238E27FC236}">
                <a16:creationId xmlns:a16="http://schemas.microsoft.com/office/drawing/2014/main" id="{846C41FA-3F04-47B5-B9FE-B2BF264913F0}"/>
              </a:ext>
            </a:extLst>
          </p:cNvPr>
          <p:cNvPicPr preferRelativeResize="0"/>
          <p:nvPr/>
        </p:nvPicPr>
        <p:blipFill>
          <a:blip r:embed="rId3">
            <a:alphaModFix/>
          </a:blip>
          <a:stretch>
            <a:fillRect/>
          </a:stretch>
        </p:blipFill>
        <p:spPr>
          <a:xfrm>
            <a:off x="1099395" y="2219325"/>
            <a:ext cx="2409825" cy="2419350"/>
          </a:xfrm>
          <a:prstGeom prst="rect">
            <a:avLst/>
          </a:prstGeom>
          <a:noFill/>
          <a:ln>
            <a:noFill/>
          </a:ln>
        </p:spPr>
      </p:pic>
      <p:pic>
        <p:nvPicPr>
          <p:cNvPr id="14" name="Google Shape;371;p32">
            <a:extLst>
              <a:ext uri="{FF2B5EF4-FFF2-40B4-BE49-F238E27FC236}">
                <a16:creationId xmlns:a16="http://schemas.microsoft.com/office/drawing/2014/main" id="{1E1CF0B0-5AD2-4B3D-ACF6-C829F160AFB6}"/>
              </a:ext>
            </a:extLst>
          </p:cNvPr>
          <p:cNvPicPr preferRelativeResize="0"/>
          <p:nvPr/>
        </p:nvPicPr>
        <p:blipFill>
          <a:blip r:embed="rId4">
            <a:alphaModFix/>
          </a:blip>
          <a:stretch>
            <a:fillRect/>
          </a:stretch>
        </p:blipFill>
        <p:spPr>
          <a:xfrm>
            <a:off x="2634545" y="4892538"/>
            <a:ext cx="625398" cy="565525"/>
          </a:xfrm>
          <a:prstGeom prst="rect">
            <a:avLst/>
          </a:prstGeom>
          <a:noFill/>
          <a:ln>
            <a:noFill/>
          </a:ln>
        </p:spPr>
      </p:pic>
      <p:pic>
        <p:nvPicPr>
          <p:cNvPr id="15" name="Google Shape;372;p32">
            <a:extLst>
              <a:ext uri="{FF2B5EF4-FFF2-40B4-BE49-F238E27FC236}">
                <a16:creationId xmlns:a16="http://schemas.microsoft.com/office/drawing/2014/main" id="{2ECDA432-3FF3-4164-932F-8AA56539228F}"/>
              </a:ext>
            </a:extLst>
          </p:cNvPr>
          <p:cNvPicPr preferRelativeResize="0"/>
          <p:nvPr/>
        </p:nvPicPr>
        <p:blipFill>
          <a:blip r:embed="rId5">
            <a:alphaModFix/>
          </a:blip>
          <a:stretch>
            <a:fillRect/>
          </a:stretch>
        </p:blipFill>
        <p:spPr>
          <a:xfrm>
            <a:off x="1622370" y="4892525"/>
            <a:ext cx="533400" cy="565532"/>
          </a:xfrm>
          <a:prstGeom prst="rect">
            <a:avLst/>
          </a:prstGeom>
          <a:noFill/>
          <a:ln>
            <a:noFill/>
          </a:ln>
        </p:spPr>
      </p:pic>
      <p:pic>
        <p:nvPicPr>
          <p:cNvPr id="16" name="Google Shape;373;p32">
            <a:extLst>
              <a:ext uri="{FF2B5EF4-FFF2-40B4-BE49-F238E27FC236}">
                <a16:creationId xmlns:a16="http://schemas.microsoft.com/office/drawing/2014/main" id="{80671E60-10F0-443B-A4AE-5F7241E0E656}"/>
              </a:ext>
            </a:extLst>
          </p:cNvPr>
          <p:cNvPicPr preferRelativeResize="0"/>
          <p:nvPr/>
        </p:nvPicPr>
        <p:blipFill>
          <a:blip r:embed="rId6">
            <a:alphaModFix/>
          </a:blip>
          <a:stretch>
            <a:fillRect/>
          </a:stretch>
        </p:blipFill>
        <p:spPr>
          <a:xfrm>
            <a:off x="8099970" y="2597763"/>
            <a:ext cx="3543300" cy="2409825"/>
          </a:xfrm>
          <a:prstGeom prst="rect">
            <a:avLst/>
          </a:prstGeom>
          <a:noFill/>
          <a:ln>
            <a:noFill/>
          </a:ln>
        </p:spPr>
      </p:pic>
      <p:pic>
        <p:nvPicPr>
          <p:cNvPr id="17" name="Google Shape;374;p32">
            <a:extLst>
              <a:ext uri="{FF2B5EF4-FFF2-40B4-BE49-F238E27FC236}">
                <a16:creationId xmlns:a16="http://schemas.microsoft.com/office/drawing/2014/main" id="{273624A3-4FD0-4D13-AD2F-2EEBB40D0DD4}"/>
              </a:ext>
            </a:extLst>
          </p:cNvPr>
          <p:cNvPicPr preferRelativeResize="0"/>
          <p:nvPr/>
        </p:nvPicPr>
        <p:blipFill>
          <a:blip r:embed="rId7">
            <a:alphaModFix/>
          </a:blip>
          <a:stretch>
            <a:fillRect/>
          </a:stretch>
        </p:blipFill>
        <p:spPr>
          <a:xfrm>
            <a:off x="3332320" y="5458046"/>
            <a:ext cx="726525" cy="733025"/>
          </a:xfrm>
          <a:prstGeom prst="rect">
            <a:avLst/>
          </a:prstGeom>
          <a:noFill/>
          <a:ln>
            <a:noFill/>
          </a:ln>
        </p:spPr>
      </p:pic>
      <p:pic>
        <p:nvPicPr>
          <p:cNvPr id="18" name="Google Shape;375;p32">
            <a:extLst>
              <a:ext uri="{FF2B5EF4-FFF2-40B4-BE49-F238E27FC236}">
                <a16:creationId xmlns:a16="http://schemas.microsoft.com/office/drawing/2014/main" id="{4AF7F8B1-FA1F-40B4-8B14-3DE5B922FB2D}"/>
              </a:ext>
            </a:extLst>
          </p:cNvPr>
          <p:cNvPicPr preferRelativeResize="0"/>
          <p:nvPr/>
        </p:nvPicPr>
        <p:blipFill>
          <a:blip r:embed="rId8">
            <a:alphaModFix/>
          </a:blip>
          <a:stretch>
            <a:fillRect/>
          </a:stretch>
        </p:blipFill>
        <p:spPr>
          <a:xfrm>
            <a:off x="9104983" y="5372538"/>
            <a:ext cx="1084725" cy="879725"/>
          </a:xfrm>
          <a:prstGeom prst="rect">
            <a:avLst/>
          </a:prstGeom>
          <a:noFill/>
          <a:ln>
            <a:noFill/>
          </a:ln>
        </p:spPr>
      </p:pic>
      <p:pic>
        <p:nvPicPr>
          <p:cNvPr id="19" name="Google Shape;376;p32">
            <a:extLst>
              <a:ext uri="{FF2B5EF4-FFF2-40B4-BE49-F238E27FC236}">
                <a16:creationId xmlns:a16="http://schemas.microsoft.com/office/drawing/2014/main" id="{B0892C11-F84C-4E30-9645-00C63A1C0222}"/>
              </a:ext>
            </a:extLst>
          </p:cNvPr>
          <p:cNvPicPr preferRelativeResize="0"/>
          <p:nvPr/>
        </p:nvPicPr>
        <p:blipFill>
          <a:blip r:embed="rId9">
            <a:alphaModFix/>
          </a:blip>
          <a:stretch>
            <a:fillRect/>
          </a:stretch>
        </p:blipFill>
        <p:spPr>
          <a:xfrm>
            <a:off x="4717420" y="5631438"/>
            <a:ext cx="3543300" cy="361950"/>
          </a:xfrm>
          <a:prstGeom prst="rect">
            <a:avLst/>
          </a:prstGeom>
          <a:noFill/>
          <a:ln>
            <a:noFill/>
          </a:ln>
        </p:spPr>
      </p:pic>
    </p:spTree>
    <p:extLst>
      <p:ext uri="{BB962C8B-B14F-4D97-AF65-F5344CB8AC3E}">
        <p14:creationId xmlns:p14="http://schemas.microsoft.com/office/powerpoint/2010/main" val="1147788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Programa. vs. proceso</a:t>
            </a:r>
            <a:endParaRPr dirty="0"/>
          </a:p>
        </p:txBody>
      </p:sp>
      <p:pic>
        <p:nvPicPr>
          <p:cNvPr id="3" name="Google Shape;383;p33">
            <a:extLst>
              <a:ext uri="{FF2B5EF4-FFF2-40B4-BE49-F238E27FC236}">
                <a16:creationId xmlns:a16="http://schemas.microsoft.com/office/drawing/2014/main" id="{ED81858A-2947-4E68-96C1-6B572F5F466A}"/>
              </a:ext>
            </a:extLst>
          </p:cNvPr>
          <p:cNvPicPr preferRelativeResize="0"/>
          <p:nvPr/>
        </p:nvPicPr>
        <p:blipFill>
          <a:blip r:embed="rId3">
            <a:alphaModFix/>
          </a:blip>
          <a:stretch>
            <a:fillRect/>
          </a:stretch>
        </p:blipFill>
        <p:spPr>
          <a:xfrm>
            <a:off x="10002607" y="1059804"/>
            <a:ext cx="1001045" cy="1444536"/>
          </a:xfrm>
          <a:prstGeom prst="rect">
            <a:avLst/>
          </a:prstGeom>
          <a:noFill/>
          <a:ln>
            <a:noFill/>
          </a:ln>
        </p:spPr>
      </p:pic>
      <p:grpSp>
        <p:nvGrpSpPr>
          <p:cNvPr id="4" name="Google Shape;384;p33">
            <a:extLst>
              <a:ext uri="{FF2B5EF4-FFF2-40B4-BE49-F238E27FC236}">
                <a16:creationId xmlns:a16="http://schemas.microsoft.com/office/drawing/2014/main" id="{262AB248-BD9F-4DF7-A212-359FDC637F8C}"/>
              </a:ext>
            </a:extLst>
          </p:cNvPr>
          <p:cNvGrpSpPr/>
          <p:nvPr/>
        </p:nvGrpSpPr>
        <p:grpSpPr>
          <a:xfrm>
            <a:off x="7283965" y="644427"/>
            <a:ext cx="2595827" cy="2527604"/>
            <a:chOff x="7105058" y="2798800"/>
            <a:chExt cx="3632892" cy="3017775"/>
          </a:xfrm>
        </p:grpSpPr>
        <p:pic>
          <p:nvPicPr>
            <p:cNvPr id="5" name="Google Shape;385;p33">
              <a:extLst>
                <a:ext uri="{FF2B5EF4-FFF2-40B4-BE49-F238E27FC236}">
                  <a16:creationId xmlns:a16="http://schemas.microsoft.com/office/drawing/2014/main" id="{2905952B-84F4-47E2-9640-E0221338D2C3}"/>
                </a:ext>
              </a:extLst>
            </p:cNvPr>
            <p:cNvPicPr preferRelativeResize="0"/>
            <p:nvPr/>
          </p:nvPicPr>
          <p:blipFill>
            <a:blip r:embed="rId4">
              <a:alphaModFix/>
            </a:blip>
            <a:stretch>
              <a:fillRect/>
            </a:stretch>
          </p:blipFill>
          <p:spPr>
            <a:xfrm>
              <a:off x="7105058" y="2798800"/>
              <a:ext cx="3632892" cy="3017775"/>
            </a:xfrm>
            <a:prstGeom prst="rect">
              <a:avLst/>
            </a:prstGeom>
            <a:noFill/>
            <a:ln>
              <a:noFill/>
            </a:ln>
          </p:spPr>
        </p:pic>
        <p:grpSp>
          <p:nvGrpSpPr>
            <p:cNvPr id="6" name="Google Shape;386;p33">
              <a:extLst>
                <a:ext uri="{FF2B5EF4-FFF2-40B4-BE49-F238E27FC236}">
                  <a16:creationId xmlns:a16="http://schemas.microsoft.com/office/drawing/2014/main" id="{661E5AF3-C147-4E53-8FBA-F00C8B731AC4}"/>
                </a:ext>
              </a:extLst>
            </p:cNvPr>
            <p:cNvGrpSpPr/>
            <p:nvPr/>
          </p:nvGrpSpPr>
          <p:grpSpPr>
            <a:xfrm>
              <a:off x="7884925" y="4237125"/>
              <a:ext cx="1553700" cy="949500"/>
              <a:chOff x="7884925" y="4237125"/>
              <a:chExt cx="1553700" cy="949500"/>
            </a:xfrm>
          </p:grpSpPr>
          <p:sp>
            <p:nvSpPr>
              <p:cNvPr id="7" name="Google Shape;387;p33">
                <a:extLst>
                  <a:ext uri="{FF2B5EF4-FFF2-40B4-BE49-F238E27FC236}">
                    <a16:creationId xmlns:a16="http://schemas.microsoft.com/office/drawing/2014/main" id="{C4F370F4-0F37-4AEE-A401-7353A4FDD3B2}"/>
                  </a:ext>
                </a:extLst>
              </p:cNvPr>
              <p:cNvSpPr/>
              <p:nvPr/>
            </p:nvSpPr>
            <p:spPr>
              <a:xfrm>
                <a:off x="7884925" y="4237125"/>
                <a:ext cx="1553700" cy="949500"/>
              </a:xfrm>
              <a:prstGeom prst="foldedCorner">
                <a:avLst>
                  <a:gd name="adj" fmla="val 16667"/>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88;p33">
                <a:extLst>
                  <a:ext uri="{FF2B5EF4-FFF2-40B4-BE49-F238E27FC236}">
                    <a16:creationId xmlns:a16="http://schemas.microsoft.com/office/drawing/2014/main" id="{C3D192B3-016D-4977-8AFD-2FB98C907E9D}"/>
                  </a:ext>
                </a:extLst>
              </p:cNvPr>
              <p:cNvSpPr/>
              <p:nvPr/>
            </p:nvSpPr>
            <p:spPr>
              <a:xfrm>
                <a:off x="8059050" y="4335075"/>
                <a:ext cx="1161600" cy="3081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dirty="0"/>
                  <a:t>Code</a:t>
                </a:r>
                <a:endParaRPr dirty="0"/>
              </a:p>
            </p:txBody>
          </p:sp>
          <p:sp>
            <p:nvSpPr>
              <p:cNvPr id="9" name="Google Shape;389;p33">
                <a:extLst>
                  <a:ext uri="{FF2B5EF4-FFF2-40B4-BE49-F238E27FC236}">
                    <a16:creationId xmlns:a16="http://schemas.microsoft.com/office/drawing/2014/main" id="{46A71541-529D-403A-8204-3566CDEBA5F8}"/>
                  </a:ext>
                </a:extLst>
              </p:cNvPr>
              <p:cNvSpPr/>
              <p:nvPr/>
            </p:nvSpPr>
            <p:spPr>
              <a:xfrm>
                <a:off x="8061050" y="4711300"/>
                <a:ext cx="1161600" cy="308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ES"/>
                  <a:t>Data</a:t>
                </a:r>
                <a:endParaRPr/>
              </a:p>
            </p:txBody>
          </p:sp>
        </p:grpSp>
      </p:grpSp>
      <p:pic>
        <p:nvPicPr>
          <p:cNvPr id="11" name="Google Shape;396;p34">
            <a:extLst>
              <a:ext uri="{FF2B5EF4-FFF2-40B4-BE49-F238E27FC236}">
                <a16:creationId xmlns:a16="http://schemas.microsoft.com/office/drawing/2014/main" id="{6138591C-2D86-4857-81D5-800004FF847C}"/>
              </a:ext>
            </a:extLst>
          </p:cNvPr>
          <p:cNvPicPr preferRelativeResize="0"/>
          <p:nvPr/>
        </p:nvPicPr>
        <p:blipFill>
          <a:blip r:embed="rId5">
            <a:alphaModFix/>
          </a:blip>
          <a:stretch>
            <a:fillRect/>
          </a:stretch>
        </p:blipFill>
        <p:spPr>
          <a:xfrm>
            <a:off x="4646416" y="1235872"/>
            <a:ext cx="1275435" cy="912287"/>
          </a:xfrm>
          <a:prstGeom prst="rect">
            <a:avLst/>
          </a:prstGeom>
          <a:noFill/>
          <a:ln>
            <a:noFill/>
          </a:ln>
        </p:spPr>
      </p:pic>
      <p:pic>
        <p:nvPicPr>
          <p:cNvPr id="12" name="Google Shape;399;p34">
            <a:extLst>
              <a:ext uri="{FF2B5EF4-FFF2-40B4-BE49-F238E27FC236}">
                <a16:creationId xmlns:a16="http://schemas.microsoft.com/office/drawing/2014/main" id="{F7DFA442-1243-4BA4-BCE9-276186E8D878}"/>
              </a:ext>
            </a:extLst>
          </p:cNvPr>
          <p:cNvPicPr preferRelativeResize="0"/>
          <p:nvPr/>
        </p:nvPicPr>
        <p:blipFill>
          <a:blip r:embed="rId6">
            <a:alphaModFix/>
          </a:blip>
          <a:stretch>
            <a:fillRect/>
          </a:stretch>
        </p:blipFill>
        <p:spPr>
          <a:xfrm>
            <a:off x="1760249" y="1243254"/>
            <a:ext cx="1275435" cy="912286"/>
          </a:xfrm>
          <a:prstGeom prst="rect">
            <a:avLst/>
          </a:prstGeom>
          <a:noFill/>
          <a:ln>
            <a:noFill/>
          </a:ln>
        </p:spPr>
      </p:pic>
      <p:pic>
        <p:nvPicPr>
          <p:cNvPr id="13" name="Google Shape;400;p34">
            <a:extLst>
              <a:ext uri="{FF2B5EF4-FFF2-40B4-BE49-F238E27FC236}">
                <a16:creationId xmlns:a16="http://schemas.microsoft.com/office/drawing/2014/main" id="{6222702B-81B6-41AA-AB4B-3A973BFD6C0A}"/>
              </a:ext>
            </a:extLst>
          </p:cNvPr>
          <p:cNvPicPr preferRelativeResize="0"/>
          <p:nvPr/>
        </p:nvPicPr>
        <p:blipFill>
          <a:blip r:embed="rId7">
            <a:alphaModFix/>
          </a:blip>
          <a:stretch>
            <a:fillRect/>
          </a:stretch>
        </p:blipFill>
        <p:spPr>
          <a:xfrm>
            <a:off x="2104865" y="2177644"/>
            <a:ext cx="711420" cy="578640"/>
          </a:xfrm>
          <a:prstGeom prst="rect">
            <a:avLst/>
          </a:prstGeom>
          <a:noFill/>
          <a:ln>
            <a:noFill/>
          </a:ln>
        </p:spPr>
      </p:pic>
      <p:pic>
        <p:nvPicPr>
          <p:cNvPr id="14" name="Google Shape;401;p34">
            <a:extLst>
              <a:ext uri="{FF2B5EF4-FFF2-40B4-BE49-F238E27FC236}">
                <a16:creationId xmlns:a16="http://schemas.microsoft.com/office/drawing/2014/main" id="{00E46F4C-D807-45A3-9249-5B06E4DF8AFE}"/>
              </a:ext>
            </a:extLst>
          </p:cNvPr>
          <p:cNvPicPr preferRelativeResize="0"/>
          <p:nvPr/>
        </p:nvPicPr>
        <p:blipFill>
          <a:blip r:embed="rId7">
            <a:alphaModFix/>
          </a:blip>
          <a:stretch>
            <a:fillRect/>
          </a:stretch>
        </p:blipFill>
        <p:spPr>
          <a:xfrm>
            <a:off x="4928424" y="2147702"/>
            <a:ext cx="711420" cy="578640"/>
          </a:xfrm>
          <a:prstGeom prst="rect">
            <a:avLst/>
          </a:prstGeom>
          <a:noFill/>
          <a:ln>
            <a:noFill/>
          </a:ln>
        </p:spPr>
      </p:pic>
      <p:pic>
        <p:nvPicPr>
          <p:cNvPr id="16" name="Google Shape;349;p30">
            <a:extLst>
              <a:ext uri="{FF2B5EF4-FFF2-40B4-BE49-F238E27FC236}">
                <a16:creationId xmlns:a16="http://schemas.microsoft.com/office/drawing/2014/main" id="{2F3CB0D0-465A-43A1-97E7-727A367D820B}"/>
              </a:ext>
            </a:extLst>
          </p:cNvPr>
          <p:cNvPicPr preferRelativeResize="0"/>
          <p:nvPr/>
        </p:nvPicPr>
        <p:blipFill>
          <a:blip r:embed="rId8">
            <a:alphaModFix/>
          </a:blip>
          <a:stretch>
            <a:fillRect/>
          </a:stretch>
        </p:blipFill>
        <p:spPr>
          <a:xfrm>
            <a:off x="3511173" y="2950249"/>
            <a:ext cx="687975" cy="687975"/>
          </a:xfrm>
          <a:prstGeom prst="rect">
            <a:avLst/>
          </a:prstGeom>
          <a:noFill/>
          <a:ln>
            <a:noFill/>
          </a:ln>
        </p:spPr>
      </p:pic>
      <p:cxnSp>
        <p:nvCxnSpPr>
          <p:cNvPr id="17" name="Google Shape;350;p30">
            <a:extLst>
              <a:ext uri="{FF2B5EF4-FFF2-40B4-BE49-F238E27FC236}">
                <a16:creationId xmlns:a16="http://schemas.microsoft.com/office/drawing/2014/main" id="{7211F6C6-9404-4A5A-9E60-7EAD1D38C3DC}"/>
              </a:ext>
            </a:extLst>
          </p:cNvPr>
          <p:cNvCxnSpPr>
            <a:cxnSpLocks/>
          </p:cNvCxnSpPr>
          <p:nvPr/>
        </p:nvCxnSpPr>
        <p:spPr>
          <a:xfrm>
            <a:off x="2087672" y="2864218"/>
            <a:ext cx="3534979" cy="0"/>
          </a:xfrm>
          <a:prstGeom prst="straightConnector1">
            <a:avLst/>
          </a:prstGeom>
          <a:noFill/>
          <a:ln w="38100" cap="flat" cmpd="sng">
            <a:solidFill>
              <a:srgbClr val="FF9900"/>
            </a:solidFill>
            <a:prstDash val="solid"/>
            <a:round/>
            <a:headEnd type="none" w="med" len="med"/>
            <a:tailEnd type="none" w="med" len="med"/>
          </a:ln>
        </p:spPr>
      </p:cxnSp>
      <p:pic>
        <p:nvPicPr>
          <p:cNvPr id="18" name="Google Shape;485;p40">
            <a:extLst>
              <a:ext uri="{FF2B5EF4-FFF2-40B4-BE49-F238E27FC236}">
                <a16:creationId xmlns:a16="http://schemas.microsoft.com/office/drawing/2014/main" id="{7B9AB86B-AD42-41BA-B41E-8626EE8CD3A9}"/>
              </a:ext>
            </a:extLst>
          </p:cNvPr>
          <p:cNvPicPr preferRelativeResize="0"/>
          <p:nvPr/>
        </p:nvPicPr>
        <p:blipFill>
          <a:blip r:embed="rId9">
            <a:alphaModFix/>
          </a:blip>
          <a:stretch>
            <a:fillRect/>
          </a:stretch>
        </p:blipFill>
        <p:spPr>
          <a:xfrm>
            <a:off x="3312330" y="3814398"/>
            <a:ext cx="4708713" cy="2639263"/>
          </a:xfrm>
          <a:prstGeom prst="rect">
            <a:avLst/>
          </a:prstGeom>
          <a:noFill/>
          <a:ln>
            <a:noFill/>
          </a:ln>
        </p:spPr>
      </p:pic>
    </p:spTree>
    <p:extLst>
      <p:ext uri="{BB962C8B-B14F-4D97-AF65-F5344CB8AC3E}">
        <p14:creationId xmlns:p14="http://schemas.microsoft.com/office/powerpoint/2010/main" val="3730054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Proceso: Abstracción</a:t>
            </a:r>
            <a:endParaRPr dirty="0"/>
          </a:p>
        </p:txBody>
      </p:sp>
      <p:pic>
        <p:nvPicPr>
          <p:cNvPr id="4" name="Google Shape;414;p36">
            <a:extLst>
              <a:ext uri="{FF2B5EF4-FFF2-40B4-BE49-F238E27FC236}">
                <a16:creationId xmlns:a16="http://schemas.microsoft.com/office/drawing/2014/main" id="{EF16DF98-A379-4061-867F-CF0C31F8C7EE}"/>
              </a:ext>
            </a:extLst>
          </p:cNvPr>
          <p:cNvPicPr preferRelativeResize="0"/>
          <p:nvPr/>
        </p:nvPicPr>
        <p:blipFill>
          <a:blip r:embed="rId3">
            <a:alphaModFix/>
          </a:blip>
          <a:stretch>
            <a:fillRect/>
          </a:stretch>
        </p:blipFill>
        <p:spPr>
          <a:xfrm>
            <a:off x="1805137" y="1253919"/>
            <a:ext cx="1940759" cy="1574025"/>
          </a:xfrm>
          <a:prstGeom prst="rect">
            <a:avLst/>
          </a:prstGeom>
          <a:noFill/>
          <a:ln>
            <a:noFill/>
          </a:ln>
        </p:spPr>
      </p:pic>
      <p:grpSp>
        <p:nvGrpSpPr>
          <p:cNvPr id="5" name="Google Shape;415;p36">
            <a:extLst>
              <a:ext uri="{FF2B5EF4-FFF2-40B4-BE49-F238E27FC236}">
                <a16:creationId xmlns:a16="http://schemas.microsoft.com/office/drawing/2014/main" id="{B318C87C-616C-4755-8961-034BEE1C4943}"/>
              </a:ext>
            </a:extLst>
          </p:cNvPr>
          <p:cNvGrpSpPr/>
          <p:nvPr/>
        </p:nvGrpSpPr>
        <p:grpSpPr>
          <a:xfrm>
            <a:off x="5896000" y="1239044"/>
            <a:ext cx="4549500" cy="4393500"/>
            <a:chOff x="5458950" y="1790200"/>
            <a:chExt cx="4549500" cy="4393500"/>
          </a:xfrm>
        </p:grpSpPr>
        <p:sp>
          <p:nvSpPr>
            <p:cNvPr id="6" name="Google Shape;416;p36">
              <a:extLst>
                <a:ext uri="{FF2B5EF4-FFF2-40B4-BE49-F238E27FC236}">
                  <a16:creationId xmlns:a16="http://schemas.microsoft.com/office/drawing/2014/main" id="{848D0F09-BDAD-4517-A4CA-8EC5295AE65D}"/>
                </a:ext>
              </a:extLst>
            </p:cNvPr>
            <p:cNvSpPr/>
            <p:nvPr/>
          </p:nvSpPr>
          <p:spPr>
            <a:xfrm>
              <a:off x="5458950" y="1790200"/>
              <a:ext cx="4549500" cy="4393500"/>
            </a:xfrm>
            <a:prstGeom prst="ellipse">
              <a:avLst/>
            </a:prstGeom>
            <a:solidFill>
              <a:srgbClr val="000000">
                <a:alpha val="0"/>
              </a:srgbClr>
            </a:solidFill>
            <a:ln w="2857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417;p36">
              <a:extLst>
                <a:ext uri="{FF2B5EF4-FFF2-40B4-BE49-F238E27FC236}">
                  <a16:creationId xmlns:a16="http://schemas.microsoft.com/office/drawing/2014/main" id="{D57D7915-98C8-4EA7-B0F9-729FD9E32433}"/>
                </a:ext>
              </a:extLst>
            </p:cNvPr>
            <p:cNvGrpSpPr/>
            <p:nvPr/>
          </p:nvGrpSpPr>
          <p:grpSpPr>
            <a:xfrm>
              <a:off x="5922575" y="2608725"/>
              <a:ext cx="1518300" cy="2104675"/>
              <a:chOff x="6011800" y="2642175"/>
              <a:chExt cx="1518300" cy="2104675"/>
            </a:xfrm>
          </p:grpSpPr>
          <p:sp>
            <p:nvSpPr>
              <p:cNvPr id="20" name="Google Shape;418;p36">
                <a:extLst>
                  <a:ext uri="{FF2B5EF4-FFF2-40B4-BE49-F238E27FC236}">
                    <a16:creationId xmlns:a16="http://schemas.microsoft.com/office/drawing/2014/main" id="{3554D3AB-1A3D-488A-9958-6E8C25EEDC6F}"/>
                  </a:ext>
                </a:extLst>
              </p:cNvPr>
              <p:cNvSpPr txBox="1"/>
              <p:nvPr/>
            </p:nvSpPr>
            <p:spPr>
              <a:xfrm>
                <a:off x="6295300" y="264217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CPU</a:t>
                </a:r>
                <a:endParaRPr sz="1600" b="1">
                  <a:latin typeface="Courier New"/>
                  <a:ea typeface="Courier New"/>
                  <a:cs typeface="Courier New"/>
                  <a:sym typeface="Courier New"/>
                </a:endParaRPr>
              </a:p>
            </p:txBody>
          </p:sp>
          <p:grpSp>
            <p:nvGrpSpPr>
              <p:cNvPr id="21" name="Google Shape;419;p36">
                <a:extLst>
                  <a:ext uri="{FF2B5EF4-FFF2-40B4-BE49-F238E27FC236}">
                    <a16:creationId xmlns:a16="http://schemas.microsoft.com/office/drawing/2014/main" id="{A3A55228-2DAB-440E-A40D-17FE22D8553C}"/>
                  </a:ext>
                </a:extLst>
              </p:cNvPr>
              <p:cNvGrpSpPr/>
              <p:nvPr/>
            </p:nvGrpSpPr>
            <p:grpSpPr>
              <a:xfrm>
                <a:off x="6011800" y="3042363"/>
                <a:ext cx="1488000" cy="1401900"/>
                <a:chOff x="6011800" y="3042363"/>
                <a:chExt cx="1488000" cy="1401900"/>
              </a:xfrm>
            </p:grpSpPr>
            <p:sp>
              <p:nvSpPr>
                <p:cNvPr id="23" name="Google Shape;420;p36">
                  <a:extLst>
                    <a:ext uri="{FF2B5EF4-FFF2-40B4-BE49-F238E27FC236}">
                      <a16:creationId xmlns:a16="http://schemas.microsoft.com/office/drawing/2014/main" id="{A8A3D515-B37C-4001-977F-470339D48CA5}"/>
                    </a:ext>
                  </a:extLst>
                </p:cNvPr>
                <p:cNvSpPr/>
                <p:nvPr/>
              </p:nvSpPr>
              <p:spPr>
                <a:xfrm>
                  <a:off x="6161500" y="3042363"/>
                  <a:ext cx="1338300" cy="1401900"/>
                </a:xfrm>
                <a:prstGeom prst="rect">
                  <a:avLst/>
                </a:prstGeom>
                <a:solidFill>
                  <a:srgbClr val="FFE5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421;p36">
                  <a:extLst>
                    <a:ext uri="{FF2B5EF4-FFF2-40B4-BE49-F238E27FC236}">
                      <a16:creationId xmlns:a16="http://schemas.microsoft.com/office/drawing/2014/main" id="{B2C807A8-2BD0-4A4C-BE3F-DD2FDF7337EB}"/>
                    </a:ext>
                  </a:extLst>
                </p:cNvPr>
                <p:cNvGrpSpPr/>
                <p:nvPr/>
              </p:nvGrpSpPr>
              <p:grpSpPr>
                <a:xfrm>
                  <a:off x="6011800" y="3096950"/>
                  <a:ext cx="1298325" cy="461635"/>
                  <a:chOff x="6011800" y="3096950"/>
                  <a:chExt cx="1298325" cy="461635"/>
                </a:xfrm>
              </p:grpSpPr>
              <p:sp>
                <p:nvSpPr>
                  <p:cNvPr id="29" name="Google Shape;422;p36">
                    <a:extLst>
                      <a:ext uri="{FF2B5EF4-FFF2-40B4-BE49-F238E27FC236}">
                        <a16:creationId xmlns:a16="http://schemas.microsoft.com/office/drawing/2014/main" id="{E417B36E-39F8-4E80-B4FA-71777F98B6DD}"/>
                      </a:ext>
                    </a:extLst>
                  </p:cNvPr>
                  <p:cNvSpPr/>
                  <p:nvPr/>
                </p:nvSpPr>
                <p:spPr>
                  <a:xfrm>
                    <a:off x="6618625" y="3212150"/>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23;p36">
                    <a:extLst>
                      <a:ext uri="{FF2B5EF4-FFF2-40B4-BE49-F238E27FC236}">
                        <a16:creationId xmlns:a16="http://schemas.microsoft.com/office/drawing/2014/main" id="{6A954445-9C1A-42EC-90F9-EB1F06CE4EA9}"/>
                      </a:ext>
                    </a:extLst>
                  </p:cNvPr>
                  <p:cNvSpPr txBox="1"/>
                  <p:nvPr/>
                </p:nvSpPr>
                <p:spPr>
                  <a:xfrm>
                    <a:off x="6011800" y="3096950"/>
                    <a:ext cx="629250" cy="461635"/>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b="1">
                        <a:latin typeface="Courier New"/>
                        <a:ea typeface="Courier New"/>
                        <a:cs typeface="Courier New"/>
                        <a:sym typeface="Courier New"/>
                      </a:rPr>
                      <a:t>PC</a:t>
                    </a:r>
                    <a:endParaRPr b="1">
                      <a:latin typeface="Courier New"/>
                      <a:ea typeface="Courier New"/>
                      <a:cs typeface="Courier New"/>
                      <a:sym typeface="Courier New"/>
                    </a:endParaRPr>
                  </a:p>
                </p:txBody>
              </p:sp>
            </p:grpSp>
            <p:grpSp>
              <p:nvGrpSpPr>
                <p:cNvPr id="25" name="Google Shape;424;p36">
                  <a:extLst>
                    <a:ext uri="{FF2B5EF4-FFF2-40B4-BE49-F238E27FC236}">
                      <a16:creationId xmlns:a16="http://schemas.microsoft.com/office/drawing/2014/main" id="{A7298E64-397C-4701-8B81-6400C9D60353}"/>
                    </a:ext>
                  </a:extLst>
                </p:cNvPr>
                <p:cNvGrpSpPr/>
                <p:nvPr/>
              </p:nvGrpSpPr>
              <p:grpSpPr>
                <a:xfrm>
                  <a:off x="6034900" y="3412550"/>
                  <a:ext cx="1275225" cy="461635"/>
                  <a:chOff x="6034900" y="3412550"/>
                  <a:chExt cx="1275225" cy="461635"/>
                </a:xfrm>
              </p:grpSpPr>
              <p:sp>
                <p:nvSpPr>
                  <p:cNvPr id="27" name="Google Shape;425;p36">
                    <a:extLst>
                      <a:ext uri="{FF2B5EF4-FFF2-40B4-BE49-F238E27FC236}">
                        <a16:creationId xmlns:a16="http://schemas.microsoft.com/office/drawing/2014/main" id="{7CE908D1-43A6-47CC-8EB8-B9116934D68B}"/>
                      </a:ext>
                    </a:extLst>
                  </p:cNvPr>
                  <p:cNvSpPr txBox="1"/>
                  <p:nvPr/>
                </p:nvSpPr>
                <p:spPr>
                  <a:xfrm>
                    <a:off x="6034900" y="3412550"/>
                    <a:ext cx="606150" cy="461635"/>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s-ES" b="1" dirty="0">
                        <a:latin typeface="Courier New"/>
                        <a:ea typeface="Courier New"/>
                        <a:cs typeface="Courier New"/>
                        <a:sym typeface="Courier New"/>
                      </a:rPr>
                      <a:t>SP</a:t>
                    </a:r>
                    <a:endParaRPr b="1" dirty="0">
                      <a:latin typeface="Courier New"/>
                      <a:ea typeface="Courier New"/>
                      <a:cs typeface="Courier New"/>
                      <a:sym typeface="Courier New"/>
                    </a:endParaRPr>
                  </a:p>
                </p:txBody>
              </p:sp>
              <p:sp>
                <p:nvSpPr>
                  <p:cNvPr id="28" name="Google Shape;426;p36">
                    <a:extLst>
                      <a:ext uri="{FF2B5EF4-FFF2-40B4-BE49-F238E27FC236}">
                        <a16:creationId xmlns:a16="http://schemas.microsoft.com/office/drawing/2014/main" id="{0635EC95-625A-4997-82EB-435487E2587E}"/>
                      </a:ext>
                    </a:extLst>
                  </p:cNvPr>
                  <p:cNvSpPr/>
                  <p:nvPr/>
                </p:nvSpPr>
                <p:spPr>
                  <a:xfrm>
                    <a:off x="6618625" y="3520825"/>
                    <a:ext cx="691500" cy="200400"/>
                  </a:xfrm>
                  <a:prstGeom prst="rect">
                    <a:avLst/>
                  </a:prstGeom>
                  <a:solidFill>
                    <a:srgbClr val="EA9999"/>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427;p36">
                  <a:extLst>
                    <a:ext uri="{FF2B5EF4-FFF2-40B4-BE49-F238E27FC236}">
                      <a16:creationId xmlns:a16="http://schemas.microsoft.com/office/drawing/2014/main" id="{29DC0EB0-E975-4F0E-8BCC-10CA9027191E}"/>
                    </a:ext>
                  </a:extLst>
                </p:cNvPr>
                <p:cNvSpPr txBox="1"/>
                <p:nvPr/>
              </p:nvSpPr>
              <p:spPr>
                <a:xfrm>
                  <a:off x="6566050" y="3744900"/>
                  <a:ext cx="529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a:latin typeface="Courier New"/>
                      <a:ea typeface="Courier New"/>
                      <a:cs typeface="Courier New"/>
                      <a:sym typeface="Courier New"/>
                    </a:rPr>
                    <a:t>...</a:t>
                  </a:r>
                  <a:endParaRPr b="1">
                    <a:latin typeface="Courier New"/>
                    <a:ea typeface="Courier New"/>
                    <a:cs typeface="Courier New"/>
                    <a:sym typeface="Courier New"/>
                  </a:endParaRPr>
                </a:p>
              </p:txBody>
            </p:sp>
          </p:grpSp>
          <p:sp>
            <p:nvSpPr>
              <p:cNvPr id="22" name="Google Shape;428;p36">
                <a:extLst>
                  <a:ext uri="{FF2B5EF4-FFF2-40B4-BE49-F238E27FC236}">
                    <a16:creationId xmlns:a16="http://schemas.microsoft.com/office/drawing/2014/main" id="{DCADB482-F440-44D7-AD4C-8C5DDEDBF522}"/>
                  </a:ext>
                </a:extLst>
              </p:cNvPr>
              <p:cNvSpPr txBox="1"/>
              <p:nvPr/>
            </p:nvSpPr>
            <p:spPr>
              <a:xfrm>
                <a:off x="6161500" y="4392850"/>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Registros</a:t>
                </a:r>
                <a:endParaRPr sz="1100" b="1">
                  <a:solidFill>
                    <a:srgbClr val="FF0000"/>
                  </a:solidFill>
                  <a:latin typeface="Courier New"/>
                  <a:ea typeface="Courier New"/>
                  <a:cs typeface="Courier New"/>
                  <a:sym typeface="Courier New"/>
                </a:endParaRPr>
              </a:p>
            </p:txBody>
          </p:sp>
        </p:grpSp>
        <p:sp>
          <p:nvSpPr>
            <p:cNvPr id="8" name="Google Shape;429;p36">
              <a:extLst>
                <a:ext uri="{FF2B5EF4-FFF2-40B4-BE49-F238E27FC236}">
                  <a16:creationId xmlns:a16="http://schemas.microsoft.com/office/drawing/2014/main" id="{33B69E90-E4CB-4BDA-A3E3-9F94577091E8}"/>
                </a:ext>
              </a:extLst>
            </p:cNvPr>
            <p:cNvSpPr/>
            <p:nvPr/>
          </p:nvSpPr>
          <p:spPr>
            <a:xfrm>
              <a:off x="7948250" y="2813125"/>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430;p36">
              <a:extLst>
                <a:ext uri="{FF2B5EF4-FFF2-40B4-BE49-F238E27FC236}">
                  <a16:creationId xmlns:a16="http://schemas.microsoft.com/office/drawing/2014/main" id="{C3EF860A-A512-4A83-A226-10E738DD3335}"/>
                </a:ext>
              </a:extLst>
            </p:cNvPr>
            <p:cNvGrpSpPr/>
            <p:nvPr/>
          </p:nvGrpSpPr>
          <p:grpSpPr>
            <a:xfrm>
              <a:off x="7805450" y="2441425"/>
              <a:ext cx="1368600" cy="2457250"/>
              <a:chOff x="7805450" y="2441425"/>
              <a:chExt cx="1368600" cy="2457250"/>
            </a:xfrm>
          </p:grpSpPr>
          <p:grpSp>
            <p:nvGrpSpPr>
              <p:cNvPr id="11" name="Google Shape;431;p36">
                <a:extLst>
                  <a:ext uri="{FF2B5EF4-FFF2-40B4-BE49-F238E27FC236}">
                    <a16:creationId xmlns:a16="http://schemas.microsoft.com/office/drawing/2014/main" id="{7864A725-A315-4354-BD74-CBEA55575BA0}"/>
                  </a:ext>
                </a:extLst>
              </p:cNvPr>
              <p:cNvGrpSpPr/>
              <p:nvPr/>
            </p:nvGrpSpPr>
            <p:grpSpPr>
              <a:xfrm>
                <a:off x="7948250" y="2813125"/>
                <a:ext cx="1076100" cy="1739675"/>
                <a:chOff x="7948250" y="2813125"/>
                <a:chExt cx="1076100" cy="1739675"/>
              </a:xfrm>
            </p:grpSpPr>
            <p:sp>
              <p:nvSpPr>
                <p:cNvPr id="14" name="Google Shape;432;p36">
                  <a:extLst>
                    <a:ext uri="{FF2B5EF4-FFF2-40B4-BE49-F238E27FC236}">
                      <a16:creationId xmlns:a16="http://schemas.microsoft.com/office/drawing/2014/main" id="{A0AF8BE9-28B5-4C49-B766-E5D189643848}"/>
                    </a:ext>
                  </a:extLst>
                </p:cNvPr>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15" name="Google Shape;433;p36">
                  <a:extLst>
                    <a:ext uri="{FF2B5EF4-FFF2-40B4-BE49-F238E27FC236}">
                      <a16:creationId xmlns:a16="http://schemas.microsoft.com/office/drawing/2014/main" id="{628A5C30-DCC6-427F-A089-D33769344DF7}"/>
                    </a:ext>
                  </a:extLst>
                </p:cNvPr>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16" name="Google Shape;434;p36">
                  <a:extLst>
                    <a:ext uri="{FF2B5EF4-FFF2-40B4-BE49-F238E27FC236}">
                      <a16:creationId xmlns:a16="http://schemas.microsoft.com/office/drawing/2014/main" id="{4F25807F-F4AB-416B-9D6D-71C566305338}"/>
                    </a:ext>
                  </a:extLst>
                </p:cNvPr>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heap</a:t>
                  </a:r>
                  <a:endParaRPr/>
                </a:p>
              </p:txBody>
            </p:sp>
            <p:sp>
              <p:nvSpPr>
                <p:cNvPr id="17" name="Google Shape;435;p36">
                  <a:extLst>
                    <a:ext uri="{FF2B5EF4-FFF2-40B4-BE49-F238E27FC236}">
                      <a16:creationId xmlns:a16="http://schemas.microsoft.com/office/drawing/2014/main" id="{B9F8F989-EBF0-4375-B81D-40A01887ACC6}"/>
                    </a:ext>
                  </a:extLst>
                </p:cNvPr>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stack</a:t>
                  </a:r>
                  <a:endParaRPr/>
                </a:p>
              </p:txBody>
            </p:sp>
            <p:cxnSp>
              <p:nvCxnSpPr>
                <p:cNvPr id="18" name="Google Shape;436;p36">
                  <a:extLst>
                    <a:ext uri="{FF2B5EF4-FFF2-40B4-BE49-F238E27FC236}">
                      <a16:creationId xmlns:a16="http://schemas.microsoft.com/office/drawing/2014/main" id="{66009678-0D48-4339-B092-D5109966CC17}"/>
                    </a:ext>
                  </a:extLst>
                </p:cNvPr>
                <p:cNvCxnSpPr>
                  <a:stCxn id="16"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19" name="Google Shape;437;p36">
                  <a:extLst>
                    <a:ext uri="{FF2B5EF4-FFF2-40B4-BE49-F238E27FC236}">
                      <a16:creationId xmlns:a16="http://schemas.microsoft.com/office/drawing/2014/main" id="{40430746-1600-40A6-A152-0ADD2E1A9BD7}"/>
                    </a:ext>
                  </a:extLst>
                </p:cNvPr>
                <p:cNvCxnSpPr>
                  <a:stCxn id="17"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sp>
            <p:nvSpPr>
              <p:cNvPr id="12" name="Google Shape;438;p36">
                <a:extLst>
                  <a:ext uri="{FF2B5EF4-FFF2-40B4-BE49-F238E27FC236}">
                    <a16:creationId xmlns:a16="http://schemas.microsoft.com/office/drawing/2014/main" id="{F6CD2280-0B7C-4D8A-98D0-04E5BF987626}"/>
                  </a:ext>
                </a:extLst>
              </p:cNvPr>
              <p:cNvSpPr txBox="1"/>
              <p:nvPr/>
            </p:nvSpPr>
            <p:spPr>
              <a:xfrm>
                <a:off x="8001200" y="2441425"/>
                <a:ext cx="970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600" b="1">
                    <a:latin typeface="Courier New"/>
                    <a:ea typeface="Courier New"/>
                    <a:cs typeface="Courier New"/>
                    <a:sym typeface="Courier New"/>
                  </a:rPr>
                  <a:t>MM</a:t>
                </a:r>
                <a:endParaRPr sz="1600" b="1">
                  <a:latin typeface="Courier New"/>
                  <a:ea typeface="Courier New"/>
                  <a:cs typeface="Courier New"/>
                  <a:sym typeface="Courier New"/>
                </a:endParaRPr>
              </a:p>
            </p:txBody>
          </p:sp>
          <p:sp>
            <p:nvSpPr>
              <p:cNvPr id="13" name="Google Shape;439;p36">
                <a:extLst>
                  <a:ext uri="{FF2B5EF4-FFF2-40B4-BE49-F238E27FC236}">
                    <a16:creationId xmlns:a16="http://schemas.microsoft.com/office/drawing/2014/main" id="{2C7FA328-8CEB-49AE-BF78-0D805BE5C82A}"/>
                  </a:ext>
                </a:extLst>
              </p:cNvPr>
              <p:cNvSpPr txBox="1"/>
              <p:nvPr/>
            </p:nvSpPr>
            <p:spPr>
              <a:xfrm>
                <a:off x="7805450" y="4544675"/>
                <a:ext cx="1368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sz="1100" b="1">
                    <a:solidFill>
                      <a:srgbClr val="FF0000"/>
                    </a:solidFill>
                    <a:latin typeface="Courier New"/>
                    <a:ea typeface="Courier New"/>
                    <a:cs typeface="Courier New"/>
                    <a:sym typeface="Courier New"/>
                  </a:rPr>
                  <a:t>Address Space</a:t>
                </a:r>
                <a:endParaRPr sz="1100" b="1">
                  <a:solidFill>
                    <a:srgbClr val="FF0000"/>
                  </a:solidFill>
                  <a:latin typeface="Courier New"/>
                  <a:ea typeface="Courier New"/>
                  <a:cs typeface="Courier New"/>
                  <a:sym typeface="Courier New"/>
                </a:endParaRPr>
              </a:p>
            </p:txBody>
          </p:sp>
        </p:grpSp>
        <p:sp>
          <p:nvSpPr>
            <p:cNvPr id="10" name="Google Shape;440;p36">
              <a:extLst>
                <a:ext uri="{FF2B5EF4-FFF2-40B4-BE49-F238E27FC236}">
                  <a16:creationId xmlns:a16="http://schemas.microsoft.com/office/drawing/2014/main" id="{E6D70364-E286-4118-8303-55E2DC1BE9F2}"/>
                </a:ext>
              </a:extLst>
            </p:cNvPr>
            <p:cNvSpPr/>
            <p:nvPr/>
          </p:nvSpPr>
          <p:spPr>
            <a:xfrm>
              <a:off x="6930600" y="5055800"/>
              <a:ext cx="1446900" cy="468300"/>
            </a:xfrm>
            <a:prstGeom prst="rect">
              <a:avLst/>
            </a:prstGeom>
            <a:solidFill>
              <a:srgbClr val="B6D7A8"/>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b="1">
                  <a:latin typeface="Courier New"/>
                  <a:ea typeface="Courier New"/>
                  <a:cs typeface="Courier New"/>
                  <a:sym typeface="Courier New"/>
                </a:rPr>
                <a:t>I/O</a:t>
              </a:r>
              <a:endParaRPr b="1">
                <a:latin typeface="Courier New"/>
                <a:ea typeface="Courier New"/>
                <a:cs typeface="Courier New"/>
                <a:sym typeface="Courier New"/>
              </a:endParaRPr>
            </a:p>
          </p:txBody>
        </p:sp>
      </p:grpSp>
      <p:cxnSp>
        <p:nvCxnSpPr>
          <p:cNvPr id="31" name="Google Shape;441;p36">
            <a:extLst>
              <a:ext uri="{FF2B5EF4-FFF2-40B4-BE49-F238E27FC236}">
                <a16:creationId xmlns:a16="http://schemas.microsoft.com/office/drawing/2014/main" id="{160DC7E5-DBD5-4FE2-8A2C-5D463102C121}"/>
              </a:ext>
            </a:extLst>
          </p:cNvPr>
          <p:cNvCxnSpPr>
            <a:cxnSpLocks/>
            <a:stCxn id="4" idx="3"/>
          </p:cNvCxnSpPr>
          <p:nvPr/>
        </p:nvCxnSpPr>
        <p:spPr>
          <a:xfrm>
            <a:off x="3745896" y="2040932"/>
            <a:ext cx="1958100" cy="579000"/>
          </a:xfrm>
          <a:prstGeom prst="straightConnector1">
            <a:avLst/>
          </a:prstGeom>
          <a:noFill/>
          <a:ln w="38100" cap="flat" cmpd="sng">
            <a:solidFill>
              <a:schemeClr val="dk2"/>
            </a:solidFill>
            <a:prstDash val="solid"/>
            <a:round/>
            <a:headEnd type="none" w="med" len="med"/>
            <a:tailEnd type="triangle" w="med" len="med"/>
          </a:ln>
        </p:spPr>
      </p:cxnSp>
      <p:pic>
        <p:nvPicPr>
          <p:cNvPr id="32" name="Google Shape;442;p36">
            <a:extLst>
              <a:ext uri="{FF2B5EF4-FFF2-40B4-BE49-F238E27FC236}">
                <a16:creationId xmlns:a16="http://schemas.microsoft.com/office/drawing/2014/main" id="{7946699D-8770-4B44-901A-B3280719C5A9}"/>
              </a:ext>
            </a:extLst>
          </p:cNvPr>
          <p:cNvPicPr preferRelativeResize="0"/>
          <p:nvPr/>
        </p:nvPicPr>
        <p:blipFill>
          <a:blip r:embed="rId4">
            <a:alphaModFix/>
          </a:blip>
          <a:stretch>
            <a:fillRect/>
          </a:stretch>
        </p:blipFill>
        <p:spPr>
          <a:xfrm flipH="1">
            <a:off x="4431464" y="1363057"/>
            <a:ext cx="787000" cy="787000"/>
          </a:xfrm>
          <a:prstGeom prst="rect">
            <a:avLst/>
          </a:prstGeom>
          <a:noFill/>
          <a:ln>
            <a:noFill/>
          </a:ln>
        </p:spPr>
      </p:pic>
      <p:pic>
        <p:nvPicPr>
          <p:cNvPr id="34" name="Google Shape;450;p37">
            <a:extLst>
              <a:ext uri="{FF2B5EF4-FFF2-40B4-BE49-F238E27FC236}">
                <a16:creationId xmlns:a16="http://schemas.microsoft.com/office/drawing/2014/main" id="{F280CFB7-3BFD-4E44-9BE3-31F559C90907}"/>
              </a:ext>
            </a:extLst>
          </p:cNvPr>
          <p:cNvPicPr preferRelativeResize="0"/>
          <p:nvPr/>
        </p:nvPicPr>
        <p:blipFill>
          <a:blip r:embed="rId5">
            <a:alphaModFix/>
          </a:blip>
          <a:stretch>
            <a:fillRect/>
          </a:stretch>
        </p:blipFill>
        <p:spPr>
          <a:xfrm>
            <a:off x="4236462" y="5815976"/>
            <a:ext cx="949500" cy="949500"/>
          </a:xfrm>
          <a:prstGeom prst="rect">
            <a:avLst/>
          </a:prstGeom>
          <a:noFill/>
          <a:ln>
            <a:noFill/>
          </a:ln>
        </p:spPr>
      </p:pic>
      <p:pic>
        <p:nvPicPr>
          <p:cNvPr id="35" name="Google Shape;451;p37">
            <a:extLst>
              <a:ext uri="{FF2B5EF4-FFF2-40B4-BE49-F238E27FC236}">
                <a16:creationId xmlns:a16="http://schemas.microsoft.com/office/drawing/2014/main" id="{9C241068-733F-45CF-A76E-C0889E63BB87}"/>
              </a:ext>
            </a:extLst>
          </p:cNvPr>
          <p:cNvPicPr preferRelativeResize="0"/>
          <p:nvPr/>
        </p:nvPicPr>
        <p:blipFill>
          <a:blip r:embed="rId6">
            <a:alphaModFix/>
          </a:blip>
          <a:stretch>
            <a:fillRect/>
          </a:stretch>
        </p:blipFill>
        <p:spPr>
          <a:xfrm>
            <a:off x="7049562" y="5836336"/>
            <a:ext cx="949500" cy="908790"/>
          </a:xfrm>
          <a:prstGeom prst="rect">
            <a:avLst/>
          </a:prstGeom>
          <a:noFill/>
          <a:ln>
            <a:noFill/>
          </a:ln>
        </p:spPr>
      </p:pic>
      <p:pic>
        <p:nvPicPr>
          <p:cNvPr id="36" name="Google Shape;452;p37">
            <a:extLst>
              <a:ext uri="{FF2B5EF4-FFF2-40B4-BE49-F238E27FC236}">
                <a16:creationId xmlns:a16="http://schemas.microsoft.com/office/drawing/2014/main" id="{C756429E-73F5-4D73-AA8E-ABC13328254E}"/>
              </a:ext>
            </a:extLst>
          </p:cNvPr>
          <p:cNvPicPr preferRelativeResize="0"/>
          <p:nvPr/>
        </p:nvPicPr>
        <p:blipFill>
          <a:blip r:embed="rId7">
            <a:alphaModFix/>
          </a:blip>
          <a:stretch>
            <a:fillRect/>
          </a:stretch>
        </p:blipFill>
        <p:spPr>
          <a:xfrm>
            <a:off x="9740662" y="5738876"/>
            <a:ext cx="914950" cy="914950"/>
          </a:xfrm>
          <a:prstGeom prst="rect">
            <a:avLst/>
          </a:prstGeom>
          <a:noFill/>
          <a:ln>
            <a:noFill/>
          </a:ln>
        </p:spPr>
      </p:pic>
      <p:sp>
        <p:nvSpPr>
          <p:cNvPr id="37" name="Google Shape;453;p37">
            <a:extLst>
              <a:ext uri="{FF2B5EF4-FFF2-40B4-BE49-F238E27FC236}">
                <a16:creationId xmlns:a16="http://schemas.microsoft.com/office/drawing/2014/main" id="{4E950140-C554-47A8-AEDA-F859F964CF96}"/>
              </a:ext>
            </a:extLst>
          </p:cNvPr>
          <p:cNvSpPr/>
          <p:nvPr/>
        </p:nvSpPr>
        <p:spPr>
          <a:xfrm>
            <a:off x="5790525" y="6014726"/>
            <a:ext cx="569100" cy="552000"/>
          </a:xfrm>
          <a:prstGeom prst="mathPl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54;p37">
            <a:extLst>
              <a:ext uri="{FF2B5EF4-FFF2-40B4-BE49-F238E27FC236}">
                <a16:creationId xmlns:a16="http://schemas.microsoft.com/office/drawing/2014/main" id="{5E6AA142-7A7D-4FA4-9A54-67075A91EF89}"/>
              </a:ext>
            </a:extLst>
          </p:cNvPr>
          <p:cNvSpPr/>
          <p:nvPr/>
        </p:nvSpPr>
        <p:spPr>
          <a:xfrm>
            <a:off x="8688975" y="6014726"/>
            <a:ext cx="569100" cy="552000"/>
          </a:xfrm>
          <a:prstGeom prst="mathPl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55;p37">
            <a:extLst>
              <a:ext uri="{FF2B5EF4-FFF2-40B4-BE49-F238E27FC236}">
                <a16:creationId xmlns:a16="http://schemas.microsoft.com/office/drawing/2014/main" id="{C0125CFF-FBB2-43D8-AEE6-EB28A078A1EF}"/>
              </a:ext>
            </a:extLst>
          </p:cNvPr>
          <p:cNvSpPr/>
          <p:nvPr/>
        </p:nvSpPr>
        <p:spPr>
          <a:xfrm>
            <a:off x="3182650" y="6014726"/>
            <a:ext cx="569100" cy="552000"/>
          </a:xfrm>
          <a:prstGeom prst="mathEqual">
            <a:avLst>
              <a:gd name="adj1" fmla="val 23520"/>
              <a:gd name="adj2" fmla="val 1176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 name="Google Shape;449;p37">
            <a:extLst>
              <a:ext uri="{FF2B5EF4-FFF2-40B4-BE49-F238E27FC236}">
                <a16:creationId xmlns:a16="http://schemas.microsoft.com/office/drawing/2014/main" id="{1CF3D15E-D1EC-49F9-8F63-8A14C12D83AC}"/>
              </a:ext>
            </a:extLst>
          </p:cNvPr>
          <p:cNvPicPr preferRelativeResize="0"/>
          <p:nvPr/>
        </p:nvPicPr>
        <p:blipFill>
          <a:blip r:embed="rId3">
            <a:alphaModFix/>
          </a:blip>
          <a:stretch>
            <a:fillRect/>
          </a:stretch>
        </p:blipFill>
        <p:spPr>
          <a:xfrm>
            <a:off x="1385249" y="5538052"/>
            <a:ext cx="1555045" cy="1227424"/>
          </a:xfrm>
          <a:prstGeom prst="rect">
            <a:avLst/>
          </a:prstGeom>
          <a:noFill/>
          <a:ln>
            <a:noFill/>
          </a:ln>
        </p:spPr>
      </p:pic>
    </p:spTree>
    <p:extLst>
      <p:ext uri="{BB962C8B-B14F-4D97-AF65-F5344CB8AC3E}">
        <p14:creationId xmlns:p14="http://schemas.microsoft.com/office/powerpoint/2010/main" val="3368780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Virtualización</a:t>
            </a:r>
            <a:endParaRPr dirty="0"/>
          </a:p>
        </p:txBody>
      </p:sp>
      <p:pic>
        <p:nvPicPr>
          <p:cNvPr id="4" name="Google Shape;492;p41">
            <a:extLst>
              <a:ext uri="{FF2B5EF4-FFF2-40B4-BE49-F238E27FC236}">
                <a16:creationId xmlns:a16="http://schemas.microsoft.com/office/drawing/2014/main" id="{4658890E-6BD4-4EFD-8D79-ECA36EADAC4C}"/>
              </a:ext>
            </a:extLst>
          </p:cNvPr>
          <p:cNvPicPr preferRelativeResize="0"/>
          <p:nvPr/>
        </p:nvPicPr>
        <p:blipFill>
          <a:blip r:embed="rId3">
            <a:alphaModFix/>
          </a:blip>
          <a:stretch>
            <a:fillRect/>
          </a:stretch>
        </p:blipFill>
        <p:spPr>
          <a:xfrm>
            <a:off x="3479382" y="2022544"/>
            <a:ext cx="8159750" cy="3879526"/>
          </a:xfrm>
          <a:prstGeom prst="rect">
            <a:avLst/>
          </a:prstGeom>
          <a:noFill/>
          <a:ln>
            <a:noFill/>
          </a:ln>
        </p:spPr>
      </p:pic>
      <p:pic>
        <p:nvPicPr>
          <p:cNvPr id="5" name="Google Shape;493;p41">
            <a:extLst>
              <a:ext uri="{FF2B5EF4-FFF2-40B4-BE49-F238E27FC236}">
                <a16:creationId xmlns:a16="http://schemas.microsoft.com/office/drawing/2014/main" id="{A7A3D64B-7169-4AD3-827F-BED0B7BEF599}"/>
              </a:ext>
            </a:extLst>
          </p:cNvPr>
          <p:cNvPicPr preferRelativeResize="0"/>
          <p:nvPr/>
        </p:nvPicPr>
        <p:blipFill>
          <a:blip r:embed="rId4">
            <a:alphaModFix/>
          </a:blip>
          <a:stretch>
            <a:fillRect/>
          </a:stretch>
        </p:blipFill>
        <p:spPr>
          <a:xfrm>
            <a:off x="9133607" y="1239044"/>
            <a:ext cx="589175" cy="585725"/>
          </a:xfrm>
          <a:prstGeom prst="rect">
            <a:avLst/>
          </a:prstGeom>
          <a:noFill/>
          <a:ln>
            <a:noFill/>
          </a:ln>
        </p:spPr>
      </p:pic>
      <p:pic>
        <p:nvPicPr>
          <p:cNvPr id="6" name="Google Shape;495;p41">
            <a:extLst>
              <a:ext uri="{FF2B5EF4-FFF2-40B4-BE49-F238E27FC236}">
                <a16:creationId xmlns:a16="http://schemas.microsoft.com/office/drawing/2014/main" id="{7300FC67-C23B-4A9D-863A-31E35E0EF9E4}"/>
              </a:ext>
            </a:extLst>
          </p:cNvPr>
          <p:cNvPicPr preferRelativeResize="0"/>
          <p:nvPr/>
        </p:nvPicPr>
        <p:blipFill>
          <a:blip r:embed="rId5">
            <a:alphaModFix/>
          </a:blip>
          <a:stretch>
            <a:fillRect/>
          </a:stretch>
        </p:blipFill>
        <p:spPr>
          <a:xfrm>
            <a:off x="1346618" y="2022540"/>
            <a:ext cx="1517425" cy="1169950"/>
          </a:xfrm>
          <a:prstGeom prst="rect">
            <a:avLst/>
          </a:prstGeom>
          <a:noFill/>
          <a:ln>
            <a:noFill/>
          </a:ln>
        </p:spPr>
      </p:pic>
      <p:grpSp>
        <p:nvGrpSpPr>
          <p:cNvPr id="7" name="Google Shape;496;p41">
            <a:extLst>
              <a:ext uri="{FF2B5EF4-FFF2-40B4-BE49-F238E27FC236}">
                <a16:creationId xmlns:a16="http://schemas.microsoft.com/office/drawing/2014/main" id="{13818DF9-6B88-436F-B8C7-FE819EE96648}"/>
              </a:ext>
            </a:extLst>
          </p:cNvPr>
          <p:cNvGrpSpPr/>
          <p:nvPr/>
        </p:nvGrpSpPr>
        <p:grpSpPr>
          <a:xfrm>
            <a:off x="1567282" y="3739894"/>
            <a:ext cx="1076100" cy="1739700"/>
            <a:chOff x="1775100" y="4022850"/>
            <a:chExt cx="1076100" cy="1739700"/>
          </a:xfrm>
        </p:grpSpPr>
        <p:sp>
          <p:nvSpPr>
            <p:cNvPr id="8" name="Google Shape;497;p41">
              <a:extLst>
                <a:ext uri="{FF2B5EF4-FFF2-40B4-BE49-F238E27FC236}">
                  <a16:creationId xmlns:a16="http://schemas.microsoft.com/office/drawing/2014/main" id="{F14D610F-0B12-48C3-90C3-2C6DC7F3A78E}"/>
                </a:ext>
              </a:extLst>
            </p:cNvPr>
            <p:cNvSpPr/>
            <p:nvPr/>
          </p:nvSpPr>
          <p:spPr>
            <a:xfrm>
              <a:off x="1775100" y="4022850"/>
              <a:ext cx="1076100" cy="1739700"/>
            </a:xfrm>
            <a:prstGeom prst="rect">
              <a:avLst/>
            </a:prstGeom>
            <a:solidFill>
              <a:srgbClr val="EFEFEF"/>
            </a:solidFill>
            <a:ln w="1905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498;p41">
              <a:extLst>
                <a:ext uri="{FF2B5EF4-FFF2-40B4-BE49-F238E27FC236}">
                  <a16:creationId xmlns:a16="http://schemas.microsoft.com/office/drawing/2014/main" id="{7F3037D0-AB17-4FC1-9FF0-3B8FC8C632A5}"/>
                </a:ext>
              </a:extLst>
            </p:cNvPr>
            <p:cNvGrpSpPr/>
            <p:nvPr/>
          </p:nvGrpSpPr>
          <p:grpSpPr>
            <a:xfrm>
              <a:off x="1775100" y="4022850"/>
              <a:ext cx="1076100" cy="1739675"/>
              <a:chOff x="7948250" y="2813125"/>
              <a:chExt cx="1076100" cy="1739675"/>
            </a:xfrm>
          </p:grpSpPr>
          <p:sp>
            <p:nvSpPr>
              <p:cNvPr id="10" name="Google Shape;499;p41">
                <a:extLst>
                  <a:ext uri="{FF2B5EF4-FFF2-40B4-BE49-F238E27FC236}">
                    <a16:creationId xmlns:a16="http://schemas.microsoft.com/office/drawing/2014/main" id="{F08BE760-B8A9-4BB5-BDEA-ADA771B0D746}"/>
                  </a:ext>
                </a:extLst>
              </p:cNvPr>
              <p:cNvSpPr/>
              <p:nvPr/>
            </p:nvSpPr>
            <p:spPr>
              <a:xfrm>
                <a:off x="7948250" y="2813125"/>
                <a:ext cx="1076100" cy="284400"/>
              </a:xfrm>
              <a:prstGeom prst="rect">
                <a:avLst/>
              </a:prstGeom>
              <a:solidFill>
                <a:srgbClr val="F4CCCC"/>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dirty="0">
                    <a:latin typeface="Courier New"/>
                    <a:ea typeface="Courier New"/>
                    <a:cs typeface="Courier New"/>
                    <a:sym typeface="Courier New"/>
                  </a:rPr>
                  <a:t>Code</a:t>
                </a:r>
                <a:endParaRPr sz="800" b="1" dirty="0">
                  <a:latin typeface="Courier New"/>
                  <a:ea typeface="Courier New"/>
                  <a:cs typeface="Courier New"/>
                  <a:sym typeface="Courier New"/>
                </a:endParaRPr>
              </a:p>
            </p:txBody>
          </p:sp>
          <p:sp>
            <p:nvSpPr>
              <p:cNvPr id="11" name="Google Shape;500;p41">
                <a:extLst>
                  <a:ext uri="{FF2B5EF4-FFF2-40B4-BE49-F238E27FC236}">
                    <a16:creationId xmlns:a16="http://schemas.microsoft.com/office/drawing/2014/main" id="{AB36E447-BC6F-465D-900A-A056273060C0}"/>
                  </a:ext>
                </a:extLst>
              </p:cNvPr>
              <p:cNvSpPr/>
              <p:nvPr/>
            </p:nvSpPr>
            <p:spPr>
              <a:xfrm>
                <a:off x="7950650" y="3085775"/>
                <a:ext cx="1073100" cy="370800"/>
              </a:xfrm>
              <a:prstGeom prst="rect">
                <a:avLst/>
              </a:prstGeom>
              <a:solidFill>
                <a:srgbClr val="FFE599"/>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Data</a:t>
                </a:r>
                <a:endParaRPr/>
              </a:p>
            </p:txBody>
          </p:sp>
          <p:sp>
            <p:nvSpPr>
              <p:cNvPr id="12" name="Google Shape;501;p41">
                <a:extLst>
                  <a:ext uri="{FF2B5EF4-FFF2-40B4-BE49-F238E27FC236}">
                    <a16:creationId xmlns:a16="http://schemas.microsoft.com/office/drawing/2014/main" id="{F79393D5-4C3A-4959-A281-B554A8B89B0F}"/>
                  </a:ext>
                </a:extLst>
              </p:cNvPr>
              <p:cNvSpPr/>
              <p:nvPr/>
            </p:nvSpPr>
            <p:spPr>
              <a:xfrm>
                <a:off x="7948250" y="340605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heap</a:t>
                </a:r>
                <a:endParaRPr/>
              </a:p>
            </p:txBody>
          </p:sp>
          <p:sp>
            <p:nvSpPr>
              <p:cNvPr id="13" name="Google Shape;502;p41">
                <a:extLst>
                  <a:ext uri="{FF2B5EF4-FFF2-40B4-BE49-F238E27FC236}">
                    <a16:creationId xmlns:a16="http://schemas.microsoft.com/office/drawing/2014/main" id="{167204E9-8D66-4C67-A14A-95C8FFA93566}"/>
                  </a:ext>
                </a:extLst>
              </p:cNvPr>
              <p:cNvSpPr/>
              <p:nvPr/>
            </p:nvSpPr>
            <p:spPr>
              <a:xfrm>
                <a:off x="7948250" y="4268400"/>
                <a:ext cx="1076100" cy="284400"/>
              </a:xfrm>
              <a:prstGeom prst="rect">
                <a:avLst/>
              </a:prstGeom>
              <a:solidFill>
                <a:srgbClr val="CFE2F3"/>
              </a:solidFill>
              <a:ln w="9525"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800" b="1">
                    <a:latin typeface="Courier New"/>
                    <a:ea typeface="Courier New"/>
                    <a:cs typeface="Courier New"/>
                    <a:sym typeface="Courier New"/>
                  </a:rPr>
                  <a:t>stack</a:t>
                </a:r>
                <a:endParaRPr/>
              </a:p>
            </p:txBody>
          </p:sp>
          <p:cxnSp>
            <p:nvCxnSpPr>
              <p:cNvPr id="14" name="Google Shape;503;p41">
                <a:extLst>
                  <a:ext uri="{FF2B5EF4-FFF2-40B4-BE49-F238E27FC236}">
                    <a16:creationId xmlns:a16="http://schemas.microsoft.com/office/drawing/2014/main" id="{A849407A-5E3D-441B-A8BA-1ED4C2ACBE7A}"/>
                  </a:ext>
                </a:extLst>
              </p:cNvPr>
              <p:cNvCxnSpPr>
                <a:stCxn id="12" idx="2"/>
              </p:cNvCxnSpPr>
              <p:nvPr/>
            </p:nvCxnSpPr>
            <p:spPr>
              <a:xfrm>
                <a:off x="8486300" y="3690450"/>
                <a:ext cx="6900" cy="261300"/>
              </a:xfrm>
              <a:prstGeom prst="straightConnector1">
                <a:avLst/>
              </a:prstGeom>
              <a:noFill/>
              <a:ln w="9525" cap="flat" cmpd="sng">
                <a:solidFill>
                  <a:schemeClr val="dk1"/>
                </a:solidFill>
                <a:prstDash val="solid"/>
                <a:round/>
                <a:headEnd type="none" w="med" len="med"/>
                <a:tailEnd type="triangle" w="med" len="med"/>
              </a:ln>
            </p:spPr>
          </p:cxnSp>
          <p:cxnSp>
            <p:nvCxnSpPr>
              <p:cNvPr id="15" name="Google Shape;504;p41">
                <a:extLst>
                  <a:ext uri="{FF2B5EF4-FFF2-40B4-BE49-F238E27FC236}">
                    <a16:creationId xmlns:a16="http://schemas.microsoft.com/office/drawing/2014/main" id="{E4361165-3E15-44E1-AFAB-CFF19145277F}"/>
                  </a:ext>
                </a:extLst>
              </p:cNvPr>
              <p:cNvCxnSpPr>
                <a:stCxn id="13" idx="0"/>
              </p:cNvCxnSpPr>
              <p:nvPr/>
            </p:nvCxnSpPr>
            <p:spPr>
              <a:xfrm rot="10800000" flipH="1">
                <a:off x="8486300" y="4035600"/>
                <a:ext cx="4200" cy="232800"/>
              </a:xfrm>
              <a:prstGeom prst="straightConnector1">
                <a:avLst/>
              </a:prstGeom>
              <a:noFill/>
              <a:ln w="9525" cap="flat" cmpd="sng">
                <a:solidFill>
                  <a:schemeClr val="dk1"/>
                </a:solidFill>
                <a:prstDash val="solid"/>
                <a:round/>
                <a:headEnd type="none" w="med" len="med"/>
                <a:tailEnd type="triangle" w="med" len="med"/>
              </a:ln>
            </p:spPr>
          </p:cxnSp>
        </p:grpSp>
      </p:grpSp>
      <p:sp>
        <p:nvSpPr>
          <p:cNvPr id="16" name="Google Shape;505;p41">
            <a:extLst>
              <a:ext uri="{FF2B5EF4-FFF2-40B4-BE49-F238E27FC236}">
                <a16:creationId xmlns:a16="http://schemas.microsoft.com/office/drawing/2014/main" id="{6D988828-BED9-4C26-8956-C771EE481E40}"/>
              </a:ext>
            </a:extLst>
          </p:cNvPr>
          <p:cNvSpPr txBox="1"/>
          <p:nvPr/>
        </p:nvSpPr>
        <p:spPr>
          <a:xfrm>
            <a:off x="5734370" y="6000619"/>
            <a:ext cx="3484500" cy="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b="1"/>
              <a:t>Simulación online</a:t>
            </a:r>
            <a:r>
              <a:rPr lang="es-ES"/>
              <a:t> (</a:t>
            </a:r>
            <a:r>
              <a:rPr lang="es-ES" u="sng">
                <a:solidFill>
                  <a:schemeClr val="hlink"/>
                </a:solidFill>
                <a:hlinkClick r:id="rId6"/>
              </a:rPr>
              <a:t>link</a:t>
            </a:r>
            <a:r>
              <a:rPr lang="es-ES"/>
              <a:t>)</a:t>
            </a:r>
            <a:endParaRPr/>
          </a:p>
        </p:txBody>
      </p:sp>
    </p:spTree>
    <p:extLst>
      <p:ext uri="{BB962C8B-B14F-4D97-AF65-F5344CB8AC3E}">
        <p14:creationId xmlns:p14="http://schemas.microsoft.com/office/powerpoint/2010/main" val="35703317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998687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Carga: De un programa a un proceso</a:t>
            </a:r>
            <a:endParaRPr dirty="0"/>
          </a:p>
        </p:txBody>
      </p:sp>
      <p:pic>
        <p:nvPicPr>
          <p:cNvPr id="3" name="Imagen 2">
            <a:extLst>
              <a:ext uri="{FF2B5EF4-FFF2-40B4-BE49-F238E27FC236}">
                <a16:creationId xmlns:a16="http://schemas.microsoft.com/office/drawing/2014/main" id="{22971358-C4A6-4D32-A9DD-1104BC496AE6}"/>
              </a:ext>
            </a:extLst>
          </p:cNvPr>
          <p:cNvPicPr>
            <a:picLocks noChangeAspect="1"/>
          </p:cNvPicPr>
          <p:nvPr/>
        </p:nvPicPr>
        <p:blipFill>
          <a:blip r:embed="rId3"/>
          <a:stretch>
            <a:fillRect/>
          </a:stretch>
        </p:blipFill>
        <p:spPr>
          <a:xfrm>
            <a:off x="5716125" y="1239044"/>
            <a:ext cx="4889739" cy="4986088"/>
          </a:xfrm>
          <a:prstGeom prst="rect">
            <a:avLst/>
          </a:prstGeom>
        </p:spPr>
      </p:pic>
      <p:sp>
        <p:nvSpPr>
          <p:cNvPr id="4" name="Google Shape;520;p43">
            <a:extLst>
              <a:ext uri="{FF2B5EF4-FFF2-40B4-BE49-F238E27FC236}">
                <a16:creationId xmlns:a16="http://schemas.microsoft.com/office/drawing/2014/main" id="{10265CF8-73BD-488C-A7EF-F039C076A729}"/>
              </a:ext>
            </a:extLst>
          </p:cNvPr>
          <p:cNvSpPr txBox="1">
            <a:spLocks/>
          </p:cNvSpPr>
          <p:nvPr/>
        </p:nvSpPr>
        <p:spPr>
          <a:xfrm>
            <a:off x="722686" y="1239044"/>
            <a:ext cx="4675909" cy="3825000"/>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es-MX" sz="2400" b="1" dirty="0"/>
              <a:t>Pasos </a:t>
            </a:r>
          </a:p>
          <a:p>
            <a:pPr marL="457200" indent="-355600">
              <a:lnSpc>
                <a:spcPct val="100000"/>
              </a:lnSpc>
              <a:spcBef>
                <a:spcPts val="600"/>
              </a:spcBef>
              <a:buSzPts val="2000"/>
              <a:buFont typeface="Arial"/>
              <a:buAutoNum type="arabicPeriod"/>
            </a:pPr>
            <a:r>
              <a:rPr lang="es-CO" sz="1800" b="0" i="0" u="none" strike="noStrike" dirty="0">
                <a:solidFill>
                  <a:srgbClr val="000000"/>
                </a:solidFill>
                <a:effectLst/>
              </a:rPr>
              <a:t>del código del programa a memoria en forma diferida</a:t>
            </a:r>
          </a:p>
          <a:p>
            <a:pPr marL="457200" indent="-355600">
              <a:lnSpc>
                <a:spcPct val="100000"/>
              </a:lnSpc>
              <a:spcBef>
                <a:spcPts val="600"/>
              </a:spcBef>
              <a:buSzPts val="2000"/>
              <a:buFont typeface="Arial"/>
              <a:buAutoNum type="arabicPeriod"/>
            </a:pPr>
            <a:r>
              <a:rPr lang="es-MX" sz="1800" b="0" i="0" u="none" strike="noStrike" dirty="0">
                <a:solidFill>
                  <a:srgbClr val="000000"/>
                </a:solidFill>
                <a:effectLst/>
              </a:rPr>
              <a:t>Asignación de memoria en la pila (</a:t>
            </a:r>
            <a:r>
              <a:rPr lang="es-MX" sz="1800" b="1" i="0" u="none" strike="noStrike" dirty="0" err="1">
                <a:solidFill>
                  <a:srgbClr val="000000"/>
                </a:solidFill>
                <a:effectLst/>
              </a:rPr>
              <a:t>stack</a:t>
            </a:r>
            <a:r>
              <a:rPr lang="es-MX" sz="1800" b="0" i="0" u="none" strike="noStrike" dirty="0">
                <a:solidFill>
                  <a:srgbClr val="000000"/>
                </a:solidFill>
                <a:effectLst/>
              </a:rPr>
              <a:t>) en tiempo de ejecución</a:t>
            </a:r>
          </a:p>
          <a:p>
            <a:pPr marL="457200" indent="-355600">
              <a:lnSpc>
                <a:spcPct val="100000"/>
              </a:lnSpc>
              <a:spcBef>
                <a:spcPts val="0"/>
              </a:spcBef>
              <a:buSzPts val="2000"/>
              <a:buFont typeface="Arial" panose="020B0604020202020204" pitchFamily="34" charset="0"/>
              <a:buAutoNum type="arabicPeriod"/>
            </a:pPr>
            <a:r>
              <a:rPr lang="es-MX" sz="2000" dirty="0"/>
              <a:t>Creación del espacio de memoria </a:t>
            </a:r>
            <a:r>
              <a:rPr lang="es-MX" sz="2000" b="1" dirty="0" err="1"/>
              <a:t>heap</a:t>
            </a:r>
            <a:endParaRPr lang="es-MX" sz="2000" b="1" dirty="0"/>
          </a:p>
          <a:p>
            <a:pPr marL="457200" indent="-355600">
              <a:lnSpc>
                <a:spcPct val="100000"/>
              </a:lnSpc>
              <a:spcBef>
                <a:spcPts val="0"/>
              </a:spcBef>
              <a:buSzPts val="2000"/>
              <a:buFont typeface="Arial" panose="020B0604020202020204" pitchFamily="34" charset="0"/>
              <a:buAutoNum type="arabicPeriod"/>
            </a:pPr>
            <a:r>
              <a:rPr lang="es-MX" sz="1800" b="0" i="0" u="none" strike="noStrike" dirty="0">
                <a:solidFill>
                  <a:srgbClr val="000000"/>
                </a:solidFill>
                <a:effectLst/>
              </a:rPr>
              <a:t>Realización de tareas de inicialización I/O</a:t>
            </a:r>
          </a:p>
          <a:p>
            <a:pPr marL="457200" indent="-355600">
              <a:lnSpc>
                <a:spcPct val="100000"/>
              </a:lnSpc>
              <a:spcBef>
                <a:spcPts val="0"/>
              </a:spcBef>
              <a:buSzPts val="2000"/>
              <a:buFont typeface="Arial" panose="020B0604020202020204" pitchFamily="34" charset="0"/>
              <a:buAutoNum type="arabicPeriod"/>
            </a:pPr>
            <a:r>
              <a:rPr lang="es-MX" sz="1800" dirty="0"/>
              <a:t>Inicio del programa ejecutando el punto de entrada </a:t>
            </a:r>
            <a:r>
              <a:rPr lang="es-MX" sz="1800" dirty="0">
                <a:ea typeface="Courier New"/>
                <a:cs typeface="Courier New"/>
                <a:sym typeface="Courier New"/>
              </a:rPr>
              <a:t>main()</a:t>
            </a:r>
          </a:p>
          <a:p>
            <a:pPr marL="457200" indent="-355600">
              <a:lnSpc>
                <a:spcPct val="100000"/>
              </a:lnSpc>
              <a:spcBef>
                <a:spcPts val="0"/>
              </a:spcBef>
              <a:buSzPts val="2000"/>
              <a:buFont typeface="Arial" panose="020B0604020202020204" pitchFamily="34" charset="0"/>
              <a:buAutoNum type="arabicPeriod"/>
            </a:pPr>
            <a:endParaRPr lang="es-MX" sz="1800" b="0" i="0" u="none" strike="noStrike" dirty="0">
              <a:solidFill>
                <a:srgbClr val="000000"/>
              </a:solidFill>
              <a:effectLst/>
              <a:latin typeface="Roboto" panose="02000000000000000000" pitchFamily="2" charset="0"/>
            </a:endParaRPr>
          </a:p>
          <a:p>
            <a:pPr marL="457200" indent="-355600">
              <a:lnSpc>
                <a:spcPct val="100000"/>
              </a:lnSpc>
              <a:spcBef>
                <a:spcPts val="0"/>
              </a:spcBef>
              <a:buSzPts val="2000"/>
              <a:buFont typeface="Arial" panose="020B0604020202020204" pitchFamily="34" charset="0"/>
              <a:buAutoNum type="arabicPeriod"/>
            </a:pPr>
            <a:endParaRPr lang="es-MX" sz="2000" dirty="0"/>
          </a:p>
          <a:p>
            <a:pPr marL="914400" indent="0">
              <a:lnSpc>
                <a:spcPct val="100000"/>
              </a:lnSpc>
              <a:spcBef>
                <a:spcPts val="600"/>
              </a:spcBef>
              <a:buFont typeface="Arial" panose="020B0604020202020204" pitchFamily="34" charset="0"/>
              <a:buNone/>
            </a:pPr>
            <a:endParaRPr lang="es-MX" sz="2000" dirty="0"/>
          </a:p>
          <a:p>
            <a:pPr marL="457200" indent="0">
              <a:lnSpc>
                <a:spcPct val="100000"/>
              </a:lnSpc>
              <a:spcBef>
                <a:spcPts val="0"/>
              </a:spcBef>
              <a:buFont typeface="Arial" panose="020B0604020202020204" pitchFamily="34" charset="0"/>
              <a:buNone/>
            </a:pPr>
            <a:endParaRPr lang="es-MX" sz="1400" dirty="0">
              <a:solidFill>
                <a:srgbClr val="000000"/>
              </a:solidFill>
              <a:latin typeface="Arial"/>
              <a:ea typeface="Arial"/>
              <a:cs typeface="Arial"/>
              <a:sym typeface="Arial"/>
            </a:endParaRPr>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p:txBody>
      </p:sp>
    </p:spTree>
    <p:extLst>
      <p:ext uri="{BB962C8B-B14F-4D97-AF65-F5344CB8AC3E}">
        <p14:creationId xmlns:p14="http://schemas.microsoft.com/office/powerpoint/2010/main" val="3221406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2686" y="289544"/>
            <a:ext cx="998687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Volvamos a la pregunta</a:t>
            </a:r>
            <a:endParaRPr dirty="0"/>
          </a:p>
        </p:txBody>
      </p:sp>
      <p:sp>
        <p:nvSpPr>
          <p:cNvPr id="4" name="Google Shape;520;p43">
            <a:extLst>
              <a:ext uri="{FF2B5EF4-FFF2-40B4-BE49-F238E27FC236}">
                <a16:creationId xmlns:a16="http://schemas.microsoft.com/office/drawing/2014/main" id="{10265CF8-73BD-488C-A7EF-F039C076A729}"/>
              </a:ext>
            </a:extLst>
          </p:cNvPr>
          <p:cNvSpPr txBox="1">
            <a:spLocks/>
          </p:cNvSpPr>
          <p:nvPr/>
        </p:nvSpPr>
        <p:spPr>
          <a:xfrm>
            <a:off x="722686" y="1239044"/>
            <a:ext cx="10746628" cy="672883"/>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rtl="0">
              <a:spcBef>
                <a:spcPts val="1000"/>
              </a:spcBef>
              <a:spcAft>
                <a:spcPts val="0"/>
              </a:spcAft>
              <a:buNone/>
            </a:pPr>
            <a:r>
              <a:rPr lang="es-MX" sz="2400" dirty="0">
                <a:solidFill>
                  <a:srgbClr val="FF0000"/>
                </a:solidFill>
              </a:rPr>
              <a:t>¿Cómo es que teniendo una sola CPU (en teoría) puedo correr varias tareas a la vez?</a:t>
            </a:r>
          </a:p>
          <a:p>
            <a:pPr marL="457200" indent="-355600">
              <a:lnSpc>
                <a:spcPct val="100000"/>
              </a:lnSpc>
              <a:spcBef>
                <a:spcPts val="0"/>
              </a:spcBef>
              <a:buSzPts val="2000"/>
              <a:buFont typeface="Arial" panose="020B0604020202020204" pitchFamily="34" charset="0"/>
              <a:buAutoNum type="arabicPeriod"/>
            </a:pPr>
            <a:endParaRPr lang="es-MX" sz="1800" b="0" i="0" u="none" strike="noStrike" dirty="0">
              <a:solidFill>
                <a:srgbClr val="000000"/>
              </a:solidFill>
              <a:effectLst/>
              <a:latin typeface="Roboto" panose="02000000000000000000" pitchFamily="2" charset="0"/>
            </a:endParaRPr>
          </a:p>
          <a:p>
            <a:pPr marL="457200" indent="-355600">
              <a:lnSpc>
                <a:spcPct val="100000"/>
              </a:lnSpc>
              <a:spcBef>
                <a:spcPts val="0"/>
              </a:spcBef>
              <a:buSzPts val="2000"/>
              <a:buFont typeface="Arial" panose="020B0604020202020204" pitchFamily="34" charset="0"/>
              <a:buAutoNum type="arabicPeriod"/>
            </a:pPr>
            <a:endParaRPr lang="es-MX" sz="2000" dirty="0"/>
          </a:p>
          <a:p>
            <a:pPr marL="914400" indent="0">
              <a:lnSpc>
                <a:spcPct val="100000"/>
              </a:lnSpc>
              <a:spcBef>
                <a:spcPts val="600"/>
              </a:spcBef>
              <a:buFont typeface="Arial" panose="020B0604020202020204" pitchFamily="34" charset="0"/>
              <a:buNone/>
            </a:pPr>
            <a:endParaRPr lang="es-MX" sz="2000" dirty="0"/>
          </a:p>
          <a:p>
            <a:pPr marL="457200" indent="0">
              <a:lnSpc>
                <a:spcPct val="100000"/>
              </a:lnSpc>
              <a:spcBef>
                <a:spcPts val="0"/>
              </a:spcBef>
              <a:buFont typeface="Arial" panose="020B0604020202020204" pitchFamily="34" charset="0"/>
              <a:buNone/>
            </a:pPr>
            <a:endParaRPr lang="es-MX" sz="1400" dirty="0">
              <a:solidFill>
                <a:srgbClr val="000000"/>
              </a:solidFill>
              <a:latin typeface="Arial"/>
              <a:ea typeface="Arial"/>
              <a:cs typeface="Arial"/>
              <a:sym typeface="Arial"/>
            </a:endParaRPr>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a:p>
            <a:pPr marL="0" indent="0">
              <a:buFont typeface="Arial" panose="020B0604020202020204" pitchFamily="34" charset="0"/>
              <a:buNone/>
            </a:pPr>
            <a:endParaRPr lang="es-MX" dirty="0"/>
          </a:p>
        </p:txBody>
      </p:sp>
      <p:cxnSp>
        <p:nvCxnSpPr>
          <p:cNvPr id="5" name="Google Shape;536;p45">
            <a:extLst>
              <a:ext uri="{FF2B5EF4-FFF2-40B4-BE49-F238E27FC236}">
                <a16:creationId xmlns:a16="http://schemas.microsoft.com/office/drawing/2014/main" id="{DA8B72F9-8253-449F-BCE2-3DF77B63A440}"/>
              </a:ext>
            </a:extLst>
          </p:cNvPr>
          <p:cNvCxnSpPr/>
          <p:nvPr/>
        </p:nvCxnSpPr>
        <p:spPr>
          <a:xfrm rot="10800000" flipH="1">
            <a:off x="1158053" y="5166210"/>
            <a:ext cx="3501900" cy="23700"/>
          </a:xfrm>
          <a:prstGeom prst="straightConnector1">
            <a:avLst/>
          </a:prstGeom>
          <a:noFill/>
          <a:ln w="38100" cap="flat" cmpd="sng">
            <a:solidFill>
              <a:srgbClr val="FF9900"/>
            </a:solidFill>
            <a:prstDash val="solid"/>
            <a:round/>
            <a:headEnd type="none" w="med" len="med"/>
            <a:tailEnd type="none" w="med" len="med"/>
          </a:ln>
        </p:spPr>
      </p:cxnSp>
      <p:pic>
        <p:nvPicPr>
          <p:cNvPr id="6" name="Google Shape;538;p45">
            <a:extLst>
              <a:ext uri="{FF2B5EF4-FFF2-40B4-BE49-F238E27FC236}">
                <a16:creationId xmlns:a16="http://schemas.microsoft.com/office/drawing/2014/main" id="{1A649EA8-D04A-4C09-AF2B-F901BB12AA9C}"/>
              </a:ext>
            </a:extLst>
          </p:cNvPr>
          <p:cNvPicPr preferRelativeResize="0"/>
          <p:nvPr/>
        </p:nvPicPr>
        <p:blipFill>
          <a:blip r:embed="rId3">
            <a:alphaModFix/>
          </a:blip>
          <a:stretch>
            <a:fillRect/>
          </a:stretch>
        </p:blipFill>
        <p:spPr>
          <a:xfrm>
            <a:off x="1596950" y="4486448"/>
            <a:ext cx="520440" cy="552550"/>
          </a:xfrm>
          <a:prstGeom prst="rect">
            <a:avLst/>
          </a:prstGeom>
          <a:noFill/>
          <a:ln>
            <a:noFill/>
          </a:ln>
        </p:spPr>
      </p:pic>
      <p:pic>
        <p:nvPicPr>
          <p:cNvPr id="7" name="Google Shape;539;p45">
            <a:extLst>
              <a:ext uri="{FF2B5EF4-FFF2-40B4-BE49-F238E27FC236}">
                <a16:creationId xmlns:a16="http://schemas.microsoft.com/office/drawing/2014/main" id="{024F3560-7172-4B56-94B2-C04A85F96B96}"/>
              </a:ext>
            </a:extLst>
          </p:cNvPr>
          <p:cNvPicPr preferRelativeResize="0"/>
          <p:nvPr/>
        </p:nvPicPr>
        <p:blipFill>
          <a:blip r:embed="rId4">
            <a:alphaModFix/>
          </a:blip>
          <a:stretch>
            <a:fillRect/>
          </a:stretch>
        </p:blipFill>
        <p:spPr>
          <a:xfrm>
            <a:off x="2519765" y="4371572"/>
            <a:ext cx="701575" cy="701575"/>
          </a:xfrm>
          <a:prstGeom prst="rect">
            <a:avLst/>
          </a:prstGeom>
          <a:noFill/>
          <a:ln>
            <a:noFill/>
          </a:ln>
        </p:spPr>
      </p:pic>
      <p:pic>
        <p:nvPicPr>
          <p:cNvPr id="8" name="Google Shape;540;p45">
            <a:extLst>
              <a:ext uri="{FF2B5EF4-FFF2-40B4-BE49-F238E27FC236}">
                <a16:creationId xmlns:a16="http://schemas.microsoft.com/office/drawing/2014/main" id="{948DEB3F-D005-4D83-8980-131E601523E7}"/>
              </a:ext>
            </a:extLst>
          </p:cNvPr>
          <p:cNvPicPr preferRelativeResize="0"/>
          <p:nvPr/>
        </p:nvPicPr>
        <p:blipFill>
          <a:blip r:embed="rId5">
            <a:alphaModFix/>
          </a:blip>
          <a:stretch>
            <a:fillRect/>
          </a:stretch>
        </p:blipFill>
        <p:spPr>
          <a:xfrm>
            <a:off x="3677818" y="4486781"/>
            <a:ext cx="520450" cy="471151"/>
          </a:xfrm>
          <a:prstGeom prst="rect">
            <a:avLst/>
          </a:prstGeom>
          <a:noFill/>
          <a:ln>
            <a:noFill/>
          </a:ln>
        </p:spPr>
      </p:pic>
      <p:pic>
        <p:nvPicPr>
          <p:cNvPr id="9" name="Google Shape;541;p45">
            <a:extLst>
              <a:ext uri="{FF2B5EF4-FFF2-40B4-BE49-F238E27FC236}">
                <a16:creationId xmlns:a16="http://schemas.microsoft.com/office/drawing/2014/main" id="{73BB7E0A-B482-449E-8C9F-04CC5F837D8C}"/>
              </a:ext>
            </a:extLst>
          </p:cNvPr>
          <p:cNvPicPr preferRelativeResize="0"/>
          <p:nvPr/>
        </p:nvPicPr>
        <p:blipFill>
          <a:blip r:embed="rId6">
            <a:alphaModFix/>
          </a:blip>
          <a:stretch>
            <a:fillRect/>
          </a:stretch>
        </p:blipFill>
        <p:spPr>
          <a:xfrm>
            <a:off x="2519767" y="5282998"/>
            <a:ext cx="701574" cy="836602"/>
          </a:xfrm>
          <a:prstGeom prst="rect">
            <a:avLst/>
          </a:prstGeom>
          <a:noFill/>
          <a:ln>
            <a:noFill/>
          </a:ln>
        </p:spPr>
      </p:pic>
      <p:pic>
        <p:nvPicPr>
          <p:cNvPr id="10" name="Google Shape;537;p45">
            <a:extLst>
              <a:ext uri="{FF2B5EF4-FFF2-40B4-BE49-F238E27FC236}">
                <a16:creationId xmlns:a16="http://schemas.microsoft.com/office/drawing/2014/main" id="{89544D6A-1A82-4943-8DED-17ED55E80E47}"/>
              </a:ext>
            </a:extLst>
          </p:cNvPr>
          <p:cNvPicPr preferRelativeResize="0"/>
          <p:nvPr/>
        </p:nvPicPr>
        <p:blipFill>
          <a:blip r:embed="rId7">
            <a:alphaModFix/>
          </a:blip>
          <a:stretch>
            <a:fillRect/>
          </a:stretch>
        </p:blipFill>
        <p:spPr>
          <a:xfrm>
            <a:off x="6096000" y="2786362"/>
            <a:ext cx="5852826" cy="1484981"/>
          </a:xfrm>
          <a:prstGeom prst="rect">
            <a:avLst/>
          </a:prstGeom>
          <a:noFill/>
          <a:ln>
            <a:noFill/>
          </a:ln>
        </p:spPr>
      </p:pic>
      <p:sp>
        <p:nvSpPr>
          <p:cNvPr id="12" name="CuadroTexto 11">
            <a:extLst>
              <a:ext uri="{FF2B5EF4-FFF2-40B4-BE49-F238E27FC236}">
                <a16:creationId xmlns:a16="http://schemas.microsoft.com/office/drawing/2014/main" id="{451D0DC7-E204-4890-93EF-98D6DCB6C68E}"/>
              </a:ext>
            </a:extLst>
          </p:cNvPr>
          <p:cNvSpPr txBox="1"/>
          <p:nvPr/>
        </p:nvSpPr>
        <p:spPr>
          <a:xfrm>
            <a:off x="7647709" y="2113479"/>
            <a:ext cx="3821605" cy="400110"/>
          </a:xfrm>
          <a:prstGeom prst="rect">
            <a:avLst/>
          </a:prstGeom>
          <a:noFill/>
        </p:spPr>
        <p:txBody>
          <a:bodyPr wrap="square">
            <a:spAutoFit/>
          </a:bodyPr>
          <a:lstStyle/>
          <a:p>
            <a:pPr algn="ctr"/>
            <a:r>
              <a:rPr lang="es-MX" sz="2000" dirty="0"/>
              <a:t>Técnica de</a:t>
            </a:r>
            <a:r>
              <a:rPr lang="es-MX" sz="2000" b="1" dirty="0"/>
              <a:t> time </a:t>
            </a:r>
            <a:r>
              <a:rPr lang="es-MX" sz="2000" b="1" dirty="0" err="1"/>
              <a:t>sharing</a:t>
            </a:r>
            <a:endParaRPr lang="es-CO" sz="2000" dirty="0"/>
          </a:p>
        </p:txBody>
      </p:sp>
      <p:pic>
        <p:nvPicPr>
          <p:cNvPr id="13" name="Imagen 12">
            <a:extLst>
              <a:ext uri="{FF2B5EF4-FFF2-40B4-BE49-F238E27FC236}">
                <a16:creationId xmlns:a16="http://schemas.microsoft.com/office/drawing/2014/main" id="{6D500C06-1E35-40D6-9BD7-6F317797D078}"/>
              </a:ext>
            </a:extLst>
          </p:cNvPr>
          <p:cNvPicPr>
            <a:picLocks noChangeAspect="1"/>
          </p:cNvPicPr>
          <p:nvPr/>
        </p:nvPicPr>
        <p:blipFill>
          <a:blip r:embed="rId8"/>
          <a:stretch>
            <a:fillRect/>
          </a:stretch>
        </p:blipFill>
        <p:spPr>
          <a:xfrm>
            <a:off x="886138" y="1865962"/>
            <a:ext cx="3968828" cy="2227665"/>
          </a:xfrm>
          <a:prstGeom prst="rect">
            <a:avLst/>
          </a:prstGeom>
        </p:spPr>
      </p:pic>
    </p:spTree>
    <p:extLst>
      <p:ext uri="{BB962C8B-B14F-4D97-AF65-F5344CB8AC3E}">
        <p14:creationId xmlns:p14="http://schemas.microsoft.com/office/powerpoint/2010/main" val="348316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Elementos de los sistemas operativos</a:t>
            </a:r>
            <a:endParaRPr lang="es-ES" b="1" dirty="0">
              <a:solidFill>
                <a:srgbClr val="0B6937"/>
              </a:solidFill>
              <a:latin typeface="Roboto Slab"/>
              <a:ea typeface="Roboto Slab"/>
              <a:cs typeface="Roboto Slab"/>
              <a:sym typeface="Roboto Slab"/>
            </a:endParaRPr>
          </a:p>
        </p:txBody>
      </p:sp>
      <p:sp>
        <p:nvSpPr>
          <p:cNvPr id="553" name="Google Shape;553;p47"/>
          <p:cNvSpPr txBox="1">
            <a:spLocks noGrp="1"/>
          </p:cNvSpPr>
          <p:nvPr>
            <p:ph idx="1"/>
          </p:nvPr>
        </p:nvSpPr>
        <p:spPr>
          <a:xfrm>
            <a:off x="498764" y="1010300"/>
            <a:ext cx="11042072" cy="53847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None/>
            </a:pPr>
            <a:r>
              <a:rPr lang="es-MX" sz="2000" dirty="0"/>
              <a:t>Estos tres conceptos son los pilares que permiten que el software interactúe con el hardware sin caos</a:t>
            </a:r>
            <a:r>
              <a:rPr lang="es-ES" sz="2000" dirty="0"/>
              <a:t>:</a:t>
            </a:r>
          </a:p>
          <a:p>
            <a:pPr marL="457200" lvl="0" indent="-368300" algn="l" rtl="0">
              <a:lnSpc>
                <a:spcPct val="100000"/>
              </a:lnSpc>
              <a:spcBef>
                <a:spcPts val="600"/>
              </a:spcBef>
              <a:spcAft>
                <a:spcPts val="0"/>
              </a:spcAft>
              <a:buSzPts val="2200"/>
              <a:buAutoNum type="arabicPeriod"/>
            </a:pPr>
            <a:r>
              <a:rPr lang="es-ES" sz="2000" b="1" dirty="0"/>
              <a:t>Abstracción (lo que “ve” el usuario)</a:t>
            </a:r>
            <a:r>
              <a:rPr lang="es-ES" sz="2000" dirty="0"/>
              <a:t>: </a:t>
            </a:r>
            <a:r>
              <a:rPr lang="es-MX" sz="2000" dirty="0"/>
              <a:t>Interfaz simplificada que oculta la complejidad física del hardware.</a:t>
            </a:r>
          </a:p>
          <a:p>
            <a:pPr marL="914400" lvl="1" indent="-368300">
              <a:lnSpc>
                <a:spcPct val="100000"/>
              </a:lnSpc>
              <a:spcBef>
                <a:spcPts val="600"/>
              </a:spcBef>
              <a:buSzPts val="2200"/>
            </a:pPr>
            <a:r>
              <a:rPr lang="es-ES" sz="2000" dirty="0"/>
              <a:t>process, thread, file, socket, memory page.</a:t>
            </a:r>
          </a:p>
          <a:p>
            <a:pPr marL="457200" lvl="0" indent="-368300" algn="l" rtl="0">
              <a:lnSpc>
                <a:spcPct val="100000"/>
              </a:lnSpc>
              <a:spcBef>
                <a:spcPts val="0"/>
              </a:spcBef>
              <a:spcAft>
                <a:spcPts val="0"/>
              </a:spcAft>
              <a:buSzPts val="2200"/>
              <a:buAutoNum type="arabicPeriod"/>
            </a:pPr>
            <a:r>
              <a:rPr lang="es-ES" sz="2000" b="1" dirty="0"/>
              <a:t>Mecanismos (el “como” se hace): </a:t>
            </a:r>
            <a:r>
              <a:rPr lang="es-MX" sz="2000" dirty="0"/>
              <a:t>representa las herramientas o funciones de bajo nivel que permiten implementar una operación.</a:t>
            </a:r>
          </a:p>
          <a:p>
            <a:pPr marL="1003300" lvl="1" indent="-457200">
              <a:lnSpc>
                <a:spcPct val="100000"/>
              </a:lnSpc>
              <a:spcBef>
                <a:spcPts val="0"/>
              </a:spcBef>
              <a:buSzPts val="2200"/>
            </a:pPr>
            <a:r>
              <a:rPr lang="es-ES" sz="2000" dirty="0" err="1"/>
              <a:t>create</a:t>
            </a:r>
            <a:r>
              <a:rPr lang="es-ES" sz="2000" dirty="0"/>
              <a:t>, </a:t>
            </a:r>
            <a:r>
              <a:rPr lang="es-ES" sz="2000" dirty="0" err="1"/>
              <a:t>schedule</a:t>
            </a:r>
            <a:r>
              <a:rPr lang="es-ES" sz="2000" dirty="0"/>
              <a:t>, open, </a:t>
            </a:r>
            <a:r>
              <a:rPr lang="es-ES" sz="2000" dirty="0" err="1"/>
              <a:t>write</a:t>
            </a:r>
            <a:r>
              <a:rPr lang="es-ES" sz="2000" dirty="0"/>
              <a:t>, </a:t>
            </a:r>
            <a:r>
              <a:rPr lang="es-ES" sz="2000" dirty="0" err="1"/>
              <a:t>locate</a:t>
            </a:r>
            <a:r>
              <a:rPr lang="es-ES" sz="2000" dirty="0"/>
              <a:t>.</a:t>
            </a:r>
          </a:p>
          <a:p>
            <a:pPr marL="457200" lvl="0" indent="-368300" algn="l" rtl="0">
              <a:lnSpc>
                <a:spcPct val="100000"/>
              </a:lnSpc>
              <a:spcBef>
                <a:spcPts val="0"/>
              </a:spcBef>
              <a:spcAft>
                <a:spcPts val="0"/>
              </a:spcAft>
              <a:buSzPts val="2200"/>
              <a:buAutoNum type="arabicPeriod"/>
            </a:pPr>
            <a:r>
              <a:rPr lang="es-ES" sz="2000" b="1" dirty="0"/>
              <a:t>Políticas (El “quien” y “cuando”)</a:t>
            </a:r>
            <a:r>
              <a:rPr lang="es-ES" sz="2000" dirty="0"/>
              <a:t>: </a:t>
            </a:r>
            <a:r>
              <a:rPr lang="es-MX" sz="2000" dirty="0"/>
              <a:t>es el conjunto de reglas o algoritmos que deciden cómo se utilizan los mecanismos para cumplir un objetivo.</a:t>
            </a:r>
          </a:p>
          <a:p>
            <a:pPr marL="1003300" lvl="1" indent="-457200">
              <a:lnSpc>
                <a:spcPct val="100000"/>
              </a:lnSpc>
              <a:spcBef>
                <a:spcPts val="0"/>
              </a:spcBef>
              <a:buSzPts val="2200"/>
            </a:pPr>
            <a:r>
              <a:rPr lang="es-ES" sz="2000" dirty="0" err="1"/>
              <a:t>Last</a:t>
            </a:r>
            <a:r>
              <a:rPr lang="es-ES" sz="2000" dirty="0"/>
              <a:t> Recently Used (LRU), Earliest </a:t>
            </a:r>
            <a:r>
              <a:rPr lang="es-ES" sz="2000" dirty="0" err="1"/>
              <a:t>Deadline</a:t>
            </a:r>
            <a:r>
              <a:rPr lang="es-ES" sz="2000" dirty="0"/>
              <a:t> </a:t>
            </a:r>
            <a:r>
              <a:rPr lang="es-ES" sz="2000" dirty="0" err="1"/>
              <a:t>First</a:t>
            </a:r>
            <a:r>
              <a:rPr lang="es-ES" sz="2000" dirty="0"/>
              <a:t> (EDF), etc.</a:t>
            </a:r>
          </a:p>
          <a:p>
            <a:pPr marL="457200" lvl="0" indent="0" algn="l" rtl="0">
              <a:lnSpc>
                <a:spcPct val="100000"/>
              </a:lnSpc>
              <a:spcBef>
                <a:spcPts val="480"/>
              </a:spcBef>
              <a:spcAft>
                <a:spcPts val="0"/>
              </a:spcAft>
              <a:buNone/>
            </a:pPr>
            <a:endParaRPr lang="es-ES" sz="2000" dirty="0"/>
          </a:p>
          <a:p>
            <a:pPr marL="457200" lvl="0" indent="0" algn="l" rtl="0">
              <a:spcBef>
                <a:spcPts val="1000"/>
              </a:spcBef>
              <a:spcAft>
                <a:spcPts val="0"/>
              </a:spcAft>
              <a:buNone/>
            </a:pPr>
            <a:endParaRPr lang="es-ES" dirty="0"/>
          </a:p>
        </p:txBody>
      </p:sp>
      <p:graphicFrame>
        <p:nvGraphicFramePr>
          <p:cNvPr id="554" name="Google Shape;554;p47"/>
          <p:cNvGraphicFramePr/>
          <p:nvPr>
            <p:extLst>
              <p:ext uri="{D42A27DB-BD31-4B8C-83A1-F6EECF244321}">
                <p14:modId xmlns:p14="http://schemas.microsoft.com/office/powerpoint/2010/main" val="858836648"/>
              </p:ext>
            </p:extLst>
          </p:nvPr>
        </p:nvGraphicFramePr>
        <p:xfrm>
          <a:off x="3385997" y="4932050"/>
          <a:ext cx="7967803" cy="1462950"/>
        </p:xfrm>
        <a:graphic>
          <a:graphicData uri="http://schemas.openxmlformats.org/drawingml/2006/table">
            <a:tbl>
              <a:tblPr>
                <a:noFill/>
              </a:tblPr>
              <a:tblGrid>
                <a:gridCol w="2057479">
                  <a:extLst>
                    <a:ext uri="{9D8B030D-6E8A-4147-A177-3AD203B41FA5}">
                      <a16:colId xmlns:a16="http://schemas.microsoft.com/office/drawing/2014/main" val="20000"/>
                    </a:ext>
                  </a:extLst>
                </a:gridCol>
                <a:gridCol w="2231942">
                  <a:extLst>
                    <a:ext uri="{9D8B030D-6E8A-4147-A177-3AD203B41FA5}">
                      <a16:colId xmlns:a16="http://schemas.microsoft.com/office/drawing/2014/main" val="20001"/>
                    </a:ext>
                  </a:extLst>
                </a:gridCol>
                <a:gridCol w="3678382">
                  <a:extLst>
                    <a:ext uri="{9D8B030D-6E8A-4147-A177-3AD203B41FA5}">
                      <a16:colId xmlns:a16="http://schemas.microsoft.com/office/drawing/2014/main" val="20002"/>
                    </a:ext>
                  </a:extLst>
                </a:gridCol>
              </a:tblGrid>
              <a:tr h="396200">
                <a:tc rowSpan="3">
                  <a:txBody>
                    <a:bodyPr/>
                    <a:lstStyle/>
                    <a:p>
                      <a:pPr marL="0" lvl="0" indent="0" algn="ctr" rtl="0">
                        <a:spcBef>
                          <a:spcPts val="0"/>
                        </a:spcBef>
                        <a:spcAft>
                          <a:spcPts val="0"/>
                        </a:spcAft>
                        <a:buNone/>
                      </a:pPr>
                      <a:r>
                        <a:rPr lang="es-ES" sz="2200" b="1" dirty="0"/>
                        <a:t>Process management</a:t>
                      </a:r>
                      <a:endParaRPr sz="2200" b="1" dirty="0"/>
                    </a:p>
                  </a:txBody>
                  <a:tcPr marL="91425" marR="91425" marT="91425" marB="91425" anchor="ctr"/>
                </a:tc>
                <a:tc>
                  <a:txBody>
                    <a:bodyPr/>
                    <a:lstStyle/>
                    <a:p>
                      <a:pPr marL="0" lvl="0" indent="0" algn="l" rtl="0">
                        <a:spcBef>
                          <a:spcPts val="0"/>
                        </a:spcBef>
                        <a:spcAft>
                          <a:spcPts val="0"/>
                        </a:spcAft>
                        <a:buNone/>
                      </a:pPr>
                      <a:r>
                        <a:rPr lang="es-ES" sz="2000" b="1"/>
                        <a:t>Abstracción</a:t>
                      </a:r>
                      <a:endParaRPr sz="2000" b="1"/>
                    </a:p>
                  </a:txBody>
                  <a:tcPr marL="91425" marR="91425" marT="91425" marB="91425"/>
                </a:tc>
                <a:tc>
                  <a:txBody>
                    <a:bodyPr/>
                    <a:lstStyle/>
                    <a:p>
                      <a:pPr marL="0" lvl="0" indent="0" algn="l" rtl="0">
                        <a:spcBef>
                          <a:spcPts val="0"/>
                        </a:spcBef>
                        <a:spcAft>
                          <a:spcPts val="0"/>
                        </a:spcAft>
                        <a:buNone/>
                      </a:pPr>
                      <a:r>
                        <a:rPr lang="es-ES" sz="2000"/>
                        <a:t>Proceso</a:t>
                      </a:r>
                      <a:endParaRPr sz="2000"/>
                    </a:p>
                  </a:txBody>
                  <a:tcPr marL="91425" marR="91425" marT="91425" marB="91425"/>
                </a:tc>
                <a:extLst>
                  <a:ext uri="{0D108BD9-81ED-4DB2-BD59-A6C34878D82A}">
                    <a16:rowId xmlns:a16="http://schemas.microsoft.com/office/drawing/2014/main" val="10000"/>
                  </a:ext>
                </a:extLst>
              </a:tr>
              <a:tr h="396200">
                <a:tc vMerge="1">
                  <a:txBody>
                    <a:bodyPr/>
                    <a:lstStyle/>
                    <a:p>
                      <a:endParaRPr lang="es-CO"/>
                    </a:p>
                  </a:txBody>
                  <a:tcPr/>
                </a:tc>
                <a:tc>
                  <a:txBody>
                    <a:bodyPr/>
                    <a:lstStyle/>
                    <a:p>
                      <a:pPr marL="0" lvl="0" indent="0" algn="l" rtl="0">
                        <a:spcBef>
                          <a:spcPts val="0"/>
                        </a:spcBef>
                        <a:spcAft>
                          <a:spcPts val="0"/>
                        </a:spcAft>
                        <a:buNone/>
                      </a:pPr>
                      <a:r>
                        <a:rPr lang="es-ES" sz="2000" b="1"/>
                        <a:t>Mecanismos</a:t>
                      </a:r>
                      <a:endParaRPr sz="2000" b="1"/>
                    </a:p>
                  </a:txBody>
                  <a:tcPr marL="91425" marR="91425" marT="91425" marB="91425"/>
                </a:tc>
                <a:tc>
                  <a:txBody>
                    <a:bodyPr/>
                    <a:lstStyle/>
                    <a:p>
                      <a:pPr marL="0" lvl="0" indent="0" algn="l" rtl="0">
                        <a:spcBef>
                          <a:spcPts val="0"/>
                        </a:spcBef>
                        <a:spcAft>
                          <a:spcPts val="0"/>
                        </a:spcAft>
                        <a:buNone/>
                      </a:pPr>
                      <a:r>
                        <a:rPr lang="es-ES" sz="2000"/>
                        <a:t>create, destroy, wait, status,...</a:t>
                      </a:r>
                      <a:endParaRPr sz="2000"/>
                    </a:p>
                  </a:txBody>
                  <a:tcPr marL="91425" marR="91425" marT="91425" marB="91425"/>
                </a:tc>
                <a:extLst>
                  <a:ext uri="{0D108BD9-81ED-4DB2-BD59-A6C34878D82A}">
                    <a16:rowId xmlns:a16="http://schemas.microsoft.com/office/drawing/2014/main" val="10001"/>
                  </a:ext>
                </a:extLst>
              </a:tr>
              <a:tr h="396200">
                <a:tc vMerge="1">
                  <a:txBody>
                    <a:bodyPr/>
                    <a:lstStyle/>
                    <a:p>
                      <a:endParaRPr lang="es-CO"/>
                    </a:p>
                  </a:txBody>
                  <a:tcPr/>
                </a:tc>
                <a:tc>
                  <a:txBody>
                    <a:bodyPr/>
                    <a:lstStyle/>
                    <a:p>
                      <a:pPr marL="0" lvl="0" indent="0" algn="l" rtl="0">
                        <a:spcBef>
                          <a:spcPts val="0"/>
                        </a:spcBef>
                        <a:spcAft>
                          <a:spcPts val="0"/>
                        </a:spcAft>
                        <a:buNone/>
                      </a:pPr>
                      <a:r>
                        <a:rPr lang="es-ES" sz="2000" b="1" dirty="0"/>
                        <a:t>Políticas</a:t>
                      </a:r>
                      <a:endParaRPr sz="2000" b="1" dirty="0"/>
                    </a:p>
                  </a:txBody>
                  <a:tcPr marL="91425" marR="91425" marT="91425" marB="91425"/>
                </a:tc>
                <a:tc>
                  <a:txBody>
                    <a:bodyPr/>
                    <a:lstStyle/>
                    <a:p>
                      <a:pPr marL="0" lvl="0" indent="0" algn="l" rtl="0">
                        <a:spcBef>
                          <a:spcPts val="0"/>
                        </a:spcBef>
                        <a:spcAft>
                          <a:spcPts val="0"/>
                        </a:spcAft>
                        <a:buNone/>
                      </a:pPr>
                      <a:r>
                        <a:rPr lang="es-ES" sz="2000" dirty="0">
                          <a:solidFill>
                            <a:schemeClr val="dk1"/>
                          </a:solidFill>
                        </a:rPr>
                        <a:t>FIFO, RR,...</a:t>
                      </a:r>
                      <a:endParaRPr sz="2000" dirty="0"/>
                    </a:p>
                  </a:txBody>
                  <a:tcPr marL="91425" marR="91425" marT="91425" marB="91425"/>
                </a:tc>
                <a:extLst>
                  <a:ext uri="{0D108BD9-81ED-4DB2-BD59-A6C34878D82A}">
                    <a16:rowId xmlns:a16="http://schemas.microsoft.com/office/drawing/2014/main" val="10002"/>
                  </a:ext>
                </a:extLst>
              </a:tr>
            </a:tbl>
          </a:graphicData>
        </a:graphic>
      </p:graphicFrame>
      <p:pic>
        <p:nvPicPr>
          <p:cNvPr id="7" name="Google Shape;450;p37">
            <a:extLst>
              <a:ext uri="{FF2B5EF4-FFF2-40B4-BE49-F238E27FC236}">
                <a16:creationId xmlns:a16="http://schemas.microsoft.com/office/drawing/2014/main" id="{070461D4-9EB4-42DF-B68B-A1B548142DED}"/>
              </a:ext>
            </a:extLst>
          </p:cNvPr>
          <p:cNvPicPr preferRelativeResize="0"/>
          <p:nvPr/>
        </p:nvPicPr>
        <p:blipFill>
          <a:blip r:embed="rId3">
            <a:alphaModFix/>
          </a:blip>
          <a:stretch>
            <a:fillRect/>
          </a:stretch>
        </p:blipFill>
        <p:spPr>
          <a:xfrm>
            <a:off x="1687225" y="5188775"/>
            <a:ext cx="949500" cy="949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Como implementar la Abstracción</a:t>
            </a:r>
            <a:endParaRPr lang="es-ES" b="1" dirty="0">
              <a:solidFill>
                <a:srgbClr val="0B6937"/>
              </a:solidFill>
              <a:latin typeface="Roboto Slab"/>
              <a:ea typeface="Roboto Slab"/>
              <a:cs typeface="Roboto Slab"/>
              <a:sym typeface="Roboto Slab"/>
            </a:endParaRPr>
          </a:p>
        </p:txBody>
      </p:sp>
      <p:sp>
        <p:nvSpPr>
          <p:cNvPr id="553" name="Google Shape;553;p47"/>
          <p:cNvSpPr txBox="1">
            <a:spLocks noGrp="1"/>
          </p:cNvSpPr>
          <p:nvPr>
            <p:ph idx="1"/>
          </p:nvPr>
        </p:nvSpPr>
        <p:spPr>
          <a:xfrm>
            <a:off x="332510" y="1081755"/>
            <a:ext cx="5541818" cy="2730428"/>
          </a:xfrm>
          <a:prstGeom prst="rect">
            <a:avLst/>
          </a:prstGeom>
        </p:spPr>
        <p:txBody>
          <a:bodyPr spcFirstLastPara="1" wrap="square" lIns="91425" tIns="45700" rIns="91425" bIns="45700" anchor="t" anchorCtr="0">
            <a:noAutofit/>
          </a:bodyPr>
          <a:lstStyle/>
          <a:p>
            <a:pPr marL="0" indent="0">
              <a:buNone/>
            </a:pPr>
            <a:r>
              <a:rPr lang="es-MX" sz="2000" b="1" dirty="0"/>
              <a:t>La Abstracción (El "Qué")</a:t>
            </a:r>
          </a:p>
          <a:p>
            <a:pPr>
              <a:buFont typeface="Arial" panose="020B0604020202020204" pitchFamily="34" charset="0"/>
              <a:buChar char="•"/>
            </a:pPr>
            <a:r>
              <a:rPr lang="es-MX" sz="2000" b="1" dirty="0"/>
              <a:t>Definición:</a:t>
            </a:r>
            <a:r>
              <a:rPr lang="es-MX" sz="2000" dirty="0"/>
              <a:t> Modelo simplificado que oculta la complejidad del hardware.</a:t>
            </a:r>
          </a:p>
          <a:p>
            <a:pPr>
              <a:buFont typeface="Arial" panose="020B0604020202020204" pitchFamily="34" charset="0"/>
              <a:buChar char="•"/>
            </a:pPr>
            <a:r>
              <a:rPr lang="es-MX" sz="2000" b="1" dirty="0"/>
              <a:t>Objetivo:</a:t>
            </a:r>
            <a:r>
              <a:rPr lang="es-MX" sz="2000" dirty="0"/>
              <a:t> Transformar recursos físicos (voltajes, sectores) en objetos lógicos.</a:t>
            </a:r>
          </a:p>
          <a:p>
            <a:pPr>
              <a:buFont typeface="Arial" panose="020B0604020202020204" pitchFamily="34" charset="0"/>
              <a:buChar char="•"/>
            </a:pPr>
            <a:r>
              <a:rPr lang="es-MX" sz="2000" b="1" dirty="0"/>
              <a:t>Ejemplos:</a:t>
            </a:r>
            <a:r>
              <a:rPr lang="es-MX" sz="2000" dirty="0"/>
              <a:t> Archivos, Procesos, Espacios de Direccionamiento.</a:t>
            </a:r>
          </a:p>
          <a:p>
            <a:pPr marL="457200" lvl="0" indent="0" algn="l" rtl="0">
              <a:spcBef>
                <a:spcPts val="1000"/>
              </a:spcBef>
              <a:spcAft>
                <a:spcPts val="0"/>
              </a:spcAft>
              <a:buNone/>
            </a:pPr>
            <a:endParaRPr lang="es-ES" dirty="0"/>
          </a:p>
        </p:txBody>
      </p:sp>
      <p:sp>
        <p:nvSpPr>
          <p:cNvPr id="8" name="Google Shape;553;p47">
            <a:extLst>
              <a:ext uri="{FF2B5EF4-FFF2-40B4-BE49-F238E27FC236}">
                <a16:creationId xmlns:a16="http://schemas.microsoft.com/office/drawing/2014/main" id="{44A36B86-4315-41B1-9567-DB30590BDC3C}"/>
              </a:ext>
            </a:extLst>
          </p:cNvPr>
          <p:cNvSpPr txBox="1">
            <a:spLocks/>
          </p:cNvSpPr>
          <p:nvPr/>
        </p:nvSpPr>
        <p:spPr>
          <a:xfrm>
            <a:off x="6096000" y="973103"/>
            <a:ext cx="5375564" cy="2875298"/>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MX" sz="2000" b="1" dirty="0"/>
              <a:t>La API (El "Contrato")</a:t>
            </a:r>
          </a:p>
          <a:p>
            <a:r>
              <a:rPr lang="es-MX" sz="2000" b="1" dirty="0"/>
              <a:t>Definición:</a:t>
            </a:r>
            <a:r>
              <a:rPr lang="es-MX" sz="2000" dirty="0"/>
              <a:t> Conjunto de funciones y protocolos (</a:t>
            </a:r>
            <a:r>
              <a:rPr lang="es-MX" sz="2000" b="1" dirty="0"/>
              <a:t>punto de entrada</a:t>
            </a:r>
            <a:r>
              <a:rPr lang="es-MX" sz="2000" dirty="0"/>
              <a:t>) para interactuar con el Kernel.</a:t>
            </a:r>
          </a:p>
          <a:p>
            <a:r>
              <a:rPr lang="es-MX" sz="2000" b="1" dirty="0"/>
              <a:t>Rol:</a:t>
            </a:r>
            <a:r>
              <a:rPr lang="es-MX" sz="2000" dirty="0"/>
              <a:t> Es la </a:t>
            </a:r>
            <a:r>
              <a:rPr lang="es-MX" sz="2000" b="1" dirty="0"/>
              <a:t>formalización de la abstracción</a:t>
            </a:r>
            <a:r>
              <a:rPr lang="es-MX" sz="2000" dirty="0"/>
              <a:t>. Permite la portabilidad (ej. POSIX).</a:t>
            </a:r>
          </a:p>
          <a:p>
            <a:r>
              <a:rPr lang="es-MX" sz="2000" b="1" dirty="0"/>
              <a:t>Seguridad:</a:t>
            </a:r>
            <a:r>
              <a:rPr lang="es-MX" sz="2000" dirty="0"/>
              <a:t> Única vía legal para pasar de </a:t>
            </a:r>
            <a:r>
              <a:rPr lang="es-MX" sz="2000" i="1" dirty="0"/>
              <a:t>Modo Usuario</a:t>
            </a:r>
            <a:r>
              <a:rPr lang="es-MX" sz="2000" dirty="0"/>
              <a:t> a </a:t>
            </a:r>
            <a:r>
              <a:rPr lang="es-MX" sz="2000" i="1" dirty="0"/>
              <a:t>Modo Privilegiado</a:t>
            </a:r>
            <a:r>
              <a:rPr lang="es-MX" sz="2000" dirty="0"/>
              <a:t>.</a:t>
            </a:r>
          </a:p>
          <a:p>
            <a:pPr marL="457200" indent="0">
              <a:buFont typeface="Arial" panose="020B0604020202020204" pitchFamily="34" charset="0"/>
              <a:buNone/>
            </a:pPr>
            <a:endParaRPr lang="es-ES" dirty="0"/>
          </a:p>
        </p:txBody>
      </p:sp>
      <p:graphicFrame>
        <p:nvGraphicFramePr>
          <p:cNvPr id="9" name="Google Shape;573;p49">
            <a:extLst>
              <a:ext uri="{FF2B5EF4-FFF2-40B4-BE49-F238E27FC236}">
                <a16:creationId xmlns:a16="http://schemas.microsoft.com/office/drawing/2014/main" id="{9D258CAB-F7EB-45DD-86D2-DC610D7A34A2}"/>
              </a:ext>
            </a:extLst>
          </p:cNvPr>
          <p:cNvGraphicFramePr/>
          <p:nvPr>
            <p:extLst>
              <p:ext uri="{D42A27DB-BD31-4B8C-83A1-F6EECF244321}">
                <p14:modId xmlns:p14="http://schemas.microsoft.com/office/powerpoint/2010/main" val="3495955911"/>
              </p:ext>
            </p:extLst>
          </p:nvPr>
        </p:nvGraphicFramePr>
        <p:xfrm>
          <a:off x="5591434" y="4037018"/>
          <a:ext cx="6289964" cy="2560140"/>
        </p:xfrm>
        <a:graphic>
          <a:graphicData uri="http://schemas.openxmlformats.org/drawingml/2006/table">
            <a:tbl>
              <a:tblPr>
                <a:noFill/>
              </a:tblPr>
              <a:tblGrid>
                <a:gridCol w="2327563">
                  <a:extLst>
                    <a:ext uri="{9D8B030D-6E8A-4147-A177-3AD203B41FA5}">
                      <a16:colId xmlns:a16="http://schemas.microsoft.com/office/drawing/2014/main" val="20000"/>
                    </a:ext>
                  </a:extLst>
                </a:gridCol>
                <a:gridCol w="3962401">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ES" sz="1600" b="1"/>
                        <a:t>Función</a:t>
                      </a:r>
                      <a:endParaRPr sz="1600" b="1"/>
                    </a:p>
                  </a:txBody>
                  <a:tcPr marL="91425" marR="91425" marT="91425" marB="91425"/>
                </a:tc>
                <a:tc>
                  <a:txBody>
                    <a:bodyPr/>
                    <a:lstStyle/>
                    <a:p>
                      <a:pPr marL="0" lvl="0" indent="0" algn="l" rtl="0">
                        <a:spcBef>
                          <a:spcPts val="0"/>
                        </a:spcBef>
                        <a:spcAft>
                          <a:spcPts val="0"/>
                        </a:spcAft>
                        <a:buNone/>
                      </a:pPr>
                      <a:r>
                        <a:rPr lang="es-ES" sz="1600" b="1"/>
                        <a:t>Descripción</a:t>
                      </a:r>
                      <a:endParaRPr sz="1600"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Crear (</a:t>
                      </a:r>
                      <a:r>
                        <a:rPr lang="es-ES" sz="1200" dirty="0" err="1">
                          <a:latin typeface="Courier New"/>
                          <a:ea typeface="Courier New"/>
                          <a:cs typeface="Courier New"/>
                          <a:sym typeface="Courier New"/>
                        </a:rPr>
                        <a:t>create</a:t>
                      </a:r>
                      <a:r>
                        <a:rPr lang="es-ES" sz="1200" dirty="0">
                          <a:latin typeface="Courier New"/>
                          <a:ea typeface="Courier New"/>
                          <a:cs typeface="Courier New"/>
                          <a:sym typeface="Courier New"/>
                        </a:rPr>
                        <a:t>)</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a:t>Crea un nuevo proceso para ejecutar un programa.</a:t>
                      </a:r>
                      <a:endParaRPr sz="14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ES" sz="1200">
                          <a:latin typeface="Courier New"/>
                          <a:ea typeface="Courier New"/>
                          <a:cs typeface="Courier New"/>
                          <a:sym typeface="Courier New"/>
                        </a:rPr>
                        <a:t>Eliminar (destroy)</a:t>
                      </a:r>
                      <a:endParaRPr sz="120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Forzar la detención de un programa en ejecución.</a:t>
                      </a:r>
                      <a:endParaRPr sz="1400"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Esperar (</a:t>
                      </a:r>
                      <a:r>
                        <a:rPr lang="es-ES" sz="1200" dirty="0" err="1">
                          <a:latin typeface="Courier New"/>
                          <a:ea typeface="Courier New"/>
                          <a:cs typeface="Courier New"/>
                          <a:sym typeface="Courier New"/>
                        </a:rPr>
                        <a:t>wait</a:t>
                      </a:r>
                      <a:r>
                        <a:rPr lang="es-ES" sz="1200" dirty="0">
                          <a:latin typeface="Courier New"/>
                          <a:ea typeface="Courier New"/>
                          <a:cs typeface="Courier New"/>
                          <a:sym typeface="Courier New"/>
                        </a:rPr>
                        <a:t>)</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a:t>Espera que un proceso termine su ejecución.</a:t>
                      </a:r>
                      <a:endParaRPr sz="14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Operaciones de control	</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Ej. Suspender un proceso.</a:t>
                      </a:r>
                      <a:endParaRPr sz="1400" dirty="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Estado (status)</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Información de estado del proceso.</a:t>
                      </a:r>
                      <a:endParaRPr sz="1400" dirty="0"/>
                    </a:p>
                  </a:txBody>
                  <a:tcPr marL="91425" marR="91425" marT="91425" marB="91425"/>
                </a:tc>
                <a:extLst>
                  <a:ext uri="{0D108BD9-81ED-4DB2-BD59-A6C34878D82A}">
                    <a16:rowId xmlns:a16="http://schemas.microsoft.com/office/drawing/2014/main" val="10005"/>
                  </a:ext>
                </a:extLst>
              </a:tr>
            </a:tbl>
          </a:graphicData>
        </a:graphic>
      </p:graphicFrame>
      <p:pic>
        <p:nvPicPr>
          <p:cNvPr id="10" name="Picture 2" descr="processlifecycle">
            <a:extLst>
              <a:ext uri="{FF2B5EF4-FFF2-40B4-BE49-F238E27FC236}">
                <a16:creationId xmlns:a16="http://schemas.microsoft.com/office/drawing/2014/main" id="{22CC7EA7-E9C0-494C-845B-A0496714D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650" y="4037018"/>
            <a:ext cx="3754149" cy="2121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762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Como implementar la Abstracción</a:t>
            </a:r>
            <a:endParaRPr lang="es-ES" b="1" dirty="0">
              <a:solidFill>
                <a:srgbClr val="0B6937"/>
              </a:solidFill>
              <a:latin typeface="Roboto Slab"/>
              <a:ea typeface="Roboto Slab"/>
              <a:cs typeface="Roboto Slab"/>
              <a:sym typeface="Roboto Slab"/>
            </a:endParaRPr>
          </a:p>
        </p:txBody>
      </p:sp>
      <p:sp>
        <p:nvSpPr>
          <p:cNvPr id="553" name="Google Shape;553;p47"/>
          <p:cNvSpPr txBox="1">
            <a:spLocks noGrp="1"/>
          </p:cNvSpPr>
          <p:nvPr>
            <p:ph idx="1"/>
          </p:nvPr>
        </p:nvSpPr>
        <p:spPr>
          <a:xfrm>
            <a:off x="332510" y="1081755"/>
            <a:ext cx="5541818" cy="2730428"/>
          </a:xfrm>
          <a:prstGeom prst="rect">
            <a:avLst/>
          </a:prstGeom>
        </p:spPr>
        <p:txBody>
          <a:bodyPr spcFirstLastPara="1" wrap="square" lIns="91425" tIns="45700" rIns="91425" bIns="45700" anchor="t" anchorCtr="0">
            <a:noAutofit/>
          </a:bodyPr>
          <a:lstStyle/>
          <a:p>
            <a:pPr marL="0" indent="0">
              <a:buNone/>
            </a:pPr>
            <a:r>
              <a:rPr lang="es-MX" sz="2000" b="1" dirty="0"/>
              <a:t>La Abstracción (El "Qué")</a:t>
            </a:r>
          </a:p>
          <a:p>
            <a:pPr>
              <a:buFont typeface="Arial" panose="020B0604020202020204" pitchFamily="34" charset="0"/>
              <a:buChar char="•"/>
            </a:pPr>
            <a:r>
              <a:rPr lang="es-MX" sz="2000" b="1" dirty="0"/>
              <a:t>Definición:</a:t>
            </a:r>
            <a:r>
              <a:rPr lang="es-MX" sz="2000" dirty="0"/>
              <a:t> Modelo simplificado que oculta la complejidad del hardware.</a:t>
            </a:r>
          </a:p>
          <a:p>
            <a:pPr>
              <a:buFont typeface="Arial" panose="020B0604020202020204" pitchFamily="34" charset="0"/>
              <a:buChar char="•"/>
            </a:pPr>
            <a:r>
              <a:rPr lang="es-MX" sz="2000" b="1" dirty="0"/>
              <a:t>Objetivo:</a:t>
            </a:r>
            <a:r>
              <a:rPr lang="es-MX" sz="2000" dirty="0"/>
              <a:t> Transformar recursos físicos (voltajes, sectores) en objetos lógicos.</a:t>
            </a:r>
          </a:p>
          <a:p>
            <a:pPr>
              <a:buFont typeface="Arial" panose="020B0604020202020204" pitchFamily="34" charset="0"/>
              <a:buChar char="•"/>
            </a:pPr>
            <a:r>
              <a:rPr lang="es-MX" sz="2000" b="1" dirty="0"/>
              <a:t>Ejemplos:</a:t>
            </a:r>
            <a:r>
              <a:rPr lang="es-MX" sz="2000" dirty="0"/>
              <a:t> Archivos, Procesos, Espacios de Direccionamiento.</a:t>
            </a:r>
          </a:p>
          <a:p>
            <a:pPr marL="457200" lvl="0" indent="0" algn="l" rtl="0">
              <a:spcBef>
                <a:spcPts val="1000"/>
              </a:spcBef>
              <a:spcAft>
                <a:spcPts val="0"/>
              </a:spcAft>
              <a:buNone/>
            </a:pPr>
            <a:endParaRPr lang="es-ES" dirty="0"/>
          </a:p>
        </p:txBody>
      </p:sp>
      <p:sp>
        <p:nvSpPr>
          <p:cNvPr id="8" name="Google Shape;553;p47">
            <a:extLst>
              <a:ext uri="{FF2B5EF4-FFF2-40B4-BE49-F238E27FC236}">
                <a16:creationId xmlns:a16="http://schemas.microsoft.com/office/drawing/2014/main" id="{44A36B86-4315-41B1-9567-DB30590BDC3C}"/>
              </a:ext>
            </a:extLst>
          </p:cNvPr>
          <p:cNvSpPr txBox="1">
            <a:spLocks/>
          </p:cNvSpPr>
          <p:nvPr/>
        </p:nvSpPr>
        <p:spPr>
          <a:xfrm>
            <a:off x="6096000" y="973103"/>
            <a:ext cx="5375564" cy="2875298"/>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MX" sz="2000" b="1" dirty="0"/>
              <a:t>La API (El "Contrato")</a:t>
            </a:r>
          </a:p>
          <a:p>
            <a:r>
              <a:rPr lang="es-MX" sz="2000" b="1" dirty="0"/>
              <a:t>Definición:</a:t>
            </a:r>
            <a:r>
              <a:rPr lang="es-MX" sz="2000" dirty="0"/>
              <a:t> Conjunto de funciones y protocolos (</a:t>
            </a:r>
            <a:r>
              <a:rPr lang="es-MX" sz="2000" b="1" dirty="0"/>
              <a:t>punto de entrada</a:t>
            </a:r>
            <a:r>
              <a:rPr lang="es-MX" sz="2000" dirty="0"/>
              <a:t>) para interactuar con el Kernel.</a:t>
            </a:r>
          </a:p>
          <a:p>
            <a:r>
              <a:rPr lang="es-MX" sz="2000" b="1" dirty="0"/>
              <a:t>Rol:</a:t>
            </a:r>
            <a:r>
              <a:rPr lang="es-MX" sz="2000" dirty="0"/>
              <a:t> Es la </a:t>
            </a:r>
            <a:r>
              <a:rPr lang="es-MX" sz="2000" b="1" dirty="0"/>
              <a:t>formalización de la abstracción</a:t>
            </a:r>
            <a:r>
              <a:rPr lang="es-MX" sz="2000" dirty="0"/>
              <a:t>. Permite la portabilidad (ej. POSIX).</a:t>
            </a:r>
          </a:p>
          <a:p>
            <a:r>
              <a:rPr lang="es-MX" sz="2000" b="1" dirty="0"/>
              <a:t>Seguridad:</a:t>
            </a:r>
            <a:r>
              <a:rPr lang="es-MX" sz="2000" dirty="0"/>
              <a:t> Única vía legal para pasar de </a:t>
            </a:r>
            <a:r>
              <a:rPr lang="es-MX" sz="2000" i="1" dirty="0"/>
              <a:t>Modo Usuario</a:t>
            </a:r>
            <a:r>
              <a:rPr lang="es-MX" sz="2000" dirty="0"/>
              <a:t> a </a:t>
            </a:r>
            <a:r>
              <a:rPr lang="es-MX" sz="2000" i="1" dirty="0"/>
              <a:t>Modo Privilegiado</a:t>
            </a:r>
            <a:r>
              <a:rPr lang="es-MX" sz="2000" dirty="0"/>
              <a:t>.</a:t>
            </a:r>
          </a:p>
          <a:p>
            <a:pPr marL="457200" indent="0">
              <a:buFont typeface="Arial" panose="020B0604020202020204" pitchFamily="34" charset="0"/>
              <a:buNone/>
            </a:pPr>
            <a:endParaRPr lang="es-ES" dirty="0"/>
          </a:p>
        </p:txBody>
      </p:sp>
      <p:graphicFrame>
        <p:nvGraphicFramePr>
          <p:cNvPr id="9" name="Google Shape;573;p49">
            <a:extLst>
              <a:ext uri="{FF2B5EF4-FFF2-40B4-BE49-F238E27FC236}">
                <a16:creationId xmlns:a16="http://schemas.microsoft.com/office/drawing/2014/main" id="{9D258CAB-F7EB-45DD-86D2-DC610D7A34A2}"/>
              </a:ext>
            </a:extLst>
          </p:cNvPr>
          <p:cNvGraphicFramePr/>
          <p:nvPr/>
        </p:nvGraphicFramePr>
        <p:xfrm>
          <a:off x="5591434" y="4037018"/>
          <a:ext cx="6289964" cy="2560140"/>
        </p:xfrm>
        <a:graphic>
          <a:graphicData uri="http://schemas.openxmlformats.org/drawingml/2006/table">
            <a:tbl>
              <a:tblPr>
                <a:noFill/>
              </a:tblPr>
              <a:tblGrid>
                <a:gridCol w="2327563">
                  <a:extLst>
                    <a:ext uri="{9D8B030D-6E8A-4147-A177-3AD203B41FA5}">
                      <a16:colId xmlns:a16="http://schemas.microsoft.com/office/drawing/2014/main" val="20000"/>
                    </a:ext>
                  </a:extLst>
                </a:gridCol>
                <a:gridCol w="3962401">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ES" sz="1600" b="1"/>
                        <a:t>Función</a:t>
                      </a:r>
                      <a:endParaRPr sz="1600" b="1"/>
                    </a:p>
                  </a:txBody>
                  <a:tcPr marL="91425" marR="91425" marT="91425" marB="91425"/>
                </a:tc>
                <a:tc>
                  <a:txBody>
                    <a:bodyPr/>
                    <a:lstStyle/>
                    <a:p>
                      <a:pPr marL="0" lvl="0" indent="0" algn="l" rtl="0">
                        <a:spcBef>
                          <a:spcPts val="0"/>
                        </a:spcBef>
                        <a:spcAft>
                          <a:spcPts val="0"/>
                        </a:spcAft>
                        <a:buNone/>
                      </a:pPr>
                      <a:r>
                        <a:rPr lang="es-ES" sz="1600" b="1"/>
                        <a:t>Descripción</a:t>
                      </a:r>
                      <a:endParaRPr sz="1600"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Crear (</a:t>
                      </a:r>
                      <a:r>
                        <a:rPr lang="es-ES" sz="1200" dirty="0" err="1">
                          <a:latin typeface="Courier New"/>
                          <a:ea typeface="Courier New"/>
                          <a:cs typeface="Courier New"/>
                          <a:sym typeface="Courier New"/>
                        </a:rPr>
                        <a:t>create</a:t>
                      </a:r>
                      <a:r>
                        <a:rPr lang="es-ES" sz="1200" dirty="0">
                          <a:latin typeface="Courier New"/>
                          <a:ea typeface="Courier New"/>
                          <a:cs typeface="Courier New"/>
                          <a:sym typeface="Courier New"/>
                        </a:rPr>
                        <a:t>)</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a:t>Crea un nuevo proceso para ejecutar un programa.</a:t>
                      </a:r>
                      <a:endParaRPr sz="14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ES" sz="1200">
                          <a:latin typeface="Courier New"/>
                          <a:ea typeface="Courier New"/>
                          <a:cs typeface="Courier New"/>
                          <a:sym typeface="Courier New"/>
                        </a:rPr>
                        <a:t>Eliminar (destroy)</a:t>
                      </a:r>
                      <a:endParaRPr sz="120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Forzar la detención de un programa en ejecución.</a:t>
                      </a:r>
                      <a:endParaRPr sz="1400"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Esperar (</a:t>
                      </a:r>
                      <a:r>
                        <a:rPr lang="es-ES" sz="1200" dirty="0" err="1">
                          <a:latin typeface="Courier New"/>
                          <a:ea typeface="Courier New"/>
                          <a:cs typeface="Courier New"/>
                          <a:sym typeface="Courier New"/>
                        </a:rPr>
                        <a:t>wait</a:t>
                      </a:r>
                      <a:r>
                        <a:rPr lang="es-ES" sz="1200" dirty="0">
                          <a:latin typeface="Courier New"/>
                          <a:ea typeface="Courier New"/>
                          <a:cs typeface="Courier New"/>
                          <a:sym typeface="Courier New"/>
                        </a:rPr>
                        <a:t>)</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a:t>Espera que un proceso termine su ejecución.</a:t>
                      </a:r>
                      <a:endParaRPr sz="14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Operaciones de control	</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Ej. Suspender un proceso.</a:t>
                      </a:r>
                      <a:endParaRPr sz="1400" dirty="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ES" sz="1200" dirty="0">
                          <a:latin typeface="Courier New"/>
                          <a:ea typeface="Courier New"/>
                          <a:cs typeface="Courier New"/>
                          <a:sym typeface="Courier New"/>
                        </a:rPr>
                        <a:t>Estado (status)</a:t>
                      </a:r>
                      <a:endParaRPr sz="1200" dirty="0">
                        <a:latin typeface="Courier New"/>
                        <a:ea typeface="Courier New"/>
                        <a:cs typeface="Courier New"/>
                        <a:sym typeface="Courier New"/>
                      </a:endParaRPr>
                    </a:p>
                  </a:txBody>
                  <a:tcPr marL="91425" marR="91425" marT="91425" marB="91425"/>
                </a:tc>
                <a:tc>
                  <a:txBody>
                    <a:bodyPr/>
                    <a:lstStyle/>
                    <a:p>
                      <a:pPr marL="0" lvl="0" indent="0" algn="l" rtl="0">
                        <a:spcBef>
                          <a:spcPts val="0"/>
                        </a:spcBef>
                        <a:spcAft>
                          <a:spcPts val="0"/>
                        </a:spcAft>
                        <a:buNone/>
                      </a:pPr>
                      <a:r>
                        <a:rPr lang="es-ES" sz="1400" dirty="0"/>
                        <a:t>Información de estado del proceso.</a:t>
                      </a:r>
                      <a:endParaRPr sz="1400" dirty="0"/>
                    </a:p>
                  </a:txBody>
                  <a:tcPr marL="91425" marR="91425" marT="91425" marB="91425"/>
                </a:tc>
                <a:extLst>
                  <a:ext uri="{0D108BD9-81ED-4DB2-BD59-A6C34878D82A}">
                    <a16:rowId xmlns:a16="http://schemas.microsoft.com/office/drawing/2014/main" val="10005"/>
                  </a:ext>
                </a:extLst>
              </a:tr>
            </a:tbl>
          </a:graphicData>
        </a:graphic>
      </p:graphicFrame>
      <p:pic>
        <p:nvPicPr>
          <p:cNvPr id="10" name="Picture 2" descr="processlifecycle">
            <a:extLst>
              <a:ext uri="{FF2B5EF4-FFF2-40B4-BE49-F238E27FC236}">
                <a16:creationId xmlns:a16="http://schemas.microsoft.com/office/drawing/2014/main" id="{22CC7EA7-E9C0-494C-845B-A0496714D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650" y="4037018"/>
            <a:ext cx="3754149" cy="2121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6004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Modelo de tres estados</a:t>
            </a:r>
            <a:endParaRPr lang="es-ES" b="1" dirty="0">
              <a:solidFill>
                <a:srgbClr val="0B6937"/>
              </a:solidFill>
              <a:latin typeface="Roboto Slab"/>
              <a:ea typeface="Roboto Slab"/>
              <a:cs typeface="Roboto Slab"/>
              <a:sym typeface="Roboto Slab"/>
            </a:endParaRPr>
          </a:p>
        </p:txBody>
      </p:sp>
      <p:pic>
        <p:nvPicPr>
          <p:cNvPr id="8" name="Google Shape;586;p51">
            <a:extLst>
              <a:ext uri="{FF2B5EF4-FFF2-40B4-BE49-F238E27FC236}">
                <a16:creationId xmlns:a16="http://schemas.microsoft.com/office/drawing/2014/main" id="{769BE2A6-2251-4633-91AB-9143E8A3D352}"/>
              </a:ext>
            </a:extLst>
          </p:cNvPr>
          <p:cNvPicPr preferRelativeResize="0"/>
          <p:nvPr/>
        </p:nvPicPr>
        <p:blipFill>
          <a:blip r:embed="rId3">
            <a:alphaModFix/>
          </a:blip>
          <a:stretch>
            <a:fillRect/>
          </a:stretch>
        </p:blipFill>
        <p:spPr>
          <a:xfrm>
            <a:off x="2988624" y="1135593"/>
            <a:ext cx="6467475" cy="3952875"/>
          </a:xfrm>
          <a:prstGeom prst="rect">
            <a:avLst/>
          </a:prstGeom>
          <a:noFill/>
          <a:ln>
            <a:noFill/>
          </a:ln>
        </p:spPr>
      </p:pic>
      <p:sp>
        <p:nvSpPr>
          <p:cNvPr id="9" name="Google Shape;587;p51">
            <a:extLst>
              <a:ext uri="{FF2B5EF4-FFF2-40B4-BE49-F238E27FC236}">
                <a16:creationId xmlns:a16="http://schemas.microsoft.com/office/drawing/2014/main" id="{84CB9574-27F5-4A10-9A5B-91D6283B808A}"/>
              </a:ext>
            </a:extLst>
          </p:cNvPr>
          <p:cNvSpPr txBox="1"/>
          <p:nvPr/>
        </p:nvSpPr>
        <p:spPr>
          <a:xfrm>
            <a:off x="8814186" y="2194292"/>
            <a:ext cx="2596800" cy="677100"/>
          </a:xfrm>
          <a:prstGeom prst="rect">
            <a:avLst/>
          </a:prstGeom>
          <a:solidFill>
            <a:srgbClr val="F4CCCC"/>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a:solidFill>
                  <a:schemeClr val="dk1"/>
                </a:solidFill>
              </a:rPr>
              <a:t>El proceso se ejecuta en el procesador</a:t>
            </a:r>
            <a:endParaRPr sz="1600"/>
          </a:p>
        </p:txBody>
      </p:sp>
      <p:sp>
        <p:nvSpPr>
          <p:cNvPr id="10" name="Google Shape;588;p51">
            <a:extLst>
              <a:ext uri="{FF2B5EF4-FFF2-40B4-BE49-F238E27FC236}">
                <a16:creationId xmlns:a16="http://schemas.microsoft.com/office/drawing/2014/main" id="{385DBF42-9098-4D46-83B0-E4C679679A6F}"/>
              </a:ext>
            </a:extLst>
          </p:cNvPr>
          <p:cNvSpPr txBox="1"/>
          <p:nvPr/>
        </p:nvSpPr>
        <p:spPr>
          <a:xfrm>
            <a:off x="656936" y="2037217"/>
            <a:ext cx="2914800" cy="12807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ES" sz="1600">
                <a:solidFill>
                  <a:schemeClr val="dk1"/>
                </a:solidFill>
              </a:rPr>
              <a:t>El proceso está listo para ser ejecutado pero el SO ha decidido no ejecutarlo en este momento.</a:t>
            </a:r>
            <a:endParaRPr sz="1600">
              <a:solidFill>
                <a:schemeClr val="dk1"/>
              </a:solidFill>
            </a:endParaRPr>
          </a:p>
        </p:txBody>
      </p:sp>
      <p:sp>
        <p:nvSpPr>
          <p:cNvPr id="11" name="Google Shape;589;p51">
            <a:extLst>
              <a:ext uri="{FF2B5EF4-FFF2-40B4-BE49-F238E27FC236}">
                <a16:creationId xmlns:a16="http://schemas.microsoft.com/office/drawing/2014/main" id="{73DC3FAB-7C84-46A7-A84C-81BA0D1CEDF7}"/>
              </a:ext>
            </a:extLst>
          </p:cNvPr>
          <p:cNvSpPr txBox="1"/>
          <p:nvPr/>
        </p:nvSpPr>
        <p:spPr>
          <a:xfrm>
            <a:off x="4890686" y="5247242"/>
            <a:ext cx="2781600" cy="7143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ES" sz="1600">
                <a:solidFill>
                  <a:schemeClr val="dk1"/>
                </a:solidFill>
              </a:rPr>
              <a:t>El proceso desarrolla alguna operación (I/O disco).</a:t>
            </a:r>
            <a:endParaRPr sz="1600">
              <a:solidFill>
                <a:schemeClr val="dk1"/>
              </a:solidFill>
            </a:endParaRPr>
          </a:p>
        </p:txBody>
      </p:sp>
    </p:spTree>
    <p:extLst>
      <p:ext uri="{BB962C8B-B14F-4D97-AF65-F5344CB8AC3E}">
        <p14:creationId xmlns:p14="http://schemas.microsoft.com/office/powerpoint/2010/main" val="1385142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Modelo de tres estados</a:t>
            </a:r>
            <a:endParaRPr lang="es-ES" b="1" dirty="0">
              <a:solidFill>
                <a:srgbClr val="0B6937"/>
              </a:solidFill>
              <a:latin typeface="Roboto Slab"/>
              <a:ea typeface="Roboto Slab"/>
              <a:cs typeface="Roboto Slab"/>
              <a:sym typeface="Roboto Slab"/>
            </a:endParaRPr>
          </a:p>
        </p:txBody>
      </p:sp>
      <p:pic>
        <p:nvPicPr>
          <p:cNvPr id="4098" name="Picture 2" descr="io">
            <a:extLst>
              <a:ext uri="{FF2B5EF4-FFF2-40B4-BE49-F238E27FC236}">
                <a16:creationId xmlns:a16="http://schemas.microsoft.com/office/drawing/2014/main" id="{34B46307-2531-4459-9158-78BBCB758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578096"/>
            <a:ext cx="7098288" cy="3424048"/>
          </a:xfrm>
          <a:prstGeom prst="rect">
            <a:avLst/>
          </a:prstGeom>
          <a:noFill/>
          <a:extLst>
            <a:ext uri="{909E8E84-426E-40DD-AFC4-6F175D3DCCD1}">
              <a14:hiddenFill xmlns:a14="http://schemas.microsoft.com/office/drawing/2010/main">
                <a:solidFill>
                  <a:srgbClr val="FFFFFF"/>
                </a:solidFill>
              </a14:hiddenFill>
            </a:ext>
          </a:extLst>
        </p:spPr>
      </p:pic>
      <p:pic>
        <p:nvPicPr>
          <p:cNvPr id="12" name="Google Shape;586;p51">
            <a:extLst>
              <a:ext uri="{FF2B5EF4-FFF2-40B4-BE49-F238E27FC236}">
                <a16:creationId xmlns:a16="http://schemas.microsoft.com/office/drawing/2014/main" id="{61682E9E-595B-498A-A016-111649B309EA}"/>
              </a:ext>
            </a:extLst>
          </p:cNvPr>
          <p:cNvPicPr preferRelativeResize="0"/>
          <p:nvPr/>
        </p:nvPicPr>
        <p:blipFill>
          <a:blip r:embed="rId4">
            <a:alphaModFix/>
          </a:blip>
          <a:stretch>
            <a:fillRect/>
          </a:stretch>
        </p:blipFill>
        <p:spPr>
          <a:xfrm>
            <a:off x="646402" y="2161611"/>
            <a:ext cx="3717779" cy="2534778"/>
          </a:xfrm>
          <a:prstGeom prst="rect">
            <a:avLst/>
          </a:prstGeom>
          <a:noFill/>
          <a:ln>
            <a:noFill/>
          </a:ln>
        </p:spPr>
      </p:pic>
    </p:spTree>
    <p:extLst>
      <p:ext uri="{BB962C8B-B14F-4D97-AF65-F5344CB8AC3E}">
        <p14:creationId xmlns:p14="http://schemas.microsoft.com/office/powerpoint/2010/main" val="238463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Estados de un proceso – Ejemplo 1</a:t>
            </a:r>
            <a:endParaRPr lang="es-ES" b="1" dirty="0">
              <a:solidFill>
                <a:srgbClr val="0B6937"/>
              </a:solidFill>
              <a:latin typeface="Roboto Slab"/>
              <a:ea typeface="Roboto Slab"/>
              <a:cs typeface="Roboto Slab"/>
              <a:sym typeface="Roboto Slab"/>
            </a:endParaRPr>
          </a:p>
        </p:txBody>
      </p:sp>
      <p:pic>
        <p:nvPicPr>
          <p:cNvPr id="7" name="Google Shape;596;p52">
            <a:extLst>
              <a:ext uri="{FF2B5EF4-FFF2-40B4-BE49-F238E27FC236}">
                <a16:creationId xmlns:a16="http://schemas.microsoft.com/office/drawing/2014/main" id="{3A502652-2E09-494A-94BF-6130F804F088}"/>
              </a:ext>
            </a:extLst>
          </p:cNvPr>
          <p:cNvPicPr preferRelativeResize="0"/>
          <p:nvPr/>
        </p:nvPicPr>
        <p:blipFill>
          <a:blip r:embed="rId3">
            <a:alphaModFix/>
          </a:blip>
          <a:stretch>
            <a:fillRect/>
          </a:stretch>
        </p:blipFill>
        <p:spPr>
          <a:xfrm>
            <a:off x="7141334" y="1135593"/>
            <a:ext cx="3637502" cy="2418474"/>
          </a:xfrm>
          <a:prstGeom prst="rect">
            <a:avLst/>
          </a:prstGeom>
          <a:noFill/>
          <a:ln>
            <a:noFill/>
          </a:ln>
        </p:spPr>
      </p:pic>
      <p:pic>
        <p:nvPicPr>
          <p:cNvPr id="12" name="Google Shape;597;p52">
            <a:extLst>
              <a:ext uri="{FF2B5EF4-FFF2-40B4-BE49-F238E27FC236}">
                <a16:creationId xmlns:a16="http://schemas.microsoft.com/office/drawing/2014/main" id="{37CEE171-6A97-4EFC-8027-E214B06358B9}"/>
              </a:ext>
            </a:extLst>
          </p:cNvPr>
          <p:cNvPicPr preferRelativeResize="0"/>
          <p:nvPr/>
        </p:nvPicPr>
        <p:blipFill>
          <a:blip r:embed="rId4">
            <a:alphaModFix/>
          </a:blip>
          <a:stretch>
            <a:fillRect/>
          </a:stretch>
        </p:blipFill>
        <p:spPr>
          <a:xfrm>
            <a:off x="916650" y="1045538"/>
            <a:ext cx="5179350" cy="2692100"/>
          </a:xfrm>
          <a:prstGeom prst="rect">
            <a:avLst/>
          </a:prstGeom>
          <a:noFill/>
          <a:ln>
            <a:noFill/>
          </a:ln>
        </p:spPr>
      </p:pic>
    </p:spTree>
    <p:extLst>
      <p:ext uri="{BB962C8B-B14F-4D97-AF65-F5344CB8AC3E}">
        <p14:creationId xmlns:p14="http://schemas.microsoft.com/office/powerpoint/2010/main" val="2162092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Estados de un proceso – Ejemplo 2</a:t>
            </a:r>
            <a:endParaRPr lang="es-ES" b="1" dirty="0">
              <a:solidFill>
                <a:srgbClr val="0B6937"/>
              </a:solidFill>
              <a:latin typeface="Roboto Slab"/>
              <a:ea typeface="Roboto Slab"/>
              <a:cs typeface="Roboto Slab"/>
              <a:sym typeface="Roboto Slab"/>
            </a:endParaRPr>
          </a:p>
        </p:txBody>
      </p:sp>
      <p:pic>
        <p:nvPicPr>
          <p:cNvPr id="7" name="Google Shape;596;p52">
            <a:extLst>
              <a:ext uri="{FF2B5EF4-FFF2-40B4-BE49-F238E27FC236}">
                <a16:creationId xmlns:a16="http://schemas.microsoft.com/office/drawing/2014/main" id="{3A502652-2E09-494A-94BF-6130F804F088}"/>
              </a:ext>
            </a:extLst>
          </p:cNvPr>
          <p:cNvPicPr preferRelativeResize="0"/>
          <p:nvPr/>
        </p:nvPicPr>
        <p:blipFill>
          <a:blip r:embed="rId3">
            <a:alphaModFix/>
          </a:blip>
          <a:stretch>
            <a:fillRect/>
          </a:stretch>
        </p:blipFill>
        <p:spPr>
          <a:xfrm>
            <a:off x="7141334" y="1135593"/>
            <a:ext cx="3637502" cy="2418474"/>
          </a:xfrm>
          <a:prstGeom prst="rect">
            <a:avLst/>
          </a:prstGeom>
          <a:noFill/>
          <a:ln>
            <a:noFill/>
          </a:ln>
        </p:spPr>
      </p:pic>
      <p:pic>
        <p:nvPicPr>
          <p:cNvPr id="5" name="Google Shape;605;p53">
            <a:extLst>
              <a:ext uri="{FF2B5EF4-FFF2-40B4-BE49-F238E27FC236}">
                <a16:creationId xmlns:a16="http://schemas.microsoft.com/office/drawing/2014/main" id="{AE4795EA-8EE8-4049-8A2E-F5F4B9A7C0BD}"/>
              </a:ext>
            </a:extLst>
          </p:cNvPr>
          <p:cNvPicPr preferRelativeResize="0"/>
          <p:nvPr/>
        </p:nvPicPr>
        <p:blipFill>
          <a:blip r:embed="rId4">
            <a:alphaModFix/>
          </a:blip>
          <a:stretch>
            <a:fillRect/>
          </a:stretch>
        </p:blipFill>
        <p:spPr>
          <a:xfrm>
            <a:off x="1244147" y="1045538"/>
            <a:ext cx="4727164" cy="2746281"/>
          </a:xfrm>
          <a:prstGeom prst="rect">
            <a:avLst/>
          </a:prstGeom>
          <a:noFill/>
          <a:ln>
            <a:noFill/>
          </a:ln>
        </p:spPr>
      </p:pic>
    </p:spTree>
    <p:extLst>
      <p:ext uri="{BB962C8B-B14F-4D97-AF65-F5344CB8AC3E}">
        <p14:creationId xmlns:p14="http://schemas.microsoft.com/office/powerpoint/2010/main" val="357760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916650" y="96038"/>
            <a:ext cx="9349568"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Modelo Linux</a:t>
            </a:r>
            <a:endParaRPr lang="es-ES" b="1" dirty="0">
              <a:solidFill>
                <a:srgbClr val="0B6937"/>
              </a:solidFill>
              <a:latin typeface="Roboto Slab"/>
              <a:ea typeface="Roboto Slab"/>
              <a:cs typeface="Roboto Slab"/>
              <a:sym typeface="Roboto Slab"/>
            </a:endParaRPr>
          </a:p>
        </p:txBody>
      </p:sp>
      <p:pic>
        <p:nvPicPr>
          <p:cNvPr id="5" name="Google Shape;612;p54">
            <a:extLst>
              <a:ext uri="{FF2B5EF4-FFF2-40B4-BE49-F238E27FC236}">
                <a16:creationId xmlns:a16="http://schemas.microsoft.com/office/drawing/2014/main" id="{E46D3F2B-AF8A-4F50-9745-CA1E40C79117}"/>
              </a:ext>
            </a:extLst>
          </p:cNvPr>
          <p:cNvPicPr preferRelativeResize="0"/>
          <p:nvPr/>
        </p:nvPicPr>
        <p:blipFill>
          <a:blip r:embed="rId3">
            <a:alphaModFix/>
          </a:blip>
          <a:stretch>
            <a:fillRect/>
          </a:stretch>
        </p:blipFill>
        <p:spPr>
          <a:xfrm>
            <a:off x="3139836" y="1045538"/>
            <a:ext cx="6432150" cy="4822149"/>
          </a:xfrm>
          <a:prstGeom prst="rect">
            <a:avLst/>
          </a:prstGeom>
          <a:noFill/>
          <a:ln>
            <a:noFill/>
          </a:ln>
        </p:spPr>
      </p:pic>
      <p:sp>
        <p:nvSpPr>
          <p:cNvPr id="6" name="Google Shape;613;p54">
            <a:extLst>
              <a:ext uri="{FF2B5EF4-FFF2-40B4-BE49-F238E27FC236}">
                <a16:creationId xmlns:a16="http://schemas.microsoft.com/office/drawing/2014/main" id="{8DEC5FE3-CB87-4989-85CD-870B12F5522D}"/>
              </a:ext>
            </a:extLst>
          </p:cNvPr>
          <p:cNvSpPr txBox="1"/>
          <p:nvPr/>
        </p:nvSpPr>
        <p:spPr>
          <a:xfrm>
            <a:off x="3248386" y="5867687"/>
            <a:ext cx="57783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ES" sz="1200">
                <a:solidFill>
                  <a:schemeClr val="dk1"/>
                </a:solidFill>
              </a:rPr>
              <a:t>Imagen realizada por Adrián Martínez </a:t>
            </a:r>
            <a:endParaRPr sz="1200">
              <a:solidFill>
                <a:schemeClr val="dk1"/>
              </a:solidFill>
            </a:endParaRPr>
          </a:p>
        </p:txBody>
      </p:sp>
    </p:spTree>
    <p:extLst>
      <p:ext uri="{BB962C8B-B14F-4D97-AF65-F5344CB8AC3E}">
        <p14:creationId xmlns:p14="http://schemas.microsoft.com/office/powerpoint/2010/main" val="3034726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Pasando al código – Estructuras de datos</a:t>
            </a:r>
            <a:endParaRPr lang="es-ES" b="1" dirty="0">
              <a:solidFill>
                <a:srgbClr val="0B6937"/>
              </a:solidFill>
              <a:latin typeface="Roboto Slab"/>
              <a:ea typeface="Roboto Slab"/>
              <a:cs typeface="Roboto Slab"/>
              <a:sym typeface="Roboto Slab"/>
            </a:endParaRPr>
          </a:p>
        </p:txBody>
      </p:sp>
      <p:sp>
        <p:nvSpPr>
          <p:cNvPr id="7" name="Google Shape;619;p55">
            <a:extLst>
              <a:ext uri="{FF2B5EF4-FFF2-40B4-BE49-F238E27FC236}">
                <a16:creationId xmlns:a16="http://schemas.microsoft.com/office/drawing/2014/main" id="{DBD72DBF-A229-49B2-8361-5933F4EFFEFC}"/>
              </a:ext>
            </a:extLst>
          </p:cNvPr>
          <p:cNvSpPr txBox="1">
            <a:spLocks/>
          </p:cNvSpPr>
          <p:nvPr/>
        </p:nvSpPr>
        <p:spPr>
          <a:xfrm>
            <a:off x="561109" y="1029966"/>
            <a:ext cx="11187546" cy="515944"/>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9100" indent="-342900">
              <a:lnSpc>
                <a:spcPct val="100000"/>
              </a:lnSpc>
              <a:spcBef>
                <a:spcPts val="600"/>
              </a:spcBef>
              <a:buSzPts val="2400"/>
            </a:pPr>
            <a:r>
              <a:rPr lang="es-MX" sz="2000" dirty="0"/>
              <a:t>El sistema operativo requiere </a:t>
            </a:r>
            <a:r>
              <a:rPr lang="es-MX" sz="2000" b="1" dirty="0"/>
              <a:t>estructuras de datos</a:t>
            </a:r>
            <a:r>
              <a:rPr lang="es-MX" sz="2000" dirty="0"/>
              <a:t> para rastrear los elementos claves.</a:t>
            </a:r>
          </a:p>
          <a:p>
            <a:pPr marL="0" indent="0">
              <a:buFont typeface="Arial" panose="020B0604020202020204" pitchFamily="34" charset="0"/>
              <a:buNone/>
            </a:pPr>
            <a:endParaRPr lang="es-MX" sz="1100" dirty="0">
              <a:latin typeface="Arial"/>
              <a:ea typeface="Arial"/>
              <a:cs typeface="Arial"/>
              <a:sym typeface="Arial"/>
            </a:endParaRPr>
          </a:p>
          <a:p>
            <a:pPr marL="0" indent="0">
              <a:buFont typeface="Arial" panose="020B0604020202020204" pitchFamily="34" charset="0"/>
              <a:buNone/>
            </a:pPr>
            <a:endParaRPr lang="es-MX" dirty="0"/>
          </a:p>
          <a:p>
            <a:pPr marL="457200" indent="0">
              <a:buFont typeface="Arial" panose="020B0604020202020204" pitchFamily="34" charset="0"/>
              <a:buNone/>
            </a:pPr>
            <a:endParaRPr lang="es-MX" dirty="0"/>
          </a:p>
        </p:txBody>
      </p:sp>
      <p:pic>
        <p:nvPicPr>
          <p:cNvPr id="8" name="Google Shape;620;p55">
            <a:extLst>
              <a:ext uri="{FF2B5EF4-FFF2-40B4-BE49-F238E27FC236}">
                <a16:creationId xmlns:a16="http://schemas.microsoft.com/office/drawing/2014/main" id="{95932945-E8D2-4394-8193-0B9D04C2E739}"/>
              </a:ext>
            </a:extLst>
          </p:cNvPr>
          <p:cNvPicPr preferRelativeResize="0"/>
          <p:nvPr/>
        </p:nvPicPr>
        <p:blipFill>
          <a:blip r:embed="rId3">
            <a:alphaModFix/>
          </a:blip>
          <a:stretch>
            <a:fillRect/>
          </a:stretch>
        </p:blipFill>
        <p:spPr>
          <a:xfrm>
            <a:off x="639559" y="1845746"/>
            <a:ext cx="2768175" cy="4382951"/>
          </a:xfrm>
          <a:prstGeom prst="rect">
            <a:avLst/>
          </a:prstGeom>
          <a:noFill/>
          <a:ln>
            <a:noFill/>
          </a:ln>
        </p:spPr>
      </p:pic>
      <p:pic>
        <p:nvPicPr>
          <p:cNvPr id="9" name="Google Shape;621;p55">
            <a:extLst>
              <a:ext uri="{FF2B5EF4-FFF2-40B4-BE49-F238E27FC236}">
                <a16:creationId xmlns:a16="http://schemas.microsoft.com/office/drawing/2014/main" id="{54E46627-CAC0-4FFC-8E86-B354F36D1FF6}"/>
              </a:ext>
            </a:extLst>
          </p:cNvPr>
          <p:cNvPicPr preferRelativeResize="0"/>
          <p:nvPr/>
        </p:nvPicPr>
        <p:blipFill>
          <a:blip r:embed="rId4">
            <a:alphaModFix/>
          </a:blip>
          <a:stretch>
            <a:fillRect/>
          </a:stretch>
        </p:blipFill>
        <p:spPr>
          <a:xfrm>
            <a:off x="4057639" y="2089942"/>
            <a:ext cx="7296425" cy="821400"/>
          </a:xfrm>
          <a:prstGeom prst="rect">
            <a:avLst/>
          </a:prstGeom>
          <a:noFill/>
          <a:ln>
            <a:noFill/>
          </a:ln>
        </p:spPr>
      </p:pic>
      <p:pic>
        <p:nvPicPr>
          <p:cNvPr id="10" name="Google Shape;622;p55">
            <a:extLst>
              <a:ext uri="{FF2B5EF4-FFF2-40B4-BE49-F238E27FC236}">
                <a16:creationId xmlns:a16="http://schemas.microsoft.com/office/drawing/2014/main" id="{E9DEE977-BDC2-41D2-804E-609E5B819EA1}"/>
              </a:ext>
            </a:extLst>
          </p:cNvPr>
          <p:cNvPicPr preferRelativeResize="0"/>
          <p:nvPr/>
        </p:nvPicPr>
        <p:blipFill>
          <a:blip r:embed="rId5">
            <a:alphaModFix/>
          </a:blip>
          <a:stretch>
            <a:fillRect/>
          </a:stretch>
        </p:blipFill>
        <p:spPr>
          <a:xfrm>
            <a:off x="4119540" y="3523667"/>
            <a:ext cx="7432901" cy="1005666"/>
          </a:xfrm>
          <a:prstGeom prst="rect">
            <a:avLst/>
          </a:prstGeom>
          <a:noFill/>
          <a:ln>
            <a:noFill/>
          </a:ln>
        </p:spPr>
      </p:pic>
      <p:pic>
        <p:nvPicPr>
          <p:cNvPr id="11" name="Google Shape;623;p55">
            <a:extLst>
              <a:ext uri="{FF2B5EF4-FFF2-40B4-BE49-F238E27FC236}">
                <a16:creationId xmlns:a16="http://schemas.microsoft.com/office/drawing/2014/main" id="{555F8B30-472A-48D1-84B6-B849A600BBCA}"/>
              </a:ext>
            </a:extLst>
          </p:cNvPr>
          <p:cNvPicPr preferRelativeResize="0"/>
          <p:nvPr/>
        </p:nvPicPr>
        <p:blipFill>
          <a:blip r:embed="rId6">
            <a:alphaModFix/>
          </a:blip>
          <a:stretch>
            <a:fillRect/>
          </a:stretch>
        </p:blipFill>
        <p:spPr>
          <a:xfrm>
            <a:off x="3989403" y="5141675"/>
            <a:ext cx="7432899" cy="1225567"/>
          </a:xfrm>
          <a:prstGeom prst="rect">
            <a:avLst/>
          </a:prstGeom>
          <a:noFill/>
          <a:ln>
            <a:noFill/>
          </a:ln>
        </p:spPr>
      </p:pic>
      <p:sp>
        <p:nvSpPr>
          <p:cNvPr id="12" name="Google Shape;624;p55">
            <a:extLst>
              <a:ext uri="{FF2B5EF4-FFF2-40B4-BE49-F238E27FC236}">
                <a16:creationId xmlns:a16="http://schemas.microsoft.com/office/drawing/2014/main" id="{C6D69EB1-83C2-4AE4-BAFF-DD1F4C7F1D96}"/>
              </a:ext>
            </a:extLst>
          </p:cNvPr>
          <p:cNvSpPr txBox="1"/>
          <p:nvPr/>
        </p:nvSpPr>
        <p:spPr>
          <a:xfrm>
            <a:off x="3921465" y="1658842"/>
            <a:ext cx="713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b="1">
                <a:solidFill>
                  <a:schemeClr val="accent1"/>
                </a:solidFill>
              </a:rPr>
              <a:t>Single linked list</a:t>
            </a:r>
            <a:endParaRPr sz="1600" b="1">
              <a:solidFill>
                <a:schemeClr val="accent1"/>
              </a:solidFill>
            </a:endParaRPr>
          </a:p>
        </p:txBody>
      </p:sp>
      <p:sp>
        <p:nvSpPr>
          <p:cNvPr id="13" name="Google Shape;625;p55">
            <a:extLst>
              <a:ext uri="{FF2B5EF4-FFF2-40B4-BE49-F238E27FC236}">
                <a16:creationId xmlns:a16="http://schemas.microsoft.com/office/drawing/2014/main" id="{AB94BFE4-A09D-4C4D-8E2C-48544D102E0C}"/>
              </a:ext>
            </a:extLst>
          </p:cNvPr>
          <p:cNvSpPr txBox="1"/>
          <p:nvPr/>
        </p:nvSpPr>
        <p:spPr>
          <a:xfrm>
            <a:off x="3989415" y="4710567"/>
            <a:ext cx="713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b="1">
                <a:solidFill>
                  <a:schemeClr val="accent1"/>
                </a:solidFill>
              </a:rPr>
              <a:t>Circular linked list</a:t>
            </a:r>
            <a:endParaRPr sz="1600" b="1">
              <a:solidFill>
                <a:schemeClr val="accent1"/>
              </a:solidFill>
            </a:endParaRPr>
          </a:p>
        </p:txBody>
      </p:sp>
      <p:sp>
        <p:nvSpPr>
          <p:cNvPr id="14" name="Google Shape;626;p55">
            <a:extLst>
              <a:ext uri="{FF2B5EF4-FFF2-40B4-BE49-F238E27FC236}">
                <a16:creationId xmlns:a16="http://schemas.microsoft.com/office/drawing/2014/main" id="{847F692C-8FA2-4FBB-B5F9-33DEACE2BB40}"/>
              </a:ext>
            </a:extLst>
          </p:cNvPr>
          <p:cNvSpPr txBox="1"/>
          <p:nvPr/>
        </p:nvSpPr>
        <p:spPr>
          <a:xfrm>
            <a:off x="3989415" y="3052992"/>
            <a:ext cx="713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b="1">
                <a:solidFill>
                  <a:schemeClr val="accent1"/>
                </a:solidFill>
              </a:rPr>
              <a:t>Double linked list</a:t>
            </a:r>
            <a:endParaRPr sz="1600" b="1">
              <a:solidFill>
                <a:schemeClr val="accent1"/>
              </a:solidFill>
            </a:endParaRPr>
          </a:p>
        </p:txBody>
      </p:sp>
    </p:spTree>
    <p:extLst>
      <p:ext uri="{BB962C8B-B14F-4D97-AF65-F5344CB8AC3E}">
        <p14:creationId xmlns:p14="http://schemas.microsoft.com/office/powerpoint/2010/main" val="14484441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Pasando al código – Estructuras de datos</a:t>
            </a:r>
            <a:endParaRPr lang="es-ES" b="1" dirty="0">
              <a:solidFill>
                <a:srgbClr val="0B6937"/>
              </a:solidFill>
              <a:latin typeface="Roboto Slab"/>
              <a:ea typeface="Roboto Slab"/>
              <a:cs typeface="Roboto Slab"/>
              <a:sym typeface="Roboto Slab"/>
            </a:endParaRPr>
          </a:p>
        </p:txBody>
      </p:sp>
      <p:sp>
        <p:nvSpPr>
          <p:cNvPr id="7" name="Google Shape;619;p55">
            <a:extLst>
              <a:ext uri="{FF2B5EF4-FFF2-40B4-BE49-F238E27FC236}">
                <a16:creationId xmlns:a16="http://schemas.microsoft.com/office/drawing/2014/main" id="{DBD72DBF-A229-49B2-8361-5933F4EFFEFC}"/>
              </a:ext>
            </a:extLst>
          </p:cNvPr>
          <p:cNvSpPr txBox="1">
            <a:spLocks/>
          </p:cNvSpPr>
          <p:nvPr/>
        </p:nvSpPr>
        <p:spPr>
          <a:xfrm>
            <a:off x="561109" y="1029966"/>
            <a:ext cx="11187546" cy="515944"/>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9100" indent="-342900">
              <a:lnSpc>
                <a:spcPct val="100000"/>
              </a:lnSpc>
              <a:spcBef>
                <a:spcPts val="600"/>
              </a:spcBef>
              <a:buSzPts val="2400"/>
            </a:pPr>
            <a:r>
              <a:rPr lang="es-MX" sz="2000" dirty="0"/>
              <a:t>El sistema operativo requiere </a:t>
            </a:r>
            <a:r>
              <a:rPr lang="es-MX" sz="2000" b="1" dirty="0"/>
              <a:t>estructuras de datos</a:t>
            </a:r>
            <a:r>
              <a:rPr lang="es-MX" sz="2000" dirty="0"/>
              <a:t> para rastrear los elementos claves.</a:t>
            </a:r>
          </a:p>
          <a:p>
            <a:pPr marL="0" indent="0">
              <a:buFont typeface="Arial" panose="020B0604020202020204" pitchFamily="34" charset="0"/>
              <a:buNone/>
            </a:pPr>
            <a:endParaRPr lang="es-MX" sz="1100" dirty="0">
              <a:latin typeface="Arial"/>
              <a:ea typeface="Arial"/>
              <a:cs typeface="Arial"/>
              <a:sym typeface="Arial"/>
            </a:endParaRPr>
          </a:p>
          <a:p>
            <a:pPr marL="0" indent="0">
              <a:buFont typeface="Arial" panose="020B0604020202020204" pitchFamily="34" charset="0"/>
              <a:buNone/>
            </a:pPr>
            <a:endParaRPr lang="es-MX" dirty="0"/>
          </a:p>
          <a:p>
            <a:pPr marL="457200" indent="0">
              <a:buFont typeface="Arial" panose="020B0604020202020204" pitchFamily="34" charset="0"/>
              <a:buNone/>
            </a:pPr>
            <a:endParaRPr lang="es-MX" dirty="0"/>
          </a:p>
        </p:txBody>
      </p:sp>
      <p:pic>
        <p:nvPicPr>
          <p:cNvPr id="15" name="Google Shape;634;p56">
            <a:extLst>
              <a:ext uri="{FF2B5EF4-FFF2-40B4-BE49-F238E27FC236}">
                <a16:creationId xmlns:a16="http://schemas.microsoft.com/office/drawing/2014/main" id="{9A80F222-7A14-4BC3-9899-174D02B909EC}"/>
              </a:ext>
            </a:extLst>
          </p:cNvPr>
          <p:cNvPicPr preferRelativeResize="0"/>
          <p:nvPr/>
        </p:nvPicPr>
        <p:blipFill>
          <a:blip r:embed="rId3">
            <a:alphaModFix/>
          </a:blip>
          <a:stretch>
            <a:fillRect/>
          </a:stretch>
        </p:blipFill>
        <p:spPr>
          <a:xfrm>
            <a:off x="5877225" y="2776573"/>
            <a:ext cx="3716875" cy="2896375"/>
          </a:xfrm>
          <a:prstGeom prst="rect">
            <a:avLst/>
          </a:prstGeom>
          <a:noFill/>
          <a:ln>
            <a:noFill/>
          </a:ln>
        </p:spPr>
      </p:pic>
      <p:sp>
        <p:nvSpPr>
          <p:cNvPr id="16" name="Google Shape;635;p56">
            <a:extLst>
              <a:ext uri="{FF2B5EF4-FFF2-40B4-BE49-F238E27FC236}">
                <a16:creationId xmlns:a16="http://schemas.microsoft.com/office/drawing/2014/main" id="{1F4F652E-03EE-46DC-B59C-031F811ED145}"/>
              </a:ext>
            </a:extLst>
          </p:cNvPr>
          <p:cNvSpPr txBox="1"/>
          <p:nvPr/>
        </p:nvSpPr>
        <p:spPr>
          <a:xfrm>
            <a:off x="4292375" y="2065200"/>
            <a:ext cx="713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600" b="1" dirty="0" err="1">
                <a:solidFill>
                  <a:schemeClr val="accent1"/>
                </a:solidFill>
              </a:rPr>
              <a:t>Binary</a:t>
            </a:r>
            <a:r>
              <a:rPr lang="es-ES" sz="1600" b="1" dirty="0">
                <a:solidFill>
                  <a:schemeClr val="accent1"/>
                </a:solidFill>
              </a:rPr>
              <a:t> </a:t>
            </a:r>
            <a:r>
              <a:rPr lang="es-ES" sz="1600" b="1" dirty="0" err="1">
                <a:solidFill>
                  <a:schemeClr val="accent1"/>
                </a:solidFill>
              </a:rPr>
              <a:t>search</a:t>
            </a:r>
            <a:r>
              <a:rPr lang="es-ES" sz="1600" b="1" dirty="0">
                <a:solidFill>
                  <a:schemeClr val="accent1"/>
                </a:solidFill>
              </a:rPr>
              <a:t> </a:t>
            </a:r>
            <a:r>
              <a:rPr lang="es-ES" sz="1600" b="1" dirty="0" err="1">
                <a:solidFill>
                  <a:schemeClr val="accent1"/>
                </a:solidFill>
              </a:rPr>
              <a:t>three</a:t>
            </a:r>
            <a:endParaRPr sz="1600" b="1" dirty="0">
              <a:solidFill>
                <a:schemeClr val="accent1"/>
              </a:solidFill>
            </a:endParaRPr>
          </a:p>
        </p:txBody>
      </p:sp>
      <p:pic>
        <p:nvPicPr>
          <p:cNvPr id="17" name="Google Shape;633;p56">
            <a:extLst>
              <a:ext uri="{FF2B5EF4-FFF2-40B4-BE49-F238E27FC236}">
                <a16:creationId xmlns:a16="http://schemas.microsoft.com/office/drawing/2014/main" id="{250EC1A6-8524-40BC-B090-EBB69E058144}"/>
              </a:ext>
            </a:extLst>
          </p:cNvPr>
          <p:cNvPicPr preferRelativeResize="0"/>
          <p:nvPr/>
        </p:nvPicPr>
        <p:blipFill>
          <a:blip r:embed="rId4">
            <a:alphaModFix/>
          </a:blip>
          <a:stretch>
            <a:fillRect/>
          </a:stretch>
        </p:blipFill>
        <p:spPr>
          <a:xfrm>
            <a:off x="1334075" y="1990150"/>
            <a:ext cx="2572275" cy="4072774"/>
          </a:xfrm>
          <a:prstGeom prst="rect">
            <a:avLst/>
          </a:prstGeom>
          <a:noFill/>
          <a:ln>
            <a:noFill/>
          </a:ln>
        </p:spPr>
      </p:pic>
    </p:spTree>
    <p:extLst>
      <p:ext uri="{BB962C8B-B14F-4D97-AF65-F5344CB8AC3E}">
        <p14:creationId xmlns:p14="http://schemas.microsoft.com/office/powerpoint/2010/main" val="4604088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Lista de procesos</a:t>
            </a:r>
            <a:endParaRPr lang="es-ES" b="1" dirty="0">
              <a:solidFill>
                <a:srgbClr val="0B6937"/>
              </a:solidFill>
              <a:latin typeface="Roboto Slab"/>
              <a:ea typeface="Roboto Slab"/>
              <a:cs typeface="Roboto Slab"/>
              <a:sym typeface="Roboto Slab"/>
            </a:endParaRPr>
          </a:p>
        </p:txBody>
      </p:sp>
      <p:sp>
        <p:nvSpPr>
          <p:cNvPr id="7" name="Google Shape;619;p55">
            <a:extLst>
              <a:ext uri="{FF2B5EF4-FFF2-40B4-BE49-F238E27FC236}">
                <a16:creationId xmlns:a16="http://schemas.microsoft.com/office/drawing/2014/main" id="{DBD72DBF-A229-49B2-8361-5933F4EFFEFC}"/>
              </a:ext>
            </a:extLst>
          </p:cNvPr>
          <p:cNvSpPr txBox="1">
            <a:spLocks/>
          </p:cNvSpPr>
          <p:nvPr/>
        </p:nvSpPr>
        <p:spPr>
          <a:xfrm>
            <a:off x="561109" y="1029966"/>
            <a:ext cx="11187546" cy="1466334"/>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82600" indent="-342900">
              <a:lnSpc>
                <a:spcPct val="100000"/>
              </a:lnSpc>
              <a:spcBef>
                <a:spcPts val="0"/>
              </a:spcBef>
              <a:buSzPts val="1400"/>
            </a:pPr>
            <a:r>
              <a:rPr lang="es-MX" sz="2400" dirty="0"/>
              <a:t>Procesos listos</a:t>
            </a:r>
          </a:p>
          <a:p>
            <a:pPr marL="482600" indent="-342900">
              <a:lnSpc>
                <a:spcPct val="100000"/>
              </a:lnSpc>
              <a:spcBef>
                <a:spcPts val="0"/>
              </a:spcBef>
              <a:buSzPts val="1400"/>
            </a:pPr>
            <a:r>
              <a:rPr lang="es-MX" sz="2400" dirty="0"/>
              <a:t>Procesos bloqueados</a:t>
            </a:r>
          </a:p>
          <a:p>
            <a:pPr marL="482600" indent="-342900">
              <a:lnSpc>
                <a:spcPct val="100000"/>
              </a:lnSpc>
              <a:spcBef>
                <a:spcPts val="0"/>
              </a:spcBef>
              <a:buSzPts val="1400"/>
            </a:pPr>
            <a:r>
              <a:rPr lang="es-MX" sz="2400" dirty="0"/>
              <a:t>Procesos en ejecución</a:t>
            </a:r>
          </a:p>
          <a:p>
            <a:pPr marL="0" indent="0">
              <a:buFont typeface="Arial" panose="020B0604020202020204" pitchFamily="34" charset="0"/>
              <a:buNone/>
            </a:pPr>
            <a:endParaRPr lang="es-MX" sz="1100" dirty="0">
              <a:latin typeface="Arial"/>
              <a:ea typeface="Arial"/>
              <a:cs typeface="Arial"/>
              <a:sym typeface="Arial"/>
            </a:endParaRPr>
          </a:p>
          <a:p>
            <a:pPr marL="0" indent="0">
              <a:buFont typeface="Arial" panose="020B0604020202020204" pitchFamily="34" charset="0"/>
              <a:buNone/>
            </a:pPr>
            <a:endParaRPr lang="es-MX" dirty="0"/>
          </a:p>
          <a:p>
            <a:pPr marL="457200" indent="0">
              <a:buFont typeface="Arial" panose="020B0604020202020204" pitchFamily="34" charset="0"/>
              <a:buNone/>
            </a:pPr>
            <a:endParaRPr lang="es-MX" dirty="0"/>
          </a:p>
        </p:txBody>
      </p:sp>
      <p:pic>
        <p:nvPicPr>
          <p:cNvPr id="8" name="Google Shape;649;p58">
            <a:extLst>
              <a:ext uri="{FF2B5EF4-FFF2-40B4-BE49-F238E27FC236}">
                <a16:creationId xmlns:a16="http://schemas.microsoft.com/office/drawing/2014/main" id="{14EFCF5E-167C-46FE-886E-6022F4DE0935}"/>
              </a:ext>
            </a:extLst>
          </p:cNvPr>
          <p:cNvPicPr preferRelativeResize="0"/>
          <p:nvPr/>
        </p:nvPicPr>
        <p:blipFill>
          <a:blip r:embed="rId3">
            <a:alphaModFix/>
          </a:blip>
          <a:stretch>
            <a:fillRect/>
          </a:stretch>
        </p:blipFill>
        <p:spPr>
          <a:xfrm>
            <a:off x="5768687" y="2556713"/>
            <a:ext cx="6076950" cy="3609975"/>
          </a:xfrm>
          <a:prstGeom prst="rect">
            <a:avLst/>
          </a:prstGeom>
          <a:noFill/>
          <a:ln>
            <a:noFill/>
          </a:ln>
        </p:spPr>
      </p:pic>
      <p:pic>
        <p:nvPicPr>
          <p:cNvPr id="9" name="Picture 2" descr="io">
            <a:extLst>
              <a:ext uri="{FF2B5EF4-FFF2-40B4-BE49-F238E27FC236}">
                <a16:creationId xmlns:a16="http://schemas.microsoft.com/office/drawing/2014/main" id="{0F4B93CB-E4D3-44D0-8A8C-B9CD034588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436" y="3344509"/>
            <a:ext cx="4604905" cy="2221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341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Process Control Block (PCB)</a:t>
            </a:r>
            <a:endParaRPr lang="es-ES" b="1" dirty="0">
              <a:solidFill>
                <a:srgbClr val="0B6937"/>
              </a:solidFill>
              <a:latin typeface="Roboto Slab"/>
              <a:ea typeface="Roboto Slab"/>
              <a:cs typeface="Roboto Slab"/>
              <a:sym typeface="Roboto Slab"/>
            </a:endParaRPr>
          </a:p>
        </p:txBody>
      </p:sp>
      <p:sp>
        <p:nvSpPr>
          <p:cNvPr id="7" name="Google Shape;619;p55">
            <a:extLst>
              <a:ext uri="{FF2B5EF4-FFF2-40B4-BE49-F238E27FC236}">
                <a16:creationId xmlns:a16="http://schemas.microsoft.com/office/drawing/2014/main" id="{DBD72DBF-A229-49B2-8361-5933F4EFFEFC}"/>
              </a:ext>
            </a:extLst>
          </p:cNvPr>
          <p:cNvSpPr txBox="1">
            <a:spLocks/>
          </p:cNvSpPr>
          <p:nvPr/>
        </p:nvSpPr>
        <p:spPr>
          <a:xfrm>
            <a:off x="443345" y="1029966"/>
            <a:ext cx="5430982" cy="5662724"/>
          </a:xfrm>
          <a:prstGeom prst="rect">
            <a:avLst/>
          </a:prstGeom>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lvl="0" indent="0" algn="l" rtl="0">
              <a:lnSpc>
                <a:spcPct val="100000"/>
              </a:lnSpc>
              <a:spcBef>
                <a:spcPts val="600"/>
              </a:spcBef>
              <a:spcAft>
                <a:spcPts val="0"/>
              </a:spcAft>
              <a:buSzPts val="2400"/>
              <a:buNone/>
            </a:pPr>
            <a:r>
              <a:rPr lang="es-MX" sz="2000" dirty="0"/>
              <a:t>Información acerca de cada proceso (estructura en C).</a:t>
            </a:r>
          </a:p>
          <a:p>
            <a:pPr marL="457200" indent="-323850">
              <a:lnSpc>
                <a:spcPct val="100000"/>
              </a:lnSpc>
              <a:spcBef>
                <a:spcPts val="0"/>
              </a:spcBef>
              <a:buSzPts val="1500"/>
              <a:buFont typeface="Times New Roman"/>
              <a:buChar char="○"/>
            </a:pPr>
            <a:r>
              <a:rPr lang="es-MX" sz="1800" b="1" dirty="0"/>
              <a:t>Estado de ejecución del programa</a:t>
            </a:r>
            <a:r>
              <a:rPr lang="es-MX" sz="1800" dirty="0"/>
              <a:t>: running, </a:t>
            </a:r>
            <a:r>
              <a:rPr lang="es-MX" sz="1800" dirty="0" err="1"/>
              <a:t>ready</a:t>
            </a:r>
            <a:r>
              <a:rPr lang="es-MX" sz="1800" dirty="0"/>
              <a:t>, etc.</a:t>
            </a:r>
          </a:p>
          <a:p>
            <a:pPr marL="457200" indent="-323850">
              <a:lnSpc>
                <a:spcPct val="100000"/>
              </a:lnSpc>
              <a:spcBef>
                <a:spcPts val="0"/>
              </a:spcBef>
              <a:buSzPts val="1500"/>
              <a:buFont typeface="Times New Roman"/>
              <a:buChar char="○"/>
            </a:pPr>
            <a:r>
              <a:rPr lang="es-MX" sz="1800" b="1" dirty="0" err="1"/>
              <a:t>Program</a:t>
            </a:r>
            <a:r>
              <a:rPr lang="es-MX" sz="1800" b="1" dirty="0"/>
              <a:t> </a:t>
            </a:r>
            <a:r>
              <a:rPr lang="es-MX" sz="1800" b="1" dirty="0" err="1"/>
              <a:t>counter</a:t>
            </a:r>
            <a:r>
              <a:rPr lang="es-MX" sz="1800" dirty="0"/>
              <a:t>: Localización de la próxima instrucción a ejecutar.</a:t>
            </a:r>
          </a:p>
          <a:p>
            <a:pPr marL="457200" indent="-323850">
              <a:lnSpc>
                <a:spcPct val="100000"/>
              </a:lnSpc>
              <a:spcBef>
                <a:spcPts val="0"/>
              </a:spcBef>
              <a:buSzPts val="1500"/>
              <a:buFont typeface="Times New Roman"/>
              <a:buChar char="○"/>
            </a:pPr>
            <a:r>
              <a:rPr lang="es-MX" sz="1800" b="1" dirty="0"/>
              <a:t>Registros de la CPU</a:t>
            </a:r>
            <a:r>
              <a:rPr lang="es-MX" sz="1800" dirty="0"/>
              <a:t>: Contenido de todos registros asociados al proceso.</a:t>
            </a:r>
          </a:p>
          <a:p>
            <a:pPr marL="457200" indent="-323850">
              <a:lnSpc>
                <a:spcPct val="100000"/>
              </a:lnSpc>
              <a:spcBef>
                <a:spcPts val="0"/>
              </a:spcBef>
              <a:buSzPts val="1500"/>
              <a:buFont typeface="Times New Roman"/>
              <a:buChar char="○"/>
            </a:pPr>
            <a:r>
              <a:rPr lang="es-MX" sz="1800" b="1" dirty="0"/>
              <a:t>Información de </a:t>
            </a:r>
            <a:r>
              <a:rPr lang="es-MX" sz="1800" b="1" dirty="0" err="1"/>
              <a:t>scheduling</a:t>
            </a:r>
            <a:r>
              <a:rPr lang="es-MX" sz="1800" b="1" dirty="0"/>
              <a:t> de la CPU</a:t>
            </a:r>
            <a:r>
              <a:rPr lang="es-MX" sz="1800" dirty="0"/>
              <a:t>: Prioridades, etc.</a:t>
            </a:r>
          </a:p>
          <a:p>
            <a:pPr marL="457200" indent="-323850">
              <a:lnSpc>
                <a:spcPct val="100000"/>
              </a:lnSpc>
              <a:spcBef>
                <a:spcPts val="0"/>
              </a:spcBef>
              <a:buSzPts val="1500"/>
              <a:buFont typeface="Times New Roman"/>
              <a:buChar char="○"/>
            </a:pPr>
            <a:r>
              <a:rPr lang="es-MX" sz="1800" b="1" dirty="0"/>
              <a:t>Información de manejo de memoria</a:t>
            </a:r>
            <a:r>
              <a:rPr lang="es-MX" sz="1800" dirty="0"/>
              <a:t>: Memoria asignada por el proceso.</a:t>
            </a:r>
          </a:p>
          <a:p>
            <a:pPr marL="457200" indent="-323850">
              <a:lnSpc>
                <a:spcPct val="100000"/>
              </a:lnSpc>
              <a:spcBef>
                <a:spcPts val="0"/>
              </a:spcBef>
              <a:buSzPts val="1500"/>
              <a:buFont typeface="Times New Roman"/>
              <a:buChar char="○"/>
            </a:pPr>
            <a:r>
              <a:rPr lang="es-MX" sz="1800" b="1" dirty="0"/>
              <a:t>Información (</a:t>
            </a:r>
            <a:r>
              <a:rPr lang="es-MX" sz="1800" b="1" dirty="0" err="1"/>
              <a:t>Accounting</a:t>
            </a:r>
            <a:r>
              <a:rPr lang="es-MX" sz="1800" b="1" dirty="0"/>
              <a:t> </a:t>
            </a:r>
            <a:r>
              <a:rPr lang="es-MX" sz="1800" b="1" dirty="0" err="1"/>
              <a:t>information</a:t>
            </a:r>
            <a:r>
              <a:rPr lang="es-MX" sz="1800" b="1" dirty="0"/>
              <a:t>)</a:t>
            </a:r>
            <a:r>
              <a:rPr lang="es-MX" sz="1800" dirty="0"/>
              <a:t>: CPU usada, tiempo gastado desde el inicio, limites de tiempo.</a:t>
            </a:r>
          </a:p>
          <a:p>
            <a:pPr marL="457200" indent="-323850">
              <a:lnSpc>
                <a:spcPct val="100000"/>
              </a:lnSpc>
              <a:spcBef>
                <a:spcPts val="0"/>
              </a:spcBef>
              <a:buSzPts val="1500"/>
              <a:buFont typeface="Times New Roman"/>
              <a:buChar char="○"/>
            </a:pPr>
            <a:r>
              <a:rPr lang="es-MX" sz="1800" b="1" dirty="0"/>
              <a:t>Información de estado de I/O</a:t>
            </a:r>
            <a:r>
              <a:rPr lang="es-MX" sz="1800" dirty="0"/>
              <a:t>: Dispositivos I/O asociados al proceso, lista de archivos abiertos.</a:t>
            </a:r>
          </a:p>
          <a:p>
            <a:pPr marL="0" indent="0">
              <a:buFont typeface="Arial" panose="020B0604020202020204" pitchFamily="34" charset="0"/>
              <a:buNone/>
            </a:pPr>
            <a:endParaRPr lang="es-MX" dirty="0"/>
          </a:p>
          <a:p>
            <a:pPr marL="457200" indent="0">
              <a:buFont typeface="Arial" panose="020B0604020202020204" pitchFamily="34" charset="0"/>
              <a:buNone/>
            </a:pPr>
            <a:endParaRPr lang="es-MX" dirty="0"/>
          </a:p>
        </p:txBody>
      </p:sp>
      <p:pic>
        <p:nvPicPr>
          <p:cNvPr id="6146" name="Picture 2" descr="PCB">
            <a:extLst>
              <a:ext uri="{FF2B5EF4-FFF2-40B4-BE49-F238E27FC236}">
                <a16:creationId xmlns:a16="http://schemas.microsoft.com/office/drawing/2014/main" id="{855FD261-79CD-41FA-A9F5-14416E453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128" y="1637867"/>
            <a:ext cx="3320327" cy="4518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1317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Process Control Block (PCB)</a:t>
            </a:r>
            <a:endParaRPr lang="es-ES" b="1" dirty="0">
              <a:solidFill>
                <a:srgbClr val="0B6937"/>
              </a:solidFill>
              <a:latin typeface="Roboto Slab"/>
              <a:ea typeface="Roboto Slab"/>
              <a:cs typeface="Roboto Slab"/>
              <a:sym typeface="Roboto Slab"/>
            </a:endParaRPr>
          </a:p>
        </p:txBody>
      </p:sp>
      <p:sp>
        <p:nvSpPr>
          <p:cNvPr id="5" name="Google Shape;664;p60">
            <a:extLst>
              <a:ext uri="{FF2B5EF4-FFF2-40B4-BE49-F238E27FC236}">
                <a16:creationId xmlns:a16="http://schemas.microsoft.com/office/drawing/2014/main" id="{07C971BE-81A6-4E07-8A62-F86FC5B0E208}"/>
              </a:ext>
            </a:extLst>
          </p:cNvPr>
          <p:cNvSpPr txBox="1"/>
          <p:nvPr/>
        </p:nvSpPr>
        <p:spPr>
          <a:xfrm>
            <a:off x="4040569" y="3734850"/>
            <a:ext cx="7760400" cy="1908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pid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t_pid</a:t>
            </a:r>
            <a:r>
              <a:rPr lang="es-ES" sz="1600" dirty="0">
                <a:solidFill>
                  <a:schemeClr val="dk1"/>
                </a:solidFill>
                <a:latin typeface="Courier New"/>
                <a:ea typeface="Courier New"/>
                <a:cs typeface="Courier New"/>
                <a:sym typeface="Courier New"/>
              </a:rPr>
              <a:t>;   /* process </a:t>
            </a:r>
            <a:r>
              <a:rPr lang="es-ES" sz="1600" dirty="0" err="1">
                <a:solidFill>
                  <a:schemeClr val="dk1"/>
                </a:solidFill>
                <a:latin typeface="Courier New"/>
                <a:ea typeface="Courier New"/>
                <a:cs typeface="Courier New"/>
                <a:sym typeface="Courier New"/>
              </a:rPr>
              <a:t>identifier</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long</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state</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state</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the</a:t>
            </a:r>
            <a:r>
              <a:rPr lang="es-ES" sz="1600" dirty="0">
                <a:solidFill>
                  <a:schemeClr val="dk1"/>
                </a:solidFill>
                <a:latin typeface="Courier New"/>
                <a:ea typeface="Courier New"/>
                <a:cs typeface="Courier New"/>
                <a:sym typeface="Courier New"/>
              </a:rPr>
              <a:t> process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unsigned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int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time_slice</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scheduling</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information</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task_struct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parent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process’s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parent</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list_head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children</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process’s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children</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files_struct</a:t>
            </a:r>
            <a:r>
              <a:rPr lang="es-ES" sz="1600" dirty="0">
                <a:solidFill>
                  <a:schemeClr val="dk1"/>
                </a:solidFill>
                <a:latin typeface="Courier New"/>
                <a:ea typeface="Courier New"/>
                <a:cs typeface="Courier New"/>
                <a:sym typeface="Courier New"/>
              </a:rPr>
              <a:t> *files;/* </a:t>
            </a:r>
            <a:r>
              <a:rPr lang="es-ES" sz="1600" dirty="0" err="1">
                <a:solidFill>
                  <a:schemeClr val="dk1"/>
                </a:solidFill>
                <a:latin typeface="Courier New"/>
                <a:ea typeface="Courier New"/>
                <a:cs typeface="Courier New"/>
                <a:sym typeface="Courier New"/>
              </a:rPr>
              <a:t>list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open files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mm_struct</a:t>
            </a:r>
            <a:r>
              <a:rPr lang="es-ES" sz="1600" dirty="0">
                <a:solidFill>
                  <a:schemeClr val="dk1"/>
                </a:solidFill>
                <a:latin typeface="Courier New"/>
                <a:ea typeface="Courier New"/>
                <a:cs typeface="Courier New"/>
                <a:sym typeface="Courier New"/>
              </a:rPr>
              <a:t> *mm;   /* </a:t>
            </a:r>
            <a:r>
              <a:rPr lang="es-ES" sz="1600" dirty="0" err="1">
                <a:solidFill>
                  <a:schemeClr val="dk1"/>
                </a:solidFill>
                <a:latin typeface="Courier New"/>
                <a:ea typeface="Courier New"/>
                <a:cs typeface="Courier New"/>
                <a:sym typeface="Courier New"/>
              </a:rPr>
              <a:t>address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space</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process */</a:t>
            </a:r>
            <a:endParaRPr dirty="0"/>
          </a:p>
        </p:txBody>
      </p:sp>
      <p:pic>
        <p:nvPicPr>
          <p:cNvPr id="6" name="Google Shape;665;p60">
            <a:extLst>
              <a:ext uri="{FF2B5EF4-FFF2-40B4-BE49-F238E27FC236}">
                <a16:creationId xmlns:a16="http://schemas.microsoft.com/office/drawing/2014/main" id="{196BE5E5-F89F-4F60-B844-58BA036C66A6}"/>
              </a:ext>
            </a:extLst>
          </p:cNvPr>
          <p:cNvPicPr preferRelativeResize="0"/>
          <p:nvPr/>
        </p:nvPicPr>
        <p:blipFill>
          <a:blip r:embed="rId3">
            <a:alphaModFix/>
          </a:blip>
          <a:stretch>
            <a:fillRect/>
          </a:stretch>
        </p:blipFill>
        <p:spPr>
          <a:xfrm>
            <a:off x="4578443" y="1387650"/>
            <a:ext cx="6430137" cy="2217600"/>
          </a:xfrm>
          <a:prstGeom prst="rect">
            <a:avLst/>
          </a:prstGeom>
          <a:noFill/>
          <a:ln>
            <a:noFill/>
          </a:ln>
        </p:spPr>
      </p:pic>
      <p:sp>
        <p:nvSpPr>
          <p:cNvPr id="8" name="Google Shape;666;p60">
            <a:extLst>
              <a:ext uri="{FF2B5EF4-FFF2-40B4-BE49-F238E27FC236}">
                <a16:creationId xmlns:a16="http://schemas.microsoft.com/office/drawing/2014/main" id="{A81218B9-B138-400D-960D-BBD23A4D93F0}"/>
              </a:ext>
            </a:extLst>
          </p:cNvPr>
          <p:cNvSpPr txBox="1"/>
          <p:nvPr/>
        </p:nvSpPr>
        <p:spPr>
          <a:xfrm>
            <a:off x="6096000" y="5773050"/>
            <a:ext cx="3845448"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err="1">
                <a:latin typeface="Roboto"/>
                <a:ea typeface="Roboto"/>
                <a:cs typeface="Roboto"/>
                <a:sym typeface="Roboto"/>
              </a:rPr>
              <a:t>The</a:t>
            </a:r>
            <a:r>
              <a:rPr lang="es-ES" b="1" dirty="0">
                <a:latin typeface="Roboto"/>
                <a:ea typeface="Roboto"/>
                <a:cs typeface="Roboto"/>
                <a:sym typeface="Roboto"/>
              </a:rPr>
              <a:t> xv6 </a:t>
            </a:r>
            <a:r>
              <a:rPr lang="es-ES" b="1" dirty="0" err="1">
                <a:latin typeface="Roboto"/>
                <a:ea typeface="Roboto"/>
                <a:cs typeface="Roboto"/>
                <a:sym typeface="Roboto"/>
              </a:rPr>
              <a:t>Proc</a:t>
            </a:r>
            <a:r>
              <a:rPr lang="es-ES" b="1" dirty="0">
                <a:latin typeface="Roboto"/>
                <a:ea typeface="Roboto"/>
                <a:cs typeface="Roboto"/>
                <a:sym typeface="Roboto"/>
              </a:rPr>
              <a:t> </a:t>
            </a:r>
            <a:r>
              <a:rPr lang="es-ES" b="1" dirty="0" err="1">
                <a:latin typeface="Roboto"/>
                <a:ea typeface="Roboto"/>
                <a:cs typeface="Roboto"/>
                <a:sym typeface="Roboto"/>
              </a:rPr>
              <a:t>Structure</a:t>
            </a:r>
            <a:r>
              <a:rPr lang="es-ES" dirty="0">
                <a:latin typeface="Roboto"/>
                <a:ea typeface="Roboto"/>
                <a:cs typeface="Roboto"/>
                <a:sym typeface="Roboto"/>
              </a:rPr>
              <a:t>  (</a:t>
            </a:r>
            <a:r>
              <a:rPr lang="es-ES" u="sng" dirty="0">
                <a:solidFill>
                  <a:schemeClr val="hlink"/>
                </a:solidFill>
                <a:latin typeface="Roboto"/>
                <a:ea typeface="Roboto"/>
                <a:cs typeface="Roboto"/>
                <a:sym typeface="Roboto"/>
                <a:hlinkClick r:id="rId4"/>
              </a:rPr>
              <a:t>link</a:t>
            </a:r>
            <a:r>
              <a:rPr lang="es-ES" dirty="0">
                <a:latin typeface="Roboto"/>
                <a:ea typeface="Roboto"/>
                <a:cs typeface="Roboto"/>
                <a:sym typeface="Roboto"/>
              </a:rPr>
              <a:t>) </a:t>
            </a:r>
            <a:endParaRPr dirty="0">
              <a:latin typeface="Roboto"/>
              <a:ea typeface="Roboto"/>
              <a:cs typeface="Roboto"/>
              <a:sym typeface="Roboto"/>
            </a:endParaRPr>
          </a:p>
        </p:txBody>
      </p:sp>
      <p:pic>
        <p:nvPicPr>
          <p:cNvPr id="9" name="Picture 2" descr="PCB">
            <a:extLst>
              <a:ext uri="{FF2B5EF4-FFF2-40B4-BE49-F238E27FC236}">
                <a16:creationId xmlns:a16="http://schemas.microsoft.com/office/drawing/2014/main" id="{0B83E267-5231-469D-A8A1-BE56EFEFD1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88" y="1485618"/>
            <a:ext cx="3320327" cy="4518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210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Process Control Block (PCB)</a:t>
            </a:r>
            <a:endParaRPr lang="es-ES" b="1" dirty="0">
              <a:solidFill>
                <a:srgbClr val="0B6937"/>
              </a:solidFill>
              <a:latin typeface="Roboto Slab"/>
              <a:ea typeface="Roboto Slab"/>
              <a:cs typeface="Roboto Slab"/>
              <a:sym typeface="Roboto Slab"/>
            </a:endParaRPr>
          </a:p>
        </p:txBody>
      </p:sp>
      <p:sp>
        <p:nvSpPr>
          <p:cNvPr id="5" name="Google Shape;664;p60">
            <a:extLst>
              <a:ext uri="{FF2B5EF4-FFF2-40B4-BE49-F238E27FC236}">
                <a16:creationId xmlns:a16="http://schemas.microsoft.com/office/drawing/2014/main" id="{07C971BE-81A6-4E07-8A62-F86FC5B0E208}"/>
              </a:ext>
            </a:extLst>
          </p:cNvPr>
          <p:cNvSpPr txBox="1"/>
          <p:nvPr/>
        </p:nvSpPr>
        <p:spPr>
          <a:xfrm>
            <a:off x="4040569" y="3734850"/>
            <a:ext cx="7760400" cy="1908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pid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t_pid</a:t>
            </a:r>
            <a:r>
              <a:rPr lang="es-ES" sz="1600" dirty="0">
                <a:solidFill>
                  <a:schemeClr val="dk1"/>
                </a:solidFill>
                <a:latin typeface="Courier New"/>
                <a:ea typeface="Courier New"/>
                <a:cs typeface="Courier New"/>
                <a:sym typeface="Courier New"/>
              </a:rPr>
              <a:t>;   /* process </a:t>
            </a:r>
            <a:r>
              <a:rPr lang="es-ES" sz="1600" dirty="0" err="1">
                <a:solidFill>
                  <a:schemeClr val="dk1"/>
                </a:solidFill>
                <a:latin typeface="Courier New"/>
                <a:ea typeface="Courier New"/>
                <a:cs typeface="Courier New"/>
                <a:sym typeface="Courier New"/>
              </a:rPr>
              <a:t>identifier</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long</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state</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state</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the</a:t>
            </a:r>
            <a:r>
              <a:rPr lang="es-ES" sz="1600" dirty="0">
                <a:solidFill>
                  <a:schemeClr val="dk1"/>
                </a:solidFill>
                <a:latin typeface="Courier New"/>
                <a:ea typeface="Courier New"/>
                <a:cs typeface="Courier New"/>
                <a:sym typeface="Courier New"/>
              </a:rPr>
              <a:t> process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unsigned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int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time_slice</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scheduling</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information</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task_struct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parent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process’s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parent</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list_head</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children</a:t>
            </a:r>
            <a:r>
              <a:rPr lang="es-ES" sz="1600" dirty="0">
                <a:solidFill>
                  <a:schemeClr val="dk1"/>
                </a:solidFill>
                <a:latin typeface="Courier New"/>
                <a:ea typeface="Courier New"/>
                <a:cs typeface="Courier New"/>
                <a:sym typeface="Courier New"/>
              </a:rPr>
              <a:t>; /*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process’s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children</a:t>
            </a:r>
            <a:r>
              <a:rPr lang="es-ES" sz="1600" dirty="0">
                <a:solidFill>
                  <a:schemeClr val="dk1"/>
                </a:solidFill>
                <a:latin typeface="Courier New"/>
                <a:ea typeface="Courier New"/>
                <a:cs typeface="Courier New"/>
                <a:sym typeface="Courier New"/>
              </a:rPr>
              <a:t>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files_struct</a:t>
            </a:r>
            <a:r>
              <a:rPr lang="es-ES" sz="1600" dirty="0">
                <a:solidFill>
                  <a:schemeClr val="dk1"/>
                </a:solidFill>
                <a:latin typeface="Courier New"/>
                <a:ea typeface="Courier New"/>
                <a:cs typeface="Courier New"/>
                <a:sym typeface="Courier New"/>
              </a:rPr>
              <a:t> *files;/* </a:t>
            </a:r>
            <a:r>
              <a:rPr lang="es-ES" sz="1600" dirty="0" err="1">
                <a:solidFill>
                  <a:schemeClr val="dk1"/>
                </a:solidFill>
                <a:latin typeface="Courier New"/>
                <a:ea typeface="Courier New"/>
                <a:cs typeface="Courier New"/>
                <a:sym typeface="Courier New"/>
              </a:rPr>
              <a:t>list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open files */</a:t>
            </a:r>
            <a:endParaRPr sz="16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es-ES" sz="1600" dirty="0" err="1">
                <a:solidFill>
                  <a:schemeClr val="dk1"/>
                </a:solidFill>
                <a:latin typeface="Courier New"/>
                <a:ea typeface="Courier New"/>
                <a:cs typeface="Courier New"/>
                <a:sym typeface="Courier New"/>
              </a:rPr>
              <a:t>struct</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mm_struct</a:t>
            </a:r>
            <a:r>
              <a:rPr lang="es-ES" sz="1600" dirty="0">
                <a:solidFill>
                  <a:schemeClr val="dk1"/>
                </a:solidFill>
                <a:latin typeface="Courier New"/>
                <a:ea typeface="Courier New"/>
                <a:cs typeface="Courier New"/>
                <a:sym typeface="Courier New"/>
              </a:rPr>
              <a:t> *mm;   /* </a:t>
            </a:r>
            <a:r>
              <a:rPr lang="es-ES" sz="1600" dirty="0" err="1">
                <a:solidFill>
                  <a:schemeClr val="dk1"/>
                </a:solidFill>
                <a:latin typeface="Courier New"/>
                <a:ea typeface="Courier New"/>
                <a:cs typeface="Courier New"/>
                <a:sym typeface="Courier New"/>
              </a:rPr>
              <a:t>address</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space</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of</a:t>
            </a:r>
            <a:r>
              <a:rPr lang="es-ES" sz="1600" dirty="0">
                <a:solidFill>
                  <a:schemeClr val="dk1"/>
                </a:solidFill>
                <a:latin typeface="Courier New"/>
                <a:ea typeface="Courier New"/>
                <a:cs typeface="Courier New"/>
                <a:sym typeface="Courier New"/>
              </a:rPr>
              <a:t> </a:t>
            </a:r>
            <a:r>
              <a:rPr lang="es-ES" sz="1600" dirty="0" err="1">
                <a:solidFill>
                  <a:schemeClr val="dk1"/>
                </a:solidFill>
                <a:latin typeface="Courier New"/>
                <a:ea typeface="Courier New"/>
                <a:cs typeface="Courier New"/>
                <a:sym typeface="Courier New"/>
              </a:rPr>
              <a:t>this</a:t>
            </a:r>
            <a:r>
              <a:rPr lang="es-ES" sz="1600" dirty="0">
                <a:solidFill>
                  <a:schemeClr val="dk1"/>
                </a:solidFill>
                <a:latin typeface="Courier New"/>
                <a:ea typeface="Courier New"/>
                <a:cs typeface="Courier New"/>
                <a:sym typeface="Courier New"/>
              </a:rPr>
              <a:t> process */</a:t>
            </a:r>
            <a:endParaRPr dirty="0"/>
          </a:p>
        </p:txBody>
      </p:sp>
      <p:pic>
        <p:nvPicPr>
          <p:cNvPr id="6" name="Google Shape;665;p60">
            <a:extLst>
              <a:ext uri="{FF2B5EF4-FFF2-40B4-BE49-F238E27FC236}">
                <a16:creationId xmlns:a16="http://schemas.microsoft.com/office/drawing/2014/main" id="{196BE5E5-F89F-4F60-B844-58BA036C66A6}"/>
              </a:ext>
            </a:extLst>
          </p:cNvPr>
          <p:cNvPicPr preferRelativeResize="0"/>
          <p:nvPr/>
        </p:nvPicPr>
        <p:blipFill>
          <a:blip r:embed="rId3">
            <a:alphaModFix/>
          </a:blip>
          <a:stretch>
            <a:fillRect/>
          </a:stretch>
        </p:blipFill>
        <p:spPr>
          <a:xfrm>
            <a:off x="4578443" y="1387650"/>
            <a:ext cx="6430137" cy="2217600"/>
          </a:xfrm>
          <a:prstGeom prst="rect">
            <a:avLst/>
          </a:prstGeom>
          <a:noFill/>
          <a:ln>
            <a:noFill/>
          </a:ln>
        </p:spPr>
      </p:pic>
      <p:sp>
        <p:nvSpPr>
          <p:cNvPr id="8" name="Google Shape;666;p60">
            <a:extLst>
              <a:ext uri="{FF2B5EF4-FFF2-40B4-BE49-F238E27FC236}">
                <a16:creationId xmlns:a16="http://schemas.microsoft.com/office/drawing/2014/main" id="{A81218B9-B138-400D-960D-BBD23A4D93F0}"/>
              </a:ext>
            </a:extLst>
          </p:cNvPr>
          <p:cNvSpPr txBox="1"/>
          <p:nvPr/>
        </p:nvSpPr>
        <p:spPr>
          <a:xfrm>
            <a:off x="6096000" y="5773050"/>
            <a:ext cx="3845448"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err="1">
                <a:latin typeface="Roboto"/>
                <a:ea typeface="Roboto"/>
                <a:cs typeface="Roboto"/>
                <a:sym typeface="Roboto"/>
              </a:rPr>
              <a:t>The</a:t>
            </a:r>
            <a:r>
              <a:rPr lang="es-ES" b="1" dirty="0">
                <a:latin typeface="Roboto"/>
                <a:ea typeface="Roboto"/>
                <a:cs typeface="Roboto"/>
                <a:sym typeface="Roboto"/>
              </a:rPr>
              <a:t> xv6 </a:t>
            </a:r>
            <a:r>
              <a:rPr lang="es-ES" b="1" dirty="0" err="1">
                <a:latin typeface="Roboto"/>
                <a:ea typeface="Roboto"/>
                <a:cs typeface="Roboto"/>
                <a:sym typeface="Roboto"/>
              </a:rPr>
              <a:t>Proc</a:t>
            </a:r>
            <a:r>
              <a:rPr lang="es-ES" b="1" dirty="0">
                <a:latin typeface="Roboto"/>
                <a:ea typeface="Roboto"/>
                <a:cs typeface="Roboto"/>
                <a:sym typeface="Roboto"/>
              </a:rPr>
              <a:t> </a:t>
            </a:r>
            <a:r>
              <a:rPr lang="es-ES" b="1" dirty="0" err="1">
                <a:latin typeface="Roboto"/>
                <a:ea typeface="Roboto"/>
                <a:cs typeface="Roboto"/>
                <a:sym typeface="Roboto"/>
              </a:rPr>
              <a:t>Structure</a:t>
            </a:r>
            <a:r>
              <a:rPr lang="es-ES" dirty="0">
                <a:latin typeface="Roboto"/>
                <a:ea typeface="Roboto"/>
                <a:cs typeface="Roboto"/>
                <a:sym typeface="Roboto"/>
              </a:rPr>
              <a:t>  (</a:t>
            </a:r>
            <a:r>
              <a:rPr lang="es-ES" u="sng" dirty="0">
                <a:solidFill>
                  <a:schemeClr val="hlink"/>
                </a:solidFill>
                <a:latin typeface="Roboto"/>
                <a:ea typeface="Roboto"/>
                <a:cs typeface="Roboto"/>
                <a:sym typeface="Roboto"/>
                <a:hlinkClick r:id="rId4"/>
              </a:rPr>
              <a:t>link</a:t>
            </a:r>
            <a:r>
              <a:rPr lang="es-ES" dirty="0">
                <a:latin typeface="Roboto"/>
                <a:ea typeface="Roboto"/>
                <a:cs typeface="Roboto"/>
                <a:sym typeface="Roboto"/>
              </a:rPr>
              <a:t>) </a:t>
            </a:r>
            <a:endParaRPr dirty="0">
              <a:latin typeface="Roboto"/>
              <a:ea typeface="Roboto"/>
              <a:cs typeface="Roboto"/>
              <a:sym typeface="Roboto"/>
            </a:endParaRPr>
          </a:p>
        </p:txBody>
      </p:sp>
      <p:pic>
        <p:nvPicPr>
          <p:cNvPr id="9" name="Picture 2" descr="PCB">
            <a:extLst>
              <a:ext uri="{FF2B5EF4-FFF2-40B4-BE49-F238E27FC236}">
                <a16:creationId xmlns:a16="http://schemas.microsoft.com/office/drawing/2014/main" id="{0B83E267-5231-469D-A8A1-BE56EFEFD1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88" y="1485618"/>
            <a:ext cx="3320327" cy="4518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4507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47143" y="31475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Process Control Block (PCB)</a:t>
            </a:r>
            <a:endParaRPr lang="es-ES" b="1" dirty="0">
              <a:solidFill>
                <a:srgbClr val="0B6937"/>
              </a:solidFill>
              <a:latin typeface="Roboto Slab"/>
              <a:ea typeface="Roboto Slab"/>
              <a:cs typeface="Roboto Slab"/>
              <a:sym typeface="Roboto Slab"/>
            </a:endParaRPr>
          </a:p>
        </p:txBody>
      </p:sp>
      <p:sp>
        <p:nvSpPr>
          <p:cNvPr id="7" name="Google Shape;673;p61">
            <a:extLst>
              <a:ext uri="{FF2B5EF4-FFF2-40B4-BE49-F238E27FC236}">
                <a16:creationId xmlns:a16="http://schemas.microsoft.com/office/drawing/2014/main" id="{378D5D9D-ECD9-4F60-9E61-C6442DA7B4A1}"/>
              </a:ext>
            </a:extLst>
          </p:cNvPr>
          <p:cNvSpPr txBox="1"/>
          <p:nvPr/>
        </p:nvSpPr>
        <p:spPr>
          <a:xfrm>
            <a:off x="1371225" y="1943500"/>
            <a:ext cx="10249800" cy="41250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the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registers</a:t>
            </a:r>
            <a:r>
              <a:rPr lang="es-ES" sz="1600" dirty="0">
                <a:latin typeface="Courier New"/>
                <a:ea typeface="Courier New"/>
                <a:cs typeface="Courier New"/>
                <a:sym typeface="Courier New"/>
              </a:rPr>
              <a:t> xv6 </a:t>
            </a:r>
            <a:r>
              <a:rPr lang="es-ES" sz="1600" dirty="0" err="1">
                <a:latin typeface="Courier New"/>
                <a:ea typeface="Courier New"/>
                <a:cs typeface="Courier New"/>
                <a:sym typeface="Courier New"/>
              </a:rPr>
              <a:t>will</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save</a:t>
            </a:r>
            <a:r>
              <a:rPr lang="es-ES" sz="1600" dirty="0">
                <a:latin typeface="Courier New"/>
                <a:ea typeface="Courier New"/>
                <a:cs typeface="Courier New"/>
                <a:sym typeface="Courier New"/>
              </a:rPr>
              <a:t> and </a:t>
            </a:r>
            <a:r>
              <a:rPr lang="es-ES" sz="1600" dirty="0" err="1">
                <a:latin typeface="Courier New"/>
                <a:ea typeface="Courier New"/>
                <a:cs typeface="Courier New"/>
                <a:sym typeface="Courier New"/>
              </a:rPr>
              <a:t>restore</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to</a:t>
            </a:r>
            <a:r>
              <a:rPr lang="es-ES" sz="1600" dirty="0">
                <a:latin typeface="Courier New"/>
                <a:ea typeface="Courier New"/>
                <a:cs typeface="Courier New"/>
                <a:sym typeface="Courier New"/>
              </a:rPr>
              <a:t> stop and </a:t>
            </a:r>
            <a:r>
              <a:rPr lang="es-ES" sz="1600" dirty="0" err="1">
                <a:latin typeface="Courier New"/>
                <a:ea typeface="Courier New"/>
                <a:cs typeface="Courier New"/>
                <a:sym typeface="Courier New"/>
              </a:rPr>
              <a:t>subsequently</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restart</a:t>
            </a:r>
            <a:r>
              <a:rPr lang="es-ES" sz="1600" dirty="0">
                <a:latin typeface="Courier New"/>
                <a:ea typeface="Courier New"/>
                <a:cs typeface="Courier New"/>
                <a:sym typeface="Courier New"/>
              </a:rPr>
              <a:t> a process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context</a:t>
            </a:r>
            <a:r>
              <a:rPr lang="es-ES" sz="1600" dirty="0">
                <a:latin typeface="Courier New"/>
                <a:ea typeface="Courier New"/>
                <a:cs typeface="Courier New"/>
                <a:sym typeface="Courier New"/>
              </a:rPr>
              <a:t> {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eip</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esp</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ebx</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ecx</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edx</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esi</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edi</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ebp</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None/>
            </a:pP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the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different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states</a:t>
            </a:r>
            <a:r>
              <a:rPr lang="es-ES" sz="1600" dirty="0">
                <a:latin typeface="Courier New"/>
                <a:ea typeface="Courier New"/>
                <a:cs typeface="Courier New"/>
                <a:sym typeface="Courier New"/>
              </a:rPr>
              <a:t> a process can be in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err="1">
                <a:latin typeface="Courier New"/>
                <a:ea typeface="Courier New"/>
                <a:cs typeface="Courier New"/>
                <a:sym typeface="Courier New"/>
              </a:rPr>
              <a:t>enum</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proc_state</a:t>
            </a:r>
            <a:r>
              <a:rPr lang="es-ES" sz="1600" dirty="0">
                <a:latin typeface="Courier New"/>
                <a:ea typeface="Courier New"/>
                <a:cs typeface="Courier New"/>
                <a:sym typeface="Courier New"/>
              </a:rPr>
              <a:t> { UNUSED, EMBRYO, SLEEPING, </a:t>
            </a:r>
            <a:endParaRPr sz="1600" dirty="0">
              <a:latin typeface="Courier New"/>
              <a:ea typeface="Courier New"/>
              <a:cs typeface="Courier New"/>
              <a:sym typeface="Courier New"/>
            </a:endParaRPr>
          </a:p>
          <a:p>
            <a:pPr marL="0" lvl="0" indent="0" algn="l" rtl="0">
              <a:spcBef>
                <a:spcPts val="0"/>
              </a:spcBef>
              <a:spcAft>
                <a:spcPts val="0"/>
              </a:spcAft>
              <a:buNone/>
            </a:pPr>
            <a:r>
              <a:rPr lang="es-ES" sz="1600" dirty="0">
                <a:latin typeface="Courier New"/>
                <a:ea typeface="Courier New"/>
                <a:cs typeface="Courier New"/>
                <a:sym typeface="Courier New"/>
              </a:rPr>
              <a:t>                  RUNNABLE, RUNNING, ZOMBIE };</a:t>
            </a:r>
            <a:endParaRPr sz="1600" dirty="0">
              <a:latin typeface="Courier New"/>
              <a:ea typeface="Courier New"/>
              <a:cs typeface="Courier New"/>
              <a:sym typeface="Courier New"/>
            </a:endParaRPr>
          </a:p>
        </p:txBody>
      </p:sp>
      <p:sp>
        <p:nvSpPr>
          <p:cNvPr id="10" name="Google Shape;674;p61">
            <a:extLst>
              <a:ext uri="{FF2B5EF4-FFF2-40B4-BE49-F238E27FC236}">
                <a16:creationId xmlns:a16="http://schemas.microsoft.com/office/drawing/2014/main" id="{79EA56F2-0238-4EE4-B405-2E84FC368B28}"/>
              </a:ext>
            </a:extLst>
          </p:cNvPr>
          <p:cNvSpPr txBox="1"/>
          <p:nvPr/>
        </p:nvSpPr>
        <p:spPr>
          <a:xfrm>
            <a:off x="4433455" y="6102950"/>
            <a:ext cx="3754683"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err="1">
                <a:latin typeface="Roboto"/>
                <a:ea typeface="Roboto"/>
                <a:cs typeface="Roboto"/>
                <a:sym typeface="Roboto"/>
              </a:rPr>
              <a:t>The</a:t>
            </a:r>
            <a:r>
              <a:rPr lang="es-ES" b="1" dirty="0">
                <a:latin typeface="Roboto"/>
                <a:ea typeface="Roboto"/>
                <a:cs typeface="Roboto"/>
                <a:sym typeface="Roboto"/>
              </a:rPr>
              <a:t> xv6 </a:t>
            </a:r>
            <a:r>
              <a:rPr lang="es-ES" b="1" dirty="0" err="1">
                <a:latin typeface="Roboto"/>
                <a:ea typeface="Roboto"/>
                <a:cs typeface="Roboto"/>
                <a:sym typeface="Roboto"/>
              </a:rPr>
              <a:t>Proc</a:t>
            </a:r>
            <a:r>
              <a:rPr lang="es-ES" b="1" dirty="0">
                <a:latin typeface="Roboto"/>
                <a:ea typeface="Roboto"/>
                <a:cs typeface="Roboto"/>
                <a:sym typeface="Roboto"/>
              </a:rPr>
              <a:t> </a:t>
            </a:r>
            <a:r>
              <a:rPr lang="es-ES" b="1" dirty="0" err="1">
                <a:latin typeface="Roboto"/>
                <a:ea typeface="Roboto"/>
                <a:cs typeface="Roboto"/>
                <a:sym typeface="Roboto"/>
              </a:rPr>
              <a:t>Structure</a:t>
            </a:r>
            <a:r>
              <a:rPr lang="es-ES" dirty="0">
                <a:latin typeface="Roboto"/>
                <a:ea typeface="Roboto"/>
                <a:cs typeface="Roboto"/>
                <a:sym typeface="Roboto"/>
              </a:rPr>
              <a:t>  (</a:t>
            </a:r>
            <a:r>
              <a:rPr lang="es-ES" u="sng" dirty="0">
                <a:solidFill>
                  <a:schemeClr val="hlink"/>
                </a:solidFill>
                <a:latin typeface="Roboto"/>
                <a:ea typeface="Roboto"/>
                <a:cs typeface="Roboto"/>
                <a:sym typeface="Roboto"/>
                <a:hlinkClick r:id="rId3"/>
              </a:rPr>
              <a:t>link</a:t>
            </a:r>
            <a:r>
              <a:rPr lang="es-ES" dirty="0">
                <a:latin typeface="Roboto"/>
                <a:ea typeface="Roboto"/>
                <a:cs typeface="Roboto"/>
                <a:sym typeface="Roboto"/>
              </a:rPr>
              <a:t>) </a:t>
            </a:r>
            <a:endParaRPr dirty="0">
              <a:latin typeface="Roboto"/>
              <a:ea typeface="Roboto"/>
              <a:cs typeface="Roboto"/>
              <a:sym typeface="Roboto"/>
            </a:endParaRPr>
          </a:p>
        </p:txBody>
      </p:sp>
    </p:spTree>
    <p:extLst>
      <p:ext uri="{BB962C8B-B14F-4D97-AF65-F5344CB8AC3E}">
        <p14:creationId xmlns:p14="http://schemas.microsoft.com/office/powerpoint/2010/main" val="42289554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7"/>
          <p:cNvSpPr txBox="1">
            <a:spLocks noGrp="1"/>
          </p:cNvSpPr>
          <p:nvPr>
            <p:ph type="title"/>
          </p:nvPr>
        </p:nvSpPr>
        <p:spPr>
          <a:xfrm>
            <a:off x="1096759" y="165310"/>
            <a:ext cx="10097714"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Process Control Block (PCB)</a:t>
            </a:r>
            <a:endParaRPr lang="es-ES" b="1" dirty="0">
              <a:solidFill>
                <a:srgbClr val="0B6937"/>
              </a:solidFill>
              <a:latin typeface="Roboto Slab"/>
              <a:ea typeface="Roboto Slab"/>
              <a:cs typeface="Roboto Slab"/>
              <a:sym typeface="Roboto Slab"/>
            </a:endParaRPr>
          </a:p>
        </p:txBody>
      </p:sp>
      <p:sp>
        <p:nvSpPr>
          <p:cNvPr id="10" name="Google Shape;674;p61">
            <a:extLst>
              <a:ext uri="{FF2B5EF4-FFF2-40B4-BE49-F238E27FC236}">
                <a16:creationId xmlns:a16="http://schemas.microsoft.com/office/drawing/2014/main" id="{79EA56F2-0238-4EE4-B405-2E84FC368B28}"/>
              </a:ext>
            </a:extLst>
          </p:cNvPr>
          <p:cNvSpPr txBox="1"/>
          <p:nvPr/>
        </p:nvSpPr>
        <p:spPr>
          <a:xfrm>
            <a:off x="4433455" y="6102950"/>
            <a:ext cx="3754683"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ES" b="1" dirty="0" err="1">
                <a:latin typeface="Roboto"/>
                <a:ea typeface="Roboto"/>
                <a:cs typeface="Roboto"/>
                <a:sym typeface="Roboto"/>
              </a:rPr>
              <a:t>The</a:t>
            </a:r>
            <a:r>
              <a:rPr lang="es-ES" b="1" dirty="0">
                <a:latin typeface="Roboto"/>
                <a:ea typeface="Roboto"/>
                <a:cs typeface="Roboto"/>
                <a:sym typeface="Roboto"/>
              </a:rPr>
              <a:t> xv6 </a:t>
            </a:r>
            <a:r>
              <a:rPr lang="es-ES" b="1" dirty="0" err="1">
                <a:latin typeface="Roboto"/>
                <a:ea typeface="Roboto"/>
                <a:cs typeface="Roboto"/>
                <a:sym typeface="Roboto"/>
              </a:rPr>
              <a:t>Proc</a:t>
            </a:r>
            <a:r>
              <a:rPr lang="es-ES" b="1" dirty="0">
                <a:latin typeface="Roboto"/>
                <a:ea typeface="Roboto"/>
                <a:cs typeface="Roboto"/>
                <a:sym typeface="Roboto"/>
              </a:rPr>
              <a:t> </a:t>
            </a:r>
            <a:r>
              <a:rPr lang="es-ES" b="1" dirty="0" err="1">
                <a:latin typeface="Roboto"/>
                <a:ea typeface="Roboto"/>
                <a:cs typeface="Roboto"/>
                <a:sym typeface="Roboto"/>
              </a:rPr>
              <a:t>Structure</a:t>
            </a:r>
            <a:r>
              <a:rPr lang="es-ES" dirty="0">
                <a:latin typeface="Roboto"/>
                <a:ea typeface="Roboto"/>
                <a:cs typeface="Roboto"/>
                <a:sym typeface="Roboto"/>
              </a:rPr>
              <a:t>  (</a:t>
            </a:r>
            <a:r>
              <a:rPr lang="es-ES" u="sng" dirty="0">
                <a:solidFill>
                  <a:schemeClr val="hlink"/>
                </a:solidFill>
                <a:latin typeface="Roboto"/>
                <a:ea typeface="Roboto"/>
                <a:cs typeface="Roboto"/>
                <a:sym typeface="Roboto"/>
                <a:hlinkClick r:id="rId3"/>
              </a:rPr>
              <a:t>link</a:t>
            </a:r>
            <a:r>
              <a:rPr lang="es-ES" dirty="0">
                <a:latin typeface="Roboto"/>
                <a:ea typeface="Roboto"/>
                <a:cs typeface="Roboto"/>
                <a:sym typeface="Roboto"/>
              </a:rPr>
              <a:t>) </a:t>
            </a:r>
            <a:endParaRPr dirty="0">
              <a:latin typeface="Roboto"/>
              <a:ea typeface="Roboto"/>
              <a:cs typeface="Roboto"/>
              <a:sym typeface="Roboto"/>
            </a:endParaRPr>
          </a:p>
        </p:txBody>
      </p:sp>
      <p:sp>
        <p:nvSpPr>
          <p:cNvPr id="5" name="Google Shape;681;p62">
            <a:extLst>
              <a:ext uri="{FF2B5EF4-FFF2-40B4-BE49-F238E27FC236}">
                <a16:creationId xmlns:a16="http://schemas.microsoft.com/office/drawing/2014/main" id="{C6177FCA-5F43-4C86-9607-CFF986E59EA8}"/>
              </a:ext>
            </a:extLst>
          </p:cNvPr>
          <p:cNvSpPr txBox="1"/>
          <p:nvPr/>
        </p:nvSpPr>
        <p:spPr>
          <a:xfrm>
            <a:off x="1415700" y="1300080"/>
            <a:ext cx="10249800" cy="4617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the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information</a:t>
            </a:r>
            <a:r>
              <a:rPr lang="es-ES" sz="1600" dirty="0">
                <a:latin typeface="Courier New"/>
                <a:ea typeface="Courier New"/>
                <a:cs typeface="Courier New"/>
                <a:sym typeface="Courier New"/>
              </a:rPr>
              <a:t> xv6 </a:t>
            </a:r>
            <a:r>
              <a:rPr lang="es-ES" sz="1600" dirty="0" err="1">
                <a:latin typeface="Courier New"/>
                <a:ea typeface="Courier New"/>
                <a:cs typeface="Courier New"/>
                <a:sym typeface="Courier New"/>
              </a:rPr>
              <a:t>tracks</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about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each</a:t>
            </a:r>
            <a:r>
              <a:rPr lang="es-ES" sz="1600" dirty="0">
                <a:latin typeface="Courier New"/>
                <a:ea typeface="Courier New"/>
                <a:cs typeface="Courier New"/>
                <a:sym typeface="Courier New"/>
              </a:rPr>
              <a:t> process</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including</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its</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register</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context</a:t>
            </a:r>
            <a:r>
              <a:rPr lang="es-ES" sz="1600" dirty="0">
                <a:latin typeface="Courier New"/>
                <a:ea typeface="Courier New"/>
                <a:cs typeface="Courier New"/>
                <a:sym typeface="Courier New"/>
              </a:rPr>
              <a:t> and </a:t>
            </a:r>
            <a:r>
              <a:rPr lang="es-ES" sz="1600" dirty="0" err="1">
                <a:latin typeface="Courier New"/>
                <a:ea typeface="Courier New"/>
                <a:cs typeface="Courier New"/>
                <a:sym typeface="Courier New"/>
              </a:rPr>
              <a:t>state</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proc</a:t>
            </a:r>
            <a:r>
              <a:rPr lang="es-E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char</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mem</a:t>
            </a:r>
            <a:r>
              <a:rPr lang="es-ES" sz="1600" dirty="0">
                <a:latin typeface="Courier New"/>
                <a:ea typeface="Courier New"/>
                <a:cs typeface="Courier New"/>
                <a:sym typeface="Courier New"/>
              </a:rPr>
              <a:t>;                       // Start </a:t>
            </a:r>
            <a:r>
              <a:rPr lang="es-ES" sz="1600" dirty="0" err="1">
                <a:latin typeface="Courier New"/>
                <a:ea typeface="Courier New"/>
                <a:cs typeface="Courier New"/>
                <a:sym typeface="Courier New"/>
              </a:rPr>
              <a:t>of</a:t>
            </a:r>
            <a:r>
              <a:rPr lang="es-ES" sz="1600" dirty="0">
                <a:latin typeface="Courier New"/>
                <a:ea typeface="Courier New"/>
                <a:cs typeface="Courier New"/>
                <a:sym typeface="Courier New"/>
              </a:rPr>
              <a:t> process memory</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uint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sz</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Size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of</a:t>
            </a:r>
            <a:r>
              <a:rPr lang="es-ES" sz="1600" dirty="0">
                <a:latin typeface="Courier New"/>
                <a:ea typeface="Courier New"/>
                <a:cs typeface="Courier New"/>
                <a:sym typeface="Courier New"/>
              </a:rPr>
              <a:t> process memory</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char</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kstack</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Bottom</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of</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kernel</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stack</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for</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this</a:t>
            </a:r>
            <a:r>
              <a:rPr lang="es-ES" sz="1600" dirty="0">
                <a:latin typeface="Courier New"/>
                <a:ea typeface="Courier New"/>
                <a:cs typeface="Courier New"/>
                <a:sym typeface="Courier New"/>
              </a:rPr>
              <a:t> process</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enum</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proc_state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state</a:t>
            </a:r>
            <a:r>
              <a:rPr lang="es-ES" sz="1600" dirty="0">
                <a:latin typeface="Courier New"/>
                <a:ea typeface="Courier New"/>
                <a:cs typeface="Courier New"/>
                <a:sym typeface="Courier New"/>
              </a:rPr>
              <a:t>;           // Process </a:t>
            </a:r>
            <a:r>
              <a:rPr lang="es-ES" sz="1600" dirty="0" err="1">
                <a:latin typeface="Courier New"/>
                <a:ea typeface="Courier New"/>
                <a:cs typeface="Courier New"/>
                <a:sym typeface="Courier New"/>
              </a:rPr>
              <a:t>state</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pid</a:t>
            </a:r>
            <a:r>
              <a:rPr lang="es-ES" sz="1600" dirty="0">
                <a:latin typeface="Courier New"/>
                <a:ea typeface="Courier New"/>
                <a:cs typeface="Courier New"/>
                <a:sym typeface="Courier New"/>
              </a:rPr>
              <a:t>;                         // Process ID</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proc</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parent</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Parent</a:t>
            </a:r>
            <a:r>
              <a:rPr lang="es-ES" sz="1600" dirty="0">
                <a:latin typeface="Courier New"/>
                <a:ea typeface="Courier New"/>
                <a:cs typeface="Courier New"/>
                <a:sym typeface="Courier New"/>
              </a:rPr>
              <a:t> process</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void</a:t>
            </a:r>
            <a:r>
              <a:rPr lang="es-ES" sz="1600" dirty="0">
                <a:latin typeface="Courier New"/>
                <a:ea typeface="Courier New"/>
                <a:cs typeface="Courier New"/>
                <a:sym typeface="Courier New"/>
              </a:rPr>
              <a:t> *chan;                      // </a:t>
            </a:r>
            <a:r>
              <a:rPr lang="es-ES" sz="1600" dirty="0" err="1">
                <a:latin typeface="Courier New"/>
                <a:ea typeface="Courier New"/>
                <a:cs typeface="Courier New"/>
                <a:sym typeface="Courier New"/>
              </a:rPr>
              <a:t>If</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zero</a:t>
            </a:r>
            <a:r>
              <a:rPr lang="es-ES" sz="1600" dirty="0">
                <a:latin typeface="Courier New"/>
                <a:ea typeface="Courier New"/>
                <a:cs typeface="Courier New"/>
                <a:sym typeface="Courier New"/>
              </a:rPr>
              <a:t>, sleeping </a:t>
            </a:r>
            <a:r>
              <a:rPr lang="es-ES" sz="1600" dirty="0" err="1">
                <a:latin typeface="Courier New"/>
                <a:ea typeface="Courier New"/>
                <a:cs typeface="Courier New"/>
                <a:sym typeface="Courier New"/>
              </a:rPr>
              <a:t>on</a:t>
            </a:r>
            <a:r>
              <a:rPr lang="es-ES" sz="1600" dirty="0">
                <a:latin typeface="Courier New"/>
                <a:ea typeface="Courier New"/>
                <a:cs typeface="Courier New"/>
                <a:sym typeface="Courier New"/>
              </a:rPr>
              <a:t> chan</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killed</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If</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zero</a:t>
            </a:r>
            <a:r>
              <a:rPr lang="es-ES" sz="1600" dirty="0">
                <a:latin typeface="Courier New"/>
                <a:ea typeface="Courier New"/>
                <a:cs typeface="Courier New"/>
                <a:sym typeface="Courier New"/>
              </a:rPr>
              <a:t>, has </a:t>
            </a:r>
            <a:r>
              <a:rPr lang="es-ES" sz="1600" dirty="0" err="1">
                <a:latin typeface="Courier New"/>
                <a:ea typeface="Courier New"/>
                <a:cs typeface="Courier New"/>
                <a:sym typeface="Courier New"/>
              </a:rPr>
              <a:t>been</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killed</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file *</a:t>
            </a:r>
            <a:r>
              <a:rPr lang="es-ES" sz="1600" dirty="0" err="1">
                <a:latin typeface="Courier New"/>
                <a:ea typeface="Courier New"/>
                <a:cs typeface="Courier New"/>
                <a:sym typeface="Courier New"/>
              </a:rPr>
              <a:t>ofile</a:t>
            </a:r>
            <a:r>
              <a:rPr lang="es-ES" sz="1600" dirty="0">
                <a:latin typeface="Courier New"/>
                <a:ea typeface="Courier New"/>
                <a:cs typeface="Courier New"/>
                <a:sym typeface="Courier New"/>
              </a:rPr>
              <a:t>[NOFILE];      // Open files</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inode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cwd</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Current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directory</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context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context</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Switch</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here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to</a:t>
            </a:r>
            <a:r>
              <a:rPr lang="es-ES" sz="1600" dirty="0">
                <a:latin typeface="Courier New"/>
                <a:ea typeface="Courier New"/>
                <a:cs typeface="Courier New"/>
                <a:sym typeface="Courier New"/>
              </a:rPr>
              <a:t> run process</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struct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trapframe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tf</a:t>
            </a: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Trap</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frame</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for</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the</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                                   // </a:t>
            </a:r>
            <a:r>
              <a:rPr lang="es-ES" sz="1600" dirty="0" err="1">
                <a:latin typeface="Courier New"/>
                <a:ea typeface="Courier New"/>
                <a:cs typeface="Courier New"/>
                <a:sym typeface="Courier New"/>
              </a:rPr>
              <a:t>current</a:t>
            </a:r>
            <a:r>
              <a:rPr lang="es-ES" sz="1600" dirty="0">
                <a:latin typeface="Courier New"/>
                <a:ea typeface="Courier New"/>
                <a:cs typeface="Courier New"/>
                <a:sym typeface="Courier New"/>
              </a:rPr>
              <a:t> </a:t>
            </a:r>
            <a:r>
              <a:rPr lang="es-ES" sz="1600" dirty="0" err="1">
                <a:latin typeface="Courier New"/>
                <a:ea typeface="Courier New"/>
                <a:cs typeface="Courier New"/>
                <a:sym typeface="Courier New"/>
              </a:rPr>
              <a:t>interrupt</a:t>
            </a:r>
            <a:endParaRPr sz="1600" dirty="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ES" sz="1600" dirty="0">
                <a:latin typeface="Courier New"/>
                <a:ea typeface="Courier New"/>
                <a:cs typeface="Courier New"/>
                <a:sym typeface="Courier New"/>
              </a:rPr>
              <a:t>};</a:t>
            </a:r>
            <a:endParaRPr sz="1600" dirty="0">
              <a:latin typeface="Courier New"/>
              <a:ea typeface="Courier New"/>
              <a:cs typeface="Courier New"/>
              <a:sym typeface="Courier New"/>
            </a:endParaRPr>
          </a:p>
        </p:txBody>
      </p:sp>
    </p:spTree>
    <p:extLst>
      <p:ext uri="{BB962C8B-B14F-4D97-AF65-F5344CB8AC3E}">
        <p14:creationId xmlns:p14="http://schemas.microsoft.com/office/powerpoint/2010/main" val="1729188636"/>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TotalTime>
  <Words>5046</Words>
  <Application>Microsoft Office PowerPoint</Application>
  <PresentationFormat>Panorámica</PresentationFormat>
  <Paragraphs>903</Paragraphs>
  <Slides>61</Slides>
  <Notes>60</Notes>
  <HiddenSlides>0</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61</vt:i4>
      </vt:variant>
    </vt:vector>
  </HeadingPairs>
  <TitlesOfParts>
    <vt:vector size="72" baseType="lpstr">
      <vt:lpstr>Arial</vt:lpstr>
      <vt:lpstr>Calibri</vt:lpstr>
      <vt:lpstr>Calibri Light</vt:lpstr>
      <vt:lpstr>Consolas</vt:lpstr>
      <vt:lpstr>Courier New</vt:lpstr>
      <vt:lpstr>Roboto</vt:lpstr>
      <vt:lpstr>Roboto Slab</vt:lpstr>
      <vt:lpstr>Times New Roman</vt:lpstr>
      <vt:lpstr>Office Theme</vt:lpstr>
      <vt:lpstr>1_Office Theme</vt:lpstr>
      <vt:lpstr>2_Office Theme</vt:lpstr>
      <vt:lpstr>Apuntes clase 2</vt:lpstr>
      <vt:lpstr>Agenda</vt:lpstr>
      <vt:lpstr>¿Que hace un sistema operativo?</vt:lpstr>
      <vt:lpstr>¿Que hace un sistema operativo?</vt:lpstr>
      <vt:lpstr>¿Que hace un sistema operativo?</vt:lpstr>
      <vt:lpstr>¿Que hace un sistema operativo?</vt:lpstr>
      <vt:lpstr>¿Que hace un sistema operativo?</vt:lpstr>
      <vt:lpstr>¿Que hace un sistema operativo?</vt:lpstr>
      <vt:lpstr>¿Que hace un sistema operativo?</vt:lpstr>
      <vt:lpstr>Definición de Sistema Operativo</vt:lpstr>
      <vt:lpstr>Definición de Sistema Operativo</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Virtualización de recursos</vt:lpstr>
      <vt:lpstr>Objetivos de diseño de los SO</vt:lpstr>
      <vt:lpstr>Referencias</vt:lpstr>
      <vt:lpstr>Instruction fecth</vt:lpstr>
      <vt:lpstr>Contraste</vt:lpstr>
      <vt:lpstr>Virtualización</vt:lpstr>
      <vt:lpstr>Contextualización</vt:lpstr>
      <vt:lpstr>Programa .vs. Proceso</vt:lpstr>
      <vt:lpstr>Programa. vs. proceso</vt:lpstr>
      <vt:lpstr>Proceso: Abstracción</vt:lpstr>
      <vt:lpstr>Virtualización</vt:lpstr>
      <vt:lpstr>Carga: De un programa a un proceso</vt:lpstr>
      <vt:lpstr>Volvamos a la pregunta</vt:lpstr>
      <vt:lpstr>Elementos de los sistemas operativos</vt:lpstr>
      <vt:lpstr>Como implementar la Abstracción</vt:lpstr>
      <vt:lpstr>Como implementar la Abstracción</vt:lpstr>
      <vt:lpstr>Modelo de tres estados</vt:lpstr>
      <vt:lpstr>Modelo de tres estados</vt:lpstr>
      <vt:lpstr>Estados de un proceso – Ejemplo 1</vt:lpstr>
      <vt:lpstr>Estados de un proceso – Ejemplo 2</vt:lpstr>
      <vt:lpstr>Modelo Linux</vt:lpstr>
      <vt:lpstr>Pasando al código – Estructuras de datos</vt:lpstr>
      <vt:lpstr>Pasando al código – Estructuras de datos</vt:lpstr>
      <vt:lpstr>Lista de procesos</vt:lpstr>
      <vt:lpstr>Process Control Block (PCB)</vt:lpstr>
      <vt:lpstr>Process Control Block (PCB)</vt:lpstr>
      <vt:lpstr>Process Control Block (PCB)</vt:lpstr>
      <vt:lpstr>Process Control Block (PCB)</vt:lpstr>
      <vt:lpstr>Process Control Block (PCB)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Apuntes clase 2</dc:title>
  <dc:creator>Henry Arcila</dc:creator>
  <cp:lastModifiedBy>HENRY ALBERTO ARCILA RAMIREZ</cp:lastModifiedBy>
  <cp:revision>5</cp:revision>
  <dcterms:created xsi:type="dcterms:W3CDTF">2026-02-17T03:53:21Z</dcterms:created>
  <dcterms:modified xsi:type="dcterms:W3CDTF">2026-08-06T11:04:46Z</dcterms:modified>
</cp:coreProperties>
</file>