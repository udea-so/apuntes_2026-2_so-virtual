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62"/>
  </p:notesMasterIdLst>
  <p:sldIdLst>
    <p:sldId id="256" r:id="rId2"/>
    <p:sldId id="261" r:id="rId3"/>
    <p:sldId id="262" r:id="rId4"/>
    <p:sldId id="264" r:id="rId5"/>
    <p:sldId id="265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7" r:id="rId15"/>
    <p:sldId id="278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7" r:id="rId53"/>
    <p:sldId id="318" r:id="rId54"/>
    <p:sldId id="320" r:id="rId55"/>
    <p:sldId id="321" r:id="rId56"/>
    <p:sldId id="328" r:id="rId57"/>
    <p:sldId id="322" r:id="rId58"/>
    <p:sldId id="323" r:id="rId59"/>
    <p:sldId id="324" r:id="rId60"/>
    <p:sldId id="325" r:id="rId61"/>
  </p:sldIdLst>
  <p:sldSz cx="12192000" cy="6858000"/>
  <p:notesSz cx="6858000" cy="9144000"/>
  <p:embeddedFontLst>
    <p:embeddedFont>
      <p:font typeface="Calibri" panose="020F0502020204030204" pitchFamily="34" charset="0"/>
      <p:regular r:id="rId63"/>
      <p:bold r:id="rId64"/>
      <p:italic r:id="rId65"/>
      <p:boldItalic r:id="rId66"/>
    </p:embeddedFont>
    <p:embeddedFont>
      <p:font typeface="Calibri Light" panose="020F0302020204030204" pitchFamily="34" charset="0"/>
      <p:regular r:id="rId67"/>
      <p:italic r:id="rId68"/>
    </p:embeddedFont>
    <p:embeddedFont>
      <p:font typeface="Cambria Math" panose="02040503050406030204" pitchFamily="18" charset="0"/>
      <p:regular r:id="rId69"/>
    </p:embeddedFont>
    <p:embeddedFont>
      <p:font typeface="Consolas" panose="020B0609020204030204" pitchFamily="49" charset="0"/>
      <p:regular r:id="rId70"/>
      <p:bold r:id="rId71"/>
      <p:italic r:id="rId72"/>
      <p:boldItalic r:id="rId73"/>
    </p:embeddedFont>
    <p:embeddedFont>
      <p:font typeface="Roboto" panose="02000000000000000000" pitchFamily="2" charset="0"/>
      <p:regular r:id="rId74"/>
      <p:bold r:id="rId75"/>
      <p:italic r:id="rId76"/>
      <p:boldItalic r:id="rId77"/>
    </p:embeddedFont>
    <p:embeddedFont>
      <p:font typeface="Roboto Slab" panose="020B0604020202020204" charset="0"/>
      <p:regular r:id="rId78"/>
      <p:bold r:id="rId7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NAL DAVILMAR MONTOYA MONTOYA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5993CE-88FD-44DD-ABEB-49CEDA6F9533}">
  <a:tblStyle styleId="{925993CE-88FD-44DD-ABEB-49CEDA6F95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0792" autoAdjust="0"/>
  </p:normalViewPr>
  <p:slideViewPr>
    <p:cSldViewPr snapToGrid="0">
      <p:cViewPr>
        <p:scale>
          <a:sx n="75" d="100"/>
          <a:sy n="75" d="100"/>
        </p:scale>
        <p:origin x="534" y="-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79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font" Target="fonts/font16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2fc7111b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2fc7111b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53c374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53c374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053c374b7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053c374b7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02fc7111b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g102fc7111b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053c374b7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053c374b7c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53c374b7c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53c374b7c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53c374b7c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053c374b7c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053c374b7c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053c374b7c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053c374b7c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053c374b7c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06d68668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06d68668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6d686689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g106d686689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02fc7111b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g102fc7111b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06d686689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g106d686689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06d686689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g106d686689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06d6866891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g106d6866891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06d6866891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g106d6866891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06d6866891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g106d686689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06d6866891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g106d6866891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06d6866891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g106d6866891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106d686689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g106d686689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06d686689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g106d686689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06d6866891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g106d6866891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06d6866891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g106d6866891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06d6866891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g106d6866891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06d6866891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g106d6866891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106d6866891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g106d686689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06d6866891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g106d6866891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06d6866891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g106d6866891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06d6866891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g106d6866891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06d6866891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g106d6866891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06d6866891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g106d6866891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106d6866891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g106d686689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06d6866891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g106d6866891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106d6866891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g106d6866891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06d6866891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g106d6866891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06d6866891_0_8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g106d6866891_0_8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06d6866891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g106d686689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06d6866891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g106d6866891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06d6866891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g106d6866891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106d6866891_0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g106d6866891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06d6866891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g106d6866891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06d6866891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g106d6866891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106d6866891_0_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g106d6866891_0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06d6866891_0_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7" name="Google Shape;1157;g106d6866891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106d6866891_0_7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g106d6866891_0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06d6866891_0_7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7" name="Google Shape;1187;g106d6866891_0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106d6866891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g106d6866891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106d6866891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g106d6866891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02fc7111bf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02fc7111bf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06d6866891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06d6866891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06d6866891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06d6866891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770717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02fc7111bf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02fc7111bf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106d6866891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106d6866891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653a128e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653a128e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5" name="Google Shape;1325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92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3462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432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265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788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593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6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76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8307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409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873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530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861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735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23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2tV9q6784k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jpg"/><Relationship Id="rId4" Type="http://schemas.openxmlformats.org/officeDocument/2006/relationships/hyperlink" Target="http://www.youtube.com/watch?v=O2tV9q6784k" TargetMode="Externa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17" Type="http://schemas.openxmlformats.org/officeDocument/2006/relationships/hyperlink" Target="https://www.merlot.org/merlot/viewMaterial.htm?id=773407108" TargetMode="External"/><Relationship Id="rId2" Type="http://schemas.openxmlformats.org/officeDocument/2006/relationships/notesSlide" Target="../notesSlides/notesSlide60.xml"/><Relationship Id="rId16" Type="http://schemas.openxmlformats.org/officeDocument/2006/relationships/hyperlink" Target="http://cpuburst.com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os-lab-simulator.vercel.app/" TargetMode="External"/><Relationship Id="rId10" Type="http://schemas.openxmlformats.org/officeDocument/2006/relationships/hyperlink" Target="https://github.com/Aniruddha-Tapas/Operating-Systems-Notes/blob/master/1-Overview.md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s://courses.cs.duke.edu/spring19/compsci590.1/sl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67375" y="2171530"/>
            <a:ext cx="11257249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clase 5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3999" y="3185410"/>
            <a:ext cx="9144000" cy="318540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O" sz="4400" b="1" dirty="0"/>
              <a:t>Planificación de procesos</a:t>
            </a:r>
          </a:p>
          <a:p>
            <a:r>
              <a:rPr lang="es-CO" sz="4000" b="1" dirty="0"/>
              <a:t>Sistemas Operativos</a:t>
            </a:r>
          </a:p>
          <a:p>
            <a:r>
              <a:rPr lang="es-CO" sz="3200" dirty="0"/>
              <a:t>Universidad de Antioquia</a:t>
            </a:r>
          </a:p>
          <a:p>
            <a:r>
              <a:rPr lang="es-CO" sz="3200" dirty="0"/>
              <a:t>Facultad de Ingeniería</a:t>
            </a:r>
          </a:p>
          <a:p>
            <a:r>
              <a:rPr lang="es-CO" sz="32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</a:t>
            </a:r>
            <a:endParaRPr dirty="0"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225" y="3247555"/>
            <a:ext cx="1940759" cy="15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22"/>
          <p:cNvGrpSpPr/>
          <p:nvPr/>
        </p:nvGrpSpPr>
        <p:grpSpPr>
          <a:xfrm>
            <a:off x="6849600" y="1790200"/>
            <a:ext cx="4549500" cy="4393500"/>
            <a:chOff x="5458950" y="1790200"/>
            <a:chExt cx="4549500" cy="4393500"/>
          </a:xfrm>
        </p:grpSpPr>
        <p:sp>
          <p:nvSpPr>
            <p:cNvPr id="204" name="Google Shape;204;p22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" name="Google Shape;205;p22"/>
            <p:cNvGrpSpPr/>
            <p:nvPr/>
          </p:nvGrpSpPr>
          <p:grpSpPr>
            <a:xfrm>
              <a:off x="6022625" y="2608725"/>
              <a:ext cx="1418250" cy="2104675"/>
              <a:chOff x="6111850" y="2642175"/>
              <a:chExt cx="1418250" cy="2104675"/>
            </a:xfrm>
          </p:grpSpPr>
          <p:sp>
            <p:nvSpPr>
              <p:cNvPr id="206" name="Google Shape;206;p22"/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207" name="Google Shape;207;p22"/>
              <p:cNvGrpSpPr/>
              <p:nvPr/>
            </p:nvGrpSpPr>
            <p:grpSpPr>
              <a:xfrm>
                <a:off x="6111850" y="3042363"/>
                <a:ext cx="1387950" cy="1401900"/>
                <a:chOff x="6111850" y="3042363"/>
                <a:chExt cx="1387950" cy="1401900"/>
              </a:xfrm>
            </p:grpSpPr>
            <p:sp>
              <p:nvSpPr>
                <p:cNvPr id="208" name="Google Shape;208;p22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9" name="Google Shape;209;p22"/>
                <p:cNvGrpSpPr/>
                <p:nvPr/>
              </p:nvGrpSpPr>
              <p:grpSpPr>
                <a:xfrm>
                  <a:off x="6111850" y="3096950"/>
                  <a:ext cx="1198275" cy="461635"/>
                  <a:chOff x="6111850" y="3096950"/>
                  <a:chExt cx="1198275" cy="461635"/>
                </a:xfrm>
              </p:grpSpPr>
              <p:sp>
                <p:nvSpPr>
                  <p:cNvPr id="210" name="Google Shape;210;p22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1" name="Google Shape;211;p22"/>
                  <p:cNvSpPr txBox="1"/>
                  <p:nvPr/>
                </p:nvSpPr>
                <p:spPr>
                  <a:xfrm>
                    <a:off x="6111850" y="3096950"/>
                    <a:ext cx="52920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212" name="Google Shape;212;p22"/>
                <p:cNvGrpSpPr/>
                <p:nvPr/>
              </p:nvGrpSpPr>
              <p:grpSpPr>
                <a:xfrm>
                  <a:off x="6125463" y="3409088"/>
                  <a:ext cx="1184662" cy="461635"/>
                  <a:chOff x="6125463" y="3409088"/>
                  <a:chExt cx="1184662" cy="461635"/>
                </a:xfrm>
              </p:grpSpPr>
              <p:sp>
                <p:nvSpPr>
                  <p:cNvPr id="213" name="Google Shape;213;p22"/>
                  <p:cNvSpPr txBox="1"/>
                  <p:nvPr/>
                </p:nvSpPr>
                <p:spPr>
                  <a:xfrm>
                    <a:off x="6125463" y="3409088"/>
                    <a:ext cx="52920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214" name="Google Shape;214;p22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15" name="Google Shape;215;p22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216" name="Google Shape;216;p22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17" name="Google Shape;217;p22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8" name="Google Shape;218;p22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219" name="Google Shape;219;p22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20" name="Google Shape;220;p2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21" name="Google Shape;221;p2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22" name="Google Shape;222;p2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23" name="Google Shape;223;p2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224" name="Google Shape;224;p22"/>
                <p:cNvCxnSpPr>
                  <a:stCxn id="22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25" name="Google Shape;225;p22"/>
                <p:cNvCxnSpPr>
                  <a:stCxn id="22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26" name="Google Shape;226;p22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27" name="Google Shape;227;p22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28" name="Google Shape;228;p22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29" name="Google Shape;229;p22"/>
          <p:cNvCxnSpPr>
            <a:stCxn id="202" idx="3"/>
          </p:cNvCxnSpPr>
          <p:nvPr/>
        </p:nvCxnSpPr>
        <p:spPr>
          <a:xfrm rot="10800000" flipH="1">
            <a:off x="4153984" y="3710567"/>
            <a:ext cx="2035200" cy="324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30" name="Google Shape;2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78075" y="4075975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1026575" y="2376250"/>
            <a:ext cx="55626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latin typeface="Courier New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</a:t>
            </a:r>
            <a:endParaRPr dirty="0"/>
          </a:p>
        </p:txBody>
      </p:sp>
      <p:pic>
        <p:nvPicPr>
          <p:cNvPr id="238" name="Google Shape;2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251562"/>
            <a:ext cx="4692445" cy="3161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48;p24">
            <a:extLst>
              <a:ext uri="{FF2B5EF4-FFF2-40B4-BE49-F238E27FC236}">
                <a16:creationId xmlns:a16="http://schemas.microsoft.com/office/drawing/2014/main" id="{06E3691A-F915-4ADF-9237-7C1A0A437B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9095" y="2100638"/>
            <a:ext cx="5971550" cy="34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/>
        </p:nvSpPr>
        <p:spPr>
          <a:xfrm>
            <a:off x="1241775" y="2256575"/>
            <a:ext cx="245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s-ES" sz="4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imited</a:t>
            </a:r>
            <a:endParaRPr sz="400"/>
          </a:p>
        </p:txBody>
      </p:sp>
      <p:sp>
        <p:nvSpPr>
          <p:cNvPr id="258" name="Google Shape;258;p25"/>
          <p:cNvSpPr txBox="1"/>
          <p:nvPr/>
        </p:nvSpPr>
        <p:spPr>
          <a:xfrm>
            <a:off x="765575" y="47127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s-ES" sz="4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irect</a:t>
            </a:r>
            <a:r>
              <a:rPr lang="es-ES" sz="4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s-ES" sz="4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xecution</a:t>
            </a:r>
            <a:endParaRPr sz="40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59" name="Google Shape;259;p25"/>
          <p:cNvGrpSpPr/>
          <p:nvPr/>
        </p:nvGrpSpPr>
        <p:grpSpPr>
          <a:xfrm>
            <a:off x="4859787" y="4636525"/>
            <a:ext cx="4071387" cy="2104725"/>
            <a:chOff x="6078988" y="4636525"/>
            <a:chExt cx="4071387" cy="2104725"/>
          </a:xfrm>
        </p:grpSpPr>
        <p:pic>
          <p:nvPicPr>
            <p:cNvPr id="260" name="Google Shape;260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21725" y="5112600"/>
              <a:ext cx="1628650" cy="1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5"/>
            <p:cNvSpPr/>
            <p:nvPr/>
          </p:nvSpPr>
          <p:spPr>
            <a:xfrm>
              <a:off x="6101388" y="4712736"/>
              <a:ext cx="675000" cy="6729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60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6078988" y="5839750"/>
              <a:ext cx="699000" cy="6729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63" name="Google Shape;26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0012" y="4636525"/>
              <a:ext cx="952287" cy="949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4" name="Google Shape;264;p25"/>
            <p:cNvGrpSpPr/>
            <p:nvPr/>
          </p:nvGrpSpPr>
          <p:grpSpPr>
            <a:xfrm>
              <a:off x="6887900" y="5260475"/>
              <a:ext cx="1523925" cy="672900"/>
              <a:chOff x="5897300" y="5184275"/>
              <a:chExt cx="1523925" cy="672900"/>
            </a:xfrm>
          </p:grpSpPr>
          <p:cxnSp>
            <p:nvCxnSpPr>
              <p:cNvPr id="265" name="Google Shape;265;p25"/>
              <p:cNvCxnSpPr/>
              <p:nvPr/>
            </p:nvCxnSpPr>
            <p:spPr>
              <a:xfrm>
                <a:off x="5897300" y="5184275"/>
                <a:ext cx="543600" cy="67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88888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66" name="Google Shape;266;p25"/>
              <p:cNvCxnSpPr/>
              <p:nvPr/>
            </p:nvCxnSpPr>
            <p:spPr>
              <a:xfrm>
                <a:off x="6449225" y="5827413"/>
                <a:ext cx="972000" cy="45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67" name="Google Shape;267;p25"/>
            <p:cNvSpPr/>
            <p:nvPr/>
          </p:nvSpPr>
          <p:spPr>
            <a:xfrm>
              <a:off x="8998538" y="5590486"/>
              <a:ext cx="675000" cy="6729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7045838" y="5260475"/>
              <a:ext cx="1206462" cy="495300"/>
            </a:xfrm>
            <a:custGeom>
              <a:avLst/>
              <a:gdLst/>
              <a:ahLst/>
              <a:cxnLst/>
              <a:rect l="l" t="t" r="r" b="b"/>
              <a:pathLst>
                <a:path w="41656" h="19812" extrusionOk="0">
                  <a:moveTo>
                    <a:pt x="0" y="0"/>
                  </a:moveTo>
                  <a:cubicBezTo>
                    <a:pt x="1947" y="2201"/>
                    <a:pt x="7705" y="10075"/>
                    <a:pt x="11684" y="13208"/>
                  </a:cubicBezTo>
                  <a:cubicBezTo>
                    <a:pt x="15663" y="16341"/>
                    <a:pt x="18881" y="17695"/>
                    <a:pt x="23876" y="18796"/>
                  </a:cubicBezTo>
                  <a:cubicBezTo>
                    <a:pt x="28871" y="19897"/>
                    <a:pt x="38693" y="19643"/>
                    <a:pt x="41656" y="19812"/>
                  </a:cubicBezTo>
                </a:path>
              </a:pathLst>
            </a:cu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69" name="Google Shape;269;p25"/>
          <p:cNvGrpSpPr/>
          <p:nvPr/>
        </p:nvGrpSpPr>
        <p:grpSpPr>
          <a:xfrm>
            <a:off x="3807175" y="2256563"/>
            <a:ext cx="5905400" cy="2132413"/>
            <a:chOff x="4721575" y="2256563"/>
            <a:chExt cx="5905400" cy="2132413"/>
          </a:xfrm>
        </p:grpSpPr>
        <p:cxnSp>
          <p:nvCxnSpPr>
            <p:cNvPr id="270" name="Google Shape;270;p25"/>
            <p:cNvCxnSpPr/>
            <p:nvPr/>
          </p:nvCxnSpPr>
          <p:spPr>
            <a:xfrm>
              <a:off x="5756100" y="2622113"/>
              <a:ext cx="1061100" cy="45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1" name="Google Shape;271;p25"/>
            <p:cNvSpPr/>
            <p:nvPr/>
          </p:nvSpPr>
          <p:spPr>
            <a:xfrm>
              <a:off x="4721575" y="3248975"/>
              <a:ext cx="5880000" cy="11400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2" name="Google Shape;272;p25"/>
            <p:cNvCxnSpPr/>
            <p:nvPr/>
          </p:nvCxnSpPr>
          <p:spPr>
            <a:xfrm rot="10800000" flipH="1">
              <a:off x="7074225" y="3864188"/>
              <a:ext cx="1054500" cy="51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3" name="Google Shape;273;p25"/>
            <p:cNvCxnSpPr/>
            <p:nvPr/>
          </p:nvCxnSpPr>
          <p:spPr>
            <a:xfrm>
              <a:off x="6817200" y="2607825"/>
              <a:ext cx="247200" cy="1317900"/>
            </a:xfrm>
            <a:prstGeom prst="straightConnector1">
              <a:avLst/>
            </a:prstGeom>
            <a:noFill/>
            <a:ln w="38100" cap="flat" cmpd="sng">
              <a:solidFill>
                <a:srgbClr val="ED7D3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4" name="Google Shape;274;p25"/>
            <p:cNvCxnSpPr/>
            <p:nvPr/>
          </p:nvCxnSpPr>
          <p:spPr>
            <a:xfrm rot="10800000" flipH="1">
              <a:off x="8128725" y="2570263"/>
              <a:ext cx="247200" cy="1317900"/>
            </a:xfrm>
            <a:prstGeom prst="straightConnector1">
              <a:avLst/>
            </a:prstGeom>
            <a:noFill/>
            <a:ln w="19050" cap="flat" cmpd="sng">
              <a:solidFill>
                <a:srgbClr val="3A81B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5" name="Google Shape;275;p25"/>
            <p:cNvCxnSpPr/>
            <p:nvPr/>
          </p:nvCxnSpPr>
          <p:spPr>
            <a:xfrm>
              <a:off x="8375925" y="2617463"/>
              <a:ext cx="992100" cy="9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6" name="Google Shape;276;p25"/>
            <p:cNvSpPr/>
            <p:nvPr/>
          </p:nvSpPr>
          <p:spPr>
            <a:xfrm>
              <a:off x="4973450" y="3501200"/>
              <a:ext cx="731100" cy="7311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4973438" y="2256563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78" name="Google Shape;278;p25"/>
            <p:cNvCxnSpPr/>
            <p:nvPr/>
          </p:nvCxnSpPr>
          <p:spPr>
            <a:xfrm rot="10800000" flipH="1">
              <a:off x="4746975" y="3236175"/>
              <a:ext cx="5880000" cy="25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79" name="Google Shape;279;p25"/>
            <p:cNvSpPr txBox="1"/>
            <p:nvPr/>
          </p:nvSpPr>
          <p:spPr>
            <a:xfrm>
              <a:off x="9339525" y="2763175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Usuario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0" name="Google Shape;280;p25"/>
            <p:cNvSpPr txBox="1"/>
            <p:nvPr/>
          </p:nvSpPr>
          <p:spPr>
            <a:xfrm>
              <a:off x="9364050" y="3289650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Kernel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81" name="Google Shape;281;p25"/>
          <p:cNvSpPr txBox="1"/>
          <p:nvPr/>
        </p:nvSpPr>
        <p:spPr>
          <a:xfrm>
            <a:off x="9823975" y="3044975"/>
            <a:ext cx="2111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Eventos:</a:t>
            </a:r>
            <a:endParaRPr sz="16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Excepción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Syscall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Interrupción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991575" y="2256575"/>
            <a:ext cx="457218" cy="409752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3" name="Google Shape;283;p25"/>
          <p:cNvCxnSpPr/>
          <p:nvPr/>
        </p:nvCxnSpPr>
        <p:spPr>
          <a:xfrm>
            <a:off x="6588325" y="2448875"/>
            <a:ext cx="3784800" cy="635100"/>
          </a:xfrm>
          <a:prstGeom prst="bentConnector3">
            <a:avLst>
              <a:gd name="adj1" fmla="val 9999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EA20DEC1-7E5F-4012-B182-C7C99E75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Ejecución directa limitada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Aproximaciones – Cambio de contexto</a:t>
            </a:r>
            <a:endParaRPr dirty="0"/>
          </a:p>
        </p:txBody>
      </p:sp>
      <p:graphicFrame>
        <p:nvGraphicFramePr>
          <p:cNvPr id="289" name="Google Shape;289;p26"/>
          <p:cNvGraphicFramePr/>
          <p:nvPr>
            <p:extLst>
              <p:ext uri="{D42A27DB-BD31-4B8C-83A1-F6EECF244321}">
                <p14:modId xmlns:p14="http://schemas.microsoft.com/office/powerpoint/2010/main" val="3403232071"/>
              </p:ext>
            </p:extLst>
          </p:nvPr>
        </p:nvGraphicFramePr>
        <p:xfrm>
          <a:off x="1597962" y="3199058"/>
          <a:ext cx="181537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0" name="Google Shape;290;p26"/>
          <p:cNvCxnSpPr/>
          <p:nvPr/>
        </p:nvCxnSpPr>
        <p:spPr>
          <a:xfrm>
            <a:off x="1595187" y="2928922"/>
            <a:ext cx="2275200" cy="1116900"/>
          </a:xfrm>
          <a:prstGeom prst="bentConnector3">
            <a:avLst>
              <a:gd name="adj1" fmla="val 8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1" name="Google Shape;291;p26"/>
          <p:cNvSpPr txBox="1"/>
          <p:nvPr/>
        </p:nvSpPr>
        <p:spPr>
          <a:xfrm>
            <a:off x="784337" y="3304485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3299962" y="3979672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6245024" y="1839275"/>
            <a:ext cx="432300" cy="4178400"/>
          </a:xfrm>
          <a:prstGeom prst="leftBrace">
            <a:avLst>
              <a:gd name="adj1" fmla="val 50000"/>
              <a:gd name="adj2" fmla="val 47336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3857774" y="3439683"/>
            <a:ext cx="2603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/>
              <a:t>Propuestas</a:t>
            </a:r>
            <a:endParaRPr sz="2800" b="1"/>
          </a:p>
        </p:txBody>
      </p:sp>
      <p:sp>
        <p:nvSpPr>
          <p:cNvPr id="295" name="Google Shape;295;p26"/>
          <p:cNvSpPr txBox="1"/>
          <p:nvPr/>
        </p:nvSpPr>
        <p:spPr>
          <a:xfrm>
            <a:off x="6461174" y="1857418"/>
            <a:ext cx="4852075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b="1" dirty="0"/>
              <a:t>Cooperativa</a:t>
            </a:r>
            <a:r>
              <a:rPr lang="es-ES" sz="2400" dirty="0"/>
              <a:t>: El proceso cede la CPU al SO.</a:t>
            </a:r>
            <a:endParaRPr sz="24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000" dirty="0">
                <a:latin typeface="Consolas" panose="020B0609020204030204" pitchFamily="49" charset="0"/>
              </a:rPr>
              <a:t>yield</a:t>
            </a:r>
            <a:r>
              <a:rPr lang="es-ES" sz="2200" dirty="0"/>
              <a:t>.</a:t>
            </a:r>
            <a:endParaRPr sz="22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/>
              <a:t>Excepción.</a:t>
            </a:r>
            <a:endParaRPr sz="2200" dirty="0"/>
          </a:p>
        </p:txBody>
      </p:sp>
      <p:sp>
        <p:nvSpPr>
          <p:cNvPr id="296" name="Google Shape;296;p26"/>
          <p:cNvSpPr txBox="1"/>
          <p:nvPr/>
        </p:nvSpPr>
        <p:spPr>
          <a:xfrm>
            <a:off x="6465683" y="4332104"/>
            <a:ext cx="5172555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400" b="1" dirty="0"/>
              <a:t>No cooperativa</a:t>
            </a:r>
            <a:r>
              <a:rPr lang="es-ES" sz="2400" dirty="0"/>
              <a:t>: El SO toma el control de la CPU</a:t>
            </a:r>
            <a:endParaRPr sz="24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/>
              <a:t>Interrupciones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dirty="0"/>
              <a:t>Timer</a:t>
            </a:r>
          </a:p>
        </p:txBody>
      </p:sp>
      <p:sp>
        <p:nvSpPr>
          <p:cNvPr id="11" name="Google Shape;326;p28">
            <a:extLst>
              <a:ext uri="{FF2B5EF4-FFF2-40B4-BE49-F238E27FC236}">
                <a16:creationId xmlns:a16="http://schemas.microsoft.com/office/drawing/2014/main" id="{638ACD48-BE19-456A-ADA1-551E63ABBEC4}"/>
              </a:ext>
            </a:extLst>
          </p:cNvPr>
          <p:cNvSpPr/>
          <p:nvPr/>
        </p:nvSpPr>
        <p:spPr>
          <a:xfrm>
            <a:off x="1982525" y="2799422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" name="Google Shape;329;p28">
            <a:extLst>
              <a:ext uri="{FF2B5EF4-FFF2-40B4-BE49-F238E27FC236}">
                <a16:creationId xmlns:a16="http://schemas.microsoft.com/office/drawing/2014/main" id="{557C5105-D57D-45D7-AF70-AED60F23B711}"/>
              </a:ext>
            </a:extLst>
          </p:cNvPr>
          <p:cNvSpPr txBox="1"/>
          <p:nvPr/>
        </p:nvSpPr>
        <p:spPr>
          <a:xfrm>
            <a:off x="1921150" y="2470073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>
            <a:spLocks noGrp="1"/>
          </p:cNvSpPr>
          <p:nvPr>
            <p:ph type="title"/>
          </p:nvPr>
        </p:nvSpPr>
        <p:spPr>
          <a:xfrm>
            <a:off x="545689" y="96038"/>
            <a:ext cx="994041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4" name="Google Shape;314;p28"/>
          <p:cNvSpPr txBox="1">
            <a:spLocks noGrp="1"/>
          </p:cNvSpPr>
          <p:nvPr>
            <p:ph type="body" idx="1"/>
          </p:nvPr>
        </p:nvSpPr>
        <p:spPr>
          <a:xfrm>
            <a:off x="686850" y="1073811"/>
            <a:ext cx="10818300" cy="2583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Cómo desarrollar una política de Scheduling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¿Cómo desarrollar un framework básico para tratar con las políticas de scheduling?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¿Qué suposiciones claves usar?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¿Cuáles son las métricas más importantes?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¿Cuáles son los enfoques básicos utilizados en los primeros sistemas informáticos?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5" name="Google Shape;315;p28"/>
          <p:cNvSpPr/>
          <p:nvPr/>
        </p:nvSpPr>
        <p:spPr>
          <a:xfrm>
            <a:off x="1016000" y="47803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1016000" y="5820413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7" name="Google Shape;3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100" y="52284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413" y="4551322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28"/>
          <p:cNvCxnSpPr/>
          <p:nvPr/>
        </p:nvCxnSpPr>
        <p:spPr>
          <a:xfrm>
            <a:off x="1991075" y="5230175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0" name="Google Shape;320;p28"/>
          <p:cNvCxnSpPr/>
          <p:nvPr/>
        </p:nvCxnSpPr>
        <p:spPr>
          <a:xfrm>
            <a:off x="2862275" y="5820413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1" name="Google Shape;321;p28"/>
          <p:cNvSpPr/>
          <p:nvPr/>
        </p:nvSpPr>
        <p:spPr>
          <a:xfrm>
            <a:off x="2530078" y="53158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22" name="Google Shape;322;p28"/>
          <p:cNvGraphicFramePr/>
          <p:nvPr>
            <p:extLst>
              <p:ext uri="{D42A27DB-BD31-4B8C-83A1-F6EECF244321}">
                <p14:modId xmlns:p14="http://schemas.microsoft.com/office/powerpoint/2010/main" val="1718411246"/>
              </p:ext>
            </p:extLst>
          </p:nvPr>
        </p:nvGraphicFramePr>
        <p:xfrm>
          <a:off x="7772300" y="5409534"/>
          <a:ext cx="302562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3" name="Google Shape;323;p28"/>
          <p:cNvCxnSpPr/>
          <p:nvPr/>
        </p:nvCxnSpPr>
        <p:spPr>
          <a:xfrm>
            <a:off x="7769525" y="51294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4" name="Google Shape;324;p28"/>
          <p:cNvSpPr txBox="1"/>
          <p:nvPr/>
        </p:nvSpPr>
        <p:spPr>
          <a:xfrm>
            <a:off x="6896775" y="55002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11144175" y="57737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8221400" y="49658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7" name="Google Shape;327;p28"/>
          <p:cNvSpPr/>
          <p:nvPr/>
        </p:nvSpPr>
        <p:spPr>
          <a:xfrm>
            <a:off x="8803325" y="49555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8" name="Google Shape;328;p28"/>
          <p:cNvSpPr/>
          <p:nvPr/>
        </p:nvSpPr>
        <p:spPr>
          <a:xfrm>
            <a:off x="9385250" y="494612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9" name="Google Shape;329;p28"/>
          <p:cNvSpPr txBox="1"/>
          <p:nvPr/>
        </p:nvSpPr>
        <p:spPr>
          <a:xfrm>
            <a:off x="8160025" y="46365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8741575" y="461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9305600" y="461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2030800" y="55267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 flipH="1">
            <a:off x="2829499" y="4153475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title"/>
          </p:nvPr>
        </p:nvSpPr>
        <p:spPr>
          <a:xfrm>
            <a:off x="8404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Contextualización</a:t>
            </a:r>
            <a:endParaRPr dirty="0"/>
          </a:p>
        </p:txBody>
      </p:sp>
      <p:graphicFrame>
        <p:nvGraphicFramePr>
          <p:cNvPr id="342" name="Google Shape;342;p29"/>
          <p:cNvGraphicFramePr/>
          <p:nvPr/>
        </p:nvGraphicFramePr>
        <p:xfrm>
          <a:off x="1144750" y="1989525"/>
          <a:ext cx="2771725" cy="35476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277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1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Sistema Operativo</a:t>
                      </a:r>
                      <a:endParaRPr sz="21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Proceso 1 (P1)</a:t>
                      </a: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Proceso 2 (P2)</a:t>
                      </a:r>
                      <a:endParaRPr sz="19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3" name="Google Shape;343;p29"/>
          <p:cNvSpPr/>
          <p:nvPr/>
        </p:nvSpPr>
        <p:spPr>
          <a:xfrm>
            <a:off x="4851850" y="3675788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4851850" y="471582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5" name="Google Shape;3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1950" y="4123813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3263" y="3446735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29"/>
          <p:cNvCxnSpPr/>
          <p:nvPr/>
        </p:nvCxnSpPr>
        <p:spPr>
          <a:xfrm>
            <a:off x="5826925" y="4125588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48" name="Google Shape;348;p29"/>
          <p:cNvCxnSpPr/>
          <p:nvPr/>
        </p:nvCxnSpPr>
        <p:spPr>
          <a:xfrm>
            <a:off x="6698125" y="4715825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9" name="Google Shape;349;p29"/>
          <p:cNvSpPr/>
          <p:nvPr/>
        </p:nvSpPr>
        <p:spPr>
          <a:xfrm>
            <a:off x="6365928" y="4211238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50" name="Google Shape;350;p29"/>
          <p:cNvSpPr txBox="1"/>
          <p:nvPr/>
        </p:nvSpPr>
        <p:spPr>
          <a:xfrm>
            <a:off x="5866650" y="4422113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4353725" y="1989513"/>
            <a:ext cx="7172400" cy="1155600"/>
          </a:xfrm>
          <a:prstGeom prst="wedgeRectCallout">
            <a:avLst>
              <a:gd name="adj1" fmla="val 1881"/>
              <a:gd name="adj2" fmla="val 91771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Algunas preguntas claves</a:t>
            </a:r>
            <a:r>
              <a:rPr lang="es-ES" sz="2000" dirty="0"/>
              <a:t>: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¿Qué proceso elegir?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¿Teniendo en cuenta que aspectos? → Métricas</a:t>
            </a:r>
            <a:endParaRPr sz="2000" dirty="0"/>
          </a:p>
        </p:txBody>
      </p:sp>
      <p:pic>
        <p:nvPicPr>
          <p:cNvPr id="352" name="Google Shape;35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156" y="2068201"/>
            <a:ext cx="685319" cy="6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title"/>
          </p:nvPr>
        </p:nvSpPr>
        <p:spPr>
          <a:xfrm>
            <a:off x="609600" y="96038"/>
            <a:ext cx="103046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4" name="Google Shape;364;p31"/>
          <p:cNvSpPr txBox="1">
            <a:spLocks noGrp="1"/>
          </p:cNvSpPr>
          <p:nvPr>
            <p:ph type="body" idx="1"/>
          </p:nvPr>
        </p:nvSpPr>
        <p:spPr>
          <a:xfrm>
            <a:off x="457200" y="1102100"/>
            <a:ext cx="11356258" cy="171472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Conceptos importantes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Scheduler (planificador)</a:t>
            </a:r>
            <a:r>
              <a:rPr lang="es-ES" sz="2200" dirty="0">
                <a:latin typeface="+mn-lt"/>
              </a:rPr>
              <a:t>: Decide como y cuando los procesos acceden a la CPU (o CPUs compartidas) de acuerdo a unas </a:t>
            </a:r>
            <a:r>
              <a:rPr lang="es-ES" sz="2200" b="1" dirty="0">
                <a:latin typeface="+mn-lt"/>
              </a:rPr>
              <a:t>métricas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Workload (carga de trabajo)</a:t>
            </a:r>
            <a:r>
              <a:rPr lang="es-ES" sz="2200" dirty="0">
                <a:latin typeface="+mn-lt"/>
              </a:rPr>
              <a:t>: Procesos en ejecución en un sistema.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68" name="Google Shape;368;p31"/>
          <p:cNvGraphicFramePr/>
          <p:nvPr/>
        </p:nvGraphicFramePr>
        <p:xfrm>
          <a:off x="7950100" y="4110038"/>
          <a:ext cx="302562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9" name="Google Shape;369;p31"/>
          <p:cNvCxnSpPr/>
          <p:nvPr/>
        </p:nvCxnSpPr>
        <p:spPr>
          <a:xfrm>
            <a:off x="7947325" y="38594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0" name="Google Shape;370;p31"/>
          <p:cNvSpPr txBox="1"/>
          <p:nvPr/>
        </p:nvSpPr>
        <p:spPr>
          <a:xfrm>
            <a:off x="7074575" y="42302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11321975" y="45037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1018825" y="3185475"/>
            <a:ext cx="1066800" cy="297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rgbClr val="9E9E9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1"/>
          <p:cNvSpPr/>
          <p:nvPr/>
        </p:nvSpPr>
        <p:spPr>
          <a:xfrm>
            <a:off x="8399200" y="36958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4" name="Google Shape;374;p31"/>
          <p:cNvSpPr/>
          <p:nvPr/>
        </p:nvSpPr>
        <p:spPr>
          <a:xfrm>
            <a:off x="8981125" y="36855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5" name="Google Shape;375;p31"/>
          <p:cNvSpPr/>
          <p:nvPr/>
        </p:nvSpPr>
        <p:spPr>
          <a:xfrm>
            <a:off x="9563050" y="367612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6" name="Google Shape;376;p31"/>
          <p:cNvSpPr txBox="1"/>
          <p:nvPr/>
        </p:nvSpPr>
        <p:spPr>
          <a:xfrm>
            <a:off x="8337825" y="33665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8919375" y="334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9483400" y="33451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1186675" y="35103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1193800" y="4550413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1" name="Google Shape;3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900" y="39584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213" y="3281322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1"/>
          <p:cNvCxnSpPr/>
          <p:nvPr/>
        </p:nvCxnSpPr>
        <p:spPr>
          <a:xfrm>
            <a:off x="2168875" y="3960175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84" name="Google Shape;384;p31"/>
          <p:cNvCxnSpPr/>
          <p:nvPr/>
        </p:nvCxnSpPr>
        <p:spPr>
          <a:xfrm>
            <a:off x="3040075" y="4550413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31"/>
          <p:cNvSpPr/>
          <p:nvPr/>
        </p:nvSpPr>
        <p:spPr>
          <a:xfrm>
            <a:off x="2707878" y="40458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6" name="Google Shape;386;p31"/>
          <p:cNvSpPr txBox="1"/>
          <p:nvPr/>
        </p:nvSpPr>
        <p:spPr>
          <a:xfrm>
            <a:off x="2208600" y="42567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 flipH="1">
            <a:off x="3007299" y="2883475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8" name="Google Shape;388;p31"/>
          <p:cNvSpPr txBox="1"/>
          <p:nvPr/>
        </p:nvSpPr>
        <p:spPr>
          <a:xfrm>
            <a:off x="1190275" y="5476175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 flipH="1">
            <a:off x="2707875" y="5755675"/>
            <a:ext cx="156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Workload</a:t>
            </a:r>
            <a:endParaRPr sz="1800" b="1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90" name="Google Shape;390;p31"/>
          <p:cNvCxnSpPr>
            <a:stCxn id="389" idx="3"/>
          </p:cNvCxnSpPr>
          <p:nvPr/>
        </p:nvCxnSpPr>
        <p:spPr>
          <a:xfrm rot="10800000">
            <a:off x="2194275" y="5839825"/>
            <a:ext cx="513600" cy="146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91" name="Google Shape;39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9675" y="5429466"/>
            <a:ext cx="1429200" cy="1114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397" name="Google Shape;397;p32"/>
          <p:cNvSpPr txBox="1">
            <a:spLocks noGrp="1"/>
          </p:cNvSpPr>
          <p:nvPr>
            <p:ph type="body" idx="1"/>
          </p:nvPr>
        </p:nvSpPr>
        <p:spPr>
          <a:xfrm>
            <a:off x="478971" y="1102100"/>
            <a:ext cx="11049729" cy="111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Suposiciones iniciales</a:t>
            </a:r>
            <a:r>
              <a:rPr lang="es-ES" sz="2400" dirty="0">
                <a:latin typeface="+mn-lt"/>
              </a:rPr>
              <a:t>: Son “ideales y poco realistas”.</a:t>
            </a:r>
            <a:endParaRPr sz="3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Cada trabajo se ejecuta por la misma cantidad de tiempo.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78107E4-F6B0-45B4-8559-143D85CA44F5}"/>
              </a:ext>
            </a:extLst>
          </p:cNvPr>
          <p:cNvGrpSpPr/>
          <p:nvPr/>
        </p:nvGrpSpPr>
        <p:grpSpPr>
          <a:xfrm>
            <a:off x="6691216" y="3664854"/>
            <a:ext cx="5079775" cy="1737125"/>
            <a:chOff x="5969675" y="3148200"/>
            <a:chExt cx="5079775" cy="1737125"/>
          </a:xfrm>
        </p:grpSpPr>
        <p:graphicFrame>
          <p:nvGraphicFramePr>
            <p:cNvPr id="398" name="Google Shape;398;p32"/>
            <p:cNvGraphicFramePr/>
            <p:nvPr>
              <p:extLst>
                <p:ext uri="{D42A27DB-BD31-4B8C-83A1-F6EECF244321}">
                  <p14:modId xmlns:p14="http://schemas.microsoft.com/office/powerpoint/2010/main" val="2540609114"/>
                </p:ext>
              </p:extLst>
            </p:nvPr>
          </p:nvGraphicFramePr>
          <p:xfrm>
            <a:off x="6845200" y="3411538"/>
            <a:ext cx="3025625" cy="856225"/>
          </p:xfrm>
          <a:graphic>
            <a:graphicData uri="http://schemas.openxmlformats.org/drawingml/2006/table">
              <a:tbl>
                <a:tblPr>
                  <a:noFill/>
                  <a:tableStyleId>{925993CE-88FD-44DD-ABEB-49CEDA6F9533}</a:tableStyleId>
                </a:tblPr>
                <a:tblGrid>
                  <a:gridCol w="6051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8562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P1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P2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...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Pn</a:t>
                        </a:r>
                        <a:endParaRPr sz="170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E59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...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cxnSp>
          <p:nvCxnSpPr>
            <p:cNvPr id="399" name="Google Shape;399;p32"/>
            <p:cNvCxnSpPr/>
            <p:nvPr/>
          </p:nvCxnSpPr>
          <p:spPr>
            <a:xfrm>
              <a:off x="6842425" y="3148200"/>
              <a:ext cx="4005300" cy="11175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00" name="Google Shape;400;p32"/>
            <p:cNvSpPr txBox="1"/>
            <p:nvPr/>
          </p:nvSpPr>
          <p:spPr>
            <a:xfrm>
              <a:off x="5969675" y="3519013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1" name="Google Shape;401;p32"/>
            <p:cNvSpPr txBox="1"/>
            <p:nvPr/>
          </p:nvSpPr>
          <p:spPr>
            <a:xfrm>
              <a:off x="10288950" y="439272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02" name="Google Shape;402;p32"/>
            <p:cNvCxnSpPr/>
            <p:nvPr/>
          </p:nvCxnSpPr>
          <p:spPr>
            <a:xfrm rot="10800000" flipH="1">
              <a:off x="8663330" y="4392125"/>
              <a:ext cx="600600" cy="6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03" name="Google Shape;403;p32"/>
            <p:cNvCxnSpPr/>
            <p:nvPr/>
          </p:nvCxnSpPr>
          <p:spPr>
            <a:xfrm flipH="1">
              <a:off x="8657430" y="4285175"/>
              <a:ext cx="1500" cy="1572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32"/>
            <p:cNvCxnSpPr/>
            <p:nvPr/>
          </p:nvCxnSpPr>
          <p:spPr>
            <a:xfrm flipH="1">
              <a:off x="9262505" y="4285175"/>
              <a:ext cx="1500" cy="1572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05" name="Google Shape;405;p32" descr="T_{run}" title="MathEquation,#ff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21479" y="4494383"/>
              <a:ext cx="484300" cy="27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9152ED0-4A1A-4B14-9991-344D3C15A9DB}"/>
              </a:ext>
            </a:extLst>
          </p:cNvPr>
          <p:cNvGrpSpPr/>
          <p:nvPr/>
        </p:nvGrpSpPr>
        <p:grpSpPr>
          <a:xfrm>
            <a:off x="774087" y="2529235"/>
            <a:ext cx="5495162" cy="3272622"/>
            <a:chOff x="6212401" y="2674978"/>
            <a:chExt cx="5495162" cy="3272622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BE05E0B3-CA3C-4A46-9D14-9D75B1BE6103}"/>
                </a:ext>
              </a:extLst>
            </p:cNvPr>
            <p:cNvGrpSpPr/>
            <p:nvPr/>
          </p:nvGrpSpPr>
          <p:grpSpPr>
            <a:xfrm>
              <a:off x="10833366" y="2686150"/>
              <a:ext cx="874197" cy="1195002"/>
              <a:chOff x="1620690" y="2501644"/>
              <a:chExt cx="874197" cy="1195002"/>
            </a:xfrm>
          </p:grpSpPr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2601017A-3E44-4F58-8ACF-770CA9E15D96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05228B9-0E07-47C7-943A-F7F8BD2DB6BB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0A1E7E08-51B2-42DA-902B-BC171FADDB06}"/>
                </a:ext>
              </a:extLst>
            </p:cNvPr>
            <p:cNvCxnSpPr>
              <a:endCxn id="34" idx="1"/>
            </p:cNvCxnSpPr>
            <p:nvPr/>
          </p:nvCxnSpPr>
          <p:spPr>
            <a:xfrm>
              <a:off x="9630819" y="3465524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: angular 15">
              <a:extLst>
                <a:ext uri="{FF2B5EF4-FFF2-40B4-BE49-F238E27FC236}">
                  <a16:creationId xmlns:a16="http://schemas.microsoft.com/office/drawing/2014/main" id="{AF25D2F3-84E9-4BCC-AF30-DC0E5DA15F07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 rot="5400000" flipH="1">
              <a:off x="9074793" y="1685480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22AE251F-41E7-4E98-8CF2-B7AC605548B2}"/>
                </a:ext>
              </a:extLst>
            </p:cNvPr>
            <p:cNvCxnSpPr/>
            <p:nvPr/>
          </p:nvCxnSpPr>
          <p:spPr>
            <a:xfrm>
              <a:off x="6212401" y="3269772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29DB0AF9-4C5C-47D4-A855-6B903BB3F296}"/>
                </a:ext>
              </a:extLst>
            </p:cNvPr>
            <p:cNvGrpSpPr/>
            <p:nvPr/>
          </p:nvGrpSpPr>
          <p:grpSpPr>
            <a:xfrm>
              <a:off x="7153090" y="2674978"/>
              <a:ext cx="2480084" cy="1206174"/>
              <a:chOff x="3934951" y="4414559"/>
              <a:chExt cx="2480084" cy="1206174"/>
            </a:xfrm>
          </p:grpSpPr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E7ABA5A4-304E-4326-B48F-0B7640DC3C7C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31" name="Conector recto 30">
                  <a:extLst>
                    <a:ext uri="{FF2B5EF4-FFF2-40B4-BE49-F238E27FC236}">
                      <a16:creationId xmlns:a16="http://schemas.microsoft.com/office/drawing/2014/main" id="{03CDF362-AE3E-41CB-A15C-D1BCC34190B6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ector recto 31">
                  <a:extLst>
                    <a:ext uri="{FF2B5EF4-FFF2-40B4-BE49-F238E27FC236}">
                      <a16:creationId xmlns:a16="http://schemas.microsoft.com/office/drawing/2014/main" id="{B5502AA6-C015-4F4A-8599-67320083E07C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ector recto 32">
                  <a:extLst>
                    <a:ext uri="{FF2B5EF4-FFF2-40B4-BE49-F238E27FC236}">
                      <a16:creationId xmlns:a16="http://schemas.microsoft.com/office/drawing/2014/main" id="{A402F918-AB80-41F9-963A-7E20C70437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6C132D1-0D7C-485B-820D-1CEB1E2F4EE9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16D1C988-3A12-4F36-BAD0-B246D7503773}"/>
                </a:ext>
              </a:extLst>
            </p:cNvPr>
            <p:cNvGrpSpPr/>
            <p:nvPr/>
          </p:nvGrpSpPr>
          <p:grpSpPr>
            <a:xfrm>
              <a:off x="8391954" y="4679160"/>
              <a:ext cx="2480084" cy="1268440"/>
              <a:chOff x="8391954" y="4679160"/>
              <a:chExt cx="2480084" cy="1268440"/>
            </a:xfrm>
          </p:grpSpPr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DED8E8F5-1B5C-4C23-9401-895E53983524}"/>
                  </a:ext>
                </a:extLst>
              </p:cNvPr>
              <p:cNvGrpSpPr/>
              <p:nvPr/>
            </p:nvGrpSpPr>
            <p:grpSpPr>
              <a:xfrm flipH="1">
                <a:off x="8391954" y="5116345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26" name="Conector recto 25">
                  <a:extLst>
                    <a:ext uri="{FF2B5EF4-FFF2-40B4-BE49-F238E27FC236}">
                      <a16:creationId xmlns:a16="http://schemas.microsoft.com/office/drawing/2014/main" id="{9BB029FF-4D82-4E79-9DE1-A9FF5D0B586A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ector recto 26">
                  <a:extLst>
                    <a:ext uri="{FF2B5EF4-FFF2-40B4-BE49-F238E27FC236}">
                      <a16:creationId xmlns:a16="http://schemas.microsoft.com/office/drawing/2014/main" id="{83ACC8B3-D74A-4297-9D08-FDB86723D4D7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ector recto 27">
                  <a:extLst>
                    <a:ext uri="{FF2B5EF4-FFF2-40B4-BE49-F238E27FC236}">
                      <a16:creationId xmlns:a16="http://schemas.microsoft.com/office/drawing/2014/main" id="{6C948E5D-35B7-418A-A610-67B6CD9CE1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577B892-002E-4840-A5F3-8D53EF683186}"/>
                  </a:ext>
                </a:extLst>
              </p:cNvPr>
              <p:cNvSpPr txBox="1"/>
              <p:nvPr/>
            </p:nvSpPr>
            <p:spPr>
              <a:xfrm>
                <a:off x="9216121" y="4679160"/>
                <a:ext cx="700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Block</a:t>
                </a:r>
              </a:p>
            </p:txBody>
          </p:sp>
        </p:grpSp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684F9614-623F-42E4-BD6A-BB00EFFEE6AC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H="1">
              <a:off x="10705511" y="3468317"/>
              <a:ext cx="1002052" cy="2063656"/>
            </a:xfrm>
            <a:prstGeom prst="bentConnector4">
              <a:avLst>
                <a:gd name="adj1" fmla="val -22813"/>
                <a:gd name="adj2" fmla="val 9995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FC32E81E-8624-484B-AE24-167C806BF22C}"/>
                </a:ext>
              </a:extLst>
            </p:cNvPr>
            <p:cNvGrpSpPr/>
            <p:nvPr/>
          </p:nvGrpSpPr>
          <p:grpSpPr>
            <a:xfrm>
              <a:off x="6212401" y="3478226"/>
              <a:ext cx="2179556" cy="2053746"/>
              <a:chOff x="5610263" y="3233123"/>
              <a:chExt cx="2179556" cy="2053746"/>
            </a:xfrm>
          </p:grpSpPr>
          <p:cxnSp>
            <p:nvCxnSpPr>
              <p:cNvPr id="22" name="Conector: angular 21">
                <a:extLst>
                  <a:ext uri="{FF2B5EF4-FFF2-40B4-BE49-F238E27FC236}">
                    <a16:creationId xmlns:a16="http://schemas.microsoft.com/office/drawing/2014/main" id="{C0020955-27DE-4C4B-A500-93AD964DB12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610264" y="3233123"/>
                <a:ext cx="2179555" cy="2053746"/>
              </a:xfrm>
              <a:prstGeom prst="bentConnector3">
                <a:avLst>
                  <a:gd name="adj1" fmla="val 10011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de flecha 22">
                <a:extLst>
                  <a:ext uri="{FF2B5EF4-FFF2-40B4-BE49-F238E27FC236}">
                    <a16:creationId xmlns:a16="http://schemas.microsoft.com/office/drawing/2014/main" id="{02BDBA71-7CF0-4BD9-8CE8-7C3C9A6DF1F4}"/>
                  </a:ext>
                </a:extLst>
              </p:cNvPr>
              <p:cNvCxnSpPr/>
              <p:nvPr/>
            </p:nvCxnSpPr>
            <p:spPr>
              <a:xfrm>
                <a:off x="5610263" y="3233123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11" name="Google Shape;411;p33"/>
          <p:cNvSpPr txBox="1">
            <a:spLocks noGrp="1"/>
          </p:cNvSpPr>
          <p:nvPr>
            <p:ph type="body" idx="1"/>
          </p:nvPr>
        </p:nvSpPr>
        <p:spPr>
          <a:xfrm>
            <a:off x="440259" y="1102100"/>
            <a:ext cx="11088441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Suposiciones iniciales</a:t>
            </a:r>
            <a:r>
              <a:rPr lang="es-ES" sz="2400" dirty="0">
                <a:latin typeface="+mn-lt"/>
              </a:rPr>
              <a:t>: Son “ideales y poco realistas”.</a:t>
            </a:r>
            <a:endParaRPr sz="3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400" dirty="0">
                <a:latin typeface="+mn-lt"/>
              </a:rPr>
              <a:t>Todos los trabajos son iniciados al mismo tiempo (</a:t>
            </a:r>
            <a:r>
              <a:rPr lang="es-ES" sz="2400" b="1" dirty="0">
                <a:latin typeface="+mn-lt"/>
              </a:rPr>
              <a:t>arrival time</a:t>
            </a:r>
            <a:r>
              <a:rPr lang="es-ES" sz="24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ECDE474-4E15-4D27-BA3C-030D9D339B98}"/>
              </a:ext>
            </a:extLst>
          </p:cNvPr>
          <p:cNvGrpSpPr/>
          <p:nvPr/>
        </p:nvGrpSpPr>
        <p:grpSpPr>
          <a:xfrm>
            <a:off x="6359950" y="2389003"/>
            <a:ext cx="5444522" cy="3951113"/>
            <a:chOff x="3921550" y="2461575"/>
            <a:chExt cx="5444522" cy="3951113"/>
          </a:xfrm>
        </p:grpSpPr>
        <p:cxnSp>
          <p:nvCxnSpPr>
            <p:cNvPr id="412" name="Google Shape;412;p33"/>
            <p:cNvCxnSpPr/>
            <p:nvPr/>
          </p:nvCxnSpPr>
          <p:spPr>
            <a:xfrm>
              <a:off x="4743500" y="2461575"/>
              <a:ext cx="3992700" cy="16389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13" name="Google Shape;413;p33"/>
            <p:cNvSpPr txBox="1"/>
            <p:nvPr/>
          </p:nvSpPr>
          <p:spPr>
            <a:xfrm>
              <a:off x="3921550" y="3019413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4" name="Google Shape;414;p33"/>
            <p:cNvSpPr txBox="1"/>
            <p:nvPr/>
          </p:nvSpPr>
          <p:spPr>
            <a:xfrm>
              <a:off x="8605572" y="4102024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15" name="Google Shape;415;p33"/>
            <p:cNvCxnSpPr/>
            <p:nvPr/>
          </p:nvCxnSpPr>
          <p:spPr>
            <a:xfrm>
              <a:off x="6345514" y="2702807"/>
              <a:ext cx="0" cy="1955700"/>
            </a:xfrm>
            <a:prstGeom prst="straightConnector1">
              <a:avLst/>
            </a:prstGeom>
            <a:noFill/>
            <a:ln w="19050" cap="flat" cmpd="sng">
              <a:solidFill>
                <a:srgbClr val="00206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16" name="Google Shape;416;p33"/>
            <p:cNvSpPr/>
            <p:nvPr/>
          </p:nvSpPr>
          <p:spPr>
            <a:xfrm>
              <a:off x="5979964" y="4729575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5979964" y="5681588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5608740A-D822-4A89-A910-68555F937DF1}"/>
                    </a:ext>
                  </a:extLst>
                </p:cNvPr>
                <p:cNvSpPr txBox="1"/>
                <p:nvPr/>
              </p:nvSpPr>
              <p:spPr>
                <a:xfrm>
                  <a:off x="5194364" y="4138025"/>
                  <a:ext cx="7856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𝑎𝑟𝑟𝑖𝑣𝑎𝑙</m:t>
                            </m:r>
                          </m:sub>
                        </m:sSub>
                      </m:oMath>
                    </m:oMathPara>
                  </a14:m>
                  <a:endParaRPr lang="es-CO" dirty="0">
                    <a:solidFill>
                      <a:srgbClr val="002060"/>
                    </a:solidFill>
                  </a:endParaRPr>
                </a:p>
              </p:txBody>
            </p:sp>
          </mc:Choice>
          <mc:Fallback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5608740A-D822-4A89-A910-68555F937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4364" y="4138025"/>
                  <a:ext cx="78560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6202" r="-3101" b="-17778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8C569395-DDD1-4124-AC75-032AA461A53A}"/>
                </a:ext>
              </a:extLst>
            </p:cNvPr>
            <p:cNvCxnSpPr>
              <a:stCxn id="2" idx="3"/>
            </p:cNvCxnSpPr>
            <p:nvPr/>
          </p:nvCxnSpPr>
          <p:spPr>
            <a:xfrm flipV="1">
              <a:off x="5979964" y="4276524"/>
              <a:ext cx="365550" cy="1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7135FD8E-24F6-4B18-BBC1-845B2437548E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flipH="1">
              <a:off x="4743500" y="4276525"/>
              <a:ext cx="450864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oogle Shape;415;p33">
              <a:extLst>
                <a:ext uri="{FF2B5EF4-FFF2-40B4-BE49-F238E27FC236}">
                  <a16:creationId xmlns:a16="http://schemas.microsoft.com/office/drawing/2014/main" id="{39B686E9-3271-4DE4-BF60-B532552DFA25}"/>
                </a:ext>
              </a:extLst>
            </p:cNvPr>
            <p:cNvCxnSpPr>
              <a:cxnSpLocks/>
            </p:cNvCxnSpPr>
            <p:nvPr/>
          </p:nvCxnSpPr>
          <p:spPr>
            <a:xfrm>
              <a:off x="4743500" y="4138025"/>
              <a:ext cx="0" cy="274250"/>
            </a:xfrm>
            <a:prstGeom prst="straightConnector1">
              <a:avLst/>
            </a:prstGeom>
            <a:noFill/>
            <a:ln w="19050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D0386031-65D8-4F37-8EE6-5E05ED746635}"/>
              </a:ext>
            </a:extLst>
          </p:cNvPr>
          <p:cNvGrpSpPr/>
          <p:nvPr/>
        </p:nvGrpSpPr>
        <p:grpSpPr>
          <a:xfrm>
            <a:off x="440259" y="2529235"/>
            <a:ext cx="5495162" cy="3272622"/>
            <a:chOff x="6212401" y="2674978"/>
            <a:chExt cx="5495162" cy="3272622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A19DB4CA-FA2B-46ED-9DF2-4A225C77FB16}"/>
                </a:ext>
              </a:extLst>
            </p:cNvPr>
            <p:cNvGrpSpPr/>
            <p:nvPr/>
          </p:nvGrpSpPr>
          <p:grpSpPr>
            <a:xfrm>
              <a:off x="10833366" y="2686150"/>
              <a:ext cx="874197" cy="1195002"/>
              <a:chOff x="1620690" y="2501644"/>
              <a:chExt cx="874197" cy="1195002"/>
            </a:xfrm>
          </p:grpSpPr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85B01F25-9584-43D9-BE7F-1EA5075EAE03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37D158C2-98A2-4519-9341-9137866A00F3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738C3D44-FE54-4B04-B832-2D631C6C3F5A}"/>
                </a:ext>
              </a:extLst>
            </p:cNvPr>
            <p:cNvCxnSpPr>
              <a:endCxn id="66" idx="1"/>
            </p:cNvCxnSpPr>
            <p:nvPr/>
          </p:nvCxnSpPr>
          <p:spPr>
            <a:xfrm>
              <a:off x="9630819" y="3465524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: angular 47">
              <a:extLst>
                <a:ext uri="{FF2B5EF4-FFF2-40B4-BE49-F238E27FC236}">
                  <a16:creationId xmlns:a16="http://schemas.microsoft.com/office/drawing/2014/main" id="{66D89786-2682-4FFA-B76B-AE1C0FA7244A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 rot="5400000" flipH="1">
              <a:off x="9074793" y="1685480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26FF6FCF-E58A-46FF-BDE1-251CC0144D2D}"/>
                </a:ext>
              </a:extLst>
            </p:cNvPr>
            <p:cNvCxnSpPr/>
            <p:nvPr/>
          </p:nvCxnSpPr>
          <p:spPr>
            <a:xfrm>
              <a:off x="6212401" y="3269772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4F0E6D14-AF4E-49F0-BC6F-ACD1A829AEAD}"/>
                </a:ext>
              </a:extLst>
            </p:cNvPr>
            <p:cNvGrpSpPr/>
            <p:nvPr/>
          </p:nvGrpSpPr>
          <p:grpSpPr>
            <a:xfrm>
              <a:off x="7153090" y="2674978"/>
              <a:ext cx="2480084" cy="1206174"/>
              <a:chOff x="3934951" y="4414559"/>
              <a:chExt cx="2480084" cy="1206174"/>
            </a:xfrm>
          </p:grpSpPr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727B6886-CBD3-4554-B7AE-53C12035639C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63" name="Conector recto 62">
                  <a:extLst>
                    <a:ext uri="{FF2B5EF4-FFF2-40B4-BE49-F238E27FC236}">
                      <a16:creationId xmlns:a16="http://schemas.microsoft.com/office/drawing/2014/main" id="{8526F12C-42FD-4078-8031-236FFB69D14C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Conector recto 63">
                  <a:extLst>
                    <a:ext uri="{FF2B5EF4-FFF2-40B4-BE49-F238E27FC236}">
                      <a16:creationId xmlns:a16="http://schemas.microsoft.com/office/drawing/2014/main" id="{A76F6A64-EEB4-4E47-B300-41E9E248FA51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Conector recto 64">
                  <a:extLst>
                    <a:ext uri="{FF2B5EF4-FFF2-40B4-BE49-F238E27FC236}">
                      <a16:creationId xmlns:a16="http://schemas.microsoft.com/office/drawing/2014/main" id="{B7B9CA2F-9820-4108-9995-3194373463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17B90F09-205F-4683-9AEF-88E41A78B087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40315C6-7577-44A3-AD92-4E39196F3CA9}"/>
                </a:ext>
              </a:extLst>
            </p:cNvPr>
            <p:cNvGrpSpPr/>
            <p:nvPr/>
          </p:nvGrpSpPr>
          <p:grpSpPr>
            <a:xfrm>
              <a:off x="8391954" y="4679160"/>
              <a:ext cx="2480084" cy="1268440"/>
              <a:chOff x="8391954" y="4679160"/>
              <a:chExt cx="2480084" cy="1268440"/>
            </a:xfrm>
          </p:grpSpPr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DE35A02E-CD1F-449F-BB9C-E482332A9B6C}"/>
                  </a:ext>
                </a:extLst>
              </p:cNvPr>
              <p:cNvGrpSpPr/>
              <p:nvPr/>
            </p:nvGrpSpPr>
            <p:grpSpPr>
              <a:xfrm flipH="1">
                <a:off x="8391954" y="5116345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58" name="Conector recto 57">
                  <a:extLst>
                    <a:ext uri="{FF2B5EF4-FFF2-40B4-BE49-F238E27FC236}">
                      <a16:creationId xmlns:a16="http://schemas.microsoft.com/office/drawing/2014/main" id="{BAE548C7-C817-4EE1-A90D-49539EA1E5B3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ector recto 58">
                  <a:extLst>
                    <a:ext uri="{FF2B5EF4-FFF2-40B4-BE49-F238E27FC236}">
                      <a16:creationId xmlns:a16="http://schemas.microsoft.com/office/drawing/2014/main" id="{170E59A4-1B5E-4596-BB51-3C6FFC3C00ED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cto 59">
                  <a:extLst>
                    <a:ext uri="{FF2B5EF4-FFF2-40B4-BE49-F238E27FC236}">
                      <a16:creationId xmlns:a16="http://schemas.microsoft.com/office/drawing/2014/main" id="{444CE798-BB02-4D6A-9D22-1B334DA580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3633D2FB-CF57-4FCD-A529-228616611B17}"/>
                  </a:ext>
                </a:extLst>
              </p:cNvPr>
              <p:cNvSpPr txBox="1"/>
              <p:nvPr/>
            </p:nvSpPr>
            <p:spPr>
              <a:xfrm>
                <a:off x="9216121" y="4679160"/>
                <a:ext cx="700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Block</a:t>
                </a:r>
              </a:p>
            </p:txBody>
          </p:sp>
        </p:grpSp>
        <p:cxnSp>
          <p:nvCxnSpPr>
            <p:cNvPr id="52" name="Conector: angular 51">
              <a:extLst>
                <a:ext uri="{FF2B5EF4-FFF2-40B4-BE49-F238E27FC236}">
                  <a16:creationId xmlns:a16="http://schemas.microsoft.com/office/drawing/2014/main" id="{14C97054-7481-4DAE-A81A-F415E12E5109}"/>
                </a:ext>
              </a:extLst>
            </p:cNvPr>
            <p:cNvCxnSpPr>
              <a:cxnSpLocks/>
              <a:stCxn id="66" idx="3"/>
            </p:cNvCxnSpPr>
            <p:nvPr/>
          </p:nvCxnSpPr>
          <p:spPr>
            <a:xfrm flipH="1">
              <a:off x="10705511" y="3468317"/>
              <a:ext cx="1002052" cy="2063656"/>
            </a:xfrm>
            <a:prstGeom prst="bentConnector4">
              <a:avLst>
                <a:gd name="adj1" fmla="val -22813"/>
                <a:gd name="adj2" fmla="val 9995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F608D3E0-B154-4372-BAE9-133AC81EC999}"/>
                </a:ext>
              </a:extLst>
            </p:cNvPr>
            <p:cNvGrpSpPr/>
            <p:nvPr/>
          </p:nvGrpSpPr>
          <p:grpSpPr>
            <a:xfrm>
              <a:off x="6212401" y="3478226"/>
              <a:ext cx="2179556" cy="2053746"/>
              <a:chOff x="5610263" y="3233123"/>
              <a:chExt cx="2179556" cy="2053746"/>
            </a:xfrm>
          </p:grpSpPr>
          <p:cxnSp>
            <p:nvCxnSpPr>
              <p:cNvPr id="54" name="Conector: angular 53">
                <a:extLst>
                  <a:ext uri="{FF2B5EF4-FFF2-40B4-BE49-F238E27FC236}">
                    <a16:creationId xmlns:a16="http://schemas.microsoft.com/office/drawing/2014/main" id="{58D97AF0-F678-4C6D-84A1-E1114D8F754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610264" y="3233123"/>
                <a:ext cx="2179555" cy="2053746"/>
              </a:xfrm>
              <a:prstGeom prst="bentConnector3">
                <a:avLst>
                  <a:gd name="adj1" fmla="val 10011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de flecha 54">
                <a:extLst>
                  <a:ext uri="{FF2B5EF4-FFF2-40B4-BE49-F238E27FC236}">
                    <a16:creationId xmlns:a16="http://schemas.microsoft.com/office/drawing/2014/main" id="{2E4E7EDC-9A0B-45A2-A8A2-11E738B1703A}"/>
                  </a:ext>
                </a:extLst>
              </p:cNvPr>
              <p:cNvCxnSpPr/>
              <p:nvPr/>
            </p:nvCxnSpPr>
            <p:spPr>
              <a:xfrm>
                <a:off x="5610263" y="3233123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609600" y="1102100"/>
            <a:ext cx="10919100" cy="9657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Suposiciones iniciales</a:t>
            </a:r>
            <a:r>
              <a:rPr lang="es-ES" sz="2400" dirty="0">
                <a:latin typeface="+mn-lt"/>
              </a:rPr>
              <a:t>: Son “ideales y poco realistas”.</a:t>
            </a:r>
            <a:endParaRPr sz="3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s-ES" sz="2200" dirty="0">
                <a:latin typeface="+mn-lt"/>
              </a:rPr>
              <a:t>Una vez iniciado, cada trabajo se ejecuta hasta su finalización (no se puede interrumpir).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cxnSp>
        <p:nvCxnSpPr>
          <p:cNvPr id="424" name="Google Shape;424;p34"/>
          <p:cNvCxnSpPr>
            <a:cxnSpLocks/>
          </p:cNvCxnSpPr>
          <p:nvPr/>
        </p:nvCxnSpPr>
        <p:spPr>
          <a:xfrm>
            <a:off x="7283501" y="2510984"/>
            <a:ext cx="4647242" cy="1639000"/>
          </a:xfrm>
          <a:prstGeom prst="bentConnector3">
            <a:avLst>
              <a:gd name="adj1" fmla="val 2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25" name="Google Shape;425;p34"/>
          <p:cNvSpPr txBox="1"/>
          <p:nvPr/>
        </p:nvSpPr>
        <p:spPr>
          <a:xfrm>
            <a:off x="6523001" y="3341497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6" name="Google Shape;426;p34"/>
          <p:cNvSpPr txBox="1"/>
          <p:nvPr/>
        </p:nvSpPr>
        <p:spPr>
          <a:xfrm>
            <a:off x="11528700" y="4149984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7810376" y="4803313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7810376" y="57559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8175926" y="3200484"/>
            <a:ext cx="1447800" cy="9495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" name="Google Shape;430;p34">
            <a:extLst>
              <a:ext uri="{FF2B5EF4-FFF2-40B4-BE49-F238E27FC236}">
                <a16:creationId xmlns:a16="http://schemas.microsoft.com/office/drawing/2014/main" id="{970325DA-D209-4A41-AA78-3D71307C52D6}"/>
              </a:ext>
            </a:extLst>
          </p:cNvPr>
          <p:cNvSpPr/>
          <p:nvPr/>
        </p:nvSpPr>
        <p:spPr>
          <a:xfrm>
            <a:off x="9619722" y="3200484"/>
            <a:ext cx="1447800" cy="949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" name="Google Shape;427;p34">
            <a:extLst>
              <a:ext uri="{FF2B5EF4-FFF2-40B4-BE49-F238E27FC236}">
                <a16:creationId xmlns:a16="http://schemas.microsoft.com/office/drawing/2014/main" id="{B63EE339-467B-406B-BFF5-51EB73BBA017}"/>
              </a:ext>
            </a:extLst>
          </p:cNvPr>
          <p:cNvCxnSpPr/>
          <p:nvPr/>
        </p:nvCxnSpPr>
        <p:spPr>
          <a:xfrm>
            <a:off x="8174315" y="2752284"/>
            <a:ext cx="0" cy="1955700"/>
          </a:xfrm>
          <a:prstGeom prst="straightConnector1">
            <a:avLst/>
          </a:prstGeom>
          <a:noFill/>
          <a:ln w="19050" cap="flat" cmpd="sng">
            <a:solidFill>
              <a:srgbClr val="00206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9DF7599-F6DA-4A1F-8B2B-B981C29A1EF9}"/>
              </a:ext>
            </a:extLst>
          </p:cNvPr>
          <p:cNvGrpSpPr/>
          <p:nvPr/>
        </p:nvGrpSpPr>
        <p:grpSpPr>
          <a:xfrm>
            <a:off x="537103" y="2848828"/>
            <a:ext cx="5495162" cy="3272622"/>
            <a:chOff x="6212401" y="2674978"/>
            <a:chExt cx="5495162" cy="3272622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F7B324BA-664D-46D6-A287-3FAE6F79AA15}"/>
                </a:ext>
              </a:extLst>
            </p:cNvPr>
            <p:cNvGrpSpPr/>
            <p:nvPr/>
          </p:nvGrpSpPr>
          <p:grpSpPr>
            <a:xfrm>
              <a:off x="10833366" y="2686150"/>
              <a:ext cx="874197" cy="1195002"/>
              <a:chOff x="1620690" y="2501644"/>
              <a:chExt cx="874197" cy="1195002"/>
            </a:xfrm>
          </p:grpSpPr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2BBB2658-7F58-4A10-87B4-104367DDE13C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2595AE5-41B0-4C93-B1A9-C72AC3D9C4C4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1CE5FF9-534E-4EEC-AAAE-970674408402}"/>
                </a:ext>
              </a:extLst>
            </p:cNvPr>
            <p:cNvCxnSpPr>
              <a:endCxn id="36" idx="1"/>
            </p:cNvCxnSpPr>
            <p:nvPr/>
          </p:nvCxnSpPr>
          <p:spPr>
            <a:xfrm>
              <a:off x="9630819" y="3465524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: angular 17">
              <a:extLst>
                <a:ext uri="{FF2B5EF4-FFF2-40B4-BE49-F238E27FC236}">
                  <a16:creationId xmlns:a16="http://schemas.microsoft.com/office/drawing/2014/main" id="{3282D897-FC38-4F3D-9847-6B469F97B975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rot="5400000" flipH="1">
              <a:off x="9074793" y="1685480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EF87B7D0-BBD7-4FED-8809-015E9345A9BF}"/>
                </a:ext>
              </a:extLst>
            </p:cNvPr>
            <p:cNvCxnSpPr/>
            <p:nvPr/>
          </p:nvCxnSpPr>
          <p:spPr>
            <a:xfrm>
              <a:off x="6212401" y="3269772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56900031-3A0D-469C-9FC7-B78522684DB7}"/>
                </a:ext>
              </a:extLst>
            </p:cNvPr>
            <p:cNvGrpSpPr/>
            <p:nvPr/>
          </p:nvGrpSpPr>
          <p:grpSpPr>
            <a:xfrm>
              <a:off x="7153090" y="2674978"/>
              <a:ext cx="2480084" cy="1206174"/>
              <a:chOff x="3934951" y="4414559"/>
              <a:chExt cx="2480084" cy="1206174"/>
            </a:xfrm>
          </p:grpSpPr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7A911CC5-1551-4514-8715-501D5E7782B4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33" name="Conector recto 32">
                  <a:extLst>
                    <a:ext uri="{FF2B5EF4-FFF2-40B4-BE49-F238E27FC236}">
                      <a16:creationId xmlns:a16="http://schemas.microsoft.com/office/drawing/2014/main" id="{A0599723-E0CF-41CF-A703-FAF944585635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recto 33">
                  <a:extLst>
                    <a:ext uri="{FF2B5EF4-FFF2-40B4-BE49-F238E27FC236}">
                      <a16:creationId xmlns:a16="http://schemas.microsoft.com/office/drawing/2014/main" id="{A933E427-5E46-4F3F-BDED-CF16B4A5321E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6A3BA1DE-54C6-4F67-A5C2-59555F89EA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1BA4C89-30FA-4ADE-AA83-C869D3F20D18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78C4D53F-18EE-4C4C-ABC5-995F5511F81A}"/>
                </a:ext>
              </a:extLst>
            </p:cNvPr>
            <p:cNvGrpSpPr/>
            <p:nvPr/>
          </p:nvGrpSpPr>
          <p:grpSpPr>
            <a:xfrm>
              <a:off x="8391954" y="4679160"/>
              <a:ext cx="2480084" cy="1268440"/>
              <a:chOff x="8391954" y="4679160"/>
              <a:chExt cx="2480084" cy="1268440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4FE469E5-CDEE-4DC1-AF8E-F7493B78A748}"/>
                  </a:ext>
                </a:extLst>
              </p:cNvPr>
              <p:cNvGrpSpPr/>
              <p:nvPr/>
            </p:nvGrpSpPr>
            <p:grpSpPr>
              <a:xfrm flipH="1">
                <a:off x="8391954" y="5116345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28" name="Conector recto 27">
                  <a:extLst>
                    <a:ext uri="{FF2B5EF4-FFF2-40B4-BE49-F238E27FC236}">
                      <a16:creationId xmlns:a16="http://schemas.microsoft.com/office/drawing/2014/main" id="{F52D3D4D-F39B-4F0D-A241-012D4500DA26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ector recto 28">
                  <a:extLst>
                    <a:ext uri="{FF2B5EF4-FFF2-40B4-BE49-F238E27FC236}">
                      <a16:creationId xmlns:a16="http://schemas.microsoft.com/office/drawing/2014/main" id="{DE9525D3-A538-45FC-AAA1-4054A21A9DFB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ector recto 29">
                  <a:extLst>
                    <a:ext uri="{FF2B5EF4-FFF2-40B4-BE49-F238E27FC236}">
                      <a16:creationId xmlns:a16="http://schemas.microsoft.com/office/drawing/2014/main" id="{232BCC2E-E1AF-4935-B735-00FD0C6B02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5D1BE21-65F7-4999-8E40-A64C2FAA1DF7}"/>
                  </a:ext>
                </a:extLst>
              </p:cNvPr>
              <p:cNvSpPr txBox="1"/>
              <p:nvPr/>
            </p:nvSpPr>
            <p:spPr>
              <a:xfrm>
                <a:off x="9216121" y="4679160"/>
                <a:ext cx="700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Block</a:t>
                </a:r>
              </a:p>
            </p:txBody>
          </p:sp>
        </p:grpSp>
        <p:cxnSp>
          <p:nvCxnSpPr>
            <p:cNvPr id="22" name="Conector: angular 21">
              <a:extLst>
                <a:ext uri="{FF2B5EF4-FFF2-40B4-BE49-F238E27FC236}">
                  <a16:creationId xmlns:a16="http://schemas.microsoft.com/office/drawing/2014/main" id="{76B47ACD-87BB-4060-A7BF-8B402084C73E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10705511" y="3468317"/>
              <a:ext cx="1002052" cy="2063656"/>
            </a:xfrm>
            <a:prstGeom prst="bentConnector4">
              <a:avLst>
                <a:gd name="adj1" fmla="val -22813"/>
                <a:gd name="adj2" fmla="val 9995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3E6A6E55-9F85-4AEB-825C-E9370D8CFD70}"/>
                </a:ext>
              </a:extLst>
            </p:cNvPr>
            <p:cNvGrpSpPr/>
            <p:nvPr/>
          </p:nvGrpSpPr>
          <p:grpSpPr>
            <a:xfrm>
              <a:off x="6212401" y="3478226"/>
              <a:ext cx="2179556" cy="2053746"/>
              <a:chOff x="5610263" y="3233123"/>
              <a:chExt cx="2179556" cy="2053746"/>
            </a:xfrm>
          </p:grpSpPr>
          <p:cxnSp>
            <p:nvCxnSpPr>
              <p:cNvPr id="24" name="Conector: angular 23">
                <a:extLst>
                  <a:ext uri="{FF2B5EF4-FFF2-40B4-BE49-F238E27FC236}">
                    <a16:creationId xmlns:a16="http://schemas.microsoft.com/office/drawing/2014/main" id="{17A351FD-55C9-4AFA-B73A-304A2A212E6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610264" y="3233123"/>
                <a:ext cx="2179555" cy="2053746"/>
              </a:xfrm>
              <a:prstGeom prst="bentConnector3">
                <a:avLst>
                  <a:gd name="adj1" fmla="val 10011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7D1F614A-A86D-403E-BED5-8CD48AFFBA9A}"/>
                  </a:ext>
                </a:extLst>
              </p:cNvPr>
              <p:cNvCxnSpPr/>
              <p:nvPr/>
            </p:nvCxnSpPr>
            <p:spPr>
              <a:xfrm>
                <a:off x="5610263" y="3233123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36" name="Google Shape;436;p35"/>
          <p:cNvSpPr txBox="1">
            <a:spLocks noGrp="1"/>
          </p:cNvSpPr>
          <p:nvPr>
            <p:ph type="body" idx="1"/>
          </p:nvPr>
        </p:nvSpPr>
        <p:spPr>
          <a:xfrm>
            <a:off x="280378" y="927630"/>
            <a:ext cx="11165843" cy="10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Suposiciones iniciales</a:t>
            </a:r>
            <a:r>
              <a:rPr lang="es-ES" sz="2400" dirty="0">
                <a:latin typeface="+mn-lt"/>
              </a:rPr>
              <a:t>: Son “ideales y poco realistas”.</a:t>
            </a:r>
            <a:endParaRPr sz="3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4"/>
            </a:pPr>
            <a:r>
              <a:rPr lang="es-ES" sz="2200" dirty="0">
                <a:latin typeface="+mn-lt"/>
              </a:rPr>
              <a:t>Todos los trabajos solo usan la CPU (no I/O).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437" name="Google Shape;437;p35"/>
          <p:cNvGrpSpPr/>
          <p:nvPr/>
        </p:nvGrpSpPr>
        <p:grpSpPr>
          <a:xfrm>
            <a:off x="141518" y="1859982"/>
            <a:ext cx="5145700" cy="3818750"/>
            <a:chOff x="1158027" y="2440550"/>
            <a:chExt cx="5145700" cy="3818750"/>
          </a:xfrm>
        </p:grpSpPr>
        <p:sp>
          <p:nvSpPr>
            <p:cNvPr id="438" name="Google Shape;438;p35"/>
            <p:cNvSpPr/>
            <p:nvPr/>
          </p:nvSpPr>
          <p:spPr>
            <a:xfrm>
              <a:off x="1686225" y="2817175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4433700" y="2886950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3032425" y="4925800"/>
              <a:ext cx="1269900" cy="13335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Block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41" name="Google Shape;441;p35"/>
            <p:cNvCxnSpPr>
              <a:stCxn id="438" idx="7"/>
              <a:endCxn id="439" idx="1"/>
            </p:cNvCxnSpPr>
            <p:nvPr/>
          </p:nvCxnSpPr>
          <p:spPr>
            <a:xfrm rot="-5400000" flipH="1">
              <a:off x="3659952" y="2122662"/>
              <a:ext cx="69900" cy="1849500"/>
            </a:xfrm>
            <a:prstGeom prst="curvedConnector3">
              <a:avLst>
                <a:gd name="adj1" fmla="val -35205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2" name="Google Shape;442;p35"/>
            <p:cNvCxnSpPr>
              <a:stCxn id="439" idx="3"/>
              <a:endCxn id="438" idx="5"/>
            </p:cNvCxnSpPr>
            <p:nvPr/>
          </p:nvCxnSpPr>
          <p:spPr>
            <a:xfrm rot="5400000" flipH="1">
              <a:off x="3659973" y="3065463"/>
              <a:ext cx="69900" cy="1849500"/>
            </a:xfrm>
            <a:prstGeom prst="curvedConnector3">
              <a:avLst>
                <a:gd name="adj1" fmla="val -343078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3" name="Google Shape;443;p35"/>
            <p:cNvCxnSpPr>
              <a:stCxn id="439" idx="4"/>
              <a:endCxn id="440" idx="6"/>
            </p:cNvCxnSpPr>
            <p:nvPr/>
          </p:nvCxnSpPr>
          <p:spPr>
            <a:xfrm rot="5400000">
              <a:off x="3999450" y="4523450"/>
              <a:ext cx="1372200" cy="7662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4" name="Google Shape;444;p35"/>
            <p:cNvCxnSpPr>
              <a:stCxn id="440" idx="2"/>
              <a:endCxn id="438" idx="4"/>
            </p:cNvCxnSpPr>
            <p:nvPr/>
          </p:nvCxnSpPr>
          <p:spPr>
            <a:xfrm rot="10800000">
              <a:off x="2321125" y="4150750"/>
              <a:ext cx="711300" cy="1441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5" name="Google Shape;445;p35"/>
            <p:cNvSpPr txBox="1"/>
            <p:nvPr/>
          </p:nvSpPr>
          <p:spPr>
            <a:xfrm>
              <a:off x="2909674" y="2440550"/>
              <a:ext cx="152402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6" name="Google Shape;446;p35"/>
            <p:cNvSpPr txBox="1"/>
            <p:nvPr/>
          </p:nvSpPr>
          <p:spPr>
            <a:xfrm>
              <a:off x="2770152" y="4207750"/>
              <a:ext cx="184950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7" name="Google Shape;447;p35"/>
            <p:cNvSpPr txBox="1"/>
            <p:nvPr/>
          </p:nvSpPr>
          <p:spPr>
            <a:xfrm>
              <a:off x="4819927" y="4671788"/>
              <a:ext cx="1483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I/O or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urier New"/>
                  <a:ea typeface="Courier New"/>
                  <a:cs typeface="Courier New"/>
                  <a:sym typeface="Courier New"/>
                </a:rPr>
                <a:t>event wait</a:t>
              </a:r>
              <a:endParaRPr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48" name="Google Shape;448;p35"/>
            <p:cNvSpPr txBox="1"/>
            <p:nvPr/>
          </p:nvSpPr>
          <p:spPr>
            <a:xfrm>
              <a:off x="1158027" y="4571738"/>
              <a:ext cx="14838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completion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7906497" y="2502508"/>
            <a:ext cx="4017375" cy="2726085"/>
            <a:chOff x="7134525" y="2226572"/>
            <a:chExt cx="4017375" cy="2726085"/>
          </a:xfrm>
        </p:grpSpPr>
        <p:sp>
          <p:nvSpPr>
            <p:cNvPr id="450" name="Google Shape;450;p35"/>
            <p:cNvSpPr/>
            <p:nvPr/>
          </p:nvSpPr>
          <p:spPr>
            <a:xfrm>
              <a:off x="7134525" y="2880150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1" name="Google Shape;451;p35"/>
            <p:cNvSpPr/>
            <p:nvPr/>
          </p:nvSpPr>
          <p:spPr>
            <a:xfrm>
              <a:off x="9882000" y="2949925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52" name="Google Shape;452;p35"/>
            <p:cNvCxnSpPr>
              <a:stCxn id="450" idx="7"/>
              <a:endCxn id="451" idx="1"/>
            </p:cNvCxnSpPr>
            <p:nvPr/>
          </p:nvCxnSpPr>
          <p:spPr>
            <a:xfrm rot="-5400000" flipH="1">
              <a:off x="9108252" y="2185637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3" name="Google Shape;453;p35"/>
            <p:cNvCxnSpPr>
              <a:stCxn id="451" idx="3"/>
              <a:endCxn id="450" idx="5"/>
            </p:cNvCxnSpPr>
            <p:nvPr/>
          </p:nvCxnSpPr>
          <p:spPr>
            <a:xfrm rot="5400000" flipH="1">
              <a:off x="9108273" y="3128438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54" name="Google Shape;454;p35"/>
            <p:cNvSpPr txBox="1"/>
            <p:nvPr/>
          </p:nvSpPr>
          <p:spPr>
            <a:xfrm>
              <a:off x="8462850" y="2226572"/>
              <a:ext cx="1389293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5" name="Google Shape;455;p35"/>
            <p:cNvSpPr txBox="1"/>
            <p:nvPr/>
          </p:nvSpPr>
          <p:spPr>
            <a:xfrm>
              <a:off x="8247480" y="4521800"/>
              <a:ext cx="1789973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56" name="Google Shape;456;p35"/>
          <p:cNvSpPr/>
          <p:nvPr/>
        </p:nvSpPr>
        <p:spPr>
          <a:xfrm>
            <a:off x="5004418" y="3606651"/>
            <a:ext cx="2764041" cy="51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5"/>
          <p:cNvSpPr txBox="1"/>
          <p:nvPr/>
        </p:nvSpPr>
        <p:spPr>
          <a:xfrm>
            <a:off x="5632129" y="3251975"/>
            <a:ext cx="1549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Simplificación</a:t>
            </a:r>
            <a:endParaRPr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3A1C83-8863-4EB0-AE4C-A05FD6DB3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190" y="5098341"/>
            <a:ext cx="2614914" cy="151526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6063717-5BB4-4C5D-A83A-3002A0143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844" y="5478991"/>
            <a:ext cx="2755063" cy="827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6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Suposiciones de carga de trabajo </a:t>
            </a:r>
            <a:endParaRPr dirty="0"/>
          </a:p>
        </p:txBody>
      </p:sp>
      <p:sp>
        <p:nvSpPr>
          <p:cNvPr id="463" name="Google Shape;463;p36"/>
          <p:cNvSpPr txBox="1">
            <a:spLocks noGrp="1"/>
          </p:cNvSpPr>
          <p:nvPr>
            <p:ph type="body" idx="1"/>
          </p:nvPr>
        </p:nvSpPr>
        <p:spPr>
          <a:xfrm>
            <a:off x="420914" y="1102100"/>
            <a:ext cx="11107786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Suposiciones iniciales</a:t>
            </a:r>
            <a:r>
              <a:rPr lang="es-ES" sz="2400" dirty="0">
                <a:latin typeface="+mn-lt"/>
              </a:rPr>
              <a:t>: Son “ideales y poco realistas”.</a:t>
            </a:r>
            <a:endParaRPr sz="3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5"/>
            </a:pPr>
            <a:r>
              <a:rPr lang="es-ES" sz="2200" dirty="0">
                <a:latin typeface="+mn-lt"/>
              </a:rPr>
              <a:t>El tiempo de ejecución de cada trabajo es conocido (</a:t>
            </a:r>
            <a:r>
              <a:rPr lang="es-ES" sz="2200" b="1" dirty="0">
                <a:latin typeface="+mn-lt"/>
              </a:rPr>
              <a:t>runtime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464" name="Google Shape;464;p36"/>
          <p:cNvGraphicFramePr/>
          <p:nvPr>
            <p:extLst>
              <p:ext uri="{D42A27DB-BD31-4B8C-83A1-F6EECF244321}">
                <p14:modId xmlns:p14="http://schemas.microsoft.com/office/powerpoint/2010/main" val="3035574278"/>
              </p:ext>
            </p:extLst>
          </p:nvPr>
        </p:nvGraphicFramePr>
        <p:xfrm>
          <a:off x="5016400" y="3405981"/>
          <a:ext cx="3025625" cy="856225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Pn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5" name="Google Shape;465;p36"/>
          <p:cNvCxnSpPr/>
          <p:nvPr/>
        </p:nvCxnSpPr>
        <p:spPr>
          <a:xfrm>
            <a:off x="5013625" y="31482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6" name="Google Shape;466;p36"/>
          <p:cNvSpPr txBox="1"/>
          <p:nvPr/>
        </p:nvSpPr>
        <p:spPr>
          <a:xfrm>
            <a:off x="4140875" y="35190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8460150" y="439272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68" name="Google Shape;468;p36"/>
          <p:cNvCxnSpPr/>
          <p:nvPr/>
        </p:nvCxnSpPr>
        <p:spPr>
          <a:xfrm rot="10800000" flipH="1">
            <a:off x="6842158" y="4392125"/>
            <a:ext cx="600600" cy="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69" name="Google Shape;469;p36"/>
          <p:cNvCxnSpPr/>
          <p:nvPr/>
        </p:nvCxnSpPr>
        <p:spPr>
          <a:xfrm flipH="1">
            <a:off x="6836258" y="4285175"/>
            <a:ext cx="15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36"/>
          <p:cNvCxnSpPr/>
          <p:nvPr/>
        </p:nvCxnSpPr>
        <p:spPr>
          <a:xfrm flipH="1">
            <a:off x="7441333" y="4285175"/>
            <a:ext cx="1500" cy="15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71" name="Google Shape;471;p36" descr="T_{run}" title="MathEquation,#ff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307" y="4503725"/>
            <a:ext cx="484300" cy="2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857" y="4822431"/>
            <a:ext cx="523200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8"/>
          <p:cNvSpPr txBox="1">
            <a:spLocks noGrp="1"/>
          </p:cNvSpPr>
          <p:nvPr>
            <p:ph type="title"/>
          </p:nvPr>
        </p:nvSpPr>
        <p:spPr>
          <a:xfrm>
            <a:off x="377371" y="98106"/>
            <a:ext cx="10976429" cy="108039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planificación</a:t>
            </a:r>
            <a:endParaRPr dirty="0"/>
          </a:p>
        </p:txBody>
      </p:sp>
      <p:sp>
        <p:nvSpPr>
          <p:cNvPr id="484" name="Google Shape;484;p38"/>
          <p:cNvSpPr txBox="1">
            <a:spLocks noGrp="1"/>
          </p:cNvSpPr>
          <p:nvPr>
            <p:ph idx="1"/>
          </p:nvPr>
        </p:nvSpPr>
        <p:spPr>
          <a:xfrm>
            <a:off x="377371" y="912200"/>
            <a:ext cx="11257204" cy="24088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/>
              <a:t>Métrica</a:t>
            </a:r>
            <a:endParaRPr b="1" dirty="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200" dirty="0"/>
              <a:t>Una métrica es una medida de desempeño.</a:t>
            </a:r>
            <a:endParaRPr sz="22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200" dirty="0"/>
              <a:t>Métricas de desempeño usadas para scheduling:</a:t>
            </a:r>
            <a:endParaRPr sz="22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es-ES" sz="2200" dirty="0"/>
              <a:t>Turn around time.</a:t>
            </a:r>
            <a:endParaRPr sz="22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es-ES" sz="2200" dirty="0"/>
              <a:t>Fairness (equidad).</a:t>
            </a:r>
            <a:endParaRPr sz="22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es-ES" sz="2200" dirty="0"/>
              <a:t>Response time.</a:t>
            </a: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85" name="Google Shape;485;p38"/>
          <p:cNvGrpSpPr/>
          <p:nvPr/>
        </p:nvGrpSpPr>
        <p:grpSpPr>
          <a:xfrm>
            <a:off x="2118075" y="3833175"/>
            <a:ext cx="8371075" cy="2861100"/>
            <a:chOff x="2118075" y="3528375"/>
            <a:chExt cx="8371075" cy="2861100"/>
          </a:xfrm>
        </p:grpSpPr>
        <p:cxnSp>
          <p:nvCxnSpPr>
            <p:cNvPr id="486" name="Google Shape;486;p38"/>
            <p:cNvCxnSpPr/>
            <p:nvPr/>
          </p:nvCxnSpPr>
          <p:spPr>
            <a:xfrm>
              <a:off x="3829100" y="3528375"/>
              <a:ext cx="6404400" cy="1625700"/>
            </a:xfrm>
            <a:prstGeom prst="bentConnector3">
              <a:avLst>
                <a:gd name="adj1" fmla="val 5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87" name="Google Shape;487;p38"/>
            <p:cNvSpPr txBox="1"/>
            <p:nvPr/>
          </p:nvSpPr>
          <p:spPr>
            <a:xfrm>
              <a:off x="3068600" y="4086213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88" name="Google Shape;488;p38"/>
            <p:cNvSpPr txBox="1"/>
            <p:nvPr/>
          </p:nvSpPr>
          <p:spPr>
            <a:xfrm>
              <a:off x="9728650" y="523277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89" name="Google Shape;489;p38"/>
            <p:cNvCxnSpPr/>
            <p:nvPr/>
          </p:nvCxnSpPr>
          <p:spPr>
            <a:xfrm>
              <a:off x="4692700" y="3714775"/>
              <a:ext cx="3600" cy="20742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0" name="Google Shape;490;p38"/>
            <p:cNvSpPr/>
            <p:nvPr/>
          </p:nvSpPr>
          <p:spPr>
            <a:xfrm>
              <a:off x="4438750" y="5852175"/>
              <a:ext cx="507900" cy="53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6131225" y="4204575"/>
              <a:ext cx="1143000" cy="9495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2" name="Google Shape;492;p38"/>
            <p:cNvSpPr txBox="1"/>
            <p:nvPr/>
          </p:nvSpPr>
          <p:spPr>
            <a:xfrm>
              <a:off x="2118075" y="5232775"/>
              <a:ext cx="132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status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3" name="Google Shape;493;p38"/>
            <p:cNvSpPr txBox="1"/>
            <p:nvPr/>
          </p:nvSpPr>
          <p:spPr>
            <a:xfrm>
              <a:off x="3829100" y="523277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---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4" name="Google Shape;494;p38"/>
            <p:cNvSpPr txBox="1"/>
            <p:nvPr/>
          </p:nvSpPr>
          <p:spPr>
            <a:xfrm>
              <a:off x="4799400" y="5256825"/>
              <a:ext cx="114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F8A02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2000" b="1" dirty="0">
                <a:solidFill>
                  <a:srgbClr val="F8A02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95" name="Google Shape;495;p38"/>
            <p:cNvCxnSpPr/>
            <p:nvPr/>
          </p:nvCxnSpPr>
          <p:spPr>
            <a:xfrm>
              <a:off x="6127800" y="3790975"/>
              <a:ext cx="3600" cy="20742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6" name="Google Shape;496;p38"/>
            <p:cNvSpPr txBox="1"/>
            <p:nvPr/>
          </p:nvSpPr>
          <p:spPr>
            <a:xfrm>
              <a:off x="6259925" y="5232775"/>
              <a:ext cx="885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2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97" name="Google Shape;497;p38"/>
            <p:cNvCxnSpPr/>
            <p:nvPr/>
          </p:nvCxnSpPr>
          <p:spPr>
            <a:xfrm>
              <a:off x="7274050" y="3718425"/>
              <a:ext cx="3600" cy="20742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8" name="Google Shape;498;p38"/>
            <p:cNvSpPr txBox="1"/>
            <p:nvPr/>
          </p:nvSpPr>
          <p:spPr>
            <a:xfrm>
              <a:off x="7406175" y="525682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---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99" name="Google Shape;499;p38"/>
          <p:cNvSpPr/>
          <p:nvPr/>
        </p:nvSpPr>
        <p:spPr>
          <a:xfrm>
            <a:off x="7286975" y="4963475"/>
            <a:ext cx="1219200" cy="508000"/>
          </a:xfrm>
          <a:custGeom>
            <a:avLst/>
            <a:gdLst/>
            <a:ahLst/>
            <a:cxnLst/>
            <a:rect l="l" t="t" r="r" b="b"/>
            <a:pathLst>
              <a:path w="48768" h="20320" extrusionOk="0">
                <a:moveTo>
                  <a:pt x="0" y="20320"/>
                </a:moveTo>
                <a:lnTo>
                  <a:pt x="15240" y="0"/>
                </a:lnTo>
                <a:lnTo>
                  <a:pt x="48768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500" name="Google Shape;500;p38"/>
          <p:cNvSpPr/>
          <p:nvPr/>
        </p:nvSpPr>
        <p:spPr>
          <a:xfrm>
            <a:off x="6143975" y="3871275"/>
            <a:ext cx="2362200" cy="1600200"/>
          </a:xfrm>
          <a:custGeom>
            <a:avLst/>
            <a:gdLst/>
            <a:ahLst/>
            <a:cxnLst/>
            <a:rect l="l" t="t" r="r" b="b"/>
            <a:pathLst>
              <a:path w="94488" h="64008" extrusionOk="0">
                <a:moveTo>
                  <a:pt x="0" y="64008"/>
                </a:moveTo>
                <a:lnTo>
                  <a:pt x="28448" y="0"/>
                </a:lnTo>
                <a:lnTo>
                  <a:pt x="94488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501" name="Google Shape;501;p38"/>
          <p:cNvSpPr/>
          <p:nvPr/>
        </p:nvSpPr>
        <p:spPr>
          <a:xfrm>
            <a:off x="4721575" y="3261675"/>
            <a:ext cx="3784600" cy="2209800"/>
          </a:xfrm>
          <a:custGeom>
            <a:avLst/>
            <a:gdLst/>
            <a:ahLst/>
            <a:cxnLst/>
            <a:rect l="l" t="t" r="r" b="b"/>
            <a:pathLst>
              <a:path w="151384" h="88392" extrusionOk="0">
                <a:moveTo>
                  <a:pt x="0" y="88392"/>
                </a:moveTo>
                <a:lnTo>
                  <a:pt x="41656" y="508"/>
                </a:lnTo>
                <a:lnTo>
                  <a:pt x="151384" y="0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pic>
        <p:nvPicPr>
          <p:cNvPr id="502" name="Google Shape;502;p38" descr="T_{arrival}" title="MathEquation,#ff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700" y="3111500"/>
            <a:ext cx="962324" cy="34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8" descr="T_{firstrun}" title="MathEquation,#ff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700" y="3655526"/>
            <a:ext cx="1140124" cy="4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8" descr="T_{completion}" title="MathEquation,#ff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48700" y="4800600"/>
            <a:ext cx="1468824" cy="4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9"/>
          <p:cNvSpPr txBox="1">
            <a:spLocks noGrp="1"/>
          </p:cNvSpPr>
          <p:nvPr>
            <p:ph type="title"/>
          </p:nvPr>
        </p:nvSpPr>
        <p:spPr>
          <a:xfrm>
            <a:off x="420914" y="56182"/>
            <a:ext cx="10932886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planificación</a:t>
            </a:r>
            <a:endParaRPr dirty="0"/>
          </a:p>
        </p:txBody>
      </p:sp>
      <p:sp>
        <p:nvSpPr>
          <p:cNvPr id="510" name="Google Shape;510;p39"/>
          <p:cNvSpPr txBox="1">
            <a:spLocks noGrp="1"/>
          </p:cNvSpPr>
          <p:nvPr>
            <p:ph idx="1"/>
          </p:nvPr>
        </p:nvSpPr>
        <p:spPr>
          <a:xfrm>
            <a:off x="420914" y="944211"/>
            <a:ext cx="11269874" cy="10269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/>
              <a:t>Turnarround Time</a:t>
            </a:r>
            <a:endParaRPr sz="2400" b="1" dirty="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200" dirty="0"/>
              <a:t>Tiempo comprendido entre la llegada y la finalización de un proceso.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11" name="Google Shape;511;p39"/>
          <p:cNvGrpSpPr/>
          <p:nvPr/>
        </p:nvGrpSpPr>
        <p:grpSpPr>
          <a:xfrm>
            <a:off x="2174288" y="2171125"/>
            <a:ext cx="8371075" cy="3545950"/>
            <a:chOff x="2174288" y="2131800"/>
            <a:chExt cx="8371075" cy="3545950"/>
          </a:xfrm>
        </p:grpSpPr>
        <p:grpSp>
          <p:nvGrpSpPr>
            <p:cNvPr id="512" name="Google Shape;512;p39"/>
            <p:cNvGrpSpPr/>
            <p:nvPr/>
          </p:nvGrpSpPr>
          <p:grpSpPr>
            <a:xfrm>
              <a:off x="2174288" y="2131800"/>
              <a:ext cx="8371075" cy="2985925"/>
              <a:chOff x="2118075" y="3111500"/>
              <a:chExt cx="8371075" cy="2985925"/>
            </a:xfrm>
          </p:grpSpPr>
          <p:grpSp>
            <p:nvGrpSpPr>
              <p:cNvPr id="513" name="Google Shape;513;p39"/>
              <p:cNvGrpSpPr/>
              <p:nvPr/>
            </p:nvGrpSpPr>
            <p:grpSpPr>
              <a:xfrm>
                <a:off x="2118075" y="3261675"/>
                <a:ext cx="8371075" cy="2835750"/>
                <a:chOff x="2118075" y="2956875"/>
                <a:chExt cx="8371075" cy="2835750"/>
              </a:xfrm>
            </p:grpSpPr>
            <p:cxnSp>
              <p:nvCxnSpPr>
                <p:cNvPr id="514" name="Google Shape;514;p39"/>
                <p:cNvCxnSpPr/>
                <p:nvPr/>
              </p:nvCxnSpPr>
              <p:spPr>
                <a:xfrm>
                  <a:off x="3829100" y="3528375"/>
                  <a:ext cx="6404400" cy="1625700"/>
                </a:xfrm>
                <a:prstGeom prst="bentConnector3">
                  <a:avLst>
                    <a:gd name="adj1" fmla="val 54"/>
                  </a:avLst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515" name="Google Shape;515;p39"/>
                <p:cNvSpPr txBox="1"/>
                <p:nvPr/>
              </p:nvSpPr>
              <p:spPr>
                <a:xfrm>
                  <a:off x="3068600" y="4086213"/>
                  <a:ext cx="7605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CPU</a:t>
                  </a:r>
                  <a:endParaRPr sz="22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16" name="Google Shape;516;p39"/>
                <p:cNvSpPr txBox="1"/>
                <p:nvPr/>
              </p:nvSpPr>
              <p:spPr>
                <a:xfrm>
                  <a:off x="9728650" y="5232775"/>
                  <a:ext cx="7605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t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cxnSp>
              <p:nvCxnSpPr>
                <p:cNvPr id="517" name="Google Shape;517;p39"/>
                <p:cNvCxnSpPr/>
                <p:nvPr/>
              </p:nvCxnSpPr>
              <p:spPr>
                <a:xfrm>
                  <a:off x="4692700" y="3714775"/>
                  <a:ext cx="3600" cy="207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ED7D3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8" name="Google Shape;518;p39"/>
                <p:cNvSpPr/>
                <p:nvPr/>
              </p:nvSpPr>
              <p:spPr>
                <a:xfrm>
                  <a:off x="4440550" y="2956875"/>
                  <a:ext cx="507900" cy="537300"/>
                </a:xfrm>
                <a:prstGeom prst="ellipse">
                  <a:avLst/>
                </a:prstGeom>
                <a:solidFill>
                  <a:srgbClr val="C9DAF8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urier New"/>
                      <a:ea typeface="Courier New"/>
                      <a:cs typeface="Courier New"/>
                      <a:sym typeface="Courier New"/>
                    </a:rPr>
                    <a:t>A</a:t>
                  </a:r>
                  <a:endParaRPr sz="180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19" name="Google Shape;519;p39"/>
                <p:cNvSpPr/>
                <p:nvPr/>
              </p:nvSpPr>
              <p:spPr>
                <a:xfrm>
                  <a:off x="6131225" y="4204575"/>
                  <a:ext cx="1143000" cy="949500"/>
                </a:xfrm>
                <a:prstGeom prst="rect">
                  <a:avLst/>
                </a:prstGeom>
                <a:solidFill>
                  <a:srgbClr val="C9DAF8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>
                      <a:latin typeface="Courier New"/>
                      <a:ea typeface="Courier New"/>
                      <a:cs typeface="Courier New"/>
                      <a:sym typeface="Courier New"/>
                    </a:rPr>
                    <a:t>A</a:t>
                  </a:r>
                  <a:endParaRPr sz="220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0" name="Google Shape;520;p39"/>
                <p:cNvSpPr txBox="1"/>
                <p:nvPr/>
              </p:nvSpPr>
              <p:spPr>
                <a:xfrm>
                  <a:off x="2118075" y="5232775"/>
                  <a:ext cx="13299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status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1" name="Google Shape;521;p39"/>
                <p:cNvSpPr txBox="1"/>
                <p:nvPr/>
              </p:nvSpPr>
              <p:spPr>
                <a:xfrm>
                  <a:off x="3829100" y="5232775"/>
                  <a:ext cx="7605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---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2" name="Google Shape;522;p39"/>
                <p:cNvSpPr txBox="1"/>
                <p:nvPr/>
              </p:nvSpPr>
              <p:spPr>
                <a:xfrm>
                  <a:off x="4799400" y="5256825"/>
                  <a:ext cx="11430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 dirty="0">
                      <a:solidFill>
                        <a:srgbClr val="F8A02B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Ready</a:t>
                  </a:r>
                  <a:endParaRPr sz="2000" b="1" dirty="0">
                    <a:solidFill>
                      <a:srgbClr val="F8A02B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cxnSp>
              <p:nvCxnSpPr>
                <p:cNvPr id="523" name="Google Shape;523;p39"/>
                <p:cNvCxnSpPr/>
                <p:nvPr/>
              </p:nvCxnSpPr>
              <p:spPr>
                <a:xfrm>
                  <a:off x="6127800" y="3790975"/>
                  <a:ext cx="9300" cy="1932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B693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4" name="Google Shape;524;p39"/>
                <p:cNvSpPr txBox="1"/>
                <p:nvPr/>
              </p:nvSpPr>
              <p:spPr>
                <a:xfrm>
                  <a:off x="6259925" y="5232775"/>
                  <a:ext cx="8856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solidFill>
                        <a:srgbClr val="0B6937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Run</a:t>
                  </a:r>
                  <a:endParaRPr sz="2000" b="1">
                    <a:solidFill>
                      <a:srgbClr val="0B6937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cxnSp>
              <p:nvCxnSpPr>
                <p:cNvPr id="525" name="Google Shape;525;p39"/>
                <p:cNvCxnSpPr/>
                <p:nvPr/>
              </p:nvCxnSpPr>
              <p:spPr>
                <a:xfrm>
                  <a:off x="7274050" y="3718425"/>
                  <a:ext cx="3600" cy="207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B693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6" name="Google Shape;526;p39"/>
                <p:cNvSpPr txBox="1"/>
                <p:nvPr/>
              </p:nvSpPr>
              <p:spPr>
                <a:xfrm>
                  <a:off x="7406175" y="5256825"/>
                  <a:ext cx="7605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---</a:t>
                  </a:r>
                  <a:endParaRPr sz="2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527" name="Google Shape;527;p39"/>
              <p:cNvSpPr/>
              <p:nvPr/>
            </p:nvSpPr>
            <p:spPr>
              <a:xfrm>
                <a:off x="7286975" y="4963475"/>
                <a:ext cx="121920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48768" h="20320" extrusionOk="0">
                    <a:moveTo>
                      <a:pt x="0" y="20320"/>
                    </a:moveTo>
                    <a:lnTo>
                      <a:pt x="15240" y="0"/>
                    </a:lnTo>
                    <a:lnTo>
                      <a:pt x="48768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528" name="Google Shape;528;p39"/>
              <p:cNvSpPr/>
              <p:nvPr/>
            </p:nvSpPr>
            <p:spPr>
              <a:xfrm>
                <a:off x="6143975" y="3871275"/>
                <a:ext cx="23622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94488" h="64008" extrusionOk="0">
                    <a:moveTo>
                      <a:pt x="0" y="64008"/>
                    </a:moveTo>
                    <a:lnTo>
                      <a:pt x="28448" y="0"/>
                    </a:lnTo>
                    <a:lnTo>
                      <a:pt x="94488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529" name="Google Shape;529;p39"/>
              <p:cNvSpPr/>
              <p:nvPr/>
            </p:nvSpPr>
            <p:spPr>
              <a:xfrm>
                <a:off x="4721575" y="3261675"/>
                <a:ext cx="3784600" cy="2209800"/>
              </a:xfrm>
              <a:custGeom>
                <a:avLst/>
                <a:gdLst/>
                <a:ahLst/>
                <a:cxnLst/>
                <a:rect l="l" t="t" r="r" b="b"/>
                <a:pathLst>
                  <a:path w="151384" h="88392" extrusionOk="0">
                    <a:moveTo>
                      <a:pt x="0" y="88392"/>
                    </a:moveTo>
                    <a:lnTo>
                      <a:pt x="41656" y="508"/>
                    </a:lnTo>
                    <a:lnTo>
                      <a:pt x="151384" y="0"/>
                    </a:ln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pic>
            <p:nvPicPr>
              <p:cNvPr id="530" name="Google Shape;530;p39" descr="T_{arrival}" title="MathEquation,#ff000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648700" y="3111500"/>
                <a:ext cx="962324" cy="344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1" name="Google Shape;531;p39" descr="T_{firstrun}" title="MathEquation,#ff000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648700" y="3655526"/>
                <a:ext cx="1140124" cy="407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32" name="Google Shape;532;p39" descr="T_{completion}" title="MathEquation,#ff000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648700" y="4800600"/>
                <a:ext cx="1468824" cy="407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533" name="Google Shape;533;p39"/>
            <p:cNvCxnSpPr/>
            <p:nvPr/>
          </p:nvCxnSpPr>
          <p:spPr>
            <a:xfrm>
              <a:off x="4760050" y="5181350"/>
              <a:ext cx="2570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pic>
          <p:nvPicPr>
            <p:cNvPr id="534" name="Google Shape;534;p39" descr="T_{turnarround}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10825" y="5308600"/>
              <a:ext cx="1668550" cy="369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5" name="Google Shape;535;p39"/>
          <p:cNvGrpSpPr/>
          <p:nvPr/>
        </p:nvGrpSpPr>
        <p:grpSpPr>
          <a:xfrm>
            <a:off x="1998375" y="5922851"/>
            <a:ext cx="8054100" cy="712500"/>
            <a:chOff x="1892975" y="5850600"/>
            <a:chExt cx="8054100" cy="712500"/>
          </a:xfrm>
        </p:grpSpPr>
        <p:sp>
          <p:nvSpPr>
            <p:cNvPr id="536" name="Google Shape;536;p39"/>
            <p:cNvSpPr/>
            <p:nvPr/>
          </p:nvSpPr>
          <p:spPr>
            <a:xfrm>
              <a:off x="1892975" y="5850600"/>
              <a:ext cx="80541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37" name="Google Shape;537;p39" descr="T_{turnarround}=T_{completion}-T_{arrival}" title="MathEquation,#00000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294551" y="5919737"/>
              <a:ext cx="7067526" cy="574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1"/>
          <p:cNvSpPr txBox="1">
            <a:spLocks noGrp="1"/>
          </p:cNvSpPr>
          <p:nvPr>
            <p:ph type="title"/>
          </p:nvPr>
        </p:nvSpPr>
        <p:spPr>
          <a:xfrm>
            <a:off x="383457" y="96038"/>
            <a:ext cx="108881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Algoritmos de planificación de procesos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55" name="Google Shape;555;p41"/>
          <p:cNvSpPr txBox="1">
            <a:spLocks noGrp="1"/>
          </p:cNvSpPr>
          <p:nvPr>
            <p:ph type="body" idx="1"/>
          </p:nvPr>
        </p:nvSpPr>
        <p:spPr>
          <a:xfrm>
            <a:off x="487717" y="1045538"/>
            <a:ext cx="5746407" cy="57239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El planificador de procesos depende del algoritmo de planificación de procesos, el cual, basado en una política específica, asigna la CPU y mueve los diferentes trabajos a través del sistema.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Algoritmos (no todos) de planificación de procesos</a:t>
            </a:r>
            <a:endParaRPr sz="24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b="1" dirty="0" err="1"/>
              <a:t>First</a:t>
            </a:r>
            <a:r>
              <a:rPr lang="es-ES" sz="2200" b="1" dirty="0"/>
              <a:t>-Come, </a:t>
            </a:r>
            <a:r>
              <a:rPr lang="es-ES" sz="2200" b="1" dirty="0" err="1"/>
              <a:t>First-Served</a:t>
            </a:r>
            <a:r>
              <a:rPr lang="es-ES" sz="2200" b="1" dirty="0"/>
              <a:t> (FCFS)</a:t>
            </a:r>
            <a:r>
              <a:rPr lang="es-ES" sz="2200" dirty="0"/>
              <a:t>.</a:t>
            </a:r>
            <a:endParaRPr sz="22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b="1" dirty="0" err="1"/>
              <a:t>Shortest</a:t>
            </a:r>
            <a:r>
              <a:rPr lang="es-ES" sz="2200" b="1" dirty="0"/>
              <a:t> Job First (SJF)</a:t>
            </a:r>
            <a:r>
              <a:rPr lang="es-ES" sz="2200" dirty="0"/>
              <a:t>.</a:t>
            </a:r>
            <a:endParaRPr sz="22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b="1" dirty="0" err="1"/>
              <a:t>Shortest</a:t>
            </a:r>
            <a:r>
              <a:rPr lang="es-ES" sz="2200" b="1" dirty="0"/>
              <a:t> time </a:t>
            </a:r>
            <a:r>
              <a:rPr lang="es-ES" sz="2200" b="1" dirty="0" err="1"/>
              <a:t>to</a:t>
            </a:r>
            <a:r>
              <a:rPr lang="es-ES" sz="2200" b="1" dirty="0"/>
              <a:t> </a:t>
            </a:r>
            <a:r>
              <a:rPr lang="es-ES" sz="2200" b="1" dirty="0" err="1"/>
              <a:t>completion</a:t>
            </a:r>
            <a:r>
              <a:rPr lang="es-ES" sz="2200" b="1" dirty="0"/>
              <a:t> First (STCF)</a:t>
            </a:r>
            <a:r>
              <a:rPr lang="es-ES" sz="2200" dirty="0"/>
              <a:t>.</a:t>
            </a:r>
            <a:endParaRPr sz="22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b="1" dirty="0"/>
              <a:t>Round </a:t>
            </a:r>
            <a:r>
              <a:rPr lang="es-ES" sz="2200" b="1" dirty="0" err="1"/>
              <a:t>robin</a:t>
            </a:r>
            <a:r>
              <a:rPr lang="es-ES" sz="2200" b="1" dirty="0"/>
              <a:t> (RR)</a:t>
            </a:r>
            <a:r>
              <a:rPr lang="es-ES" sz="2200" dirty="0"/>
              <a:t>.</a:t>
            </a: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41"/>
          <p:cNvSpPr/>
          <p:nvPr/>
        </p:nvSpPr>
        <p:spPr>
          <a:xfrm>
            <a:off x="6930779" y="34290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7" name="Google Shape;557;p41"/>
          <p:cNvSpPr/>
          <p:nvPr/>
        </p:nvSpPr>
        <p:spPr>
          <a:xfrm>
            <a:off x="6937904" y="4469038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58" name="Google Shape;5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9829" y="3970663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4517" y="3189660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0" name="Google Shape;560;p41"/>
          <p:cNvCxnSpPr/>
          <p:nvPr/>
        </p:nvCxnSpPr>
        <p:spPr>
          <a:xfrm>
            <a:off x="7912979" y="3878800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61" name="Google Shape;561;p41"/>
          <p:cNvCxnSpPr/>
          <p:nvPr/>
        </p:nvCxnSpPr>
        <p:spPr>
          <a:xfrm>
            <a:off x="8784179" y="4469038"/>
            <a:ext cx="181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2" name="Google Shape;562;p41"/>
          <p:cNvSpPr/>
          <p:nvPr/>
        </p:nvSpPr>
        <p:spPr>
          <a:xfrm>
            <a:off x="8451982" y="3964450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63" name="Google Shape;563;p41"/>
          <p:cNvSpPr txBox="1"/>
          <p:nvPr/>
        </p:nvSpPr>
        <p:spPr>
          <a:xfrm>
            <a:off x="7952704" y="41753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4" name="Google Shape;564;p41"/>
          <p:cNvSpPr txBox="1"/>
          <p:nvPr/>
        </p:nvSpPr>
        <p:spPr>
          <a:xfrm>
            <a:off x="6934379" y="5394800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5" name="Google Shape;5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1856" y="2346721"/>
            <a:ext cx="731100" cy="6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10090704" y="1487763"/>
            <a:ext cx="258300" cy="2364000"/>
          </a:xfrm>
          <a:prstGeom prst="leftBrace">
            <a:avLst>
              <a:gd name="adj1" fmla="val 76994"/>
              <a:gd name="adj2" fmla="val 4985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1"/>
          <p:cNvSpPr/>
          <p:nvPr/>
        </p:nvSpPr>
        <p:spPr>
          <a:xfrm>
            <a:off x="10347229" y="1684950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FCFS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8" name="Google Shape;568;p41"/>
          <p:cNvSpPr/>
          <p:nvPr/>
        </p:nvSpPr>
        <p:spPr>
          <a:xfrm>
            <a:off x="10360554" y="2244925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SJF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9" name="Google Shape;569;p41"/>
          <p:cNvSpPr/>
          <p:nvPr/>
        </p:nvSpPr>
        <p:spPr>
          <a:xfrm>
            <a:off x="10360554" y="2780988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STCF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0" name="Google Shape;570;p41"/>
          <p:cNvSpPr/>
          <p:nvPr/>
        </p:nvSpPr>
        <p:spPr>
          <a:xfrm>
            <a:off x="10360554" y="3329000"/>
            <a:ext cx="9162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RR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2"/>
          <p:cNvSpPr txBox="1">
            <a:spLocks noGrp="1"/>
          </p:cNvSpPr>
          <p:nvPr>
            <p:ph type="title"/>
          </p:nvPr>
        </p:nvSpPr>
        <p:spPr>
          <a:xfrm>
            <a:off x="627477" y="287766"/>
            <a:ext cx="99979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-Come, First-Served (FCFS)</a:t>
            </a:r>
          </a:p>
        </p:txBody>
      </p:sp>
      <p:sp>
        <p:nvSpPr>
          <p:cNvPr id="579" name="Google Shape;579;p42"/>
          <p:cNvSpPr txBox="1">
            <a:spLocks noGrp="1"/>
          </p:cNvSpPr>
          <p:nvPr>
            <p:ph type="body" idx="1"/>
          </p:nvPr>
        </p:nvSpPr>
        <p:spPr>
          <a:xfrm>
            <a:off x="464462" y="1237267"/>
            <a:ext cx="11179598" cy="24498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Los procesos son manejados de acuerdo al tiempo de llegada.</a:t>
            </a:r>
            <a:endParaRPr sz="24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/>
              <a:t>El primer trabajo que llega, es el primero en ser atendido.</a:t>
            </a:r>
            <a:endParaRPr sz="22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Simple y fácil de implementar</a:t>
            </a:r>
            <a:endParaRPr sz="24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/>
              <a:t>Cola </a:t>
            </a:r>
            <a:r>
              <a:rPr lang="es-ES" sz="2200" b="1" dirty="0"/>
              <a:t>FIFO (First-In, First-Out)</a:t>
            </a:r>
            <a:r>
              <a:rPr lang="es-ES" sz="2200" dirty="0"/>
              <a:t>.</a:t>
            </a:r>
            <a:endParaRPr sz="22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/>
              <a:t>No apropiativo (Non preemptive</a:t>
            </a:r>
            <a:r>
              <a:rPr lang="es-ES" sz="2400" dirty="0"/>
              <a:t>): Solo se selecciona un nuevo proceso cuando el proceso anterior acaba.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3B3CCC0-FC4B-4CE8-AF4A-9B6A4B0768E0}"/>
              </a:ext>
            </a:extLst>
          </p:cNvPr>
          <p:cNvGrpSpPr/>
          <p:nvPr/>
        </p:nvGrpSpPr>
        <p:grpSpPr>
          <a:xfrm>
            <a:off x="3022600" y="4414559"/>
            <a:ext cx="5466824" cy="1206174"/>
            <a:chOff x="3022600" y="4414559"/>
            <a:chExt cx="5466824" cy="1206174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793C70B9-61DE-452C-8B56-CED7986801E1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E0D9FFBB-E63D-43CA-86F4-BA49106F91CB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D099C15-DCA1-4E84-9F77-55BBCC7DAAB0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65D2E28-AC64-4E20-938C-60C9768433C5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: angular 21">
              <a:extLst>
                <a:ext uri="{FF2B5EF4-FFF2-40B4-BE49-F238E27FC236}">
                  <a16:creationId xmlns:a16="http://schemas.microsoft.com/office/drawing/2014/main" id="{1D4F2B18-4B7A-4866-A6E7-6FDF2ED561E0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CEA03138-197A-4BC3-B642-EE9F81FA2213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70A763A7-B4C1-4D99-8C76-1CBE15BFE01F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D1C2EFB3-73F2-49C2-B2A5-C514BAF650D2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3" name="Conector recto 2">
                  <a:extLst>
                    <a:ext uri="{FF2B5EF4-FFF2-40B4-BE49-F238E27FC236}">
                      <a16:creationId xmlns:a16="http://schemas.microsoft.com/office/drawing/2014/main" id="{9D1B0D4D-FB17-492F-96A8-84C2195DB209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Conector recto 13">
                  <a:extLst>
                    <a:ext uri="{FF2B5EF4-FFF2-40B4-BE49-F238E27FC236}">
                      <a16:creationId xmlns:a16="http://schemas.microsoft.com/office/drawing/2014/main" id="{EBB33848-B2F6-475D-8269-EB34500717F3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Conector recto 14">
                  <a:extLst>
                    <a:ext uri="{FF2B5EF4-FFF2-40B4-BE49-F238E27FC236}">
                      <a16:creationId xmlns:a16="http://schemas.microsoft.com/office/drawing/2014/main" id="{9312B520-8CB2-41F1-8C9C-788FBE36E9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15CE9893-6104-443B-A96E-8EEAB0E69A66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3"/>
          <p:cNvSpPr txBox="1">
            <a:spLocks noGrp="1"/>
          </p:cNvSpPr>
          <p:nvPr>
            <p:ph type="body" idx="1"/>
          </p:nvPr>
        </p:nvSpPr>
        <p:spPr>
          <a:xfrm>
            <a:off x="381000" y="1056200"/>
            <a:ext cx="11140050" cy="219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400" b="1" dirty="0">
                <a:latin typeface="+mn-lt"/>
              </a:rPr>
              <a:t>Ejemplo</a:t>
            </a:r>
            <a:r>
              <a:rPr lang="es-MX" sz="2400" dirty="0">
                <a:latin typeface="+mn-lt"/>
              </a:rPr>
              <a:t>: Suponga que se tiene una situación en la que: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Tres procesos llegan a un sistema (A, B y C)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Llegan en el tiempo 0 en el orden: A - B – C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Cada proceso se ejecuta por 10 segundos.</a:t>
            </a:r>
            <a:endParaRPr lang="es-CO" sz="2200" dirty="0">
              <a:latin typeface="+mn-lt"/>
            </a:endParaRP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s-CO" sz="2200" b="1" dirty="0">
              <a:latin typeface="+mn-lt"/>
            </a:endParaRP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r>
              <a:rPr lang="es-ES" sz="2200" b="1" dirty="0">
                <a:latin typeface="+mn-lt"/>
              </a:rPr>
              <a:t>¿Cual es el turnarround time promedio?</a:t>
            </a: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89" name="Google Shape;589;p43"/>
          <p:cNvGraphicFramePr/>
          <p:nvPr>
            <p:extLst>
              <p:ext uri="{D42A27DB-BD31-4B8C-83A1-F6EECF244321}">
                <p14:modId xmlns:p14="http://schemas.microsoft.com/office/powerpoint/2010/main" val="3968792923"/>
              </p:ext>
            </p:extLst>
          </p:nvPr>
        </p:nvGraphicFramePr>
        <p:xfrm>
          <a:off x="1873550" y="3501759"/>
          <a:ext cx="4586850" cy="19506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</a:rPr>
                        <a:t>Proceso</a:t>
                      </a:r>
                      <a:endParaRPr sz="2000"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</a:rPr>
                        <a:t>Arrival time</a:t>
                      </a:r>
                      <a:endParaRPr sz="2000"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</a:rPr>
                        <a:t>Run-time</a:t>
                      </a:r>
                      <a:endParaRPr sz="2000"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</a:rPr>
                        <a:t>A</a:t>
                      </a:r>
                      <a:endParaRPr sz="20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</a:rPr>
                        <a:t>0</a:t>
                      </a:r>
                      <a:endParaRPr sz="20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</a:rPr>
                        <a:t>10</a:t>
                      </a:r>
                      <a:endParaRPr sz="20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</a:rPr>
                        <a:t>B</a:t>
                      </a:r>
                      <a:endParaRPr sz="20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</a:rPr>
                        <a:t>0</a:t>
                      </a:r>
                      <a:endParaRPr sz="20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</a:rPr>
                        <a:t>10</a:t>
                      </a:r>
                      <a:endParaRPr sz="20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</a:rPr>
                        <a:t>C</a:t>
                      </a:r>
                      <a:endParaRPr sz="20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</a:rPr>
                        <a:t>0</a:t>
                      </a:r>
                      <a:endParaRPr sz="20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</a:rPr>
                        <a:t>10</a:t>
                      </a:r>
                      <a:endParaRPr sz="20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0" name="Google Shape;590;p43"/>
          <p:cNvSpPr txBox="1"/>
          <p:nvPr/>
        </p:nvSpPr>
        <p:spPr>
          <a:xfrm>
            <a:off x="7365081" y="4015899"/>
            <a:ext cx="3677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/>
              <a:t>Orden de llegada</a:t>
            </a:r>
            <a:r>
              <a:rPr lang="es-ES" sz="2000" dirty="0"/>
              <a:t>: </a:t>
            </a:r>
            <a:endParaRPr sz="20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urier New"/>
                <a:ea typeface="Courier New"/>
                <a:cs typeface="Courier New"/>
                <a:sym typeface="Courier New"/>
              </a:rPr>
              <a:t>A - B - C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" name="Google Shape;578;p42">
            <a:extLst>
              <a:ext uri="{FF2B5EF4-FFF2-40B4-BE49-F238E27FC236}">
                <a16:creationId xmlns:a16="http://schemas.microsoft.com/office/drawing/2014/main" id="{C49B38B3-D520-4C46-9193-4AC1ADE89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240" y="106700"/>
            <a:ext cx="99979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First-Served (FCFS)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4"/>
          <p:cNvSpPr txBox="1">
            <a:spLocks noGrp="1"/>
          </p:cNvSpPr>
          <p:nvPr>
            <p:ph type="title"/>
          </p:nvPr>
        </p:nvSpPr>
        <p:spPr>
          <a:xfrm>
            <a:off x="824250" y="10668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First-Served (FCFS)</a:t>
            </a:r>
            <a:endParaRPr dirty="0"/>
          </a:p>
        </p:txBody>
      </p:sp>
      <p:graphicFrame>
        <p:nvGraphicFramePr>
          <p:cNvPr id="601" name="Google Shape;601;p44"/>
          <p:cNvGraphicFramePr/>
          <p:nvPr>
            <p:extLst>
              <p:ext uri="{D42A27DB-BD31-4B8C-83A1-F6EECF244321}">
                <p14:modId xmlns:p14="http://schemas.microsoft.com/office/powerpoint/2010/main" val="1592413350"/>
              </p:ext>
            </p:extLst>
          </p:nvPr>
        </p:nvGraphicFramePr>
        <p:xfrm>
          <a:off x="7453319" y="1801523"/>
          <a:ext cx="4005150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33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8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29530204-40A6-4D0D-ACE4-D11C757296DF}"/>
              </a:ext>
            </a:extLst>
          </p:cNvPr>
          <p:cNvGrpSpPr/>
          <p:nvPr/>
        </p:nvGrpSpPr>
        <p:grpSpPr>
          <a:xfrm>
            <a:off x="911582" y="1790351"/>
            <a:ext cx="5466824" cy="1206174"/>
            <a:chOff x="3022600" y="4414559"/>
            <a:chExt cx="5466824" cy="1206174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22506169-DB33-4DC4-9E43-25EA8FA791FC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0C506896-3429-42AB-9AD3-4ED28E0B5ED0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C183EB4D-1BB0-476D-B73A-FA27E6EABD56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A806F6FB-86FA-4F43-B367-ECD1EA5C6F2E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: angular 11">
              <a:extLst>
                <a:ext uri="{FF2B5EF4-FFF2-40B4-BE49-F238E27FC236}">
                  <a16:creationId xmlns:a16="http://schemas.microsoft.com/office/drawing/2014/main" id="{E0AEC68B-447B-408F-963A-1AEEB61E2AB4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D82322D4-F82F-44E3-B53D-D907EA146AD0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44ACBB2B-1507-4E82-A33D-18D0C7D6EADC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0F59A2DE-C4AE-45D7-8286-7BE7B10E1CD4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17" name="Conector recto 16">
                  <a:extLst>
                    <a:ext uri="{FF2B5EF4-FFF2-40B4-BE49-F238E27FC236}">
                      <a16:creationId xmlns:a16="http://schemas.microsoft.com/office/drawing/2014/main" id="{2725D0C9-A732-4B10-B13F-575FD34B7561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ector recto 17">
                  <a:extLst>
                    <a:ext uri="{FF2B5EF4-FFF2-40B4-BE49-F238E27FC236}">
                      <a16:creationId xmlns:a16="http://schemas.microsoft.com/office/drawing/2014/main" id="{7077ECFD-B9AD-46A9-9CB5-C4C098E40E99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Conector recto 18">
                  <a:extLst>
                    <a:ext uri="{FF2B5EF4-FFF2-40B4-BE49-F238E27FC236}">
                      <a16:creationId xmlns:a16="http://schemas.microsoft.com/office/drawing/2014/main" id="{A46E5D0C-7993-4933-B05E-8EB95390F2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3EB2880-3D15-4C51-9289-204B0FA62FDD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9AD1AD9-DC22-4314-AF83-79C617D4FF4A}"/>
              </a:ext>
            </a:extLst>
          </p:cNvPr>
          <p:cNvGrpSpPr/>
          <p:nvPr/>
        </p:nvGrpSpPr>
        <p:grpSpPr>
          <a:xfrm>
            <a:off x="768333" y="3861475"/>
            <a:ext cx="9828360" cy="1415826"/>
            <a:chOff x="739934" y="5150492"/>
            <a:chExt cx="9828360" cy="1415826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CFC2CBAB-6922-415F-8C73-2FF3681048D5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59A97350-1858-4B27-BED8-2B40BED02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de flecha 25">
                <a:extLst>
                  <a:ext uri="{FF2B5EF4-FFF2-40B4-BE49-F238E27FC236}">
                    <a16:creationId xmlns:a16="http://schemas.microsoft.com/office/drawing/2014/main" id="{3BFD3FD0-7BED-4699-9059-B3042761B0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19A4752-8B5F-451C-9EDA-97D58E9D603F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FD53FDD9-E451-4DC7-B14A-88A5EF432AD3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B13B13AA-D54E-49D5-BC8C-04F030F9286C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1EEB6090-5454-4B79-A56D-151F2C4AA742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C6535C3B-207D-4DD9-99B5-4FE584199EFD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5D489B30-41AB-4E54-890C-C3BC414DA8A0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2CF81E98-6A1A-4071-BC5E-0BCBC6F3190C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004297C9-C555-4C1A-A5F2-69900410019B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3750F962-57EA-4989-87A8-6846D36C2FC7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4CDDB22-3BDF-418F-ACC1-10A4C68B025D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66F376F-0141-4B57-8157-4A781E2C007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4201B37D-E227-48CF-976E-7181EB68A2AA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D9D1115-6B9B-48C7-8339-C848828DB9B5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37AFBE39-12EF-4F06-831E-D07B1549E462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CC2C2832-CA72-41C0-8371-A41BC1888A5E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2852F758-44AC-413F-883F-EC7AAF92E103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D1EFD141-92C4-4CB5-83B7-E4C636A6EF7B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804AA0B0-392B-4B44-93E8-D9EEE43FA598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B4F3B15F-A7A5-447B-B94D-100D2120E2EE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E129950A-7082-4D99-B0A3-D0DF36C2D426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8AB53322-8190-475B-9D1E-2A163C4AC36F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1A87D3DC-FDC9-4190-8497-76A93FF1C34B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45E4F622-7D90-45E2-9FEA-2A9247A9E3BB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366DEE4A-1ADC-43C1-B132-9AFCAB6D8FBA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0FC24EBD-31BB-4839-9A98-B61554DC232D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1620A9EB-3317-40B6-9DE5-3723451FBC8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A49FAECB-030A-4C4D-9F01-8D90A1975AFC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FD042D86-8FA4-49D1-ADB2-AD9FBBBFA707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2681CDE9-B6C6-466A-B552-37D322A50DC3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F73291F-7204-4516-AF51-A3C53626528E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First-Served (FCFS)</a:t>
            </a:r>
            <a:endParaRPr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35457D7-7F84-4C16-B1CC-858C4993A652}"/>
              </a:ext>
            </a:extLst>
          </p:cNvPr>
          <p:cNvGrpSpPr/>
          <p:nvPr/>
        </p:nvGrpSpPr>
        <p:grpSpPr>
          <a:xfrm>
            <a:off x="846510" y="3360835"/>
            <a:ext cx="4442710" cy="1389748"/>
            <a:chOff x="600834" y="3429000"/>
            <a:chExt cx="4442710" cy="1389748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34538D30-9912-4919-81B2-7A774A6D226A}"/>
                </a:ext>
              </a:extLst>
            </p:cNvPr>
            <p:cNvGrpSpPr/>
            <p:nvPr/>
          </p:nvGrpSpPr>
          <p:grpSpPr>
            <a:xfrm>
              <a:off x="738315" y="3429000"/>
              <a:ext cx="4121937" cy="1018645"/>
              <a:chOff x="6286570" y="5198935"/>
              <a:chExt cx="5431073" cy="1159915"/>
            </a:xfrm>
          </p:grpSpPr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956A3EED-B6C1-4453-B249-44779BB9E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de flecha 46">
                <a:extLst>
                  <a:ext uri="{FF2B5EF4-FFF2-40B4-BE49-F238E27FC236}">
                    <a16:creationId xmlns:a16="http://schemas.microsoft.com/office/drawing/2014/main" id="{BEEF167E-298E-40E9-9155-6C9C9CBBC6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A9DDCAFD-E20B-47AB-B0A5-62AD59661877}"/>
                </a:ext>
              </a:extLst>
            </p:cNvPr>
            <p:cNvSpPr txBox="1"/>
            <p:nvPr/>
          </p:nvSpPr>
          <p:spPr>
            <a:xfrm>
              <a:off x="4689047" y="4432213"/>
              <a:ext cx="354497" cy="367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10F6CF4-3289-4A68-8DF9-837C6F97EBAB}"/>
                </a:ext>
              </a:extLst>
            </p:cNvPr>
            <p:cNvCxnSpPr/>
            <p:nvPr/>
          </p:nvCxnSpPr>
          <p:spPr>
            <a:xfrm>
              <a:off x="1663133" y="435824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FFC02D04-9148-4009-B34F-9E804E754402}"/>
                </a:ext>
              </a:extLst>
            </p:cNvPr>
            <p:cNvCxnSpPr/>
            <p:nvPr/>
          </p:nvCxnSpPr>
          <p:spPr>
            <a:xfrm>
              <a:off x="1199478" y="435824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C153DCFF-385E-4058-B565-6A3DEB2029BC}"/>
                </a:ext>
              </a:extLst>
            </p:cNvPr>
            <p:cNvCxnSpPr/>
            <p:nvPr/>
          </p:nvCxnSpPr>
          <p:spPr>
            <a:xfrm>
              <a:off x="2577533" y="436776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B1837F4E-6338-46E4-B473-F295E59EC710}"/>
                </a:ext>
              </a:extLst>
            </p:cNvPr>
            <p:cNvCxnSpPr/>
            <p:nvPr/>
          </p:nvCxnSpPr>
          <p:spPr>
            <a:xfrm>
              <a:off x="2113878" y="436776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C792CB19-4BA1-46BE-AB80-0FE72CEE7E4A}"/>
                </a:ext>
              </a:extLst>
            </p:cNvPr>
            <p:cNvCxnSpPr/>
            <p:nvPr/>
          </p:nvCxnSpPr>
          <p:spPr>
            <a:xfrm>
              <a:off x="3497820" y="436776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04792ACB-1EEA-45E4-87A6-453A51432128}"/>
                </a:ext>
              </a:extLst>
            </p:cNvPr>
            <p:cNvCxnSpPr/>
            <p:nvPr/>
          </p:nvCxnSpPr>
          <p:spPr>
            <a:xfrm>
              <a:off x="3034165" y="436776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4B76D493-495A-4D3B-B215-5131E94365B4}"/>
                </a:ext>
              </a:extLst>
            </p:cNvPr>
            <p:cNvCxnSpPr>
              <a:cxnSpLocks/>
            </p:cNvCxnSpPr>
            <p:nvPr/>
          </p:nvCxnSpPr>
          <p:spPr>
            <a:xfrm>
              <a:off x="4403621" y="436776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990BCF57-7FDD-48A9-A110-C35673833496}"/>
                </a:ext>
              </a:extLst>
            </p:cNvPr>
            <p:cNvCxnSpPr>
              <a:cxnSpLocks/>
            </p:cNvCxnSpPr>
            <p:nvPr/>
          </p:nvCxnSpPr>
          <p:spPr>
            <a:xfrm>
              <a:off x="3939966" y="436776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4AB5CECC-A1F7-44A4-AFEF-407B3FDBDD28}"/>
                </a:ext>
              </a:extLst>
            </p:cNvPr>
            <p:cNvSpPr txBox="1"/>
            <p:nvPr/>
          </p:nvSpPr>
          <p:spPr>
            <a:xfrm>
              <a:off x="600834" y="449161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B35F7E1B-C1C9-4A63-B0CE-2C5949F21019}"/>
                </a:ext>
              </a:extLst>
            </p:cNvPr>
            <p:cNvSpPr txBox="1"/>
            <p:nvPr/>
          </p:nvSpPr>
          <p:spPr>
            <a:xfrm>
              <a:off x="1490193" y="450296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E7B99E82-9584-4EF5-84EB-D6B091873DCD}"/>
                </a:ext>
              </a:extLst>
            </p:cNvPr>
            <p:cNvSpPr txBox="1"/>
            <p:nvPr/>
          </p:nvSpPr>
          <p:spPr>
            <a:xfrm>
              <a:off x="2404877" y="450296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B2ECFCEE-D18C-4805-AB11-91F1E87D23E1}"/>
                </a:ext>
              </a:extLst>
            </p:cNvPr>
            <p:cNvSpPr txBox="1"/>
            <p:nvPr/>
          </p:nvSpPr>
          <p:spPr>
            <a:xfrm>
              <a:off x="3325993" y="451097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30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6399546-94FA-43D9-8B11-C871756C1C7F}"/>
                </a:ext>
              </a:extLst>
            </p:cNvPr>
            <p:cNvSpPr txBox="1"/>
            <p:nvPr/>
          </p:nvSpPr>
          <p:spPr>
            <a:xfrm>
              <a:off x="4220329" y="450296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EDBC44E3-A9A1-4D4C-83E4-B5BB6D51E3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415550"/>
                  </p:ext>
                </p:extLst>
              </p:nvPr>
            </p:nvGraphicFramePr>
            <p:xfrm>
              <a:off x="9406554" y="959525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EDBC44E3-A9A1-4D4C-83E4-B5BB6D51E3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415550"/>
                  </p:ext>
                </p:extLst>
              </p:nvPr>
            </p:nvGraphicFramePr>
            <p:xfrm>
              <a:off x="9406554" y="959525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042" t="-8197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466973AF-ADF9-4932-9D0F-3171D103F0D2}"/>
              </a:ext>
            </a:extLst>
          </p:cNvPr>
          <p:cNvGrpSpPr/>
          <p:nvPr/>
        </p:nvGrpSpPr>
        <p:grpSpPr>
          <a:xfrm>
            <a:off x="1333559" y="1100857"/>
            <a:ext cx="5124913" cy="1012282"/>
            <a:chOff x="3022600" y="4248863"/>
            <a:chExt cx="5124913" cy="1371871"/>
          </a:xfrm>
        </p:grpSpPr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14D01CBF-2F4C-4E12-9BC6-62CF4E359103}"/>
                </a:ext>
              </a:extLst>
            </p:cNvPr>
            <p:cNvGrpSpPr/>
            <p:nvPr/>
          </p:nvGrpSpPr>
          <p:grpSpPr>
            <a:xfrm>
              <a:off x="7566904" y="4280072"/>
              <a:ext cx="580609" cy="1340661"/>
              <a:chOff x="1572367" y="2355985"/>
              <a:chExt cx="580609" cy="1340661"/>
            </a:xfrm>
          </p:grpSpPr>
          <p:sp>
            <p:nvSpPr>
              <p:cNvPr id="78" name="Rectángulo 77">
                <a:extLst>
                  <a:ext uri="{FF2B5EF4-FFF2-40B4-BE49-F238E27FC236}">
                    <a16:creationId xmlns:a16="http://schemas.microsoft.com/office/drawing/2014/main" id="{8368FF24-87FE-4D8A-8DA8-5B187FACC083}"/>
                  </a:ext>
                </a:extLst>
              </p:cNvPr>
              <p:cNvSpPr/>
              <p:nvPr/>
            </p:nvSpPr>
            <p:spPr>
              <a:xfrm>
                <a:off x="1572367" y="2870977"/>
                <a:ext cx="580609" cy="8256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628A5CA9-E770-4E84-9F99-4415FA97B0B9}"/>
                  </a:ext>
                </a:extLst>
              </p:cNvPr>
              <p:cNvSpPr txBox="1"/>
              <p:nvPr/>
            </p:nvSpPr>
            <p:spPr>
              <a:xfrm>
                <a:off x="1572368" y="2355985"/>
                <a:ext cx="580608" cy="369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69" name="Conector recto de flecha 68">
              <a:extLst>
                <a:ext uri="{FF2B5EF4-FFF2-40B4-BE49-F238E27FC236}">
                  <a16:creationId xmlns:a16="http://schemas.microsoft.com/office/drawing/2014/main" id="{89319BD3-AD9D-491F-B6DC-6807E1220E7B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6364357" y="5205105"/>
              <a:ext cx="1202547" cy="27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: angular 69">
              <a:extLst>
                <a:ext uri="{FF2B5EF4-FFF2-40B4-BE49-F238E27FC236}">
                  <a16:creationId xmlns:a16="http://schemas.microsoft.com/office/drawing/2014/main" id="{C5790D47-6FE6-4F94-A431-7CD5A4E4B419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rot="5400000" flipH="1">
              <a:off x="5734934" y="3498459"/>
              <a:ext cx="182038" cy="4062512"/>
            </a:xfrm>
            <a:prstGeom prst="bentConnector4">
              <a:avLst>
                <a:gd name="adj1" fmla="val -224902"/>
                <a:gd name="adj2" fmla="val 10640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de flecha 70">
              <a:extLst>
                <a:ext uri="{FF2B5EF4-FFF2-40B4-BE49-F238E27FC236}">
                  <a16:creationId xmlns:a16="http://schemas.microsoft.com/office/drawing/2014/main" id="{CD6C1006-0858-40F8-B81A-20E5B68F2D83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726B654B-85C9-4B9D-9F96-96A9B0DEA195}"/>
                </a:ext>
              </a:extLst>
            </p:cNvPr>
            <p:cNvGrpSpPr/>
            <p:nvPr/>
          </p:nvGrpSpPr>
          <p:grpSpPr>
            <a:xfrm>
              <a:off x="3934951" y="4248863"/>
              <a:ext cx="2480084" cy="1371870"/>
              <a:chOff x="3934951" y="4248863"/>
              <a:chExt cx="2480084" cy="1371870"/>
            </a:xfrm>
          </p:grpSpPr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1C619347-161E-421B-A6F5-382CE85C290F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75" name="Conector recto 74">
                  <a:extLst>
                    <a:ext uri="{FF2B5EF4-FFF2-40B4-BE49-F238E27FC236}">
                      <a16:creationId xmlns:a16="http://schemas.microsoft.com/office/drawing/2014/main" id="{3769F6FE-A712-4A67-AFA1-83B87A9BF2D5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Conector recto 75">
                  <a:extLst>
                    <a:ext uri="{FF2B5EF4-FFF2-40B4-BE49-F238E27FC236}">
                      <a16:creationId xmlns:a16="http://schemas.microsoft.com/office/drawing/2014/main" id="{A74ADEF3-F59D-4E81-9AF4-75C81BBEF5D6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Conector recto 76">
                  <a:extLst>
                    <a:ext uri="{FF2B5EF4-FFF2-40B4-BE49-F238E27FC236}">
                      <a16:creationId xmlns:a16="http://schemas.microsoft.com/office/drawing/2014/main" id="{5692DC93-B149-4F01-A8BC-48A168F0CC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08392B5C-9FB3-4B59-8B70-36AC2AAFF086}"/>
                  </a:ext>
                </a:extLst>
              </p:cNvPr>
              <p:cNvSpPr txBox="1"/>
              <p:nvPr/>
            </p:nvSpPr>
            <p:spPr>
              <a:xfrm>
                <a:off x="4858409" y="4248863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8197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Relajación de las suposiciones ideales</a:t>
            </a:r>
            <a:endParaRPr dirty="0"/>
          </a:p>
        </p:txBody>
      </p:sp>
      <p:sp>
        <p:nvSpPr>
          <p:cNvPr id="624" name="Google Shape;624;p46"/>
          <p:cNvSpPr txBox="1">
            <a:spLocks noGrp="1"/>
          </p:cNvSpPr>
          <p:nvPr>
            <p:ph type="body" idx="1"/>
          </p:nvPr>
        </p:nvSpPr>
        <p:spPr>
          <a:xfrm>
            <a:off x="444500" y="992244"/>
            <a:ext cx="11076550" cy="22879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son iniciados al mismo tiempo (arrival time).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Una vez iniciado, cada trabajo se ejecuta hasta su finalización.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solo usan la CPU (no I/O).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(runtime).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25" name="Google Shape;625;p46"/>
          <p:cNvGrpSpPr/>
          <p:nvPr/>
        </p:nvGrpSpPr>
        <p:grpSpPr>
          <a:xfrm>
            <a:off x="2770900" y="4196550"/>
            <a:ext cx="6526100" cy="1270013"/>
            <a:chOff x="2770900" y="4196550"/>
            <a:chExt cx="6526100" cy="1270013"/>
          </a:xfrm>
        </p:grpSpPr>
        <p:sp>
          <p:nvSpPr>
            <p:cNvPr id="626" name="Google Shape;626;p46"/>
            <p:cNvSpPr/>
            <p:nvPr/>
          </p:nvSpPr>
          <p:spPr>
            <a:xfrm>
              <a:off x="2770900" y="4196550"/>
              <a:ext cx="623400" cy="6489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1</a:t>
              </a:r>
              <a:endParaRPr sz="2000" b="1"/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4246575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2</a:t>
              </a:r>
              <a:endParaRPr sz="2000" b="1"/>
            </a:p>
          </p:txBody>
        </p:sp>
        <p:sp>
          <p:nvSpPr>
            <p:cNvPr id="628" name="Google Shape;628;p46"/>
            <p:cNvSpPr/>
            <p:nvPr/>
          </p:nvSpPr>
          <p:spPr>
            <a:xfrm>
              <a:off x="5722250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3</a:t>
              </a:r>
              <a:endParaRPr sz="2000" b="1"/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7197925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4</a:t>
              </a:r>
              <a:endParaRPr sz="2000" b="1"/>
            </a:p>
          </p:txBody>
        </p:sp>
        <p:sp>
          <p:nvSpPr>
            <p:cNvPr id="630" name="Google Shape;630;p46"/>
            <p:cNvSpPr/>
            <p:nvPr/>
          </p:nvSpPr>
          <p:spPr>
            <a:xfrm>
              <a:off x="8673600" y="4196550"/>
              <a:ext cx="623400" cy="6489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/>
                <a:t>5</a:t>
              </a:r>
              <a:endParaRPr sz="2000" b="1"/>
            </a:p>
          </p:txBody>
        </p:sp>
        <p:pic>
          <p:nvPicPr>
            <p:cNvPr id="631" name="Google Shape;631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01650" y="5024500"/>
              <a:ext cx="443225" cy="4384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663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3" name="Google Shape;6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12338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4" name="Google Shape;634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88013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5" name="Google Shape;635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23013" y="5020862"/>
              <a:ext cx="443225" cy="445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7"/>
          <p:cNvSpPr txBox="1">
            <a:spLocks noGrp="1"/>
          </p:cNvSpPr>
          <p:nvPr>
            <p:ph type="title"/>
          </p:nvPr>
        </p:nvSpPr>
        <p:spPr>
          <a:xfrm>
            <a:off x="635000" y="96038"/>
            <a:ext cx="8585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First-Served (FCFS)</a:t>
            </a:r>
            <a:endParaRPr dirty="0"/>
          </a:p>
        </p:txBody>
      </p:sp>
      <p:sp>
        <p:nvSpPr>
          <p:cNvPr id="644" name="Google Shape;644;p47"/>
          <p:cNvSpPr txBox="1">
            <a:spLocks noGrp="1"/>
          </p:cNvSpPr>
          <p:nvPr>
            <p:ph type="body" idx="1"/>
          </p:nvPr>
        </p:nvSpPr>
        <p:spPr>
          <a:xfrm>
            <a:off x="431800" y="1056200"/>
            <a:ext cx="11089250" cy="237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latin typeface="+mn-lt"/>
              </a:rPr>
              <a:t>: Suponga que se tiene una situación en la que: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200" dirty="0">
                <a:latin typeface="+mn-lt"/>
              </a:rPr>
              <a:t>Tres procesos llegan a un sistema (A, B y C)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200" dirty="0">
                <a:latin typeface="+mn-lt"/>
              </a:rPr>
              <a:t>Llegan en el tiempo 0 en el orden: A - B - C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200" dirty="0">
                <a:latin typeface="+mn-lt"/>
              </a:rPr>
              <a:t>A se ejecuta por 100 </a:t>
            </a:r>
            <a:r>
              <a:rPr lang="es-MX" sz="2200" dirty="0" err="1">
                <a:latin typeface="+mn-lt"/>
              </a:rPr>
              <a:t>seg</a:t>
            </a:r>
            <a:r>
              <a:rPr lang="es-MX" sz="2200" dirty="0">
                <a:latin typeface="+mn-lt"/>
              </a:rPr>
              <a:t>, B y C por 10 </a:t>
            </a:r>
            <a:r>
              <a:rPr lang="es-MX" sz="2200" dirty="0" err="1">
                <a:latin typeface="+mn-lt"/>
              </a:rPr>
              <a:t>seg</a:t>
            </a:r>
            <a:r>
              <a:rPr lang="es-MX" sz="2200" dirty="0">
                <a:latin typeface="+mn-lt"/>
              </a:rPr>
              <a:t> cada uno.</a:t>
            </a: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s-MX" sz="2200" b="1" dirty="0">
              <a:latin typeface="+mn-lt"/>
            </a:endParaRP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r>
              <a:rPr lang="es-ES" sz="2200" b="1" dirty="0">
                <a:latin typeface="+mn-lt"/>
              </a:rPr>
              <a:t>¿Cual es el turnarround time promedio?</a:t>
            </a: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45" name="Google Shape;645;p47"/>
          <p:cNvGraphicFramePr/>
          <p:nvPr>
            <p:extLst>
              <p:ext uri="{D42A27DB-BD31-4B8C-83A1-F6EECF244321}">
                <p14:modId xmlns:p14="http://schemas.microsoft.com/office/powerpoint/2010/main" val="401179583"/>
              </p:ext>
            </p:extLst>
          </p:nvPr>
        </p:nvGraphicFramePr>
        <p:xfrm>
          <a:off x="2051350" y="3742725"/>
          <a:ext cx="4586850" cy="17068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Proceso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Arrival time</a:t>
                      </a:r>
                      <a:endParaRPr sz="16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Run-time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A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</a:rPr>
                        <a:t>100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B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C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6" name="Google Shape;646;p47"/>
          <p:cNvSpPr txBox="1"/>
          <p:nvPr/>
        </p:nvSpPr>
        <p:spPr>
          <a:xfrm>
            <a:off x="7148444" y="4007445"/>
            <a:ext cx="3677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Orden de llegada: </a:t>
            </a:r>
            <a:endParaRPr sz="20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urier New"/>
                <a:ea typeface="Courier New"/>
                <a:cs typeface="Courier New"/>
                <a:sym typeface="Courier New"/>
              </a:rPr>
              <a:t>A - B - C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First-Served (FCFS)</a:t>
            </a:r>
            <a:endParaRPr dirty="0"/>
          </a:p>
        </p:txBody>
      </p:sp>
      <p:graphicFrame>
        <p:nvGraphicFramePr>
          <p:cNvPr id="657" name="Google Shape;657;p48"/>
          <p:cNvGraphicFramePr/>
          <p:nvPr>
            <p:extLst>
              <p:ext uri="{D42A27DB-BD31-4B8C-83A1-F6EECF244321}">
                <p14:modId xmlns:p14="http://schemas.microsoft.com/office/powerpoint/2010/main" val="403876965"/>
              </p:ext>
            </p:extLst>
          </p:nvPr>
        </p:nvGraphicFramePr>
        <p:xfrm>
          <a:off x="7428800" y="1089738"/>
          <a:ext cx="4201875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4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8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8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 sz="18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Grupo 10">
            <a:extLst>
              <a:ext uri="{FF2B5EF4-FFF2-40B4-BE49-F238E27FC236}">
                <a16:creationId xmlns:a16="http://schemas.microsoft.com/office/drawing/2014/main" id="{81141A37-97BA-4E3B-AD8F-FC5705E44A9B}"/>
              </a:ext>
            </a:extLst>
          </p:cNvPr>
          <p:cNvGrpSpPr/>
          <p:nvPr/>
        </p:nvGrpSpPr>
        <p:grpSpPr>
          <a:xfrm>
            <a:off x="911582" y="1066451"/>
            <a:ext cx="5466824" cy="1206174"/>
            <a:chOff x="3022600" y="4414559"/>
            <a:chExt cx="5466824" cy="1206174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79DC342-4C66-4166-AC53-9A16113EA447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D78BFB74-56B8-4B34-9AA8-20BB38ED0BE3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AF93DB83-29E3-4271-89DA-E8F5C2ACB30B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A0E611C1-C0B4-4E60-AC12-DD5426A217FA}"/>
                </a:ext>
              </a:extLst>
            </p:cNvPr>
            <p:cNvCxnSpPr>
              <a:endCxn id="22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: angular 13">
              <a:extLst>
                <a:ext uri="{FF2B5EF4-FFF2-40B4-BE49-F238E27FC236}">
                  <a16:creationId xmlns:a16="http://schemas.microsoft.com/office/drawing/2014/main" id="{88FF921B-A5FE-4D24-BA36-3322A6312A58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41654B0F-03CF-48C5-8F0D-ED9943250DAE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076F125C-050C-4047-876F-1664AF0C6723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722972E7-AAD1-4C37-8965-0D8CDA9C6987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19" name="Conector recto 18">
                  <a:extLst>
                    <a:ext uri="{FF2B5EF4-FFF2-40B4-BE49-F238E27FC236}">
                      <a16:creationId xmlns:a16="http://schemas.microsoft.com/office/drawing/2014/main" id="{B34261AE-FE35-4CE8-A303-AEFB1BCD7A12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recto 19">
                  <a:extLst>
                    <a:ext uri="{FF2B5EF4-FFF2-40B4-BE49-F238E27FC236}">
                      <a16:creationId xmlns:a16="http://schemas.microsoft.com/office/drawing/2014/main" id="{80C4C4EA-BB97-4824-B8E4-249127E339A2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ector recto 20">
                  <a:extLst>
                    <a:ext uri="{FF2B5EF4-FFF2-40B4-BE49-F238E27FC236}">
                      <a16:creationId xmlns:a16="http://schemas.microsoft.com/office/drawing/2014/main" id="{FA268716-8E06-4F52-A6E0-07D6A60E2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65D40C6-F632-48BD-BDB8-4D77AFE49612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0CB2E02-1E61-4A26-B28B-7362E973D766}"/>
              </a:ext>
            </a:extLst>
          </p:cNvPr>
          <p:cNvGrpSpPr/>
          <p:nvPr/>
        </p:nvGrpSpPr>
        <p:grpSpPr>
          <a:xfrm>
            <a:off x="768333" y="4061463"/>
            <a:ext cx="9828360" cy="1415826"/>
            <a:chOff x="739934" y="5150492"/>
            <a:chExt cx="9828360" cy="1415826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38669289-324E-41F5-9718-29B8A1663CF6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56" name="Conector recto de flecha 55">
                <a:extLst>
                  <a:ext uri="{FF2B5EF4-FFF2-40B4-BE49-F238E27FC236}">
                    <a16:creationId xmlns:a16="http://schemas.microsoft.com/office/drawing/2014/main" id="{A9A445B9-705C-4B96-AD3D-AD27A4CAA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de flecha 56">
                <a:extLst>
                  <a:ext uri="{FF2B5EF4-FFF2-40B4-BE49-F238E27FC236}">
                    <a16:creationId xmlns:a16="http://schemas.microsoft.com/office/drawing/2014/main" id="{9CE0BE65-150E-432F-B366-BE193C3B9C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EF216FA0-6810-4567-801B-89C54AD2D805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AEBC96DD-F1B4-4C0E-B3CD-951F42AAB025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29461AE2-BB73-4C45-8791-D6902DAE1BC9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7EC87796-79CB-4A0E-859B-D41B8A4FA8AD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7FC1F377-1EFA-48EF-8251-D75CA9D9BDC3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76AA2C9B-8EC4-475D-8F14-282A2D0D3E22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80F9A149-8DC3-4026-9D2E-E0FAD28ADD39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A1116596-E49E-41FC-A42F-E705E299A7CC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6D4401CD-7B36-4298-95C8-C119F564B2B5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DB61EC2-A19A-4666-B2C9-24D50B82C4E0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77C679C5-F367-4D27-B16C-0943CDB998C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241696ED-DB27-469B-A395-A291D8D9E847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A1024C5-3D51-4EE4-AD59-E5558BA002CF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DDAD8F0-CE67-4F18-9BDE-572A96FECF29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695EC05-D60A-4880-AFA9-4FD3118839E6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711B378B-3AB2-4D90-80AB-777C98C2F65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037D0E2-D9CE-4965-8C07-5AC8394F0EDF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4A402D2-F2B1-4F2C-8FFE-802851300BC4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BA534B3E-4E57-4A71-A2FD-49F5FAE36D61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C57661F3-4B3E-4631-9304-1E950E80DB61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17C1A9A2-88BC-41B6-87C4-7C611EDA592F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8E64283F-1FB8-48CE-ACD7-A9FF2D1734AB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5DD271B6-BE9D-4D4D-8376-51E406615CEE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0C907CC7-9A6E-48A3-805B-6837F97D5AD0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1ABF6215-1E2F-4DE7-A813-1CCC2E1DC9C1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C3B60D50-FFAF-45A5-B573-50672FFE68E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5ECDAA87-40E0-426F-A269-62D8AA8E6388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6F3724E7-3E84-49F3-A42A-310C3620FF38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BE3AFBB3-649D-48E5-A4B8-1865786AEC2A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4DFC586F-67E5-4454-A499-28A2F59BEC59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First-Served (FCFS)</a:t>
            </a:r>
            <a:endParaRPr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86AD2E5-580A-4487-850D-7CBC90C708BF}"/>
              </a:ext>
            </a:extLst>
          </p:cNvPr>
          <p:cNvGrpSpPr/>
          <p:nvPr/>
        </p:nvGrpSpPr>
        <p:grpSpPr>
          <a:xfrm>
            <a:off x="268815" y="2796977"/>
            <a:ext cx="6097745" cy="1377048"/>
            <a:chOff x="268815" y="3190677"/>
            <a:chExt cx="6097745" cy="1377048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708F0FB0-AAE0-46AD-B4AD-582BDA08D84F}"/>
                </a:ext>
              </a:extLst>
            </p:cNvPr>
            <p:cNvGrpSpPr/>
            <p:nvPr/>
          </p:nvGrpSpPr>
          <p:grpSpPr>
            <a:xfrm>
              <a:off x="406297" y="3190677"/>
              <a:ext cx="5960263" cy="1018645"/>
              <a:chOff x="6286570" y="5198935"/>
              <a:chExt cx="3755540" cy="1159915"/>
            </a:xfrm>
          </p:grpSpPr>
          <p:cxnSp>
            <p:nvCxnSpPr>
              <p:cNvPr id="45" name="Conector recto de flecha 44">
                <a:extLst>
                  <a:ext uri="{FF2B5EF4-FFF2-40B4-BE49-F238E27FC236}">
                    <a16:creationId xmlns:a16="http://schemas.microsoft.com/office/drawing/2014/main" id="{013D94A8-6434-4A46-9B65-1C10E42906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6570" y="6351605"/>
                <a:ext cx="3755540" cy="724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8F77814B-B38F-4B7F-87AC-1151268633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E8743B0F-E0BC-4C4F-ADAF-A134FA0C2859}"/>
                </a:ext>
              </a:extLst>
            </p:cNvPr>
            <p:cNvCxnSpPr/>
            <p:nvPr/>
          </p:nvCxnSpPr>
          <p:spPr>
            <a:xfrm>
              <a:off x="1331114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13AE7333-56DA-430B-8441-F3B7BDA14F64}"/>
                </a:ext>
              </a:extLst>
            </p:cNvPr>
            <p:cNvCxnSpPr/>
            <p:nvPr/>
          </p:nvCxnSpPr>
          <p:spPr>
            <a:xfrm>
              <a:off x="867459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70E68DE4-F74A-43B9-A77A-601F1BCF0D26}"/>
                </a:ext>
              </a:extLst>
            </p:cNvPr>
            <p:cNvCxnSpPr/>
            <p:nvPr/>
          </p:nvCxnSpPr>
          <p:spPr>
            <a:xfrm>
              <a:off x="224551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DA0A9FE-0367-4E2E-B63B-BAC30C3F4983}"/>
                </a:ext>
              </a:extLst>
            </p:cNvPr>
            <p:cNvCxnSpPr/>
            <p:nvPr/>
          </p:nvCxnSpPr>
          <p:spPr>
            <a:xfrm>
              <a:off x="178185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F4BC3C58-5DA0-4935-84DE-0D1BE6790E5A}"/>
                </a:ext>
              </a:extLst>
            </p:cNvPr>
            <p:cNvCxnSpPr/>
            <p:nvPr/>
          </p:nvCxnSpPr>
          <p:spPr>
            <a:xfrm>
              <a:off x="3165801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0DA805E6-C4A7-40CC-8B7B-6691119BA8BC}"/>
                </a:ext>
              </a:extLst>
            </p:cNvPr>
            <p:cNvCxnSpPr/>
            <p:nvPr/>
          </p:nvCxnSpPr>
          <p:spPr>
            <a:xfrm>
              <a:off x="2702146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E401D434-4D4A-405F-9050-990F4C3FF45E}"/>
                </a:ext>
              </a:extLst>
            </p:cNvPr>
            <p:cNvCxnSpPr>
              <a:cxnSpLocks/>
            </p:cNvCxnSpPr>
            <p:nvPr/>
          </p:nvCxnSpPr>
          <p:spPr>
            <a:xfrm>
              <a:off x="407160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6623B4A0-001B-43FD-BCCC-A9A033D6EE11}"/>
                </a:ext>
              </a:extLst>
            </p:cNvPr>
            <p:cNvCxnSpPr>
              <a:cxnSpLocks/>
            </p:cNvCxnSpPr>
            <p:nvPr/>
          </p:nvCxnSpPr>
          <p:spPr>
            <a:xfrm>
              <a:off x="360794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11CB8410-5058-44EE-BB5E-9B9F5FF3DDCB}"/>
                </a:ext>
              </a:extLst>
            </p:cNvPr>
            <p:cNvCxnSpPr>
              <a:cxnSpLocks/>
            </p:cNvCxnSpPr>
            <p:nvPr/>
          </p:nvCxnSpPr>
          <p:spPr>
            <a:xfrm>
              <a:off x="499188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8A9FF0F0-E3AE-4F89-9A49-4BE434429770}"/>
                </a:ext>
              </a:extLst>
            </p:cNvPr>
            <p:cNvCxnSpPr>
              <a:cxnSpLocks/>
            </p:cNvCxnSpPr>
            <p:nvPr/>
          </p:nvCxnSpPr>
          <p:spPr>
            <a:xfrm>
              <a:off x="452823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FD1FADFF-F6CD-41E9-B8FE-06C80DD57E77}"/>
                </a:ext>
              </a:extLst>
            </p:cNvPr>
            <p:cNvCxnSpPr>
              <a:cxnSpLocks/>
            </p:cNvCxnSpPr>
            <p:nvPr/>
          </p:nvCxnSpPr>
          <p:spPr>
            <a:xfrm>
              <a:off x="590992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6995CDB5-CEDC-41C4-8454-B8F7782A76AC}"/>
                </a:ext>
              </a:extLst>
            </p:cNvPr>
            <p:cNvCxnSpPr>
              <a:cxnSpLocks/>
            </p:cNvCxnSpPr>
            <p:nvPr/>
          </p:nvCxnSpPr>
          <p:spPr>
            <a:xfrm>
              <a:off x="544627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85AF4864-20B6-4294-8308-AD8E6F6F976B}"/>
                </a:ext>
              </a:extLst>
            </p:cNvPr>
            <p:cNvSpPr txBox="1"/>
            <p:nvPr/>
          </p:nvSpPr>
          <p:spPr>
            <a:xfrm>
              <a:off x="268815" y="424058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BAC892C1-2E3C-4367-9FD8-B8C54CC5F4E3}"/>
                </a:ext>
              </a:extLst>
            </p:cNvPr>
            <p:cNvSpPr txBox="1"/>
            <p:nvPr/>
          </p:nvSpPr>
          <p:spPr>
            <a:xfrm>
              <a:off x="1158174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7F8B40B9-85EA-4AD4-9367-923C85C54BCE}"/>
                </a:ext>
              </a:extLst>
            </p:cNvPr>
            <p:cNvSpPr txBox="1"/>
            <p:nvPr/>
          </p:nvSpPr>
          <p:spPr>
            <a:xfrm>
              <a:off x="2072858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6891D67-D1A9-4D2E-B9B4-749C7A10695E}"/>
                </a:ext>
              </a:extLst>
            </p:cNvPr>
            <p:cNvSpPr txBox="1"/>
            <p:nvPr/>
          </p:nvSpPr>
          <p:spPr>
            <a:xfrm>
              <a:off x="2993974" y="4259948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73ADEE78-FED0-4ED5-BAB9-0A7CB08FBF0B}"/>
                </a:ext>
              </a:extLst>
            </p:cNvPr>
            <p:cNvSpPr txBox="1"/>
            <p:nvPr/>
          </p:nvSpPr>
          <p:spPr>
            <a:xfrm>
              <a:off x="3888310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4C9C840E-EDE5-407F-B1E9-46841AD19B50}"/>
                </a:ext>
              </a:extLst>
            </p:cNvPr>
            <p:cNvSpPr txBox="1"/>
            <p:nvPr/>
          </p:nvSpPr>
          <p:spPr>
            <a:xfrm>
              <a:off x="4768830" y="42519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F3E63E8D-5D59-46FA-B07A-8D7ABE08F4C8}"/>
                </a:ext>
              </a:extLst>
            </p:cNvPr>
            <p:cNvSpPr txBox="1"/>
            <p:nvPr/>
          </p:nvSpPr>
          <p:spPr>
            <a:xfrm>
              <a:off x="5678728" y="4248875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AB5B6597-F052-450D-9F19-CFB5C23D1A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4864761"/>
                  </p:ext>
                </p:extLst>
              </p:nvPr>
            </p:nvGraphicFramePr>
            <p:xfrm>
              <a:off x="8948287" y="963484"/>
              <a:ext cx="2533780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553594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AB5B6597-F052-450D-9F19-CFB5C23D1A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4864761"/>
                  </p:ext>
                </p:extLst>
              </p:nvPr>
            </p:nvGraphicFramePr>
            <p:xfrm>
              <a:off x="8948287" y="963484"/>
              <a:ext cx="2533780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553594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2891" t="-8197" r="-781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1" name="Grupo 60">
            <a:extLst>
              <a:ext uri="{FF2B5EF4-FFF2-40B4-BE49-F238E27FC236}">
                <a16:creationId xmlns:a16="http://schemas.microsoft.com/office/drawing/2014/main" id="{F8A05AB3-B83B-42F7-B775-9711E169A12B}"/>
              </a:ext>
            </a:extLst>
          </p:cNvPr>
          <p:cNvGrpSpPr/>
          <p:nvPr/>
        </p:nvGrpSpPr>
        <p:grpSpPr>
          <a:xfrm>
            <a:off x="441890" y="1010085"/>
            <a:ext cx="5124913" cy="1012282"/>
            <a:chOff x="3022600" y="4248863"/>
            <a:chExt cx="5124913" cy="1371871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BD55A0F6-D819-4224-A48D-B6B16214F09E}"/>
                </a:ext>
              </a:extLst>
            </p:cNvPr>
            <p:cNvGrpSpPr/>
            <p:nvPr/>
          </p:nvGrpSpPr>
          <p:grpSpPr>
            <a:xfrm>
              <a:off x="7566904" y="4280072"/>
              <a:ext cx="580609" cy="1340661"/>
              <a:chOff x="1572367" y="2355985"/>
              <a:chExt cx="580609" cy="1340661"/>
            </a:xfrm>
          </p:grpSpPr>
          <p:sp>
            <p:nvSpPr>
              <p:cNvPr id="72" name="Rectángulo 71">
                <a:extLst>
                  <a:ext uri="{FF2B5EF4-FFF2-40B4-BE49-F238E27FC236}">
                    <a16:creationId xmlns:a16="http://schemas.microsoft.com/office/drawing/2014/main" id="{0DF3D4FF-D93F-4DF3-8DF5-ADC4D5D899AE}"/>
                  </a:ext>
                </a:extLst>
              </p:cNvPr>
              <p:cNvSpPr/>
              <p:nvPr/>
            </p:nvSpPr>
            <p:spPr>
              <a:xfrm>
                <a:off x="1572367" y="2870977"/>
                <a:ext cx="580609" cy="8256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344AB680-1070-4AF7-A591-79464AC2CC31}"/>
                  </a:ext>
                </a:extLst>
              </p:cNvPr>
              <p:cNvSpPr txBox="1"/>
              <p:nvPr/>
            </p:nvSpPr>
            <p:spPr>
              <a:xfrm>
                <a:off x="1572368" y="2355985"/>
                <a:ext cx="580608" cy="369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63" name="Conector recto de flecha 62">
              <a:extLst>
                <a:ext uri="{FF2B5EF4-FFF2-40B4-BE49-F238E27FC236}">
                  <a16:creationId xmlns:a16="http://schemas.microsoft.com/office/drawing/2014/main" id="{EA2419BB-EA17-4B6F-85AE-7F9458D8D839}"/>
                </a:ext>
              </a:extLst>
            </p:cNvPr>
            <p:cNvCxnSpPr>
              <a:cxnSpLocks/>
              <a:endCxn id="72" idx="1"/>
            </p:cNvCxnSpPr>
            <p:nvPr/>
          </p:nvCxnSpPr>
          <p:spPr>
            <a:xfrm>
              <a:off x="6364357" y="5205105"/>
              <a:ext cx="1202547" cy="27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: angular 63">
              <a:extLst>
                <a:ext uri="{FF2B5EF4-FFF2-40B4-BE49-F238E27FC236}">
                  <a16:creationId xmlns:a16="http://schemas.microsoft.com/office/drawing/2014/main" id="{F12D7250-270D-40C7-887B-EEADB1AD0F61}"/>
                </a:ext>
              </a:extLst>
            </p:cNvPr>
            <p:cNvCxnSpPr>
              <a:cxnSpLocks/>
              <a:stCxn id="72" idx="2"/>
            </p:cNvCxnSpPr>
            <p:nvPr/>
          </p:nvCxnSpPr>
          <p:spPr>
            <a:xfrm rot="5400000" flipH="1">
              <a:off x="5734934" y="3498459"/>
              <a:ext cx="182038" cy="4062512"/>
            </a:xfrm>
            <a:prstGeom prst="bentConnector4">
              <a:avLst>
                <a:gd name="adj1" fmla="val -224902"/>
                <a:gd name="adj2" fmla="val 10640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de flecha 64">
              <a:extLst>
                <a:ext uri="{FF2B5EF4-FFF2-40B4-BE49-F238E27FC236}">
                  <a16:creationId xmlns:a16="http://schemas.microsoft.com/office/drawing/2014/main" id="{42920FBB-F61E-47E7-AE0D-24B02D03D4B7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807519E5-1238-4058-A28D-02D69462C4AC}"/>
                </a:ext>
              </a:extLst>
            </p:cNvPr>
            <p:cNvGrpSpPr/>
            <p:nvPr/>
          </p:nvGrpSpPr>
          <p:grpSpPr>
            <a:xfrm>
              <a:off x="3934951" y="4248863"/>
              <a:ext cx="2480084" cy="1371870"/>
              <a:chOff x="3934951" y="4248863"/>
              <a:chExt cx="2480084" cy="1371870"/>
            </a:xfrm>
          </p:grpSpPr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B34D29A2-534D-4B15-BD1D-4FAD12DC1652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69" name="Conector recto 68">
                  <a:extLst>
                    <a:ext uri="{FF2B5EF4-FFF2-40B4-BE49-F238E27FC236}">
                      <a16:creationId xmlns:a16="http://schemas.microsoft.com/office/drawing/2014/main" id="{27CA2B23-9407-40FE-BAE6-14AE60F8F6DA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Conector recto 69">
                  <a:extLst>
                    <a:ext uri="{FF2B5EF4-FFF2-40B4-BE49-F238E27FC236}">
                      <a16:creationId xmlns:a16="http://schemas.microsoft.com/office/drawing/2014/main" id="{FDEC1ACD-91C0-4779-A084-C75F48C5D539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Conector recto 70">
                  <a:extLst>
                    <a:ext uri="{FF2B5EF4-FFF2-40B4-BE49-F238E27FC236}">
                      <a16:creationId xmlns:a16="http://schemas.microsoft.com/office/drawing/2014/main" id="{644E562B-28E1-4CD4-A4D0-11B09CAEED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B63AC0A4-3736-4DA5-B29D-B80D5F2D0098}"/>
                  </a:ext>
                </a:extLst>
              </p:cNvPr>
              <p:cNvSpPr txBox="1"/>
              <p:nvPr/>
            </p:nvSpPr>
            <p:spPr>
              <a:xfrm>
                <a:off x="4858409" y="4248863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0"/>
          <p:cNvSpPr txBox="1">
            <a:spLocks noGrp="1"/>
          </p:cNvSpPr>
          <p:nvPr>
            <p:ph type="body" idx="1"/>
          </p:nvPr>
        </p:nvSpPr>
        <p:spPr>
          <a:xfrm>
            <a:off x="495300" y="1056200"/>
            <a:ext cx="5400075" cy="5231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Comparación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81" name="Google Shape;6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550" y="4065925"/>
            <a:ext cx="4978725" cy="23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9267" y="4022863"/>
            <a:ext cx="4526778" cy="237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0"/>
          <p:cNvSpPr txBox="1"/>
          <p:nvPr/>
        </p:nvSpPr>
        <p:spPr>
          <a:xfrm>
            <a:off x="6334285" y="1744893"/>
            <a:ext cx="4313226" cy="5231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Tiempos de ejecución diferentes</a:t>
            </a:r>
            <a:endParaRPr sz="2200" b="1" dirty="0"/>
          </a:p>
        </p:txBody>
      </p:sp>
      <p:sp>
        <p:nvSpPr>
          <p:cNvPr id="684" name="Google Shape;684;p50"/>
          <p:cNvSpPr txBox="1"/>
          <p:nvPr/>
        </p:nvSpPr>
        <p:spPr>
          <a:xfrm>
            <a:off x="816388" y="1736234"/>
            <a:ext cx="4313226" cy="523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Tiempos de ejecución iguales</a:t>
            </a:r>
            <a:endParaRPr sz="2200" b="1" dirty="0"/>
          </a:p>
        </p:txBody>
      </p:sp>
      <p:grpSp>
        <p:nvGrpSpPr>
          <p:cNvPr id="685" name="Google Shape;685;p50"/>
          <p:cNvGrpSpPr/>
          <p:nvPr/>
        </p:nvGrpSpPr>
        <p:grpSpPr>
          <a:xfrm>
            <a:off x="1286101" y="2644868"/>
            <a:ext cx="3933600" cy="1247163"/>
            <a:chOff x="1510300" y="2603975"/>
            <a:chExt cx="3933600" cy="1247163"/>
          </a:xfrm>
        </p:grpSpPr>
        <p:grpSp>
          <p:nvGrpSpPr>
            <p:cNvPr id="686" name="Google Shape;686;p50"/>
            <p:cNvGrpSpPr/>
            <p:nvPr/>
          </p:nvGrpSpPr>
          <p:grpSpPr>
            <a:xfrm>
              <a:off x="1510300" y="2603975"/>
              <a:ext cx="3933600" cy="648900"/>
              <a:chOff x="1510300" y="2603975"/>
              <a:chExt cx="3933600" cy="648900"/>
            </a:xfrm>
          </p:grpSpPr>
          <p:sp>
            <p:nvSpPr>
              <p:cNvPr id="687" name="Google Shape;687;p5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688" name="Google Shape;688;p5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689" name="Google Shape;689;p5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690" name="Google Shape;690;p5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691" name="Google Shape;691;p5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692" name="Google Shape;692;p50"/>
            <p:cNvGrpSpPr/>
            <p:nvPr/>
          </p:nvGrpSpPr>
          <p:grpSpPr>
            <a:xfrm>
              <a:off x="1600388" y="3405437"/>
              <a:ext cx="3753425" cy="445700"/>
              <a:chOff x="1600388" y="3405437"/>
              <a:chExt cx="3753425" cy="445700"/>
            </a:xfrm>
          </p:grpSpPr>
          <p:pic>
            <p:nvPicPr>
              <p:cNvPr id="693" name="Google Shape;693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42793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4" name="Google Shape;694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55487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5" name="Google Shape;695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08303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6" name="Google Shape;696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91058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7" name="Google Shape;697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600388" y="3405437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98" name="Google Shape;698;p50"/>
          <p:cNvGrpSpPr/>
          <p:nvPr/>
        </p:nvGrpSpPr>
        <p:grpSpPr>
          <a:xfrm>
            <a:off x="6981044" y="2572456"/>
            <a:ext cx="3933600" cy="1247163"/>
            <a:chOff x="7350150" y="2667300"/>
            <a:chExt cx="3933600" cy="1247163"/>
          </a:xfrm>
        </p:grpSpPr>
        <p:grpSp>
          <p:nvGrpSpPr>
            <p:cNvPr id="699" name="Google Shape;699;p50"/>
            <p:cNvGrpSpPr/>
            <p:nvPr/>
          </p:nvGrpSpPr>
          <p:grpSpPr>
            <a:xfrm>
              <a:off x="7350150" y="2667300"/>
              <a:ext cx="3933600" cy="648900"/>
              <a:chOff x="1510300" y="2603975"/>
              <a:chExt cx="3933600" cy="648900"/>
            </a:xfrm>
          </p:grpSpPr>
          <p:sp>
            <p:nvSpPr>
              <p:cNvPr id="700" name="Google Shape;700;p5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701" name="Google Shape;701;p5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702" name="Google Shape;702;p5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703" name="Google Shape;703;p5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704" name="Google Shape;704;p5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705" name="Google Shape;705;p50"/>
            <p:cNvGrpSpPr/>
            <p:nvPr/>
          </p:nvGrpSpPr>
          <p:grpSpPr>
            <a:xfrm>
              <a:off x="7461788" y="3468762"/>
              <a:ext cx="3731875" cy="445700"/>
              <a:chOff x="7461788" y="3468762"/>
              <a:chExt cx="3731875" cy="445700"/>
            </a:xfrm>
          </p:grpSpPr>
          <p:pic>
            <p:nvPicPr>
              <p:cNvPr id="706" name="Google Shape;706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2677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7" name="Google Shape;707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0953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8" name="Google Shape;708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9228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9" name="Google Shape;709;p5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7504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0" name="Google Shape;710;p5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61788" y="34724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11" name="Google Shape;711;p50"/>
          <p:cNvSpPr/>
          <p:nvPr/>
        </p:nvSpPr>
        <p:spPr>
          <a:xfrm>
            <a:off x="10386276" y="3972180"/>
            <a:ext cx="1541231" cy="1184020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</a:rPr>
              <a:t>Efecto Convoy</a:t>
            </a:r>
            <a:endParaRPr sz="1600" b="1" dirty="0">
              <a:solidFill>
                <a:srgbClr val="FF0000"/>
              </a:solidFill>
            </a:endParaRPr>
          </a:p>
        </p:txBody>
      </p:sp>
      <p:sp>
        <p:nvSpPr>
          <p:cNvPr id="38" name="Google Shape;654;p48">
            <a:extLst>
              <a:ext uri="{FF2B5EF4-FFF2-40B4-BE49-F238E27FC236}">
                <a16:creationId xmlns:a16="http://schemas.microsoft.com/office/drawing/2014/main" id="{33560DEE-5649-447D-9FF7-94650A23B886}"/>
              </a:ext>
            </a:extLst>
          </p:cNvPr>
          <p:cNvSpPr txBox="1">
            <a:spLocks/>
          </p:cNvSpPr>
          <p:nvPr/>
        </p:nvSpPr>
        <p:spPr>
          <a:xfrm>
            <a:off x="495300" y="96038"/>
            <a:ext cx="8725350" cy="949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1" kern="1200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First-Come, First-Served (FCFS)</a:t>
            </a:r>
            <a:endParaRPr lang="es-MX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1"/>
          <p:cNvSpPr txBox="1">
            <a:spLocks noGrp="1"/>
          </p:cNvSpPr>
          <p:nvPr>
            <p:ph type="title"/>
          </p:nvPr>
        </p:nvSpPr>
        <p:spPr>
          <a:xfrm>
            <a:off x="355600" y="96038"/>
            <a:ext cx="8865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Efecto Convoy</a:t>
            </a:r>
            <a:endParaRPr lang="es-MX" dirty="0"/>
          </a:p>
        </p:txBody>
      </p:sp>
      <p:sp>
        <p:nvSpPr>
          <p:cNvPr id="720" name="Google Shape;720;p51"/>
          <p:cNvSpPr txBox="1">
            <a:spLocks noGrp="1"/>
          </p:cNvSpPr>
          <p:nvPr>
            <p:ph type="body" idx="1"/>
          </p:nvPr>
        </p:nvSpPr>
        <p:spPr>
          <a:xfrm>
            <a:off x="247650" y="941900"/>
            <a:ext cx="11696700" cy="190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400" dirty="0">
                <a:latin typeface="+mn-lt"/>
              </a:rPr>
              <a:t>Se da cuando un proceso que requiere mucho tiempo de CPU va por delante (se ejecuta primero) de procesos ligeros.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400" dirty="0">
                <a:latin typeface="+mn-lt"/>
              </a:rPr>
              <a:t>Hace que los tiempos de respuesta (más adelante hablaremos de esta métrica) y finalización se resientan.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400" dirty="0">
                <a:latin typeface="+mn-lt"/>
              </a:rPr>
              <a:t>El trabajo más grande es el que más influye en el tiempo de respuesta (turnaround time).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3200" dirty="0">
              <a:latin typeface="+mn-lt"/>
            </a:endParaRPr>
          </a:p>
        </p:txBody>
      </p:sp>
      <p:pic>
        <p:nvPicPr>
          <p:cNvPr id="721" name="Google Shape;72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600" y="3429000"/>
            <a:ext cx="92583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11;p50">
            <a:extLst>
              <a:ext uri="{FF2B5EF4-FFF2-40B4-BE49-F238E27FC236}">
                <a16:creationId xmlns:a16="http://schemas.microsoft.com/office/drawing/2014/main" id="{97727AFB-D52F-4BC6-BDCB-E732EF294C4C}"/>
              </a:ext>
            </a:extLst>
          </p:cNvPr>
          <p:cNvSpPr/>
          <p:nvPr/>
        </p:nvSpPr>
        <p:spPr>
          <a:xfrm>
            <a:off x="546100" y="3306891"/>
            <a:ext cx="1541231" cy="1184020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</a:rPr>
              <a:t>Efecto Convoy</a:t>
            </a:r>
            <a:endParaRPr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2"/>
          <p:cNvSpPr txBox="1">
            <a:spLocks noGrp="1"/>
          </p:cNvSpPr>
          <p:nvPr>
            <p:ph type="title"/>
          </p:nvPr>
        </p:nvSpPr>
        <p:spPr>
          <a:xfrm>
            <a:off x="393700" y="96038"/>
            <a:ext cx="8826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lang="es-MX" dirty="0"/>
          </a:p>
        </p:txBody>
      </p:sp>
      <p:sp>
        <p:nvSpPr>
          <p:cNvPr id="731" name="Google Shape;731;p52"/>
          <p:cNvSpPr txBox="1">
            <a:spLocks noGrp="1"/>
          </p:cNvSpPr>
          <p:nvPr>
            <p:ph type="body" idx="1"/>
          </p:nvPr>
        </p:nvSpPr>
        <p:spPr>
          <a:xfrm>
            <a:off x="508000" y="1045538"/>
            <a:ext cx="10890200" cy="20528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tiempo de ejecución de cada tarea es variable 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(relajación de la suposición 1)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 planificación de las tareas se hace de acuerdo a su </a:t>
            </a:r>
            <a:r>
              <a:rPr lang="es-ES" sz="2400" b="1" dirty="0">
                <a:latin typeface="+mn-lt"/>
              </a:rPr>
              <a:t>tiempo de ejecución</a:t>
            </a:r>
            <a:r>
              <a:rPr lang="es-ES" sz="2400" dirty="0">
                <a:latin typeface="+mn-lt"/>
              </a:rPr>
              <a:t>.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Scheduler (planificador) pone a ejecutar primero los procesos más cortos.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latin typeface="+mn-lt"/>
              </a:rPr>
              <a:t>No apropiativo (Non preemptive)</a:t>
            </a:r>
            <a:r>
              <a:rPr lang="es-ES" sz="2400" dirty="0">
                <a:latin typeface="+mn-lt"/>
              </a:rPr>
              <a:t>: Solo se selecciona un nuevo proceso cuando el proceso anterior acaba.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18" name="Google Shape;698;p50">
            <a:extLst>
              <a:ext uri="{FF2B5EF4-FFF2-40B4-BE49-F238E27FC236}">
                <a16:creationId xmlns:a16="http://schemas.microsoft.com/office/drawing/2014/main" id="{9C51BBF7-D95F-4738-9ADF-5F207947F175}"/>
              </a:ext>
            </a:extLst>
          </p:cNvPr>
          <p:cNvGrpSpPr/>
          <p:nvPr/>
        </p:nvGrpSpPr>
        <p:grpSpPr>
          <a:xfrm>
            <a:off x="1443844" y="3759600"/>
            <a:ext cx="3933600" cy="1247163"/>
            <a:chOff x="7350150" y="2667300"/>
            <a:chExt cx="3933600" cy="1247163"/>
          </a:xfrm>
        </p:grpSpPr>
        <p:grpSp>
          <p:nvGrpSpPr>
            <p:cNvPr id="19" name="Google Shape;699;p50">
              <a:extLst>
                <a:ext uri="{FF2B5EF4-FFF2-40B4-BE49-F238E27FC236}">
                  <a16:creationId xmlns:a16="http://schemas.microsoft.com/office/drawing/2014/main" id="{4C7FBBDA-6992-4586-8784-C6945B12F40A}"/>
                </a:ext>
              </a:extLst>
            </p:cNvPr>
            <p:cNvGrpSpPr/>
            <p:nvPr/>
          </p:nvGrpSpPr>
          <p:grpSpPr>
            <a:xfrm>
              <a:off x="7350150" y="2667300"/>
              <a:ext cx="3933600" cy="648900"/>
              <a:chOff x="1510300" y="2603975"/>
              <a:chExt cx="3933600" cy="648900"/>
            </a:xfrm>
          </p:grpSpPr>
          <p:sp>
            <p:nvSpPr>
              <p:cNvPr id="26" name="Google Shape;700;p50">
                <a:extLst>
                  <a:ext uri="{FF2B5EF4-FFF2-40B4-BE49-F238E27FC236}">
                    <a16:creationId xmlns:a16="http://schemas.microsoft.com/office/drawing/2014/main" id="{6CE8F72D-D73F-453C-8A60-EA82B48992FA}"/>
                  </a:ext>
                </a:extLst>
              </p:cNvPr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7" name="Google Shape;701;p50">
                <a:extLst>
                  <a:ext uri="{FF2B5EF4-FFF2-40B4-BE49-F238E27FC236}">
                    <a16:creationId xmlns:a16="http://schemas.microsoft.com/office/drawing/2014/main" id="{75D15EEF-168D-4D38-9174-765510D3AB17}"/>
                  </a:ext>
                </a:extLst>
              </p:cNvPr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28" name="Google Shape;702;p50">
                <a:extLst>
                  <a:ext uri="{FF2B5EF4-FFF2-40B4-BE49-F238E27FC236}">
                    <a16:creationId xmlns:a16="http://schemas.microsoft.com/office/drawing/2014/main" id="{54DBB941-FD0B-4700-9A33-CB69976DE422}"/>
                  </a:ext>
                </a:extLst>
              </p:cNvPr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/>
                  <a:t>3</a:t>
                </a:r>
                <a:endParaRPr sz="2000" b="1" dirty="0"/>
              </a:p>
            </p:txBody>
          </p:sp>
          <p:sp>
            <p:nvSpPr>
              <p:cNvPr id="29" name="Google Shape;703;p50">
                <a:extLst>
                  <a:ext uri="{FF2B5EF4-FFF2-40B4-BE49-F238E27FC236}">
                    <a16:creationId xmlns:a16="http://schemas.microsoft.com/office/drawing/2014/main" id="{25C1BA4F-50A7-4243-A5D6-8786B046A00A}"/>
                  </a:ext>
                </a:extLst>
              </p:cNvPr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0" name="Google Shape;704;p50">
                <a:extLst>
                  <a:ext uri="{FF2B5EF4-FFF2-40B4-BE49-F238E27FC236}">
                    <a16:creationId xmlns:a16="http://schemas.microsoft.com/office/drawing/2014/main" id="{2AE1DE5D-6E9C-4CE3-8097-C32317C20E32}"/>
                  </a:ext>
                </a:extLst>
              </p:cNvPr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20" name="Google Shape;705;p50">
              <a:extLst>
                <a:ext uri="{FF2B5EF4-FFF2-40B4-BE49-F238E27FC236}">
                  <a16:creationId xmlns:a16="http://schemas.microsoft.com/office/drawing/2014/main" id="{E4372864-9D95-4F66-91A6-20CA92968B48}"/>
                </a:ext>
              </a:extLst>
            </p:cNvPr>
            <p:cNvGrpSpPr/>
            <p:nvPr/>
          </p:nvGrpSpPr>
          <p:grpSpPr>
            <a:xfrm>
              <a:off x="7461788" y="3468762"/>
              <a:ext cx="3731875" cy="445700"/>
              <a:chOff x="7461788" y="3468762"/>
              <a:chExt cx="3731875" cy="445700"/>
            </a:xfrm>
          </p:grpSpPr>
          <p:pic>
            <p:nvPicPr>
              <p:cNvPr id="21" name="Google Shape;706;p50">
                <a:extLst>
                  <a:ext uri="{FF2B5EF4-FFF2-40B4-BE49-F238E27FC236}">
                    <a16:creationId xmlns:a16="http://schemas.microsoft.com/office/drawing/2014/main" id="{90F1A77C-04E6-4191-A22F-99BE70269D16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2677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707;p50">
                <a:extLst>
                  <a:ext uri="{FF2B5EF4-FFF2-40B4-BE49-F238E27FC236}">
                    <a16:creationId xmlns:a16="http://schemas.microsoft.com/office/drawing/2014/main" id="{D3DBE970-E62C-4E89-9D8C-DCA6D051D030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0953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708;p50">
                <a:extLst>
                  <a:ext uri="{FF2B5EF4-FFF2-40B4-BE49-F238E27FC236}">
                    <a16:creationId xmlns:a16="http://schemas.microsoft.com/office/drawing/2014/main" id="{E0409E34-A58D-4BAE-A534-3D031B29E615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9228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709;p50">
                <a:extLst>
                  <a:ext uri="{FF2B5EF4-FFF2-40B4-BE49-F238E27FC236}">
                    <a16:creationId xmlns:a16="http://schemas.microsoft.com/office/drawing/2014/main" id="{A48CD573-6038-4D5A-86F8-07AD24E7F34F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7504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710;p50">
                <a:extLst>
                  <a:ext uri="{FF2B5EF4-FFF2-40B4-BE49-F238E27FC236}">
                    <a16:creationId xmlns:a16="http://schemas.microsoft.com/office/drawing/2014/main" id="{48277575-9D90-4DC1-A8A2-D6965B56C1D3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461788" y="34724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3"/>
          <p:cNvSpPr txBox="1">
            <a:spLocks noGrp="1"/>
          </p:cNvSpPr>
          <p:nvPr>
            <p:ph type="title"/>
          </p:nvPr>
        </p:nvSpPr>
        <p:spPr>
          <a:xfrm>
            <a:off x="393700" y="96038"/>
            <a:ext cx="8826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40" name="Google Shape;740;p53"/>
          <p:cNvSpPr txBox="1">
            <a:spLocks noGrp="1"/>
          </p:cNvSpPr>
          <p:nvPr>
            <p:ph type="body" idx="1"/>
          </p:nvPr>
        </p:nvSpPr>
        <p:spPr>
          <a:xfrm>
            <a:off x="522513" y="1056200"/>
            <a:ext cx="11030857" cy="237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400" b="1" dirty="0">
                <a:latin typeface="+mn-lt"/>
              </a:rPr>
              <a:t>Ejemplo</a:t>
            </a:r>
            <a:r>
              <a:rPr lang="es-MX" sz="2400" dirty="0">
                <a:latin typeface="+mn-lt"/>
              </a:rPr>
              <a:t>:  Suponga que se tiene una situación en la que: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200" dirty="0">
                <a:latin typeface="+mn-lt"/>
              </a:rPr>
              <a:t>Tres procesos llegan a un sistema (A, B y C)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Llegan en el tiempo 0 en el orden: A - B – C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A se ejecuta por 100 seg, B y C por 10 seg cada uno. </a:t>
            </a: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s-ES" sz="2200" b="1" dirty="0">
              <a:latin typeface="+mn-lt"/>
            </a:endParaRP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r>
              <a:rPr lang="es-MX" sz="2400" b="1" dirty="0">
                <a:latin typeface="+mn-lt"/>
              </a:rPr>
              <a:t>¿Cual es el </a:t>
            </a:r>
            <a:r>
              <a:rPr lang="es-MX" sz="2400" b="1" dirty="0" err="1">
                <a:latin typeface="+mn-lt"/>
              </a:rPr>
              <a:t>turn</a:t>
            </a:r>
            <a:r>
              <a:rPr lang="es-MX" sz="2400" b="1" dirty="0">
                <a:latin typeface="+mn-lt"/>
              </a:rPr>
              <a:t> </a:t>
            </a:r>
            <a:r>
              <a:rPr lang="es-MX" sz="2400" b="1" dirty="0" err="1">
                <a:latin typeface="+mn-lt"/>
              </a:rPr>
              <a:t>around</a:t>
            </a:r>
            <a:r>
              <a:rPr lang="es-MX" sz="2400" b="1" dirty="0">
                <a:latin typeface="+mn-lt"/>
              </a:rPr>
              <a:t> time promedio?</a:t>
            </a:r>
          </a:p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endParaRPr lang="es-ES"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741" name="Google Shape;741;p53"/>
          <p:cNvGraphicFramePr/>
          <p:nvPr>
            <p:extLst>
              <p:ext uri="{D42A27DB-BD31-4B8C-83A1-F6EECF244321}">
                <p14:modId xmlns:p14="http://schemas.microsoft.com/office/powerpoint/2010/main" val="2775257152"/>
              </p:ext>
            </p:extLst>
          </p:nvPr>
        </p:nvGraphicFramePr>
        <p:xfrm>
          <a:off x="1924350" y="3495387"/>
          <a:ext cx="4586850" cy="19506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20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20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20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2" name="Google Shape;742;p53"/>
          <p:cNvSpPr txBox="1"/>
          <p:nvPr/>
        </p:nvSpPr>
        <p:spPr>
          <a:xfrm>
            <a:off x="7148444" y="3903825"/>
            <a:ext cx="3677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Orden de llegada: </a:t>
            </a:r>
            <a:endParaRPr sz="20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urier New"/>
                <a:ea typeface="Courier New"/>
                <a:cs typeface="Courier New"/>
                <a:sym typeface="Courier New"/>
              </a:rPr>
              <a:t>A - B - C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4"/>
          <p:cNvSpPr/>
          <p:nvPr/>
        </p:nvSpPr>
        <p:spPr>
          <a:xfrm>
            <a:off x="2204275" y="1359544"/>
            <a:ext cx="510000" cy="5421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754" name="Google Shape;754;p54"/>
          <p:cNvSpPr/>
          <p:nvPr/>
        </p:nvSpPr>
        <p:spPr>
          <a:xfrm>
            <a:off x="1580400" y="1359557"/>
            <a:ext cx="510000" cy="5421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755" name="Google Shape;755;p54"/>
          <p:cNvSpPr/>
          <p:nvPr/>
        </p:nvSpPr>
        <p:spPr>
          <a:xfrm>
            <a:off x="956525" y="1359544"/>
            <a:ext cx="510000" cy="5421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756" name="Google Shape;75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713" y="1228369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54"/>
          <p:cNvCxnSpPr/>
          <p:nvPr/>
        </p:nvCxnSpPr>
        <p:spPr>
          <a:xfrm>
            <a:off x="2879888" y="1630607"/>
            <a:ext cx="85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58" name="Google Shape;758;p54"/>
          <p:cNvSpPr/>
          <p:nvPr/>
        </p:nvSpPr>
        <p:spPr>
          <a:xfrm>
            <a:off x="9145450" y="1379094"/>
            <a:ext cx="510000" cy="5421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759" name="Google Shape;759;p54"/>
          <p:cNvSpPr/>
          <p:nvPr/>
        </p:nvSpPr>
        <p:spPr>
          <a:xfrm>
            <a:off x="8521575" y="1379107"/>
            <a:ext cx="510000" cy="5421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sp>
        <p:nvSpPr>
          <p:cNvPr id="760" name="Google Shape;760;p54"/>
          <p:cNvSpPr/>
          <p:nvPr/>
        </p:nvSpPr>
        <p:spPr>
          <a:xfrm>
            <a:off x="7897700" y="1379094"/>
            <a:ext cx="510000" cy="5421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pic>
        <p:nvPicPr>
          <p:cNvPr id="761" name="Google Shape;76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1700" y="1247894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2" name="Google Shape;762;p54"/>
          <p:cNvCxnSpPr/>
          <p:nvPr/>
        </p:nvCxnSpPr>
        <p:spPr>
          <a:xfrm>
            <a:off x="9769325" y="1650132"/>
            <a:ext cx="80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63" name="Google Shape;763;p54"/>
          <p:cNvGraphicFramePr/>
          <p:nvPr>
            <p:extLst>
              <p:ext uri="{D42A27DB-BD31-4B8C-83A1-F6EECF244321}">
                <p14:modId xmlns:p14="http://schemas.microsoft.com/office/powerpoint/2010/main" val="353088933"/>
              </p:ext>
            </p:extLst>
          </p:nvPr>
        </p:nvGraphicFramePr>
        <p:xfrm>
          <a:off x="8203755" y="2655714"/>
          <a:ext cx="2838426" cy="158484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80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4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4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4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 sz="14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64" name="Google Shape;764;p54"/>
          <p:cNvGrpSpPr/>
          <p:nvPr/>
        </p:nvGrpSpPr>
        <p:grpSpPr>
          <a:xfrm>
            <a:off x="5107350" y="1228294"/>
            <a:ext cx="2290200" cy="804600"/>
            <a:chOff x="5423925" y="2240025"/>
            <a:chExt cx="2290200" cy="804600"/>
          </a:xfrm>
        </p:grpSpPr>
        <p:sp>
          <p:nvSpPr>
            <p:cNvPr id="765" name="Google Shape;765;p54"/>
            <p:cNvSpPr/>
            <p:nvPr/>
          </p:nvSpPr>
          <p:spPr>
            <a:xfrm>
              <a:off x="5423925" y="2240025"/>
              <a:ext cx="2290200" cy="804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AA84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4"/>
            <p:cNvSpPr txBox="1"/>
            <p:nvPr/>
          </p:nvSpPr>
          <p:spPr>
            <a:xfrm>
              <a:off x="5616300" y="2438600"/>
              <a:ext cx="183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lt1"/>
                  </a:solidFill>
                </a:rPr>
                <a:t>Reordenamiento</a:t>
              </a:r>
              <a:endParaRPr sz="1600" b="1">
                <a:solidFill>
                  <a:schemeClr val="lt1"/>
                </a:solidFill>
              </a:endParaRPr>
            </a:p>
          </p:txBody>
        </p:sp>
      </p:grpSp>
      <p:sp>
        <p:nvSpPr>
          <p:cNvPr id="767" name="Google Shape;767;p54"/>
          <p:cNvSpPr txBox="1"/>
          <p:nvPr/>
        </p:nvSpPr>
        <p:spPr>
          <a:xfrm>
            <a:off x="916650" y="828157"/>
            <a:ext cx="183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/>
              <a:t>Orden de llegada</a:t>
            </a:r>
            <a:endParaRPr sz="1600" b="1" dirty="0"/>
          </a:p>
        </p:txBody>
      </p:sp>
      <p:sp>
        <p:nvSpPr>
          <p:cNvPr id="768" name="Google Shape;768;p54"/>
          <p:cNvSpPr txBox="1"/>
          <p:nvPr/>
        </p:nvSpPr>
        <p:spPr>
          <a:xfrm>
            <a:off x="7534125" y="827982"/>
            <a:ext cx="223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/>
              <a:t>Orden de ejecución</a:t>
            </a:r>
            <a:endParaRPr sz="1600" b="1" dirty="0"/>
          </a:p>
        </p:txBody>
      </p:sp>
      <p:sp>
        <p:nvSpPr>
          <p:cNvPr id="769" name="Google Shape;769;p54"/>
          <p:cNvSpPr txBox="1"/>
          <p:nvPr/>
        </p:nvSpPr>
        <p:spPr>
          <a:xfrm>
            <a:off x="2204275" y="1968757"/>
            <a:ext cx="53564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0000"/>
                </a:solidFill>
              </a:rPr>
              <a:t>[100]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770" name="Google Shape;770;p54"/>
          <p:cNvSpPr txBox="1"/>
          <p:nvPr/>
        </p:nvSpPr>
        <p:spPr>
          <a:xfrm>
            <a:off x="1606050" y="1968757"/>
            <a:ext cx="4587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71" name="Google Shape;771;p54"/>
          <p:cNvSpPr txBox="1"/>
          <p:nvPr/>
        </p:nvSpPr>
        <p:spPr>
          <a:xfrm>
            <a:off x="982175" y="1968744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9" name="Google Shape;739;p53">
            <a:extLst>
              <a:ext uri="{FF2B5EF4-FFF2-40B4-BE49-F238E27FC236}">
                <a16:creationId xmlns:a16="http://schemas.microsoft.com/office/drawing/2014/main" id="{0811EC38-6029-4014-908C-5E4A98ECE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96D65C6-EEF3-4ED4-9739-D77F96555C5E}"/>
              </a:ext>
            </a:extLst>
          </p:cNvPr>
          <p:cNvGrpSpPr/>
          <p:nvPr/>
        </p:nvGrpSpPr>
        <p:grpSpPr>
          <a:xfrm>
            <a:off x="1229533" y="2598256"/>
            <a:ext cx="5466824" cy="1206174"/>
            <a:chOff x="3022600" y="4414559"/>
            <a:chExt cx="5466824" cy="1206174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EEAAFAF2-988F-443B-A400-F184F8188E30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6BE7C78D-87BB-4000-B08A-99B7846BBF9A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C76642A-4B17-4CA0-A9DE-7A35206EBD6E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651AFED4-49D3-4C70-82BB-4A270AC44C5F}"/>
                </a:ext>
              </a:extLst>
            </p:cNvPr>
            <p:cNvCxnSpPr>
              <a:endCxn id="43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: angular 34">
              <a:extLst>
                <a:ext uri="{FF2B5EF4-FFF2-40B4-BE49-F238E27FC236}">
                  <a16:creationId xmlns:a16="http://schemas.microsoft.com/office/drawing/2014/main" id="{D96CA008-298A-4E56-8C5F-A548CC5333D9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9A4B86B2-377D-4FED-8508-FAD05DC847A9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9D6742FF-6816-495E-BD30-F515D78539F0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8064CDC-E09C-4FC7-8A51-5AA239725534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40" name="Conector recto 39">
                  <a:extLst>
                    <a:ext uri="{FF2B5EF4-FFF2-40B4-BE49-F238E27FC236}">
                      <a16:creationId xmlns:a16="http://schemas.microsoft.com/office/drawing/2014/main" id="{F9ABA978-5696-454E-BE91-F0B385607532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2CE64958-37FD-4352-AF21-895EE897B3C0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E56FBC14-E5F6-4429-90A3-F43251C76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3970E50-BA1C-4176-BE58-A9447D06817D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F0DF305-8B9F-4B47-A6DA-28C486C41F2A}"/>
              </a:ext>
            </a:extLst>
          </p:cNvPr>
          <p:cNvGrpSpPr/>
          <p:nvPr/>
        </p:nvGrpSpPr>
        <p:grpSpPr>
          <a:xfrm>
            <a:off x="1086284" y="4770980"/>
            <a:ext cx="9828360" cy="1415826"/>
            <a:chOff x="739934" y="5150492"/>
            <a:chExt cx="9828360" cy="1415826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87AB521C-ACAF-43F7-9708-5C2B52C959A2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77" name="Conector recto de flecha 76">
                <a:extLst>
                  <a:ext uri="{FF2B5EF4-FFF2-40B4-BE49-F238E27FC236}">
                    <a16:creationId xmlns:a16="http://schemas.microsoft.com/office/drawing/2014/main" id="{D8208891-124A-48A1-8978-EA51F2D2A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de flecha 77">
                <a:extLst>
                  <a:ext uri="{FF2B5EF4-FFF2-40B4-BE49-F238E27FC236}">
                    <a16:creationId xmlns:a16="http://schemas.microsoft.com/office/drawing/2014/main" id="{5057E583-DE81-448A-8937-EF782E3440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96DD671D-9BB1-4A50-819A-6326B4D60EAF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98610610-2886-4E29-98B8-49E8C8BEC2C8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4C31B630-128E-4174-9FA6-06FA099BC9A4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64D51E1-D735-49C5-A665-C90FF41D1F4F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4EC89AB-0A82-4F1D-A8A5-C2EE39459C4C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3D9D873B-3BAF-4F02-A0DA-1391E34F62DF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816C7506-20F1-467F-B442-9914B96C540D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C30030-0D39-4573-923A-2B89A8D30D66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C246AA3-E1CE-4AE6-B3A3-E8320070A38C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EE930E2C-CECA-43A1-8F8F-BF8382494D4F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8BB2F0D4-F2F1-465D-99A9-A9E619F5D9F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E117DE9B-C91E-4272-B20E-D3ACB55D8AB2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5E1A2762-977B-4700-B8CF-42DC9B09944B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8C3A9394-1309-45BC-B694-4E279770C56B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936A1142-5E42-400E-9E8D-2BB7E2329071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76184976-3F48-44E5-B85D-B7AB4D8817E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6A69BED-7A9D-428C-9676-E5016985DC6E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9B708212-0554-48A0-90C9-3C64C64EE19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9C1628C2-EA24-4617-AE98-53F9C7C01813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95B65CD8-1D78-41AB-95F1-15CE18ACBC0F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9588A412-15FF-4CE1-BE90-FD541F42B76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BF3568AC-7FC2-4A1B-BD1A-991F1C8E1DD3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D99769E6-C04F-472D-9F53-87C99C7F9DAE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BD2A3CFC-AAB9-480E-A25D-BDA9072EC1B2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F2A3D495-16EF-4DFC-B102-16D2EB60C861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34B0DBED-BA1E-4982-B267-315DF6781280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DC42B5C6-073E-4BE1-AA20-1B7023A78FDD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AAB48DF3-5528-44B5-8951-CC90B2DB4842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62C81BC7-E60B-48C2-9A1B-3F95810B7A72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7D3426F8-F6BD-424B-9252-9432831D48FC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p:sp>
        <p:nvSpPr>
          <p:cNvPr id="79" name="Google Shape;769;p54">
            <a:extLst>
              <a:ext uri="{FF2B5EF4-FFF2-40B4-BE49-F238E27FC236}">
                <a16:creationId xmlns:a16="http://schemas.microsoft.com/office/drawing/2014/main" id="{E31798CB-E45F-4C6D-A263-6737FF8479B1}"/>
              </a:ext>
            </a:extLst>
          </p:cNvPr>
          <p:cNvSpPr txBox="1"/>
          <p:nvPr/>
        </p:nvSpPr>
        <p:spPr>
          <a:xfrm>
            <a:off x="7867475" y="1915251"/>
            <a:ext cx="53564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0000"/>
                </a:solidFill>
              </a:rPr>
              <a:t>[100]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80" name="Google Shape;770;p54">
            <a:extLst>
              <a:ext uri="{FF2B5EF4-FFF2-40B4-BE49-F238E27FC236}">
                <a16:creationId xmlns:a16="http://schemas.microsoft.com/office/drawing/2014/main" id="{847DD661-3F52-4D22-AD90-35FA450CC31D}"/>
              </a:ext>
            </a:extLst>
          </p:cNvPr>
          <p:cNvSpPr txBox="1"/>
          <p:nvPr/>
        </p:nvSpPr>
        <p:spPr>
          <a:xfrm>
            <a:off x="8581324" y="1923935"/>
            <a:ext cx="4587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1" name="Google Shape;771;p54">
            <a:extLst>
              <a:ext uri="{FF2B5EF4-FFF2-40B4-BE49-F238E27FC236}">
                <a16:creationId xmlns:a16="http://schemas.microsoft.com/office/drawing/2014/main" id="{C714CB69-E305-4552-8CF3-CE1046992B8B}"/>
              </a:ext>
            </a:extLst>
          </p:cNvPr>
          <p:cNvSpPr txBox="1"/>
          <p:nvPr/>
        </p:nvSpPr>
        <p:spPr>
          <a:xfrm>
            <a:off x="9218587" y="1915251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91442B70-3377-482F-A249-E1307950098A}"/>
              </a:ext>
            </a:extLst>
          </p:cNvPr>
          <p:cNvGrpSpPr/>
          <p:nvPr/>
        </p:nvGrpSpPr>
        <p:grpSpPr>
          <a:xfrm>
            <a:off x="268815" y="2796977"/>
            <a:ext cx="6097745" cy="1377048"/>
            <a:chOff x="268815" y="3190677"/>
            <a:chExt cx="6097745" cy="1377048"/>
          </a:xfrm>
        </p:grpSpPr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93CDEB17-2BF2-4A48-B5F4-58D6492C0383}"/>
                </a:ext>
              </a:extLst>
            </p:cNvPr>
            <p:cNvGrpSpPr/>
            <p:nvPr/>
          </p:nvGrpSpPr>
          <p:grpSpPr>
            <a:xfrm>
              <a:off x="406297" y="3190677"/>
              <a:ext cx="5960263" cy="1018645"/>
              <a:chOff x="6286570" y="5198935"/>
              <a:chExt cx="3755540" cy="1159915"/>
            </a:xfrm>
          </p:grpSpPr>
          <p:cxnSp>
            <p:nvCxnSpPr>
              <p:cNvPr id="69" name="Conector recto de flecha 68">
                <a:extLst>
                  <a:ext uri="{FF2B5EF4-FFF2-40B4-BE49-F238E27FC236}">
                    <a16:creationId xmlns:a16="http://schemas.microsoft.com/office/drawing/2014/main" id="{B568390A-8C58-4A81-8299-FE25B2A0E5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6570" y="6351605"/>
                <a:ext cx="3755540" cy="724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de flecha 69">
                <a:extLst>
                  <a:ext uri="{FF2B5EF4-FFF2-40B4-BE49-F238E27FC236}">
                    <a16:creationId xmlns:a16="http://schemas.microsoft.com/office/drawing/2014/main" id="{60392B63-391D-4636-839C-1D39AC5348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DA7A2E43-9C5B-4329-9180-3D3449FC5874}"/>
                </a:ext>
              </a:extLst>
            </p:cNvPr>
            <p:cNvCxnSpPr/>
            <p:nvPr/>
          </p:nvCxnSpPr>
          <p:spPr>
            <a:xfrm>
              <a:off x="1331114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2B7600DB-5B95-41D6-B827-C2390BA63011}"/>
                </a:ext>
              </a:extLst>
            </p:cNvPr>
            <p:cNvCxnSpPr/>
            <p:nvPr/>
          </p:nvCxnSpPr>
          <p:spPr>
            <a:xfrm>
              <a:off x="867459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1744426A-CD7B-4E1E-9B39-CE3B923CE80C}"/>
                </a:ext>
              </a:extLst>
            </p:cNvPr>
            <p:cNvCxnSpPr/>
            <p:nvPr/>
          </p:nvCxnSpPr>
          <p:spPr>
            <a:xfrm>
              <a:off x="224551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6CAE2C2B-D5CE-496B-BF19-85F5D92BC2FC}"/>
                </a:ext>
              </a:extLst>
            </p:cNvPr>
            <p:cNvCxnSpPr/>
            <p:nvPr/>
          </p:nvCxnSpPr>
          <p:spPr>
            <a:xfrm>
              <a:off x="178185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20965D14-8656-450E-AADE-F951DAEB6968}"/>
                </a:ext>
              </a:extLst>
            </p:cNvPr>
            <p:cNvCxnSpPr/>
            <p:nvPr/>
          </p:nvCxnSpPr>
          <p:spPr>
            <a:xfrm>
              <a:off x="3165801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A8C97DB0-6BAC-4FB6-876B-369567B15013}"/>
                </a:ext>
              </a:extLst>
            </p:cNvPr>
            <p:cNvCxnSpPr/>
            <p:nvPr/>
          </p:nvCxnSpPr>
          <p:spPr>
            <a:xfrm>
              <a:off x="2702146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DB554BF2-5D73-48B9-82EC-68E4E0CDFC1C}"/>
                </a:ext>
              </a:extLst>
            </p:cNvPr>
            <p:cNvCxnSpPr>
              <a:cxnSpLocks/>
            </p:cNvCxnSpPr>
            <p:nvPr/>
          </p:nvCxnSpPr>
          <p:spPr>
            <a:xfrm>
              <a:off x="407160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6EA5148B-67C2-40AA-BF10-A13ECC47895F}"/>
                </a:ext>
              </a:extLst>
            </p:cNvPr>
            <p:cNvCxnSpPr>
              <a:cxnSpLocks/>
            </p:cNvCxnSpPr>
            <p:nvPr/>
          </p:nvCxnSpPr>
          <p:spPr>
            <a:xfrm>
              <a:off x="360794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70BB059C-F0F0-42E2-994F-CD4237D13C7A}"/>
                </a:ext>
              </a:extLst>
            </p:cNvPr>
            <p:cNvCxnSpPr>
              <a:cxnSpLocks/>
            </p:cNvCxnSpPr>
            <p:nvPr/>
          </p:nvCxnSpPr>
          <p:spPr>
            <a:xfrm>
              <a:off x="499188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E4F95B94-31AE-4493-ABF1-AC1703AE1E56}"/>
                </a:ext>
              </a:extLst>
            </p:cNvPr>
            <p:cNvCxnSpPr>
              <a:cxnSpLocks/>
            </p:cNvCxnSpPr>
            <p:nvPr/>
          </p:nvCxnSpPr>
          <p:spPr>
            <a:xfrm>
              <a:off x="452823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84326528-D364-4923-940D-013B4DF97347}"/>
                </a:ext>
              </a:extLst>
            </p:cNvPr>
            <p:cNvCxnSpPr>
              <a:cxnSpLocks/>
            </p:cNvCxnSpPr>
            <p:nvPr/>
          </p:nvCxnSpPr>
          <p:spPr>
            <a:xfrm>
              <a:off x="590992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769C54FD-4CBD-48E3-810F-30EFE2263685}"/>
                </a:ext>
              </a:extLst>
            </p:cNvPr>
            <p:cNvCxnSpPr>
              <a:cxnSpLocks/>
            </p:cNvCxnSpPr>
            <p:nvPr/>
          </p:nvCxnSpPr>
          <p:spPr>
            <a:xfrm>
              <a:off x="544627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320F5515-7042-4CD2-BCA0-31A675C64263}"/>
                </a:ext>
              </a:extLst>
            </p:cNvPr>
            <p:cNvSpPr txBox="1"/>
            <p:nvPr/>
          </p:nvSpPr>
          <p:spPr>
            <a:xfrm>
              <a:off x="268815" y="424058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6B4D41C9-2708-42BF-8697-33FA05CD1971}"/>
                </a:ext>
              </a:extLst>
            </p:cNvPr>
            <p:cNvSpPr txBox="1"/>
            <p:nvPr/>
          </p:nvSpPr>
          <p:spPr>
            <a:xfrm>
              <a:off x="1158174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7384AAD9-44D8-49AD-82E3-434418B5CE40}"/>
                </a:ext>
              </a:extLst>
            </p:cNvPr>
            <p:cNvSpPr txBox="1"/>
            <p:nvPr/>
          </p:nvSpPr>
          <p:spPr>
            <a:xfrm>
              <a:off x="2072858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60A93CF4-DCAD-45BC-B4BD-22A92C9571F7}"/>
                </a:ext>
              </a:extLst>
            </p:cNvPr>
            <p:cNvSpPr txBox="1"/>
            <p:nvPr/>
          </p:nvSpPr>
          <p:spPr>
            <a:xfrm>
              <a:off x="2993974" y="4259948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20F9BBD8-D09E-4485-B58A-80A88456BCBC}"/>
                </a:ext>
              </a:extLst>
            </p:cNvPr>
            <p:cNvSpPr txBox="1"/>
            <p:nvPr/>
          </p:nvSpPr>
          <p:spPr>
            <a:xfrm>
              <a:off x="3888310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43AD543-681B-4A18-9C52-BDA399088305}"/>
                </a:ext>
              </a:extLst>
            </p:cNvPr>
            <p:cNvSpPr txBox="1"/>
            <p:nvPr/>
          </p:nvSpPr>
          <p:spPr>
            <a:xfrm>
              <a:off x="4768830" y="42519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671F025E-C6A9-43E5-BC2E-0A17F975B3E6}"/>
                </a:ext>
              </a:extLst>
            </p:cNvPr>
            <p:cNvSpPr txBox="1"/>
            <p:nvPr/>
          </p:nvSpPr>
          <p:spPr>
            <a:xfrm>
              <a:off x="5678728" y="4248875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8539A7EA-81B1-4A69-8A46-FF0D2EB5D840}"/>
              </a:ext>
            </a:extLst>
          </p:cNvPr>
          <p:cNvGrpSpPr/>
          <p:nvPr/>
        </p:nvGrpSpPr>
        <p:grpSpPr>
          <a:xfrm>
            <a:off x="441890" y="1010085"/>
            <a:ext cx="5124913" cy="1012282"/>
            <a:chOff x="3022600" y="4248863"/>
            <a:chExt cx="5124913" cy="1371871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80CCE33C-802D-4C24-9B8F-42DA587197B8}"/>
                </a:ext>
              </a:extLst>
            </p:cNvPr>
            <p:cNvGrpSpPr/>
            <p:nvPr/>
          </p:nvGrpSpPr>
          <p:grpSpPr>
            <a:xfrm>
              <a:off x="7566904" y="4280072"/>
              <a:ext cx="580609" cy="1340661"/>
              <a:chOff x="1572367" y="2355985"/>
              <a:chExt cx="580609" cy="1340661"/>
            </a:xfrm>
          </p:grpSpPr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5999602E-2CFD-438C-8DDA-9AF578E168BB}"/>
                  </a:ext>
                </a:extLst>
              </p:cNvPr>
              <p:cNvSpPr/>
              <p:nvPr/>
            </p:nvSpPr>
            <p:spPr>
              <a:xfrm>
                <a:off x="1572367" y="2870977"/>
                <a:ext cx="580609" cy="8256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BE394031-91A6-4D8E-8E43-170F37174D77}"/>
                  </a:ext>
                </a:extLst>
              </p:cNvPr>
              <p:cNvSpPr txBox="1"/>
              <p:nvPr/>
            </p:nvSpPr>
            <p:spPr>
              <a:xfrm>
                <a:off x="1572368" y="2355985"/>
                <a:ext cx="580608" cy="369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A121FFBE-DE08-4376-9BA7-DE56CD9E4613}"/>
                </a:ext>
              </a:extLst>
            </p:cNvPr>
            <p:cNvCxnSpPr>
              <a:cxnSpLocks/>
              <a:endCxn id="82" idx="1"/>
            </p:cNvCxnSpPr>
            <p:nvPr/>
          </p:nvCxnSpPr>
          <p:spPr>
            <a:xfrm>
              <a:off x="6364357" y="5205105"/>
              <a:ext cx="1202547" cy="27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: angular 73">
              <a:extLst>
                <a:ext uri="{FF2B5EF4-FFF2-40B4-BE49-F238E27FC236}">
                  <a16:creationId xmlns:a16="http://schemas.microsoft.com/office/drawing/2014/main" id="{59FAEEF5-3D69-4CC6-BE4B-EE888842E134}"/>
                </a:ext>
              </a:extLst>
            </p:cNvPr>
            <p:cNvCxnSpPr>
              <a:cxnSpLocks/>
              <a:stCxn id="82" idx="2"/>
            </p:cNvCxnSpPr>
            <p:nvPr/>
          </p:nvCxnSpPr>
          <p:spPr>
            <a:xfrm rot="5400000" flipH="1">
              <a:off x="5734934" y="3498459"/>
              <a:ext cx="182038" cy="4062512"/>
            </a:xfrm>
            <a:prstGeom prst="bentConnector4">
              <a:avLst>
                <a:gd name="adj1" fmla="val -224902"/>
                <a:gd name="adj2" fmla="val 10640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5636E001-06B2-48AC-B16A-8864F0591348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5D39E744-5A41-4BF0-87E9-C3A5265537C8}"/>
                </a:ext>
              </a:extLst>
            </p:cNvPr>
            <p:cNvGrpSpPr/>
            <p:nvPr/>
          </p:nvGrpSpPr>
          <p:grpSpPr>
            <a:xfrm>
              <a:off x="3934951" y="4248863"/>
              <a:ext cx="2480084" cy="1371870"/>
              <a:chOff x="3934951" y="4248863"/>
              <a:chExt cx="2480084" cy="1371870"/>
            </a:xfrm>
          </p:grpSpPr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DAE28A4F-BC58-4BAB-8936-124C7A59B4FF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79" name="Conector recto 78">
                  <a:extLst>
                    <a:ext uri="{FF2B5EF4-FFF2-40B4-BE49-F238E27FC236}">
                      <a16:creationId xmlns:a16="http://schemas.microsoft.com/office/drawing/2014/main" id="{2207FA55-B0FD-4989-8333-0A8AB926E47B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Conector recto 79">
                  <a:extLst>
                    <a:ext uri="{FF2B5EF4-FFF2-40B4-BE49-F238E27FC236}">
                      <a16:creationId xmlns:a16="http://schemas.microsoft.com/office/drawing/2014/main" id="{27CF8B97-6808-4FC6-B442-DEB840B39843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Conector recto 80">
                  <a:extLst>
                    <a:ext uri="{FF2B5EF4-FFF2-40B4-BE49-F238E27FC236}">
                      <a16:creationId xmlns:a16="http://schemas.microsoft.com/office/drawing/2014/main" id="{951097B9-56C2-4BEB-88A8-4A9F56D94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8AD8323D-D646-4231-95A9-A551BC0232E2}"/>
                  </a:ext>
                </a:extLst>
              </p:cNvPr>
              <p:cNvSpPr txBox="1"/>
              <p:nvPr/>
            </p:nvSpPr>
            <p:spPr>
              <a:xfrm>
                <a:off x="4858409" y="4248863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4" name="Tabla 4">
                <a:extLst>
                  <a:ext uri="{FF2B5EF4-FFF2-40B4-BE49-F238E27FC236}">
                    <a16:creationId xmlns:a16="http://schemas.microsoft.com/office/drawing/2014/main" id="{5B2E813D-B1E2-46A5-9B99-7C73C6CBA6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031663"/>
                  </p:ext>
                </p:extLst>
              </p:nvPr>
            </p:nvGraphicFramePr>
            <p:xfrm>
              <a:off x="9141527" y="334013"/>
              <a:ext cx="2533780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553594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4" name="Tabla 4">
                <a:extLst>
                  <a:ext uri="{FF2B5EF4-FFF2-40B4-BE49-F238E27FC236}">
                    <a16:creationId xmlns:a16="http://schemas.microsoft.com/office/drawing/2014/main" id="{5B2E813D-B1E2-46A5-9B99-7C73C6CBA6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0031663"/>
                  </p:ext>
                </p:extLst>
              </p:nvPr>
            </p:nvGraphicFramePr>
            <p:xfrm>
              <a:off x="9141527" y="334013"/>
              <a:ext cx="2533780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553594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3281" t="-8197" r="-391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6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105082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Relajación de las suposiciones ideales</a:t>
            </a:r>
            <a:endParaRPr dirty="0"/>
          </a:p>
        </p:txBody>
      </p:sp>
      <p:sp>
        <p:nvSpPr>
          <p:cNvPr id="794" name="Google Shape;794;p56"/>
          <p:cNvSpPr txBox="1">
            <a:spLocks noGrp="1"/>
          </p:cNvSpPr>
          <p:nvPr>
            <p:ph type="body" idx="1"/>
          </p:nvPr>
        </p:nvSpPr>
        <p:spPr>
          <a:xfrm>
            <a:off x="406400" y="1056200"/>
            <a:ext cx="11114650" cy="22095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son iniciados al mismo tiempo (arrival time).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Una vez iniciado, cada trabajo se ejecuta hasta su finalización.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solo usan la CPU (no I/O).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(runtime).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8FFC2EE-F5D7-49A7-9CF1-3B2E8518B28D}"/>
              </a:ext>
            </a:extLst>
          </p:cNvPr>
          <p:cNvGrpSpPr/>
          <p:nvPr/>
        </p:nvGrpSpPr>
        <p:grpSpPr>
          <a:xfrm>
            <a:off x="789700" y="3929850"/>
            <a:ext cx="3948000" cy="1270012"/>
            <a:chOff x="2770900" y="4196550"/>
            <a:chExt cx="3948000" cy="1270012"/>
          </a:xfrm>
        </p:grpSpPr>
        <p:grpSp>
          <p:nvGrpSpPr>
            <p:cNvPr id="796" name="Google Shape;796;p56"/>
            <p:cNvGrpSpPr/>
            <p:nvPr/>
          </p:nvGrpSpPr>
          <p:grpSpPr>
            <a:xfrm>
              <a:off x="2770900" y="4196550"/>
              <a:ext cx="3948000" cy="648900"/>
              <a:chOff x="2770900" y="4196550"/>
              <a:chExt cx="3948000" cy="648900"/>
            </a:xfrm>
          </p:grpSpPr>
          <p:sp>
            <p:nvSpPr>
              <p:cNvPr id="797" name="Google Shape;797;p56"/>
              <p:cNvSpPr/>
              <p:nvPr/>
            </p:nvSpPr>
            <p:spPr>
              <a:xfrm>
                <a:off x="2770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798" name="Google Shape;798;p56"/>
              <p:cNvSpPr/>
              <p:nvPr/>
            </p:nvSpPr>
            <p:spPr>
              <a:xfrm>
                <a:off x="35861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/>
                  <a:t>2</a:t>
                </a:r>
                <a:endParaRPr sz="2000" b="1" dirty="0"/>
              </a:p>
            </p:txBody>
          </p:sp>
          <p:sp>
            <p:nvSpPr>
              <p:cNvPr id="799" name="Google Shape;799;p56"/>
              <p:cNvSpPr/>
              <p:nvPr/>
            </p:nvSpPr>
            <p:spPr>
              <a:xfrm>
                <a:off x="441415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800" name="Google Shape;800;p56"/>
              <p:cNvSpPr/>
              <p:nvPr/>
            </p:nvSpPr>
            <p:spPr>
              <a:xfrm>
                <a:off x="5254825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801" name="Google Shape;801;p56"/>
              <p:cNvSpPr/>
              <p:nvPr/>
            </p:nvSpPr>
            <p:spPr>
              <a:xfrm>
                <a:off x="60955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802" name="Google Shape;802;p56"/>
            <p:cNvGrpSpPr/>
            <p:nvPr/>
          </p:nvGrpSpPr>
          <p:grpSpPr>
            <a:xfrm>
              <a:off x="2801650" y="5020862"/>
              <a:ext cx="3848388" cy="445700"/>
              <a:chOff x="2801650" y="5020862"/>
              <a:chExt cx="3848388" cy="445700"/>
            </a:xfrm>
          </p:grpSpPr>
          <p:pic>
            <p:nvPicPr>
              <p:cNvPr id="803" name="Google Shape;803;p5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01650" y="50245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4" name="Google Shape;804;p5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29638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5" name="Google Shape;805;p5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357613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6" name="Google Shape;806;p5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206813" y="50208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7" name="Google Shape;807;p5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701650" y="50245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7"/>
          <p:cNvSpPr txBox="1">
            <a:spLocks noGrp="1"/>
          </p:cNvSpPr>
          <p:nvPr>
            <p:ph type="title"/>
          </p:nvPr>
        </p:nvSpPr>
        <p:spPr>
          <a:xfrm>
            <a:off x="571500" y="96038"/>
            <a:ext cx="86491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sp>
        <p:nvSpPr>
          <p:cNvPr id="816" name="Google Shape;816;p57"/>
          <p:cNvSpPr txBox="1">
            <a:spLocks noGrp="1"/>
          </p:cNvSpPr>
          <p:nvPr>
            <p:ph type="body" idx="1"/>
          </p:nvPr>
        </p:nvSpPr>
        <p:spPr>
          <a:xfrm>
            <a:off x="469900" y="1056200"/>
            <a:ext cx="11051150" cy="237965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400" b="1" dirty="0">
                <a:latin typeface="+mn-lt"/>
              </a:rPr>
              <a:t>Ejemplo</a:t>
            </a:r>
            <a:r>
              <a:rPr lang="es-MX" sz="2400" dirty="0">
                <a:latin typeface="+mn-lt"/>
              </a:rPr>
              <a:t>: Suponga que se tiene una situación en la que: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Tres procesos llegan a un sistema (A, B y C)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A llega en t = 0 y B y C llegan en t = 20.</a:t>
            </a:r>
            <a:endParaRPr sz="2200" dirty="0">
              <a:latin typeface="+mn-lt"/>
            </a:endParaRP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A se ejecuta por 100 seg, B y C por 10 seg cada uno.</a:t>
            </a: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s-ES" sz="2200" b="1" dirty="0">
              <a:latin typeface="+mn-lt"/>
            </a:endParaRP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r>
              <a:rPr lang="es-ES" sz="2200" b="1" dirty="0">
                <a:latin typeface="+mn-lt"/>
              </a:rPr>
              <a:t>¿Cual es el turnarround time promedio?</a:t>
            </a: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817" name="Google Shape;817;p57"/>
          <p:cNvGraphicFramePr/>
          <p:nvPr>
            <p:extLst>
              <p:ext uri="{D42A27DB-BD31-4B8C-83A1-F6EECF244321}">
                <p14:modId xmlns:p14="http://schemas.microsoft.com/office/powerpoint/2010/main" val="1202712546"/>
              </p:ext>
            </p:extLst>
          </p:nvPr>
        </p:nvGraphicFramePr>
        <p:xfrm>
          <a:off x="3802575" y="3596875"/>
          <a:ext cx="4586850" cy="19506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20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2000" b="1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20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20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sp>
        <p:nvSpPr>
          <p:cNvPr id="827" name="Google Shape;827;p58"/>
          <p:cNvSpPr/>
          <p:nvPr/>
        </p:nvSpPr>
        <p:spPr>
          <a:xfrm>
            <a:off x="2121069" y="1615719"/>
            <a:ext cx="510000" cy="5421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828" name="Google Shape;828;p58"/>
          <p:cNvSpPr/>
          <p:nvPr/>
        </p:nvSpPr>
        <p:spPr>
          <a:xfrm>
            <a:off x="1497194" y="1615732"/>
            <a:ext cx="510000" cy="5421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829" name="Google Shape;829;p58"/>
          <p:cNvSpPr/>
          <p:nvPr/>
        </p:nvSpPr>
        <p:spPr>
          <a:xfrm>
            <a:off x="873319" y="1615719"/>
            <a:ext cx="510000" cy="5421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830" name="Google Shape;83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9507" y="1484544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1" name="Google Shape;831;p58"/>
          <p:cNvCxnSpPr/>
          <p:nvPr/>
        </p:nvCxnSpPr>
        <p:spPr>
          <a:xfrm>
            <a:off x="2796682" y="1886782"/>
            <a:ext cx="85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32" name="Google Shape;832;p58"/>
          <p:cNvSpPr/>
          <p:nvPr/>
        </p:nvSpPr>
        <p:spPr>
          <a:xfrm>
            <a:off x="9062244" y="1584469"/>
            <a:ext cx="510000" cy="5421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833" name="Google Shape;833;p58"/>
          <p:cNvSpPr/>
          <p:nvPr/>
        </p:nvSpPr>
        <p:spPr>
          <a:xfrm>
            <a:off x="8438369" y="1584482"/>
            <a:ext cx="510000" cy="5421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834" name="Google Shape;834;p58"/>
          <p:cNvSpPr/>
          <p:nvPr/>
        </p:nvSpPr>
        <p:spPr>
          <a:xfrm>
            <a:off x="7814494" y="1584469"/>
            <a:ext cx="510000" cy="5421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835" name="Google Shape;83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8494" y="1453269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6" name="Google Shape;836;p58"/>
          <p:cNvCxnSpPr/>
          <p:nvPr/>
        </p:nvCxnSpPr>
        <p:spPr>
          <a:xfrm>
            <a:off x="9686119" y="1855507"/>
            <a:ext cx="80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837" name="Google Shape;837;p58"/>
          <p:cNvGraphicFramePr/>
          <p:nvPr>
            <p:extLst>
              <p:ext uri="{D42A27DB-BD31-4B8C-83A1-F6EECF244321}">
                <p14:modId xmlns:p14="http://schemas.microsoft.com/office/powerpoint/2010/main" val="2561068950"/>
              </p:ext>
            </p:extLst>
          </p:nvPr>
        </p:nvGraphicFramePr>
        <p:xfrm>
          <a:off x="8903608" y="2989450"/>
          <a:ext cx="2852550" cy="146292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6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/>
                        <a:t>Proceso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rgbClr val="FF0000"/>
                          </a:solidFill>
                        </a:rPr>
                        <a:t>Arrival time</a:t>
                      </a:r>
                      <a:endParaRPr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/>
                        <a:t>Run-time</a:t>
                      </a:r>
                      <a:endParaRPr sz="12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</a:rPr>
                        <a:t>A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B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10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C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</a:rPr>
                        <a:t>20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/>
                        <a:t>10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38" name="Google Shape;838;p58"/>
          <p:cNvGrpSpPr/>
          <p:nvPr/>
        </p:nvGrpSpPr>
        <p:grpSpPr>
          <a:xfrm>
            <a:off x="5024144" y="1484469"/>
            <a:ext cx="2290200" cy="804600"/>
            <a:chOff x="5423925" y="2240025"/>
            <a:chExt cx="2290200" cy="804600"/>
          </a:xfrm>
        </p:grpSpPr>
        <p:sp>
          <p:nvSpPr>
            <p:cNvPr id="839" name="Google Shape;839;p58"/>
            <p:cNvSpPr/>
            <p:nvPr/>
          </p:nvSpPr>
          <p:spPr>
            <a:xfrm>
              <a:off x="5423925" y="2240025"/>
              <a:ext cx="2290200" cy="804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AA84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8"/>
            <p:cNvSpPr txBox="1"/>
            <p:nvPr/>
          </p:nvSpPr>
          <p:spPr>
            <a:xfrm>
              <a:off x="5616300" y="2438600"/>
              <a:ext cx="1837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lt1"/>
                  </a:solidFill>
                </a:rPr>
                <a:t>Reordenamiento</a:t>
              </a:r>
              <a:endParaRPr sz="1600" b="1">
                <a:solidFill>
                  <a:schemeClr val="lt1"/>
                </a:solidFill>
              </a:endParaRPr>
            </a:p>
          </p:txBody>
        </p:sp>
      </p:grpSp>
      <p:sp>
        <p:nvSpPr>
          <p:cNvPr id="841" name="Google Shape;841;p58"/>
          <p:cNvSpPr txBox="1"/>
          <p:nvPr/>
        </p:nvSpPr>
        <p:spPr>
          <a:xfrm>
            <a:off x="833444" y="1084332"/>
            <a:ext cx="183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/>
              <a:t>Orden de llegada</a:t>
            </a:r>
            <a:endParaRPr sz="1600" b="1" dirty="0"/>
          </a:p>
        </p:txBody>
      </p:sp>
      <p:sp>
        <p:nvSpPr>
          <p:cNvPr id="842" name="Google Shape;842;p58"/>
          <p:cNvSpPr txBox="1"/>
          <p:nvPr/>
        </p:nvSpPr>
        <p:spPr>
          <a:xfrm>
            <a:off x="7450919" y="1084157"/>
            <a:ext cx="223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/>
              <a:t>Orden de ejecución</a:t>
            </a:r>
            <a:endParaRPr sz="1600" b="1" dirty="0"/>
          </a:p>
        </p:txBody>
      </p:sp>
      <p:sp>
        <p:nvSpPr>
          <p:cNvPr id="843" name="Google Shape;843;p58"/>
          <p:cNvSpPr txBox="1"/>
          <p:nvPr/>
        </p:nvSpPr>
        <p:spPr>
          <a:xfrm>
            <a:off x="2121069" y="2136282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00B050"/>
                </a:solidFill>
              </a:rPr>
              <a:t>(~0)</a:t>
            </a:r>
            <a:endParaRPr sz="1200" b="1" dirty="0">
              <a:solidFill>
                <a:srgbClr val="00B050"/>
              </a:solidFill>
            </a:endParaRPr>
          </a:p>
        </p:txBody>
      </p:sp>
      <p:sp>
        <p:nvSpPr>
          <p:cNvPr id="844" name="Google Shape;844;p58"/>
          <p:cNvSpPr txBox="1"/>
          <p:nvPr/>
        </p:nvSpPr>
        <p:spPr>
          <a:xfrm>
            <a:off x="1440194" y="2136294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/>
              <a:t>(~20)</a:t>
            </a:r>
            <a:endParaRPr sz="1200" b="1" dirty="0"/>
          </a:p>
        </p:txBody>
      </p:sp>
      <p:sp>
        <p:nvSpPr>
          <p:cNvPr id="845" name="Google Shape;845;p58"/>
          <p:cNvSpPr txBox="1"/>
          <p:nvPr/>
        </p:nvSpPr>
        <p:spPr>
          <a:xfrm>
            <a:off x="816319" y="2136294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/>
              <a:t>(~20)</a:t>
            </a:r>
            <a:endParaRPr sz="1200" b="1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C3982913-DDA1-417C-B9EB-7032E16C5F1D}"/>
              </a:ext>
            </a:extLst>
          </p:cNvPr>
          <p:cNvGrpSpPr/>
          <p:nvPr/>
        </p:nvGrpSpPr>
        <p:grpSpPr>
          <a:xfrm>
            <a:off x="1229533" y="2773346"/>
            <a:ext cx="5466824" cy="1206174"/>
            <a:chOff x="3022600" y="4414559"/>
            <a:chExt cx="5466824" cy="1206174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82C1A3A5-D9E8-418E-8E0B-BAC40274FEAC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DB3346FA-AF43-4498-91A7-437DE711B3C1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500F97BC-387A-4DF4-9FB9-28B1105AB5F9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5EF000D0-350E-484B-9C78-877DAD14EB4C}"/>
                </a:ext>
              </a:extLst>
            </p:cNvPr>
            <p:cNvCxnSpPr>
              <a:endCxn id="37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: angular 28">
              <a:extLst>
                <a:ext uri="{FF2B5EF4-FFF2-40B4-BE49-F238E27FC236}">
                  <a16:creationId xmlns:a16="http://schemas.microsoft.com/office/drawing/2014/main" id="{F38C2F97-E7F2-4271-9813-6B7C0F0FA3AA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27AF3F96-FCE0-4C98-805E-FF9FB1BBACE1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A7261460-64F0-4856-8C9F-4BD2BDEDA51F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5857BEB8-3BDD-4EA2-B8B8-AEDBE828E89F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34" name="Conector recto 33">
                  <a:extLst>
                    <a:ext uri="{FF2B5EF4-FFF2-40B4-BE49-F238E27FC236}">
                      <a16:creationId xmlns:a16="http://schemas.microsoft.com/office/drawing/2014/main" id="{31D42DBD-D43F-46BD-8EB6-B1A9B5B1FFD3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3AA1051C-4C6E-4C5A-BD8C-34D115A318D5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ector recto 35">
                  <a:extLst>
                    <a:ext uri="{FF2B5EF4-FFF2-40B4-BE49-F238E27FC236}">
                      <a16:creationId xmlns:a16="http://schemas.microsoft.com/office/drawing/2014/main" id="{96622A7E-2F71-47DA-B7F4-C0715DB71B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736789EC-5311-46BC-B0C0-946FBCD3F983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3D8AA2CB-3B81-4878-BA92-7A2AB26C5203}"/>
              </a:ext>
            </a:extLst>
          </p:cNvPr>
          <p:cNvGrpSpPr/>
          <p:nvPr/>
        </p:nvGrpSpPr>
        <p:grpSpPr>
          <a:xfrm>
            <a:off x="1086284" y="5085770"/>
            <a:ext cx="9828360" cy="1415826"/>
            <a:chOff x="739934" y="5150492"/>
            <a:chExt cx="9828360" cy="1415826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ABDA36BC-B959-4B47-89FB-A993E6C02D2A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71" name="Conector recto de flecha 70">
                <a:extLst>
                  <a:ext uri="{FF2B5EF4-FFF2-40B4-BE49-F238E27FC236}">
                    <a16:creationId xmlns:a16="http://schemas.microsoft.com/office/drawing/2014/main" id="{2D978A07-1E02-47FD-8E62-8E1DDF4C58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de flecha 71">
                <a:extLst>
                  <a:ext uri="{FF2B5EF4-FFF2-40B4-BE49-F238E27FC236}">
                    <a16:creationId xmlns:a16="http://schemas.microsoft.com/office/drawing/2014/main" id="{0963A2D1-B545-4DCC-8FE3-43FD63145F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141D0432-6F00-4571-B542-2F4B8AA2A3D3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34E665B0-4C4B-4316-B5D2-7C9DBE090405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10345E6E-F182-46FB-BB0F-FC0A8A1E7EDC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FEE0A49-7E25-4DF1-845D-4A118B5B1FC8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37D329A3-2443-4CE8-8A08-C15027F29B16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D82AAB87-239B-4B60-A43B-B56623CF281B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1415257-6127-4613-8865-0245E9806927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1903526F-4EBD-405D-99D3-9BB32DA0A895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7436B19-764A-4AC2-B9E3-BC4A39826D3E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CB509061-022F-42C2-ADBF-34DF12FC2DC5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1937DDA-07A1-4F48-81E7-793FDF973D2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09A84633-65B7-42B5-8C6A-88AAA10965FB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5C6BFC56-D2DC-45BB-91D4-F3C41309C9A4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7E952C3-9D63-417F-B2A2-A748FB8A5CA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ACE23FE0-EFF7-4BD7-A27F-2048319C73D0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20554438-5AF2-4F91-9A0A-CB7E12CF74AE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F7384A2-B739-483F-9B76-89AD2A9821A7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3AA93F3C-A54A-485C-B472-8AA6AB630EAF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0DB9DFDD-DF03-48CD-912A-916F08735610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20B6DCD2-20EA-4352-AFCC-EDB700776B10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DE9A1AB2-35D2-40FD-AA4D-2D358D82A1D6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4B66F8F-3261-4B01-AA58-1B257C5FF0AB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E6DA89C2-8F39-408C-B50A-9435F9A83AE5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FEB9E57F-1E5D-4363-9513-CF25A846F254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4CE9BC11-F45E-477C-A80C-2C2997E9AB52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5FDE5EE4-ED7C-4847-A401-641976BAA123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B7AF6909-D703-4BC0-A198-44874808D521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B1725796-8FA3-4024-B0F9-F4BA6B07FEB1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3E2170E1-5C87-4F8C-BB2C-297F6F93CB06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DF9F714C-5B26-46ED-86F1-CC69AE9E5BCF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p:sp>
        <p:nvSpPr>
          <p:cNvPr id="73" name="Google Shape;769;p54">
            <a:extLst>
              <a:ext uri="{FF2B5EF4-FFF2-40B4-BE49-F238E27FC236}">
                <a16:creationId xmlns:a16="http://schemas.microsoft.com/office/drawing/2014/main" id="{E6703653-E93C-490D-82E6-F4BDDD8030E5}"/>
              </a:ext>
            </a:extLst>
          </p:cNvPr>
          <p:cNvSpPr txBox="1"/>
          <p:nvPr/>
        </p:nvSpPr>
        <p:spPr>
          <a:xfrm>
            <a:off x="2121069" y="2347672"/>
            <a:ext cx="53564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0000"/>
                </a:solidFill>
              </a:rPr>
              <a:t>[100]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74" name="Google Shape;770;p54">
            <a:extLst>
              <a:ext uri="{FF2B5EF4-FFF2-40B4-BE49-F238E27FC236}">
                <a16:creationId xmlns:a16="http://schemas.microsoft.com/office/drawing/2014/main" id="{FBBE790D-ED72-4916-9D5C-2D1135A4D80A}"/>
              </a:ext>
            </a:extLst>
          </p:cNvPr>
          <p:cNvSpPr txBox="1"/>
          <p:nvPr/>
        </p:nvSpPr>
        <p:spPr>
          <a:xfrm>
            <a:off x="1522844" y="2347672"/>
            <a:ext cx="4587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5" name="Google Shape;771;p54">
            <a:extLst>
              <a:ext uri="{FF2B5EF4-FFF2-40B4-BE49-F238E27FC236}">
                <a16:creationId xmlns:a16="http://schemas.microsoft.com/office/drawing/2014/main" id="{A8EB314C-DB0E-409E-8870-E86CD30CDBD4}"/>
              </a:ext>
            </a:extLst>
          </p:cNvPr>
          <p:cNvSpPr txBox="1"/>
          <p:nvPr/>
        </p:nvSpPr>
        <p:spPr>
          <a:xfrm>
            <a:off x="898969" y="2347659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6" name="Google Shape;843;p58">
            <a:extLst>
              <a:ext uri="{FF2B5EF4-FFF2-40B4-BE49-F238E27FC236}">
                <a16:creationId xmlns:a16="http://schemas.microsoft.com/office/drawing/2014/main" id="{B1FE3CDA-95FB-4752-859F-931F32CAE19D}"/>
              </a:ext>
            </a:extLst>
          </p:cNvPr>
          <p:cNvSpPr txBox="1"/>
          <p:nvPr/>
        </p:nvSpPr>
        <p:spPr>
          <a:xfrm>
            <a:off x="9080627" y="2116891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00B050"/>
                </a:solidFill>
              </a:rPr>
              <a:t>(~0)</a:t>
            </a:r>
            <a:endParaRPr sz="1200" b="1" dirty="0">
              <a:solidFill>
                <a:srgbClr val="00B050"/>
              </a:solidFill>
            </a:endParaRPr>
          </a:p>
        </p:txBody>
      </p:sp>
      <p:sp>
        <p:nvSpPr>
          <p:cNvPr id="77" name="Google Shape;844;p58">
            <a:extLst>
              <a:ext uri="{FF2B5EF4-FFF2-40B4-BE49-F238E27FC236}">
                <a16:creationId xmlns:a16="http://schemas.microsoft.com/office/drawing/2014/main" id="{87604734-0C5E-4578-BB9F-9DEA623FA981}"/>
              </a:ext>
            </a:extLst>
          </p:cNvPr>
          <p:cNvSpPr txBox="1"/>
          <p:nvPr/>
        </p:nvSpPr>
        <p:spPr>
          <a:xfrm>
            <a:off x="8399752" y="2116903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/>
              <a:t>(~20)</a:t>
            </a:r>
            <a:endParaRPr sz="1200" b="1" dirty="0"/>
          </a:p>
        </p:txBody>
      </p:sp>
      <p:sp>
        <p:nvSpPr>
          <p:cNvPr id="78" name="Google Shape;845;p58">
            <a:extLst>
              <a:ext uri="{FF2B5EF4-FFF2-40B4-BE49-F238E27FC236}">
                <a16:creationId xmlns:a16="http://schemas.microsoft.com/office/drawing/2014/main" id="{8C06A3CB-F572-4118-BE2F-8F490A5A8109}"/>
              </a:ext>
            </a:extLst>
          </p:cNvPr>
          <p:cNvSpPr txBox="1"/>
          <p:nvPr/>
        </p:nvSpPr>
        <p:spPr>
          <a:xfrm>
            <a:off x="7775877" y="2116903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/>
              <a:t>(~20)</a:t>
            </a:r>
            <a:endParaRPr sz="1200" b="1" dirty="0"/>
          </a:p>
        </p:txBody>
      </p:sp>
      <p:sp>
        <p:nvSpPr>
          <p:cNvPr id="79" name="Google Shape;769;p54">
            <a:extLst>
              <a:ext uri="{FF2B5EF4-FFF2-40B4-BE49-F238E27FC236}">
                <a16:creationId xmlns:a16="http://schemas.microsoft.com/office/drawing/2014/main" id="{F6E42250-0A79-4874-9BE2-2A60BE1F503E}"/>
              </a:ext>
            </a:extLst>
          </p:cNvPr>
          <p:cNvSpPr txBox="1"/>
          <p:nvPr/>
        </p:nvSpPr>
        <p:spPr>
          <a:xfrm>
            <a:off x="9080627" y="2328281"/>
            <a:ext cx="53564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FF0000"/>
                </a:solidFill>
              </a:rPr>
              <a:t>[100]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80" name="Google Shape;770;p54">
            <a:extLst>
              <a:ext uri="{FF2B5EF4-FFF2-40B4-BE49-F238E27FC236}">
                <a16:creationId xmlns:a16="http://schemas.microsoft.com/office/drawing/2014/main" id="{D339210D-9115-4352-B650-68337B81A55B}"/>
              </a:ext>
            </a:extLst>
          </p:cNvPr>
          <p:cNvSpPr txBox="1"/>
          <p:nvPr/>
        </p:nvSpPr>
        <p:spPr>
          <a:xfrm>
            <a:off x="8482402" y="2328281"/>
            <a:ext cx="4587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1" name="Google Shape;771;p54">
            <a:extLst>
              <a:ext uri="{FF2B5EF4-FFF2-40B4-BE49-F238E27FC236}">
                <a16:creationId xmlns:a16="http://schemas.microsoft.com/office/drawing/2014/main" id="{9FF012D7-CEE1-4E9F-A5B9-629856326E0D}"/>
              </a:ext>
            </a:extLst>
          </p:cNvPr>
          <p:cNvSpPr txBox="1"/>
          <p:nvPr/>
        </p:nvSpPr>
        <p:spPr>
          <a:xfrm>
            <a:off x="7858527" y="2328268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</a:rPr>
              <a:t>[10]</a:t>
            </a:r>
            <a:endParaRPr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9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9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9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7F4877D4-42C3-4CB1-B178-E6EC3B68B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2757764"/>
                  </p:ext>
                </p:extLst>
              </p:nvPr>
            </p:nvGraphicFramePr>
            <p:xfrm>
              <a:off x="9749562" y="234702"/>
              <a:ext cx="2151964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7F4877D4-42C3-4CB1-B178-E6EC3B68BD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2757764"/>
                  </p:ext>
                </p:extLst>
              </p:nvPr>
            </p:nvGraphicFramePr>
            <p:xfrm>
              <a:off x="9749562" y="234702"/>
              <a:ext cx="2151964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83938" t="-8197" r="-518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8" name="Grupo 47">
            <a:extLst>
              <a:ext uri="{FF2B5EF4-FFF2-40B4-BE49-F238E27FC236}">
                <a16:creationId xmlns:a16="http://schemas.microsoft.com/office/drawing/2014/main" id="{ECAC18B0-48FE-43DC-812B-23C9E28D6FB8}"/>
              </a:ext>
            </a:extLst>
          </p:cNvPr>
          <p:cNvGrpSpPr/>
          <p:nvPr/>
        </p:nvGrpSpPr>
        <p:grpSpPr>
          <a:xfrm>
            <a:off x="268815" y="2847777"/>
            <a:ext cx="6097745" cy="1377048"/>
            <a:chOff x="268815" y="3190677"/>
            <a:chExt cx="6097745" cy="1377048"/>
          </a:xfrm>
        </p:grpSpPr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7B4398F4-D395-4467-B9B8-E74E9CD958A8}"/>
                </a:ext>
              </a:extLst>
            </p:cNvPr>
            <p:cNvGrpSpPr/>
            <p:nvPr/>
          </p:nvGrpSpPr>
          <p:grpSpPr>
            <a:xfrm>
              <a:off x="406297" y="3190677"/>
              <a:ext cx="5960263" cy="1018645"/>
              <a:chOff x="6286570" y="5198935"/>
              <a:chExt cx="3755540" cy="1159915"/>
            </a:xfrm>
          </p:grpSpPr>
          <p:cxnSp>
            <p:nvCxnSpPr>
              <p:cNvPr id="69" name="Conector recto de flecha 68">
                <a:extLst>
                  <a:ext uri="{FF2B5EF4-FFF2-40B4-BE49-F238E27FC236}">
                    <a16:creationId xmlns:a16="http://schemas.microsoft.com/office/drawing/2014/main" id="{4DEE5C37-4B0C-4FEF-8681-A12F6EDFAE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6570" y="6351605"/>
                <a:ext cx="3755540" cy="724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de flecha 69">
                <a:extLst>
                  <a:ext uri="{FF2B5EF4-FFF2-40B4-BE49-F238E27FC236}">
                    <a16:creationId xmlns:a16="http://schemas.microsoft.com/office/drawing/2014/main" id="{3592270D-66AF-47B4-9F0C-89EAF630A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145C3D3-1023-4A6C-A0FE-715EBC779A1F}"/>
                </a:ext>
              </a:extLst>
            </p:cNvPr>
            <p:cNvCxnSpPr/>
            <p:nvPr/>
          </p:nvCxnSpPr>
          <p:spPr>
            <a:xfrm>
              <a:off x="1331114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CCFD5E0E-6A46-46B6-874D-9FE3E8A87F89}"/>
                </a:ext>
              </a:extLst>
            </p:cNvPr>
            <p:cNvCxnSpPr/>
            <p:nvPr/>
          </p:nvCxnSpPr>
          <p:spPr>
            <a:xfrm>
              <a:off x="867459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3603FD44-131F-478C-AFEE-E48E5A1BC66E}"/>
                </a:ext>
              </a:extLst>
            </p:cNvPr>
            <p:cNvCxnSpPr/>
            <p:nvPr/>
          </p:nvCxnSpPr>
          <p:spPr>
            <a:xfrm>
              <a:off x="224551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CB5371AE-60E6-4E6B-83CE-9E84AE5D6986}"/>
                </a:ext>
              </a:extLst>
            </p:cNvPr>
            <p:cNvCxnSpPr/>
            <p:nvPr/>
          </p:nvCxnSpPr>
          <p:spPr>
            <a:xfrm>
              <a:off x="178185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9B6EE3-3098-48FE-8EA5-AB3070C0B8F5}"/>
                </a:ext>
              </a:extLst>
            </p:cNvPr>
            <p:cNvCxnSpPr/>
            <p:nvPr/>
          </p:nvCxnSpPr>
          <p:spPr>
            <a:xfrm>
              <a:off x="3165801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E672CAB8-E443-43C4-BD00-93F2185AD74B}"/>
                </a:ext>
              </a:extLst>
            </p:cNvPr>
            <p:cNvCxnSpPr/>
            <p:nvPr/>
          </p:nvCxnSpPr>
          <p:spPr>
            <a:xfrm>
              <a:off x="2702146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A6DFACA3-1826-4EAE-9637-11934E41017B}"/>
                </a:ext>
              </a:extLst>
            </p:cNvPr>
            <p:cNvCxnSpPr>
              <a:cxnSpLocks/>
            </p:cNvCxnSpPr>
            <p:nvPr/>
          </p:nvCxnSpPr>
          <p:spPr>
            <a:xfrm>
              <a:off x="407160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AE58938A-AD91-4CE2-AE11-7061F1BB95E5}"/>
                </a:ext>
              </a:extLst>
            </p:cNvPr>
            <p:cNvCxnSpPr>
              <a:cxnSpLocks/>
            </p:cNvCxnSpPr>
            <p:nvPr/>
          </p:nvCxnSpPr>
          <p:spPr>
            <a:xfrm>
              <a:off x="360794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459868B8-1609-42F3-95E7-067122265FB7}"/>
                </a:ext>
              </a:extLst>
            </p:cNvPr>
            <p:cNvCxnSpPr>
              <a:cxnSpLocks/>
            </p:cNvCxnSpPr>
            <p:nvPr/>
          </p:nvCxnSpPr>
          <p:spPr>
            <a:xfrm>
              <a:off x="499188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771CCB88-B77B-4D28-9B98-0B1C0CF07062}"/>
                </a:ext>
              </a:extLst>
            </p:cNvPr>
            <p:cNvCxnSpPr>
              <a:cxnSpLocks/>
            </p:cNvCxnSpPr>
            <p:nvPr/>
          </p:nvCxnSpPr>
          <p:spPr>
            <a:xfrm>
              <a:off x="452823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6600DF4B-876B-48A8-8245-0D62F735E0F0}"/>
                </a:ext>
              </a:extLst>
            </p:cNvPr>
            <p:cNvCxnSpPr>
              <a:cxnSpLocks/>
            </p:cNvCxnSpPr>
            <p:nvPr/>
          </p:nvCxnSpPr>
          <p:spPr>
            <a:xfrm>
              <a:off x="590992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0DA9A2CB-8325-4EF6-A935-8D6E892BAECB}"/>
                </a:ext>
              </a:extLst>
            </p:cNvPr>
            <p:cNvCxnSpPr>
              <a:cxnSpLocks/>
            </p:cNvCxnSpPr>
            <p:nvPr/>
          </p:nvCxnSpPr>
          <p:spPr>
            <a:xfrm>
              <a:off x="544627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E8A45BB2-14CA-491C-857A-E060BC27112A}"/>
                </a:ext>
              </a:extLst>
            </p:cNvPr>
            <p:cNvSpPr txBox="1"/>
            <p:nvPr/>
          </p:nvSpPr>
          <p:spPr>
            <a:xfrm>
              <a:off x="268815" y="424058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9B9DA2F4-BA6B-46C2-B4E3-975DAB15EB14}"/>
                </a:ext>
              </a:extLst>
            </p:cNvPr>
            <p:cNvSpPr txBox="1"/>
            <p:nvPr/>
          </p:nvSpPr>
          <p:spPr>
            <a:xfrm>
              <a:off x="1158174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A119639F-F0A2-4C1B-A12C-DDDBFB4D3E99}"/>
                </a:ext>
              </a:extLst>
            </p:cNvPr>
            <p:cNvSpPr txBox="1"/>
            <p:nvPr/>
          </p:nvSpPr>
          <p:spPr>
            <a:xfrm>
              <a:off x="2072858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3DDBDA00-41B2-4BA5-8396-C594842334F3}"/>
                </a:ext>
              </a:extLst>
            </p:cNvPr>
            <p:cNvSpPr txBox="1"/>
            <p:nvPr/>
          </p:nvSpPr>
          <p:spPr>
            <a:xfrm>
              <a:off x="2993974" y="4259948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9DCF1A85-33B8-4239-B630-3B6487C12157}"/>
                </a:ext>
              </a:extLst>
            </p:cNvPr>
            <p:cNvSpPr txBox="1"/>
            <p:nvPr/>
          </p:nvSpPr>
          <p:spPr>
            <a:xfrm>
              <a:off x="3888310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D2D89302-594E-4B27-BEB5-5DE3A33CAC3B}"/>
                </a:ext>
              </a:extLst>
            </p:cNvPr>
            <p:cNvSpPr txBox="1"/>
            <p:nvPr/>
          </p:nvSpPr>
          <p:spPr>
            <a:xfrm>
              <a:off x="4768830" y="42519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F57A3831-A1D5-4EFC-AAA5-D72C04F43441}"/>
                </a:ext>
              </a:extLst>
            </p:cNvPr>
            <p:cNvSpPr txBox="1"/>
            <p:nvPr/>
          </p:nvSpPr>
          <p:spPr>
            <a:xfrm>
              <a:off x="5678728" y="4248875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4B44DEB1-F12B-4E91-8EDF-B8E776F0DA2B}"/>
              </a:ext>
            </a:extLst>
          </p:cNvPr>
          <p:cNvGrpSpPr/>
          <p:nvPr/>
        </p:nvGrpSpPr>
        <p:grpSpPr>
          <a:xfrm>
            <a:off x="517825" y="1159262"/>
            <a:ext cx="5124913" cy="1012282"/>
            <a:chOff x="3022600" y="4248863"/>
            <a:chExt cx="5124913" cy="1371871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E2B57326-B7E9-436D-9ED5-72F39F9FF196}"/>
                </a:ext>
              </a:extLst>
            </p:cNvPr>
            <p:cNvGrpSpPr/>
            <p:nvPr/>
          </p:nvGrpSpPr>
          <p:grpSpPr>
            <a:xfrm>
              <a:off x="7566904" y="4280072"/>
              <a:ext cx="580609" cy="1340661"/>
              <a:chOff x="1572367" y="2355985"/>
              <a:chExt cx="580609" cy="1340661"/>
            </a:xfrm>
          </p:grpSpPr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B7E549C8-ACBE-4236-820D-78934D9DA735}"/>
                  </a:ext>
                </a:extLst>
              </p:cNvPr>
              <p:cNvSpPr/>
              <p:nvPr/>
            </p:nvSpPr>
            <p:spPr>
              <a:xfrm>
                <a:off x="1572367" y="2870977"/>
                <a:ext cx="580609" cy="8256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E7E17ADC-9A1E-444B-82E4-86E21C379CF5}"/>
                  </a:ext>
                </a:extLst>
              </p:cNvPr>
              <p:cNvSpPr txBox="1"/>
              <p:nvPr/>
            </p:nvSpPr>
            <p:spPr>
              <a:xfrm>
                <a:off x="1572368" y="2355985"/>
                <a:ext cx="580608" cy="369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F79A310E-EF93-428D-93AA-F6125927EBE1}"/>
                </a:ext>
              </a:extLst>
            </p:cNvPr>
            <p:cNvCxnSpPr>
              <a:cxnSpLocks/>
              <a:endCxn id="82" idx="1"/>
            </p:cNvCxnSpPr>
            <p:nvPr/>
          </p:nvCxnSpPr>
          <p:spPr>
            <a:xfrm>
              <a:off x="6364357" y="5205105"/>
              <a:ext cx="1202547" cy="27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: angular 73">
              <a:extLst>
                <a:ext uri="{FF2B5EF4-FFF2-40B4-BE49-F238E27FC236}">
                  <a16:creationId xmlns:a16="http://schemas.microsoft.com/office/drawing/2014/main" id="{7A097BFD-06CC-41A2-8214-D81D0A251597}"/>
                </a:ext>
              </a:extLst>
            </p:cNvPr>
            <p:cNvCxnSpPr>
              <a:cxnSpLocks/>
              <a:stCxn id="82" idx="2"/>
            </p:cNvCxnSpPr>
            <p:nvPr/>
          </p:nvCxnSpPr>
          <p:spPr>
            <a:xfrm rot="5400000" flipH="1">
              <a:off x="5734934" y="3498459"/>
              <a:ext cx="182038" cy="4062512"/>
            </a:xfrm>
            <a:prstGeom prst="bentConnector4">
              <a:avLst>
                <a:gd name="adj1" fmla="val -224902"/>
                <a:gd name="adj2" fmla="val 10640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C97A4ADD-5FA6-4F12-BE0D-830E820BCEA8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3AA84F1E-20A8-43A6-9CE2-1BC8ED78DBCA}"/>
                </a:ext>
              </a:extLst>
            </p:cNvPr>
            <p:cNvGrpSpPr/>
            <p:nvPr/>
          </p:nvGrpSpPr>
          <p:grpSpPr>
            <a:xfrm>
              <a:off x="3934951" y="4248863"/>
              <a:ext cx="2480084" cy="1371870"/>
              <a:chOff x="3934951" y="4248863"/>
              <a:chExt cx="2480084" cy="1371870"/>
            </a:xfrm>
          </p:grpSpPr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8AF0B03A-A941-494A-9490-E4A4C78CD275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79" name="Conector recto 78">
                  <a:extLst>
                    <a:ext uri="{FF2B5EF4-FFF2-40B4-BE49-F238E27FC236}">
                      <a16:creationId xmlns:a16="http://schemas.microsoft.com/office/drawing/2014/main" id="{9784BBEC-DB95-4E95-AC43-7268F1748795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Conector recto 79">
                  <a:extLst>
                    <a:ext uri="{FF2B5EF4-FFF2-40B4-BE49-F238E27FC236}">
                      <a16:creationId xmlns:a16="http://schemas.microsoft.com/office/drawing/2014/main" id="{4E74BC7F-528F-4803-B5C6-57A41C6747A8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Conector recto 80">
                  <a:extLst>
                    <a:ext uri="{FF2B5EF4-FFF2-40B4-BE49-F238E27FC236}">
                      <a16:creationId xmlns:a16="http://schemas.microsoft.com/office/drawing/2014/main" id="{239F861A-BB0B-465B-B28A-FF06513A61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E6AB8606-6549-4149-A077-31752AA92865}"/>
                  </a:ext>
                </a:extLst>
              </p:cNvPr>
              <p:cNvSpPr txBox="1"/>
              <p:nvPr/>
            </p:nvSpPr>
            <p:spPr>
              <a:xfrm>
                <a:off x="4858409" y="4248863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0"/>
          <p:cNvSpPr txBox="1">
            <a:spLocks noGrp="1"/>
          </p:cNvSpPr>
          <p:nvPr>
            <p:ph type="title"/>
          </p:nvPr>
        </p:nvSpPr>
        <p:spPr>
          <a:xfrm>
            <a:off x="381000" y="96038"/>
            <a:ext cx="8839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Job First (SJF)</a:t>
            </a:r>
            <a:endParaRPr dirty="0"/>
          </a:p>
        </p:txBody>
      </p:sp>
      <p:sp>
        <p:nvSpPr>
          <p:cNvPr id="869" name="Google Shape;869;p60"/>
          <p:cNvSpPr txBox="1">
            <a:spLocks noGrp="1"/>
          </p:cNvSpPr>
          <p:nvPr>
            <p:ph type="body" idx="1"/>
          </p:nvPr>
        </p:nvSpPr>
        <p:spPr>
          <a:xfrm>
            <a:off x="381000" y="775269"/>
            <a:ext cx="5861250" cy="64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Comparación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0" name="Google Shape;870;p60"/>
          <p:cNvSpPr txBox="1"/>
          <p:nvPr/>
        </p:nvSpPr>
        <p:spPr>
          <a:xfrm>
            <a:off x="6485405" y="1255332"/>
            <a:ext cx="172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Caso 2: SJF</a:t>
            </a:r>
            <a:endParaRPr sz="2000" b="1"/>
          </a:p>
        </p:txBody>
      </p:sp>
      <p:sp>
        <p:nvSpPr>
          <p:cNvPr id="871" name="Google Shape;871;p60"/>
          <p:cNvSpPr txBox="1"/>
          <p:nvPr/>
        </p:nvSpPr>
        <p:spPr>
          <a:xfrm>
            <a:off x="463869" y="1353029"/>
            <a:ext cx="182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Caso 1: SJF</a:t>
            </a:r>
            <a:endParaRPr sz="2000" b="1" dirty="0"/>
          </a:p>
        </p:txBody>
      </p:sp>
      <p:pic>
        <p:nvPicPr>
          <p:cNvPr id="872" name="Google Shape;87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405" y="4089951"/>
            <a:ext cx="4622750" cy="22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295" y="3922015"/>
            <a:ext cx="4734570" cy="24775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60"/>
          <p:cNvGrpSpPr/>
          <p:nvPr/>
        </p:nvGrpSpPr>
        <p:grpSpPr>
          <a:xfrm>
            <a:off x="668657" y="2024173"/>
            <a:ext cx="3933600" cy="1247163"/>
            <a:chOff x="7350150" y="2667300"/>
            <a:chExt cx="3933600" cy="1247163"/>
          </a:xfrm>
        </p:grpSpPr>
        <p:grpSp>
          <p:nvGrpSpPr>
            <p:cNvPr id="875" name="Google Shape;875;p60"/>
            <p:cNvGrpSpPr/>
            <p:nvPr/>
          </p:nvGrpSpPr>
          <p:grpSpPr>
            <a:xfrm>
              <a:off x="7350150" y="2667300"/>
              <a:ext cx="3933600" cy="648900"/>
              <a:chOff x="1510300" y="2603975"/>
              <a:chExt cx="3933600" cy="648900"/>
            </a:xfrm>
          </p:grpSpPr>
          <p:sp>
            <p:nvSpPr>
              <p:cNvPr id="876" name="Google Shape;876;p6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877" name="Google Shape;877;p6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878" name="Google Shape;878;p6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879" name="Google Shape;879;p6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880" name="Google Shape;880;p6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881" name="Google Shape;881;p60"/>
            <p:cNvGrpSpPr/>
            <p:nvPr/>
          </p:nvGrpSpPr>
          <p:grpSpPr>
            <a:xfrm>
              <a:off x="7461788" y="3468762"/>
              <a:ext cx="3731875" cy="445700"/>
              <a:chOff x="7461788" y="3468762"/>
              <a:chExt cx="3731875" cy="445700"/>
            </a:xfrm>
          </p:grpSpPr>
          <p:pic>
            <p:nvPicPr>
              <p:cNvPr id="882" name="Google Shape;882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2677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3" name="Google Shape;883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0953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4" name="Google Shape;884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92288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5" name="Google Shape;885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750438" y="34687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6" name="Google Shape;886;p6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61788" y="34724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87" name="Google Shape;887;p60"/>
          <p:cNvGrpSpPr/>
          <p:nvPr/>
        </p:nvGrpSpPr>
        <p:grpSpPr>
          <a:xfrm>
            <a:off x="6722255" y="1985058"/>
            <a:ext cx="3933600" cy="1247163"/>
            <a:chOff x="7378663" y="2805413"/>
            <a:chExt cx="3933600" cy="1247163"/>
          </a:xfrm>
        </p:grpSpPr>
        <p:grpSp>
          <p:nvGrpSpPr>
            <p:cNvPr id="888" name="Google Shape;888;p60"/>
            <p:cNvGrpSpPr/>
            <p:nvPr/>
          </p:nvGrpSpPr>
          <p:grpSpPr>
            <a:xfrm>
              <a:off x="7378663" y="2805413"/>
              <a:ext cx="3933600" cy="648900"/>
              <a:chOff x="1510300" y="2603975"/>
              <a:chExt cx="3933600" cy="648900"/>
            </a:xfrm>
          </p:grpSpPr>
          <p:sp>
            <p:nvSpPr>
              <p:cNvPr id="889" name="Google Shape;889;p60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890" name="Google Shape;890;p60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891" name="Google Shape;891;p60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892" name="Google Shape;892;p60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893" name="Google Shape;893;p60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894" name="Google Shape;894;p60"/>
            <p:cNvGrpSpPr/>
            <p:nvPr/>
          </p:nvGrpSpPr>
          <p:grpSpPr>
            <a:xfrm>
              <a:off x="7490300" y="3606875"/>
              <a:ext cx="3731875" cy="445700"/>
              <a:chOff x="7490300" y="3606875"/>
              <a:chExt cx="3731875" cy="445700"/>
            </a:xfrm>
          </p:grpSpPr>
          <p:pic>
            <p:nvPicPr>
              <p:cNvPr id="895" name="Google Shape;895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1238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6" name="Google Shape;896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95140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7" name="Google Shape;897;p6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7789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8" name="Google Shape;898;p6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90300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9" name="Google Shape;899;p6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8307075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00" name="Google Shape;900;p60"/>
          <p:cNvSpPr/>
          <p:nvPr/>
        </p:nvSpPr>
        <p:spPr>
          <a:xfrm>
            <a:off x="9738217" y="3343583"/>
            <a:ext cx="2134549" cy="1229129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</a:rPr>
              <a:t>No basta solo con ordenar</a:t>
            </a:r>
            <a:endParaRPr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1"/>
          <p:cNvSpPr txBox="1">
            <a:spLocks noGrp="1"/>
          </p:cNvSpPr>
          <p:nvPr>
            <p:ph type="title"/>
          </p:nvPr>
        </p:nvSpPr>
        <p:spPr>
          <a:xfrm>
            <a:off x="571500" y="106700"/>
            <a:ext cx="1040318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</a:p>
        </p:txBody>
      </p:sp>
      <p:sp>
        <p:nvSpPr>
          <p:cNvPr id="909" name="Google Shape;909;p61"/>
          <p:cNvSpPr txBox="1">
            <a:spLocks noGrp="1"/>
          </p:cNvSpPr>
          <p:nvPr>
            <p:ph type="body" idx="1"/>
          </p:nvPr>
        </p:nvSpPr>
        <p:spPr>
          <a:xfrm>
            <a:off x="393700" y="1056200"/>
            <a:ext cx="11127350" cy="35457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400" dirty="0">
                <a:latin typeface="+mn-lt"/>
              </a:rPr>
              <a:t>Versión apropiativa (preemptive) del algoritmo </a:t>
            </a:r>
            <a:r>
              <a:rPr lang="es-ES" sz="2400" b="1" dirty="0">
                <a:latin typeface="+mn-lt"/>
              </a:rPr>
              <a:t>SJF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procesador se asigna al trabajo que está más próximo a completarse.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Un trabajo en ejecución puede </a:t>
            </a:r>
            <a:r>
              <a:rPr lang="es-ES" sz="2400" b="1" u="sng" dirty="0">
                <a:latin typeface="+mn-lt"/>
              </a:rPr>
              <a:t>expropiarse</a:t>
            </a:r>
            <a:r>
              <a:rPr lang="es-ES" sz="2400" dirty="0">
                <a:latin typeface="+mn-lt"/>
              </a:rPr>
              <a:t>, si hay un trabajo nuevo (en la cola READY) con un menor tiempo de ejecución.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latin typeface="+mn-lt"/>
              </a:rPr>
              <a:t>Funcionamiento básico</a:t>
            </a:r>
            <a:r>
              <a:rPr lang="es-ES" sz="2400" dirty="0">
                <a:latin typeface="+mn-lt"/>
              </a:rPr>
              <a:t>: Si un nuevo trabajo entra al sistema: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dirty="0">
                <a:latin typeface="+mn-lt"/>
              </a:rPr>
              <a:t>Compare, incluyendo los trabajos restantes y el nuevo trabajo.</a:t>
            </a:r>
            <a:endParaRPr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dirty="0">
                <a:latin typeface="+mn-lt"/>
              </a:rPr>
              <a:t>Asigne la CPU al trabajo que requiera el menor tiempo para terminar.</a:t>
            </a:r>
            <a:endParaRPr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2"/>
          <p:cNvSpPr txBox="1">
            <a:spLocks noGrp="1"/>
          </p:cNvSpPr>
          <p:nvPr>
            <p:ph type="title"/>
          </p:nvPr>
        </p:nvSpPr>
        <p:spPr>
          <a:xfrm>
            <a:off x="444500" y="96038"/>
            <a:ext cx="1059768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Relajando las suposiciones ideales</a:t>
            </a:r>
            <a:endParaRPr dirty="0"/>
          </a:p>
        </p:txBody>
      </p:sp>
      <p:sp>
        <p:nvSpPr>
          <p:cNvPr id="918" name="Google Shape;918;p62"/>
          <p:cNvSpPr txBox="1">
            <a:spLocks noGrp="1"/>
          </p:cNvSpPr>
          <p:nvPr>
            <p:ph type="body" idx="1"/>
          </p:nvPr>
        </p:nvSpPr>
        <p:spPr>
          <a:xfrm>
            <a:off x="342900" y="1056200"/>
            <a:ext cx="11178150" cy="219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son iniciados al mismo tiempo (arrival time).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Una vez iniciado, cada trabajo se ejecuta hasta su finalización.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Todos los trabajos solo usan la CPU (no I/O).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(runtime).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0" name="Google Shape;1031;p66">
            <a:extLst>
              <a:ext uri="{FF2B5EF4-FFF2-40B4-BE49-F238E27FC236}">
                <a16:creationId xmlns:a16="http://schemas.microsoft.com/office/drawing/2014/main" id="{B69D436C-EE0C-4EBF-8D0C-6D7C1DC15499}"/>
              </a:ext>
            </a:extLst>
          </p:cNvPr>
          <p:cNvGrpSpPr/>
          <p:nvPr/>
        </p:nvGrpSpPr>
        <p:grpSpPr>
          <a:xfrm>
            <a:off x="619327" y="3756325"/>
            <a:ext cx="3933600" cy="1247163"/>
            <a:chOff x="7378663" y="2805413"/>
            <a:chExt cx="3933600" cy="1247163"/>
          </a:xfrm>
        </p:grpSpPr>
        <p:grpSp>
          <p:nvGrpSpPr>
            <p:cNvPr id="21" name="Google Shape;1032;p66">
              <a:extLst>
                <a:ext uri="{FF2B5EF4-FFF2-40B4-BE49-F238E27FC236}">
                  <a16:creationId xmlns:a16="http://schemas.microsoft.com/office/drawing/2014/main" id="{3BE4D5CB-0B78-40EA-9915-6F324BEC841B}"/>
                </a:ext>
              </a:extLst>
            </p:cNvPr>
            <p:cNvGrpSpPr/>
            <p:nvPr/>
          </p:nvGrpSpPr>
          <p:grpSpPr>
            <a:xfrm>
              <a:off x="7378663" y="2805413"/>
              <a:ext cx="3933600" cy="648900"/>
              <a:chOff x="1510300" y="2603975"/>
              <a:chExt cx="3933600" cy="648900"/>
            </a:xfrm>
          </p:grpSpPr>
          <p:sp>
            <p:nvSpPr>
              <p:cNvPr id="28" name="Google Shape;1033;p66">
                <a:extLst>
                  <a:ext uri="{FF2B5EF4-FFF2-40B4-BE49-F238E27FC236}">
                    <a16:creationId xmlns:a16="http://schemas.microsoft.com/office/drawing/2014/main" id="{B001D417-3173-435E-B9DB-6A7D838D5325}"/>
                  </a:ext>
                </a:extLst>
              </p:cNvPr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9" name="Google Shape;1034;p66">
                <a:extLst>
                  <a:ext uri="{FF2B5EF4-FFF2-40B4-BE49-F238E27FC236}">
                    <a16:creationId xmlns:a16="http://schemas.microsoft.com/office/drawing/2014/main" id="{A6389FB2-21AE-4FAD-AA81-47CCC8FAD387}"/>
                  </a:ext>
                </a:extLst>
              </p:cNvPr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30" name="Google Shape;1035;p66">
                <a:extLst>
                  <a:ext uri="{FF2B5EF4-FFF2-40B4-BE49-F238E27FC236}">
                    <a16:creationId xmlns:a16="http://schemas.microsoft.com/office/drawing/2014/main" id="{69E332DA-01AF-4414-9311-D9A2B9BFFE10}"/>
                  </a:ext>
                </a:extLst>
              </p:cNvPr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31" name="Google Shape;1036;p66">
                <a:extLst>
                  <a:ext uri="{FF2B5EF4-FFF2-40B4-BE49-F238E27FC236}">
                    <a16:creationId xmlns:a16="http://schemas.microsoft.com/office/drawing/2014/main" id="{D01FE696-8DC9-46AC-B11F-BE9AF130FD60}"/>
                  </a:ext>
                </a:extLst>
              </p:cNvPr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2" name="Google Shape;1037;p66">
                <a:extLst>
                  <a:ext uri="{FF2B5EF4-FFF2-40B4-BE49-F238E27FC236}">
                    <a16:creationId xmlns:a16="http://schemas.microsoft.com/office/drawing/2014/main" id="{FB0C2850-637F-4F67-AD33-11A4BF6F65B1}"/>
                  </a:ext>
                </a:extLst>
              </p:cNvPr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22" name="Google Shape;1038;p66">
              <a:extLst>
                <a:ext uri="{FF2B5EF4-FFF2-40B4-BE49-F238E27FC236}">
                  <a16:creationId xmlns:a16="http://schemas.microsoft.com/office/drawing/2014/main" id="{ED01100E-B4A5-4019-BF2F-C21622F86C87}"/>
                </a:ext>
              </a:extLst>
            </p:cNvPr>
            <p:cNvGrpSpPr/>
            <p:nvPr/>
          </p:nvGrpSpPr>
          <p:grpSpPr>
            <a:xfrm>
              <a:off x="7490300" y="3606875"/>
              <a:ext cx="3731875" cy="445700"/>
              <a:chOff x="7490300" y="3606875"/>
              <a:chExt cx="3731875" cy="445700"/>
            </a:xfrm>
          </p:grpSpPr>
          <p:pic>
            <p:nvPicPr>
              <p:cNvPr id="23" name="Google Shape;1039;p66">
                <a:extLst>
                  <a:ext uri="{FF2B5EF4-FFF2-40B4-BE49-F238E27FC236}">
                    <a16:creationId xmlns:a16="http://schemas.microsoft.com/office/drawing/2014/main" id="{D15CDA7C-BF03-40EF-B56C-3CC83E5F1D9E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995140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1040;p66">
                <a:extLst>
                  <a:ext uri="{FF2B5EF4-FFF2-40B4-BE49-F238E27FC236}">
                    <a16:creationId xmlns:a16="http://schemas.microsoft.com/office/drawing/2014/main" id="{0FBCC096-E1DE-417C-BE27-3AE177320296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7789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1041;p66">
                <a:extLst>
                  <a:ext uri="{FF2B5EF4-FFF2-40B4-BE49-F238E27FC236}">
                    <a16:creationId xmlns:a16="http://schemas.microsoft.com/office/drawing/2014/main" id="{9048017F-37AD-414D-B540-B11DDF79DACD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490300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1042;p66">
                <a:extLst>
                  <a:ext uri="{FF2B5EF4-FFF2-40B4-BE49-F238E27FC236}">
                    <a16:creationId xmlns:a16="http://schemas.microsoft.com/office/drawing/2014/main" id="{A43ED87F-5044-484C-AC00-20CEAE976A41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307075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1043;p66">
                <a:extLst>
                  <a:ext uri="{FF2B5EF4-FFF2-40B4-BE49-F238E27FC236}">
                    <a16:creationId xmlns:a16="http://schemas.microsoft.com/office/drawing/2014/main" id="{9AE72A5B-31B6-4F0D-809B-AF311079109F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129238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3"/>
          <p:cNvSpPr txBox="1">
            <a:spLocks noGrp="1"/>
          </p:cNvSpPr>
          <p:nvPr>
            <p:ph type="title"/>
          </p:nvPr>
        </p:nvSpPr>
        <p:spPr>
          <a:xfrm>
            <a:off x="419100" y="96038"/>
            <a:ext cx="103173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p:sp>
        <p:nvSpPr>
          <p:cNvPr id="940" name="Google Shape;940;p63"/>
          <p:cNvSpPr txBox="1">
            <a:spLocks noGrp="1"/>
          </p:cNvSpPr>
          <p:nvPr>
            <p:ph type="body" idx="1"/>
          </p:nvPr>
        </p:nvSpPr>
        <p:spPr>
          <a:xfrm>
            <a:off x="916650" y="1056200"/>
            <a:ext cx="10604400" cy="237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latin typeface="+mn-lt"/>
              </a:rPr>
              <a:t>: Suponga que se tiene una situación en la que:</a:t>
            </a:r>
          </a:p>
          <a:p>
            <a:pPr marL="558800" indent="-4572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200" dirty="0">
                <a:latin typeface="+mn-lt"/>
              </a:rPr>
              <a:t>Tres procesos llegan a un sistema (A, B y C)</a:t>
            </a:r>
          </a:p>
          <a:p>
            <a:pPr marL="558800" indent="-4572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A llega en t = 0 y B y C llegan en t = 20.</a:t>
            </a:r>
          </a:p>
          <a:p>
            <a:pPr marL="558800" indent="-4572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A se ejecuta por 100 seg, B y C por 10 seg cada uno.</a:t>
            </a: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s-ES" sz="2200" b="1" dirty="0">
              <a:latin typeface="+mn-lt"/>
            </a:endParaRPr>
          </a:p>
          <a:p>
            <a:pPr marL="558800" lvl="1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r>
              <a:rPr lang="es-ES" sz="2200" b="1" dirty="0">
                <a:latin typeface="+mn-lt"/>
              </a:rPr>
              <a:t>¿Cual es el turnarround time promedio?</a:t>
            </a: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941" name="Google Shape;941;p63"/>
          <p:cNvGraphicFramePr/>
          <p:nvPr>
            <p:extLst>
              <p:ext uri="{D42A27DB-BD31-4B8C-83A1-F6EECF244321}">
                <p14:modId xmlns:p14="http://schemas.microsoft.com/office/powerpoint/2010/main" val="1243262598"/>
              </p:ext>
            </p:extLst>
          </p:nvPr>
        </p:nvGraphicFramePr>
        <p:xfrm>
          <a:off x="3802575" y="3439662"/>
          <a:ext cx="4586850" cy="195060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5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20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2000" b="1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20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20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sz="200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9979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p:sp>
        <p:nvSpPr>
          <p:cNvPr id="951" name="Google Shape;951;p64"/>
          <p:cNvSpPr/>
          <p:nvPr/>
        </p:nvSpPr>
        <p:spPr>
          <a:xfrm>
            <a:off x="1902186" y="1726941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A</a:t>
            </a:r>
            <a:endParaRPr sz="2000" b="1"/>
          </a:p>
        </p:txBody>
      </p:sp>
      <p:sp>
        <p:nvSpPr>
          <p:cNvPr id="952" name="Google Shape;952;p64"/>
          <p:cNvSpPr/>
          <p:nvPr/>
        </p:nvSpPr>
        <p:spPr>
          <a:xfrm>
            <a:off x="1278311" y="1726954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B</a:t>
            </a:r>
            <a:endParaRPr sz="2000" b="1"/>
          </a:p>
        </p:txBody>
      </p:sp>
      <p:sp>
        <p:nvSpPr>
          <p:cNvPr id="953" name="Google Shape;953;p64"/>
          <p:cNvSpPr/>
          <p:nvPr/>
        </p:nvSpPr>
        <p:spPr>
          <a:xfrm>
            <a:off x="654436" y="1726941"/>
            <a:ext cx="510000" cy="542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C</a:t>
            </a:r>
            <a:endParaRPr sz="2000" b="1"/>
          </a:p>
        </p:txBody>
      </p:sp>
      <p:pic>
        <p:nvPicPr>
          <p:cNvPr id="954" name="Google Shape;9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624" y="1595766"/>
            <a:ext cx="804475" cy="80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5" name="Google Shape;955;p64"/>
          <p:cNvCxnSpPr/>
          <p:nvPr/>
        </p:nvCxnSpPr>
        <p:spPr>
          <a:xfrm>
            <a:off x="2577799" y="1998004"/>
            <a:ext cx="85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957" name="Google Shape;957;p64"/>
          <p:cNvGrpSpPr/>
          <p:nvPr/>
        </p:nvGrpSpPr>
        <p:grpSpPr>
          <a:xfrm>
            <a:off x="4547011" y="1347166"/>
            <a:ext cx="2608800" cy="1301700"/>
            <a:chOff x="5241875" y="1991500"/>
            <a:chExt cx="2608800" cy="1301700"/>
          </a:xfrm>
        </p:grpSpPr>
        <p:sp>
          <p:nvSpPr>
            <p:cNvPr id="958" name="Google Shape;958;p64"/>
            <p:cNvSpPr/>
            <p:nvPr/>
          </p:nvSpPr>
          <p:spPr>
            <a:xfrm>
              <a:off x="5241875" y="2240025"/>
              <a:ext cx="2608800" cy="804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AA84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4"/>
            <p:cNvSpPr txBox="1"/>
            <p:nvPr/>
          </p:nvSpPr>
          <p:spPr>
            <a:xfrm>
              <a:off x="5468475" y="1991500"/>
              <a:ext cx="1837500" cy="13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</a:rPr>
                <a:t>Apropiación</a:t>
              </a:r>
              <a:endParaRPr sz="1600" b="1">
                <a:solidFill>
                  <a:srgbClr val="FF0000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5"/>
                  </a:solidFill>
                </a:rPr>
                <a:t>Reordenamiento</a:t>
              </a:r>
              <a:endParaRPr sz="1600" b="1">
                <a:solidFill>
                  <a:schemeClr val="accent5"/>
                </a:solidFill>
              </a:endParaRPr>
            </a:p>
          </p:txBody>
        </p:sp>
      </p:grpSp>
      <p:sp>
        <p:nvSpPr>
          <p:cNvPr id="960" name="Google Shape;960;p64"/>
          <p:cNvSpPr txBox="1"/>
          <p:nvPr/>
        </p:nvSpPr>
        <p:spPr>
          <a:xfrm>
            <a:off x="614561" y="1195554"/>
            <a:ext cx="183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/>
              <a:t>Orden de llegada</a:t>
            </a:r>
            <a:endParaRPr sz="1600"/>
          </a:p>
        </p:txBody>
      </p:sp>
      <p:sp>
        <p:nvSpPr>
          <p:cNvPr id="962" name="Google Shape;962;p64"/>
          <p:cNvSpPr txBox="1"/>
          <p:nvPr/>
        </p:nvSpPr>
        <p:spPr>
          <a:xfrm>
            <a:off x="1902186" y="2247504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963" name="Google Shape;963;p64"/>
          <p:cNvSpPr txBox="1"/>
          <p:nvPr/>
        </p:nvSpPr>
        <p:spPr>
          <a:xfrm>
            <a:off x="1221311" y="2247516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(~20)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964" name="Google Shape;964;p64"/>
          <p:cNvSpPr txBox="1"/>
          <p:nvPr/>
        </p:nvSpPr>
        <p:spPr>
          <a:xfrm>
            <a:off x="597436" y="2247516"/>
            <a:ext cx="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</a:rPr>
              <a:t>(~20)</a:t>
            </a:r>
            <a:endParaRPr sz="1200" b="1">
              <a:solidFill>
                <a:schemeClr val="accent2"/>
              </a:solidFill>
            </a:endParaRPr>
          </a:p>
        </p:txBody>
      </p:sp>
      <p:graphicFrame>
        <p:nvGraphicFramePr>
          <p:cNvPr id="50" name="Google Shape;941;p63">
            <a:extLst>
              <a:ext uri="{FF2B5EF4-FFF2-40B4-BE49-F238E27FC236}">
                <a16:creationId xmlns:a16="http://schemas.microsoft.com/office/drawing/2014/main" id="{D81EF060-28FE-448F-AEA7-213DEDB1EB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3494058"/>
              </p:ext>
            </p:extLst>
          </p:nvPr>
        </p:nvGraphicFramePr>
        <p:xfrm>
          <a:off x="8077314" y="1195554"/>
          <a:ext cx="3517250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8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</a:rPr>
                        <a:t>Proceso</a:t>
                      </a:r>
                      <a:endParaRPr sz="1800"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Arrival time</a:t>
                      </a:r>
                      <a:endParaRPr sz="18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</a:rPr>
                        <a:t>Run-time</a:t>
                      </a:r>
                      <a:endParaRPr sz="1800"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</a:rPr>
                        <a:t>100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B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+mn-lt"/>
                        </a:rPr>
                        <a:t>20</a:t>
                      </a:r>
                      <a:endParaRPr sz="180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10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C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+mn-lt"/>
                        </a:rPr>
                        <a:t>20</a:t>
                      </a:r>
                      <a:endParaRPr sz="18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10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1" name="Grupo 50">
            <a:extLst>
              <a:ext uri="{FF2B5EF4-FFF2-40B4-BE49-F238E27FC236}">
                <a16:creationId xmlns:a16="http://schemas.microsoft.com/office/drawing/2014/main" id="{4FB86A1D-30BC-4650-AF84-CAD9B60B10AA}"/>
              </a:ext>
            </a:extLst>
          </p:cNvPr>
          <p:cNvGrpSpPr/>
          <p:nvPr/>
        </p:nvGrpSpPr>
        <p:grpSpPr>
          <a:xfrm>
            <a:off x="1229533" y="2773346"/>
            <a:ext cx="5466824" cy="1206174"/>
            <a:chOff x="3022600" y="4414559"/>
            <a:chExt cx="5466824" cy="1206174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E624F512-1343-4DB5-9A25-90453F4799D7}"/>
                </a:ext>
              </a:extLst>
            </p:cNvPr>
            <p:cNvGrpSpPr/>
            <p:nvPr/>
          </p:nvGrpSpPr>
          <p:grpSpPr>
            <a:xfrm>
              <a:off x="7615227" y="4425731"/>
              <a:ext cx="874197" cy="1195002"/>
              <a:chOff x="1620690" y="2501644"/>
              <a:chExt cx="874197" cy="1195002"/>
            </a:xfrm>
          </p:grpSpPr>
          <p:sp>
            <p:nvSpPr>
              <p:cNvPr id="62" name="Rectángulo 61">
                <a:extLst>
                  <a:ext uri="{FF2B5EF4-FFF2-40B4-BE49-F238E27FC236}">
                    <a16:creationId xmlns:a16="http://schemas.microsoft.com/office/drawing/2014/main" id="{C0BB13EE-D9F3-4EC2-959D-A61B37DC21CA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BC2E2F92-4030-4C18-9E50-56B382CFD1CF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F5FE2A5D-27D8-43B6-9D39-E22CA6B05CE9}"/>
                </a:ext>
              </a:extLst>
            </p:cNvPr>
            <p:cNvCxnSpPr>
              <a:endCxn id="62" idx="1"/>
            </p:cNvCxnSpPr>
            <p:nvPr/>
          </p:nvCxnSpPr>
          <p:spPr>
            <a:xfrm>
              <a:off x="6412680" y="5205105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: angular 53">
              <a:extLst>
                <a:ext uri="{FF2B5EF4-FFF2-40B4-BE49-F238E27FC236}">
                  <a16:creationId xmlns:a16="http://schemas.microsoft.com/office/drawing/2014/main" id="{F220E915-13FA-47CE-AAAD-597EF3B5E659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 rot="5400000" flipH="1">
              <a:off x="5856654" y="3425061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5EA6E68A-BF9E-46FA-931B-81C4B92345FD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596CBA8F-A211-4669-97F1-5F907A638DC9}"/>
                </a:ext>
              </a:extLst>
            </p:cNvPr>
            <p:cNvGrpSpPr/>
            <p:nvPr/>
          </p:nvGrpSpPr>
          <p:grpSpPr>
            <a:xfrm>
              <a:off x="3934951" y="4414559"/>
              <a:ext cx="2480084" cy="1206174"/>
              <a:chOff x="3934951" y="4414559"/>
              <a:chExt cx="2480084" cy="1206174"/>
            </a:xfrm>
          </p:grpSpPr>
          <p:grpSp>
            <p:nvGrpSpPr>
              <p:cNvPr id="57" name="Grupo 56">
                <a:extLst>
                  <a:ext uri="{FF2B5EF4-FFF2-40B4-BE49-F238E27FC236}">
                    <a16:creationId xmlns:a16="http://schemas.microsoft.com/office/drawing/2014/main" id="{E5610408-F659-4C10-B2C1-A6142A5B1FFF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59" name="Conector recto 58">
                  <a:extLst>
                    <a:ext uri="{FF2B5EF4-FFF2-40B4-BE49-F238E27FC236}">
                      <a16:creationId xmlns:a16="http://schemas.microsoft.com/office/drawing/2014/main" id="{B4EF26E8-5215-4D7E-A4BF-87AB1EDAEAB6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cto 59">
                  <a:extLst>
                    <a:ext uri="{FF2B5EF4-FFF2-40B4-BE49-F238E27FC236}">
                      <a16:creationId xmlns:a16="http://schemas.microsoft.com/office/drawing/2014/main" id="{2058ACCC-9DDA-4D8D-B09C-D8EBACBE1539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Conector recto 60">
                  <a:extLst>
                    <a:ext uri="{FF2B5EF4-FFF2-40B4-BE49-F238E27FC236}">
                      <a16:creationId xmlns:a16="http://schemas.microsoft.com/office/drawing/2014/main" id="{44CE8B01-3D9D-4262-A932-EE3569BC90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66860810-0B5F-4643-9A6B-6C2D36C687B9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74F11112-4F2D-41A5-8590-69856F20C281}"/>
              </a:ext>
            </a:extLst>
          </p:cNvPr>
          <p:cNvGrpSpPr/>
          <p:nvPr/>
        </p:nvGrpSpPr>
        <p:grpSpPr>
          <a:xfrm>
            <a:off x="1086284" y="5085770"/>
            <a:ext cx="9828360" cy="1415826"/>
            <a:chOff x="739934" y="5150492"/>
            <a:chExt cx="9828360" cy="1415826"/>
          </a:xfrm>
        </p:grpSpPr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D2C90D03-44E5-4156-B052-13379C209379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96" name="Conector recto de flecha 95">
                <a:extLst>
                  <a:ext uri="{FF2B5EF4-FFF2-40B4-BE49-F238E27FC236}">
                    <a16:creationId xmlns:a16="http://schemas.microsoft.com/office/drawing/2014/main" id="{18F3F05A-1972-4EDB-B4F0-31B7174032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de flecha 96">
                <a:extLst>
                  <a:ext uri="{FF2B5EF4-FFF2-40B4-BE49-F238E27FC236}">
                    <a16:creationId xmlns:a16="http://schemas.microsoft.com/office/drawing/2014/main" id="{86616FAB-3753-4F3E-98CB-22DFD075CD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A21120AD-6A1C-4D2A-90B0-47D9B5E4DA91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27565083-6768-46F4-8EEF-4077FFB21DC2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726755CD-320B-475E-B493-0D3CC574162B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CBBBF53D-E044-40FB-BB52-C18C5C168044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9CD447C7-69A4-4ABA-8E36-F33DB8ED2552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5F7E5EDC-BAB2-48B7-BBCB-ACF524ABACFB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3E1A937D-78C3-4636-B8EA-694762B9C70E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D59D935E-42EF-4331-AD47-313554157D3E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9BD86B54-9EC2-4B0C-ABFB-8B5D86656763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933A591D-88D5-446B-B138-84620FE3200D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5CAB6922-2DEA-400D-BA23-D7E2DD3D5A3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30F41EAE-6285-42AC-933E-6B189886F9D0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66D6131B-A2A9-48C9-80A8-C45911AF7ED6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CF744E18-3C02-4A6E-B1DA-0938BFC72735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E33C3264-13C3-4315-B2B2-15BF39C69D93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59C9FBD4-D482-49C3-8F9F-97BFEAA37619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DCA5E2E8-43ED-4F90-8FDA-188941F01082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391437D2-6178-404F-AFDC-886737F53C0F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BCB42092-0018-4330-854A-E3F5261D802D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C4BE3C57-E706-456A-AD6A-7EFF1A1D2E62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CC19CE75-2059-420F-8EE4-3086BE5E393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91BB73F0-AACE-4D06-8BFC-9211C7D8A79F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7F5696AC-1719-4110-9454-EDBB133DD63A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5DC67AD0-1D10-40E5-BCBF-F2F5FA52B6DD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0E0496B5-03EE-4891-B844-018C28FC67FB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19406B51-706B-4694-A7E1-797063846FD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EF2E9725-4963-4787-ABE8-236D9E5EA084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0F01B9C7-AD12-4B64-BE67-ED6912F84C60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5DD65B10-5BBC-4085-8FE1-9D692AA12B7B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86386C3A-FA95-41C3-AA8A-EC8BF3AF48D0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5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30373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50E3E241-CB21-4CF1-B6C5-52CBE178A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9902563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7" name="Tabla 4">
                <a:extLst>
                  <a:ext uri="{FF2B5EF4-FFF2-40B4-BE49-F238E27FC236}">
                    <a16:creationId xmlns:a16="http://schemas.microsoft.com/office/drawing/2014/main" id="{50E3E241-CB21-4CF1-B6C5-52CBE178A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9902563"/>
                  </p:ext>
                </p:extLst>
              </p:nvPr>
            </p:nvGraphicFramePr>
            <p:xfrm>
              <a:off x="9450097" y="1246984"/>
              <a:ext cx="2343556" cy="1849120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1171778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1171778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042" t="-8197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8" name="Grupo 47">
            <a:extLst>
              <a:ext uri="{FF2B5EF4-FFF2-40B4-BE49-F238E27FC236}">
                <a16:creationId xmlns:a16="http://schemas.microsoft.com/office/drawing/2014/main" id="{EC863C7C-E63F-4836-AD58-6DA25BCF4894}"/>
              </a:ext>
            </a:extLst>
          </p:cNvPr>
          <p:cNvGrpSpPr/>
          <p:nvPr/>
        </p:nvGrpSpPr>
        <p:grpSpPr>
          <a:xfrm>
            <a:off x="441890" y="1073585"/>
            <a:ext cx="5124913" cy="1012282"/>
            <a:chOff x="3022600" y="4248863"/>
            <a:chExt cx="5124913" cy="1371871"/>
          </a:xfrm>
        </p:grpSpPr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AD0FCC78-8A9C-4DD7-BCCA-261B8ECF64BD}"/>
                </a:ext>
              </a:extLst>
            </p:cNvPr>
            <p:cNvGrpSpPr/>
            <p:nvPr/>
          </p:nvGrpSpPr>
          <p:grpSpPr>
            <a:xfrm>
              <a:off x="7566904" y="4280072"/>
              <a:ext cx="580609" cy="1340661"/>
              <a:chOff x="1572367" y="2355985"/>
              <a:chExt cx="580609" cy="1340661"/>
            </a:xfrm>
          </p:grpSpPr>
          <p:sp>
            <p:nvSpPr>
              <p:cNvPr id="59" name="Rectángulo 58">
                <a:extLst>
                  <a:ext uri="{FF2B5EF4-FFF2-40B4-BE49-F238E27FC236}">
                    <a16:creationId xmlns:a16="http://schemas.microsoft.com/office/drawing/2014/main" id="{9DA1D41C-EE1F-4374-92EF-00BEF3D580D3}"/>
                  </a:ext>
                </a:extLst>
              </p:cNvPr>
              <p:cNvSpPr/>
              <p:nvPr/>
            </p:nvSpPr>
            <p:spPr>
              <a:xfrm>
                <a:off x="1572367" y="2870977"/>
                <a:ext cx="580609" cy="8256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B8541A0-2596-4990-890C-ECC0E3362E65}"/>
                  </a:ext>
                </a:extLst>
              </p:cNvPr>
              <p:cNvSpPr txBox="1"/>
              <p:nvPr/>
            </p:nvSpPr>
            <p:spPr>
              <a:xfrm>
                <a:off x="1572368" y="2355985"/>
                <a:ext cx="580608" cy="369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8759877F-E1D7-4579-B714-3EAABE77AD85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6364357" y="5205105"/>
              <a:ext cx="1202547" cy="27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: angular 50">
              <a:extLst>
                <a:ext uri="{FF2B5EF4-FFF2-40B4-BE49-F238E27FC236}">
                  <a16:creationId xmlns:a16="http://schemas.microsoft.com/office/drawing/2014/main" id="{B9088A31-27F2-4AEC-9622-C91A79659831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 rot="5400000" flipH="1">
              <a:off x="5734934" y="3498459"/>
              <a:ext cx="182038" cy="4062512"/>
            </a:xfrm>
            <a:prstGeom prst="bentConnector4">
              <a:avLst>
                <a:gd name="adj1" fmla="val -224902"/>
                <a:gd name="adj2" fmla="val 10640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B92D7F15-7447-437E-9122-1A0506225170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DF532BAE-527E-4B87-A56B-3C9C1CB93242}"/>
                </a:ext>
              </a:extLst>
            </p:cNvPr>
            <p:cNvGrpSpPr/>
            <p:nvPr/>
          </p:nvGrpSpPr>
          <p:grpSpPr>
            <a:xfrm>
              <a:off x="3934951" y="4248863"/>
              <a:ext cx="2480084" cy="1371870"/>
              <a:chOff x="3934951" y="4248863"/>
              <a:chExt cx="2480084" cy="1371870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2145AA93-92D6-4E59-81E5-29272BEE7DED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56" name="Conector recto 55">
                  <a:extLst>
                    <a:ext uri="{FF2B5EF4-FFF2-40B4-BE49-F238E27FC236}">
                      <a16:creationId xmlns:a16="http://schemas.microsoft.com/office/drawing/2014/main" id="{E61D12C6-91F4-457A-BC3F-5F3A07431A1D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cto 56">
                  <a:extLst>
                    <a:ext uri="{FF2B5EF4-FFF2-40B4-BE49-F238E27FC236}">
                      <a16:creationId xmlns:a16="http://schemas.microsoft.com/office/drawing/2014/main" id="{1FB53D68-B742-4BD9-B00E-39D12D62511A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recto 57">
                  <a:extLst>
                    <a:ext uri="{FF2B5EF4-FFF2-40B4-BE49-F238E27FC236}">
                      <a16:creationId xmlns:a16="http://schemas.microsoft.com/office/drawing/2014/main" id="{F31B50A4-D9A4-4152-A0F9-D7586460CF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7BACCCF7-A9EB-4A56-AEE8-2318E0F8A2B2}"/>
                  </a:ext>
                </a:extLst>
              </p:cNvPr>
              <p:cNvSpPr txBox="1"/>
              <p:nvPr/>
            </p:nvSpPr>
            <p:spPr>
              <a:xfrm>
                <a:off x="4858409" y="4248863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C872DCCE-2623-40D1-8B54-F0C8CBFFA158}"/>
              </a:ext>
            </a:extLst>
          </p:cNvPr>
          <p:cNvGrpSpPr/>
          <p:nvPr/>
        </p:nvGrpSpPr>
        <p:grpSpPr>
          <a:xfrm>
            <a:off x="196370" y="3096104"/>
            <a:ext cx="6097745" cy="1377048"/>
            <a:chOff x="268815" y="3190677"/>
            <a:chExt cx="6097745" cy="1377048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AF04645A-1C25-4B28-8D6C-260473D41479}"/>
                </a:ext>
              </a:extLst>
            </p:cNvPr>
            <p:cNvGrpSpPr/>
            <p:nvPr/>
          </p:nvGrpSpPr>
          <p:grpSpPr>
            <a:xfrm>
              <a:off x="406297" y="3190677"/>
              <a:ext cx="5960263" cy="1018645"/>
              <a:chOff x="6286570" y="5198935"/>
              <a:chExt cx="3755540" cy="1159915"/>
            </a:xfrm>
          </p:grpSpPr>
          <p:cxnSp>
            <p:nvCxnSpPr>
              <p:cNvPr id="82" name="Conector recto de flecha 81">
                <a:extLst>
                  <a:ext uri="{FF2B5EF4-FFF2-40B4-BE49-F238E27FC236}">
                    <a16:creationId xmlns:a16="http://schemas.microsoft.com/office/drawing/2014/main" id="{DA89EAE9-1FE9-4C35-97B8-BE1EFDA585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6570" y="6351605"/>
                <a:ext cx="3755540" cy="724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 recto de flecha 82">
                <a:extLst>
                  <a:ext uri="{FF2B5EF4-FFF2-40B4-BE49-F238E27FC236}">
                    <a16:creationId xmlns:a16="http://schemas.microsoft.com/office/drawing/2014/main" id="{30359F68-F9F9-4D45-87DA-7AAF995909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287350BA-E11C-4F65-8267-4D98C2EB126A}"/>
                </a:ext>
              </a:extLst>
            </p:cNvPr>
            <p:cNvCxnSpPr/>
            <p:nvPr/>
          </p:nvCxnSpPr>
          <p:spPr>
            <a:xfrm>
              <a:off x="1331114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2C99614A-6C43-4727-86DD-786A080E281D}"/>
                </a:ext>
              </a:extLst>
            </p:cNvPr>
            <p:cNvCxnSpPr/>
            <p:nvPr/>
          </p:nvCxnSpPr>
          <p:spPr>
            <a:xfrm>
              <a:off x="867459" y="410721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DBBC7900-FB4A-432B-BA78-137C9D1B3567}"/>
                </a:ext>
              </a:extLst>
            </p:cNvPr>
            <p:cNvCxnSpPr/>
            <p:nvPr/>
          </p:nvCxnSpPr>
          <p:spPr>
            <a:xfrm>
              <a:off x="224551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806F7221-1E97-4093-8040-76F5D2B07105}"/>
                </a:ext>
              </a:extLst>
            </p:cNvPr>
            <p:cNvCxnSpPr/>
            <p:nvPr/>
          </p:nvCxnSpPr>
          <p:spPr>
            <a:xfrm>
              <a:off x="178185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88A8421B-8831-4282-B801-BC2F621CE5BF}"/>
                </a:ext>
              </a:extLst>
            </p:cNvPr>
            <p:cNvCxnSpPr/>
            <p:nvPr/>
          </p:nvCxnSpPr>
          <p:spPr>
            <a:xfrm>
              <a:off x="3165801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37D0508F-7E03-405B-9D04-7571CFBFEBA9}"/>
                </a:ext>
              </a:extLst>
            </p:cNvPr>
            <p:cNvCxnSpPr/>
            <p:nvPr/>
          </p:nvCxnSpPr>
          <p:spPr>
            <a:xfrm>
              <a:off x="2702146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4A8A9773-EF78-47EC-B0DA-E774C04E621E}"/>
                </a:ext>
              </a:extLst>
            </p:cNvPr>
            <p:cNvCxnSpPr>
              <a:cxnSpLocks/>
            </p:cNvCxnSpPr>
            <p:nvPr/>
          </p:nvCxnSpPr>
          <p:spPr>
            <a:xfrm>
              <a:off x="407160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2A3F1DA1-5724-4950-B65E-F91BE138F93C}"/>
                </a:ext>
              </a:extLst>
            </p:cNvPr>
            <p:cNvCxnSpPr>
              <a:cxnSpLocks/>
            </p:cNvCxnSpPr>
            <p:nvPr/>
          </p:nvCxnSpPr>
          <p:spPr>
            <a:xfrm>
              <a:off x="360794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23FD4A41-D43E-432F-BC2F-9294A5AE31BB}"/>
                </a:ext>
              </a:extLst>
            </p:cNvPr>
            <p:cNvCxnSpPr>
              <a:cxnSpLocks/>
            </p:cNvCxnSpPr>
            <p:nvPr/>
          </p:nvCxnSpPr>
          <p:spPr>
            <a:xfrm>
              <a:off x="4991889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65F5534-9345-4610-9DC3-F4390B88A849}"/>
                </a:ext>
              </a:extLst>
            </p:cNvPr>
            <p:cNvCxnSpPr>
              <a:cxnSpLocks/>
            </p:cNvCxnSpPr>
            <p:nvPr/>
          </p:nvCxnSpPr>
          <p:spPr>
            <a:xfrm>
              <a:off x="4528234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FBBEAD80-9046-40A2-9013-15785BDB3D54}"/>
                </a:ext>
              </a:extLst>
            </p:cNvPr>
            <p:cNvCxnSpPr>
              <a:cxnSpLocks/>
            </p:cNvCxnSpPr>
            <p:nvPr/>
          </p:nvCxnSpPr>
          <p:spPr>
            <a:xfrm>
              <a:off x="5909927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7FB98D92-057F-48E4-843D-1914AD7FF9F0}"/>
                </a:ext>
              </a:extLst>
            </p:cNvPr>
            <p:cNvCxnSpPr>
              <a:cxnSpLocks/>
            </p:cNvCxnSpPr>
            <p:nvPr/>
          </p:nvCxnSpPr>
          <p:spPr>
            <a:xfrm>
              <a:off x="5446272" y="411674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8AC0EDDB-B28B-4AFB-A857-015433F2A31A}"/>
                </a:ext>
              </a:extLst>
            </p:cNvPr>
            <p:cNvSpPr txBox="1"/>
            <p:nvPr/>
          </p:nvSpPr>
          <p:spPr>
            <a:xfrm>
              <a:off x="268815" y="424058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3083A7AC-CCE3-4827-9508-567F524DE1A7}"/>
                </a:ext>
              </a:extLst>
            </p:cNvPr>
            <p:cNvSpPr txBox="1"/>
            <p:nvPr/>
          </p:nvSpPr>
          <p:spPr>
            <a:xfrm>
              <a:off x="1158174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CD8FD0A2-3273-4E0C-9B29-E736498E5106}"/>
                </a:ext>
              </a:extLst>
            </p:cNvPr>
            <p:cNvSpPr txBox="1"/>
            <p:nvPr/>
          </p:nvSpPr>
          <p:spPr>
            <a:xfrm>
              <a:off x="2072858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E9F44EFF-7930-4552-8388-F1550DA57396}"/>
                </a:ext>
              </a:extLst>
            </p:cNvPr>
            <p:cNvSpPr txBox="1"/>
            <p:nvPr/>
          </p:nvSpPr>
          <p:spPr>
            <a:xfrm>
              <a:off x="2993974" y="4259948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1EA0AD30-D39F-499C-ACC0-B24AA340DBAC}"/>
                </a:ext>
              </a:extLst>
            </p:cNvPr>
            <p:cNvSpPr txBox="1"/>
            <p:nvPr/>
          </p:nvSpPr>
          <p:spPr>
            <a:xfrm>
              <a:off x="3888310" y="425194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8B05524A-1547-4044-AD46-94355E040236}"/>
                </a:ext>
              </a:extLst>
            </p:cNvPr>
            <p:cNvSpPr txBox="1"/>
            <p:nvPr/>
          </p:nvSpPr>
          <p:spPr>
            <a:xfrm>
              <a:off x="4768830" y="42519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051B3A10-AB6B-4407-AEE4-7A90AAF01D5F}"/>
                </a:ext>
              </a:extLst>
            </p:cNvPr>
            <p:cNvSpPr txBox="1"/>
            <p:nvPr/>
          </p:nvSpPr>
          <p:spPr>
            <a:xfrm>
              <a:off x="5678728" y="4248875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6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103725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Shortest Time-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First (STCF)</a:t>
            </a:r>
            <a:endParaRPr dirty="0"/>
          </a:p>
        </p:txBody>
      </p:sp>
      <p:sp>
        <p:nvSpPr>
          <p:cNvPr id="1014" name="Google Shape;1014;p66"/>
          <p:cNvSpPr txBox="1">
            <a:spLocks noGrp="1"/>
          </p:cNvSpPr>
          <p:nvPr>
            <p:ph type="body" idx="1"/>
          </p:nvPr>
        </p:nvSpPr>
        <p:spPr>
          <a:xfrm>
            <a:off x="462354" y="827461"/>
            <a:ext cx="5325600" cy="64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Comparación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15" name="Google Shape;1015;p66"/>
          <p:cNvSpPr txBox="1"/>
          <p:nvPr/>
        </p:nvSpPr>
        <p:spPr>
          <a:xfrm>
            <a:off x="8032957" y="1443233"/>
            <a:ext cx="1555281" cy="4924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STCF</a:t>
            </a:r>
            <a:endParaRPr sz="2000" b="1" dirty="0"/>
          </a:p>
        </p:txBody>
      </p:sp>
      <p:sp>
        <p:nvSpPr>
          <p:cNvPr id="1016" name="Google Shape;1016;p66"/>
          <p:cNvSpPr txBox="1"/>
          <p:nvPr/>
        </p:nvSpPr>
        <p:spPr>
          <a:xfrm>
            <a:off x="2071377" y="1532614"/>
            <a:ext cx="1476000" cy="492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SJF</a:t>
            </a:r>
            <a:endParaRPr sz="2000" b="1" dirty="0"/>
          </a:p>
        </p:txBody>
      </p:sp>
      <p:pic>
        <p:nvPicPr>
          <p:cNvPr id="1017" name="Google Shape;101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6" y="3912739"/>
            <a:ext cx="4622750" cy="224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8" name="Google Shape;1018;p66"/>
          <p:cNvGrpSpPr/>
          <p:nvPr/>
        </p:nvGrpSpPr>
        <p:grpSpPr>
          <a:xfrm>
            <a:off x="552417" y="2263468"/>
            <a:ext cx="3933600" cy="1247163"/>
            <a:chOff x="7378663" y="2805413"/>
            <a:chExt cx="3933600" cy="1247163"/>
          </a:xfrm>
        </p:grpSpPr>
        <p:grpSp>
          <p:nvGrpSpPr>
            <p:cNvPr id="1019" name="Google Shape;1019;p66"/>
            <p:cNvGrpSpPr/>
            <p:nvPr/>
          </p:nvGrpSpPr>
          <p:grpSpPr>
            <a:xfrm>
              <a:off x="7378663" y="2805413"/>
              <a:ext cx="3933600" cy="648900"/>
              <a:chOff x="1510300" y="2603975"/>
              <a:chExt cx="3933600" cy="648900"/>
            </a:xfrm>
          </p:grpSpPr>
          <p:sp>
            <p:nvSpPr>
              <p:cNvPr id="1020" name="Google Shape;1020;p66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021" name="Google Shape;1021;p66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022" name="Google Shape;1022;p66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023" name="Google Shape;1023;p66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024" name="Google Shape;1024;p66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/>
                  <a:t>5</a:t>
                </a:r>
                <a:endParaRPr sz="2000" b="1" dirty="0"/>
              </a:p>
            </p:txBody>
          </p:sp>
        </p:grpSp>
        <p:grpSp>
          <p:nvGrpSpPr>
            <p:cNvPr id="1025" name="Google Shape;1025;p66"/>
            <p:cNvGrpSpPr/>
            <p:nvPr/>
          </p:nvGrpSpPr>
          <p:grpSpPr>
            <a:xfrm>
              <a:off x="7490300" y="3606875"/>
              <a:ext cx="3731875" cy="445700"/>
              <a:chOff x="7490300" y="3606875"/>
              <a:chExt cx="3731875" cy="445700"/>
            </a:xfrm>
          </p:grpSpPr>
          <p:pic>
            <p:nvPicPr>
              <p:cNvPr id="1026" name="Google Shape;1026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1238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7" name="Google Shape;1027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95140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8" name="Google Shape;1028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7789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9" name="Google Shape;1029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490300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0" name="Google Shape;1030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307075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31" name="Google Shape;1031;p66"/>
          <p:cNvGrpSpPr/>
          <p:nvPr/>
        </p:nvGrpSpPr>
        <p:grpSpPr>
          <a:xfrm>
            <a:off x="6766683" y="2259818"/>
            <a:ext cx="3933600" cy="1247163"/>
            <a:chOff x="7378663" y="2805413"/>
            <a:chExt cx="3933600" cy="1247163"/>
          </a:xfrm>
        </p:grpSpPr>
        <p:grpSp>
          <p:nvGrpSpPr>
            <p:cNvPr id="1032" name="Google Shape;1032;p66"/>
            <p:cNvGrpSpPr/>
            <p:nvPr/>
          </p:nvGrpSpPr>
          <p:grpSpPr>
            <a:xfrm>
              <a:off x="7378663" y="2805413"/>
              <a:ext cx="3933600" cy="648900"/>
              <a:chOff x="1510300" y="2603975"/>
              <a:chExt cx="3933600" cy="648900"/>
            </a:xfrm>
          </p:grpSpPr>
          <p:sp>
            <p:nvSpPr>
              <p:cNvPr id="1033" name="Google Shape;1033;p66"/>
              <p:cNvSpPr/>
              <p:nvPr/>
            </p:nvSpPr>
            <p:spPr>
              <a:xfrm>
                <a:off x="15103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034" name="Google Shape;1034;p66"/>
              <p:cNvSpPr/>
              <p:nvPr/>
            </p:nvSpPr>
            <p:spPr>
              <a:xfrm>
                <a:off x="233785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035" name="Google Shape;1035;p66"/>
              <p:cNvSpPr/>
              <p:nvPr/>
            </p:nvSpPr>
            <p:spPr>
              <a:xfrm>
                <a:off x="3165400" y="2603975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036" name="Google Shape;1036;p66"/>
              <p:cNvSpPr/>
              <p:nvPr/>
            </p:nvSpPr>
            <p:spPr>
              <a:xfrm>
                <a:off x="399295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037" name="Google Shape;1037;p66"/>
              <p:cNvSpPr/>
              <p:nvPr/>
            </p:nvSpPr>
            <p:spPr>
              <a:xfrm>
                <a:off x="4820500" y="2603975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1038" name="Google Shape;1038;p66"/>
            <p:cNvGrpSpPr/>
            <p:nvPr/>
          </p:nvGrpSpPr>
          <p:grpSpPr>
            <a:xfrm>
              <a:off x="7490300" y="3606875"/>
              <a:ext cx="3731875" cy="445700"/>
              <a:chOff x="7490300" y="3606875"/>
              <a:chExt cx="3731875" cy="445700"/>
            </a:xfrm>
          </p:grpSpPr>
          <p:pic>
            <p:nvPicPr>
              <p:cNvPr id="1039" name="Google Shape;1039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95140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0" name="Google Shape;1040;p6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778950" y="3606875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1" name="Google Shape;1041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490300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2" name="Google Shape;1042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307075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3" name="Google Shape;1043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129238" y="3610513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044" name="Google Shape;104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439" y="3872739"/>
            <a:ext cx="4596925" cy="22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67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7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67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67"/>
          <p:cNvSpPr txBox="1">
            <a:spLocks noGrp="1"/>
          </p:cNvSpPr>
          <p:nvPr>
            <p:ph type="title"/>
          </p:nvPr>
        </p:nvSpPr>
        <p:spPr>
          <a:xfrm>
            <a:off x="164892" y="96038"/>
            <a:ext cx="1202710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 algoritmos de planificación (FCFS, SJF, STCF)</a:t>
            </a:r>
            <a:endParaRPr dirty="0"/>
          </a:p>
        </p:txBody>
      </p:sp>
      <p:sp>
        <p:nvSpPr>
          <p:cNvPr id="1053" name="Google Shape;1053;p67"/>
          <p:cNvSpPr txBox="1">
            <a:spLocks noGrp="1"/>
          </p:cNvSpPr>
          <p:nvPr>
            <p:ph type="body" idx="1"/>
          </p:nvPr>
        </p:nvSpPr>
        <p:spPr>
          <a:xfrm>
            <a:off x="349770" y="1049089"/>
            <a:ext cx="6565500" cy="182135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400" b="1" dirty="0">
                <a:latin typeface="+mn-lt"/>
              </a:rPr>
              <a:t>Ejemplo 1</a:t>
            </a:r>
            <a:r>
              <a:rPr lang="es-MX" sz="2400" dirty="0">
                <a:latin typeface="+mn-lt"/>
              </a:rPr>
              <a:t>: Suponga que se tiene una situación en la que:</a:t>
            </a: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Tres procesos llegan a un sistema (A, B y C)</a:t>
            </a:r>
            <a:endParaRPr sz="2200" dirty="0">
              <a:latin typeface="+mn-lt"/>
            </a:endParaRP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Llegan en el tiempo 0 en el orden: A - B - C</a:t>
            </a:r>
            <a:endParaRPr sz="2200" dirty="0">
              <a:latin typeface="+mn-lt"/>
            </a:endParaRPr>
          </a:p>
          <a:p>
            <a:pPr marL="901700" lvl="1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200" dirty="0">
                <a:latin typeface="+mn-lt"/>
              </a:rPr>
              <a:t>Cada proceso se ejecuta por 10 segundos.</a:t>
            </a:r>
          </a:p>
          <a:p>
            <a:pPr marL="101600" indent="0">
              <a:lnSpc>
                <a:spcPct val="100000"/>
              </a:lnSpc>
              <a:spcBef>
                <a:spcPts val="0"/>
              </a:spcBef>
              <a:buSzPts val="2000"/>
              <a:buNone/>
            </a:pPr>
            <a:endParaRPr lang="es-CO" sz="2000" dirty="0">
              <a:latin typeface="+mn-lt"/>
            </a:endParaRPr>
          </a:p>
          <a:p>
            <a:pPr marL="914400" indent="0">
              <a:lnSpc>
                <a:spcPct val="100000"/>
              </a:lnSpc>
              <a:spcBef>
                <a:spcPts val="480"/>
              </a:spcBef>
              <a:buNone/>
            </a:pPr>
            <a:endParaRPr sz="2200" dirty="0">
              <a:latin typeface="+mn-lt"/>
            </a:endParaRPr>
          </a:p>
          <a:p>
            <a:pPr marL="914400" indent="0">
              <a:lnSpc>
                <a:spcPct val="100000"/>
              </a:lnSpc>
              <a:spcBef>
                <a:spcPts val="480"/>
              </a:spcBef>
              <a:buNone/>
            </a:pPr>
            <a:endParaRPr sz="2200" b="1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None/>
            </a:pPr>
            <a:endParaRPr sz="24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None/>
            </a:pPr>
            <a:endParaRPr sz="2400" dirty="0">
              <a:latin typeface="+mn-lt"/>
            </a:endParaRPr>
          </a:p>
          <a:p>
            <a:pPr marL="914400" indent="0">
              <a:lnSpc>
                <a:spcPct val="100000"/>
              </a:lnSpc>
              <a:spcBef>
                <a:spcPts val="480"/>
              </a:spcBef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054" name="Google Shape;1054;p67"/>
          <p:cNvGraphicFramePr/>
          <p:nvPr>
            <p:extLst>
              <p:ext uri="{D42A27DB-BD31-4B8C-83A1-F6EECF244321}">
                <p14:modId xmlns:p14="http://schemas.microsoft.com/office/powerpoint/2010/main" val="3380856902"/>
              </p:ext>
            </p:extLst>
          </p:nvPr>
        </p:nvGraphicFramePr>
        <p:xfrm>
          <a:off x="7475100" y="1041765"/>
          <a:ext cx="3600316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8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</a:rPr>
                        <a:t>Proceso</a:t>
                      </a:r>
                      <a:endParaRPr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</a:rPr>
                        <a:t>Arrival time</a:t>
                      </a:r>
                      <a:endParaRPr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</a:rPr>
                        <a:t>Run-time</a:t>
                      </a:r>
                      <a:endParaRPr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n-lt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n-lt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B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0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10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C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+mn-lt"/>
                        </a:rPr>
                        <a:t>0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+mn-lt"/>
                        </a:rPr>
                        <a:t>10</a:t>
                      </a:r>
                      <a:endParaRPr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55" name="Google Shape;105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807" y="3816172"/>
            <a:ext cx="4936593" cy="2546528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67"/>
          <p:cNvSpPr txBox="1"/>
          <p:nvPr/>
        </p:nvSpPr>
        <p:spPr>
          <a:xfrm>
            <a:off x="5191932" y="3182700"/>
            <a:ext cx="1723338" cy="492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FCFS (FIFO)</a:t>
            </a:r>
            <a:endParaRPr sz="20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8"/>
          <p:cNvSpPr txBox="1">
            <a:spLocks noGrp="1"/>
          </p:cNvSpPr>
          <p:nvPr>
            <p:ph type="title"/>
          </p:nvPr>
        </p:nvSpPr>
        <p:spPr>
          <a:xfrm>
            <a:off x="149902" y="96038"/>
            <a:ext cx="1193217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 algoritmos de planificación (FCFS, SJF, STCF)</a:t>
            </a:r>
            <a:endParaRPr dirty="0"/>
          </a:p>
        </p:txBody>
      </p:sp>
      <p:sp>
        <p:nvSpPr>
          <p:cNvPr id="1065" name="Google Shape;1065;p68"/>
          <p:cNvSpPr txBox="1">
            <a:spLocks noGrp="1"/>
          </p:cNvSpPr>
          <p:nvPr>
            <p:ph type="body" idx="1"/>
          </p:nvPr>
        </p:nvSpPr>
        <p:spPr>
          <a:xfrm>
            <a:off x="149902" y="1076546"/>
            <a:ext cx="7075800" cy="231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●"/>
            </a:pPr>
            <a:r>
              <a:rPr lang="es-ES" sz="2400" b="1" dirty="0">
                <a:latin typeface="+mn-lt"/>
              </a:rPr>
              <a:t>Ejemplo 2</a:t>
            </a:r>
            <a:r>
              <a:rPr lang="es-ES" sz="2400" dirty="0">
                <a:latin typeface="+mn-lt"/>
              </a:rPr>
              <a:t>: Suponga que se tiene una situación en la que:</a:t>
            </a:r>
            <a:endParaRPr sz="2400" dirty="0">
              <a:latin typeface="+mn-lt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○"/>
            </a:pPr>
            <a:r>
              <a:rPr lang="es-ES" sz="2200" dirty="0">
                <a:latin typeface="+mn-lt"/>
              </a:rPr>
              <a:t>Tres procesos llegan a un sistema (A, B y C)</a:t>
            </a:r>
            <a:endParaRPr sz="2200" dirty="0">
              <a:latin typeface="+mn-lt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○"/>
            </a:pPr>
            <a:r>
              <a:rPr lang="es-ES" sz="2200" dirty="0">
                <a:latin typeface="+mn-lt"/>
              </a:rPr>
              <a:t>Llegan en el tiempo 0 en el orden: A - B - C</a:t>
            </a:r>
            <a:endParaRPr sz="2200" dirty="0">
              <a:latin typeface="+mn-lt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○"/>
            </a:pPr>
            <a:r>
              <a:rPr lang="es-ES" sz="2200" dirty="0">
                <a:latin typeface="+mn-lt"/>
              </a:rPr>
              <a:t>A se ejecuta por 100 seg, B y C por 10 seg cada uno.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066" name="Google Shape;1066;p68"/>
          <p:cNvGraphicFramePr/>
          <p:nvPr>
            <p:extLst>
              <p:ext uri="{D42A27DB-BD31-4B8C-83A1-F6EECF244321}">
                <p14:modId xmlns:p14="http://schemas.microsoft.com/office/powerpoint/2010/main" val="2535453364"/>
              </p:ext>
            </p:extLst>
          </p:nvPr>
        </p:nvGraphicFramePr>
        <p:xfrm>
          <a:off x="7695453" y="1210527"/>
          <a:ext cx="3830665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19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</a:rPr>
                        <a:t>Proceso</a:t>
                      </a:r>
                      <a:endParaRPr b="1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</a:rPr>
                        <a:t>Arrival time</a:t>
                      </a:r>
                      <a:endParaRPr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+mn-lt"/>
                        </a:rPr>
                        <a:t>Run-time</a:t>
                      </a:r>
                      <a:endParaRPr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n-lt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n-lt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B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0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n-lt"/>
                        </a:rPr>
                        <a:t>10</a:t>
                      </a:r>
                      <a:endParaRPr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C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</a:rPr>
                        <a:t>0</a:t>
                      </a:r>
                      <a:endParaRPr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+mn-lt"/>
                        </a:rPr>
                        <a:t>10</a:t>
                      </a:r>
                      <a:endParaRPr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67" name="Google Shape;1067;p68"/>
          <p:cNvSpPr txBox="1"/>
          <p:nvPr/>
        </p:nvSpPr>
        <p:spPr>
          <a:xfrm>
            <a:off x="2692126" y="3395246"/>
            <a:ext cx="1804422" cy="492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FCFS (FIFO)</a:t>
            </a:r>
            <a:endParaRPr sz="2000" b="1" dirty="0"/>
          </a:p>
        </p:txBody>
      </p:sp>
      <p:sp>
        <p:nvSpPr>
          <p:cNvPr id="1068" name="Google Shape;1068;p68"/>
          <p:cNvSpPr txBox="1"/>
          <p:nvPr/>
        </p:nvSpPr>
        <p:spPr>
          <a:xfrm>
            <a:off x="8133775" y="3326194"/>
            <a:ext cx="1804422" cy="492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SJF</a:t>
            </a:r>
            <a:endParaRPr sz="2000" b="1" dirty="0"/>
          </a:p>
        </p:txBody>
      </p:sp>
      <p:pic>
        <p:nvPicPr>
          <p:cNvPr id="1069" name="Google Shape;106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701" y="4031383"/>
            <a:ext cx="4330586" cy="2255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714" y="4019330"/>
            <a:ext cx="4444785" cy="227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9"/>
          <p:cNvSpPr txBox="1">
            <a:spLocks noGrp="1"/>
          </p:cNvSpPr>
          <p:nvPr>
            <p:ph type="title"/>
          </p:nvPr>
        </p:nvSpPr>
        <p:spPr>
          <a:xfrm>
            <a:off x="119921" y="96038"/>
            <a:ext cx="1194716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 algoritmos de planificación (FCFS, SJF, STCF)</a:t>
            </a:r>
            <a:endParaRPr dirty="0"/>
          </a:p>
        </p:txBody>
      </p:sp>
      <p:sp>
        <p:nvSpPr>
          <p:cNvPr id="1079" name="Google Shape;1079;p69"/>
          <p:cNvSpPr txBox="1">
            <a:spLocks noGrp="1"/>
          </p:cNvSpPr>
          <p:nvPr>
            <p:ph type="body" idx="1"/>
          </p:nvPr>
        </p:nvSpPr>
        <p:spPr>
          <a:xfrm>
            <a:off x="119921" y="1056200"/>
            <a:ext cx="7797384" cy="21183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●"/>
            </a:pPr>
            <a:r>
              <a:rPr lang="es-ES" sz="2400" b="1" dirty="0">
                <a:latin typeface="+mn-lt"/>
              </a:rPr>
              <a:t>Ejemplo 3</a:t>
            </a:r>
            <a:r>
              <a:rPr lang="es-ES" sz="2400" dirty="0">
                <a:latin typeface="+mn-lt"/>
              </a:rPr>
              <a:t>: Suponga que se tiene una situación en la que:</a:t>
            </a:r>
            <a:endParaRPr sz="2400" dirty="0">
              <a:latin typeface="+mn-lt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○"/>
            </a:pPr>
            <a:r>
              <a:rPr lang="es-ES" sz="2200" dirty="0">
                <a:latin typeface="+mn-lt"/>
              </a:rPr>
              <a:t>Tres procesos llegan a un sistema (A, B y C)</a:t>
            </a:r>
            <a:endParaRPr sz="2200" dirty="0">
              <a:latin typeface="+mn-lt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○"/>
            </a:pPr>
            <a:r>
              <a:rPr lang="es-ES" sz="2200" dirty="0">
                <a:latin typeface="+mn-lt"/>
              </a:rPr>
              <a:t>A llega en t = 0 y B y C llegan en t = 20.</a:t>
            </a:r>
            <a:endParaRPr sz="2200" dirty="0">
              <a:latin typeface="+mn-lt"/>
            </a:endParaRPr>
          </a:p>
          <a:p>
            <a:pPr marL="914400" lvl="1">
              <a:lnSpc>
                <a:spcPct val="100000"/>
              </a:lnSpc>
              <a:spcBef>
                <a:spcPts val="0"/>
              </a:spcBef>
              <a:buSzPts val="2000"/>
              <a:buFont typeface="Roboto"/>
              <a:buChar char="○"/>
            </a:pPr>
            <a:r>
              <a:rPr lang="es-ES" sz="2200" dirty="0">
                <a:latin typeface="+mn-lt"/>
              </a:rPr>
              <a:t>A se ejecuta por 100 seg, B y C por 10 seg cada uno.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ED7D3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080" name="Google Shape;1080;p69"/>
          <p:cNvGraphicFramePr/>
          <p:nvPr>
            <p:extLst>
              <p:ext uri="{D42A27DB-BD31-4B8C-83A1-F6EECF244321}">
                <p14:modId xmlns:p14="http://schemas.microsoft.com/office/powerpoint/2010/main" val="247973356"/>
              </p:ext>
            </p:extLst>
          </p:nvPr>
        </p:nvGraphicFramePr>
        <p:xfrm>
          <a:off x="8107805" y="1144057"/>
          <a:ext cx="3660069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8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b="1"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b="1" dirty="0"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dirty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accent5"/>
                          </a:solidFill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dirty="0">
                        <a:solidFill>
                          <a:schemeClr val="accent5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81" name="Google Shape;1081;p69"/>
          <p:cNvSpPr txBox="1"/>
          <p:nvPr/>
        </p:nvSpPr>
        <p:spPr>
          <a:xfrm>
            <a:off x="2069173" y="3283613"/>
            <a:ext cx="26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/>
              <a:t>SJF</a:t>
            </a:r>
            <a:endParaRPr sz="2000" b="1"/>
          </a:p>
        </p:txBody>
      </p:sp>
      <p:sp>
        <p:nvSpPr>
          <p:cNvPr id="1082" name="Google Shape;1082;p69"/>
          <p:cNvSpPr txBox="1"/>
          <p:nvPr/>
        </p:nvSpPr>
        <p:spPr>
          <a:xfrm>
            <a:off x="7549688" y="3351257"/>
            <a:ext cx="26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/>
              <a:t>STCF</a:t>
            </a:r>
            <a:endParaRPr sz="2000" b="1"/>
          </a:p>
        </p:txBody>
      </p:sp>
      <p:pic>
        <p:nvPicPr>
          <p:cNvPr id="1083" name="Google Shape;10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525" y="3885264"/>
            <a:ext cx="4646975" cy="2426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502" y="3946225"/>
            <a:ext cx="4410072" cy="2365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Response time</a:t>
            </a:r>
            <a:endParaRPr dirty="0"/>
          </a:p>
        </p:txBody>
      </p:sp>
      <p:sp>
        <p:nvSpPr>
          <p:cNvPr id="1093" name="Google Shape;1093;p70"/>
          <p:cNvSpPr txBox="1">
            <a:spLocks noGrp="1"/>
          </p:cNvSpPr>
          <p:nvPr>
            <p:ph type="body" idx="1"/>
          </p:nvPr>
        </p:nvSpPr>
        <p:spPr>
          <a:xfrm>
            <a:off x="329784" y="884725"/>
            <a:ext cx="11404691" cy="92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400" dirty="0">
                <a:latin typeface="+mn-lt"/>
              </a:rPr>
              <a:t>Tiempo medido desde que el trabajo llega hasta que es programado por primera vez.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1094" name="Google Shape;1094;p70"/>
          <p:cNvGrpSpPr/>
          <p:nvPr/>
        </p:nvGrpSpPr>
        <p:grpSpPr>
          <a:xfrm>
            <a:off x="2186988" y="1804925"/>
            <a:ext cx="8371075" cy="3139775"/>
            <a:chOff x="2118075" y="3111500"/>
            <a:chExt cx="8371075" cy="3139775"/>
          </a:xfrm>
        </p:grpSpPr>
        <p:grpSp>
          <p:nvGrpSpPr>
            <p:cNvPr id="1095" name="Google Shape;1095;p70"/>
            <p:cNvGrpSpPr/>
            <p:nvPr/>
          </p:nvGrpSpPr>
          <p:grpSpPr>
            <a:xfrm>
              <a:off x="2118075" y="3261675"/>
              <a:ext cx="8371075" cy="2989600"/>
              <a:chOff x="2118075" y="2956875"/>
              <a:chExt cx="8371075" cy="2989600"/>
            </a:xfrm>
          </p:grpSpPr>
          <p:cxnSp>
            <p:nvCxnSpPr>
              <p:cNvPr id="1096" name="Google Shape;1096;p70"/>
              <p:cNvCxnSpPr/>
              <p:nvPr/>
            </p:nvCxnSpPr>
            <p:spPr>
              <a:xfrm>
                <a:off x="3829100" y="3528375"/>
                <a:ext cx="6404400" cy="1625700"/>
              </a:xfrm>
              <a:prstGeom prst="bentConnector3">
                <a:avLst>
                  <a:gd name="adj1" fmla="val 54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97" name="Google Shape;1097;p70"/>
              <p:cNvSpPr txBox="1"/>
              <p:nvPr/>
            </p:nvSpPr>
            <p:spPr>
              <a:xfrm>
                <a:off x="3068600" y="4086213"/>
                <a:ext cx="7605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2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22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098" name="Google Shape;1098;p70"/>
              <p:cNvSpPr txBox="1"/>
              <p:nvPr/>
            </p:nvSpPr>
            <p:spPr>
              <a:xfrm>
                <a:off x="9728650" y="5232775"/>
                <a:ext cx="76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t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099" name="Google Shape;1099;p70"/>
              <p:cNvCxnSpPr/>
              <p:nvPr/>
            </p:nvCxnSpPr>
            <p:spPr>
              <a:xfrm>
                <a:off x="4689400" y="3725275"/>
                <a:ext cx="10500" cy="222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ED7D3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0" name="Google Shape;1100;p70"/>
              <p:cNvSpPr/>
              <p:nvPr/>
            </p:nvSpPr>
            <p:spPr>
              <a:xfrm>
                <a:off x="4440550" y="2956875"/>
                <a:ext cx="507900" cy="5373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sz="18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1" name="Google Shape;1101;p70"/>
              <p:cNvSpPr/>
              <p:nvPr/>
            </p:nvSpPr>
            <p:spPr>
              <a:xfrm>
                <a:off x="6131225" y="4204575"/>
                <a:ext cx="1143000" cy="949500"/>
              </a:xfrm>
              <a:prstGeom prst="rect">
                <a:avLst/>
              </a:prstGeom>
              <a:solidFill>
                <a:srgbClr val="C9DAF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200"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sz="22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2" name="Google Shape;1102;p70"/>
              <p:cNvSpPr txBox="1"/>
              <p:nvPr/>
            </p:nvSpPr>
            <p:spPr>
              <a:xfrm>
                <a:off x="2118075" y="5232775"/>
                <a:ext cx="13299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status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3" name="Google Shape;1103;p70"/>
              <p:cNvSpPr txBox="1"/>
              <p:nvPr/>
            </p:nvSpPr>
            <p:spPr>
              <a:xfrm>
                <a:off x="3829100" y="5232775"/>
                <a:ext cx="76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---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104" name="Google Shape;1104;p70"/>
              <p:cNvSpPr txBox="1"/>
              <p:nvPr/>
            </p:nvSpPr>
            <p:spPr>
              <a:xfrm>
                <a:off x="4799400" y="5256825"/>
                <a:ext cx="11430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>
                    <a:solidFill>
                      <a:srgbClr val="F8A02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Ready</a:t>
                </a:r>
                <a:endParaRPr sz="2000" b="1" dirty="0">
                  <a:solidFill>
                    <a:srgbClr val="F8A02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105" name="Google Shape;1105;p70"/>
              <p:cNvCxnSpPr/>
              <p:nvPr/>
            </p:nvCxnSpPr>
            <p:spPr>
              <a:xfrm>
                <a:off x="6127800" y="3790975"/>
                <a:ext cx="8700" cy="2072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6" name="Google Shape;1106;p70"/>
              <p:cNvSpPr txBox="1"/>
              <p:nvPr/>
            </p:nvSpPr>
            <p:spPr>
              <a:xfrm>
                <a:off x="6259925" y="5232775"/>
                <a:ext cx="885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solidFill>
                      <a:srgbClr val="0B69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Run</a:t>
                </a:r>
                <a:endParaRPr sz="2000" b="1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1107" name="Google Shape;1107;p70"/>
              <p:cNvCxnSpPr/>
              <p:nvPr/>
            </p:nvCxnSpPr>
            <p:spPr>
              <a:xfrm>
                <a:off x="7274050" y="3718425"/>
                <a:ext cx="3600" cy="207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8" name="Google Shape;1108;p70"/>
              <p:cNvSpPr txBox="1"/>
              <p:nvPr/>
            </p:nvSpPr>
            <p:spPr>
              <a:xfrm>
                <a:off x="7406175" y="5256825"/>
                <a:ext cx="76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urier New"/>
                    <a:ea typeface="Courier New"/>
                    <a:cs typeface="Courier New"/>
                    <a:sym typeface="Courier New"/>
                  </a:rPr>
                  <a:t>---</a:t>
                </a:r>
                <a:endParaRPr sz="2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109" name="Google Shape;1109;p70"/>
            <p:cNvSpPr/>
            <p:nvPr/>
          </p:nvSpPr>
          <p:spPr>
            <a:xfrm>
              <a:off x="7286975" y="4963475"/>
              <a:ext cx="1219200" cy="508000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110" name="Google Shape;1110;p70"/>
            <p:cNvSpPr/>
            <p:nvPr/>
          </p:nvSpPr>
          <p:spPr>
            <a:xfrm>
              <a:off x="6143975" y="3871275"/>
              <a:ext cx="2362200" cy="1600200"/>
            </a:xfrm>
            <a:custGeom>
              <a:avLst/>
              <a:gdLst/>
              <a:ahLst/>
              <a:cxnLst/>
              <a:rect l="l" t="t" r="r" b="b"/>
              <a:pathLst>
                <a:path w="94488" h="64008" extrusionOk="0">
                  <a:moveTo>
                    <a:pt x="0" y="64008"/>
                  </a:moveTo>
                  <a:lnTo>
                    <a:pt x="28448" y="0"/>
                  </a:lnTo>
                  <a:lnTo>
                    <a:pt x="9448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111" name="Google Shape;1111;p70"/>
            <p:cNvSpPr/>
            <p:nvPr/>
          </p:nvSpPr>
          <p:spPr>
            <a:xfrm>
              <a:off x="4721575" y="3261675"/>
              <a:ext cx="3784600" cy="2209800"/>
            </a:xfrm>
            <a:custGeom>
              <a:avLst/>
              <a:gdLst/>
              <a:ahLst/>
              <a:cxnLst/>
              <a:rect l="l" t="t" r="r" b="b"/>
              <a:pathLst>
                <a:path w="151384" h="88392" extrusionOk="0">
                  <a:moveTo>
                    <a:pt x="0" y="88392"/>
                  </a:moveTo>
                  <a:lnTo>
                    <a:pt x="41656" y="508"/>
                  </a:lnTo>
                  <a:lnTo>
                    <a:pt x="151384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pic>
          <p:nvPicPr>
            <p:cNvPr id="1112" name="Google Shape;1112;p70" descr="T_{arrival}" title="MathEquation,#ff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48700" y="3111500"/>
              <a:ext cx="962324" cy="34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70" descr="T_{firstrun}" title="MathEquation,#ff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648700" y="3655526"/>
              <a:ext cx="1140124" cy="40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4" name="Google Shape;1114;p70" descr="T_{completion}" title="MathEquation,#ff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648700" y="4800600"/>
              <a:ext cx="1468824" cy="407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15" name="Google Shape;1115;p70"/>
          <p:cNvCxnSpPr/>
          <p:nvPr/>
        </p:nvCxnSpPr>
        <p:spPr>
          <a:xfrm>
            <a:off x="4778725" y="4841450"/>
            <a:ext cx="1409700" cy="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87CDC006-79A2-4C7E-8CB0-0A0D6EFC4E22}"/>
              </a:ext>
            </a:extLst>
          </p:cNvPr>
          <p:cNvGrpSpPr/>
          <p:nvPr/>
        </p:nvGrpSpPr>
        <p:grpSpPr>
          <a:xfrm>
            <a:off x="2551364" y="5677463"/>
            <a:ext cx="6823200" cy="712500"/>
            <a:chOff x="2551364" y="5677463"/>
            <a:chExt cx="6823200" cy="712500"/>
          </a:xfrm>
        </p:grpSpPr>
        <p:sp>
          <p:nvSpPr>
            <p:cNvPr id="1116" name="Google Shape;1116;p70"/>
            <p:cNvSpPr/>
            <p:nvPr/>
          </p:nvSpPr>
          <p:spPr>
            <a:xfrm>
              <a:off x="2551364" y="5677463"/>
              <a:ext cx="68232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17" name="Google Shape;1117;p70" descr="T_{response}=T_{firstrun}-T_{arrival}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934051" y="5729838"/>
              <a:ext cx="6154524" cy="607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18" name="Google Shape;1118;p70" descr="T_{response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8177" y="4944698"/>
            <a:ext cx="1250798" cy="4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1"/>
          <p:cNvSpPr txBox="1">
            <a:spLocks noGrp="1"/>
          </p:cNvSpPr>
          <p:nvPr>
            <p:ph type="title"/>
          </p:nvPr>
        </p:nvSpPr>
        <p:spPr>
          <a:xfrm>
            <a:off x="434715" y="96038"/>
            <a:ext cx="878593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27" name="Google Shape;1127;p71"/>
          <p:cNvSpPr txBox="1">
            <a:spLocks noGrp="1"/>
          </p:cNvSpPr>
          <p:nvPr>
            <p:ph type="body" idx="1"/>
          </p:nvPr>
        </p:nvSpPr>
        <p:spPr>
          <a:xfrm>
            <a:off x="434715" y="1056201"/>
            <a:ext cx="11086335" cy="305859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Planificación por porciones de tiempo (</a:t>
            </a:r>
            <a:r>
              <a:rPr lang="es-ES" sz="2400" b="1" dirty="0">
                <a:latin typeface="+mn-lt"/>
              </a:rPr>
              <a:t>time </a:t>
            </a:r>
            <a:r>
              <a:rPr lang="es-ES" sz="2400" b="1" dirty="0" err="1">
                <a:latin typeface="+mn-lt"/>
              </a:rPr>
              <a:t>slicing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200" dirty="0">
                <a:latin typeface="+mn-lt"/>
              </a:rPr>
              <a:t>Ejecute un trabajo por una </a:t>
            </a:r>
            <a:r>
              <a:rPr lang="es-ES" sz="2200" b="1" dirty="0">
                <a:latin typeface="+mn-lt"/>
              </a:rPr>
              <a:t>porción de tiempo</a:t>
            </a:r>
            <a:r>
              <a:rPr lang="es-ES" sz="2200" dirty="0">
                <a:latin typeface="+mn-lt"/>
              </a:rPr>
              <a:t>, luego ejecute el siguiente trabajo en la cola de </a:t>
            </a:r>
            <a:r>
              <a:rPr lang="es-ES" sz="2200" b="1" dirty="0">
                <a:latin typeface="+mn-lt"/>
              </a:rPr>
              <a:t>procesos listos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La porción de tiempo es llamada </a:t>
            </a:r>
            <a:r>
              <a:rPr lang="es-ES" sz="2000" b="1" dirty="0">
                <a:latin typeface="+mn-lt"/>
              </a:rPr>
              <a:t>quantum</a:t>
            </a:r>
            <a:endParaRPr sz="20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Continúe haciendo lo mismo hasta que todos los trabajos finalicen.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La duración de la porción de tiempo debe ser un </a:t>
            </a:r>
            <a:r>
              <a:rPr lang="es-ES" sz="2200" b="1" dirty="0">
                <a:latin typeface="+mn-lt"/>
              </a:rPr>
              <a:t>múltiplo</a:t>
            </a:r>
            <a:r>
              <a:rPr lang="es-ES" sz="2200" dirty="0">
                <a:latin typeface="+mn-lt"/>
              </a:rPr>
              <a:t> del periodo de </a:t>
            </a:r>
            <a:r>
              <a:rPr lang="es-ES" sz="2200" b="1" dirty="0">
                <a:latin typeface="+mn-lt"/>
              </a:rPr>
              <a:t>interrupción del timer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RR es </a:t>
            </a:r>
            <a:r>
              <a:rPr lang="es-ES" sz="2200" b="1" dirty="0">
                <a:latin typeface="+mn-lt"/>
              </a:rPr>
              <a:t>justo</a:t>
            </a:r>
            <a:r>
              <a:rPr lang="es-ES" sz="2200" dirty="0">
                <a:latin typeface="+mn-lt"/>
              </a:rPr>
              <a:t> (</a:t>
            </a:r>
            <a:r>
              <a:rPr lang="es-ES" sz="2200" b="1" dirty="0">
                <a:latin typeface="+mn-lt"/>
              </a:rPr>
              <a:t>fair</a:t>
            </a:r>
            <a:r>
              <a:rPr lang="es-ES" sz="2200" dirty="0">
                <a:latin typeface="+mn-lt"/>
              </a:rPr>
              <a:t>), pero tiene un </a:t>
            </a:r>
            <a:r>
              <a:rPr lang="es-ES" sz="2200" b="1" dirty="0">
                <a:latin typeface="+mn-lt"/>
              </a:rPr>
              <a:t>bajo desempeño</a:t>
            </a:r>
            <a:r>
              <a:rPr lang="es-ES" sz="2200" dirty="0">
                <a:latin typeface="+mn-lt"/>
              </a:rPr>
              <a:t> en terminos de turnaround time.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46CBB395-235D-4311-B116-9993F54195CD}"/>
              </a:ext>
            </a:extLst>
          </p:cNvPr>
          <p:cNvGrpSpPr/>
          <p:nvPr/>
        </p:nvGrpSpPr>
        <p:grpSpPr>
          <a:xfrm>
            <a:off x="1086284" y="4476170"/>
            <a:ext cx="9828360" cy="1415826"/>
            <a:chOff x="739934" y="5150492"/>
            <a:chExt cx="9828360" cy="1415826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74AA574C-D238-4B47-86C5-DA526BE00AD9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39" name="Conector recto de flecha 38">
                <a:extLst>
                  <a:ext uri="{FF2B5EF4-FFF2-40B4-BE49-F238E27FC236}">
                    <a16:creationId xmlns:a16="http://schemas.microsoft.com/office/drawing/2014/main" id="{2C8E336C-2350-44F7-A7AE-8AEE719D1E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de flecha 39">
                <a:extLst>
                  <a:ext uri="{FF2B5EF4-FFF2-40B4-BE49-F238E27FC236}">
                    <a16:creationId xmlns:a16="http://schemas.microsoft.com/office/drawing/2014/main" id="{3A571543-CAF7-48F8-B9A4-631E719333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FB455CB8-6D90-4CB1-8A87-93E7D4C8B7DA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BAD46538-83E7-4011-BEF9-9DA872909255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23A3B5A3-06FF-49DD-BFD6-FF2F877237D1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3F3437D6-9813-48F7-B4C0-4536E636F4C6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619E3E31-A51A-47BB-94B8-C633810EC303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A2A5F8B7-AA29-4AE5-964B-F2E0C0E197F3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A73A9EA0-16BA-46ED-AE92-BE2779595A5E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7AF3C69-ECDB-4CAC-8E1F-8C44CA2B4AD3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8F72DBE1-2D57-4581-93C8-2E2E1DF6B289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652F2A3F-6936-42D9-AF3E-8E094352EFA5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5F3B6B78-EEA6-4ADA-BB84-2CEEA6A596F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8CE0B79-F454-44CF-9679-F8B0A11F64DD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B24D68C6-76A3-4FB3-9CF2-C4C7FCC71E9A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4FBABE6F-0017-4D09-B5A9-15402E429D7F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B5F5BB51-0B69-405D-BDA6-048F1B1077BC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2CD5FEF1-990B-490B-AA54-D85267E522E9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450C646A-030D-451A-826E-164596404ACB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759C8974-A820-457A-9200-985C2D5BF4B3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A4800C4A-8DFF-4A2F-9788-E81524662028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6DF95B7E-5391-4377-A1B6-51234958F8FA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3E040C1-FF81-4F56-8FDC-7720F99B2D73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75E8059C-444D-4B0D-BC4D-F379A4884FC0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8A52BF6D-81C6-489E-8044-1B57E606D353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4E1AFFA6-1D5D-449D-AA5C-807479EF6A37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B269B286-EEC2-4FAB-9894-C48E9A4835A8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6FB2C70-663F-4181-A66D-064CCC16A267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69190F4E-8E31-47C4-9704-D0A41091DAF8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8C8C8DC4-30BC-44F8-81FC-EF7EE9FF0490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12AE60E4-5BBD-4C3D-A090-82045A025114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B112A7DB-58B5-46EA-8744-130E5CE018C0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p:pic>
        <p:nvPicPr>
          <p:cNvPr id="1026" name="Picture 2" descr="Sand clock - Free time and date icons">
            <a:extLst>
              <a:ext uri="{FF2B5EF4-FFF2-40B4-BE49-F238E27FC236}">
                <a16:creationId xmlns:a16="http://schemas.microsoft.com/office/drawing/2014/main" id="{3BBABA6D-07C9-4A03-AD5C-6D4A00E62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81" y="6147807"/>
            <a:ext cx="400014" cy="40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2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72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72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72"/>
          <p:cNvSpPr txBox="1">
            <a:spLocks noGrp="1"/>
          </p:cNvSpPr>
          <p:nvPr>
            <p:ph type="title"/>
          </p:nvPr>
        </p:nvSpPr>
        <p:spPr>
          <a:xfrm>
            <a:off x="374754" y="96038"/>
            <a:ext cx="884589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36" name="Google Shape;1136;p72"/>
          <p:cNvSpPr txBox="1">
            <a:spLocks noGrp="1"/>
          </p:cNvSpPr>
          <p:nvPr>
            <p:ph type="body" idx="1"/>
          </p:nvPr>
        </p:nvSpPr>
        <p:spPr>
          <a:xfrm>
            <a:off x="374754" y="1045550"/>
            <a:ext cx="7513914" cy="558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latin typeface="+mn-lt"/>
              </a:rPr>
              <a:t>: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Llegan en el tiempo 0 en el orden: A - B - C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tiempo de ejecución de cada uno de los procesos es de 30 seg.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latin typeface="+mn-lt"/>
              </a:rPr>
              <a:t>Hallar:</a:t>
            </a:r>
            <a:endParaRPr sz="2200" b="1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Turnaround time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Response time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37" name="Google Shape;1137;p72"/>
          <p:cNvGraphicFramePr/>
          <p:nvPr>
            <p:extLst>
              <p:ext uri="{D42A27DB-BD31-4B8C-83A1-F6EECF244321}">
                <p14:modId xmlns:p14="http://schemas.microsoft.com/office/powerpoint/2010/main" val="2828618792"/>
              </p:ext>
            </p:extLst>
          </p:nvPr>
        </p:nvGraphicFramePr>
        <p:xfrm>
          <a:off x="8016205" y="1173181"/>
          <a:ext cx="3801041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8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8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38" name="Google Shape;1138;p72"/>
          <p:cNvGrpSpPr/>
          <p:nvPr/>
        </p:nvGrpSpPr>
        <p:grpSpPr>
          <a:xfrm>
            <a:off x="4091444" y="4752968"/>
            <a:ext cx="6823200" cy="712500"/>
            <a:chOff x="3811625" y="4970775"/>
            <a:chExt cx="6823200" cy="712500"/>
          </a:xfrm>
        </p:grpSpPr>
        <p:sp>
          <p:nvSpPr>
            <p:cNvPr id="1139" name="Google Shape;1139;p72"/>
            <p:cNvSpPr/>
            <p:nvPr/>
          </p:nvSpPr>
          <p:spPr>
            <a:xfrm>
              <a:off x="3811625" y="4970775"/>
              <a:ext cx="68232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40" name="Google Shape;1140;p72" descr="T_{response}=T_{firstrun}-T_{arrival}" title="MathEquation,#00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33125" y="5045725"/>
              <a:ext cx="5925926" cy="585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1" name="Google Shape;1141;p72"/>
          <p:cNvGrpSpPr/>
          <p:nvPr/>
        </p:nvGrpSpPr>
        <p:grpSpPr>
          <a:xfrm>
            <a:off x="4091444" y="3571050"/>
            <a:ext cx="6823200" cy="712500"/>
            <a:chOff x="3785725" y="5799713"/>
            <a:chExt cx="6823200" cy="712500"/>
          </a:xfrm>
        </p:grpSpPr>
        <p:sp>
          <p:nvSpPr>
            <p:cNvPr id="1142" name="Google Shape;1142;p72"/>
            <p:cNvSpPr/>
            <p:nvPr/>
          </p:nvSpPr>
          <p:spPr>
            <a:xfrm>
              <a:off x="3785725" y="5799713"/>
              <a:ext cx="68232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43" name="Google Shape;1143;p72" descr="T_{turnarround}=T_{completion}-T_{arrival}" title="MathEquation,#00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90575" y="5892825"/>
              <a:ext cx="6392424" cy="519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7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7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7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52" name="Google Shape;1152;p73"/>
          <p:cNvSpPr txBox="1">
            <a:spLocks noGrp="1"/>
          </p:cNvSpPr>
          <p:nvPr>
            <p:ph type="body" idx="1"/>
          </p:nvPr>
        </p:nvSpPr>
        <p:spPr>
          <a:xfrm>
            <a:off x="507999" y="1173175"/>
            <a:ext cx="7476559" cy="25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latin typeface="+mn-lt"/>
              </a:rPr>
              <a:t>: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Suponga que se tiene una situación en la que: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Tres procesos llegan a un sistema (A, B y C)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Llegan en el tiempo 0 en el orden: A - B - C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tiempo de ejecución de cada uno de los procesos es de 30 seg.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53" name="Google Shape;1153;p73"/>
          <p:cNvGraphicFramePr/>
          <p:nvPr>
            <p:extLst>
              <p:ext uri="{D42A27DB-BD31-4B8C-83A1-F6EECF244321}">
                <p14:modId xmlns:p14="http://schemas.microsoft.com/office/powerpoint/2010/main" val="130768029"/>
              </p:ext>
            </p:extLst>
          </p:nvPr>
        </p:nvGraphicFramePr>
        <p:xfrm>
          <a:off x="7984559" y="1365290"/>
          <a:ext cx="3801041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8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</a:rPr>
                        <a:t>Proceso</a:t>
                      </a:r>
                      <a:endParaRPr sz="1800"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+mn-lt"/>
                        </a:rPr>
                        <a:t>Arrival time</a:t>
                      </a:r>
                      <a:endParaRPr sz="1800" b="1" dirty="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</a:rPr>
                        <a:t>Run-time</a:t>
                      </a:r>
                      <a:endParaRPr sz="1800"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</a:rPr>
                        <a:t>30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B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30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C</a:t>
                      </a:r>
                      <a:endParaRPr sz="18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30</a:t>
                      </a: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4" name="Google Shape;1154;p73"/>
          <p:cNvSpPr txBox="1"/>
          <p:nvPr/>
        </p:nvSpPr>
        <p:spPr>
          <a:xfrm>
            <a:off x="610881" y="3556857"/>
            <a:ext cx="106095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Calcule el turnaround time y el response time empleando el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Algoritmo SJF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 (SJF)</a:t>
            </a:r>
            <a:endParaRPr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32E5084-B60D-4001-8C44-BDF5046D0151}"/>
              </a:ext>
            </a:extLst>
          </p:cNvPr>
          <p:cNvGrpSpPr/>
          <p:nvPr/>
        </p:nvGrpSpPr>
        <p:grpSpPr>
          <a:xfrm>
            <a:off x="334687" y="2939537"/>
            <a:ext cx="6165945" cy="1389748"/>
            <a:chOff x="1321384" y="4074230"/>
            <a:chExt cx="6165945" cy="1389748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963C6911-C139-40F4-B3B3-9684F1FD1CFD}"/>
                </a:ext>
              </a:extLst>
            </p:cNvPr>
            <p:cNvGrpSpPr/>
            <p:nvPr/>
          </p:nvGrpSpPr>
          <p:grpSpPr>
            <a:xfrm>
              <a:off x="2091857" y="4074230"/>
              <a:ext cx="5039975" cy="1028170"/>
              <a:chOff x="6286570" y="5198935"/>
              <a:chExt cx="3175670" cy="1170761"/>
            </a:xfrm>
          </p:grpSpPr>
          <p:cxnSp>
            <p:nvCxnSpPr>
              <p:cNvPr id="64" name="Conector recto de flecha 63">
                <a:extLst>
                  <a:ext uri="{FF2B5EF4-FFF2-40B4-BE49-F238E27FC236}">
                    <a16:creationId xmlns:a16="http://schemas.microsoft.com/office/drawing/2014/main" id="{F7D867F3-C126-4653-9EA2-BFBD91B8BD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3175670" cy="1084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de flecha 64">
                <a:extLst>
                  <a:ext uri="{FF2B5EF4-FFF2-40B4-BE49-F238E27FC236}">
                    <a16:creationId xmlns:a16="http://schemas.microsoft.com/office/drawing/2014/main" id="{64D092B4-790D-40E8-9B60-2CD8F9A5A0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31AA441C-6365-4B5C-AE9C-AF9016748030}"/>
                </a:ext>
              </a:extLst>
            </p:cNvPr>
            <p:cNvSpPr txBox="1"/>
            <p:nvPr/>
          </p:nvSpPr>
          <p:spPr>
            <a:xfrm>
              <a:off x="7067050" y="5086512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9B08C043-AED5-43B8-B704-B8E51EDE1EB7}"/>
                </a:ext>
              </a:extLst>
            </p:cNvPr>
            <p:cNvSpPr txBox="1"/>
            <p:nvPr/>
          </p:nvSpPr>
          <p:spPr>
            <a:xfrm>
              <a:off x="1321384" y="439943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4BE37250-8464-476C-8562-790830041373}"/>
                </a:ext>
              </a:extLst>
            </p:cNvPr>
            <p:cNvCxnSpPr/>
            <p:nvPr/>
          </p:nvCxnSpPr>
          <p:spPr>
            <a:xfrm>
              <a:off x="3016675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FDC2F36F-3FBD-459B-AE38-E8B77D389F93}"/>
                </a:ext>
              </a:extLst>
            </p:cNvPr>
            <p:cNvCxnSpPr/>
            <p:nvPr/>
          </p:nvCxnSpPr>
          <p:spPr>
            <a:xfrm>
              <a:off x="2553020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86D4087-6061-44CC-90CF-0A82816F66A5}"/>
                </a:ext>
              </a:extLst>
            </p:cNvPr>
            <p:cNvCxnSpPr/>
            <p:nvPr/>
          </p:nvCxnSpPr>
          <p:spPr>
            <a:xfrm>
              <a:off x="393107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9665A616-553C-48C1-8DCB-29CA5B3F7BA7}"/>
                </a:ext>
              </a:extLst>
            </p:cNvPr>
            <p:cNvCxnSpPr/>
            <p:nvPr/>
          </p:nvCxnSpPr>
          <p:spPr>
            <a:xfrm>
              <a:off x="346742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8F86FD3E-2DA0-46B9-9075-62FB2A92C778}"/>
                </a:ext>
              </a:extLst>
            </p:cNvPr>
            <p:cNvCxnSpPr/>
            <p:nvPr/>
          </p:nvCxnSpPr>
          <p:spPr>
            <a:xfrm>
              <a:off x="4851362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B0CAD132-1AC4-4635-9731-5AC8533DED98}"/>
                </a:ext>
              </a:extLst>
            </p:cNvPr>
            <p:cNvCxnSpPr/>
            <p:nvPr/>
          </p:nvCxnSpPr>
          <p:spPr>
            <a:xfrm>
              <a:off x="4387707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E8792154-13F0-4BD8-BA88-C16F1436D6CF}"/>
                </a:ext>
              </a:extLst>
            </p:cNvPr>
            <p:cNvCxnSpPr>
              <a:cxnSpLocks/>
            </p:cNvCxnSpPr>
            <p:nvPr/>
          </p:nvCxnSpPr>
          <p:spPr>
            <a:xfrm>
              <a:off x="5757163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01C7AA82-75B7-45F8-A681-3B8F0B58F219}"/>
                </a:ext>
              </a:extLst>
            </p:cNvPr>
            <p:cNvCxnSpPr>
              <a:cxnSpLocks/>
            </p:cNvCxnSpPr>
            <p:nvPr/>
          </p:nvCxnSpPr>
          <p:spPr>
            <a:xfrm>
              <a:off x="5293508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90BA1CDB-1241-4148-8DFE-2BFC42415C28}"/>
                </a:ext>
              </a:extLst>
            </p:cNvPr>
            <p:cNvCxnSpPr>
              <a:cxnSpLocks/>
            </p:cNvCxnSpPr>
            <p:nvPr/>
          </p:nvCxnSpPr>
          <p:spPr>
            <a:xfrm>
              <a:off x="667745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99F7F159-D4F8-4819-B11B-0C897455067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79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D75D5BAB-ADD8-488A-84AF-FAD63940EB68}"/>
                </a:ext>
              </a:extLst>
            </p:cNvPr>
            <p:cNvSpPr txBox="1"/>
            <p:nvPr/>
          </p:nvSpPr>
          <p:spPr>
            <a:xfrm>
              <a:off x="1954376" y="51368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358432C8-F34F-4303-B984-5BCEA7E18579}"/>
                </a:ext>
              </a:extLst>
            </p:cNvPr>
            <p:cNvSpPr txBox="1"/>
            <p:nvPr/>
          </p:nvSpPr>
          <p:spPr>
            <a:xfrm>
              <a:off x="2843735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63320794-EA59-4307-8EAE-FCC341EB382E}"/>
                </a:ext>
              </a:extLst>
            </p:cNvPr>
            <p:cNvSpPr txBox="1"/>
            <p:nvPr/>
          </p:nvSpPr>
          <p:spPr>
            <a:xfrm>
              <a:off x="3758419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CC47D743-5C01-4489-8B16-C3731F657B92}"/>
                </a:ext>
              </a:extLst>
            </p:cNvPr>
            <p:cNvSpPr txBox="1"/>
            <p:nvPr/>
          </p:nvSpPr>
          <p:spPr>
            <a:xfrm>
              <a:off x="4679535" y="515620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0AFF622-C449-4CBE-85F1-C23FC5C940C1}"/>
                </a:ext>
              </a:extLst>
            </p:cNvPr>
            <p:cNvSpPr txBox="1"/>
            <p:nvPr/>
          </p:nvSpPr>
          <p:spPr>
            <a:xfrm>
              <a:off x="5573871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5F9345E2-81AC-48A9-859F-C13D5354CD87}"/>
                </a:ext>
              </a:extLst>
            </p:cNvPr>
            <p:cNvSpPr txBox="1"/>
            <p:nvPr/>
          </p:nvSpPr>
          <p:spPr>
            <a:xfrm>
              <a:off x="6454391" y="514819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</p:grpSp>
      <p:graphicFrame>
        <p:nvGraphicFramePr>
          <p:cNvPr id="66" name="Google Shape;1137;p72">
            <a:extLst>
              <a:ext uri="{FF2B5EF4-FFF2-40B4-BE49-F238E27FC236}">
                <a16:creationId xmlns:a16="http://schemas.microsoft.com/office/drawing/2014/main" id="{0CD816B4-052A-485D-8F4C-B315A47982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697196"/>
              </p:ext>
            </p:extLst>
          </p:nvPr>
        </p:nvGraphicFramePr>
        <p:xfrm>
          <a:off x="8459820" y="164033"/>
          <a:ext cx="3587426" cy="17067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894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6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7" name="Grupo 66">
            <a:extLst>
              <a:ext uri="{FF2B5EF4-FFF2-40B4-BE49-F238E27FC236}">
                <a16:creationId xmlns:a16="http://schemas.microsoft.com/office/drawing/2014/main" id="{8E707783-A7B9-476E-80CD-08D297DF2805}"/>
              </a:ext>
            </a:extLst>
          </p:cNvPr>
          <p:cNvGrpSpPr/>
          <p:nvPr/>
        </p:nvGrpSpPr>
        <p:grpSpPr>
          <a:xfrm>
            <a:off x="8413316" y="2160137"/>
            <a:ext cx="3494738" cy="1012282"/>
            <a:chOff x="3022600" y="4248863"/>
            <a:chExt cx="5162434" cy="1371871"/>
          </a:xfrm>
        </p:grpSpPr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1DA55092-B9FF-4A43-A0A8-71C05754DACF}"/>
                </a:ext>
              </a:extLst>
            </p:cNvPr>
            <p:cNvGrpSpPr/>
            <p:nvPr/>
          </p:nvGrpSpPr>
          <p:grpSpPr>
            <a:xfrm>
              <a:off x="7326673" y="4271466"/>
              <a:ext cx="858361" cy="1349267"/>
              <a:chOff x="1332136" y="2347379"/>
              <a:chExt cx="858361" cy="1349267"/>
            </a:xfrm>
          </p:grpSpPr>
          <p:sp>
            <p:nvSpPr>
              <p:cNvPr id="78" name="Rectángulo 77">
                <a:extLst>
                  <a:ext uri="{FF2B5EF4-FFF2-40B4-BE49-F238E27FC236}">
                    <a16:creationId xmlns:a16="http://schemas.microsoft.com/office/drawing/2014/main" id="{D2496BC6-8A96-4C91-B87E-B402D5E6C05F}"/>
                  </a:ext>
                </a:extLst>
              </p:cNvPr>
              <p:cNvSpPr/>
              <p:nvPr/>
            </p:nvSpPr>
            <p:spPr>
              <a:xfrm>
                <a:off x="1360275" y="2870978"/>
                <a:ext cx="792701" cy="8256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26C2FF68-EBEB-4A58-A7A1-EC69BCD4D87E}"/>
                  </a:ext>
                </a:extLst>
              </p:cNvPr>
              <p:cNvSpPr txBox="1"/>
              <p:nvPr/>
            </p:nvSpPr>
            <p:spPr>
              <a:xfrm>
                <a:off x="1332136" y="2347379"/>
                <a:ext cx="858361" cy="500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69" name="Conector recto de flecha 68">
              <a:extLst>
                <a:ext uri="{FF2B5EF4-FFF2-40B4-BE49-F238E27FC236}">
                  <a16:creationId xmlns:a16="http://schemas.microsoft.com/office/drawing/2014/main" id="{18BC1CA1-A661-4B26-90DC-B87E40AB5842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6412681" y="5198925"/>
              <a:ext cx="942132" cy="89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: angular 69">
              <a:extLst>
                <a:ext uri="{FF2B5EF4-FFF2-40B4-BE49-F238E27FC236}">
                  <a16:creationId xmlns:a16="http://schemas.microsoft.com/office/drawing/2014/main" id="{3913F664-7D4B-47A5-A385-BD1D17ADFA05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rot="5400000" flipH="1">
              <a:off x="5681912" y="3551483"/>
              <a:ext cx="182037" cy="3956465"/>
            </a:xfrm>
            <a:prstGeom prst="bentConnector4">
              <a:avLst>
                <a:gd name="adj1" fmla="val -283647"/>
                <a:gd name="adj2" fmla="val 10924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de flecha 70">
              <a:extLst>
                <a:ext uri="{FF2B5EF4-FFF2-40B4-BE49-F238E27FC236}">
                  <a16:creationId xmlns:a16="http://schemas.microsoft.com/office/drawing/2014/main" id="{371EF5FB-6230-4808-A2D6-EA9964F75937}"/>
                </a:ext>
              </a:extLst>
            </p:cNvPr>
            <p:cNvCxnSpPr/>
            <p:nvPr/>
          </p:nvCxnSpPr>
          <p:spPr>
            <a:xfrm>
              <a:off x="3022600" y="5034835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53C63686-8E7F-4F7B-9211-F4252F4805AD}"/>
                </a:ext>
              </a:extLst>
            </p:cNvPr>
            <p:cNvGrpSpPr/>
            <p:nvPr/>
          </p:nvGrpSpPr>
          <p:grpSpPr>
            <a:xfrm>
              <a:off x="3934951" y="4248863"/>
              <a:ext cx="2477730" cy="1371870"/>
              <a:chOff x="3934951" y="4248863"/>
              <a:chExt cx="2477730" cy="1371870"/>
            </a:xfrm>
          </p:grpSpPr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BEF0520E-754F-4CBC-84DA-BDCF3A143C6E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77730" cy="831255"/>
                <a:chOff x="3934951" y="4789478"/>
                <a:chExt cx="2477730" cy="831255"/>
              </a:xfrm>
            </p:grpSpPr>
            <p:cxnSp>
              <p:nvCxnSpPr>
                <p:cNvPr id="75" name="Conector recto 74">
                  <a:extLst>
                    <a:ext uri="{FF2B5EF4-FFF2-40B4-BE49-F238E27FC236}">
                      <a16:creationId xmlns:a16="http://schemas.microsoft.com/office/drawing/2014/main" id="{A2DDA14C-DCA4-4EA2-9783-CAF73749E1F6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Conector recto 75">
                  <a:extLst>
                    <a:ext uri="{FF2B5EF4-FFF2-40B4-BE49-F238E27FC236}">
                      <a16:creationId xmlns:a16="http://schemas.microsoft.com/office/drawing/2014/main" id="{E7C1A424-63EF-4E3F-BF41-036AF3675517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Conector recto 76">
                  <a:extLst>
                    <a:ext uri="{FF2B5EF4-FFF2-40B4-BE49-F238E27FC236}">
                      <a16:creationId xmlns:a16="http://schemas.microsoft.com/office/drawing/2014/main" id="{60BF7DDB-3B28-49AD-A399-7ACF6492D9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8689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E1F58142-DF35-4E5B-B1E8-D9189FBD89E6}"/>
                  </a:ext>
                </a:extLst>
              </p:cNvPr>
              <p:cNvSpPr txBox="1"/>
              <p:nvPr/>
            </p:nvSpPr>
            <p:spPr>
              <a:xfrm>
                <a:off x="4550121" y="4248863"/>
                <a:ext cx="1172519" cy="500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0" name="Tabla 4">
                <a:extLst>
                  <a:ext uri="{FF2B5EF4-FFF2-40B4-BE49-F238E27FC236}">
                    <a16:creationId xmlns:a16="http://schemas.microsoft.com/office/drawing/2014/main" id="{2362E620-919D-4FAD-B86B-A7DF8FA45D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9485863"/>
                  </p:ext>
                </p:extLst>
              </p:nvPr>
            </p:nvGraphicFramePr>
            <p:xfrm>
              <a:off x="9459486" y="4825289"/>
              <a:ext cx="2497526" cy="1868678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343718143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𝒓𝒆𝒔𝒑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0" name="Tabla 4">
                <a:extLst>
                  <a:ext uri="{FF2B5EF4-FFF2-40B4-BE49-F238E27FC236}">
                    <a16:creationId xmlns:a16="http://schemas.microsoft.com/office/drawing/2014/main" id="{2362E620-919D-4FAD-B86B-A7DF8FA45D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9485863"/>
                  </p:ext>
                </p:extLst>
              </p:nvPr>
            </p:nvGraphicFramePr>
            <p:xfrm>
              <a:off x="9459486" y="4825289"/>
              <a:ext cx="2497526" cy="1868678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343718143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90398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29600" t="-7813" r="-101600" b="-4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29600" t="-7813" r="-1600" b="-4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75"/>
          <p:cNvSpPr txBox="1">
            <a:spLocks noGrp="1"/>
          </p:cNvSpPr>
          <p:nvPr>
            <p:ph type="title"/>
          </p:nvPr>
        </p:nvSpPr>
        <p:spPr>
          <a:xfrm>
            <a:off x="271718" y="96038"/>
            <a:ext cx="890539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82" name="Google Shape;1182;p75"/>
          <p:cNvSpPr txBox="1">
            <a:spLocks noGrp="1"/>
          </p:cNvSpPr>
          <p:nvPr>
            <p:ph type="body" idx="1"/>
          </p:nvPr>
        </p:nvSpPr>
        <p:spPr>
          <a:xfrm>
            <a:off x="271718" y="897847"/>
            <a:ext cx="7609539" cy="231347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Ejemplo</a:t>
            </a:r>
            <a:r>
              <a:rPr lang="es-ES" sz="2400" dirty="0"/>
              <a:t>: 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una situación en la que: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Tres procesos llegan a un sistema (A, B y C)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Llegan en el tiempo 0 en el orden: A - B - C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tiempo de ejecución de cada uno de los procesos es de 30 seg.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4" name="Google Shape;1184;p75"/>
          <p:cNvSpPr txBox="1"/>
          <p:nvPr/>
        </p:nvSpPr>
        <p:spPr>
          <a:xfrm>
            <a:off x="432681" y="3299132"/>
            <a:ext cx="11384566" cy="92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Calcule el turnaround time y el response time empleando el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Algoritmo RR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con un quantum de 10 seg.</a:t>
            </a:r>
            <a:endParaRPr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24" name="Google Shape;1137;p72">
            <a:extLst>
              <a:ext uri="{FF2B5EF4-FFF2-40B4-BE49-F238E27FC236}">
                <a16:creationId xmlns:a16="http://schemas.microsoft.com/office/drawing/2014/main" id="{0EC65755-333C-4E88-92CD-4741A2BCE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775875"/>
              </p:ext>
            </p:extLst>
          </p:nvPr>
        </p:nvGraphicFramePr>
        <p:xfrm>
          <a:off x="8016205" y="1173181"/>
          <a:ext cx="3801041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8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8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3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56A2CE18-A308-4FEF-9F67-DC0B5DA4E6C7}"/>
              </a:ext>
            </a:extLst>
          </p:cNvPr>
          <p:cNvGrpSpPr/>
          <p:nvPr/>
        </p:nvGrpSpPr>
        <p:grpSpPr>
          <a:xfrm>
            <a:off x="3257355" y="4339436"/>
            <a:ext cx="5735217" cy="1615499"/>
            <a:chOff x="3070247" y="4253817"/>
            <a:chExt cx="5735217" cy="1615499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5BD337DC-A7CE-41C0-A45F-B8FC755DC5D6}"/>
                </a:ext>
              </a:extLst>
            </p:cNvPr>
            <p:cNvGrpSpPr/>
            <p:nvPr/>
          </p:nvGrpSpPr>
          <p:grpSpPr>
            <a:xfrm>
              <a:off x="3070247" y="4253817"/>
              <a:ext cx="5466824" cy="1206174"/>
              <a:chOff x="3022600" y="4414559"/>
              <a:chExt cx="5466824" cy="1206174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A18B1861-33CA-40B6-A462-04845653207F}"/>
                  </a:ext>
                </a:extLst>
              </p:cNvPr>
              <p:cNvGrpSpPr/>
              <p:nvPr/>
            </p:nvGrpSpPr>
            <p:grpSpPr>
              <a:xfrm>
                <a:off x="7615227" y="4425731"/>
                <a:ext cx="874197" cy="1195002"/>
                <a:chOff x="1620690" y="2501644"/>
                <a:chExt cx="874197" cy="1195002"/>
              </a:xfrm>
            </p:grpSpPr>
            <p:sp>
              <p:nvSpPr>
                <p:cNvPr id="20" name="Rectángulo 19">
                  <a:extLst>
                    <a:ext uri="{FF2B5EF4-FFF2-40B4-BE49-F238E27FC236}">
                      <a16:creationId xmlns:a16="http://schemas.microsoft.com/office/drawing/2014/main" id="{B9A68FB2-9C69-417D-B70F-78B3401D715F}"/>
                    </a:ext>
                  </a:extLst>
                </p:cNvPr>
                <p:cNvSpPr/>
                <p:nvPr/>
              </p:nvSpPr>
              <p:spPr>
                <a:xfrm>
                  <a:off x="1620690" y="2870976"/>
                  <a:ext cx="874197" cy="8256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8442B641-B369-49F4-A1C6-07FB2CB57A00}"/>
                    </a:ext>
                  </a:extLst>
                </p:cNvPr>
                <p:cNvSpPr txBox="1"/>
                <p:nvPr/>
              </p:nvSpPr>
              <p:spPr>
                <a:xfrm>
                  <a:off x="1798994" y="2501644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O" b="1" dirty="0"/>
                    <a:t>CPU</a:t>
                  </a:r>
                </a:p>
              </p:txBody>
            </p:sp>
          </p:grpSp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C4055400-3C30-4DB4-ABB9-5111840B6255}"/>
                  </a:ext>
                </a:extLst>
              </p:cNvPr>
              <p:cNvCxnSpPr>
                <a:endCxn id="20" idx="1"/>
              </p:cNvCxnSpPr>
              <p:nvPr/>
            </p:nvCxnSpPr>
            <p:spPr>
              <a:xfrm>
                <a:off x="6412680" y="5205105"/>
                <a:ext cx="1202547" cy="27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: angular 11">
                <a:extLst>
                  <a:ext uri="{FF2B5EF4-FFF2-40B4-BE49-F238E27FC236}">
                    <a16:creationId xmlns:a16="http://schemas.microsoft.com/office/drawing/2014/main" id="{32303351-BF1F-4E22-A2EB-94315B3DB34A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 rot="5400000" flipH="1">
                <a:off x="5856654" y="3425061"/>
                <a:ext cx="182038" cy="4209306"/>
              </a:xfrm>
              <a:prstGeom prst="bentConnector4">
                <a:avLst>
                  <a:gd name="adj1" fmla="val -216274"/>
                  <a:gd name="adj2" fmla="val 106423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de flecha 12">
                <a:extLst>
                  <a:ext uri="{FF2B5EF4-FFF2-40B4-BE49-F238E27FC236}">
                    <a16:creationId xmlns:a16="http://schemas.microsoft.com/office/drawing/2014/main" id="{211C2323-995C-4E3F-98A8-634DD44A3855}"/>
                  </a:ext>
                </a:extLst>
              </p:cNvPr>
              <p:cNvCxnSpPr/>
              <p:nvPr/>
            </p:nvCxnSpPr>
            <p:spPr>
              <a:xfrm>
                <a:off x="3022600" y="5034835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5D9D720B-331A-4124-97D2-477C71096C89}"/>
                  </a:ext>
                </a:extLst>
              </p:cNvPr>
              <p:cNvGrpSpPr/>
              <p:nvPr/>
            </p:nvGrpSpPr>
            <p:grpSpPr>
              <a:xfrm>
                <a:off x="3934951" y="4414559"/>
                <a:ext cx="2480084" cy="1206174"/>
                <a:chOff x="3934951" y="4414559"/>
                <a:chExt cx="2480084" cy="1206174"/>
              </a:xfrm>
            </p:grpSpPr>
            <p:grpSp>
              <p:nvGrpSpPr>
                <p:cNvPr id="15" name="Grupo 14">
                  <a:extLst>
                    <a:ext uri="{FF2B5EF4-FFF2-40B4-BE49-F238E27FC236}">
                      <a16:creationId xmlns:a16="http://schemas.microsoft.com/office/drawing/2014/main" id="{F9C200C5-A351-422A-8188-9F7DB023F901}"/>
                    </a:ext>
                  </a:extLst>
                </p:cNvPr>
                <p:cNvGrpSpPr/>
                <p:nvPr/>
              </p:nvGrpSpPr>
              <p:grpSpPr>
                <a:xfrm>
                  <a:off x="3934951" y="4789478"/>
                  <a:ext cx="2480084" cy="831255"/>
                  <a:chOff x="3934951" y="4789478"/>
                  <a:chExt cx="2480084" cy="831255"/>
                </a:xfrm>
              </p:grpSpPr>
              <p:cxnSp>
                <p:nvCxnSpPr>
                  <p:cNvPr id="17" name="Conector recto 16">
                    <a:extLst>
                      <a:ext uri="{FF2B5EF4-FFF2-40B4-BE49-F238E27FC236}">
                        <a16:creationId xmlns:a16="http://schemas.microsoft.com/office/drawing/2014/main" id="{9A543B1D-C72D-4E4D-A436-D2F39DABDC40}"/>
                      </a:ext>
                    </a:extLst>
                  </p:cNvPr>
                  <p:cNvCxnSpPr/>
                  <p:nvPr/>
                </p:nvCxnSpPr>
                <p:spPr>
                  <a:xfrm>
                    <a:off x="3934952" y="4795063"/>
                    <a:ext cx="247772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Conector recto 17">
                    <a:extLst>
                      <a:ext uri="{FF2B5EF4-FFF2-40B4-BE49-F238E27FC236}">
                        <a16:creationId xmlns:a16="http://schemas.microsoft.com/office/drawing/2014/main" id="{EC1D6964-E4AA-4783-98F1-ACB2EFB20191}"/>
                      </a:ext>
                    </a:extLst>
                  </p:cNvPr>
                  <p:cNvCxnSpPr/>
                  <p:nvPr/>
                </p:nvCxnSpPr>
                <p:spPr>
                  <a:xfrm>
                    <a:off x="3934951" y="5609561"/>
                    <a:ext cx="2477729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Conector recto 18">
                    <a:extLst>
                      <a:ext uri="{FF2B5EF4-FFF2-40B4-BE49-F238E27FC236}">
                        <a16:creationId xmlns:a16="http://schemas.microsoft.com/office/drawing/2014/main" id="{F5930697-8E5F-4C2B-9AE1-830A7201A6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15035" y="4789478"/>
                    <a:ext cx="0" cy="831255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51F842C1-27B4-4D0C-8D78-9CA5DBAE1035}"/>
                    </a:ext>
                  </a:extLst>
                </p:cNvPr>
                <p:cNvSpPr txBox="1"/>
                <p:nvPr/>
              </p:nvSpPr>
              <p:spPr>
                <a:xfrm>
                  <a:off x="4853698" y="4414559"/>
                  <a:ext cx="7727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CO" b="1" dirty="0"/>
                    <a:t>Ready</a:t>
                  </a:r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E06CF22F-59C2-4F5D-95C3-FFF6C6DDC794}"/>
                    </a:ext>
                  </a:extLst>
                </p:cNvPr>
                <p:cNvSpPr txBox="1"/>
                <p:nvPr/>
              </p:nvSpPr>
              <p:spPr>
                <a:xfrm>
                  <a:off x="8466397" y="5543752"/>
                  <a:ext cx="3390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s-MX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s-CO" dirty="0"/>
                </a:p>
              </p:txBody>
            </p:sp>
          </mc:Choice>
          <mc:Fallback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E06CF22F-59C2-4F5D-95C3-FFF6C6DDC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6397" y="5543752"/>
                  <a:ext cx="33906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8182" b="-652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" name="Picture 2" descr="Sand clock - Free time and date icons">
              <a:extLst>
                <a:ext uri="{FF2B5EF4-FFF2-40B4-BE49-F238E27FC236}">
                  <a16:creationId xmlns:a16="http://schemas.microsoft.com/office/drawing/2014/main" id="{C6198F5E-3784-4D98-850B-C5973DD7C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0833" y="5543752"/>
              <a:ext cx="325564" cy="325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76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193" name="Google Shape;1193;p76"/>
          <p:cNvSpPr txBox="1">
            <a:spLocks noGrp="1"/>
          </p:cNvSpPr>
          <p:nvPr>
            <p:ph type="body" idx="1"/>
          </p:nvPr>
        </p:nvSpPr>
        <p:spPr>
          <a:xfrm>
            <a:off x="449943" y="952700"/>
            <a:ext cx="5328107" cy="57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Algoritmo RR (quantum = 10)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ABFEF05-BD6B-433B-9F6E-FF6BA6CA5C62}"/>
              </a:ext>
            </a:extLst>
          </p:cNvPr>
          <p:cNvGrpSpPr/>
          <p:nvPr/>
        </p:nvGrpSpPr>
        <p:grpSpPr>
          <a:xfrm>
            <a:off x="6542906" y="2074258"/>
            <a:ext cx="5385051" cy="1354742"/>
            <a:chOff x="612751" y="1486428"/>
            <a:chExt cx="5385051" cy="1354742"/>
          </a:xfrm>
        </p:grpSpPr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F96158C6-3496-44DF-9EB8-E7509D79EA92}"/>
                </a:ext>
              </a:extLst>
            </p:cNvPr>
            <p:cNvGrpSpPr/>
            <p:nvPr/>
          </p:nvGrpSpPr>
          <p:grpSpPr>
            <a:xfrm>
              <a:off x="5157055" y="1509457"/>
              <a:ext cx="580609" cy="989253"/>
              <a:chOff x="1572367" y="2355985"/>
              <a:chExt cx="580609" cy="1340661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993D9FFC-C62F-4636-A754-7668740D8A69}"/>
                  </a:ext>
                </a:extLst>
              </p:cNvPr>
              <p:cNvSpPr/>
              <p:nvPr/>
            </p:nvSpPr>
            <p:spPr>
              <a:xfrm>
                <a:off x="1572367" y="2870977"/>
                <a:ext cx="580609" cy="8256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F29DCFE7-9633-4018-9373-18D75EDE1E2A}"/>
                  </a:ext>
                </a:extLst>
              </p:cNvPr>
              <p:cNvSpPr txBox="1"/>
              <p:nvPr/>
            </p:nvSpPr>
            <p:spPr>
              <a:xfrm>
                <a:off x="1572368" y="2355985"/>
                <a:ext cx="580608" cy="369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C0EB6C9C-487E-477F-90E4-F8622176A355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>
              <a:off x="4003675" y="2194086"/>
              <a:ext cx="11533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: angular 61">
              <a:extLst>
                <a:ext uri="{FF2B5EF4-FFF2-40B4-BE49-F238E27FC236}">
                  <a16:creationId xmlns:a16="http://schemas.microsoft.com/office/drawing/2014/main" id="{4E6DE8F4-3BD4-4B2D-97FB-F3942AF32CFB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 rot="5400000" flipH="1">
              <a:off x="3348944" y="400294"/>
              <a:ext cx="134322" cy="4062511"/>
            </a:xfrm>
            <a:prstGeom prst="bentConnector4">
              <a:avLst>
                <a:gd name="adj1" fmla="val -170188"/>
                <a:gd name="adj2" fmla="val 10740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de flecha 62">
              <a:extLst>
                <a:ext uri="{FF2B5EF4-FFF2-40B4-BE49-F238E27FC236}">
                  <a16:creationId xmlns:a16="http://schemas.microsoft.com/office/drawing/2014/main" id="{96454429-4017-4F54-9374-6061955CB07C}"/>
                </a:ext>
              </a:extLst>
            </p:cNvPr>
            <p:cNvCxnSpPr>
              <a:cxnSpLocks/>
            </p:cNvCxnSpPr>
            <p:nvPr/>
          </p:nvCxnSpPr>
          <p:spPr>
            <a:xfrm>
              <a:off x="612751" y="2066384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401A888A-15C7-4750-B9B4-83B81D4185FC}"/>
                </a:ext>
              </a:extLst>
            </p:cNvPr>
            <p:cNvGrpSpPr/>
            <p:nvPr/>
          </p:nvGrpSpPr>
          <p:grpSpPr>
            <a:xfrm>
              <a:off x="1525102" y="1486428"/>
              <a:ext cx="2477730" cy="1012281"/>
              <a:chOff x="3934951" y="4248863"/>
              <a:chExt cx="2477730" cy="1371870"/>
            </a:xfrm>
          </p:grpSpPr>
          <p:grpSp>
            <p:nvGrpSpPr>
              <p:cNvPr id="65" name="Grupo 64">
                <a:extLst>
                  <a:ext uri="{FF2B5EF4-FFF2-40B4-BE49-F238E27FC236}">
                    <a16:creationId xmlns:a16="http://schemas.microsoft.com/office/drawing/2014/main" id="{ED175B35-B252-457F-9BAD-5BD44BAD5B60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77730" cy="831255"/>
                <a:chOff x="3934951" y="4789478"/>
                <a:chExt cx="2477730" cy="831255"/>
              </a:xfrm>
            </p:grpSpPr>
            <p:cxnSp>
              <p:nvCxnSpPr>
                <p:cNvPr id="67" name="Conector recto 66">
                  <a:extLst>
                    <a:ext uri="{FF2B5EF4-FFF2-40B4-BE49-F238E27FC236}">
                      <a16:creationId xmlns:a16="http://schemas.microsoft.com/office/drawing/2014/main" id="{5DCE485E-EA68-4499-B6DA-82E0982D0142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Conector recto 67">
                  <a:extLst>
                    <a:ext uri="{FF2B5EF4-FFF2-40B4-BE49-F238E27FC236}">
                      <a16:creationId xmlns:a16="http://schemas.microsoft.com/office/drawing/2014/main" id="{217E43E1-399E-4769-AE45-0FA675CE8913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Conector recto 68">
                  <a:extLst>
                    <a:ext uri="{FF2B5EF4-FFF2-40B4-BE49-F238E27FC236}">
                      <a16:creationId xmlns:a16="http://schemas.microsoft.com/office/drawing/2014/main" id="{137D072C-1DF0-4DBB-8AD9-7F4956A12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0868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82DB77F2-64CA-4116-B8E7-60ECE2A0E06A}"/>
                  </a:ext>
                </a:extLst>
              </p:cNvPr>
              <p:cNvSpPr txBox="1"/>
              <p:nvPr/>
            </p:nvSpPr>
            <p:spPr>
              <a:xfrm>
                <a:off x="4858409" y="4248863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55017C7E-E8D4-4F14-960F-1A125876B124}"/>
                </a:ext>
              </a:extLst>
            </p:cNvPr>
            <p:cNvGrpSpPr/>
            <p:nvPr/>
          </p:nvGrpSpPr>
          <p:grpSpPr>
            <a:xfrm>
              <a:off x="5521901" y="2605578"/>
              <a:ext cx="475901" cy="235592"/>
              <a:chOff x="5521901" y="2605578"/>
              <a:chExt cx="475901" cy="23559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2" name="CuadroTexto 71">
                    <a:extLst>
                      <a:ext uri="{FF2B5EF4-FFF2-40B4-BE49-F238E27FC236}">
                        <a16:creationId xmlns:a16="http://schemas.microsoft.com/office/drawing/2014/main" id="{9656F7C0-4D82-4220-8E10-62C1EF1EC15E}"/>
                      </a:ext>
                    </a:extLst>
                  </p:cNvPr>
                  <p:cNvSpPr txBox="1"/>
                  <p:nvPr/>
                </p:nvSpPr>
                <p:spPr>
                  <a:xfrm>
                    <a:off x="5772805" y="2631041"/>
                    <a:ext cx="22499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s-MX" sz="1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s-CO" sz="1200" dirty="0"/>
                  </a:p>
                </p:txBody>
              </p:sp>
            </mc:Choice>
            <mc:Fallback>
              <p:sp>
                <p:nvSpPr>
                  <p:cNvPr id="72" name="CuadroTexto 71">
                    <a:extLst>
                      <a:ext uri="{FF2B5EF4-FFF2-40B4-BE49-F238E27FC236}">
                        <a16:creationId xmlns:a16="http://schemas.microsoft.com/office/drawing/2014/main" id="{9656F7C0-4D82-4220-8E10-62C1EF1EC1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2805" y="2631041"/>
                    <a:ext cx="224997" cy="18466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21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73" name="Picture 2" descr="Sand clock - Free time and date icons">
                <a:extLst>
                  <a:ext uri="{FF2B5EF4-FFF2-40B4-BE49-F238E27FC236}">
                    <a16:creationId xmlns:a16="http://schemas.microsoft.com/office/drawing/2014/main" id="{36F182B7-5831-494E-A6CE-6859F28B38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21901" y="2605578"/>
                <a:ext cx="235592" cy="235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ED7291F0-E3CD-4F4E-8DC0-EEF9D9D1E84E}"/>
              </a:ext>
            </a:extLst>
          </p:cNvPr>
          <p:cNvGrpSpPr/>
          <p:nvPr/>
        </p:nvGrpSpPr>
        <p:grpSpPr>
          <a:xfrm>
            <a:off x="229178" y="3581742"/>
            <a:ext cx="6165945" cy="1389748"/>
            <a:chOff x="1321384" y="4074230"/>
            <a:chExt cx="6165945" cy="1389748"/>
          </a:xfrm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67A5207E-5198-4D26-81B7-3178E7C34B3C}"/>
                </a:ext>
              </a:extLst>
            </p:cNvPr>
            <p:cNvGrpSpPr/>
            <p:nvPr/>
          </p:nvGrpSpPr>
          <p:grpSpPr>
            <a:xfrm>
              <a:off x="2091857" y="4074230"/>
              <a:ext cx="5039975" cy="1028170"/>
              <a:chOff x="6286570" y="5198935"/>
              <a:chExt cx="3175670" cy="1170761"/>
            </a:xfrm>
          </p:grpSpPr>
          <p:cxnSp>
            <p:nvCxnSpPr>
              <p:cNvPr id="97" name="Conector recto de flecha 96">
                <a:extLst>
                  <a:ext uri="{FF2B5EF4-FFF2-40B4-BE49-F238E27FC236}">
                    <a16:creationId xmlns:a16="http://schemas.microsoft.com/office/drawing/2014/main" id="{52B1EF18-C259-4BEF-BFE0-8D3A0E21B0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3175670" cy="1084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recto de flecha 97">
                <a:extLst>
                  <a:ext uri="{FF2B5EF4-FFF2-40B4-BE49-F238E27FC236}">
                    <a16:creationId xmlns:a16="http://schemas.microsoft.com/office/drawing/2014/main" id="{700C0634-8084-4FA6-9188-775EDCEA1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9B6DBB9D-F22A-487C-8480-04D902A46717}"/>
                </a:ext>
              </a:extLst>
            </p:cNvPr>
            <p:cNvSpPr txBox="1"/>
            <p:nvPr/>
          </p:nvSpPr>
          <p:spPr>
            <a:xfrm>
              <a:off x="7067050" y="5086512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07EEFCFA-3682-4C7B-BF05-9FD09A62B98F}"/>
                </a:ext>
              </a:extLst>
            </p:cNvPr>
            <p:cNvSpPr txBox="1"/>
            <p:nvPr/>
          </p:nvSpPr>
          <p:spPr>
            <a:xfrm>
              <a:off x="1321384" y="4399439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A999677D-CBBC-4859-9B63-3B5E2DA20D60}"/>
                </a:ext>
              </a:extLst>
            </p:cNvPr>
            <p:cNvCxnSpPr/>
            <p:nvPr/>
          </p:nvCxnSpPr>
          <p:spPr>
            <a:xfrm>
              <a:off x="3016675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DC4BB4C8-22B5-4F3A-BC3D-825A6DB98396}"/>
                </a:ext>
              </a:extLst>
            </p:cNvPr>
            <p:cNvCxnSpPr/>
            <p:nvPr/>
          </p:nvCxnSpPr>
          <p:spPr>
            <a:xfrm>
              <a:off x="2553020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9B1E2CEB-EC1B-4129-9AD4-66FEDC26F4BC}"/>
                </a:ext>
              </a:extLst>
            </p:cNvPr>
            <p:cNvCxnSpPr/>
            <p:nvPr/>
          </p:nvCxnSpPr>
          <p:spPr>
            <a:xfrm>
              <a:off x="393107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1330D120-D585-46AC-BE03-9443F2B0D12B}"/>
                </a:ext>
              </a:extLst>
            </p:cNvPr>
            <p:cNvCxnSpPr/>
            <p:nvPr/>
          </p:nvCxnSpPr>
          <p:spPr>
            <a:xfrm>
              <a:off x="346742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0EDFA367-68E4-49C9-B7B0-94D1B76FA08A}"/>
                </a:ext>
              </a:extLst>
            </p:cNvPr>
            <p:cNvCxnSpPr/>
            <p:nvPr/>
          </p:nvCxnSpPr>
          <p:spPr>
            <a:xfrm>
              <a:off x="4851362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33E9DE92-DF20-4982-9179-4F25BB96CB3D}"/>
                </a:ext>
              </a:extLst>
            </p:cNvPr>
            <p:cNvCxnSpPr/>
            <p:nvPr/>
          </p:nvCxnSpPr>
          <p:spPr>
            <a:xfrm>
              <a:off x="4387707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C78D6A4E-3D58-4949-852B-CF8932360146}"/>
                </a:ext>
              </a:extLst>
            </p:cNvPr>
            <p:cNvCxnSpPr>
              <a:cxnSpLocks/>
            </p:cNvCxnSpPr>
            <p:nvPr/>
          </p:nvCxnSpPr>
          <p:spPr>
            <a:xfrm>
              <a:off x="5757163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35B653B8-78A4-4289-B5FE-F413F78F6851}"/>
                </a:ext>
              </a:extLst>
            </p:cNvPr>
            <p:cNvCxnSpPr>
              <a:cxnSpLocks/>
            </p:cNvCxnSpPr>
            <p:nvPr/>
          </p:nvCxnSpPr>
          <p:spPr>
            <a:xfrm>
              <a:off x="5293508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281B098E-AFAA-4229-A3D1-266D47AC4C41}"/>
                </a:ext>
              </a:extLst>
            </p:cNvPr>
            <p:cNvCxnSpPr>
              <a:cxnSpLocks/>
            </p:cNvCxnSpPr>
            <p:nvPr/>
          </p:nvCxnSpPr>
          <p:spPr>
            <a:xfrm>
              <a:off x="667745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8B79E06D-FA05-4302-873E-BE85C5DDBBD2}"/>
                </a:ext>
              </a:extLst>
            </p:cNvPr>
            <p:cNvCxnSpPr>
              <a:cxnSpLocks/>
            </p:cNvCxnSpPr>
            <p:nvPr/>
          </p:nvCxnSpPr>
          <p:spPr>
            <a:xfrm>
              <a:off x="621379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1B3AC73A-6A6E-4CB5-87A5-0131378F38AD}"/>
                </a:ext>
              </a:extLst>
            </p:cNvPr>
            <p:cNvSpPr txBox="1"/>
            <p:nvPr/>
          </p:nvSpPr>
          <p:spPr>
            <a:xfrm>
              <a:off x="1954376" y="51368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F3BA4BB0-7CEB-441E-8678-DFD7196F7FDC}"/>
                </a:ext>
              </a:extLst>
            </p:cNvPr>
            <p:cNvSpPr txBox="1"/>
            <p:nvPr/>
          </p:nvSpPr>
          <p:spPr>
            <a:xfrm>
              <a:off x="2843735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AAD19134-EB9E-40D3-94A4-4320895B8A39}"/>
                </a:ext>
              </a:extLst>
            </p:cNvPr>
            <p:cNvSpPr txBox="1"/>
            <p:nvPr/>
          </p:nvSpPr>
          <p:spPr>
            <a:xfrm>
              <a:off x="3758419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1A2DCC13-DBFA-464F-9869-41F22022FBA1}"/>
                </a:ext>
              </a:extLst>
            </p:cNvPr>
            <p:cNvSpPr txBox="1"/>
            <p:nvPr/>
          </p:nvSpPr>
          <p:spPr>
            <a:xfrm>
              <a:off x="4679535" y="515620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4364A4C1-A771-4C95-B6B2-089BFD4A760A}"/>
                </a:ext>
              </a:extLst>
            </p:cNvPr>
            <p:cNvSpPr txBox="1"/>
            <p:nvPr/>
          </p:nvSpPr>
          <p:spPr>
            <a:xfrm>
              <a:off x="5573871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CBF66A75-BD4A-4073-A7DB-FF4C4922EDF5}"/>
                </a:ext>
              </a:extLst>
            </p:cNvPr>
            <p:cNvSpPr txBox="1"/>
            <p:nvPr/>
          </p:nvSpPr>
          <p:spPr>
            <a:xfrm>
              <a:off x="6454391" y="514819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</p:grpSp>
      <p:graphicFrame>
        <p:nvGraphicFramePr>
          <p:cNvPr id="99" name="Google Shape;1137;p72">
            <a:extLst>
              <a:ext uri="{FF2B5EF4-FFF2-40B4-BE49-F238E27FC236}">
                <a16:creationId xmlns:a16="http://schemas.microsoft.com/office/drawing/2014/main" id="{140E136C-E643-4603-9D2C-0650E73069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9421233"/>
              </p:ext>
            </p:extLst>
          </p:nvPr>
        </p:nvGraphicFramePr>
        <p:xfrm>
          <a:off x="8642758" y="214034"/>
          <a:ext cx="3374945" cy="158484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1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7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4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7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4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4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4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7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4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7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4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0" name="Tabla 4">
                <a:extLst>
                  <a:ext uri="{FF2B5EF4-FFF2-40B4-BE49-F238E27FC236}">
                    <a16:creationId xmlns:a16="http://schemas.microsoft.com/office/drawing/2014/main" id="{066B442A-6ABA-4AE3-9867-B66E709222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3489248"/>
                  </p:ext>
                </p:extLst>
              </p:nvPr>
            </p:nvGraphicFramePr>
            <p:xfrm>
              <a:off x="9364489" y="4697863"/>
              <a:ext cx="2497526" cy="1868678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343718143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Cambria Math" panose="02040503050406030204" pitchFamily="18" charset="0"/>
                                      </a:rPr>
                                      <m:t>𝒓𝒆𝒔𝒑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b="1" i="1" smtClean="0">
                                        <a:latin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s-MX" b="1" i="1" smtClean="0">
                                        <a:latin typeface="+mn-lt"/>
                                      </a:rPr>
                                      <m:t>𝒕𝒂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b="1" dirty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213799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0" name="Tabla 4">
                <a:extLst>
                  <a:ext uri="{FF2B5EF4-FFF2-40B4-BE49-F238E27FC236}">
                    <a16:creationId xmlns:a16="http://schemas.microsoft.com/office/drawing/2014/main" id="{066B442A-6ABA-4AE3-9867-B66E709222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3489248"/>
                  </p:ext>
                </p:extLst>
              </p:nvPr>
            </p:nvGraphicFramePr>
            <p:xfrm>
              <a:off x="9364489" y="4697863"/>
              <a:ext cx="2497526" cy="1868678"/>
            </p:xfrm>
            <a:graphic>
              <a:graphicData uri="http://schemas.openxmlformats.org/drawingml/2006/table">
                <a:tbl>
                  <a:tblPr firstRow="1" bandRow="1">
                    <a:tableStyleId>{925993CE-88FD-44DD-ABEB-49CEDA6F9533}</a:tableStyleId>
                  </a:tblPr>
                  <a:tblGrid>
                    <a:gridCol w="980186">
                      <a:extLst>
                        <a:ext uri="{9D8B030D-6E8A-4147-A177-3AD203B41FA5}">
                          <a16:colId xmlns:a16="http://schemas.microsoft.com/office/drawing/2014/main" val="125303654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343718143"/>
                        </a:ext>
                      </a:extLst>
                    </a:gridCol>
                    <a:gridCol w="758670">
                      <a:extLst>
                        <a:ext uri="{9D8B030D-6E8A-4147-A177-3AD203B41FA5}">
                          <a16:colId xmlns:a16="http://schemas.microsoft.com/office/drawing/2014/main" val="1137050514"/>
                        </a:ext>
                      </a:extLst>
                    </a:gridCol>
                  </a:tblGrid>
                  <a:tr h="390398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Proceso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30645" t="-7813" r="-102419" b="-4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28800" t="-7813" r="-1600" b="-4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5213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140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44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9612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+mn-lt"/>
                            </a:rPr>
                            <a:t>avg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844473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8"/>
          <p:cNvSpPr txBox="1">
            <a:spLocks noGrp="1"/>
          </p:cNvSpPr>
          <p:nvPr>
            <p:ph type="title"/>
          </p:nvPr>
        </p:nvSpPr>
        <p:spPr>
          <a:xfrm>
            <a:off x="434715" y="96038"/>
            <a:ext cx="1118444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 .vs. Shortest </a:t>
            </a:r>
            <a:r>
              <a:rPr lang="es-MX" sz="44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job</a:t>
            </a: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MX" sz="44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</a:t>
            </a: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(SJF)</a:t>
            </a:r>
            <a:endParaRPr lang="es-MX" dirty="0"/>
          </a:p>
        </p:txBody>
      </p:sp>
      <p:sp>
        <p:nvSpPr>
          <p:cNvPr id="1224" name="Google Shape;1224;p78"/>
          <p:cNvSpPr txBox="1">
            <a:spLocks noGrp="1"/>
          </p:cNvSpPr>
          <p:nvPr>
            <p:ph type="body" idx="1"/>
          </p:nvPr>
        </p:nvSpPr>
        <p:spPr>
          <a:xfrm>
            <a:off x="434714" y="888775"/>
            <a:ext cx="7745331" cy="22724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Comparación de los algoritmos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una situación en la que:</a:t>
            </a:r>
            <a:endParaRPr sz="2200" dirty="0"/>
          </a:p>
          <a:p>
            <a:pPr marL="4572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s-ES" sz="2000" dirty="0"/>
              <a:t>Tres procesos llegan a un sistema (A, B y C)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dirty="0"/>
              <a:t>Llegan en el tiempo 0 en el orden: A - B - C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dirty="0"/>
              <a:t>El tiempo de ejecución de cada uno de los procesos es de 30 seg.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225" name="Google Shape;1225;p78"/>
          <p:cNvGraphicFramePr/>
          <p:nvPr>
            <p:extLst>
              <p:ext uri="{D42A27DB-BD31-4B8C-83A1-F6EECF244321}">
                <p14:modId xmlns:p14="http://schemas.microsoft.com/office/powerpoint/2010/main" val="3635603675"/>
              </p:ext>
            </p:extLst>
          </p:nvPr>
        </p:nvGraphicFramePr>
        <p:xfrm>
          <a:off x="8326562" y="1040551"/>
          <a:ext cx="3635956" cy="182868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98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Arrival time</a:t>
                      </a:r>
                      <a:endParaRPr sz="18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cs typeface="Arial" panose="020B0604020202020204" pitchFamily="34" charset="0"/>
                        </a:rPr>
                        <a:t>Run-time</a:t>
                      </a:r>
                      <a:endParaRPr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7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cs typeface="Arial" panose="020B0604020202020204" pitchFamily="34" charset="0"/>
                        </a:rPr>
                        <a:t>C</a:t>
                      </a:r>
                      <a:endParaRPr sz="18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cs typeface="Arial" panose="020B0604020202020204" pitchFamily="34" charset="0"/>
                        </a:rPr>
                        <a:t>30</a:t>
                      </a:r>
                      <a:endParaRPr sz="18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6" name="Google Shape;122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64" y="3094950"/>
            <a:ext cx="4846300" cy="28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9486" y="3161247"/>
            <a:ext cx="4721700" cy="27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78"/>
          <p:cNvSpPr txBox="1"/>
          <p:nvPr/>
        </p:nvSpPr>
        <p:spPr>
          <a:xfrm>
            <a:off x="229481" y="5956104"/>
            <a:ext cx="11733037" cy="800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/>
              <a:t>Típicamente, el </a:t>
            </a:r>
            <a:r>
              <a:rPr lang="es-ES" sz="2000" b="1" dirty="0"/>
              <a:t>RR</a:t>
            </a:r>
            <a:r>
              <a:rPr lang="es-ES" sz="2000" dirty="0"/>
              <a:t> tiene un </a:t>
            </a:r>
            <a:r>
              <a:rPr lang="es-ES" sz="2000" dirty="0">
                <a:solidFill>
                  <a:srgbClr val="FF0000"/>
                </a:solidFill>
              </a:rPr>
              <a:t>turnaround time más alto</a:t>
            </a:r>
            <a:r>
              <a:rPr lang="es-ES" sz="2000" dirty="0"/>
              <a:t> que el </a:t>
            </a:r>
            <a:r>
              <a:rPr lang="es-ES" sz="2000" b="1" dirty="0"/>
              <a:t>SJF</a:t>
            </a:r>
            <a:r>
              <a:rPr lang="es-ES" sz="2000" dirty="0"/>
              <a:t> (y similares), pero tiene un </a:t>
            </a:r>
            <a:r>
              <a:rPr lang="es-ES" sz="2000" dirty="0">
                <a:solidFill>
                  <a:srgbClr val="00B050"/>
                </a:solidFill>
              </a:rPr>
              <a:t>mejor tiempo de respuesta</a:t>
            </a:r>
            <a:r>
              <a:rPr lang="es-ES" sz="2000" dirty="0"/>
              <a:t>.</a:t>
            </a:r>
            <a:endParaRPr sz="2000" dirty="0"/>
          </a:p>
        </p:txBody>
      </p:sp>
      <p:sp>
        <p:nvSpPr>
          <p:cNvPr id="1229" name="Google Shape;1229;p78"/>
          <p:cNvSpPr txBox="1"/>
          <p:nvPr/>
        </p:nvSpPr>
        <p:spPr>
          <a:xfrm>
            <a:off x="4144441" y="3020451"/>
            <a:ext cx="1178699" cy="5411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900" b="1" dirty="0">
                <a:latin typeface="Roboto"/>
                <a:ea typeface="Roboto"/>
                <a:cs typeface="Roboto"/>
                <a:sym typeface="Roboto"/>
              </a:rPr>
              <a:t>SJF</a:t>
            </a:r>
            <a:endParaRPr sz="1100" b="1" dirty="0"/>
          </a:p>
        </p:txBody>
      </p:sp>
      <p:sp>
        <p:nvSpPr>
          <p:cNvPr id="1230" name="Google Shape;1230;p78"/>
          <p:cNvSpPr txBox="1"/>
          <p:nvPr/>
        </p:nvSpPr>
        <p:spPr>
          <a:xfrm>
            <a:off x="9782177" y="3020451"/>
            <a:ext cx="1836959" cy="5411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900" b="1">
                <a:latin typeface="Roboto"/>
                <a:ea typeface="Roboto"/>
                <a:cs typeface="Roboto"/>
                <a:sym typeface="Roboto"/>
              </a:rPr>
              <a:t>RR(q = 10)</a:t>
            </a:r>
            <a:endParaRPr sz="1100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79"/>
          <p:cNvSpPr txBox="1">
            <a:spLocks noGrp="1"/>
          </p:cNvSpPr>
          <p:nvPr>
            <p:ph type="title"/>
          </p:nvPr>
        </p:nvSpPr>
        <p:spPr>
          <a:xfrm>
            <a:off x="216976" y="96038"/>
            <a:ext cx="900367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Round Robin (RR)</a:t>
            </a:r>
            <a:endParaRPr dirty="0"/>
          </a:p>
        </p:txBody>
      </p:sp>
      <p:sp>
        <p:nvSpPr>
          <p:cNvPr id="1239" name="Google Shape;1239;p79"/>
          <p:cNvSpPr txBox="1">
            <a:spLocks noGrp="1"/>
          </p:cNvSpPr>
          <p:nvPr>
            <p:ph type="body" idx="1"/>
          </p:nvPr>
        </p:nvSpPr>
        <p:spPr>
          <a:xfrm>
            <a:off x="216976" y="929500"/>
            <a:ext cx="11309149" cy="74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Importancia de la duración del quantum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240" name="Google Shape;1240;p79"/>
          <p:cNvGraphicFramePr/>
          <p:nvPr>
            <p:extLst>
              <p:ext uri="{D42A27DB-BD31-4B8C-83A1-F6EECF244321}">
                <p14:modId xmlns:p14="http://schemas.microsoft.com/office/powerpoint/2010/main" val="3802357170"/>
              </p:ext>
            </p:extLst>
          </p:nvPr>
        </p:nvGraphicFramePr>
        <p:xfrm>
          <a:off x="387458" y="1563312"/>
          <a:ext cx="11587566" cy="19506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5793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3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400" b="1">
                          <a:solidFill>
                            <a:schemeClr val="dk1"/>
                          </a:solidFill>
                          <a:latin typeface="+mn-lt"/>
                        </a:rPr>
                        <a:t>Entre más corto el quantum</a:t>
                      </a:r>
                      <a:endParaRPr sz="2400" b="1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400" b="1" dirty="0">
                          <a:solidFill>
                            <a:schemeClr val="dk1"/>
                          </a:solidFill>
                          <a:latin typeface="+mn-lt"/>
                        </a:rPr>
                        <a:t>Entre más largo el quantum</a:t>
                      </a:r>
                      <a:endParaRPr sz="2400" b="1" dirty="0">
                        <a:latin typeface="+mn-lt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5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200" b="1" dirty="0">
                          <a:solidFill>
                            <a:srgbClr val="0B6937"/>
                          </a:solidFill>
                          <a:latin typeface="+mn-lt"/>
                        </a:rPr>
                        <a:t>Mejor</a:t>
                      </a:r>
                      <a:r>
                        <a:rPr lang="es-ES" sz="2200" dirty="0">
                          <a:latin typeface="+mn-lt"/>
                        </a:rPr>
                        <a:t> tiempo de respuesta.</a:t>
                      </a:r>
                      <a:endParaRPr sz="2200" dirty="0">
                        <a:latin typeface="+mn-lt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200" dirty="0">
                          <a:latin typeface="+mn-lt"/>
                        </a:rPr>
                        <a:t>El costo del cambio de contexto (</a:t>
                      </a:r>
                      <a:r>
                        <a:rPr lang="es-ES" sz="2200" dirty="0" err="1">
                          <a:latin typeface="+mn-lt"/>
                        </a:rPr>
                        <a:t>context</a:t>
                      </a:r>
                      <a:r>
                        <a:rPr lang="es-ES" sz="2200" dirty="0">
                          <a:latin typeface="+mn-lt"/>
                        </a:rPr>
                        <a:t> </a:t>
                      </a:r>
                      <a:r>
                        <a:rPr lang="es-ES" sz="2200" dirty="0" err="1">
                          <a:latin typeface="+mn-lt"/>
                        </a:rPr>
                        <a:t>switch</a:t>
                      </a:r>
                      <a:r>
                        <a:rPr lang="es-ES" sz="2200" dirty="0">
                          <a:latin typeface="+mn-lt"/>
                        </a:rPr>
                        <a:t>) </a:t>
                      </a:r>
                      <a:r>
                        <a:rPr lang="es-ES" sz="2200" b="1" dirty="0">
                          <a:solidFill>
                            <a:srgbClr val="FF0000"/>
                          </a:solidFill>
                          <a:latin typeface="+mn-lt"/>
                        </a:rPr>
                        <a:t>dominará</a:t>
                      </a:r>
                      <a:r>
                        <a:rPr lang="es-ES" sz="2200" dirty="0">
                          <a:latin typeface="+mn-lt"/>
                        </a:rPr>
                        <a:t> el desempeño global.</a:t>
                      </a:r>
                      <a:endParaRPr sz="22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200" b="1" dirty="0">
                          <a:solidFill>
                            <a:srgbClr val="0B6937"/>
                          </a:solidFill>
                          <a:latin typeface="+mn-lt"/>
                        </a:rPr>
                        <a:t>Disminuye</a:t>
                      </a:r>
                      <a:r>
                        <a:rPr lang="es-ES" sz="2200" dirty="0">
                          <a:latin typeface="+mn-lt"/>
                        </a:rPr>
                        <a:t> el costo total del cambio de contexto.</a:t>
                      </a:r>
                      <a:endParaRPr sz="2200" dirty="0">
                        <a:latin typeface="+mn-lt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200" b="1" dirty="0">
                          <a:solidFill>
                            <a:srgbClr val="FF0000"/>
                          </a:solidFill>
                          <a:latin typeface="+mn-lt"/>
                        </a:rPr>
                        <a:t>Deteriora</a:t>
                      </a:r>
                      <a:r>
                        <a:rPr lang="es-ES" sz="2200" dirty="0">
                          <a:latin typeface="+mn-lt"/>
                        </a:rPr>
                        <a:t> el tiempo de respuesta.</a:t>
                      </a:r>
                      <a:endParaRPr sz="22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1" name="Google Shape;1241;p79"/>
          <p:cNvSpPr txBox="1"/>
          <p:nvPr/>
        </p:nvSpPr>
        <p:spPr>
          <a:xfrm>
            <a:off x="368468" y="5619697"/>
            <a:ext cx="11587563" cy="86174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/>
              <a:t>Decidir la longitud de la porción de tiempo es un </a:t>
            </a:r>
            <a:r>
              <a:rPr lang="es-ES" sz="2200" b="1" dirty="0">
                <a:solidFill>
                  <a:srgbClr val="0B6937"/>
                </a:solidFill>
              </a:rPr>
              <a:t>compromiso</a:t>
            </a:r>
            <a:r>
              <a:rPr lang="es-ES" sz="2200" dirty="0"/>
              <a:t> que debe contemplar el </a:t>
            </a:r>
            <a:r>
              <a:rPr lang="es-ES" sz="2200" b="1" dirty="0">
                <a:solidFill>
                  <a:srgbClr val="3A81BA"/>
                </a:solidFill>
              </a:rPr>
              <a:t>diseñador del sistema</a:t>
            </a:r>
            <a:r>
              <a:rPr lang="es-ES" sz="2200" dirty="0"/>
              <a:t>.</a:t>
            </a:r>
            <a:endParaRPr sz="2200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69E3D498-1689-49F4-8716-4025681E43EF}"/>
              </a:ext>
            </a:extLst>
          </p:cNvPr>
          <p:cNvGrpSpPr/>
          <p:nvPr/>
        </p:nvGrpSpPr>
        <p:grpSpPr>
          <a:xfrm>
            <a:off x="368469" y="3744954"/>
            <a:ext cx="5532953" cy="1389748"/>
            <a:chOff x="1954376" y="4074230"/>
            <a:chExt cx="5532953" cy="1389748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DCDF39F5-2443-4C1D-AF89-A9336B58AC71}"/>
                </a:ext>
              </a:extLst>
            </p:cNvPr>
            <p:cNvGrpSpPr/>
            <p:nvPr/>
          </p:nvGrpSpPr>
          <p:grpSpPr>
            <a:xfrm>
              <a:off x="2091857" y="4074230"/>
              <a:ext cx="5039975" cy="1028170"/>
              <a:chOff x="6286570" y="5198935"/>
              <a:chExt cx="3175670" cy="1170761"/>
            </a:xfrm>
          </p:grpSpPr>
          <p:cxnSp>
            <p:nvCxnSpPr>
              <p:cNvPr id="26" name="Conector recto de flecha 25">
                <a:extLst>
                  <a:ext uri="{FF2B5EF4-FFF2-40B4-BE49-F238E27FC236}">
                    <a16:creationId xmlns:a16="http://schemas.microsoft.com/office/drawing/2014/main" id="{A7766E98-36B2-44D6-B79A-85DB45BF61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3175670" cy="1084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de flecha 26">
                <a:extLst>
                  <a:ext uri="{FF2B5EF4-FFF2-40B4-BE49-F238E27FC236}">
                    <a16:creationId xmlns:a16="http://schemas.microsoft.com/office/drawing/2014/main" id="{0C45B707-06EA-40E8-967B-029D9C33AF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AE680341-7AD7-451A-8948-62CD46B31832}"/>
                </a:ext>
              </a:extLst>
            </p:cNvPr>
            <p:cNvSpPr txBox="1"/>
            <p:nvPr/>
          </p:nvSpPr>
          <p:spPr>
            <a:xfrm>
              <a:off x="7067050" y="5086512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38C284B3-D0FF-4644-A47B-976B8C215A15}"/>
                </a:ext>
              </a:extLst>
            </p:cNvPr>
            <p:cNvCxnSpPr/>
            <p:nvPr/>
          </p:nvCxnSpPr>
          <p:spPr>
            <a:xfrm>
              <a:off x="3016675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CE02883E-5941-44A9-BBF2-6A5B5C569D51}"/>
                </a:ext>
              </a:extLst>
            </p:cNvPr>
            <p:cNvCxnSpPr/>
            <p:nvPr/>
          </p:nvCxnSpPr>
          <p:spPr>
            <a:xfrm>
              <a:off x="2553020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D39C501D-2F72-49C3-A2D5-803BF08B035C}"/>
                </a:ext>
              </a:extLst>
            </p:cNvPr>
            <p:cNvCxnSpPr/>
            <p:nvPr/>
          </p:nvCxnSpPr>
          <p:spPr>
            <a:xfrm>
              <a:off x="393107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3F2E4C0C-6A5D-490C-A9F3-E260FC585ECE}"/>
                </a:ext>
              </a:extLst>
            </p:cNvPr>
            <p:cNvCxnSpPr/>
            <p:nvPr/>
          </p:nvCxnSpPr>
          <p:spPr>
            <a:xfrm>
              <a:off x="346742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F559C3A9-E085-4267-9ED0-6F4C3D481900}"/>
                </a:ext>
              </a:extLst>
            </p:cNvPr>
            <p:cNvCxnSpPr/>
            <p:nvPr/>
          </p:nvCxnSpPr>
          <p:spPr>
            <a:xfrm>
              <a:off x="4851362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7770E954-8EC0-4967-BF9F-1A89226D1BE4}"/>
                </a:ext>
              </a:extLst>
            </p:cNvPr>
            <p:cNvCxnSpPr/>
            <p:nvPr/>
          </p:nvCxnSpPr>
          <p:spPr>
            <a:xfrm>
              <a:off x="4387707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73A16FCF-5A18-4D85-B437-79C8E98A1560}"/>
                </a:ext>
              </a:extLst>
            </p:cNvPr>
            <p:cNvCxnSpPr>
              <a:cxnSpLocks/>
            </p:cNvCxnSpPr>
            <p:nvPr/>
          </p:nvCxnSpPr>
          <p:spPr>
            <a:xfrm>
              <a:off x="5757163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80D3FF4-F07B-48EA-9355-06733784122E}"/>
                </a:ext>
              </a:extLst>
            </p:cNvPr>
            <p:cNvCxnSpPr>
              <a:cxnSpLocks/>
            </p:cNvCxnSpPr>
            <p:nvPr/>
          </p:nvCxnSpPr>
          <p:spPr>
            <a:xfrm>
              <a:off x="5293508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06CD71BA-2470-43D5-A3F4-E435BD612100}"/>
                </a:ext>
              </a:extLst>
            </p:cNvPr>
            <p:cNvCxnSpPr>
              <a:cxnSpLocks/>
            </p:cNvCxnSpPr>
            <p:nvPr/>
          </p:nvCxnSpPr>
          <p:spPr>
            <a:xfrm>
              <a:off x="667745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F60F59E9-3826-4285-B2E2-4AA9924FEB6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79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69F960E-C8A2-4994-9786-890523C04BE5}"/>
                </a:ext>
              </a:extLst>
            </p:cNvPr>
            <p:cNvSpPr txBox="1"/>
            <p:nvPr/>
          </p:nvSpPr>
          <p:spPr>
            <a:xfrm>
              <a:off x="1954376" y="51368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6A4F038E-4658-45BF-AC00-A72565796379}"/>
                </a:ext>
              </a:extLst>
            </p:cNvPr>
            <p:cNvSpPr txBox="1"/>
            <p:nvPr/>
          </p:nvSpPr>
          <p:spPr>
            <a:xfrm>
              <a:off x="2843735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03E3DB53-2B1C-4C34-8A04-BABA21A988C0}"/>
                </a:ext>
              </a:extLst>
            </p:cNvPr>
            <p:cNvSpPr txBox="1"/>
            <p:nvPr/>
          </p:nvSpPr>
          <p:spPr>
            <a:xfrm>
              <a:off x="3758419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1165E533-FCEF-40A9-9DE7-0D3C345368B4}"/>
                </a:ext>
              </a:extLst>
            </p:cNvPr>
            <p:cNvSpPr txBox="1"/>
            <p:nvPr/>
          </p:nvSpPr>
          <p:spPr>
            <a:xfrm>
              <a:off x="4679535" y="515620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6B7DBAC0-1D24-4D08-AA2C-F3D05B490D1C}"/>
                </a:ext>
              </a:extLst>
            </p:cNvPr>
            <p:cNvSpPr txBox="1"/>
            <p:nvPr/>
          </p:nvSpPr>
          <p:spPr>
            <a:xfrm>
              <a:off x="5573871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7EFEDF97-CC3D-44C5-AC27-724B6EA61C3B}"/>
                </a:ext>
              </a:extLst>
            </p:cNvPr>
            <p:cNvSpPr txBox="1"/>
            <p:nvPr/>
          </p:nvSpPr>
          <p:spPr>
            <a:xfrm>
              <a:off x="6454391" y="514819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05F917EB-F8E2-4361-93E7-FB4A221FB32C}"/>
              </a:ext>
            </a:extLst>
          </p:cNvPr>
          <p:cNvGrpSpPr/>
          <p:nvPr/>
        </p:nvGrpSpPr>
        <p:grpSpPr>
          <a:xfrm>
            <a:off x="6623723" y="3780425"/>
            <a:ext cx="5532953" cy="1389748"/>
            <a:chOff x="1954376" y="4074230"/>
            <a:chExt cx="5532953" cy="1389748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684218B9-1DD0-4175-B4B3-3910C515FBC8}"/>
                </a:ext>
              </a:extLst>
            </p:cNvPr>
            <p:cNvGrpSpPr/>
            <p:nvPr/>
          </p:nvGrpSpPr>
          <p:grpSpPr>
            <a:xfrm>
              <a:off x="2091857" y="4074230"/>
              <a:ext cx="5039975" cy="1028170"/>
              <a:chOff x="6286570" y="5198935"/>
              <a:chExt cx="3175670" cy="1170761"/>
            </a:xfrm>
          </p:grpSpPr>
          <p:cxnSp>
            <p:nvCxnSpPr>
              <p:cNvPr id="48" name="Conector recto de flecha 47">
                <a:extLst>
                  <a:ext uri="{FF2B5EF4-FFF2-40B4-BE49-F238E27FC236}">
                    <a16:creationId xmlns:a16="http://schemas.microsoft.com/office/drawing/2014/main" id="{D8DF1E97-533D-4B7E-BFE7-1C9ECD5D48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3175670" cy="1084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de flecha 48">
                <a:extLst>
                  <a:ext uri="{FF2B5EF4-FFF2-40B4-BE49-F238E27FC236}">
                    <a16:creationId xmlns:a16="http://schemas.microsoft.com/office/drawing/2014/main" id="{AE731F6B-0D88-49D2-BD16-5F5F3C57C7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1DE0797C-4D99-465F-AA78-A300737CF22E}"/>
                </a:ext>
              </a:extLst>
            </p:cNvPr>
            <p:cNvSpPr txBox="1"/>
            <p:nvPr/>
          </p:nvSpPr>
          <p:spPr>
            <a:xfrm>
              <a:off x="7067050" y="5086512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9FB6A172-CEDA-48B5-B59E-9A608A1FFCBC}"/>
                </a:ext>
              </a:extLst>
            </p:cNvPr>
            <p:cNvCxnSpPr/>
            <p:nvPr/>
          </p:nvCxnSpPr>
          <p:spPr>
            <a:xfrm>
              <a:off x="3016675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2FCAE49-0579-4088-BDE9-E1C7E344359D}"/>
                </a:ext>
              </a:extLst>
            </p:cNvPr>
            <p:cNvCxnSpPr/>
            <p:nvPr/>
          </p:nvCxnSpPr>
          <p:spPr>
            <a:xfrm>
              <a:off x="2553020" y="500347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1FBD6BBF-FAB7-4B1E-8F98-C3F63960D090}"/>
                </a:ext>
              </a:extLst>
            </p:cNvPr>
            <p:cNvCxnSpPr/>
            <p:nvPr/>
          </p:nvCxnSpPr>
          <p:spPr>
            <a:xfrm>
              <a:off x="393107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529A956-4132-4326-963F-47C4CE191311}"/>
                </a:ext>
              </a:extLst>
            </p:cNvPr>
            <p:cNvCxnSpPr/>
            <p:nvPr/>
          </p:nvCxnSpPr>
          <p:spPr>
            <a:xfrm>
              <a:off x="346742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5B616C3B-FFCA-469D-9B66-1CEE34B90378}"/>
                </a:ext>
              </a:extLst>
            </p:cNvPr>
            <p:cNvCxnSpPr/>
            <p:nvPr/>
          </p:nvCxnSpPr>
          <p:spPr>
            <a:xfrm>
              <a:off x="4851362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3C3A3BED-4DA5-4E3B-9718-93914C881788}"/>
                </a:ext>
              </a:extLst>
            </p:cNvPr>
            <p:cNvCxnSpPr/>
            <p:nvPr/>
          </p:nvCxnSpPr>
          <p:spPr>
            <a:xfrm>
              <a:off x="4387707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2DD7A21D-1ACD-4CB5-A092-550409CE7558}"/>
                </a:ext>
              </a:extLst>
            </p:cNvPr>
            <p:cNvCxnSpPr>
              <a:cxnSpLocks/>
            </p:cNvCxnSpPr>
            <p:nvPr/>
          </p:nvCxnSpPr>
          <p:spPr>
            <a:xfrm>
              <a:off x="5757163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36BEAA82-7607-4C59-93C9-9DF07B990B34}"/>
                </a:ext>
              </a:extLst>
            </p:cNvPr>
            <p:cNvCxnSpPr>
              <a:cxnSpLocks/>
            </p:cNvCxnSpPr>
            <p:nvPr/>
          </p:nvCxnSpPr>
          <p:spPr>
            <a:xfrm>
              <a:off x="5293508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82D47A54-5CCB-496D-9568-8B6466101FC1}"/>
                </a:ext>
              </a:extLst>
            </p:cNvPr>
            <p:cNvCxnSpPr>
              <a:cxnSpLocks/>
            </p:cNvCxnSpPr>
            <p:nvPr/>
          </p:nvCxnSpPr>
          <p:spPr>
            <a:xfrm>
              <a:off x="6677450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C04C9E5D-0910-4AF7-A1BB-20F4568C7F94}"/>
                </a:ext>
              </a:extLst>
            </p:cNvPr>
            <p:cNvCxnSpPr>
              <a:cxnSpLocks/>
            </p:cNvCxnSpPr>
            <p:nvPr/>
          </p:nvCxnSpPr>
          <p:spPr>
            <a:xfrm>
              <a:off x="6213795" y="501299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E4B39B7F-9C73-4B58-AD2B-6388AB5B6F83}"/>
                </a:ext>
              </a:extLst>
            </p:cNvPr>
            <p:cNvSpPr txBox="1"/>
            <p:nvPr/>
          </p:nvSpPr>
          <p:spPr>
            <a:xfrm>
              <a:off x="1954376" y="513684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184D8784-D4D4-4EB1-9E72-EFB8EF91C478}"/>
                </a:ext>
              </a:extLst>
            </p:cNvPr>
            <p:cNvSpPr txBox="1"/>
            <p:nvPr/>
          </p:nvSpPr>
          <p:spPr>
            <a:xfrm>
              <a:off x="2843735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57550A93-25BD-4A61-A7E4-F7C3A1A38DE6}"/>
                </a:ext>
              </a:extLst>
            </p:cNvPr>
            <p:cNvSpPr txBox="1"/>
            <p:nvPr/>
          </p:nvSpPr>
          <p:spPr>
            <a:xfrm>
              <a:off x="3758419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4E98592F-0A81-4F87-B91B-45A6B4FD0777}"/>
                </a:ext>
              </a:extLst>
            </p:cNvPr>
            <p:cNvSpPr txBox="1"/>
            <p:nvPr/>
          </p:nvSpPr>
          <p:spPr>
            <a:xfrm>
              <a:off x="4679535" y="515620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751B44FA-0ECC-4A47-BC3C-E2245039BF7C}"/>
                </a:ext>
              </a:extLst>
            </p:cNvPr>
            <p:cNvSpPr txBox="1"/>
            <p:nvPr/>
          </p:nvSpPr>
          <p:spPr>
            <a:xfrm>
              <a:off x="5573871" y="514819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ED6CD618-C7C8-4105-908B-3B08D43C280D}"/>
                </a:ext>
              </a:extLst>
            </p:cNvPr>
            <p:cNvSpPr txBox="1"/>
            <p:nvPr/>
          </p:nvSpPr>
          <p:spPr>
            <a:xfrm>
              <a:off x="6454391" y="514819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81"/>
          <p:cNvSpPr txBox="1">
            <a:spLocks noGrp="1"/>
          </p:cNvSpPr>
          <p:nvPr>
            <p:ph type="title"/>
          </p:nvPr>
        </p:nvSpPr>
        <p:spPr>
          <a:xfrm>
            <a:off x="263471" y="96038"/>
            <a:ext cx="114842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Relajando las suposiciones ideales</a:t>
            </a:r>
            <a:endParaRPr dirty="0"/>
          </a:p>
        </p:txBody>
      </p:sp>
      <p:sp>
        <p:nvSpPr>
          <p:cNvPr id="1253" name="Google Shape;1253;p81"/>
          <p:cNvSpPr txBox="1">
            <a:spLocks noGrp="1"/>
          </p:cNvSpPr>
          <p:nvPr>
            <p:ph type="body" idx="1"/>
          </p:nvPr>
        </p:nvSpPr>
        <p:spPr>
          <a:xfrm>
            <a:off x="336578" y="1720295"/>
            <a:ext cx="11338029" cy="212180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son iniciados al mismo tiempo (arrival time).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Una vez iniciado, cada trabajo se ejecuta hasta su finalización.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solo usan la CPU (no I/O).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El tiempo de ejecución de cada trabajo es conocido (runtime).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1254" name="Google Shape;1254;p81"/>
          <p:cNvSpPr txBox="1"/>
          <p:nvPr/>
        </p:nvSpPr>
        <p:spPr>
          <a:xfrm>
            <a:off x="371224" y="929283"/>
            <a:ext cx="11155842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/>
              <a:t>¿Que pasa si hay operaciones de I/O?</a:t>
            </a:r>
            <a:endParaRPr sz="2800" b="1" dirty="0"/>
          </a:p>
        </p:txBody>
      </p:sp>
      <p:grpSp>
        <p:nvGrpSpPr>
          <p:cNvPr id="18" name="Google Shape;1275;p82">
            <a:extLst>
              <a:ext uri="{FF2B5EF4-FFF2-40B4-BE49-F238E27FC236}">
                <a16:creationId xmlns:a16="http://schemas.microsoft.com/office/drawing/2014/main" id="{0BFB9A70-F9D4-4F3C-A493-8AE234698CBC}"/>
              </a:ext>
            </a:extLst>
          </p:cNvPr>
          <p:cNvGrpSpPr/>
          <p:nvPr/>
        </p:nvGrpSpPr>
        <p:grpSpPr>
          <a:xfrm>
            <a:off x="610061" y="4676488"/>
            <a:ext cx="3478100" cy="1270013"/>
            <a:chOff x="5795700" y="4950800"/>
            <a:chExt cx="3478100" cy="1270013"/>
          </a:xfrm>
        </p:grpSpPr>
        <p:grpSp>
          <p:nvGrpSpPr>
            <p:cNvPr id="19" name="Google Shape;1276;p82">
              <a:extLst>
                <a:ext uri="{FF2B5EF4-FFF2-40B4-BE49-F238E27FC236}">
                  <a16:creationId xmlns:a16="http://schemas.microsoft.com/office/drawing/2014/main" id="{4BD7AF42-2FF4-4DEB-BA9C-77D2309F11B7}"/>
                </a:ext>
              </a:extLst>
            </p:cNvPr>
            <p:cNvGrpSpPr/>
            <p:nvPr/>
          </p:nvGrpSpPr>
          <p:grpSpPr>
            <a:xfrm>
              <a:off x="5795700" y="4950800"/>
              <a:ext cx="3478100" cy="648900"/>
              <a:chOff x="5818900" y="4196550"/>
              <a:chExt cx="3478100" cy="648900"/>
            </a:xfrm>
          </p:grpSpPr>
          <p:sp>
            <p:nvSpPr>
              <p:cNvPr id="26" name="Google Shape;1277;p82">
                <a:extLst>
                  <a:ext uri="{FF2B5EF4-FFF2-40B4-BE49-F238E27FC236}">
                    <a16:creationId xmlns:a16="http://schemas.microsoft.com/office/drawing/2014/main" id="{FD67915D-DCCF-4ABE-A245-B2D7E5429DA7}"/>
                  </a:ext>
                </a:extLst>
              </p:cNvPr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7" name="Google Shape;1278;p82">
                <a:extLst>
                  <a:ext uri="{FF2B5EF4-FFF2-40B4-BE49-F238E27FC236}">
                    <a16:creationId xmlns:a16="http://schemas.microsoft.com/office/drawing/2014/main" id="{ECDD8A23-8226-47AC-903F-D2CF19DD91AC}"/>
                  </a:ext>
                </a:extLst>
              </p:cNvPr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28" name="Google Shape;1279;p82">
                <a:extLst>
                  <a:ext uri="{FF2B5EF4-FFF2-40B4-BE49-F238E27FC236}">
                    <a16:creationId xmlns:a16="http://schemas.microsoft.com/office/drawing/2014/main" id="{424695BE-BC59-4FE7-94DE-5CF293285E4A}"/>
                  </a:ext>
                </a:extLst>
              </p:cNvPr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29" name="Google Shape;1280;p82">
                <a:extLst>
                  <a:ext uri="{FF2B5EF4-FFF2-40B4-BE49-F238E27FC236}">
                    <a16:creationId xmlns:a16="http://schemas.microsoft.com/office/drawing/2014/main" id="{1A17B668-6F0D-4764-A792-E9DF0BB4C699}"/>
                  </a:ext>
                </a:extLst>
              </p:cNvPr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0" name="Google Shape;1281;p82">
                <a:extLst>
                  <a:ext uri="{FF2B5EF4-FFF2-40B4-BE49-F238E27FC236}">
                    <a16:creationId xmlns:a16="http://schemas.microsoft.com/office/drawing/2014/main" id="{0FCFE5C5-9B88-495E-8CB1-DA92FF7539D6}"/>
                  </a:ext>
                </a:extLst>
              </p:cNvPr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20" name="Google Shape;1282;p82">
              <a:extLst>
                <a:ext uri="{FF2B5EF4-FFF2-40B4-BE49-F238E27FC236}">
                  <a16:creationId xmlns:a16="http://schemas.microsoft.com/office/drawing/2014/main" id="{EA83827A-FA04-452D-89EF-FDE531A90114}"/>
                </a:ext>
              </a:extLst>
            </p:cNvPr>
            <p:cNvGrpSpPr/>
            <p:nvPr/>
          </p:nvGrpSpPr>
          <p:grpSpPr>
            <a:xfrm>
              <a:off x="5885750" y="5775112"/>
              <a:ext cx="3357262" cy="445700"/>
              <a:chOff x="5885750" y="5775112"/>
              <a:chExt cx="3357262" cy="445700"/>
            </a:xfrm>
          </p:grpSpPr>
          <p:pic>
            <p:nvPicPr>
              <p:cNvPr id="21" name="Google Shape;1283;p82">
                <a:extLst>
                  <a:ext uri="{FF2B5EF4-FFF2-40B4-BE49-F238E27FC236}">
                    <a16:creationId xmlns:a16="http://schemas.microsoft.com/office/drawing/2014/main" id="{D47D1CCC-4E0C-457A-A26E-06DAE149B81A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857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1284;p82">
                <a:extLst>
                  <a:ext uri="{FF2B5EF4-FFF2-40B4-BE49-F238E27FC236}">
                    <a16:creationId xmlns:a16="http://schemas.microsoft.com/office/drawing/2014/main" id="{F84C5C35-2374-42F7-A96E-C9773FE119B0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799788" y="577511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1285;p82">
                <a:extLst>
                  <a:ext uri="{FF2B5EF4-FFF2-40B4-BE49-F238E27FC236}">
                    <a16:creationId xmlns:a16="http://schemas.microsoft.com/office/drawing/2014/main" id="{A16E0819-9499-4C5D-9E4D-3CD7440FEE01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994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1286;p82">
                <a:extLst>
                  <a:ext uri="{FF2B5EF4-FFF2-40B4-BE49-F238E27FC236}">
                    <a16:creationId xmlns:a16="http://schemas.microsoft.com/office/drawing/2014/main" id="{EB9B3D7B-3DD5-4A60-AE2F-327F0D465F90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13138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1287;p82">
                <a:extLst>
                  <a:ext uri="{FF2B5EF4-FFF2-40B4-BE49-F238E27FC236}">
                    <a16:creationId xmlns:a16="http://schemas.microsoft.com/office/drawing/2014/main" id="{45C788A3-5B13-45CA-A4AC-9C7D7CBBF636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056475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sp>
        <p:nvSpPr>
          <p:cNvPr id="1273" name="Google Shape;1273;p82"/>
          <p:cNvSpPr txBox="1">
            <a:spLocks noGrp="1"/>
          </p:cNvSpPr>
          <p:nvPr>
            <p:ph type="body" idx="1"/>
          </p:nvPr>
        </p:nvSpPr>
        <p:spPr>
          <a:xfrm>
            <a:off x="5507917" y="1180610"/>
            <a:ext cx="6565263" cy="33865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b="1" dirty="0"/>
              <a:t>Cuando un trabajo inicia un requerimiento de I/O</a:t>
            </a:r>
            <a:r>
              <a:rPr lang="es-ES" sz="2200" dirty="0"/>
              <a:t>:</a:t>
            </a:r>
            <a:endParaRPr sz="22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El </a:t>
            </a:r>
            <a:r>
              <a:rPr lang="es-ES" sz="2000" dirty="0">
                <a:latin typeface="+mn-lt"/>
              </a:rPr>
              <a:t>trabajo</a:t>
            </a:r>
            <a:r>
              <a:rPr lang="es-ES" sz="2000" dirty="0"/>
              <a:t> es </a:t>
            </a:r>
            <a:r>
              <a:rPr lang="es-ES" sz="2000" b="1" dirty="0">
                <a:solidFill>
                  <a:srgbClr val="FF0000"/>
                </a:solidFill>
              </a:rPr>
              <a:t>bloqueado</a:t>
            </a:r>
            <a:r>
              <a:rPr lang="es-ES" sz="2000" dirty="0"/>
              <a:t> en espera de la finalización de la operación I/O.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El </a:t>
            </a:r>
            <a:r>
              <a:rPr lang="es-ES" sz="2000" b="1" dirty="0"/>
              <a:t>scheduler</a:t>
            </a:r>
            <a:r>
              <a:rPr lang="es-ES" sz="2000" dirty="0"/>
              <a:t> debería </a:t>
            </a:r>
            <a:r>
              <a:rPr lang="es-ES" sz="2000" b="1" dirty="0">
                <a:solidFill>
                  <a:schemeClr val="accent6"/>
                </a:solidFill>
              </a:rPr>
              <a:t>seleccionar otro trabajo</a:t>
            </a:r>
            <a:r>
              <a:rPr lang="es-ES" sz="2000" dirty="0"/>
              <a:t> para que tome uso de la CPU.</a:t>
            </a:r>
            <a:endParaRPr sz="20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200" b="1" dirty="0"/>
              <a:t>Cuando la operación de I/O finaliza</a:t>
            </a:r>
            <a:r>
              <a:rPr lang="es-ES" sz="2200" dirty="0"/>
              <a:t>:</a:t>
            </a:r>
            <a:endParaRPr sz="22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Se lanza una interrupción.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El SO mueve el proceso del estado bloqueado (</a:t>
            </a:r>
            <a:r>
              <a:rPr lang="es-ES" sz="2000" b="1" dirty="0"/>
              <a:t>blocked</a:t>
            </a:r>
            <a:r>
              <a:rPr lang="es-ES" sz="2000" dirty="0"/>
              <a:t>) al estado listo (</a:t>
            </a:r>
            <a:r>
              <a:rPr lang="es-ES" sz="2000" b="1" dirty="0"/>
              <a:t>ready</a:t>
            </a:r>
            <a:r>
              <a:rPr lang="es-ES" sz="2000" dirty="0"/>
              <a:t>).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4" name="Google Shape;1274;p82"/>
          <p:cNvSpPr txBox="1"/>
          <p:nvPr/>
        </p:nvSpPr>
        <p:spPr>
          <a:xfrm>
            <a:off x="347089" y="1314917"/>
            <a:ext cx="5145701" cy="55396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/>
              <a:t>¿Que pasa si hay operaciones de I/O?</a:t>
            </a:r>
            <a:endParaRPr sz="2400" b="1" dirty="0"/>
          </a:p>
        </p:txBody>
      </p:sp>
      <p:grpSp>
        <p:nvGrpSpPr>
          <p:cNvPr id="1275" name="Google Shape;1275;p82"/>
          <p:cNvGrpSpPr/>
          <p:nvPr/>
        </p:nvGrpSpPr>
        <p:grpSpPr>
          <a:xfrm>
            <a:off x="7110909" y="4891196"/>
            <a:ext cx="3478100" cy="1270013"/>
            <a:chOff x="5795700" y="4950800"/>
            <a:chExt cx="3478100" cy="1270013"/>
          </a:xfrm>
        </p:grpSpPr>
        <p:grpSp>
          <p:nvGrpSpPr>
            <p:cNvPr id="1276" name="Google Shape;1276;p82"/>
            <p:cNvGrpSpPr/>
            <p:nvPr/>
          </p:nvGrpSpPr>
          <p:grpSpPr>
            <a:xfrm>
              <a:off x="5795700" y="4950800"/>
              <a:ext cx="3478100" cy="648900"/>
              <a:chOff x="5818900" y="4196550"/>
              <a:chExt cx="3478100" cy="648900"/>
            </a:xfrm>
          </p:grpSpPr>
          <p:sp>
            <p:nvSpPr>
              <p:cNvPr id="1277" name="Google Shape;1277;p82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278" name="Google Shape;1278;p82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279" name="Google Shape;1279;p82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280" name="Google Shape;1280;p82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281" name="Google Shape;1281;p82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1282" name="Google Shape;1282;p82"/>
            <p:cNvGrpSpPr/>
            <p:nvPr/>
          </p:nvGrpSpPr>
          <p:grpSpPr>
            <a:xfrm>
              <a:off x="5885750" y="5775112"/>
              <a:ext cx="3357262" cy="445700"/>
              <a:chOff x="5885750" y="5775112"/>
              <a:chExt cx="3357262" cy="445700"/>
            </a:xfrm>
          </p:grpSpPr>
          <p:pic>
            <p:nvPicPr>
              <p:cNvPr id="1283" name="Google Shape;1283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857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4" name="Google Shape;1284;p8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799788" y="577511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5" name="Google Shape;1285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994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6" name="Google Shape;1286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13138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7" name="Google Shape;1287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056475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88" name="Google Shape;1288;p82"/>
          <p:cNvGrpSpPr/>
          <p:nvPr/>
        </p:nvGrpSpPr>
        <p:grpSpPr>
          <a:xfrm>
            <a:off x="327269" y="2574255"/>
            <a:ext cx="5145700" cy="3680489"/>
            <a:chOff x="1158027" y="2578811"/>
            <a:chExt cx="5145700" cy="3680489"/>
          </a:xfrm>
        </p:grpSpPr>
        <p:sp>
          <p:nvSpPr>
            <p:cNvPr id="1289" name="Google Shape;1289;p82"/>
            <p:cNvSpPr/>
            <p:nvPr/>
          </p:nvSpPr>
          <p:spPr>
            <a:xfrm>
              <a:off x="1686225" y="2817175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0" name="Google Shape;1290;p82"/>
            <p:cNvSpPr/>
            <p:nvPr/>
          </p:nvSpPr>
          <p:spPr>
            <a:xfrm>
              <a:off x="4433700" y="2886950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1" name="Google Shape;1291;p82"/>
            <p:cNvSpPr/>
            <p:nvPr/>
          </p:nvSpPr>
          <p:spPr>
            <a:xfrm>
              <a:off x="3032425" y="4925800"/>
              <a:ext cx="1269900" cy="13335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urier New"/>
                  <a:ea typeface="Courier New"/>
                  <a:cs typeface="Courier New"/>
                  <a:sym typeface="Courier New"/>
                </a:rPr>
                <a:t>Block</a:t>
              </a:r>
              <a:endParaRPr sz="18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292" name="Google Shape;1292;p82"/>
            <p:cNvCxnSpPr>
              <a:stCxn id="1289" idx="7"/>
              <a:endCxn id="1290" idx="1"/>
            </p:cNvCxnSpPr>
            <p:nvPr/>
          </p:nvCxnSpPr>
          <p:spPr>
            <a:xfrm rot="-5400000" flipH="1">
              <a:off x="3659952" y="2122662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3" name="Google Shape;1293;p82"/>
            <p:cNvCxnSpPr>
              <a:stCxn id="1290" idx="3"/>
              <a:endCxn id="1289" idx="5"/>
            </p:cNvCxnSpPr>
            <p:nvPr/>
          </p:nvCxnSpPr>
          <p:spPr>
            <a:xfrm rot="5400000" flipH="1">
              <a:off x="3659973" y="3065463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4" name="Google Shape;1294;p82"/>
            <p:cNvCxnSpPr>
              <a:stCxn id="1290" idx="4"/>
              <a:endCxn id="1291" idx="6"/>
            </p:cNvCxnSpPr>
            <p:nvPr/>
          </p:nvCxnSpPr>
          <p:spPr>
            <a:xfrm rot="5400000">
              <a:off x="3999450" y="4523450"/>
              <a:ext cx="1372200" cy="7662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5" name="Google Shape;1295;p82"/>
            <p:cNvCxnSpPr>
              <a:stCxn id="1291" idx="2"/>
              <a:endCxn id="1289" idx="4"/>
            </p:cNvCxnSpPr>
            <p:nvPr/>
          </p:nvCxnSpPr>
          <p:spPr>
            <a:xfrm rot="10800000">
              <a:off x="2321125" y="4150750"/>
              <a:ext cx="711300" cy="1441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96" name="Google Shape;1296;p82"/>
            <p:cNvSpPr txBox="1"/>
            <p:nvPr/>
          </p:nvSpPr>
          <p:spPr>
            <a:xfrm>
              <a:off x="2996399" y="2578811"/>
              <a:ext cx="1384238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7" name="Google Shape;1297;p82"/>
            <p:cNvSpPr txBox="1"/>
            <p:nvPr/>
          </p:nvSpPr>
          <p:spPr>
            <a:xfrm>
              <a:off x="2770152" y="4458813"/>
              <a:ext cx="187307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8" name="Google Shape;1298;p82"/>
            <p:cNvSpPr txBox="1"/>
            <p:nvPr/>
          </p:nvSpPr>
          <p:spPr>
            <a:xfrm>
              <a:off x="4819927" y="4671788"/>
              <a:ext cx="1483800" cy="677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wait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9" name="Google Shape;1299;p82"/>
            <p:cNvSpPr txBox="1"/>
            <p:nvPr/>
          </p:nvSpPr>
          <p:spPr>
            <a:xfrm>
              <a:off x="1158027" y="4571738"/>
              <a:ext cx="14838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completion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grpSp>
        <p:nvGrpSpPr>
          <p:cNvPr id="1275" name="Google Shape;1275;p82"/>
          <p:cNvGrpSpPr/>
          <p:nvPr/>
        </p:nvGrpSpPr>
        <p:grpSpPr>
          <a:xfrm>
            <a:off x="7426762" y="939857"/>
            <a:ext cx="3478100" cy="1270013"/>
            <a:chOff x="5795700" y="4950800"/>
            <a:chExt cx="3478100" cy="1270013"/>
          </a:xfrm>
        </p:grpSpPr>
        <p:grpSp>
          <p:nvGrpSpPr>
            <p:cNvPr id="1276" name="Google Shape;1276;p82"/>
            <p:cNvGrpSpPr/>
            <p:nvPr/>
          </p:nvGrpSpPr>
          <p:grpSpPr>
            <a:xfrm>
              <a:off x="5795700" y="4950800"/>
              <a:ext cx="3478100" cy="648900"/>
              <a:chOff x="5818900" y="4196550"/>
              <a:chExt cx="3478100" cy="648900"/>
            </a:xfrm>
          </p:grpSpPr>
          <p:sp>
            <p:nvSpPr>
              <p:cNvPr id="1277" name="Google Shape;1277;p82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1278" name="Google Shape;1278;p82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1279" name="Google Shape;1279;p82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1280" name="Google Shape;1280;p82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1281" name="Google Shape;1281;p82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1282" name="Google Shape;1282;p82"/>
            <p:cNvGrpSpPr/>
            <p:nvPr/>
          </p:nvGrpSpPr>
          <p:grpSpPr>
            <a:xfrm>
              <a:off x="5885750" y="5775112"/>
              <a:ext cx="3357262" cy="445700"/>
              <a:chOff x="5885750" y="5775112"/>
              <a:chExt cx="3357262" cy="445700"/>
            </a:xfrm>
          </p:grpSpPr>
          <p:pic>
            <p:nvPicPr>
              <p:cNvPr id="1283" name="Google Shape;1283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857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4" name="Google Shape;1284;p8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799788" y="577511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5" name="Google Shape;1285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599450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6" name="Google Shape;1286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13138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7" name="Google Shape;1287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056475" y="57787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88" name="Google Shape;1288;p82"/>
          <p:cNvGrpSpPr/>
          <p:nvPr/>
        </p:nvGrpSpPr>
        <p:grpSpPr>
          <a:xfrm>
            <a:off x="330560" y="2593812"/>
            <a:ext cx="5145700" cy="3680489"/>
            <a:chOff x="1158027" y="2578811"/>
            <a:chExt cx="5145700" cy="3680489"/>
          </a:xfrm>
        </p:grpSpPr>
        <p:sp>
          <p:nvSpPr>
            <p:cNvPr id="1289" name="Google Shape;1289;p82"/>
            <p:cNvSpPr/>
            <p:nvPr/>
          </p:nvSpPr>
          <p:spPr>
            <a:xfrm>
              <a:off x="1686225" y="2817175"/>
              <a:ext cx="1269900" cy="1333500"/>
            </a:xfrm>
            <a:prstGeom prst="ellipse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urier New"/>
                  <a:ea typeface="Courier New"/>
                  <a:cs typeface="Courier New"/>
                  <a:sym typeface="Courier New"/>
                </a:rPr>
                <a:t>Ready</a:t>
              </a:r>
              <a:endParaRPr sz="18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0" name="Google Shape;1290;p82"/>
            <p:cNvSpPr/>
            <p:nvPr/>
          </p:nvSpPr>
          <p:spPr>
            <a:xfrm>
              <a:off x="4433700" y="2886950"/>
              <a:ext cx="1269900" cy="1333500"/>
            </a:xfrm>
            <a:prstGeom prst="ellipse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Run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1" name="Google Shape;1291;p82"/>
            <p:cNvSpPr/>
            <p:nvPr/>
          </p:nvSpPr>
          <p:spPr>
            <a:xfrm>
              <a:off x="3032425" y="4925800"/>
              <a:ext cx="1269900" cy="13335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Block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292" name="Google Shape;1292;p82"/>
            <p:cNvCxnSpPr>
              <a:stCxn id="1289" idx="7"/>
              <a:endCxn id="1290" idx="1"/>
            </p:cNvCxnSpPr>
            <p:nvPr/>
          </p:nvCxnSpPr>
          <p:spPr>
            <a:xfrm rot="-5400000" flipH="1">
              <a:off x="3659952" y="2122662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3" name="Google Shape;1293;p82"/>
            <p:cNvCxnSpPr>
              <a:stCxn id="1290" idx="3"/>
              <a:endCxn id="1289" idx="5"/>
            </p:cNvCxnSpPr>
            <p:nvPr/>
          </p:nvCxnSpPr>
          <p:spPr>
            <a:xfrm rot="5400000" flipH="1">
              <a:off x="3659973" y="3065463"/>
              <a:ext cx="69900" cy="1849500"/>
            </a:xfrm>
            <a:prstGeom prst="curvedConnector3">
              <a:avLst>
                <a:gd name="adj1" fmla="val -62004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4" name="Google Shape;1294;p82"/>
            <p:cNvCxnSpPr>
              <a:stCxn id="1290" idx="4"/>
              <a:endCxn id="1291" idx="6"/>
            </p:cNvCxnSpPr>
            <p:nvPr/>
          </p:nvCxnSpPr>
          <p:spPr>
            <a:xfrm rot="5400000">
              <a:off x="3999450" y="4523450"/>
              <a:ext cx="1372200" cy="7662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5" name="Google Shape;1295;p82"/>
            <p:cNvCxnSpPr>
              <a:stCxn id="1291" idx="2"/>
              <a:endCxn id="1289" idx="4"/>
            </p:cNvCxnSpPr>
            <p:nvPr/>
          </p:nvCxnSpPr>
          <p:spPr>
            <a:xfrm rot="10800000">
              <a:off x="2321125" y="4150750"/>
              <a:ext cx="711300" cy="14418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96" name="Google Shape;1296;p82"/>
            <p:cNvSpPr txBox="1"/>
            <p:nvPr/>
          </p:nvSpPr>
          <p:spPr>
            <a:xfrm>
              <a:off x="2996399" y="2578811"/>
              <a:ext cx="1384238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scheduled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7" name="Google Shape;1297;p82"/>
            <p:cNvSpPr txBox="1"/>
            <p:nvPr/>
          </p:nvSpPr>
          <p:spPr>
            <a:xfrm>
              <a:off x="2770152" y="4458813"/>
              <a:ext cx="187307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desescheduled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8" name="Google Shape;1298;p82"/>
            <p:cNvSpPr txBox="1"/>
            <p:nvPr/>
          </p:nvSpPr>
          <p:spPr>
            <a:xfrm>
              <a:off x="4819927" y="4671788"/>
              <a:ext cx="1483800" cy="677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wait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99" name="Google Shape;1299;p82"/>
            <p:cNvSpPr txBox="1"/>
            <p:nvPr/>
          </p:nvSpPr>
          <p:spPr>
            <a:xfrm>
              <a:off x="1158027" y="4571738"/>
              <a:ext cx="14838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I/O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or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event</a:t>
              </a:r>
              <a:r>
                <a:rPr lang="es-ES" sz="1600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s-ES" sz="1600" dirty="0" err="1">
                  <a:latin typeface="Courier New"/>
                  <a:ea typeface="Courier New"/>
                  <a:cs typeface="Courier New"/>
                  <a:sym typeface="Courier New"/>
                </a:rPr>
                <a:t>completion</a:t>
              </a:r>
              <a:endParaRPr sz="1600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632B3E9C-CE1D-4CC5-BD06-C9A9BAB3E37A}"/>
              </a:ext>
            </a:extLst>
          </p:cNvPr>
          <p:cNvGrpSpPr/>
          <p:nvPr/>
        </p:nvGrpSpPr>
        <p:grpSpPr>
          <a:xfrm>
            <a:off x="6212401" y="2674978"/>
            <a:ext cx="5495162" cy="3272622"/>
            <a:chOff x="6212401" y="2674978"/>
            <a:chExt cx="5495162" cy="3272622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4355B00E-2934-4292-BFBC-1E2C729F8926}"/>
                </a:ext>
              </a:extLst>
            </p:cNvPr>
            <p:cNvGrpSpPr/>
            <p:nvPr/>
          </p:nvGrpSpPr>
          <p:grpSpPr>
            <a:xfrm>
              <a:off x="10833366" y="2686150"/>
              <a:ext cx="874197" cy="1195002"/>
              <a:chOff x="1620690" y="2501644"/>
              <a:chExt cx="874197" cy="1195002"/>
            </a:xfrm>
          </p:grpSpPr>
          <p:sp>
            <p:nvSpPr>
              <p:cNvPr id="45" name="Rectángulo 44">
                <a:extLst>
                  <a:ext uri="{FF2B5EF4-FFF2-40B4-BE49-F238E27FC236}">
                    <a16:creationId xmlns:a16="http://schemas.microsoft.com/office/drawing/2014/main" id="{4FECF7A7-B26E-4F12-A8A7-B338C99D2581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9E7720B9-F2E3-48E1-AEE2-443600A232C4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0FFC0557-A7F8-45A7-8C66-E73F340F3B97}"/>
                </a:ext>
              </a:extLst>
            </p:cNvPr>
            <p:cNvCxnSpPr>
              <a:endCxn id="45" idx="1"/>
            </p:cNvCxnSpPr>
            <p:nvPr/>
          </p:nvCxnSpPr>
          <p:spPr>
            <a:xfrm>
              <a:off x="9630819" y="3465524"/>
              <a:ext cx="1202547" cy="2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: angular 36">
              <a:extLst>
                <a:ext uri="{FF2B5EF4-FFF2-40B4-BE49-F238E27FC236}">
                  <a16:creationId xmlns:a16="http://schemas.microsoft.com/office/drawing/2014/main" id="{BF135A1D-524D-4664-B659-34FC4B0B3A15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rot="5400000" flipH="1">
              <a:off x="9074793" y="1685480"/>
              <a:ext cx="182038" cy="4209306"/>
            </a:xfrm>
            <a:prstGeom prst="bentConnector4">
              <a:avLst>
                <a:gd name="adj1" fmla="val -216274"/>
                <a:gd name="adj2" fmla="val 1064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99EAADED-9ED2-4FE2-AFB5-A56E00394D7F}"/>
                </a:ext>
              </a:extLst>
            </p:cNvPr>
            <p:cNvCxnSpPr/>
            <p:nvPr/>
          </p:nvCxnSpPr>
          <p:spPr>
            <a:xfrm>
              <a:off x="6212401" y="3269772"/>
              <a:ext cx="8204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50008A45-0516-49CF-B6D8-7624A38EEDCC}"/>
                </a:ext>
              </a:extLst>
            </p:cNvPr>
            <p:cNvGrpSpPr/>
            <p:nvPr/>
          </p:nvGrpSpPr>
          <p:grpSpPr>
            <a:xfrm>
              <a:off x="7153090" y="2674978"/>
              <a:ext cx="2480084" cy="1206174"/>
              <a:chOff x="3934951" y="4414559"/>
              <a:chExt cx="2480084" cy="1206174"/>
            </a:xfrm>
          </p:grpSpPr>
          <p:grpSp>
            <p:nvGrpSpPr>
              <p:cNvPr id="40" name="Grupo 39">
                <a:extLst>
                  <a:ext uri="{FF2B5EF4-FFF2-40B4-BE49-F238E27FC236}">
                    <a16:creationId xmlns:a16="http://schemas.microsoft.com/office/drawing/2014/main" id="{113196F4-7ACD-41CC-A4AA-38490C7A377B}"/>
                  </a:ext>
                </a:extLst>
              </p:cNvPr>
              <p:cNvGrpSpPr/>
              <p:nvPr/>
            </p:nvGrpSpPr>
            <p:grpSpPr>
              <a:xfrm>
                <a:off x="3934951" y="4789478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438B630A-5D0F-441C-A940-002030499B66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ector recto 42">
                  <a:extLst>
                    <a:ext uri="{FF2B5EF4-FFF2-40B4-BE49-F238E27FC236}">
                      <a16:creationId xmlns:a16="http://schemas.microsoft.com/office/drawing/2014/main" id="{047DDB23-6A95-4709-A05A-0756ABBA7E08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Conector recto 43">
                  <a:extLst>
                    <a:ext uri="{FF2B5EF4-FFF2-40B4-BE49-F238E27FC236}">
                      <a16:creationId xmlns:a16="http://schemas.microsoft.com/office/drawing/2014/main" id="{CA90A3B2-9CA4-4AFF-AE88-6A7A3A846E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421464D-0F1B-49A3-9C3F-871B68FA9E0E}"/>
                  </a:ext>
                </a:extLst>
              </p:cNvPr>
              <p:cNvSpPr txBox="1"/>
              <p:nvPr/>
            </p:nvSpPr>
            <p:spPr>
              <a:xfrm>
                <a:off x="4853698" y="4414559"/>
                <a:ext cx="772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Ready</a:t>
                </a:r>
              </a:p>
            </p:txBody>
          </p:sp>
        </p:grpSp>
        <p:grpSp>
          <p:nvGrpSpPr>
            <p:cNvPr id="1271" name="Grupo 1270">
              <a:extLst>
                <a:ext uri="{FF2B5EF4-FFF2-40B4-BE49-F238E27FC236}">
                  <a16:creationId xmlns:a16="http://schemas.microsoft.com/office/drawing/2014/main" id="{7F561CD4-7BB0-48B6-95CE-8FD5EB81E272}"/>
                </a:ext>
              </a:extLst>
            </p:cNvPr>
            <p:cNvGrpSpPr/>
            <p:nvPr/>
          </p:nvGrpSpPr>
          <p:grpSpPr>
            <a:xfrm>
              <a:off x="8391954" y="4679160"/>
              <a:ext cx="2480084" cy="1268440"/>
              <a:chOff x="8391954" y="4679160"/>
              <a:chExt cx="2480084" cy="1268440"/>
            </a:xfrm>
          </p:grpSpPr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C946F6BD-B22F-45D1-8AFF-3BA52E270E53}"/>
                  </a:ext>
                </a:extLst>
              </p:cNvPr>
              <p:cNvGrpSpPr/>
              <p:nvPr/>
            </p:nvGrpSpPr>
            <p:grpSpPr>
              <a:xfrm flipH="1">
                <a:off x="8391954" y="5116345"/>
                <a:ext cx="2480084" cy="831255"/>
                <a:chOff x="3934951" y="4789478"/>
                <a:chExt cx="2480084" cy="831255"/>
              </a:xfrm>
            </p:grpSpPr>
            <p:cxnSp>
              <p:nvCxnSpPr>
                <p:cNvPr id="50" name="Conector recto 49">
                  <a:extLst>
                    <a:ext uri="{FF2B5EF4-FFF2-40B4-BE49-F238E27FC236}">
                      <a16:creationId xmlns:a16="http://schemas.microsoft.com/office/drawing/2014/main" id="{E1F53830-3B07-423B-802C-24807E3651FE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ector recto 50">
                  <a:extLst>
                    <a:ext uri="{FF2B5EF4-FFF2-40B4-BE49-F238E27FC236}">
                      <a16:creationId xmlns:a16="http://schemas.microsoft.com/office/drawing/2014/main" id="{3AA2862E-8179-49C3-A19F-CF6AD150F76B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ector recto 51">
                  <a:extLst>
                    <a:ext uri="{FF2B5EF4-FFF2-40B4-BE49-F238E27FC236}">
                      <a16:creationId xmlns:a16="http://schemas.microsoft.com/office/drawing/2014/main" id="{D52A7F41-13DE-4198-99C4-F19864ADE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4943E17A-9D64-4E21-88A7-60497A962AD6}"/>
                  </a:ext>
                </a:extLst>
              </p:cNvPr>
              <p:cNvSpPr txBox="1"/>
              <p:nvPr/>
            </p:nvSpPr>
            <p:spPr>
              <a:xfrm>
                <a:off x="9216121" y="4679160"/>
                <a:ext cx="700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Block</a:t>
                </a:r>
              </a:p>
            </p:txBody>
          </p:sp>
        </p:grpSp>
        <p:cxnSp>
          <p:nvCxnSpPr>
            <p:cNvPr id="53" name="Conector: angular 52">
              <a:extLst>
                <a:ext uri="{FF2B5EF4-FFF2-40B4-BE49-F238E27FC236}">
                  <a16:creationId xmlns:a16="http://schemas.microsoft.com/office/drawing/2014/main" id="{190D2761-24BA-4BC6-874A-53AF7B56A1E1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>
              <a:off x="10705511" y="3468317"/>
              <a:ext cx="1002052" cy="2063656"/>
            </a:xfrm>
            <a:prstGeom prst="bentConnector4">
              <a:avLst>
                <a:gd name="adj1" fmla="val -22813"/>
                <a:gd name="adj2" fmla="val 9995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0" name="Grupo 1269">
              <a:extLst>
                <a:ext uri="{FF2B5EF4-FFF2-40B4-BE49-F238E27FC236}">
                  <a16:creationId xmlns:a16="http://schemas.microsoft.com/office/drawing/2014/main" id="{11AD6F2C-A816-4A5B-BD7A-BB03B40D3E31}"/>
                </a:ext>
              </a:extLst>
            </p:cNvPr>
            <p:cNvGrpSpPr/>
            <p:nvPr/>
          </p:nvGrpSpPr>
          <p:grpSpPr>
            <a:xfrm>
              <a:off x="6212401" y="3478226"/>
              <a:ext cx="2179556" cy="2053746"/>
              <a:chOff x="5610263" y="3233123"/>
              <a:chExt cx="2179556" cy="2053746"/>
            </a:xfrm>
          </p:grpSpPr>
          <p:cxnSp>
            <p:nvCxnSpPr>
              <p:cNvPr id="1266" name="Conector: angular 1265">
                <a:extLst>
                  <a:ext uri="{FF2B5EF4-FFF2-40B4-BE49-F238E27FC236}">
                    <a16:creationId xmlns:a16="http://schemas.microsoft.com/office/drawing/2014/main" id="{AB03DF54-869A-43E5-A0EB-934E2306479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610264" y="3233123"/>
                <a:ext cx="2179555" cy="2053746"/>
              </a:xfrm>
              <a:prstGeom prst="bentConnector3">
                <a:avLst>
                  <a:gd name="adj1" fmla="val 10011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ector recto de flecha 145">
                <a:extLst>
                  <a:ext uri="{FF2B5EF4-FFF2-40B4-BE49-F238E27FC236}">
                    <a16:creationId xmlns:a16="http://schemas.microsoft.com/office/drawing/2014/main" id="{E362FFCE-98F7-474E-8C65-B6BC950B3828}"/>
                  </a:ext>
                </a:extLst>
              </p:cNvPr>
              <p:cNvCxnSpPr/>
              <p:nvPr/>
            </p:nvCxnSpPr>
            <p:spPr>
              <a:xfrm>
                <a:off x="5610263" y="3233123"/>
                <a:ext cx="82042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Google Shape;1274;p82">
            <a:extLst>
              <a:ext uri="{FF2B5EF4-FFF2-40B4-BE49-F238E27FC236}">
                <a16:creationId xmlns:a16="http://schemas.microsoft.com/office/drawing/2014/main" id="{FFDDE5F7-BF82-4FD4-99B9-CC7C595812E7}"/>
              </a:ext>
            </a:extLst>
          </p:cNvPr>
          <p:cNvSpPr txBox="1"/>
          <p:nvPr/>
        </p:nvSpPr>
        <p:spPr>
          <a:xfrm>
            <a:off x="472168" y="1142792"/>
            <a:ext cx="5145701" cy="55396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/>
              <a:t>¿Que pasa si hay operaciones de I/O?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1895972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83"/>
          <p:cNvSpPr txBox="1">
            <a:spLocks noGrp="1"/>
          </p:cNvSpPr>
          <p:nvPr>
            <p:ph type="title"/>
          </p:nvPr>
        </p:nvSpPr>
        <p:spPr>
          <a:xfrm>
            <a:off x="557939" y="96038"/>
            <a:ext cx="866271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sp>
        <p:nvSpPr>
          <p:cNvPr id="1305" name="Google Shape;1305;p83"/>
          <p:cNvSpPr txBox="1">
            <a:spLocks noGrp="1"/>
          </p:cNvSpPr>
          <p:nvPr>
            <p:ph type="body" idx="1"/>
          </p:nvPr>
        </p:nvSpPr>
        <p:spPr>
          <a:xfrm>
            <a:off x="418454" y="888500"/>
            <a:ext cx="11059546" cy="23773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latin typeface="+mn-lt"/>
              </a:rPr>
              <a:t>: Suponga que se tiene una situación en la que: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A y B requieren 40 ms de CPU cada uno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A se ejecuta por 10 ms y luego emite una solicitud de I/O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000" dirty="0">
                <a:latin typeface="+mn-lt"/>
              </a:rPr>
              <a:t>Cada operación de I/O toma 10 ms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B no realiza operaciones de I/O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planificador ejecuta a A primero y luego a B.</a:t>
            </a:r>
            <a:endParaRPr sz="2200" dirty="0">
              <a:latin typeface="+mn-lt"/>
            </a:endParaRPr>
          </a:p>
        </p:txBody>
      </p:sp>
      <p:graphicFrame>
        <p:nvGraphicFramePr>
          <p:cNvPr id="1306" name="Google Shape;1306;p83"/>
          <p:cNvGraphicFramePr/>
          <p:nvPr>
            <p:extLst>
              <p:ext uri="{D42A27DB-BD31-4B8C-83A1-F6EECF244321}">
                <p14:modId xmlns:p14="http://schemas.microsoft.com/office/powerpoint/2010/main" val="1615609767"/>
              </p:ext>
            </p:extLst>
          </p:nvPr>
        </p:nvGraphicFramePr>
        <p:xfrm>
          <a:off x="1107713" y="3503036"/>
          <a:ext cx="4226300" cy="237735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13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20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Características</a:t>
                      </a:r>
                      <a:endParaRPr sz="2000" b="1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200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</a:t>
                      </a:r>
                      <a:r>
                        <a:rPr lang="es-ES" sz="20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40</a:t>
                      </a:r>
                      <a:endParaRPr sz="20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000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 </a:t>
                      </a:r>
                      <a:r>
                        <a:rPr lang="es-ES" sz="1800" b="1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10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I/O</a:t>
                      </a:r>
                      <a:r>
                        <a:rPr lang="es-ES" sz="20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30</a:t>
                      </a:r>
                      <a:endParaRPr sz="20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000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I/O </a:t>
                      </a:r>
                      <a:r>
                        <a:rPr lang="es-ES" sz="1800" b="1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10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20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</a:t>
                      </a:r>
                      <a:r>
                        <a:rPr lang="es-ES" sz="20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40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7" name="Google Shape;1307;p83"/>
          <p:cNvSpPr txBox="1"/>
          <p:nvPr/>
        </p:nvSpPr>
        <p:spPr>
          <a:xfrm>
            <a:off x="6393039" y="3749268"/>
            <a:ext cx="5312100" cy="618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070C0"/>
                </a:solidFill>
                <a:ea typeface="Roboto"/>
                <a:cs typeface="Roboto"/>
                <a:sym typeface="Roboto"/>
              </a:rPr>
              <a:t>A (</a:t>
            </a:r>
            <a:r>
              <a:rPr lang="es-ES" sz="2400" b="1" dirty="0" err="1">
                <a:solidFill>
                  <a:srgbClr val="0070C0"/>
                </a:solidFill>
                <a:ea typeface="Roboto"/>
                <a:cs typeface="Roboto"/>
                <a:sym typeface="Roboto"/>
              </a:rPr>
              <a:t>interactive</a:t>
            </a:r>
            <a:r>
              <a:rPr lang="es-ES" sz="2400" b="1" dirty="0">
                <a:solidFill>
                  <a:srgbClr val="0070C0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+ </a:t>
            </a: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B (CPU-</a:t>
            </a:r>
            <a:r>
              <a:rPr lang="es-ES" sz="24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intensive</a:t>
            </a: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)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Incorporando I/O</a:t>
            </a:r>
            <a:endParaRPr dirty="0"/>
          </a:p>
        </p:txBody>
      </p:sp>
      <p:graphicFrame>
        <p:nvGraphicFramePr>
          <p:cNvPr id="1313" name="Google Shape;1313;p84"/>
          <p:cNvGraphicFramePr/>
          <p:nvPr>
            <p:extLst>
              <p:ext uri="{D42A27DB-BD31-4B8C-83A1-F6EECF244321}">
                <p14:modId xmlns:p14="http://schemas.microsoft.com/office/powerpoint/2010/main" val="2808270062"/>
              </p:ext>
            </p:extLst>
          </p:nvPr>
        </p:nvGraphicFramePr>
        <p:xfrm>
          <a:off x="464949" y="919625"/>
          <a:ext cx="11288300" cy="5303460"/>
        </p:xfrm>
        <a:graphic>
          <a:graphicData uri="http://schemas.openxmlformats.org/drawingml/2006/table">
            <a:tbl>
              <a:tblPr>
                <a:noFill/>
                <a:tableStyleId>{925993CE-88FD-44DD-ABEB-49CEDA6F9533}</a:tableStyleId>
              </a:tblPr>
              <a:tblGrid>
                <a:gridCol w="564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 dirty="0" err="1">
                          <a:latin typeface="+mn-lt"/>
                        </a:rPr>
                        <a:t>Not</a:t>
                      </a:r>
                      <a:r>
                        <a:rPr lang="es-ES" sz="2400" b="1" dirty="0">
                          <a:latin typeface="+mn-lt"/>
                        </a:rPr>
                        <a:t> I/O </a:t>
                      </a:r>
                      <a:r>
                        <a:rPr lang="es-ES" sz="2400" b="1" dirty="0" err="1">
                          <a:latin typeface="+mn-lt"/>
                        </a:rPr>
                        <a:t>aware</a:t>
                      </a:r>
                      <a:endParaRPr sz="2400" b="1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 dirty="0">
                          <a:solidFill>
                            <a:schemeClr val="dk1"/>
                          </a:solidFill>
                          <a:latin typeface="+mn-lt"/>
                        </a:rPr>
                        <a:t>I/O </a:t>
                      </a:r>
                      <a:r>
                        <a:rPr lang="es-ES" sz="2400" b="1" dirty="0" err="1">
                          <a:solidFill>
                            <a:schemeClr val="dk1"/>
                          </a:solidFill>
                          <a:latin typeface="+mn-lt"/>
                        </a:rPr>
                        <a:t>aware</a:t>
                      </a:r>
                      <a:r>
                        <a:rPr lang="es-ES" sz="2400" b="1" dirty="0">
                          <a:solidFill>
                            <a:schemeClr val="dk1"/>
                          </a:solidFill>
                          <a:latin typeface="+mn-lt"/>
                        </a:rPr>
                        <a:t> (Overlap)</a:t>
                      </a:r>
                      <a:endParaRPr sz="2400" b="1" dirty="0">
                        <a:latin typeface="+mn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</a:rPr>
                        <a:t>Pobre uso de los recursos.</a:t>
                      </a: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</a:rPr>
                        <a:t>Overlap</a:t>
                      </a:r>
                      <a:r>
                        <a:rPr lang="es-ES" sz="2000" dirty="0">
                          <a:latin typeface="+mn-lt"/>
                        </a:rPr>
                        <a:t>: Permite un mejor uso de los recursos.</a:t>
                      </a:r>
                      <a:endParaRPr sz="2000" dirty="0">
                        <a:latin typeface="+mn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14" name="Google Shape;131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87" y="1958446"/>
            <a:ext cx="5222928" cy="278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6367" y="2113970"/>
            <a:ext cx="4649493" cy="25716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A4F8B3D1-49B1-43D3-9102-8E2E7E82E733}"/>
              </a:ext>
            </a:extLst>
          </p:cNvPr>
          <p:cNvGrpSpPr/>
          <p:nvPr/>
        </p:nvGrpSpPr>
        <p:grpSpPr>
          <a:xfrm>
            <a:off x="1298023" y="4668894"/>
            <a:ext cx="4749847" cy="1070167"/>
            <a:chOff x="771425" y="5102921"/>
            <a:chExt cx="4749847" cy="1070167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A61B1590-215F-49CE-8BC4-0BABE3D298AA}"/>
                </a:ext>
              </a:extLst>
            </p:cNvPr>
            <p:cNvGrpSpPr/>
            <p:nvPr/>
          </p:nvGrpSpPr>
          <p:grpSpPr>
            <a:xfrm>
              <a:off x="962025" y="5102921"/>
              <a:ext cx="4158198" cy="699061"/>
              <a:chOff x="6286570" y="5562840"/>
              <a:chExt cx="2597218" cy="796010"/>
            </a:xfrm>
          </p:grpSpPr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18D30042-4B3B-4678-9D13-A136E1DB53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6570" y="6351605"/>
                <a:ext cx="2597218" cy="724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de flecha 25">
                <a:extLst>
                  <a:ext uri="{FF2B5EF4-FFF2-40B4-BE49-F238E27FC236}">
                    <a16:creationId xmlns:a16="http://schemas.microsoft.com/office/drawing/2014/main" id="{2A9756DA-E118-49E0-9DDD-0097963CD0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94989" y="5562840"/>
                <a:ext cx="0" cy="78876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B9D3C24-1B97-4442-9630-3EF26CAE3A3D}"/>
                </a:ext>
              </a:extLst>
            </p:cNvPr>
            <p:cNvSpPr txBox="1"/>
            <p:nvPr/>
          </p:nvSpPr>
          <p:spPr>
            <a:xfrm>
              <a:off x="5100993" y="5703136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F3F5C461-128D-4C17-B323-2BBAF672073B}"/>
                </a:ext>
              </a:extLst>
            </p:cNvPr>
            <p:cNvCxnSpPr/>
            <p:nvPr/>
          </p:nvCxnSpPr>
          <p:spPr>
            <a:xfrm>
              <a:off x="1624174" y="571258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63C23CFB-424A-4754-84AB-B7BBF4A92213}"/>
                </a:ext>
              </a:extLst>
            </p:cNvPr>
            <p:cNvCxnSpPr/>
            <p:nvPr/>
          </p:nvCxnSpPr>
          <p:spPr>
            <a:xfrm>
              <a:off x="2300449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9FE604E1-76DC-4706-9A2D-BD56F4159FDF}"/>
                </a:ext>
              </a:extLst>
            </p:cNvPr>
            <p:cNvCxnSpPr/>
            <p:nvPr/>
          </p:nvCxnSpPr>
          <p:spPr>
            <a:xfrm>
              <a:off x="2934986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B15D105D-CA93-4E86-9073-DD89F2FC0C2A}"/>
                </a:ext>
              </a:extLst>
            </p:cNvPr>
            <p:cNvCxnSpPr>
              <a:cxnSpLocks/>
            </p:cNvCxnSpPr>
            <p:nvPr/>
          </p:nvCxnSpPr>
          <p:spPr>
            <a:xfrm>
              <a:off x="4250362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3DA43C4-1517-408E-B986-762EEA523830}"/>
                </a:ext>
              </a:extLst>
            </p:cNvPr>
            <p:cNvCxnSpPr>
              <a:cxnSpLocks/>
            </p:cNvCxnSpPr>
            <p:nvPr/>
          </p:nvCxnSpPr>
          <p:spPr>
            <a:xfrm>
              <a:off x="3586682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348299F-9152-471D-B917-BE81BADB9288}"/>
                </a:ext>
              </a:extLst>
            </p:cNvPr>
            <p:cNvCxnSpPr>
              <a:cxnSpLocks/>
            </p:cNvCxnSpPr>
            <p:nvPr/>
          </p:nvCxnSpPr>
          <p:spPr>
            <a:xfrm>
              <a:off x="4901304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3F1A6FF8-869A-4336-A135-3F3CF8C1013D}"/>
                </a:ext>
              </a:extLst>
            </p:cNvPr>
            <p:cNvSpPr txBox="1"/>
            <p:nvPr/>
          </p:nvSpPr>
          <p:spPr>
            <a:xfrm>
              <a:off x="771425" y="584595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A2E49109-BE3C-4B2C-80FD-B760143F93A6}"/>
                </a:ext>
              </a:extLst>
            </p:cNvPr>
            <p:cNvSpPr txBox="1"/>
            <p:nvPr/>
          </p:nvSpPr>
          <p:spPr>
            <a:xfrm>
              <a:off x="1451234" y="585730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F3385FC-1C71-4923-B0B5-C79F198C97F0}"/>
                </a:ext>
              </a:extLst>
            </p:cNvPr>
            <p:cNvSpPr txBox="1"/>
            <p:nvPr/>
          </p:nvSpPr>
          <p:spPr>
            <a:xfrm>
              <a:off x="2127793" y="585730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500181C0-F856-44DA-8A13-FC21DAD8603F}"/>
                </a:ext>
              </a:extLst>
            </p:cNvPr>
            <p:cNvSpPr txBox="1"/>
            <p:nvPr/>
          </p:nvSpPr>
          <p:spPr>
            <a:xfrm>
              <a:off x="2763159" y="586531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ABDE62DB-57EE-4B39-A10A-563D6099FE2F}"/>
                </a:ext>
              </a:extLst>
            </p:cNvPr>
            <p:cNvSpPr txBox="1"/>
            <p:nvPr/>
          </p:nvSpPr>
          <p:spPr>
            <a:xfrm>
              <a:off x="3416400" y="5855715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FC35701-026F-4E20-A127-42C910B4E34B}"/>
                </a:ext>
              </a:extLst>
            </p:cNvPr>
            <p:cNvSpPr txBox="1"/>
            <p:nvPr/>
          </p:nvSpPr>
          <p:spPr>
            <a:xfrm>
              <a:off x="4024367" y="5855715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9C9E8DB-BBF4-4FB6-8A35-18F8BFA24ED3}"/>
                </a:ext>
              </a:extLst>
            </p:cNvPr>
            <p:cNvSpPr txBox="1"/>
            <p:nvPr/>
          </p:nvSpPr>
          <p:spPr>
            <a:xfrm>
              <a:off x="4661443" y="583006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5ABD2968-A5CD-4BBC-9A11-0BD96CF9A882}"/>
              </a:ext>
            </a:extLst>
          </p:cNvPr>
          <p:cNvGrpSpPr/>
          <p:nvPr/>
        </p:nvGrpSpPr>
        <p:grpSpPr>
          <a:xfrm>
            <a:off x="6761415" y="4649535"/>
            <a:ext cx="4749847" cy="1070167"/>
            <a:chOff x="771425" y="5102921"/>
            <a:chExt cx="4749847" cy="1070167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1F9FAC9D-4FFC-4D99-8C8F-A329A9EBA25A}"/>
                </a:ext>
              </a:extLst>
            </p:cNvPr>
            <p:cNvGrpSpPr/>
            <p:nvPr/>
          </p:nvGrpSpPr>
          <p:grpSpPr>
            <a:xfrm>
              <a:off x="962025" y="5102921"/>
              <a:ext cx="4158198" cy="699061"/>
              <a:chOff x="6286570" y="5562840"/>
              <a:chExt cx="2597218" cy="796010"/>
            </a:xfrm>
          </p:grpSpPr>
          <p:cxnSp>
            <p:nvCxnSpPr>
              <p:cNvPr id="69" name="Conector recto de flecha 68">
                <a:extLst>
                  <a:ext uri="{FF2B5EF4-FFF2-40B4-BE49-F238E27FC236}">
                    <a16:creationId xmlns:a16="http://schemas.microsoft.com/office/drawing/2014/main" id="{8C113662-417D-4AC7-B664-DE7EC75675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86570" y="6351605"/>
                <a:ext cx="2597218" cy="724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de flecha 69">
                <a:extLst>
                  <a:ext uri="{FF2B5EF4-FFF2-40B4-BE49-F238E27FC236}">
                    <a16:creationId xmlns:a16="http://schemas.microsoft.com/office/drawing/2014/main" id="{FC2F12B4-A5CA-405C-96F5-A368B6FE1D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94990" y="5562840"/>
                <a:ext cx="0" cy="78876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CBAEAD36-AD99-417E-87D8-75249D76DB91}"/>
                </a:ext>
              </a:extLst>
            </p:cNvPr>
            <p:cNvSpPr txBox="1"/>
            <p:nvPr/>
          </p:nvSpPr>
          <p:spPr>
            <a:xfrm>
              <a:off x="5100993" y="5703136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0FDAB948-BB35-4865-B5ED-5694F18A3D94}"/>
                </a:ext>
              </a:extLst>
            </p:cNvPr>
            <p:cNvCxnSpPr/>
            <p:nvPr/>
          </p:nvCxnSpPr>
          <p:spPr>
            <a:xfrm>
              <a:off x="1624174" y="5712581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A838C749-DF44-4E8C-9F1F-80E1559B4FC4}"/>
                </a:ext>
              </a:extLst>
            </p:cNvPr>
            <p:cNvCxnSpPr/>
            <p:nvPr/>
          </p:nvCxnSpPr>
          <p:spPr>
            <a:xfrm>
              <a:off x="2300449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A8428478-8EB2-4AA6-AD38-61A6B3D1F53A}"/>
                </a:ext>
              </a:extLst>
            </p:cNvPr>
            <p:cNvCxnSpPr/>
            <p:nvPr/>
          </p:nvCxnSpPr>
          <p:spPr>
            <a:xfrm>
              <a:off x="2934986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68347782-EA2F-4732-BC02-892CBE499F15}"/>
                </a:ext>
              </a:extLst>
            </p:cNvPr>
            <p:cNvCxnSpPr>
              <a:cxnSpLocks/>
            </p:cNvCxnSpPr>
            <p:nvPr/>
          </p:nvCxnSpPr>
          <p:spPr>
            <a:xfrm>
              <a:off x="4250362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E02DE88-8513-4CE4-B81A-02175FE4217B}"/>
                </a:ext>
              </a:extLst>
            </p:cNvPr>
            <p:cNvCxnSpPr>
              <a:cxnSpLocks/>
            </p:cNvCxnSpPr>
            <p:nvPr/>
          </p:nvCxnSpPr>
          <p:spPr>
            <a:xfrm>
              <a:off x="3586682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E1C0A731-10DB-47A9-B544-3B43EC4B4B5D}"/>
                </a:ext>
              </a:extLst>
            </p:cNvPr>
            <p:cNvCxnSpPr>
              <a:cxnSpLocks/>
            </p:cNvCxnSpPr>
            <p:nvPr/>
          </p:nvCxnSpPr>
          <p:spPr>
            <a:xfrm>
              <a:off x="4901304" y="57221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E1C3E65-02A6-47FF-B326-D075DB7112C7}"/>
                </a:ext>
              </a:extLst>
            </p:cNvPr>
            <p:cNvSpPr txBox="1"/>
            <p:nvPr/>
          </p:nvSpPr>
          <p:spPr>
            <a:xfrm>
              <a:off x="771425" y="5845952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73E83C16-C831-442E-B039-0B21FEB96B09}"/>
                </a:ext>
              </a:extLst>
            </p:cNvPr>
            <p:cNvSpPr txBox="1"/>
            <p:nvPr/>
          </p:nvSpPr>
          <p:spPr>
            <a:xfrm>
              <a:off x="1451234" y="585730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6F08A356-E72C-4A8C-8B3F-36EB6D687F53}"/>
                </a:ext>
              </a:extLst>
            </p:cNvPr>
            <p:cNvSpPr txBox="1"/>
            <p:nvPr/>
          </p:nvSpPr>
          <p:spPr>
            <a:xfrm>
              <a:off x="2127793" y="5857304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4F4C48AD-0450-4655-A17F-CDDB2E3FE079}"/>
                </a:ext>
              </a:extLst>
            </p:cNvPr>
            <p:cNvSpPr txBox="1"/>
            <p:nvPr/>
          </p:nvSpPr>
          <p:spPr>
            <a:xfrm>
              <a:off x="2763159" y="5865311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3B0D2E09-C9E5-4ED3-87B7-184D074A2B00}"/>
                </a:ext>
              </a:extLst>
            </p:cNvPr>
            <p:cNvSpPr txBox="1"/>
            <p:nvPr/>
          </p:nvSpPr>
          <p:spPr>
            <a:xfrm>
              <a:off x="3416400" y="5855715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935ABB66-EFDB-42EA-B1D0-8D3AB8DF68C8}"/>
                </a:ext>
              </a:extLst>
            </p:cNvPr>
            <p:cNvSpPr txBox="1"/>
            <p:nvPr/>
          </p:nvSpPr>
          <p:spPr>
            <a:xfrm>
              <a:off x="4024367" y="5855715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FC6263D1-3232-4FBD-96E0-E08A411E6842}"/>
                </a:ext>
              </a:extLst>
            </p:cNvPr>
            <p:cNvSpPr txBox="1"/>
            <p:nvPr/>
          </p:nvSpPr>
          <p:spPr>
            <a:xfrm>
              <a:off x="4661443" y="583006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85"/>
          <p:cNvSpPr txBox="1">
            <a:spLocks noGrp="1"/>
          </p:cNvSpPr>
          <p:nvPr>
            <p:ph type="title"/>
          </p:nvPr>
        </p:nvSpPr>
        <p:spPr>
          <a:xfrm>
            <a:off x="916650" y="195813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 comprender todo</a:t>
            </a:r>
            <a:endParaRPr dirty="0"/>
          </a:p>
        </p:txBody>
      </p:sp>
      <p:sp>
        <p:nvSpPr>
          <p:cNvPr id="1321" name="Google Shape;1321;p85"/>
          <p:cNvSpPr txBox="1"/>
          <p:nvPr/>
        </p:nvSpPr>
        <p:spPr>
          <a:xfrm>
            <a:off x="623399" y="939139"/>
            <a:ext cx="11089629" cy="117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000000"/>
                </a:solidFill>
                <a:ea typeface="Roboto"/>
                <a:cs typeface="Roboto"/>
                <a:sym typeface="Roboto"/>
              </a:rPr>
              <a:t>Ahora que ha finalizado la clase, se recomienda que vea el video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The</a:t>
            </a:r>
            <a:r>
              <a:rPr lang="es-ES" sz="2200" b="1" dirty="0">
                <a:ea typeface="Roboto"/>
                <a:cs typeface="Roboto"/>
                <a:sym typeface="Roboto"/>
              </a:rPr>
              <a:t> Fancy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Algorithms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That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Make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Your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Computer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Feel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Smoother</a:t>
            </a:r>
            <a:r>
              <a:rPr lang="es-ES" sz="2200" dirty="0">
                <a:solidFill>
                  <a:srgbClr val="000000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2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200" dirty="0">
                <a:solidFill>
                  <a:srgbClr val="000000"/>
                </a:solidFill>
                <a:ea typeface="Roboto"/>
                <a:cs typeface="Roboto"/>
                <a:sym typeface="Roboto"/>
              </a:rPr>
              <a:t>) para que refuerce los conceptos anteriormente explicados.</a:t>
            </a:r>
            <a:endParaRPr sz="2200" dirty="0">
              <a:solidFill>
                <a:srgbClr val="000000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322" name="Google Shape;1322;p85" descr="This video was sponsored by Brilliant.&#10;To try everything Brilliant has to offer—free—for a full 30 days, visit https://brilliant.org/CoreDumped. You’ll also get 20% off an annual premium subscription.&#10;&#10;Join CodeCrafters and learn by creating your own: Redis, Git, Http server, Interpreter, Grep... in your favorite programming language:&#10;https://app.codecrafters.io/join?via=jdvillal&#10;&#10;In this video we start talking about CPU scheduling.&#10;&#10;Timestamps:&#10;&#10;00:03 - Introduction&#10;00:52 - What is CPU Scheduling?&#10;01:14 - Scheduling Criteria&#10;01:30 - CPU Allocation&#10;02:46 - Process Management&#10;04:08 - FCFS Policy (Introduction)&#10;04:24 - I/O Waiting Nature of Processes&#10;05:18 - Sponsor Message&#10;06:29 - Deeper Look at I/O Wait Behavior&#10;08:23 - CPU Bursts vs I/O Bursts&#10;09:52 - CPU Utilization&#10;10:36 - Lifetime of a Process (States)&#10;13:02 - The Dispatcher&#10;14:24 - Scheduler vs Dispatcher&#10;14:38 - Dispatch Latency&#10;15:21 - FCFS Policy (Implementation)&#10;15:58 - FCFS Drawbacks&#10;16:19 - I/O Bound vs CPU-Bound Processes&#10;18:25 - Shortest Job First (SJF) Policy&#10;19:16 - Average Waiting Time&#10;20:16 - Predicting the Next CPU Bursts&#10;24:42 - Preemptive vs Non-Preemptive Scheduling&#10;26:58 - Starvation&#10;27:58 - Round Robin Policy &amp; Time Quantum&#10;29:19 - Hardware Timer&#10;30:33 - Context Switch Overhead&#10;31:04 - Turnaround Time &amp; Trhoughput&#10;32:15 - Response Time&#10;32:54 - Round Robin &amp; Concurency Concerns&#10;34:18 - Priority Scheduling&#10;36:14 - Aging (Starvation Prevention)&#10;37:35 - Multilevel Queue Scheduling&#10;39:11 - Multilevel Feedback Queue Scheduling&#10;43:06 - Mention of Advanced Schedling Techniques&#10;43:33 - Final Clarifications (Threads and I/O queues)&#10;&#10;Questions and business contact:&#10;contact.coredumped@gmail.com&#10;&#10;Sponsor my work on Github:&#10;https://github.com/jdvillal&#10;&#10;Join our discord server:&#10;https://discord.gg/szyQsXfzuv&#10;&#10;Follow me on twitter:&#10; https://twittter.com/coredumpped    &#10;&#10;Twitch:&#10; https://twitch.tv/coredumpped" title="The Fancy Algorithms That Make Your Computer Feel Smoother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0632" y="2111214"/>
            <a:ext cx="7390736" cy="4193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6"/>
          <p:cNvSpPr txBox="1">
            <a:spLocks noGrp="1"/>
          </p:cNvSpPr>
          <p:nvPr>
            <p:ph type="title"/>
          </p:nvPr>
        </p:nvSpPr>
        <p:spPr>
          <a:xfrm>
            <a:off x="464949" y="96038"/>
            <a:ext cx="875570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Referencias</a:t>
            </a:r>
            <a:endParaRPr sz="3200" b="1" dirty="0">
              <a:solidFill>
                <a:srgbClr val="701E5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28" name="Google Shape;1328;p86"/>
          <p:cNvSpPr txBox="1">
            <a:spLocks noGrp="1"/>
          </p:cNvSpPr>
          <p:nvPr>
            <p:ph type="body" idx="1"/>
          </p:nvPr>
        </p:nvSpPr>
        <p:spPr>
          <a:xfrm>
            <a:off x="185980" y="753300"/>
            <a:ext cx="11341520" cy="593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 err="1">
                <a:latin typeface="+mn-lt"/>
              </a:rPr>
              <a:t>Operating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Systems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Three</a:t>
            </a:r>
            <a:r>
              <a:rPr lang="es-ES" sz="2200" b="1" dirty="0">
                <a:latin typeface="+mn-lt"/>
              </a:rPr>
              <a:t> Easy </a:t>
            </a:r>
            <a:r>
              <a:rPr lang="es-ES" sz="2200" b="1" dirty="0" err="1">
                <a:latin typeface="+mn-lt"/>
              </a:rPr>
              <a:t>Pieces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dirty="0">
                <a:latin typeface="+mn-lt"/>
              </a:rPr>
              <a:t>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200" dirty="0">
                <a:latin typeface="+mn-lt"/>
              </a:rPr>
              <a:t>: Capítulos 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1</a:t>
            </a:r>
            <a:r>
              <a:rPr lang="es-ES" sz="2200" dirty="0">
                <a:latin typeface="+mn-lt"/>
              </a:rPr>
              <a:t> y 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2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Videos de </a:t>
            </a:r>
            <a:r>
              <a:rPr lang="es-ES" sz="2200" dirty="0" err="1">
                <a:latin typeface="+mn-lt"/>
              </a:rPr>
              <a:t>youtube</a:t>
            </a:r>
            <a:r>
              <a:rPr lang="es-ES" sz="2200" dirty="0">
                <a:latin typeface="+mn-lt"/>
              </a:rPr>
              <a:t>: Clase 1 - Introducción a los sistemas operativos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Página de </a:t>
            </a:r>
            <a:r>
              <a:rPr lang="es-ES" sz="2200" dirty="0" err="1">
                <a:latin typeface="+mn-lt"/>
              </a:rPr>
              <a:t>Remzi</a:t>
            </a:r>
            <a:r>
              <a:rPr lang="es-ES" sz="2200" dirty="0">
                <a:latin typeface="+mn-lt"/>
              </a:rPr>
              <a:t> H. </a:t>
            </a:r>
            <a:r>
              <a:rPr lang="es-ES" sz="2200" dirty="0" err="1">
                <a:latin typeface="+mn-lt"/>
              </a:rPr>
              <a:t>Arpaci-Dusseau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Concepts</a:t>
            </a:r>
            <a:r>
              <a:rPr lang="es-ES" sz="2200" dirty="0">
                <a:latin typeface="+mn-lt"/>
              </a:rPr>
              <a:t> - </a:t>
            </a:r>
            <a:r>
              <a:rPr lang="es-ES" sz="2200" dirty="0" err="1">
                <a:latin typeface="+mn-lt"/>
              </a:rPr>
              <a:t>Tenth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Edition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8"/>
              </a:rPr>
              <a:t>website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Systems</a:t>
            </a:r>
            <a:r>
              <a:rPr lang="es-ES" sz="2200" dirty="0">
                <a:latin typeface="+mn-lt"/>
              </a:rPr>
              <a:t> Notes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https://github.com/Aniruddha-Tapas/Operating-Systems-Notes/blob/master/1-Overview.md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https://myaut.github.io/dtrace-stap-book/kernel/proc.html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https://myaut.github.io/dtrace-stap-book/index.html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https://www.technologyuk.net/computing/computer-software/operating-systems/operating-system-utilities.shtml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https://courses.cs.duke.edu/spring19/compsci590.1/slides/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https://os-lab-simulator.vercel.app/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6"/>
              </a:rPr>
              <a:t>http://cpuburst.com/</a:t>
            </a:r>
            <a:r>
              <a:rPr lang="es-ES" sz="2200" dirty="0">
                <a:latin typeface="+mn-lt"/>
              </a:rPr>
              <a:t>  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7"/>
              </a:rPr>
              <a:t>https://www.merlot.org/merlot/viewMaterial.htm?id=773407108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</TotalTime>
  <Words>4380</Words>
  <Application>Microsoft Office PowerPoint</Application>
  <PresentationFormat>Panorámica</PresentationFormat>
  <Paragraphs>1425</Paragraphs>
  <Slides>60</Slides>
  <Notes>60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70" baseType="lpstr">
      <vt:lpstr>Roboto Slab</vt:lpstr>
      <vt:lpstr>Consolas</vt:lpstr>
      <vt:lpstr>Roboto</vt:lpstr>
      <vt:lpstr>Calibri</vt:lpstr>
      <vt:lpstr>Courier New</vt:lpstr>
      <vt:lpstr>Arial</vt:lpstr>
      <vt:lpstr>Calibri Light</vt:lpstr>
      <vt:lpstr>Times New Roman</vt:lpstr>
      <vt:lpstr>Cambria Math</vt:lpstr>
      <vt:lpstr>Office Theme</vt:lpstr>
      <vt:lpstr>Apuntes clase 5</vt:lpstr>
      <vt:lpstr>Procesos</vt:lpstr>
      <vt:lpstr>Procesos</vt:lpstr>
      <vt:lpstr>Ejecución directa limitada</vt:lpstr>
      <vt:lpstr>Aproximaciones – Cambio de contexto</vt:lpstr>
      <vt:lpstr>Contextualización</vt:lpstr>
      <vt:lpstr>Contextualización</vt:lpstr>
      <vt:lpstr>Suposiciones de carga de trabajo </vt:lpstr>
      <vt:lpstr>Suposiciones de carga de trabajo </vt:lpstr>
      <vt:lpstr>Suposiciones de carga de trabajo </vt:lpstr>
      <vt:lpstr>Suposiciones de carga de trabajo </vt:lpstr>
      <vt:lpstr>Suposiciones de carga de trabajo </vt:lpstr>
      <vt:lpstr>Suposiciones de carga de trabajo </vt:lpstr>
      <vt:lpstr>Métricas de planificación</vt:lpstr>
      <vt:lpstr>Métricas de planificación</vt:lpstr>
      <vt:lpstr>Algoritmos de planificación de procesos</vt:lpstr>
      <vt:lpstr>First-Come, First-Served (FCFS)</vt:lpstr>
      <vt:lpstr>First-Come, First-Served (FCFS)</vt:lpstr>
      <vt:lpstr>First-Come, First-Served (FCFS)</vt:lpstr>
      <vt:lpstr>First-Come, First-Served (FCFS)</vt:lpstr>
      <vt:lpstr>Relajación de las suposiciones ideales</vt:lpstr>
      <vt:lpstr>First-Come, First-Served (FCFS)</vt:lpstr>
      <vt:lpstr>First-Come, First-Served (FCFS)</vt:lpstr>
      <vt:lpstr>First-Come, First-Served (FCFS)</vt:lpstr>
      <vt:lpstr>Presentación de PowerPoint</vt:lpstr>
      <vt:lpstr>Efecto Convoy</vt:lpstr>
      <vt:lpstr>Shortest Job First (SJF)</vt:lpstr>
      <vt:lpstr>Shortest Job First (SJF)</vt:lpstr>
      <vt:lpstr>Shortest Job First (SJF)</vt:lpstr>
      <vt:lpstr>Shortest Job First (SJF)</vt:lpstr>
      <vt:lpstr>Relajación de las suposiciones ideales</vt:lpstr>
      <vt:lpstr>Shortest Job First (SJF)</vt:lpstr>
      <vt:lpstr>Shortest Job First (SJF)</vt:lpstr>
      <vt:lpstr>Shortest Job First (SJF)</vt:lpstr>
      <vt:lpstr>Shortest Job First (SJF)</vt:lpstr>
      <vt:lpstr>Shortest Time-to-Completion First (STCF)</vt:lpstr>
      <vt:lpstr>Relajando las suposiciones ideales</vt:lpstr>
      <vt:lpstr>Shortest Time-to-Completion First (STCF)</vt:lpstr>
      <vt:lpstr>Shortest Time-to-Completion First (STCF)</vt:lpstr>
      <vt:lpstr>Shortest Time-to-Completion First (STCF)</vt:lpstr>
      <vt:lpstr>Shortest Time-to-Completion First (STCF)</vt:lpstr>
      <vt:lpstr>Resumen algoritmos de planificación (FCFS, SJF, STCF)</vt:lpstr>
      <vt:lpstr>Resumen algoritmos de planificación (FCFS, SJF, STCF)</vt:lpstr>
      <vt:lpstr>Resumen algoritmos de planificación (FCFS, SJF, STCF)</vt:lpstr>
      <vt:lpstr>Response time</vt:lpstr>
      <vt:lpstr>Round Robin (RR)</vt:lpstr>
      <vt:lpstr>Round Robin (RR)</vt:lpstr>
      <vt:lpstr>Round Robin (RR)</vt:lpstr>
      <vt:lpstr>Algoritmo (SJF)</vt:lpstr>
      <vt:lpstr>Round Robin (RR)</vt:lpstr>
      <vt:lpstr>Round Robin (RR)</vt:lpstr>
      <vt:lpstr>Round Robin (RR) .vs. Shortest job first (SJF)</vt:lpstr>
      <vt:lpstr>Round Robin (RR)</vt:lpstr>
      <vt:lpstr>Relajando las suposiciones ideales</vt:lpstr>
      <vt:lpstr>Incorporando I/O</vt:lpstr>
      <vt:lpstr>Incorporando I/O</vt:lpstr>
      <vt:lpstr>Incorporando I/O</vt:lpstr>
      <vt:lpstr>Incorporando I/O</vt:lpstr>
      <vt:lpstr>Para comprender todo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clase 5</dc:title>
  <cp:lastModifiedBy>HENRY ALBERTO ARCILA RAMIREZ</cp:lastModifiedBy>
  <cp:revision>33</cp:revision>
  <dcterms:modified xsi:type="dcterms:W3CDTF">2026-08-16T23:24:33Z</dcterms:modified>
</cp:coreProperties>
</file>