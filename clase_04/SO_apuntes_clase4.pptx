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5"/>
  </p:notesMasterIdLst>
  <p:sldIdLst>
    <p:sldId id="256" r:id="rId2"/>
    <p:sldId id="258" r:id="rId3"/>
    <p:sldId id="262" r:id="rId4"/>
    <p:sldId id="263" r:id="rId5"/>
    <p:sldId id="264" r:id="rId6"/>
    <p:sldId id="266" r:id="rId7"/>
    <p:sldId id="268" r:id="rId8"/>
    <p:sldId id="269" r:id="rId9"/>
    <p:sldId id="270" r:id="rId10"/>
    <p:sldId id="272" r:id="rId11"/>
    <p:sldId id="273" r:id="rId12"/>
    <p:sldId id="274" r:id="rId13"/>
    <p:sldId id="309" r:id="rId14"/>
    <p:sldId id="277" r:id="rId15"/>
    <p:sldId id="278" r:id="rId16"/>
    <p:sldId id="279" r:id="rId17"/>
    <p:sldId id="280" r:id="rId18"/>
    <p:sldId id="281" r:id="rId19"/>
    <p:sldId id="310" r:id="rId20"/>
    <p:sldId id="311" r:id="rId21"/>
    <p:sldId id="283" r:id="rId22"/>
    <p:sldId id="286" r:id="rId23"/>
    <p:sldId id="284" r:id="rId24"/>
    <p:sldId id="285" r:id="rId25"/>
    <p:sldId id="282" r:id="rId26"/>
    <p:sldId id="313" r:id="rId27"/>
    <p:sldId id="314" r:id="rId28"/>
    <p:sldId id="287" r:id="rId29"/>
    <p:sldId id="317" r:id="rId30"/>
    <p:sldId id="305" r:id="rId31"/>
    <p:sldId id="288" r:id="rId32"/>
    <p:sldId id="290" r:id="rId33"/>
    <p:sldId id="289" r:id="rId34"/>
    <p:sldId id="315" r:id="rId35"/>
    <p:sldId id="307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4" r:id="rId45"/>
    <p:sldId id="308" r:id="rId46"/>
    <p:sldId id="299" r:id="rId47"/>
    <p:sldId id="316" r:id="rId48"/>
    <p:sldId id="300" r:id="rId49"/>
    <p:sldId id="301" r:id="rId50"/>
    <p:sldId id="306" r:id="rId51"/>
    <p:sldId id="257" r:id="rId52"/>
    <p:sldId id="302" r:id="rId53"/>
    <p:sldId id="303" r:id="rId54"/>
  </p:sldIdLst>
  <p:sldSz cx="12192000" cy="6858000"/>
  <p:notesSz cx="6858000" cy="9144000"/>
  <p:embeddedFontLs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Calibri Light" panose="020F0302020204030204" pitchFamily="34" charset="0"/>
      <p:regular r:id="rId60"/>
      <p:italic r:id="rId61"/>
    </p:embeddedFont>
    <p:embeddedFont>
      <p:font typeface="Consolas" panose="020B0609020204030204" pitchFamily="49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  <p:embeddedFont>
      <p:font typeface="Roboto Slab" panose="020B0604020202020204" charset="0"/>
      <p:regular r:id="rId70"/>
      <p:bold r:id="rId71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39004B-9025-4134-980C-2776F01560DB}">
  <a:tblStyle styleId="{3A39004B-9025-4134-980C-2776F01560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9EFA35-8E2C-4024-A639-D8BE7C1875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02" autoAdjust="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02fc7111b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02fc7111b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02fc7111b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g102fc7111b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02fc7111b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g102fc7111b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02fc7111bf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02fc7111bf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02fc7111b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02fc7111b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02fc7111b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02fc7111b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57613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2fc7111bf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02fc7111bf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02fc7111bf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02fc7111bf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4435f2ba9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4435f2ba9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2fc7111bf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2fc7111bf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02fc7111bf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02fc7111bf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2fc7111bf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2fc7111bf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81511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2fc7111bf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2fc7111bf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14179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02fc7111bf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02fc7111bf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02fc7111bf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02fc7111bf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02fc7111bf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02fc7111bf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02fc7111bf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02fc7111bf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2fc7111bf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2fc7111bf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2fc7111bf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2fc7111bf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217395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2fc7111bf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2fc7111bf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397364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02fc7111bf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02fc7111bf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02fc7111bf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02fc7111bf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180985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2fc7111bf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2fc7111bf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208389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2fc7111bf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2fc7111bf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2fc7111bf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2fc7111bf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02fc7111bf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02fc7111bf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2fc7111bf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2fc7111bf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99900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2fc7111bf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2fc7111bf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130713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02fc7111bf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02fc7111bf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02fc7111bf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02fc7111bf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02fc7111bf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102fc7111bf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02fc7111bf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02fc7111bf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060b682f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060b682f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05e10d57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05e10d57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05e10d5716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05e10d5716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05e10d571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05e10d571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05e10d571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05e10d571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287799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05e10d571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05e10d571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341484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05e10d571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05e10d5716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2fc7111bf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2fc7111bf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22542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05e10d5716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05e10d5716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05e10d5716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05e10d5716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05e10d5716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05e10d5716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922219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9b4f7c9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2b9b4f7c9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4438efad0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4438efad0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807" name="Google Shape;807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E0217-4249-4C2F-8DA2-736306FDA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CDA89B-8150-4766-82ED-492F4BE09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1E6FEB-C1B2-4204-AA5D-4B8D5D64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FB2E1-1DAB-4758-A1B8-E9F3A43A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8FFD1C-14B1-40DD-B248-0524DF47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7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919D6-1C7D-4A67-869B-2402F1E1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F52F4E-17C4-4508-964F-2254ED459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45B28-95FC-4E26-AA91-558958FA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668859-CD5C-43DA-B904-B37D9E90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F87AAD-D3D8-4D7D-84E1-37DA994E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5206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EF0C7-A3CF-4E5D-BA05-4F326B09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E634FB-C4A6-4347-99BB-12FB57BB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6442AE-025D-4A94-A238-EEDA7DE9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837CB-4022-4197-A9A2-DB4EC85D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71F01-1E9C-47F8-A7F6-93D494BD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352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FEF40-3DBC-4DA4-9FA8-70330980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4CA1B2-2C32-45E0-8BF0-29E16AF63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7557C0-BBB6-44CD-AF02-9D934EA0A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CDA1CF-6004-4475-BDCA-2F253B50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A8BBD7-A660-412A-901A-BB500357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1EBD7B-7AC6-4F59-9A8F-A49289E6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22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E536F-7C7B-439E-BF9C-AB2105B6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BD14BE-5F65-4465-97DE-EE14677E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377CCF-8834-4AF2-895B-FE0EF170D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607917-CDEA-4F0D-8D64-452982A60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DD16B2-A525-4E22-AAAD-2091C531A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0B6A48-D1F1-4D9F-84EF-279FAFB9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F24352-E31E-4673-AFFE-0A738561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010E5A-6CEB-46CD-90FA-D8D341F9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368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8149A-8746-4562-89AE-0F195633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EF76E6-2066-4D5E-9B4F-B131928F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B83188-4863-46D3-9A52-839E5AB6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13FD59-2E8A-4584-A7D3-8198FFB3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5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8AA62C-50DF-418A-BCAA-25444E38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36A32A-771C-444D-B690-44D216A1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ABDE6E-1A00-4DF4-B45C-27F46213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1313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57CED-6D34-4363-8341-2F6CE005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F7A275-D67C-4E0C-9520-66F70EC19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78B172-C997-4093-BFE5-54950EFB3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7F81A9-59C4-4465-8215-158A02C3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889C21-55A1-419D-8FF4-0E647210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0BAD7D-1DCA-416D-8FB9-D0D2B786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00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4247B-6F6A-4E8B-9D09-59471714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0851CA-8D6A-4812-B22F-006B3D729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A29785-BE73-4FF5-9687-33B274F96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BBA712-336C-4DCE-87AD-FA15535EA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C7CA56-4598-4354-B9F8-D7462C74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54F0F8-C2CE-4B70-A190-C939E136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64415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A089B-6419-4500-BC69-376F6E9D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228097-8937-446C-A9AE-F28623D1A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B4A7FE-8722-4C7D-AE77-727CD2669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18D17-E5BA-4683-9BF9-B5CF79F8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6AB056-BBEC-477A-BA6A-A68A682C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131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9032EA-818C-4A6D-AE16-3AD938BB9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5E4ED8-DCA2-4591-BE81-610D80D84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40C6C-5620-411E-8AAD-FF5CC1EE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B22AE-DC15-45CD-8A51-EA9935FE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8CE9E8-AA6D-4D60-B0C9-2E1499AD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103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43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657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95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890395-89C7-48E9-B541-CECB61EF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F3BCA3-A197-4B24-8464-45ACF82A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2B99BD-C859-4082-B27D-3AF63E416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98C5E8-3B7E-44F1-81ED-4A46A8E95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427DB8-D865-4CD5-B088-F12314BA6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70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X86_instruction_listing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e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intel.com/content/dam/www/public/us/en/documents/manuals/64-ia-32-architectures-software-developer-vol-3a-part-1-manual.pdf" TargetMode="Externa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hyperlink" Target="https://blog.bytebytego.com/p/ep88-linux-boot-process-explained" TargetMode="External"/><Relationship Id="rId4" Type="http://schemas.openxmlformats.org/officeDocument/2006/relationships/hyperlink" Target="https://www.youtube.com/watch?v=PSnGuvylWBI" TargetMode="External"/><Relationship Id="rId9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trap.c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lemis.com/grog/Documentation/Lions/book.pdf" TargetMode="External"/><Relationship Id="rId5" Type="http://schemas.openxmlformats.org/officeDocument/2006/relationships/hyperlink" Target="https://github.com/mit-pdos/xv6-public/blob/master/vectors.pl" TargetMode="External"/><Relationship Id="rId4" Type="http://schemas.openxmlformats.org/officeDocument/2006/relationships/hyperlink" Target="https://github.com/mit-pdos/xv6-public/blob/master/trapasm.S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proc.h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www.lemis.com/grog/Documentation/Lions/book.pdf" TargetMode="External"/><Relationship Id="rId4" Type="http://schemas.openxmlformats.org/officeDocument/2006/relationships/hyperlink" Target="https://github.com/mit-pdos/xv6-public/blob/master/proc.c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medium.com/@humbertofilho_30158/operating-systems-limited-direct-execution-c8352a47934d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trap.c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lemis.com/grog/Documentation/Lions/book.pdf" TargetMode="External"/><Relationship Id="rId5" Type="http://schemas.openxmlformats.org/officeDocument/2006/relationships/hyperlink" Target="https://github.com/mit-pdos/xv6-public/blob/master/vectors.pl" TargetMode="External"/><Relationship Id="rId4" Type="http://schemas.openxmlformats.org/officeDocument/2006/relationships/hyperlink" Target="https://github.com/mit-pdos/xv6-public/blob/master/trapasm.S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humbertofilho_30158/operating-systems-limited-direct-execution-c8352a47934d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witter.com/b0rk/status/804200666226900992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4SDPLiUnv4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0.jpg"/><Relationship Id="rId4" Type="http://schemas.openxmlformats.org/officeDocument/2006/relationships/hyperlink" Target="http://www.youtube.com/watch?v=H4SDPLiUnv4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18" Type="http://schemas.openxmlformats.org/officeDocument/2006/relationships/hyperlink" Target="https://www.omscs-notes.com/operating-systems/io-management/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17" Type="http://schemas.openxmlformats.org/officeDocument/2006/relationships/hyperlink" Target="https://github.com/cfenollosa/os-tutorial" TargetMode="External"/><Relationship Id="rId2" Type="http://schemas.openxmlformats.org/officeDocument/2006/relationships/notesSlide" Target="../notesSlides/notesSlide53.xml"/><Relationship Id="rId16" Type="http://schemas.openxmlformats.org/officeDocument/2006/relationships/hyperlink" Target="https://w3.cs.jmu.edu/kirkpams/OpenCSF/Books/csf/html/index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1913060" y="2128074"/>
            <a:ext cx="9144000" cy="112788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clase 4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2316182" y="3255962"/>
            <a:ext cx="8337755" cy="27987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O" sz="4000" b="1" dirty="0"/>
              <a:t>Ejecución directa limitada</a:t>
            </a:r>
          </a:p>
          <a:p>
            <a:r>
              <a:rPr lang="es-CO" sz="3600" b="1" dirty="0"/>
              <a:t>Sistemas Operativos</a:t>
            </a:r>
          </a:p>
          <a:p>
            <a:r>
              <a:rPr lang="es-CO" sz="2800" dirty="0"/>
              <a:t>Universidad de Antioquia</a:t>
            </a:r>
          </a:p>
          <a:p>
            <a:r>
              <a:rPr lang="es-CO" sz="2800" dirty="0"/>
              <a:t>Facultad de Ingeniería</a:t>
            </a:r>
          </a:p>
          <a:p>
            <a:r>
              <a:rPr lang="es-CO" sz="28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Agenda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464126" y="999450"/>
            <a:ext cx="11173691" cy="34062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457200">
              <a:buSzPts val="2700"/>
            </a:pPr>
            <a:r>
              <a:rPr lang="es-ES" sz="2700" dirty="0"/>
              <a:t>Repaso clase anterior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Contexto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MX" sz="2700" dirty="0"/>
              <a:t>Ejecución directa limitada</a:t>
            </a:r>
            <a:endParaRPr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572580" y="188499"/>
            <a:ext cx="10515600" cy="7111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pic>
        <p:nvPicPr>
          <p:cNvPr id="16" name="Google Shape;383;p33">
            <a:extLst>
              <a:ext uri="{FF2B5EF4-FFF2-40B4-BE49-F238E27FC236}">
                <a16:creationId xmlns:a16="http://schemas.microsoft.com/office/drawing/2014/main" id="{0FBCE3D7-78A1-4C9F-B550-D3C46E3D5D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7135" y="1736718"/>
            <a:ext cx="1001045" cy="144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384;p33">
            <a:extLst>
              <a:ext uri="{FF2B5EF4-FFF2-40B4-BE49-F238E27FC236}">
                <a16:creationId xmlns:a16="http://schemas.microsoft.com/office/drawing/2014/main" id="{F1188408-D967-4182-815F-708833FCB1D7}"/>
              </a:ext>
            </a:extLst>
          </p:cNvPr>
          <p:cNvGrpSpPr/>
          <p:nvPr/>
        </p:nvGrpSpPr>
        <p:grpSpPr>
          <a:xfrm>
            <a:off x="7368493" y="1321341"/>
            <a:ext cx="2595827" cy="2527604"/>
            <a:chOff x="7105058" y="2798800"/>
            <a:chExt cx="3632892" cy="3017775"/>
          </a:xfrm>
        </p:grpSpPr>
        <p:pic>
          <p:nvPicPr>
            <p:cNvPr id="18" name="Google Shape;385;p33">
              <a:extLst>
                <a:ext uri="{FF2B5EF4-FFF2-40B4-BE49-F238E27FC236}">
                  <a16:creationId xmlns:a16="http://schemas.microsoft.com/office/drawing/2014/main" id="{73B50489-7F53-4936-9EA0-555CA47FB7F2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05058" y="2798800"/>
              <a:ext cx="3632892" cy="30177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" name="Google Shape;386;p33">
              <a:extLst>
                <a:ext uri="{FF2B5EF4-FFF2-40B4-BE49-F238E27FC236}">
                  <a16:creationId xmlns:a16="http://schemas.microsoft.com/office/drawing/2014/main" id="{1D34EC0B-EDF8-4D6F-946D-6675A985ECE7}"/>
                </a:ext>
              </a:extLst>
            </p:cNvPr>
            <p:cNvGrpSpPr/>
            <p:nvPr/>
          </p:nvGrpSpPr>
          <p:grpSpPr>
            <a:xfrm>
              <a:off x="7884925" y="4237125"/>
              <a:ext cx="1553700" cy="949500"/>
              <a:chOff x="7884925" y="4237125"/>
              <a:chExt cx="1553700" cy="949500"/>
            </a:xfrm>
          </p:grpSpPr>
          <p:sp>
            <p:nvSpPr>
              <p:cNvPr id="20" name="Google Shape;387;p33">
                <a:extLst>
                  <a:ext uri="{FF2B5EF4-FFF2-40B4-BE49-F238E27FC236}">
                    <a16:creationId xmlns:a16="http://schemas.microsoft.com/office/drawing/2014/main" id="{6113DA38-0295-4CCE-ACFA-BDC274A526A9}"/>
                  </a:ext>
                </a:extLst>
              </p:cNvPr>
              <p:cNvSpPr/>
              <p:nvPr/>
            </p:nvSpPr>
            <p:spPr>
              <a:xfrm>
                <a:off x="7884925" y="4237125"/>
                <a:ext cx="1553700" cy="949500"/>
              </a:xfrm>
              <a:prstGeom prst="foldedCorner">
                <a:avLst>
                  <a:gd name="adj" fmla="val 16667"/>
                </a:avLst>
              </a:prstGeom>
              <a:solidFill>
                <a:srgbClr val="F3F3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88;p33">
                <a:extLst>
                  <a:ext uri="{FF2B5EF4-FFF2-40B4-BE49-F238E27FC236}">
                    <a16:creationId xmlns:a16="http://schemas.microsoft.com/office/drawing/2014/main" id="{78269732-18F3-41CA-9935-56E1DC5F4CC9}"/>
                  </a:ext>
                </a:extLst>
              </p:cNvPr>
              <p:cNvSpPr/>
              <p:nvPr/>
            </p:nvSpPr>
            <p:spPr>
              <a:xfrm>
                <a:off x="8059050" y="4335075"/>
                <a:ext cx="1161600" cy="3081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/>
                  <a:t>Code</a:t>
                </a:r>
                <a:endParaRPr dirty="0"/>
              </a:p>
            </p:txBody>
          </p:sp>
          <p:sp>
            <p:nvSpPr>
              <p:cNvPr id="22" name="Google Shape;389;p33">
                <a:extLst>
                  <a:ext uri="{FF2B5EF4-FFF2-40B4-BE49-F238E27FC236}">
                    <a16:creationId xmlns:a16="http://schemas.microsoft.com/office/drawing/2014/main" id="{B09DEBF4-A38C-46B1-A21F-052AA96A6724}"/>
                  </a:ext>
                </a:extLst>
              </p:cNvPr>
              <p:cNvSpPr/>
              <p:nvPr/>
            </p:nvSpPr>
            <p:spPr>
              <a:xfrm>
                <a:off x="8061050" y="4711300"/>
                <a:ext cx="1161600" cy="3081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Data</a:t>
                </a:r>
                <a:endParaRPr/>
              </a:p>
            </p:txBody>
          </p:sp>
        </p:grpSp>
      </p:grpSp>
      <p:pic>
        <p:nvPicPr>
          <p:cNvPr id="23" name="Google Shape;396;p34">
            <a:extLst>
              <a:ext uri="{FF2B5EF4-FFF2-40B4-BE49-F238E27FC236}">
                <a16:creationId xmlns:a16="http://schemas.microsoft.com/office/drawing/2014/main" id="{1184DA55-096C-44A6-969B-F315A331B08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6416" y="1619351"/>
            <a:ext cx="1275435" cy="91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99;p34">
            <a:extLst>
              <a:ext uri="{FF2B5EF4-FFF2-40B4-BE49-F238E27FC236}">
                <a16:creationId xmlns:a16="http://schemas.microsoft.com/office/drawing/2014/main" id="{CF4433C5-3447-43F0-B265-D8AEDFDF839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0249" y="1626733"/>
            <a:ext cx="1275435" cy="91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00;p34">
            <a:extLst>
              <a:ext uri="{FF2B5EF4-FFF2-40B4-BE49-F238E27FC236}">
                <a16:creationId xmlns:a16="http://schemas.microsoft.com/office/drawing/2014/main" id="{E32EE9EE-43DB-47FA-9D3E-F0062F425B1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4865" y="2561123"/>
            <a:ext cx="711420" cy="57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401;p34">
            <a:extLst>
              <a:ext uri="{FF2B5EF4-FFF2-40B4-BE49-F238E27FC236}">
                <a16:creationId xmlns:a16="http://schemas.microsoft.com/office/drawing/2014/main" id="{A13F1871-0A54-4E69-A3A3-98E72802ECE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8424" y="2531181"/>
            <a:ext cx="711420" cy="57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49;p30">
            <a:extLst>
              <a:ext uri="{FF2B5EF4-FFF2-40B4-BE49-F238E27FC236}">
                <a16:creationId xmlns:a16="http://schemas.microsoft.com/office/drawing/2014/main" id="{E3A2A29E-BE84-4004-83B8-09AEDFA7456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11173" y="3333728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350;p30">
            <a:extLst>
              <a:ext uri="{FF2B5EF4-FFF2-40B4-BE49-F238E27FC236}">
                <a16:creationId xmlns:a16="http://schemas.microsoft.com/office/drawing/2014/main" id="{DA1B8AD5-38AB-4245-902C-CBB4D8B7ADF3}"/>
              </a:ext>
            </a:extLst>
          </p:cNvPr>
          <p:cNvCxnSpPr>
            <a:cxnSpLocks/>
          </p:cNvCxnSpPr>
          <p:nvPr/>
        </p:nvCxnSpPr>
        <p:spPr>
          <a:xfrm>
            <a:off x="2087672" y="3247697"/>
            <a:ext cx="3534979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" name="Google Shape;485;p40">
            <a:extLst>
              <a:ext uri="{FF2B5EF4-FFF2-40B4-BE49-F238E27FC236}">
                <a16:creationId xmlns:a16="http://schemas.microsoft.com/office/drawing/2014/main" id="{D70EE269-8454-488F-A89D-96CE115269B4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07755" y="4156671"/>
            <a:ext cx="4708713" cy="2639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2C66202-6C8B-46B8-A3AB-2531DBCBD329}"/>
              </a:ext>
            </a:extLst>
          </p:cNvPr>
          <p:cNvSpPr txBox="1"/>
          <p:nvPr/>
        </p:nvSpPr>
        <p:spPr>
          <a:xfrm>
            <a:off x="572580" y="1018768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Programa .vs. Proceso</a:t>
            </a:r>
            <a:endParaRPr lang="es-CO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>
          <a:xfrm>
            <a:off x="398206" y="365126"/>
            <a:ext cx="10955594" cy="72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El proceso como abstracción</a:t>
            </a:r>
            <a:endParaRPr dirty="0"/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225" y="3247555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24"/>
          <p:cNvGrpSpPr/>
          <p:nvPr/>
        </p:nvGrpSpPr>
        <p:grpSpPr>
          <a:xfrm>
            <a:off x="6849600" y="1790200"/>
            <a:ext cx="4549500" cy="4393500"/>
            <a:chOff x="5458950" y="1790200"/>
            <a:chExt cx="4549500" cy="4393500"/>
          </a:xfrm>
        </p:grpSpPr>
        <p:sp>
          <p:nvSpPr>
            <p:cNvPr id="221" name="Google Shape;221;p24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222;p24"/>
            <p:cNvGrpSpPr/>
            <p:nvPr/>
          </p:nvGrpSpPr>
          <p:grpSpPr>
            <a:xfrm>
              <a:off x="6072275" y="2608725"/>
              <a:ext cx="1368600" cy="2104675"/>
              <a:chOff x="6161500" y="2642175"/>
              <a:chExt cx="1368600" cy="2104675"/>
            </a:xfrm>
          </p:grpSpPr>
          <p:sp>
            <p:nvSpPr>
              <p:cNvPr id="223" name="Google Shape;223;p24"/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224" name="Google Shape;224;p24"/>
              <p:cNvGrpSpPr/>
              <p:nvPr/>
            </p:nvGrpSpPr>
            <p:grpSpPr>
              <a:xfrm>
                <a:off x="6161500" y="3042363"/>
                <a:ext cx="1338300" cy="1401900"/>
                <a:chOff x="6161500" y="3042363"/>
                <a:chExt cx="1338300" cy="1401900"/>
              </a:xfrm>
            </p:grpSpPr>
            <p:sp>
              <p:nvSpPr>
                <p:cNvPr id="225" name="Google Shape;225;p24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26" name="Google Shape;226;p24"/>
                <p:cNvGrpSpPr/>
                <p:nvPr/>
              </p:nvGrpSpPr>
              <p:grpSpPr>
                <a:xfrm>
                  <a:off x="6213550" y="3096950"/>
                  <a:ext cx="1096575" cy="430857"/>
                  <a:chOff x="6213550" y="3096950"/>
                  <a:chExt cx="1096575" cy="430857"/>
                </a:xfrm>
              </p:grpSpPr>
              <p:sp>
                <p:nvSpPr>
                  <p:cNvPr id="227" name="Google Shape;227;p24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" name="Google Shape;228;p24"/>
                  <p:cNvSpPr txBox="1"/>
                  <p:nvPr/>
                </p:nvSpPr>
                <p:spPr>
                  <a:xfrm>
                    <a:off x="6213550" y="3096950"/>
                    <a:ext cx="427500" cy="4308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sz="1600"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229" name="Google Shape;229;p24"/>
                <p:cNvGrpSpPr/>
                <p:nvPr/>
              </p:nvGrpSpPr>
              <p:grpSpPr>
                <a:xfrm>
                  <a:off x="6213550" y="3412550"/>
                  <a:ext cx="1096575" cy="430857"/>
                  <a:chOff x="6213550" y="3412550"/>
                  <a:chExt cx="1096575" cy="430857"/>
                </a:xfrm>
              </p:grpSpPr>
              <p:sp>
                <p:nvSpPr>
                  <p:cNvPr id="230" name="Google Shape;230;p24"/>
                  <p:cNvSpPr txBox="1"/>
                  <p:nvPr/>
                </p:nvSpPr>
                <p:spPr>
                  <a:xfrm>
                    <a:off x="6213550" y="3412550"/>
                    <a:ext cx="427500" cy="4308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sz="1600"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231" name="Google Shape;231;p24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32" name="Google Shape;232;p24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233" name="Google Shape;233;p24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34" name="Google Shape;234;p24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" name="Google Shape;235;p24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236" name="Google Shape;236;p24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7" name="Google Shape;237;p2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8" name="Google Shape;238;p24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39" name="Google Shape;239;p24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40" name="Google Shape;240;p2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241" name="Google Shape;241;p24"/>
                <p:cNvCxnSpPr>
                  <a:stCxn id="23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42" name="Google Shape;242;p24"/>
                <p:cNvCxnSpPr>
                  <a:stCxn id="24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43" name="Google Shape;243;p24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44" name="Google Shape;244;p24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45" name="Google Shape;245;p24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46" name="Google Shape;246;p24"/>
          <p:cNvCxnSpPr>
            <a:stCxn id="219" idx="3"/>
          </p:cNvCxnSpPr>
          <p:nvPr/>
        </p:nvCxnSpPr>
        <p:spPr>
          <a:xfrm rot="10800000" flipH="1">
            <a:off x="4153984" y="3710567"/>
            <a:ext cx="2035200" cy="324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78075" y="4075975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1026575" y="2376250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urier New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F48B58A-902D-4B5D-9A1B-DADFF8CBB3A1}"/>
              </a:ext>
            </a:extLst>
          </p:cNvPr>
          <p:cNvSpPr txBox="1"/>
          <p:nvPr/>
        </p:nvSpPr>
        <p:spPr>
          <a:xfrm>
            <a:off x="398206" y="1270544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El proceso como abstracción</a:t>
            </a:r>
            <a:endParaRPr lang="es-CO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/>
          </p:nvPr>
        </p:nvSpPr>
        <p:spPr>
          <a:xfrm>
            <a:off x="282679" y="365126"/>
            <a:ext cx="11071122" cy="72625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graphicFrame>
        <p:nvGraphicFramePr>
          <p:cNvPr id="255" name="Google Shape;255;p25"/>
          <p:cNvGraphicFramePr/>
          <p:nvPr>
            <p:extLst>
              <p:ext uri="{D42A27DB-BD31-4B8C-83A1-F6EECF244321}">
                <p14:modId xmlns:p14="http://schemas.microsoft.com/office/powerpoint/2010/main" val="1399536033"/>
              </p:ext>
            </p:extLst>
          </p:nvPr>
        </p:nvGraphicFramePr>
        <p:xfrm>
          <a:off x="282678" y="1814052"/>
          <a:ext cx="5813322" cy="3169740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1826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</a:rPr>
                        <a:t>Función</a:t>
                      </a:r>
                      <a:endParaRPr sz="1600" b="1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</a:rPr>
                        <a:t>Descripción</a:t>
                      </a:r>
                      <a:endParaRPr sz="1600" b="1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Crea un nuevo proceso para ejecutar un programa.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Eliminar (destroy)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Forzar la detención de un programa en ejecución.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Esperar (wait)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Espera que un proceso termine su ejecución.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Operaciones de control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Ej. Suspender un proceso.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Estado (status)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Información de estado del proceso.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2" descr="io">
            <a:extLst>
              <a:ext uri="{FF2B5EF4-FFF2-40B4-BE49-F238E27FC236}">
                <a16:creationId xmlns:a16="http://schemas.microsoft.com/office/drawing/2014/main" id="{28F920C2-F656-4C2A-8A2F-F767A73A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24" y="3676580"/>
            <a:ext cx="5515364" cy="266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oogle Shape;586;p51">
            <a:extLst>
              <a:ext uri="{FF2B5EF4-FFF2-40B4-BE49-F238E27FC236}">
                <a16:creationId xmlns:a16="http://schemas.microsoft.com/office/drawing/2014/main" id="{557820EB-79D6-4706-9E35-1EB5AE7C44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150" y="864144"/>
            <a:ext cx="3834650" cy="26604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BF3D615-6842-4DCF-918C-FC6B45B17BF2}"/>
              </a:ext>
            </a:extLst>
          </p:cNvPr>
          <p:cNvSpPr txBox="1"/>
          <p:nvPr/>
        </p:nvSpPr>
        <p:spPr>
          <a:xfrm>
            <a:off x="282678" y="1221884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API de procesos</a:t>
            </a:r>
            <a:endParaRPr lang="es-CO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421300" y="116605"/>
            <a:ext cx="10932500" cy="91090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pic>
        <p:nvPicPr>
          <p:cNvPr id="272" name="Google Shape;2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600" y="2598650"/>
            <a:ext cx="5971550" cy="34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7513100" y="2266275"/>
            <a:ext cx="4257600" cy="4079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registers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xv6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will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save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restore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stop and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subsequently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restart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context {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eip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esp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edi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ebp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different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states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can be in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latin typeface="Courier New"/>
                <a:ea typeface="Courier New"/>
                <a:cs typeface="Courier New"/>
                <a:sym typeface="Courier New"/>
              </a:rPr>
              <a:t>proc_state</a:t>
            </a: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{ UNUSED, EMBRYO, SLEEPING, 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urier New"/>
                <a:ea typeface="Courier New"/>
                <a:cs typeface="Courier New"/>
                <a:sym typeface="Courier New"/>
              </a:rPr>
              <a:t>                  RUNNABLE, RUNNING, ZOMBIE };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xv6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tracks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about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including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its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register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context and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                  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kstack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               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proc_state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      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                             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...                                   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interrupt</a:t>
            </a:r>
            <a:endParaRPr sz="11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27"/>
          <p:cNvSpPr txBox="1"/>
          <p:nvPr/>
        </p:nvSpPr>
        <p:spPr>
          <a:xfrm>
            <a:off x="7617875" y="1743075"/>
            <a:ext cx="4018602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Estructura </a:t>
            </a:r>
            <a:r>
              <a:rPr lang="es-ES" sz="2200" b="1" dirty="0" err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sz="22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del xv6</a:t>
            </a:r>
            <a:endParaRPr sz="900" dirty="0">
              <a:solidFill>
                <a:schemeClr val="accent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A22216C-2798-47A9-8647-53923B96B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00" y="1489177"/>
            <a:ext cx="10515600" cy="5076620"/>
          </a:xfrm>
        </p:spPr>
        <p:txBody>
          <a:bodyPr/>
          <a:lstStyle/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-US" sz="2000" dirty="0">
                <a:solidFill>
                  <a:srgbClr val="000000"/>
                </a:solidFill>
              </a:rPr>
              <a:t>Process table (PT)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-US" sz="2000" dirty="0">
                <a:solidFill>
                  <a:srgbClr val="000000"/>
                </a:solidFill>
              </a:rPr>
              <a:t>Process control Block (PCB)</a:t>
            </a:r>
          </a:p>
          <a:p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F8A548-FDE3-4366-81C3-6309FA55C539}"/>
              </a:ext>
            </a:extLst>
          </p:cNvPr>
          <p:cNvSpPr txBox="1"/>
          <p:nvPr/>
        </p:nvSpPr>
        <p:spPr>
          <a:xfrm>
            <a:off x="421300" y="1027512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Estructuras de datos asociadas a un proceso</a:t>
            </a:r>
            <a:endParaRPr lang="es-CO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>
            <a:spLocks noGrp="1"/>
          </p:cNvSpPr>
          <p:nvPr>
            <p:ph type="title"/>
          </p:nvPr>
        </p:nvSpPr>
        <p:spPr>
          <a:xfrm>
            <a:off x="459450" y="21812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2" name="Google Shape;292;p29"/>
          <p:cNvSpPr txBox="1">
            <a:spLocks noGrp="1"/>
          </p:cNvSpPr>
          <p:nvPr>
            <p:ph type="body" idx="1"/>
          </p:nvPr>
        </p:nvSpPr>
        <p:spPr>
          <a:xfrm>
            <a:off x="494534" y="1662139"/>
            <a:ext cx="11202932" cy="949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¿Cómo se logra la virtualización de la CPU de modo que cada proceso crea que tiene su propia CPU?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93" name="Google Shape;2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675" y="3384078"/>
            <a:ext cx="3680975" cy="22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0900" y="3073305"/>
            <a:ext cx="5538950" cy="311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>
            <a:spLocks noGrp="1"/>
          </p:cNvSpPr>
          <p:nvPr>
            <p:ph type="title"/>
          </p:nvPr>
        </p:nvSpPr>
        <p:spPr>
          <a:xfrm>
            <a:off x="612251" y="96038"/>
            <a:ext cx="86083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9120876" y="3138888"/>
            <a:ext cx="374100" cy="603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1A90F56-3AE7-47DD-9BEA-BAA90BDDD549}"/>
              </a:ext>
            </a:extLst>
          </p:cNvPr>
          <p:cNvSpPr txBox="1"/>
          <p:nvPr/>
        </p:nvSpPr>
        <p:spPr>
          <a:xfrm>
            <a:off x="612251" y="1045538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Multiprogramación</a:t>
            </a:r>
            <a:endParaRPr lang="es-CO" sz="2400" b="1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5ED9E0C-E2F8-473D-A92B-18D3344A2A07}"/>
              </a:ext>
            </a:extLst>
          </p:cNvPr>
          <p:cNvGrpSpPr/>
          <p:nvPr/>
        </p:nvGrpSpPr>
        <p:grpSpPr>
          <a:xfrm>
            <a:off x="526593" y="2133514"/>
            <a:ext cx="5720907" cy="3946950"/>
            <a:chOff x="450393" y="2133514"/>
            <a:chExt cx="5720907" cy="3946950"/>
          </a:xfrm>
        </p:grpSpPr>
        <p:graphicFrame>
          <p:nvGraphicFramePr>
            <p:cNvPr id="304" name="Google Shape;304;p30"/>
            <p:cNvGraphicFramePr/>
            <p:nvPr>
              <p:extLst>
                <p:ext uri="{D42A27DB-BD31-4B8C-83A1-F6EECF244321}">
                  <p14:modId xmlns:p14="http://schemas.microsoft.com/office/powerpoint/2010/main" val="902359316"/>
                </p:ext>
              </p:extLst>
            </p:nvPr>
          </p:nvGraphicFramePr>
          <p:xfrm>
            <a:off x="3564687" y="2133514"/>
            <a:ext cx="2606613" cy="3946950"/>
          </p:xfrm>
          <a:graphic>
            <a:graphicData uri="http://schemas.openxmlformats.org/drawingml/2006/table">
              <a:tbl>
                <a:tblPr>
                  <a:noFill/>
                  <a:tableStyleId>{3A39004B-9025-4134-980C-2776F01560DB}</a:tableStyleId>
                </a:tblPr>
                <a:tblGrid>
                  <a:gridCol w="260661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56063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21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Sistema Operativo</a:t>
                        </a:r>
                        <a:endParaRPr sz="2100" b="1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93C47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14872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9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9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22222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19213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9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Proceso 1 (P1)</a:t>
                        </a:r>
                        <a:endParaRPr sz="19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22222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22222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22222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FE2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19213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9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19213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9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Proceso 2 (P2)</a:t>
                        </a:r>
                        <a:endParaRPr sz="19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19213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9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Proceso 3 (P3)</a:t>
                        </a:r>
                        <a:endParaRPr sz="19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19213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9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24" name="Google Shape;306;p30">
              <a:extLst>
                <a:ext uri="{FF2B5EF4-FFF2-40B4-BE49-F238E27FC236}">
                  <a16:creationId xmlns:a16="http://schemas.microsoft.com/office/drawing/2014/main" id="{2AA3D80D-3A22-4FC4-8570-2392DBD930F3}"/>
                </a:ext>
              </a:extLst>
            </p:cNvPr>
            <p:cNvSpPr/>
            <p:nvPr/>
          </p:nvSpPr>
          <p:spPr>
            <a:xfrm>
              <a:off x="2835322" y="3662324"/>
              <a:ext cx="507300" cy="495712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dirty="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1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" name="Google Shape;307;p30">
              <a:extLst>
                <a:ext uri="{FF2B5EF4-FFF2-40B4-BE49-F238E27FC236}">
                  <a16:creationId xmlns:a16="http://schemas.microsoft.com/office/drawing/2014/main" id="{7EE519FA-FEA5-45CF-A177-D056315EE6A5}"/>
                </a:ext>
              </a:extLst>
            </p:cNvPr>
            <p:cNvSpPr/>
            <p:nvPr/>
          </p:nvSpPr>
          <p:spPr>
            <a:xfrm>
              <a:off x="2805052" y="4628229"/>
              <a:ext cx="507300" cy="495712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dirty="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1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" name="Google Shape;308;p30">
              <a:extLst>
                <a:ext uri="{FF2B5EF4-FFF2-40B4-BE49-F238E27FC236}">
                  <a16:creationId xmlns:a16="http://schemas.microsoft.com/office/drawing/2014/main" id="{45A5E3BA-D89F-4D31-AA5D-C8C781EBBD75}"/>
                </a:ext>
              </a:extLst>
            </p:cNvPr>
            <p:cNvSpPr/>
            <p:nvPr/>
          </p:nvSpPr>
          <p:spPr>
            <a:xfrm>
              <a:off x="2805052" y="5164677"/>
              <a:ext cx="507300" cy="495712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latin typeface="Courier New"/>
                  <a:ea typeface="Courier New"/>
                  <a:cs typeface="Courier New"/>
                  <a:sym typeface="Courier New"/>
                </a:rPr>
                <a:t>P3</a:t>
              </a:r>
              <a:endParaRPr sz="11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" name="Google Shape;311;p30">
              <a:extLst>
                <a:ext uri="{FF2B5EF4-FFF2-40B4-BE49-F238E27FC236}">
                  <a16:creationId xmlns:a16="http://schemas.microsoft.com/office/drawing/2014/main" id="{5CC68EBC-CC86-4D92-BF7C-3BD06003683C}"/>
                </a:ext>
              </a:extLst>
            </p:cNvPr>
            <p:cNvSpPr/>
            <p:nvPr/>
          </p:nvSpPr>
          <p:spPr>
            <a:xfrm>
              <a:off x="2736567" y="2314528"/>
              <a:ext cx="606055" cy="513218"/>
            </a:xfrm>
            <a:prstGeom prst="roundRect">
              <a:avLst>
                <a:gd name="adj" fmla="val 16667"/>
              </a:avLst>
            </a:prstGeom>
            <a:solidFill>
              <a:srgbClr val="93C47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200" dirty="0"/>
            </a:p>
          </p:txBody>
        </p:sp>
        <p:pic>
          <p:nvPicPr>
            <p:cNvPr id="28" name="Google Shape;309;p30">
              <a:extLst>
                <a:ext uri="{FF2B5EF4-FFF2-40B4-BE49-F238E27FC236}">
                  <a16:creationId xmlns:a16="http://schemas.microsoft.com/office/drawing/2014/main" id="{1C347EEB-EB62-4487-B864-D00F5E6B54F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0393" y="3595835"/>
              <a:ext cx="914354" cy="81183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" name="Google Shape;334;p31">
              <a:extLst>
                <a:ext uri="{FF2B5EF4-FFF2-40B4-BE49-F238E27FC236}">
                  <a16:creationId xmlns:a16="http://schemas.microsoft.com/office/drawing/2014/main" id="{3885CD45-2FAE-41D3-833A-31949E998B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2729" y="2583543"/>
              <a:ext cx="943428" cy="1442783"/>
            </a:xfrm>
            <a:prstGeom prst="straightConnector1">
              <a:avLst/>
            </a:prstGeom>
            <a:noFill/>
            <a:ln w="28575" cap="flat" cmpd="sng">
              <a:solidFill>
                <a:srgbClr val="888888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0" name="Google Shape;335;p31">
              <a:extLst>
                <a:ext uri="{FF2B5EF4-FFF2-40B4-BE49-F238E27FC236}">
                  <a16:creationId xmlns:a16="http://schemas.microsoft.com/office/drawing/2014/main" id="{D36BAD7E-9F45-4A29-9954-D5E4B6F66F7B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1364747" y="4001752"/>
              <a:ext cx="342496" cy="4191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" name="Google Shape;336;p31">
              <a:extLst>
                <a:ext uri="{FF2B5EF4-FFF2-40B4-BE49-F238E27FC236}">
                  <a16:creationId xmlns:a16="http://schemas.microsoft.com/office/drawing/2014/main" id="{52F6D6B6-047D-484C-8D6F-BC0B359C30CE}"/>
                </a:ext>
              </a:extLst>
            </p:cNvPr>
            <p:cNvSpPr/>
            <p:nvPr/>
          </p:nvSpPr>
          <p:spPr>
            <a:xfrm flipH="1">
              <a:off x="1724227" y="3515694"/>
              <a:ext cx="258350" cy="891975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" name="Google Shape;349;p31">
              <a:extLst>
                <a:ext uri="{FF2B5EF4-FFF2-40B4-BE49-F238E27FC236}">
                  <a16:creationId xmlns:a16="http://schemas.microsoft.com/office/drawing/2014/main" id="{2938F67F-D77F-4DDE-9232-71582AD12701}"/>
                </a:ext>
              </a:extLst>
            </p:cNvPr>
            <p:cNvSpPr txBox="1"/>
            <p:nvPr/>
          </p:nvSpPr>
          <p:spPr>
            <a:xfrm flipH="1">
              <a:off x="1925928" y="3810776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b="1" dirty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2CB980A-5E6C-41DC-99CD-DC7EE3436010}"/>
              </a:ext>
            </a:extLst>
          </p:cNvPr>
          <p:cNvSpPr txBox="1"/>
          <p:nvPr/>
        </p:nvSpPr>
        <p:spPr>
          <a:xfrm>
            <a:off x="7857931" y="773934"/>
            <a:ext cx="33158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i="0" dirty="0">
                <a:solidFill>
                  <a:srgbClr val="0B0B0B"/>
                </a:solidFill>
                <a:effectLst/>
              </a:rPr>
              <a:t>Multiprogramación básica</a:t>
            </a:r>
          </a:p>
          <a:p>
            <a:pPr algn="ctr"/>
            <a:r>
              <a:rPr lang="es-CO" sz="1600" dirty="0"/>
              <a:t>Sin separación de privilegios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579E606-D771-417F-A103-821F5986E8D6}"/>
              </a:ext>
            </a:extLst>
          </p:cNvPr>
          <p:cNvGrpSpPr/>
          <p:nvPr/>
        </p:nvGrpSpPr>
        <p:grpSpPr>
          <a:xfrm>
            <a:off x="7452360" y="1494927"/>
            <a:ext cx="4015724" cy="1524624"/>
            <a:chOff x="7452360" y="1456827"/>
            <a:chExt cx="4015724" cy="1524624"/>
          </a:xfrm>
        </p:grpSpPr>
        <p:sp>
          <p:nvSpPr>
            <p:cNvPr id="306" name="Google Shape;306;p30"/>
            <p:cNvSpPr/>
            <p:nvPr/>
          </p:nvSpPr>
          <p:spPr>
            <a:xfrm>
              <a:off x="7740351" y="1456827"/>
              <a:ext cx="626626" cy="556367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8569776" y="1456827"/>
              <a:ext cx="626626" cy="556367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9386501" y="1456827"/>
              <a:ext cx="626626" cy="556367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P3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309" name="Google Shape;309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50749" y="2169617"/>
              <a:ext cx="914354" cy="81183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0" name="Google Shape;310;p30"/>
            <p:cNvCxnSpPr>
              <a:cxnSpLocks/>
            </p:cNvCxnSpPr>
            <p:nvPr/>
          </p:nvCxnSpPr>
          <p:spPr>
            <a:xfrm flipV="1">
              <a:off x="7452360" y="2085888"/>
              <a:ext cx="3926824" cy="1227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1" name="Google Shape;311;p30"/>
            <p:cNvSpPr/>
            <p:nvPr/>
          </p:nvSpPr>
          <p:spPr>
            <a:xfrm>
              <a:off x="10190526" y="1478401"/>
              <a:ext cx="606055" cy="513218"/>
            </a:xfrm>
            <a:prstGeom prst="roundRect">
              <a:avLst>
                <a:gd name="adj" fmla="val 16667"/>
              </a:avLst>
            </a:prstGeom>
            <a:solidFill>
              <a:srgbClr val="93C47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200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1C13A24-145C-48B6-B658-A8290072C44F}"/>
                </a:ext>
              </a:extLst>
            </p:cNvPr>
            <p:cNvSpPr txBox="1"/>
            <p:nvPr/>
          </p:nvSpPr>
          <p:spPr>
            <a:xfrm>
              <a:off x="9887233" y="2086816"/>
              <a:ext cx="158085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sz="1100" dirty="0">
                  <a:solidFill>
                    <a:schemeClr val="accent2"/>
                  </a:solidFill>
                </a:rPr>
                <a:t>Turnos (time sharing)</a:t>
              </a:r>
            </a:p>
          </p:txBody>
        </p: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4E775C8-C9C7-44D6-BD8C-210EC3D1FB82}"/>
              </a:ext>
            </a:extLst>
          </p:cNvPr>
          <p:cNvSpPr txBox="1"/>
          <p:nvPr/>
        </p:nvSpPr>
        <p:spPr>
          <a:xfrm>
            <a:off x="7325668" y="3728942"/>
            <a:ext cx="438841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i="0" dirty="0">
                <a:solidFill>
                  <a:srgbClr val="0B0B0B"/>
                </a:solidFill>
                <a:effectLst/>
              </a:rPr>
              <a:t>Multiprogramación + Barrera de protección</a:t>
            </a:r>
          </a:p>
          <a:p>
            <a:pPr algn="ctr"/>
            <a:r>
              <a:rPr lang="es-CO" sz="1600" b="1" dirty="0"/>
              <a:t>Adelanto</a:t>
            </a:r>
            <a:r>
              <a:rPr lang="es-CO" sz="1600" dirty="0"/>
              <a:t>: esto agrega "</a:t>
            </a:r>
            <a:r>
              <a:rPr lang="es-CO" sz="1600" b="1" dirty="0"/>
              <a:t>Limited</a:t>
            </a:r>
            <a:r>
              <a:rPr lang="es-CO" sz="1600" dirty="0"/>
              <a:t>"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8222D15-425C-413E-B795-CD5C7D32E6F9}"/>
              </a:ext>
            </a:extLst>
          </p:cNvPr>
          <p:cNvGrpSpPr/>
          <p:nvPr/>
        </p:nvGrpSpPr>
        <p:grpSpPr>
          <a:xfrm>
            <a:off x="7452360" y="4483869"/>
            <a:ext cx="4122909" cy="2292165"/>
            <a:chOff x="7452360" y="4483869"/>
            <a:chExt cx="4122909" cy="2292165"/>
          </a:xfrm>
        </p:grpSpPr>
        <p:sp>
          <p:nvSpPr>
            <p:cNvPr id="313" name="Google Shape;313;p30"/>
            <p:cNvSpPr/>
            <p:nvPr/>
          </p:nvSpPr>
          <p:spPr>
            <a:xfrm>
              <a:off x="7583514" y="4483869"/>
              <a:ext cx="626700" cy="5565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8514539" y="4483869"/>
              <a:ext cx="626700" cy="5565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9445564" y="4483869"/>
              <a:ext cx="626700" cy="5565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P3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316" name="Google Shape;316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393573" y="5964199"/>
              <a:ext cx="914354" cy="81183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7" name="Google Shape;317;p30"/>
            <p:cNvCxnSpPr>
              <a:cxnSpLocks/>
            </p:cNvCxnSpPr>
            <p:nvPr/>
          </p:nvCxnSpPr>
          <p:spPr>
            <a:xfrm>
              <a:off x="7452360" y="5125333"/>
              <a:ext cx="4122909" cy="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8" name="Google Shape;318;p30"/>
            <p:cNvSpPr/>
            <p:nvPr/>
          </p:nvSpPr>
          <p:spPr>
            <a:xfrm>
              <a:off x="8547749" y="5254455"/>
              <a:ext cx="606000" cy="513300"/>
            </a:xfrm>
            <a:prstGeom prst="roundRect">
              <a:avLst>
                <a:gd name="adj" fmla="val 16667"/>
              </a:avLst>
            </a:prstGeom>
            <a:solidFill>
              <a:srgbClr val="93C47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200"/>
            </a:p>
          </p:txBody>
        </p:sp>
        <p:cxnSp>
          <p:nvCxnSpPr>
            <p:cNvPr id="319" name="Google Shape;319;p30"/>
            <p:cNvCxnSpPr>
              <a:cxnSpLocks/>
            </p:cNvCxnSpPr>
            <p:nvPr/>
          </p:nvCxnSpPr>
          <p:spPr>
            <a:xfrm>
              <a:off x="7452360" y="5896858"/>
              <a:ext cx="4122909" cy="0"/>
            </a:xfrm>
            <a:prstGeom prst="straightConnector1">
              <a:avLst/>
            </a:prstGeom>
            <a:noFill/>
            <a:ln w="19050" cap="flat" cmpd="sng">
              <a:solidFill>
                <a:srgbClr val="888888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D3FDF845-8D41-4959-B2D3-B41142976385}"/>
                </a:ext>
              </a:extLst>
            </p:cNvPr>
            <p:cNvSpPr txBox="1"/>
            <p:nvPr/>
          </p:nvSpPr>
          <p:spPr>
            <a:xfrm>
              <a:off x="10207870" y="4821241"/>
              <a:ext cx="136739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sz="1100" dirty="0">
                  <a:solidFill>
                    <a:schemeClr val="accent2"/>
                  </a:solidFill>
                </a:rPr>
                <a:t>Modo usuario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ACD8CF98-32D7-4EED-978D-B6F70AFF0514}"/>
                </a:ext>
              </a:extLst>
            </p:cNvPr>
            <p:cNvSpPr txBox="1"/>
            <p:nvPr/>
          </p:nvSpPr>
          <p:spPr>
            <a:xfrm>
              <a:off x="10192630" y="5170730"/>
              <a:ext cx="136739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sz="1100" dirty="0">
                  <a:solidFill>
                    <a:schemeClr val="accent2"/>
                  </a:solidFill>
                </a:rPr>
                <a:t>Modo kernel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 txBox="1">
            <a:spLocks noGrp="1"/>
          </p:cNvSpPr>
          <p:nvPr>
            <p:ph type="title"/>
          </p:nvPr>
        </p:nvSpPr>
        <p:spPr>
          <a:xfrm>
            <a:off x="450524" y="173713"/>
            <a:ext cx="1067242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1" name="Google Shape;351;p31"/>
          <p:cNvSpPr txBox="1">
            <a:spLocks noGrp="1"/>
          </p:cNvSpPr>
          <p:nvPr>
            <p:ph type="body" idx="1"/>
          </p:nvPr>
        </p:nvSpPr>
        <p:spPr>
          <a:xfrm>
            <a:off x="529618" y="1043188"/>
            <a:ext cx="11211858" cy="5412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Time Sharing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p31"/>
          <p:cNvSpPr/>
          <p:nvPr/>
        </p:nvSpPr>
        <p:spPr>
          <a:xfrm>
            <a:off x="916650" y="2356813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16650" y="3539938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916650" y="4723063"/>
            <a:ext cx="731100" cy="731100"/>
          </a:xfrm>
          <a:prstGeom prst="ellipse">
            <a:avLst/>
          </a:prstGeom>
          <a:solidFill>
            <a:srgbClr val="FFF2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P3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32" name="Google Shape;33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225" y="35012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400" y="2499837"/>
            <a:ext cx="1518975" cy="151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31"/>
          <p:cNvCxnSpPr/>
          <p:nvPr/>
        </p:nvCxnSpPr>
        <p:spPr>
          <a:xfrm>
            <a:off x="1874275" y="3040513"/>
            <a:ext cx="939900" cy="10824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35" name="Google Shape;335;p31"/>
          <p:cNvCxnSpPr/>
          <p:nvPr/>
        </p:nvCxnSpPr>
        <p:spPr>
          <a:xfrm>
            <a:off x="2822400" y="4093213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31"/>
          <p:cNvSpPr/>
          <p:nvPr/>
        </p:nvSpPr>
        <p:spPr>
          <a:xfrm>
            <a:off x="2490203" y="35886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7E74352-D23C-429B-B81D-C126FB83F337}"/>
              </a:ext>
            </a:extLst>
          </p:cNvPr>
          <p:cNvGrpSpPr/>
          <p:nvPr/>
        </p:nvGrpSpPr>
        <p:grpSpPr>
          <a:xfrm>
            <a:off x="6807612" y="2807913"/>
            <a:ext cx="5123975" cy="2195150"/>
            <a:chOff x="6856900" y="1379550"/>
            <a:chExt cx="5123975" cy="2195150"/>
          </a:xfrm>
        </p:grpSpPr>
        <p:graphicFrame>
          <p:nvGraphicFramePr>
            <p:cNvPr id="337" name="Google Shape;337;p31"/>
            <p:cNvGraphicFramePr/>
            <p:nvPr>
              <p:extLst>
                <p:ext uri="{D42A27DB-BD31-4B8C-83A1-F6EECF244321}">
                  <p14:modId xmlns:p14="http://schemas.microsoft.com/office/powerpoint/2010/main" val="3710768523"/>
                </p:ext>
              </p:extLst>
            </p:nvPr>
          </p:nvGraphicFramePr>
          <p:xfrm>
            <a:off x="7732425" y="2166938"/>
            <a:ext cx="3630750" cy="856225"/>
          </p:xfrm>
          <a:graphic>
            <a:graphicData uri="http://schemas.openxmlformats.org/drawingml/2006/table">
              <a:tbl>
                <a:tblPr>
                  <a:noFill/>
                  <a:tableStyleId>{3A39004B-9025-4134-980C-2776F01560DB}</a:tableStyleId>
                </a:tblPr>
                <a:tblGrid>
                  <a:gridCol w="6051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856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P1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P2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P3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P1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P2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cxnSp>
          <p:nvCxnSpPr>
            <p:cNvPr id="338" name="Google Shape;338;p31"/>
            <p:cNvCxnSpPr/>
            <p:nvPr/>
          </p:nvCxnSpPr>
          <p:spPr>
            <a:xfrm>
              <a:off x="7729650" y="1916300"/>
              <a:ext cx="4005300" cy="11175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39" name="Google Shape;339;p31"/>
            <p:cNvSpPr txBox="1"/>
            <p:nvPr/>
          </p:nvSpPr>
          <p:spPr>
            <a:xfrm>
              <a:off x="6856900" y="22871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0" name="Google Shape;340;p31"/>
            <p:cNvSpPr txBox="1"/>
            <p:nvPr/>
          </p:nvSpPr>
          <p:spPr>
            <a:xfrm>
              <a:off x="11220375" y="3082100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1" name="Google Shape;341;p31"/>
            <p:cNvSpPr/>
            <p:nvPr/>
          </p:nvSpPr>
          <p:spPr>
            <a:xfrm>
              <a:off x="8181525" y="1752774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2" name="Google Shape;342;p31"/>
            <p:cNvSpPr/>
            <p:nvPr/>
          </p:nvSpPr>
          <p:spPr>
            <a:xfrm>
              <a:off x="8763450" y="1742499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3" name="Google Shape;343;p31"/>
            <p:cNvSpPr/>
            <p:nvPr/>
          </p:nvSpPr>
          <p:spPr>
            <a:xfrm>
              <a:off x="9345375" y="1733024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4" name="Google Shape;344;p31"/>
            <p:cNvSpPr/>
            <p:nvPr/>
          </p:nvSpPr>
          <p:spPr>
            <a:xfrm>
              <a:off x="9963850" y="1722074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5" name="Google Shape;345;p31"/>
            <p:cNvSpPr txBox="1"/>
            <p:nvPr/>
          </p:nvSpPr>
          <p:spPr>
            <a:xfrm>
              <a:off x="8120150" y="1423425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6" name="Google Shape;346;p31"/>
            <p:cNvSpPr txBox="1"/>
            <p:nvPr/>
          </p:nvSpPr>
          <p:spPr>
            <a:xfrm>
              <a:off x="8701700" y="1402075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7" name="Google Shape;347;p31"/>
            <p:cNvSpPr txBox="1"/>
            <p:nvPr/>
          </p:nvSpPr>
          <p:spPr>
            <a:xfrm>
              <a:off x="9265725" y="1402075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8" name="Google Shape;348;p31"/>
            <p:cNvSpPr txBox="1"/>
            <p:nvPr/>
          </p:nvSpPr>
          <p:spPr>
            <a:xfrm>
              <a:off x="9860475" y="1379550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49" name="Google Shape;349;p31"/>
          <p:cNvSpPr txBox="1"/>
          <p:nvPr/>
        </p:nvSpPr>
        <p:spPr>
          <a:xfrm>
            <a:off x="1990925" y="37995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 flipH="1">
            <a:off x="2897549" y="2129000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E43F9D7-99FA-4FE6-8397-C9C36E10F0B6}"/>
              </a:ext>
            </a:extLst>
          </p:cNvPr>
          <p:cNvSpPr txBox="1"/>
          <p:nvPr/>
        </p:nvSpPr>
        <p:spPr>
          <a:xfrm>
            <a:off x="771400" y="5814812"/>
            <a:ext cx="54516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Scheduler</a:t>
            </a:r>
            <a:r>
              <a:rPr lang="es-CO" dirty="0"/>
              <a:t>: parte del sistema operativo que decide qué proceso usa la CPU en cada momento.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>
            <a:spLocks noGrp="1"/>
          </p:cNvSpPr>
          <p:nvPr>
            <p:ph type="title"/>
          </p:nvPr>
        </p:nvSpPr>
        <p:spPr>
          <a:xfrm>
            <a:off x="819150" y="96038"/>
            <a:ext cx="84015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3" name="Google Shape;363;p33"/>
          <p:cNvSpPr txBox="1">
            <a:spLocks noGrp="1"/>
          </p:cNvSpPr>
          <p:nvPr>
            <p:ph type="body" idx="1"/>
          </p:nvPr>
        </p:nvSpPr>
        <p:spPr>
          <a:xfrm>
            <a:off x="457200" y="1293829"/>
            <a:ext cx="5638800" cy="490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Objetivos</a:t>
            </a:r>
            <a:r>
              <a:rPr lang="es-ES" sz="2800" dirty="0">
                <a:latin typeface="+mn-lt"/>
              </a:rPr>
              <a:t>:</a:t>
            </a:r>
            <a:endParaRPr sz="28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Desempeño</a:t>
            </a:r>
            <a:r>
              <a:rPr lang="es-ES" sz="2200" dirty="0">
                <a:latin typeface="+mn-lt"/>
              </a:rPr>
              <a:t>: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¿Cómo implementar virtualización sin adicionar un sobrecosto excesivo (overhead)?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Control</a:t>
            </a:r>
            <a:r>
              <a:rPr lang="es-ES" sz="2200" dirty="0">
                <a:latin typeface="+mn-lt"/>
              </a:rPr>
              <a:t>: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¿Cómo ejecutar procesos de manera eficiente sin perder el control de la CPU?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64" name="Google Shape;3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881" y="1887579"/>
            <a:ext cx="4974950" cy="3082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592185" y="11847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1694469" y="1182905"/>
            <a:ext cx="9448800" cy="95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s-ES" sz="50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imited</a:t>
            </a:r>
            <a:r>
              <a:rPr lang="es-ES" sz="5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50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s-ES" sz="50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irect</a:t>
            </a:r>
            <a:r>
              <a:rPr lang="es-ES" sz="5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50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s-ES" sz="50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xecution</a:t>
            </a:r>
            <a:endParaRPr sz="50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1241775" y="228600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s-ES" sz="40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imited</a:t>
            </a:r>
            <a:endParaRPr sz="400" dirty="0"/>
          </a:p>
        </p:txBody>
      </p:sp>
      <p:sp>
        <p:nvSpPr>
          <p:cNvPr id="372" name="Google Shape;372;p34"/>
          <p:cNvSpPr txBox="1"/>
          <p:nvPr/>
        </p:nvSpPr>
        <p:spPr>
          <a:xfrm>
            <a:off x="4543775" y="2367000"/>
            <a:ext cx="7124700" cy="209285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/>
              <a:t>Protección</a:t>
            </a:r>
            <a:r>
              <a:rPr lang="es-ES" sz="2400" dirty="0"/>
              <a:t>:</a:t>
            </a:r>
            <a:endParaRPr sz="24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Los procesos deben estar aislados (protegidos) entre sí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kernel del sistema operativo debe estar aislado de los procesos.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Los dispositivos de hardware deben estar aislados de los procesos</a:t>
            </a:r>
            <a:endParaRPr sz="2000" dirty="0"/>
          </a:p>
        </p:txBody>
      </p:sp>
      <p:sp>
        <p:nvSpPr>
          <p:cNvPr id="373" name="Google Shape;373;p34"/>
          <p:cNvSpPr txBox="1"/>
          <p:nvPr/>
        </p:nvSpPr>
        <p:spPr>
          <a:xfrm>
            <a:off x="1356075" y="456977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s-ES" sz="40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irect</a:t>
            </a:r>
            <a:r>
              <a:rPr lang="es-ES" sz="4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40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s-ES" sz="40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xecution</a:t>
            </a:r>
            <a:endParaRPr sz="40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4543775" y="4569775"/>
            <a:ext cx="7124700" cy="1477297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/>
              <a:t>Desempeño</a:t>
            </a:r>
            <a:r>
              <a:rPr lang="es-ES" sz="2400" dirty="0"/>
              <a:t>:</a:t>
            </a:r>
            <a:endParaRPr sz="24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Las aplicaciones deben ejecutarse directamente en el procesador (El SO no debe intervenir y verificar la validez de cada una de las instrucciones que la aplicación desea ejecutar)</a:t>
            </a: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>
            <a:spLocks noGrp="1"/>
          </p:cNvSpPr>
          <p:nvPr>
            <p:ph type="title"/>
          </p:nvPr>
        </p:nvSpPr>
        <p:spPr>
          <a:xfrm>
            <a:off x="439789" y="3221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0" name="Google Shape;380;p35"/>
          <p:cNvSpPr txBox="1">
            <a:spLocks noGrp="1"/>
          </p:cNvSpPr>
          <p:nvPr>
            <p:ph type="body" idx="1"/>
          </p:nvPr>
        </p:nvSpPr>
        <p:spPr>
          <a:xfrm>
            <a:off x="439789" y="750443"/>
            <a:ext cx="1147644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Ejecución directa</a:t>
            </a:r>
            <a:r>
              <a:rPr lang="es-ES" sz="2800" dirty="0">
                <a:solidFill>
                  <a:schemeClr val="accent1"/>
                </a:solidFill>
                <a:latin typeface="+mn-lt"/>
              </a:rPr>
              <a:t>: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programa se ejecuta directamente en la CPU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81" name="Google Shape;381;p35"/>
          <p:cNvGraphicFramePr/>
          <p:nvPr>
            <p:extLst>
              <p:ext uri="{D42A27DB-BD31-4B8C-83A1-F6EECF244321}">
                <p14:modId xmlns:p14="http://schemas.microsoft.com/office/powerpoint/2010/main" val="2555930747"/>
              </p:ext>
            </p:extLst>
          </p:nvPr>
        </p:nvGraphicFramePr>
        <p:xfrm>
          <a:off x="5501148" y="2018534"/>
          <a:ext cx="6251063" cy="4287621"/>
        </p:xfrm>
        <a:graphic>
          <a:graphicData uri="http://schemas.openxmlformats.org/drawingml/2006/table">
            <a:tbl>
              <a:tblPr>
                <a:noFill/>
                <a:tableStyleId>{FB9EFA35-8E2C-4024-A639-D8BE7C187570}</a:tableStyleId>
              </a:tblPr>
              <a:tblGrid>
                <a:gridCol w="3171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Sistema Operativo</a:t>
                      </a:r>
                      <a:endParaRPr sz="1800" b="1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Proceso de usuario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/>
                      </a:pPr>
                      <a:r>
                        <a:rPr lang="es-ES" sz="1400" dirty="0"/>
                        <a:t>Crea una entrada en la </a:t>
                      </a:r>
                      <a:r>
                        <a:rPr lang="es-ES" sz="1400" b="1" dirty="0"/>
                        <a:t>lista de procesos</a:t>
                      </a:r>
                      <a:endParaRPr sz="1400" b="1" dirty="0"/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/>
                      </a:pPr>
                      <a:r>
                        <a:rPr lang="es-ES" sz="1400" dirty="0"/>
                        <a:t>Asigna memoria al proceso</a:t>
                      </a:r>
                      <a:endParaRPr sz="1400" dirty="0"/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/>
                      </a:pPr>
                      <a:r>
                        <a:rPr lang="es-ES" sz="1400" dirty="0"/>
                        <a:t>Carga el programa a memoria</a:t>
                      </a:r>
                      <a:endParaRPr sz="1400" dirty="0"/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/>
                      </a:pPr>
                      <a:r>
                        <a:rPr lang="es-ES" sz="1400" dirty="0"/>
                        <a:t>Inicializa pila (</a:t>
                      </a:r>
                      <a:r>
                        <a:rPr lang="es-ES" sz="1400" i="1" dirty="0"/>
                        <a:t>stack</a:t>
                      </a:r>
                      <a:r>
                        <a:rPr lang="es-ES" sz="1400" dirty="0"/>
                        <a:t>) con </a:t>
                      </a:r>
                      <a:r>
                        <a:rPr lang="es-ES" sz="14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argc/argv</a:t>
                      </a:r>
                      <a:endParaRPr sz="14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/>
                      </a:pPr>
                      <a:r>
                        <a:rPr lang="es-ES" sz="1400" dirty="0"/>
                        <a:t>Reinicia registros de CPU</a:t>
                      </a:r>
                      <a:endParaRPr sz="1400" dirty="0"/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/>
                      </a:pPr>
                      <a:r>
                        <a:rPr lang="es-ES" sz="1400" dirty="0"/>
                        <a:t>Ejecuta llamada a </a:t>
                      </a:r>
                      <a:r>
                        <a:rPr lang="es-ES" sz="14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main()</a:t>
                      </a:r>
                      <a:endParaRPr sz="14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AutoNum type="arabicPeriod" startAt="7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Ejecuta 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main()</a:t>
                      </a:r>
                      <a:endParaRPr sz="1400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AutoNum type="arabicPeriod" startAt="7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Ejecuta 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 de 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main()</a:t>
                      </a:r>
                      <a:endParaRPr sz="14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 startAt="9"/>
                      </a:pPr>
                      <a:r>
                        <a:rPr lang="es-ES" sz="1400"/>
                        <a:t>Libera la memoria del proceso</a:t>
                      </a:r>
                      <a:endParaRPr sz="1400"/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AutoNum type="arabicPeriod" startAt="9"/>
                      </a:pPr>
                      <a:r>
                        <a:rPr lang="es-ES" sz="1400"/>
                        <a:t>Elimina la entrada de la </a:t>
                      </a:r>
                      <a:r>
                        <a:rPr lang="es-ES" sz="1400" b="1"/>
                        <a:t>lista de procesos</a:t>
                      </a:r>
                      <a:endParaRPr sz="1400" b="1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C61A91ED-2B20-4AA7-B646-67DD188DCCA2}"/>
              </a:ext>
            </a:extLst>
          </p:cNvPr>
          <p:cNvSpPr/>
          <p:nvPr/>
        </p:nvSpPr>
        <p:spPr>
          <a:xfrm>
            <a:off x="1134919" y="2603331"/>
            <a:ext cx="874197" cy="8256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DCAA23-6204-4ABE-BB95-14AE21350C6B}"/>
              </a:ext>
            </a:extLst>
          </p:cNvPr>
          <p:cNvSpPr txBox="1"/>
          <p:nvPr/>
        </p:nvSpPr>
        <p:spPr>
          <a:xfrm>
            <a:off x="1292271" y="201853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CPU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C7F9FFA-8D7D-4B57-93C2-4D357FCEFAB3}"/>
              </a:ext>
            </a:extLst>
          </p:cNvPr>
          <p:cNvSpPr txBox="1"/>
          <p:nvPr/>
        </p:nvSpPr>
        <p:spPr>
          <a:xfrm>
            <a:off x="3101828" y="1864666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D64B46-FF1E-4D67-ACDA-C3D1309EE9E8}"/>
              </a:ext>
            </a:extLst>
          </p:cNvPr>
          <p:cNvGrpSpPr/>
          <p:nvPr/>
        </p:nvGrpSpPr>
        <p:grpSpPr>
          <a:xfrm>
            <a:off x="217789" y="5209957"/>
            <a:ext cx="4891240" cy="1414840"/>
            <a:chOff x="6096000" y="5117124"/>
            <a:chExt cx="5974735" cy="1611058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276BE09-CD7E-4025-A99A-00AD5AA4869B}"/>
                </a:ext>
              </a:extLst>
            </p:cNvPr>
            <p:cNvSpPr txBox="1"/>
            <p:nvPr/>
          </p:nvSpPr>
          <p:spPr>
            <a:xfrm>
              <a:off x="6096000" y="5508793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FA289F5-3732-4748-8AD4-C93E93992451}"/>
                </a:ext>
              </a:extLst>
            </p:cNvPr>
            <p:cNvGrpSpPr/>
            <p:nvPr/>
          </p:nvGrpSpPr>
          <p:grpSpPr>
            <a:xfrm>
              <a:off x="6776065" y="5117124"/>
              <a:ext cx="5294670" cy="1611058"/>
              <a:chOff x="6776065" y="5117124"/>
              <a:chExt cx="5294670" cy="1611058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4C679201-DA4C-4E45-9C50-3E8EB88D1AD6}"/>
                  </a:ext>
                </a:extLst>
              </p:cNvPr>
              <p:cNvGrpSpPr/>
              <p:nvPr/>
            </p:nvGrpSpPr>
            <p:grpSpPr>
              <a:xfrm>
                <a:off x="6776065" y="5117124"/>
                <a:ext cx="5294670" cy="1152670"/>
                <a:chOff x="6268065" y="5206181"/>
                <a:chExt cx="5294670" cy="1152670"/>
              </a:xfrm>
            </p:grpSpPr>
            <p:cxnSp>
              <p:nvCxnSpPr>
                <p:cNvPr id="22" name="Conector recto de flecha 21">
                  <a:extLst>
                    <a:ext uri="{FF2B5EF4-FFF2-40B4-BE49-F238E27FC236}">
                      <a16:creationId xmlns:a16="http://schemas.microsoft.com/office/drawing/2014/main" id="{8A194BC5-04BB-40CC-93D6-87C126636446}"/>
                    </a:ext>
                  </a:extLst>
                </p:cNvPr>
                <p:cNvCxnSpPr/>
                <p:nvPr/>
              </p:nvCxnSpPr>
              <p:spPr>
                <a:xfrm>
                  <a:off x="6268065" y="6358850"/>
                  <a:ext cx="529467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ector recto de flecha 22">
                  <a:extLst>
                    <a:ext uri="{FF2B5EF4-FFF2-40B4-BE49-F238E27FC236}">
                      <a16:creationId xmlns:a16="http://schemas.microsoft.com/office/drawing/2014/main" id="{99550D5B-3329-4C03-AED1-049E816D8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68065" y="5206181"/>
                  <a:ext cx="4917" cy="115267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F93E3AB-CD73-49D6-A876-8695655074D4}"/>
                  </a:ext>
                </a:extLst>
              </p:cNvPr>
              <p:cNvSpPr txBox="1"/>
              <p:nvPr/>
            </p:nvSpPr>
            <p:spPr>
              <a:xfrm>
                <a:off x="11654585" y="6358850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t</a:t>
                </a:r>
              </a:p>
            </p:txBody>
          </p:sp>
        </p:grpSp>
      </p:grpSp>
      <p:grpSp>
        <p:nvGrpSpPr>
          <p:cNvPr id="24" name="Google Shape;408;p37">
            <a:extLst>
              <a:ext uri="{FF2B5EF4-FFF2-40B4-BE49-F238E27FC236}">
                <a16:creationId xmlns:a16="http://schemas.microsoft.com/office/drawing/2014/main" id="{4D9629EF-43E1-4BE4-837B-0065A1694A63}"/>
              </a:ext>
            </a:extLst>
          </p:cNvPr>
          <p:cNvGrpSpPr/>
          <p:nvPr/>
        </p:nvGrpSpPr>
        <p:grpSpPr>
          <a:xfrm>
            <a:off x="9052469" y="190121"/>
            <a:ext cx="2549145" cy="1583193"/>
            <a:chOff x="1488150" y="2279763"/>
            <a:chExt cx="3165925" cy="1952525"/>
          </a:xfrm>
        </p:grpSpPr>
        <p:pic>
          <p:nvPicPr>
            <p:cNvPr id="25" name="Google Shape;409;p37">
              <a:extLst>
                <a:ext uri="{FF2B5EF4-FFF2-40B4-BE49-F238E27FC236}">
                  <a16:creationId xmlns:a16="http://schemas.microsoft.com/office/drawing/2014/main" id="{C51B8465-327A-4A05-B012-3E3D50BAD37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55100" y="3138775"/>
              <a:ext cx="698975" cy="698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410;p37">
              <a:extLst>
                <a:ext uri="{FF2B5EF4-FFF2-40B4-BE49-F238E27FC236}">
                  <a16:creationId xmlns:a16="http://schemas.microsoft.com/office/drawing/2014/main" id="{82B482DC-53C7-4959-9825-97AE08F29182}"/>
                </a:ext>
              </a:extLst>
            </p:cNvPr>
            <p:cNvSpPr/>
            <p:nvPr/>
          </p:nvSpPr>
          <p:spPr>
            <a:xfrm>
              <a:off x="1516000" y="2279763"/>
              <a:ext cx="731100" cy="7311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4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" name="Google Shape;411;p37">
              <a:extLst>
                <a:ext uri="{FF2B5EF4-FFF2-40B4-BE49-F238E27FC236}">
                  <a16:creationId xmlns:a16="http://schemas.microsoft.com/office/drawing/2014/main" id="{C811099E-0CCA-44F2-8019-9EC3F5195D38}"/>
                </a:ext>
              </a:extLst>
            </p:cNvPr>
            <p:cNvSpPr/>
            <p:nvPr/>
          </p:nvSpPr>
          <p:spPr>
            <a:xfrm>
              <a:off x="1488150" y="3501188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4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" name="Google Shape;412;p37">
              <a:extLst>
                <a:ext uri="{FF2B5EF4-FFF2-40B4-BE49-F238E27FC236}">
                  <a16:creationId xmlns:a16="http://schemas.microsoft.com/office/drawing/2014/main" id="{16EB92DE-AEAB-4ED5-8435-9AA47C07A09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29337" y="2409650"/>
              <a:ext cx="894634" cy="891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" name="Google Shape;413;p37">
              <a:extLst>
                <a:ext uri="{FF2B5EF4-FFF2-40B4-BE49-F238E27FC236}">
                  <a16:creationId xmlns:a16="http://schemas.microsoft.com/office/drawing/2014/main" id="{0663F174-A180-41DA-995E-B39CB016CC11}"/>
                </a:ext>
              </a:extLst>
            </p:cNvPr>
            <p:cNvCxnSpPr/>
            <p:nvPr/>
          </p:nvCxnSpPr>
          <p:spPr>
            <a:xfrm>
              <a:off x="2321275" y="2766375"/>
              <a:ext cx="543600" cy="672900"/>
            </a:xfrm>
            <a:prstGeom prst="straightConnector1">
              <a:avLst/>
            </a:prstGeom>
            <a:noFill/>
            <a:ln w="28575" cap="flat" cmpd="sng">
              <a:solidFill>
                <a:srgbClr val="888888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0" name="Google Shape;414;p37">
              <a:extLst>
                <a:ext uri="{FF2B5EF4-FFF2-40B4-BE49-F238E27FC236}">
                  <a16:creationId xmlns:a16="http://schemas.microsoft.com/office/drawing/2014/main" id="{F9D1DA04-B41A-4530-BDD7-30224B8CF545}"/>
                </a:ext>
              </a:extLst>
            </p:cNvPr>
            <p:cNvCxnSpPr/>
            <p:nvPr/>
          </p:nvCxnSpPr>
          <p:spPr>
            <a:xfrm>
              <a:off x="2873200" y="3409513"/>
              <a:ext cx="972000" cy="4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" name="Google Shape;415;p37">
              <a:extLst>
                <a:ext uri="{FF2B5EF4-FFF2-40B4-BE49-F238E27FC236}">
                  <a16:creationId xmlns:a16="http://schemas.microsoft.com/office/drawing/2014/main" id="{21C5BB58-20FE-42B2-904E-F1B47DF978BE}"/>
                </a:ext>
              </a:extLst>
            </p:cNvPr>
            <p:cNvSpPr/>
            <p:nvPr/>
          </p:nvSpPr>
          <p:spPr>
            <a:xfrm>
              <a:off x="2606528" y="2894113"/>
              <a:ext cx="258350" cy="891975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" name="Google Shape;416;p37">
              <a:extLst>
                <a:ext uri="{FF2B5EF4-FFF2-40B4-BE49-F238E27FC236}">
                  <a16:creationId xmlns:a16="http://schemas.microsoft.com/office/drawing/2014/main" id="{91054800-2894-4ED3-B29A-AA1E034380A8}"/>
                </a:ext>
              </a:extLst>
            </p:cNvPr>
            <p:cNvSpPr txBox="1"/>
            <p:nvPr/>
          </p:nvSpPr>
          <p:spPr>
            <a:xfrm>
              <a:off x="2044100" y="3124550"/>
              <a:ext cx="554100" cy="493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b="1" dirty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77544B8-3211-4803-81E8-44FEC16FFB6F}"/>
              </a:ext>
            </a:extLst>
          </p:cNvPr>
          <p:cNvGrpSpPr/>
          <p:nvPr/>
        </p:nvGrpSpPr>
        <p:grpSpPr>
          <a:xfrm>
            <a:off x="2984455" y="2233998"/>
            <a:ext cx="1490878" cy="2630713"/>
            <a:chOff x="1560738" y="2525865"/>
            <a:chExt cx="1490878" cy="2630713"/>
          </a:xfrm>
        </p:grpSpPr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AF773024-4068-42A7-914A-8494E14CF9AF}"/>
                </a:ext>
              </a:extLst>
            </p:cNvPr>
            <p:cNvSpPr/>
            <p:nvPr/>
          </p:nvSpPr>
          <p:spPr>
            <a:xfrm>
              <a:off x="1560738" y="2525865"/>
              <a:ext cx="1487261" cy="6114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b="1" dirty="0">
                  <a:solidFill>
                    <a:schemeClr val="tx1"/>
                  </a:solidFill>
                </a:rPr>
                <a:t>SO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0BB1D39A-CFD9-4913-AF8E-FF3D7F2FA3A8}"/>
                </a:ext>
              </a:extLst>
            </p:cNvPr>
            <p:cNvSpPr/>
            <p:nvPr/>
          </p:nvSpPr>
          <p:spPr>
            <a:xfrm>
              <a:off x="1564281" y="2525928"/>
              <a:ext cx="1487335" cy="26306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0002826-6BCE-4554-BFAF-31D8F098AA11}"/>
              </a:ext>
            </a:extLst>
          </p:cNvPr>
          <p:cNvSpPr/>
          <p:nvPr/>
        </p:nvSpPr>
        <p:spPr>
          <a:xfrm>
            <a:off x="3556894" y="5659134"/>
            <a:ext cx="2539106" cy="5580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SO</a:t>
            </a:r>
            <a:r>
              <a:rPr lang="es-CO" sz="1000" b="1" dirty="0">
                <a:solidFill>
                  <a:schemeClr val="tx1"/>
                </a:solidFill>
              </a:rPr>
              <a:t>(1-6)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8EC0B77-9FFD-4157-A11F-421E199EB07F}"/>
              </a:ext>
            </a:extLst>
          </p:cNvPr>
          <p:cNvSpPr/>
          <p:nvPr/>
        </p:nvSpPr>
        <p:spPr>
          <a:xfrm>
            <a:off x="6091168" y="5659134"/>
            <a:ext cx="2539106" cy="558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P</a:t>
            </a:r>
            <a:r>
              <a:rPr lang="es-CO" sz="1000" b="1" dirty="0">
                <a:solidFill>
                  <a:schemeClr val="tx1"/>
                </a:solidFill>
              </a:rPr>
              <a:t>(7-8)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992B078-334D-4BE8-9C9D-38C08709D4D3}"/>
              </a:ext>
            </a:extLst>
          </p:cNvPr>
          <p:cNvSpPr/>
          <p:nvPr/>
        </p:nvSpPr>
        <p:spPr>
          <a:xfrm>
            <a:off x="8636248" y="5661674"/>
            <a:ext cx="2539106" cy="5580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SO</a:t>
            </a:r>
            <a:r>
              <a:rPr lang="es-CO" sz="1000" b="1" dirty="0">
                <a:solidFill>
                  <a:schemeClr val="tx1"/>
                </a:solidFill>
              </a:rPr>
              <a:t>(9-10)</a:t>
            </a:r>
            <a:endParaRPr lang="es-CO" b="1" dirty="0">
              <a:solidFill>
                <a:schemeClr val="tx1"/>
              </a:solidFill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15045D6-65A4-4FB3-9AED-B86E2481CD95}"/>
              </a:ext>
            </a:extLst>
          </p:cNvPr>
          <p:cNvSpPr/>
          <p:nvPr/>
        </p:nvSpPr>
        <p:spPr>
          <a:xfrm>
            <a:off x="774528" y="5658469"/>
            <a:ext cx="2781156" cy="5565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</a:rPr>
              <a:t>SO</a:t>
            </a:r>
          </a:p>
        </p:txBody>
      </p:sp>
      <p:sp>
        <p:nvSpPr>
          <p:cNvPr id="379" name="Google Shape;379;p35"/>
          <p:cNvSpPr txBox="1">
            <a:spLocks noGrp="1"/>
          </p:cNvSpPr>
          <p:nvPr>
            <p:ph type="title"/>
          </p:nvPr>
        </p:nvSpPr>
        <p:spPr>
          <a:xfrm>
            <a:off x="439789" y="3221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0" name="Google Shape;380;p35"/>
          <p:cNvSpPr txBox="1">
            <a:spLocks noGrp="1"/>
          </p:cNvSpPr>
          <p:nvPr>
            <p:ph type="body" idx="1"/>
          </p:nvPr>
        </p:nvSpPr>
        <p:spPr>
          <a:xfrm>
            <a:off x="439789" y="750443"/>
            <a:ext cx="1147644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Ejecución directa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El programa se ejecuta directamente en la CPU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1A91ED-2B20-4AA7-B646-67DD188DCCA2}"/>
              </a:ext>
            </a:extLst>
          </p:cNvPr>
          <p:cNvSpPr/>
          <p:nvPr/>
        </p:nvSpPr>
        <p:spPr>
          <a:xfrm>
            <a:off x="643307" y="2537906"/>
            <a:ext cx="647873" cy="575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DCAA23-6204-4ABE-BB95-14AE21350C6B}"/>
              </a:ext>
            </a:extLst>
          </p:cNvPr>
          <p:cNvSpPr txBox="1"/>
          <p:nvPr/>
        </p:nvSpPr>
        <p:spPr>
          <a:xfrm>
            <a:off x="702339" y="217378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CPU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C7F9FFA-8D7D-4B57-93C2-4D357FCEFAB3}"/>
              </a:ext>
            </a:extLst>
          </p:cNvPr>
          <p:cNvSpPr txBox="1"/>
          <p:nvPr/>
        </p:nvSpPr>
        <p:spPr>
          <a:xfrm>
            <a:off x="1695777" y="2156383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D64B46-FF1E-4D67-ACDA-C3D1309EE9E8}"/>
              </a:ext>
            </a:extLst>
          </p:cNvPr>
          <p:cNvGrpSpPr/>
          <p:nvPr/>
        </p:nvGrpSpPr>
        <p:grpSpPr>
          <a:xfrm>
            <a:off x="217789" y="5209958"/>
            <a:ext cx="11383825" cy="1336630"/>
            <a:chOff x="6096000" y="5117124"/>
            <a:chExt cx="13905541" cy="1522001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276BE09-CD7E-4025-A99A-00AD5AA4869B}"/>
                </a:ext>
              </a:extLst>
            </p:cNvPr>
            <p:cNvSpPr txBox="1"/>
            <p:nvPr/>
          </p:nvSpPr>
          <p:spPr>
            <a:xfrm>
              <a:off x="6096000" y="5508793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FA289F5-3732-4748-8AD4-C93E93992451}"/>
                </a:ext>
              </a:extLst>
            </p:cNvPr>
            <p:cNvGrpSpPr/>
            <p:nvPr/>
          </p:nvGrpSpPr>
          <p:grpSpPr>
            <a:xfrm>
              <a:off x="6776065" y="5117124"/>
              <a:ext cx="13225476" cy="1522001"/>
              <a:chOff x="6776065" y="5117124"/>
              <a:chExt cx="13225476" cy="1522001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4C679201-DA4C-4E45-9C50-3E8EB88D1AD6}"/>
                  </a:ext>
                </a:extLst>
              </p:cNvPr>
              <p:cNvGrpSpPr/>
              <p:nvPr/>
            </p:nvGrpSpPr>
            <p:grpSpPr>
              <a:xfrm>
                <a:off x="6776065" y="5117124"/>
                <a:ext cx="13225476" cy="1152670"/>
                <a:chOff x="6268065" y="5206181"/>
                <a:chExt cx="13225476" cy="1152670"/>
              </a:xfrm>
            </p:grpSpPr>
            <p:cxnSp>
              <p:nvCxnSpPr>
                <p:cNvPr id="22" name="Conector recto de flecha 21">
                  <a:extLst>
                    <a:ext uri="{FF2B5EF4-FFF2-40B4-BE49-F238E27FC236}">
                      <a16:creationId xmlns:a16="http://schemas.microsoft.com/office/drawing/2014/main" id="{8A194BC5-04BB-40CC-93D6-87C1266364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68065" y="6358850"/>
                  <a:ext cx="13225476" cy="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ector recto de flecha 22">
                  <a:extLst>
                    <a:ext uri="{FF2B5EF4-FFF2-40B4-BE49-F238E27FC236}">
                      <a16:creationId xmlns:a16="http://schemas.microsoft.com/office/drawing/2014/main" id="{99550D5B-3329-4C03-AED1-049E816D8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68065" y="5206181"/>
                  <a:ext cx="4917" cy="115267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F93E3AB-CD73-49D6-A876-8695655074D4}"/>
                  </a:ext>
                </a:extLst>
              </p:cNvPr>
              <p:cNvSpPr txBox="1"/>
              <p:nvPr/>
            </p:nvSpPr>
            <p:spPr>
              <a:xfrm>
                <a:off x="13276337" y="6269793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t</a:t>
                </a:r>
              </a:p>
            </p:txBody>
          </p:sp>
        </p:grp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FFD3B06E-B168-47BE-9575-D5386179503D}"/>
              </a:ext>
            </a:extLst>
          </p:cNvPr>
          <p:cNvGrpSpPr/>
          <p:nvPr/>
        </p:nvGrpSpPr>
        <p:grpSpPr>
          <a:xfrm>
            <a:off x="1560738" y="2525865"/>
            <a:ext cx="1490878" cy="2630713"/>
            <a:chOff x="1560738" y="2525865"/>
            <a:chExt cx="1490878" cy="2630713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396EFCAB-1299-4010-8B4C-65EA9894ECBF}"/>
                </a:ext>
              </a:extLst>
            </p:cNvPr>
            <p:cNvSpPr/>
            <p:nvPr/>
          </p:nvSpPr>
          <p:spPr>
            <a:xfrm>
              <a:off x="1560738" y="2525865"/>
              <a:ext cx="1487261" cy="6114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b="1" dirty="0">
                  <a:solidFill>
                    <a:schemeClr val="tx1"/>
                  </a:solidFill>
                </a:rPr>
                <a:t>SO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A42E6BFE-60C6-4B18-96F3-D4A4144A6475}"/>
                </a:ext>
              </a:extLst>
            </p:cNvPr>
            <p:cNvSpPr/>
            <p:nvPr/>
          </p:nvSpPr>
          <p:spPr>
            <a:xfrm>
              <a:off x="1564281" y="2525928"/>
              <a:ext cx="1487335" cy="26306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E3BAA12-9FB2-4A67-B2BF-287BEC9D7B0A}"/>
              </a:ext>
            </a:extLst>
          </p:cNvPr>
          <p:cNvSpPr/>
          <p:nvPr/>
        </p:nvSpPr>
        <p:spPr>
          <a:xfrm>
            <a:off x="3632534" y="2532679"/>
            <a:ext cx="647873" cy="575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C150472-A2E1-4761-BBF1-15DDC0479892}"/>
              </a:ext>
            </a:extLst>
          </p:cNvPr>
          <p:cNvSpPr txBox="1"/>
          <p:nvPr/>
        </p:nvSpPr>
        <p:spPr>
          <a:xfrm>
            <a:off x="3658767" y="218652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CPU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8F158D3-4712-42AB-8D79-6B6D41C3AB7F}"/>
              </a:ext>
            </a:extLst>
          </p:cNvPr>
          <p:cNvSpPr txBox="1"/>
          <p:nvPr/>
        </p:nvSpPr>
        <p:spPr>
          <a:xfrm>
            <a:off x="4609926" y="2134654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6C39DD1-CE6D-4CFE-BB46-8DBBEF647F4E}"/>
              </a:ext>
            </a:extLst>
          </p:cNvPr>
          <p:cNvGrpSpPr/>
          <p:nvPr/>
        </p:nvGrpSpPr>
        <p:grpSpPr>
          <a:xfrm>
            <a:off x="4458574" y="2525802"/>
            <a:ext cx="1490877" cy="2630713"/>
            <a:chOff x="4458574" y="2525802"/>
            <a:chExt cx="1490877" cy="2630713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E3D75C9B-0FFC-451B-AF9A-EE3089C1AC16}"/>
                </a:ext>
              </a:extLst>
            </p:cNvPr>
            <p:cNvSpPr/>
            <p:nvPr/>
          </p:nvSpPr>
          <p:spPr>
            <a:xfrm>
              <a:off x="4458574" y="2525802"/>
              <a:ext cx="1485026" cy="6114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b="1" dirty="0">
                  <a:solidFill>
                    <a:schemeClr val="tx1"/>
                  </a:solidFill>
                </a:rPr>
                <a:t>SO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8D3D3B45-2B9F-4B54-B12D-45EC3C8D2577}"/>
                </a:ext>
              </a:extLst>
            </p:cNvPr>
            <p:cNvSpPr/>
            <p:nvPr/>
          </p:nvSpPr>
          <p:spPr>
            <a:xfrm>
              <a:off x="4462116" y="2525865"/>
              <a:ext cx="1487335" cy="26306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7" name="Rectángulo 46">
            <a:extLst>
              <a:ext uri="{FF2B5EF4-FFF2-40B4-BE49-F238E27FC236}">
                <a16:creationId xmlns:a16="http://schemas.microsoft.com/office/drawing/2014/main" id="{EADB9FF7-FAEF-420D-A5AA-4915695084AF}"/>
              </a:ext>
            </a:extLst>
          </p:cNvPr>
          <p:cNvSpPr/>
          <p:nvPr/>
        </p:nvSpPr>
        <p:spPr>
          <a:xfrm>
            <a:off x="6179838" y="2543614"/>
            <a:ext cx="647873" cy="575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EEEE04E-90BE-40FB-AAC3-ECE3D53F4FE9}"/>
              </a:ext>
            </a:extLst>
          </p:cNvPr>
          <p:cNvSpPr txBox="1"/>
          <p:nvPr/>
        </p:nvSpPr>
        <p:spPr>
          <a:xfrm>
            <a:off x="6222346" y="2171742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CPU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5A59971-2933-4611-AF74-D7F19FA9BDDC}"/>
              </a:ext>
            </a:extLst>
          </p:cNvPr>
          <p:cNvSpPr txBox="1"/>
          <p:nvPr/>
        </p:nvSpPr>
        <p:spPr>
          <a:xfrm>
            <a:off x="7131330" y="2184732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37851DA-D9C9-4403-A03F-776FB9EA8E55}"/>
              </a:ext>
            </a:extLst>
          </p:cNvPr>
          <p:cNvGrpSpPr/>
          <p:nvPr/>
        </p:nvGrpSpPr>
        <p:grpSpPr>
          <a:xfrm>
            <a:off x="6996220" y="2537780"/>
            <a:ext cx="1487335" cy="2630713"/>
            <a:chOff x="6996220" y="2537780"/>
            <a:chExt cx="1487335" cy="2630713"/>
          </a:xfrm>
        </p:grpSpPr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3985A3C0-BB6D-4F41-A4A2-70CDDFCF7340}"/>
                </a:ext>
              </a:extLst>
            </p:cNvPr>
            <p:cNvSpPr/>
            <p:nvPr/>
          </p:nvSpPr>
          <p:spPr>
            <a:xfrm>
              <a:off x="7002202" y="2537780"/>
              <a:ext cx="1471237" cy="6114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b="1" dirty="0">
                  <a:solidFill>
                    <a:schemeClr val="tx1"/>
                  </a:solidFill>
                </a:rPr>
                <a:t>SO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A91833AF-A610-4651-8DD7-D2F802679679}"/>
                </a:ext>
              </a:extLst>
            </p:cNvPr>
            <p:cNvSpPr/>
            <p:nvPr/>
          </p:nvSpPr>
          <p:spPr>
            <a:xfrm>
              <a:off x="6996220" y="2537843"/>
              <a:ext cx="1487335" cy="26306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2" name="Rectángulo 51">
            <a:extLst>
              <a:ext uri="{FF2B5EF4-FFF2-40B4-BE49-F238E27FC236}">
                <a16:creationId xmlns:a16="http://schemas.microsoft.com/office/drawing/2014/main" id="{5CFFFFB1-777A-4E6B-8D64-761F1D0D47F0}"/>
              </a:ext>
            </a:extLst>
          </p:cNvPr>
          <p:cNvSpPr/>
          <p:nvPr/>
        </p:nvSpPr>
        <p:spPr>
          <a:xfrm>
            <a:off x="8767092" y="2574910"/>
            <a:ext cx="647873" cy="575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F34AFFE-CB40-41BE-8075-BA49C3D5D66B}"/>
              </a:ext>
            </a:extLst>
          </p:cNvPr>
          <p:cNvSpPr txBox="1"/>
          <p:nvPr/>
        </p:nvSpPr>
        <p:spPr>
          <a:xfrm>
            <a:off x="8800724" y="221078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CPU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1319172-BF53-41AA-A0C9-FF45642D3157}"/>
              </a:ext>
            </a:extLst>
          </p:cNvPr>
          <p:cNvSpPr txBox="1"/>
          <p:nvPr/>
        </p:nvSpPr>
        <p:spPr>
          <a:xfrm>
            <a:off x="9785076" y="2197121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C3D8A9A-9194-4F00-BE8E-1715CE5D4B16}"/>
              </a:ext>
            </a:extLst>
          </p:cNvPr>
          <p:cNvGrpSpPr/>
          <p:nvPr/>
        </p:nvGrpSpPr>
        <p:grpSpPr>
          <a:xfrm>
            <a:off x="9624060" y="2562869"/>
            <a:ext cx="1487841" cy="2630713"/>
            <a:chOff x="9687560" y="2562869"/>
            <a:chExt cx="1487841" cy="2630713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E9608993-58DB-4772-825F-2910488E037F}"/>
                </a:ext>
              </a:extLst>
            </p:cNvPr>
            <p:cNvSpPr/>
            <p:nvPr/>
          </p:nvSpPr>
          <p:spPr>
            <a:xfrm>
              <a:off x="9687560" y="2562869"/>
              <a:ext cx="1479689" cy="6114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b="1" dirty="0">
                  <a:solidFill>
                    <a:schemeClr val="tx1"/>
                  </a:solidFill>
                </a:rPr>
                <a:t>SO</a:t>
              </a: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4EC96AA4-E5C3-44C8-93A5-0C45B04E3A16}"/>
                </a:ext>
              </a:extLst>
            </p:cNvPr>
            <p:cNvSpPr/>
            <p:nvPr/>
          </p:nvSpPr>
          <p:spPr>
            <a:xfrm>
              <a:off x="9688066" y="2562932"/>
              <a:ext cx="1487335" cy="263065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6DC0BDD-ADD2-43DF-B9B3-05989056ECFF}"/>
              </a:ext>
            </a:extLst>
          </p:cNvPr>
          <p:cNvCxnSpPr>
            <a:cxnSpLocks/>
          </p:cNvCxnSpPr>
          <p:nvPr/>
        </p:nvCxnSpPr>
        <p:spPr>
          <a:xfrm flipH="1" flipV="1">
            <a:off x="3543300" y="1981200"/>
            <a:ext cx="13594" cy="35826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595B6053-C8C1-427C-8C25-4E2F124CB548}"/>
              </a:ext>
            </a:extLst>
          </p:cNvPr>
          <p:cNvCxnSpPr>
            <a:cxnSpLocks/>
          </p:cNvCxnSpPr>
          <p:nvPr/>
        </p:nvCxnSpPr>
        <p:spPr>
          <a:xfrm flipH="1" flipV="1">
            <a:off x="6067538" y="1962447"/>
            <a:ext cx="13594" cy="35826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92E6CC7F-E466-490E-BDDA-E062EBB0DB1A}"/>
              </a:ext>
            </a:extLst>
          </p:cNvPr>
          <p:cNvCxnSpPr>
            <a:cxnSpLocks/>
          </p:cNvCxnSpPr>
          <p:nvPr/>
        </p:nvCxnSpPr>
        <p:spPr>
          <a:xfrm flipH="1" flipV="1">
            <a:off x="8611224" y="1923303"/>
            <a:ext cx="13594" cy="35826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BBF8F9E-CE0C-40CF-999D-057452BA782C}"/>
              </a:ext>
            </a:extLst>
          </p:cNvPr>
          <p:cNvSpPr txBox="1"/>
          <p:nvPr/>
        </p:nvSpPr>
        <p:spPr>
          <a:xfrm>
            <a:off x="586550" y="1789656"/>
            <a:ext cx="2887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Estado Inicial (SO en control)</a:t>
            </a:r>
            <a:endParaRPr lang="es-CO" dirty="0"/>
          </a:p>
        </p:txBody>
      </p:sp>
      <p:sp>
        <p:nvSpPr>
          <p:cNvPr id="63" name="Google Shape;415;p37">
            <a:extLst>
              <a:ext uri="{FF2B5EF4-FFF2-40B4-BE49-F238E27FC236}">
                <a16:creationId xmlns:a16="http://schemas.microsoft.com/office/drawing/2014/main" id="{82199755-B540-4153-BB99-3ED14FB19774}"/>
              </a:ext>
            </a:extLst>
          </p:cNvPr>
          <p:cNvSpPr/>
          <p:nvPr/>
        </p:nvSpPr>
        <p:spPr>
          <a:xfrm rot="5400000" flipV="1">
            <a:off x="5977122" y="5163707"/>
            <a:ext cx="208019" cy="723252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" name="Google Shape;416;p37">
            <a:extLst>
              <a:ext uri="{FF2B5EF4-FFF2-40B4-BE49-F238E27FC236}">
                <a16:creationId xmlns:a16="http://schemas.microsoft.com/office/drawing/2014/main" id="{8F04FAFC-A712-4C69-90AD-AAD1D9A42A35}"/>
              </a:ext>
            </a:extLst>
          </p:cNvPr>
          <p:cNvSpPr txBox="1"/>
          <p:nvPr/>
        </p:nvSpPr>
        <p:spPr>
          <a:xfrm>
            <a:off x="6091168" y="5086714"/>
            <a:ext cx="44615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 dirty="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415;p37">
            <a:extLst>
              <a:ext uri="{FF2B5EF4-FFF2-40B4-BE49-F238E27FC236}">
                <a16:creationId xmlns:a16="http://schemas.microsoft.com/office/drawing/2014/main" id="{FF289161-AAC3-4AD8-9A8E-5A8B74D7AE3A}"/>
              </a:ext>
            </a:extLst>
          </p:cNvPr>
          <p:cNvSpPr/>
          <p:nvPr/>
        </p:nvSpPr>
        <p:spPr>
          <a:xfrm rot="5400000" flipV="1">
            <a:off x="8514012" y="5182763"/>
            <a:ext cx="208019" cy="723252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6" name="Google Shape;416;p37">
            <a:extLst>
              <a:ext uri="{FF2B5EF4-FFF2-40B4-BE49-F238E27FC236}">
                <a16:creationId xmlns:a16="http://schemas.microsoft.com/office/drawing/2014/main" id="{4A965659-B23B-4284-A949-33052C6DF920}"/>
              </a:ext>
            </a:extLst>
          </p:cNvPr>
          <p:cNvSpPr txBox="1"/>
          <p:nvPr/>
        </p:nvSpPr>
        <p:spPr>
          <a:xfrm>
            <a:off x="8687812" y="5137285"/>
            <a:ext cx="44615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 dirty="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19060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>
            <a:spLocks noGrp="1"/>
          </p:cNvSpPr>
          <p:nvPr>
            <p:ph type="title"/>
          </p:nvPr>
        </p:nvSpPr>
        <p:spPr>
          <a:xfrm>
            <a:off x="714000" y="8638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6" name="Google Shape;436;p38"/>
          <p:cNvSpPr txBox="1">
            <a:spLocks noGrp="1"/>
          </p:cNvSpPr>
          <p:nvPr>
            <p:ph type="body" idx="1"/>
          </p:nvPr>
        </p:nvSpPr>
        <p:spPr>
          <a:xfrm>
            <a:off x="410800" y="930152"/>
            <a:ext cx="7978969" cy="302926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400" b="1" dirty="0">
                <a:latin typeface="+mn-lt"/>
              </a:rPr>
              <a:t>Problemas de la ejecución directa</a:t>
            </a:r>
            <a:r>
              <a:rPr lang="es-ES" sz="2400" dirty="0">
                <a:latin typeface="+mn-lt"/>
              </a:rPr>
              <a:t>:</a:t>
            </a:r>
          </a:p>
          <a:p>
            <a:pPr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</a:pPr>
            <a:r>
              <a:rPr lang="es-ES" sz="2200" b="1" dirty="0">
                <a:latin typeface="+mn-lt"/>
              </a:rPr>
              <a:t>¿Qué sucede si un proceso desea realizar una operación restringida?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ES" sz="1600" dirty="0">
                <a:latin typeface="+mn-lt"/>
              </a:rPr>
              <a:t>Emitir una solicitud E/S al disco.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ES" sz="1600" dirty="0">
                <a:latin typeface="+mn-lt"/>
              </a:rPr>
              <a:t>Obtener más recursos del sistema (memoria, CPU,...)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ES" sz="1600" dirty="0">
                <a:latin typeface="+mn-lt"/>
              </a:rPr>
              <a:t>Ejecutar operaciones especiales (Ejemplo: instrucción </a:t>
            </a:r>
            <a:r>
              <a:rPr lang="es-ES" sz="1600" u="sng" dirty="0">
                <a:solidFill>
                  <a:schemeClr val="accent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LIDT</a:t>
            </a:r>
            <a:r>
              <a:rPr lang="es-ES" sz="1600" dirty="0">
                <a:latin typeface="+mn-lt"/>
              </a:rPr>
              <a:t>).</a:t>
            </a:r>
          </a:p>
          <a:p>
            <a:pPr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</a:pPr>
            <a:r>
              <a:rPr lang="es-ES" sz="2200" b="1" dirty="0">
                <a:latin typeface="+mn-lt"/>
              </a:rPr>
              <a:t>¿Como hace el sistema Operativo para realizar el cambio de contexto?</a:t>
            </a:r>
            <a:endParaRPr sz="2200" b="1" dirty="0">
              <a:latin typeface="+mn-lt"/>
            </a:endParaRPr>
          </a:p>
          <a:p>
            <a:pPr marL="800100">
              <a:lnSpc>
                <a:spcPct val="100000"/>
              </a:lnSpc>
              <a:spcBef>
                <a:spcPts val="480"/>
              </a:spcBef>
            </a:pPr>
            <a:endParaRPr sz="2200" dirty="0">
              <a:latin typeface="+mn-lt"/>
            </a:endParaRPr>
          </a:p>
          <a:p>
            <a:pPr marL="800100">
              <a:lnSpc>
                <a:spcPct val="100000"/>
              </a:lnSpc>
              <a:spcBef>
                <a:spcPts val="480"/>
              </a:spcBef>
            </a:pPr>
            <a:endParaRPr sz="2200" dirty="0"/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endParaRPr sz="2400" dirty="0"/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endParaRPr sz="2400" dirty="0"/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endParaRPr sz="2400" dirty="0"/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endParaRPr sz="2400" dirty="0"/>
          </a:p>
          <a:p>
            <a:pPr marL="914400" indent="-457200">
              <a:lnSpc>
                <a:spcPct val="100000"/>
              </a:lnSpc>
              <a:spcBef>
                <a:spcPts val="480"/>
              </a:spcBef>
            </a:pPr>
            <a:endParaRPr dirty="0"/>
          </a:p>
        </p:txBody>
      </p:sp>
      <p:graphicFrame>
        <p:nvGraphicFramePr>
          <p:cNvPr id="437" name="Google Shape;437;p38"/>
          <p:cNvGraphicFramePr/>
          <p:nvPr>
            <p:extLst>
              <p:ext uri="{D42A27DB-BD31-4B8C-83A1-F6EECF244321}">
                <p14:modId xmlns:p14="http://schemas.microsoft.com/office/powerpoint/2010/main" val="1760733271"/>
              </p:ext>
            </p:extLst>
          </p:nvPr>
        </p:nvGraphicFramePr>
        <p:xfrm>
          <a:off x="8995312" y="1163683"/>
          <a:ext cx="2029692" cy="856225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76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SO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dirty="0">
                          <a:latin typeface="Consolas" panose="020B0609020204030204" pitchFamily="49" charset="0"/>
                        </a:rPr>
                        <a:t>while(1);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00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8" name="Google Shape;438;p38"/>
          <p:cNvCxnSpPr>
            <a:cxnSpLocks/>
          </p:cNvCxnSpPr>
          <p:nvPr/>
        </p:nvCxnSpPr>
        <p:spPr>
          <a:xfrm>
            <a:off x="8990444" y="879158"/>
            <a:ext cx="2701310" cy="1123715"/>
          </a:xfrm>
          <a:prstGeom prst="bentConnector3">
            <a:avLst>
              <a:gd name="adj1" fmla="val 3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0" name="Google Shape;440;p38"/>
          <p:cNvSpPr txBox="1"/>
          <p:nvPr/>
        </p:nvSpPr>
        <p:spPr>
          <a:xfrm>
            <a:off x="10695219" y="1929908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41" name="Google Shape;441;p38"/>
          <p:cNvCxnSpPr/>
          <p:nvPr/>
        </p:nvCxnSpPr>
        <p:spPr>
          <a:xfrm>
            <a:off x="5693819" y="6086746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" name="Google Shape;442;p38"/>
          <p:cNvCxnSpPr/>
          <p:nvPr/>
        </p:nvCxnSpPr>
        <p:spPr>
          <a:xfrm>
            <a:off x="7701069" y="4797633"/>
            <a:ext cx="247200" cy="131790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38"/>
          <p:cNvCxnSpPr/>
          <p:nvPr/>
        </p:nvCxnSpPr>
        <p:spPr>
          <a:xfrm rot="10800000" flipH="1">
            <a:off x="6570669" y="4781758"/>
            <a:ext cx="247200" cy="131790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38"/>
          <p:cNvSpPr/>
          <p:nvPr/>
        </p:nvSpPr>
        <p:spPr>
          <a:xfrm>
            <a:off x="6919269" y="4144608"/>
            <a:ext cx="528000" cy="5232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45" name="Google Shape;445;p38"/>
          <p:cNvCxnSpPr/>
          <p:nvPr/>
        </p:nvCxnSpPr>
        <p:spPr>
          <a:xfrm>
            <a:off x="6817857" y="4774371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8"/>
          <p:cNvCxnSpPr/>
          <p:nvPr/>
        </p:nvCxnSpPr>
        <p:spPr>
          <a:xfrm>
            <a:off x="7951244" y="6112146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7" name="Google Shape;447;p38"/>
          <p:cNvCxnSpPr/>
          <p:nvPr/>
        </p:nvCxnSpPr>
        <p:spPr>
          <a:xfrm rot="10800000" flipH="1">
            <a:off x="8831269" y="4800808"/>
            <a:ext cx="247200" cy="131790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" name="Google Shape;448;p38"/>
          <p:cNvCxnSpPr/>
          <p:nvPr/>
        </p:nvCxnSpPr>
        <p:spPr>
          <a:xfrm>
            <a:off x="9078469" y="4797621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" name="Google Shape;449;p38"/>
          <p:cNvCxnSpPr/>
          <p:nvPr/>
        </p:nvCxnSpPr>
        <p:spPr>
          <a:xfrm>
            <a:off x="9961669" y="4854133"/>
            <a:ext cx="247200" cy="131790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0" name="Google Shape;450;p38"/>
          <p:cNvCxnSpPr/>
          <p:nvPr/>
        </p:nvCxnSpPr>
        <p:spPr>
          <a:xfrm>
            <a:off x="10234169" y="6137546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1" name="Google Shape;451;p38"/>
          <p:cNvSpPr/>
          <p:nvPr/>
        </p:nvSpPr>
        <p:spPr>
          <a:xfrm>
            <a:off x="5763569" y="5389208"/>
            <a:ext cx="528000" cy="5232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SO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9256069" y="4144608"/>
            <a:ext cx="528000" cy="5232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8125769" y="5389208"/>
            <a:ext cx="528000" cy="5232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SO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10360969" y="5465408"/>
            <a:ext cx="528000" cy="5232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SO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9085069" y="2734433"/>
            <a:ext cx="699000" cy="6597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6" name="Google Shape;456;p38"/>
          <p:cNvCxnSpPr/>
          <p:nvPr/>
        </p:nvCxnSpPr>
        <p:spPr>
          <a:xfrm>
            <a:off x="10033062" y="3075689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57" name="Google Shape;45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5004" y="2796702"/>
            <a:ext cx="666750" cy="53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09;p30">
            <a:extLst>
              <a:ext uri="{FF2B5EF4-FFF2-40B4-BE49-F238E27FC236}">
                <a16:creationId xmlns:a16="http://schemas.microsoft.com/office/drawing/2014/main" id="{AF2B1F41-34C7-42F3-9D37-6B8D5017ADF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5193" y="1171611"/>
            <a:ext cx="743278" cy="64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09;p30">
            <a:extLst>
              <a:ext uri="{FF2B5EF4-FFF2-40B4-BE49-F238E27FC236}">
                <a16:creationId xmlns:a16="http://schemas.microsoft.com/office/drawing/2014/main" id="{8EACD0EF-6C7C-406C-9BEA-A3C821C34FE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569" y="5213367"/>
            <a:ext cx="743278" cy="6405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438;p38">
            <a:extLst>
              <a:ext uri="{FF2B5EF4-FFF2-40B4-BE49-F238E27FC236}">
                <a16:creationId xmlns:a16="http://schemas.microsoft.com/office/drawing/2014/main" id="{CA35CF5F-B3D1-47F2-8405-AB7EA3AD2E36}"/>
              </a:ext>
            </a:extLst>
          </p:cNvPr>
          <p:cNvCxnSpPr>
            <a:cxnSpLocks/>
          </p:cNvCxnSpPr>
          <p:nvPr/>
        </p:nvCxnSpPr>
        <p:spPr>
          <a:xfrm>
            <a:off x="5529943" y="4002587"/>
            <a:ext cx="5887252" cy="2490218"/>
          </a:xfrm>
          <a:prstGeom prst="bentConnector3">
            <a:avLst>
              <a:gd name="adj1" fmla="val -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" name="Google Shape;440;p38">
            <a:extLst>
              <a:ext uri="{FF2B5EF4-FFF2-40B4-BE49-F238E27FC236}">
                <a16:creationId xmlns:a16="http://schemas.microsoft.com/office/drawing/2014/main" id="{5586D9A7-6D51-422F-9A0A-C7B7795EF931}"/>
              </a:ext>
            </a:extLst>
          </p:cNvPr>
          <p:cNvSpPr txBox="1"/>
          <p:nvPr/>
        </p:nvSpPr>
        <p:spPr>
          <a:xfrm>
            <a:off x="11264388" y="646803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DA41BD9-5FBD-452B-99E8-C3C546030DD9}"/>
              </a:ext>
            </a:extLst>
          </p:cNvPr>
          <p:cNvCxnSpPr>
            <a:cxnSpLocks/>
          </p:cNvCxnSpPr>
          <p:nvPr/>
        </p:nvCxnSpPr>
        <p:spPr>
          <a:xfrm flipV="1">
            <a:off x="6704241" y="3988073"/>
            <a:ext cx="0" cy="25227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99D2F06-EA12-4DFA-A4A3-6517E870E0F3}"/>
              </a:ext>
            </a:extLst>
          </p:cNvPr>
          <p:cNvCxnSpPr>
            <a:cxnSpLocks/>
          </p:cNvCxnSpPr>
          <p:nvPr/>
        </p:nvCxnSpPr>
        <p:spPr>
          <a:xfrm flipV="1">
            <a:off x="7824669" y="3945281"/>
            <a:ext cx="0" cy="25227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F7C5D48-F0D1-44B1-95A2-614E1FC66132}"/>
              </a:ext>
            </a:extLst>
          </p:cNvPr>
          <p:cNvCxnSpPr>
            <a:cxnSpLocks/>
          </p:cNvCxnSpPr>
          <p:nvPr/>
        </p:nvCxnSpPr>
        <p:spPr>
          <a:xfrm flipV="1">
            <a:off x="8954869" y="4002587"/>
            <a:ext cx="0" cy="25227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BA55A8E-1255-41B0-ABD1-5572AE3B2755}"/>
              </a:ext>
            </a:extLst>
          </p:cNvPr>
          <p:cNvCxnSpPr>
            <a:cxnSpLocks/>
          </p:cNvCxnSpPr>
          <p:nvPr/>
        </p:nvCxnSpPr>
        <p:spPr>
          <a:xfrm flipV="1">
            <a:off x="10085269" y="3970051"/>
            <a:ext cx="0" cy="25227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6-Flavor Counter Electric Soda Fountain System">
            <a:extLst>
              <a:ext uri="{FF2B5EF4-FFF2-40B4-BE49-F238E27FC236}">
                <a16:creationId xmlns:a16="http://schemas.microsoft.com/office/drawing/2014/main" id="{38EE1CCB-A44E-4CAB-8262-21DA122C7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771" y="3945281"/>
            <a:ext cx="2097545" cy="193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Google Shape;415;p37">
            <a:extLst>
              <a:ext uri="{FF2B5EF4-FFF2-40B4-BE49-F238E27FC236}">
                <a16:creationId xmlns:a16="http://schemas.microsoft.com/office/drawing/2014/main" id="{F6BBC978-6495-49BD-BABF-B6B236F7C073}"/>
              </a:ext>
            </a:extLst>
          </p:cNvPr>
          <p:cNvSpPr/>
          <p:nvPr/>
        </p:nvSpPr>
        <p:spPr>
          <a:xfrm rot="5400000" flipV="1">
            <a:off x="9731375" y="661135"/>
            <a:ext cx="208019" cy="723252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4" name="Google Shape;416;p37">
            <a:extLst>
              <a:ext uri="{FF2B5EF4-FFF2-40B4-BE49-F238E27FC236}">
                <a16:creationId xmlns:a16="http://schemas.microsoft.com/office/drawing/2014/main" id="{A17543BF-774A-43F3-B2CB-211179306C31}"/>
              </a:ext>
            </a:extLst>
          </p:cNvPr>
          <p:cNvSpPr txBox="1"/>
          <p:nvPr/>
        </p:nvSpPr>
        <p:spPr>
          <a:xfrm>
            <a:off x="9905175" y="628357"/>
            <a:ext cx="44615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 dirty="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E2AFE22-A9EA-4C48-B675-D281F2CEA0AE}"/>
              </a:ext>
            </a:extLst>
          </p:cNvPr>
          <p:cNvSpPr txBox="1"/>
          <p:nvPr/>
        </p:nvSpPr>
        <p:spPr>
          <a:xfrm>
            <a:off x="666887" y="5907030"/>
            <a:ext cx="3243569" cy="73866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MX" sz="1400" b="1" dirty="0"/>
              <a:t>Autoservicio</a:t>
            </a:r>
            <a:r>
              <a:rPr lang="es-MX" sz="1400" dirty="0"/>
              <a:t> = acceso directo, sin que nadie revise cada instrucción — así es la Ejecución Directa.</a:t>
            </a:r>
            <a:endParaRPr lang="es-CO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C8ED34-A612-4F3E-A98A-C600C00FC520}"/>
              </a:ext>
            </a:extLst>
          </p:cNvPr>
          <p:cNvSpPr txBox="1"/>
          <p:nvPr/>
        </p:nvSpPr>
        <p:spPr>
          <a:xfrm>
            <a:off x="11062505" y="1435176"/>
            <a:ext cx="51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9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87561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63" name="Google Shape;463;p39"/>
          <p:cNvSpPr txBox="1">
            <a:spLocks noGrp="1"/>
          </p:cNvSpPr>
          <p:nvPr>
            <p:ph type="body" idx="1"/>
          </p:nvPr>
        </p:nvSpPr>
        <p:spPr>
          <a:xfrm>
            <a:off x="464457" y="888500"/>
            <a:ext cx="6377943" cy="581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Problemas de la ejecución directa</a:t>
            </a:r>
            <a:r>
              <a:rPr lang="es-ES" sz="2400" dirty="0">
                <a:latin typeface="+mn-lt"/>
              </a:rPr>
              <a:t>:</a:t>
            </a: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2400" b="1" dirty="0">
                <a:latin typeface="+mn-lt"/>
              </a:rPr>
              <a:t>¿Qué sucede si un proceso desea realizar una operación restringida?</a:t>
            </a: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endParaRPr lang="es-ES" sz="2400" b="1" dirty="0">
              <a:latin typeface="+mn-lt"/>
            </a:endParaRP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endParaRPr lang="es-ES" sz="2400" b="1" dirty="0">
              <a:latin typeface="+mn-lt"/>
            </a:endParaRP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endParaRPr lang="es-ES" sz="2400" b="1" dirty="0">
              <a:latin typeface="+mn-lt"/>
            </a:endParaRP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endParaRPr lang="es-ES" sz="2400" b="1" dirty="0">
              <a:latin typeface="+mn-lt"/>
            </a:endParaRPr>
          </a:p>
          <a:p>
            <a:pPr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2400" b="1" dirty="0">
                <a:latin typeface="+mn-lt"/>
              </a:rPr>
              <a:t>¿Como hace el sistema Operativo para realizar el cambio de contexto?</a:t>
            </a: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4" name="Google Shape;464;p39"/>
          <p:cNvGraphicFramePr/>
          <p:nvPr>
            <p:extLst>
              <p:ext uri="{D42A27DB-BD31-4B8C-83A1-F6EECF244321}">
                <p14:modId xmlns:p14="http://schemas.microsoft.com/office/powerpoint/2010/main" val="2223745931"/>
              </p:ext>
            </p:extLst>
          </p:nvPr>
        </p:nvGraphicFramePr>
        <p:xfrm>
          <a:off x="2703225" y="5418502"/>
          <a:ext cx="1815375" cy="856225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5" name="Google Shape;465;p39"/>
          <p:cNvCxnSpPr/>
          <p:nvPr/>
        </p:nvCxnSpPr>
        <p:spPr>
          <a:xfrm>
            <a:off x="2700450" y="5148600"/>
            <a:ext cx="2275200" cy="1116900"/>
          </a:xfrm>
          <a:prstGeom prst="bentConnector3">
            <a:avLst>
              <a:gd name="adj1" fmla="val 8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6" name="Google Shape;466;p39"/>
          <p:cNvSpPr txBox="1"/>
          <p:nvPr/>
        </p:nvSpPr>
        <p:spPr>
          <a:xfrm>
            <a:off x="1889600" y="552416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39"/>
          <p:cNvSpPr txBox="1"/>
          <p:nvPr/>
        </p:nvSpPr>
        <p:spPr>
          <a:xfrm>
            <a:off x="4405225" y="6199350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342800" y="2767225"/>
            <a:ext cx="699000" cy="6597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69" name="Google Shape;469;p39"/>
          <p:cNvCxnSpPr/>
          <p:nvPr/>
        </p:nvCxnSpPr>
        <p:spPr>
          <a:xfrm>
            <a:off x="3199842" y="3090613"/>
            <a:ext cx="883200" cy="1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70" name="Google Shape;470;p39"/>
          <p:cNvGraphicFramePr/>
          <p:nvPr>
            <p:extLst>
              <p:ext uri="{D42A27DB-BD31-4B8C-83A1-F6EECF244321}">
                <p14:modId xmlns:p14="http://schemas.microsoft.com/office/powerpoint/2010/main" val="2386808685"/>
              </p:ext>
            </p:extLst>
          </p:nvPr>
        </p:nvGraphicFramePr>
        <p:xfrm>
          <a:off x="7607300" y="2538950"/>
          <a:ext cx="3438071" cy="2773610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343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4400" b="1" dirty="0">
                          <a:solidFill>
                            <a:srgbClr val="0B6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r>
                        <a:rPr lang="es-ES" sz="4400" b="1" dirty="0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imited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4400" b="1" dirty="0">
                          <a:solidFill>
                            <a:srgbClr val="0B6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  <a:r>
                        <a:rPr lang="es-ES" sz="4400" b="1" dirty="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irect</a:t>
                      </a:r>
                      <a:r>
                        <a:rPr lang="es-ES" sz="44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s-ES" sz="4400" b="1" dirty="0">
                          <a:solidFill>
                            <a:srgbClr val="0B6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</a:t>
                      </a:r>
                      <a:r>
                        <a:rPr lang="es-ES" sz="4400" b="1" dirty="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xecution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71" name="Google Shape;47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247" y="3801389"/>
            <a:ext cx="1013903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6450" y="2829499"/>
            <a:ext cx="666750" cy="53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71;p39">
            <a:extLst>
              <a:ext uri="{FF2B5EF4-FFF2-40B4-BE49-F238E27FC236}">
                <a16:creationId xmlns:a16="http://schemas.microsoft.com/office/drawing/2014/main" id="{60744BF7-60C9-47E6-88CB-0BC854D969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247" y="2761650"/>
            <a:ext cx="1013903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Old Yellow Star with Black Outline PNG">
            <a:extLst>
              <a:ext uri="{FF2B5EF4-FFF2-40B4-BE49-F238E27FC236}">
                <a16:creationId xmlns:a16="http://schemas.microsoft.com/office/drawing/2014/main" id="{43BD30EC-7F4E-4CE8-87C6-E7C4036C4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230" y="3895711"/>
            <a:ext cx="460198" cy="46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0B53A21-3BE3-49B4-ACE3-733656352722}"/>
              </a:ext>
            </a:extLst>
          </p:cNvPr>
          <p:cNvSpPr txBox="1"/>
          <p:nvPr/>
        </p:nvSpPr>
        <p:spPr>
          <a:xfrm>
            <a:off x="6778453" y="39257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/>
              <a:t>+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4A0348-5DF3-4A5F-AC6E-D17D27E2C747}"/>
              </a:ext>
            </a:extLst>
          </p:cNvPr>
          <p:cNvSpPr txBox="1"/>
          <p:nvPr/>
        </p:nvSpPr>
        <p:spPr>
          <a:xfrm>
            <a:off x="6488940" y="5118327"/>
            <a:ext cx="5035403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MX" b="1" dirty="0"/>
              <a:t>Limited:</a:t>
            </a:r>
            <a:r>
              <a:rPr lang="es-MX" dirty="0"/>
              <a:t> restringe las capacidades de las aplicaciones (no pueden hacer lo que quieran).</a:t>
            </a:r>
            <a:br>
              <a:rPr lang="es-MX" dirty="0"/>
            </a:br>
            <a:r>
              <a:rPr lang="es-MX" b="1" dirty="0"/>
              <a:t>Direct Execution:</a:t>
            </a:r>
            <a:r>
              <a:rPr lang="es-MX" dirty="0"/>
              <a:t> aun así, el programa corre directamente en la CPU (por desempeño)</a:t>
            </a:r>
            <a:endParaRPr lang="es-CO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"/>
          <p:cNvSpPr txBox="1">
            <a:spLocks noGrp="1"/>
          </p:cNvSpPr>
          <p:nvPr>
            <p:ph type="title"/>
          </p:nvPr>
        </p:nvSpPr>
        <p:spPr>
          <a:xfrm>
            <a:off x="696172" y="3696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81" name="Google Shape;481;p40"/>
          <p:cNvGrpSpPr/>
          <p:nvPr/>
        </p:nvGrpSpPr>
        <p:grpSpPr>
          <a:xfrm>
            <a:off x="179370" y="2176820"/>
            <a:ext cx="3963394" cy="3434810"/>
            <a:chOff x="6873975" y="4368061"/>
            <a:chExt cx="2773350" cy="2292165"/>
          </a:xfrm>
        </p:grpSpPr>
        <p:sp>
          <p:nvSpPr>
            <p:cNvPr id="482" name="Google Shape;482;p40"/>
            <p:cNvSpPr/>
            <p:nvPr/>
          </p:nvSpPr>
          <p:spPr>
            <a:xfrm>
              <a:off x="7021739" y="4368061"/>
              <a:ext cx="626700" cy="5565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20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7952764" y="4368061"/>
              <a:ext cx="626700" cy="5565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20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8883789" y="4368061"/>
              <a:ext cx="626700" cy="5565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urier New"/>
                  <a:ea typeface="Courier New"/>
                  <a:cs typeface="Courier New"/>
                  <a:sym typeface="Courier New"/>
                </a:rPr>
                <a:t>P3</a:t>
              </a:r>
              <a:endParaRPr sz="20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485" name="Google Shape;48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08938" y="5848391"/>
              <a:ext cx="914354" cy="81183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6" name="Google Shape;486;p40"/>
            <p:cNvCxnSpPr/>
            <p:nvPr/>
          </p:nvCxnSpPr>
          <p:spPr>
            <a:xfrm>
              <a:off x="6873975" y="5009525"/>
              <a:ext cx="2762400" cy="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7" name="Google Shape;487;p40"/>
            <p:cNvSpPr/>
            <p:nvPr/>
          </p:nvSpPr>
          <p:spPr>
            <a:xfrm>
              <a:off x="7963114" y="5138647"/>
              <a:ext cx="606000" cy="513300"/>
            </a:xfrm>
            <a:prstGeom prst="roundRect">
              <a:avLst>
                <a:gd name="adj" fmla="val 16667"/>
              </a:avLst>
            </a:prstGeom>
            <a:solidFill>
              <a:srgbClr val="93C47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600" dirty="0"/>
            </a:p>
          </p:txBody>
        </p:sp>
        <p:cxnSp>
          <p:nvCxnSpPr>
            <p:cNvPr id="488" name="Google Shape;488;p40"/>
            <p:cNvCxnSpPr/>
            <p:nvPr/>
          </p:nvCxnSpPr>
          <p:spPr>
            <a:xfrm>
              <a:off x="6884925" y="5781050"/>
              <a:ext cx="2762400" cy="0"/>
            </a:xfrm>
            <a:prstGeom prst="straightConnector1">
              <a:avLst/>
            </a:prstGeom>
            <a:noFill/>
            <a:ln w="19050" cap="flat" cmpd="sng">
              <a:solidFill>
                <a:srgbClr val="888888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pic>
        <p:nvPicPr>
          <p:cNvPr id="489" name="Google Shape;48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148" y="1821634"/>
            <a:ext cx="5129572" cy="2770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331FADA-35B5-4FCE-9F3D-5F36FB7DF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221" y="3331543"/>
            <a:ext cx="694323" cy="69432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FCEF66D-0C93-4387-9751-1210E2E21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21" y="2241556"/>
            <a:ext cx="711588" cy="65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: una sola esquina cortada 6">
            <a:extLst>
              <a:ext uri="{FF2B5EF4-FFF2-40B4-BE49-F238E27FC236}">
                <a16:creationId xmlns:a16="http://schemas.microsoft.com/office/drawing/2014/main" id="{B25B5D7F-D980-4B0A-A515-397F340AC024}"/>
              </a:ext>
            </a:extLst>
          </p:cNvPr>
          <p:cNvSpPr/>
          <p:nvPr/>
        </p:nvSpPr>
        <p:spPr>
          <a:xfrm>
            <a:off x="5175843" y="2078718"/>
            <a:ext cx="1544272" cy="949500"/>
          </a:xfrm>
          <a:prstGeom prst="snip1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b="1" dirty="0">
                <a:solidFill>
                  <a:schemeClr val="tx1"/>
                </a:solidFill>
              </a:rPr>
              <a:t>Modo usuario</a:t>
            </a:r>
            <a:r>
              <a:rPr lang="es-MX" sz="1100" dirty="0">
                <a:solidFill>
                  <a:schemeClr val="tx1"/>
                </a:solidFill>
              </a:rPr>
              <a:t> — actúa con capacidades restringidas, sin acceso directo a los recursos del sistema.</a:t>
            </a:r>
            <a:endParaRPr lang="es-CO" sz="1600" dirty="0"/>
          </a:p>
        </p:txBody>
      </p:sp>
      <p:sp>
        <p:nvSpPr>
          <p:cNvPr id="23" name="Rectángulo: una sola esquina cortada 22">
            <a:extLst>
              <a:ext uri="{FF2B5EF4-FFF2-40B4-BE49-F238E27FC236}">
                <a16:creationId xmlns:a16="http://schemas.microsoft.com/office/drawing/2014/main" id="{53EC1738-06A9-495C-8B50-52B2F5F9FE93}"/>
              </a:ext>
            </a:extLst>
          </p:cNvPr>
          <p:cNvSpPr/>
          <p:nvPr/>
        </p:nvSpPr>
        <p:spPr>
          <a:xfrm>
            <a:off x="5175842" y="3206989"/>
            <a:ext cx="1544272" cy="949500"/>
          </a:xfrm>
          <a:prstGeom prst="snip1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b="1" dirty="0">
                <a:solidFill>
                  <a:schemeClr val="tx1"/>
                </a:solidFill>
              </a:rPr>
              <a:t>Modo kernel</a:t>
            </a:r>
            <a:r>
              <a:rPr lang="es-MX" sz="1100" dirty="0">
                <a:solidFill>
                  <a:schemeClr val="tx1"/>
                </a:solidFill>
              </a:rPr>
              <a:t> — administra y controla el acceso a todos los recursos (memoria, CPU, dispositivos).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398A0C-F13B-4BEE-A38A-AEA2B8459DF5}"/>
              </a:ext>
            </a:extLst>
          </p:cNvPr>
          <p:cNvSpPr txBox="1"/>
          <p:nvPr/>
        </p:nvSpPr>
        <p:spPr>
          <a:xfrm>
            <a:off x="7193158" y="4827352"/>
            <a:ext cx="452155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"Un gran poder conlleva una gran responsabilidad"</a:t>
            </a:r>
            <a:r>
              <a:rPr lang="es-MX" b="1" dirty="0"/>
              <a:t> </a:t>
            </a:r>
            <a:r>
              <a:rPr lang="es-MX" dirty="0"/>
              <a:t>— el SO tiene acceso total al hardware, por eso es el único que decide qué puede hacer cada proceso.</a:t>
            </a:r>
            <a:endParaRPr lang="es-CO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1"/>
          <p:cNvSpPr txBox="1">
            <a:spLocks noGrp="1"/>
          </p:cNvSpPr>
          <p:nvPr>
            <p:ph type="title"/>
          </p:nvPr>
        </p:nvSpPr>
        <p:spPr>
          <a:xfrm>
            <a:off x="435430" y="322401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5" name="Google Shape;495;p41"/>
          <p:cNvSpPr txBox="1">
            <a:spLocks noGrp="1"/>
          </p:cNvSpPr>
          <p:nvPr>
            <p:ph type="body" idx="1"/>
          </p:nvPr>
        </p:nvSpPr>
        <p:spPr>
          <a:xfrm>
            <a:off x="435430" y="1135242"/>
            <a:ext cx="11509828" cy="17385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Problema 1: Operación restringida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latin typeface="+mn-lt"/>
              </a:rPr>
              <a:t>Solución</a:t>
            </a:r>
            <a:r>
              <a:rPr lang="es-ES" sz="2200" dirty="0">
                <a:latin typeface="+mn-lt"/>
              </a:rPr>
              <a:t>: usar transferencia de control protegida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>
                <a:latin typeface="+mn-lt"/>
              </a:rPr>
              <a:t>Modo usuario</a:t>
            </a:r>
            <a:r>
              <a:rPr lang="es-ES" sz="2000" dirty="0">
                <a:latin typeface="+mn-lt"/>
              </a:rPr>
              <a:t>: Aplicaciones </a:t>
            </a:r>
            <a:r>
              <a:rPr lang="es-ES" sz="2000" b="1" dirty="0">
                <a:latin typeface="+mn-lt"/>
              </a:rPr>
              <a:t>no tienen</a:t>
            </a:r>
            <a:r>
              <a:rPr lang="es-ES" sz="2000" dirty="0">
                <a:latin typeface="+mn-lt"/>
              </a:rPr>
              <a:t> acceso total a los recursos de HW.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>
                <a:latin typeface="+mn-lt"/>
              </a:rPr>
              <a:t>Modo kernel</a:t>
            </a:r>
            <a:r>
              <a:rPr lang="es-ES" sz="2000" dirty="0">
                <a:latin typeface="+mn-lt"/>
              </a:rPr>
              <a:t>: Sistema Operativo </a:t>
            </a:r>
            <a:r>
              <a:rPr lang="es-ES" sz="2000" b="1" dirty="0">
                <a:latin typeface="+mn-lt"/>
              </a:rPr>
              <a:t>tiene</a:t>
            </a:r>
            <a:r>
              <a:rPr lang="es-ES" sz="2000" dirty="0">
                <a:latin typeface="+mn-lt"/>
              </a:rPr>
              <a:t> acceso total a los recursos de HW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97" name="Google Shape;49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033" y="2873829"/>
            <a:ext cx="4661900" cy="34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1006DB4-0829-4F31-98EE-85FC1BB23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683" y="2724894"/>
            <a:ext cx="6129494" cy="354148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CA9DC5A-5A6D-4DFF-959D-B74402B7BBB0}"/>
              </a:ext>
            </a:extLst>
          </p:cNvPr>
          <p:cNvSpPr txBox="1"/>
          <p:nvPr/>
        </p:nvSpPr>
        <p:spPr>
          <a:xfrm>
            <a:off x="5964536" y="6342404"/>
            <a:ext cx="5632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Intel® 64 and IA-32 Architectures SDM</a:t>
            </a:r>
            <a:r>
              <a:rPr lang="en-US" sz="1200" dirty="0"/>
              <a:t>, Vol. 3A — §3.4.2 "Segment Selectors" y §5.5 "Privilege Levels“ (</a:t>
            </a:r>
            <a:r>
              <a:rPr lang="en-US" sz="1200" dirty="0">
                <a:hlinkClick r:id="rId5"/>
              </a:rPr>
              <a:t>link</a:t>
            </a:r>
            <a:r>
              <a:rPr lang="en-US" sz="1200" dirty="0"/>
              <a:t>)</a:t>
            </a:r>
            <a:endParaRPr lang="es-CO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2"/>
          <p:cNvSpPr txBox="1">
            <a:spLocks noGrp="1"/>
          </p:cNvSpPr>
          <p:nvPr>
            <p:ph type="title"/>
          </p:nvPr>
        </p:nvSpPr>
        <p:spPr>
          <a:xfrm>
            <a:off x="419223" y="13662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3" name="Google Shape;503;p42"/>
          <p:cNvSpPr txBox="1">
            <a:spLocks noGrp="1"/>
          </p:cNvSpPr>
          <p:nvPr>
            <p:ph type="body" idx="1"/>
          </p:nvPr>
        </p:nvSpPr>
        <p:spPr>
          <a:xfrm>
            <a:off x="445315" y="1195645"/>
            <a:ext cx="10487400" cy="63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</a:rPr>
              <a:t>Modo kernel .vs. Modo usuario</a:t>
            </a:r>
            <a:endParaRPr sz="28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5" name="Google Shape;505;p42"/>
          <p:cNvSpPr txBox="1"/>
          <p:nvPr/>
        </p:nvSpPr>
        <p:spPr>
          <a:xfrm>
            <a:off x="2866665" y="5406695"/>
            <a:ext cx="2323800" cy="585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/>
              <a:t>Modo Kernel</a:t>
            </a:r>
            <a:endParaRPr sz="2600" b="1" dirty="0"/>
          </a:p>
        </p:txBody>
      </p:sp>
      <p:cxnSp>
        <p:nvCxnSpPr>
          <p:cNvPr id="506" name="Google Shape;506;p42"/>
          <p:cNvCxnSpPr/>
          <p:nvPr/>
        </p:nvCxnSpPr>
        <p:spPr>
          <a:xfrm>
            <a:off x="1178815" y="4424632"/>
            <a:ext cx="104013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7" name="Google Shape;5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425" y="4711757"/>
            <a:ext cx="1125700" cy="197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808" y="2070182"/>
            <a:ext cx="1252932" cy="20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2"/>
          <p:cNvSpPr txBox="1"/>
          <p:nvPr/>
        </p:nvSpPr>
        <p:spPr>
          <a:xfrm>
            <a:off x="5689015" y="2177707"/>
            <a:ext cx="5625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/>
              <a:t>Se ejecutan las aplicaciones.</a:t>
            </a:r>
            <a:endParaRPr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/>
              <a:t>Las aplicaciones solo pueden hacer un número limitado de cosas (No hay acceso privilegiado).</a:t>
            </a:r>
            <a:endParaRPr sz="2000" dirty="0"/>
          </a:p>
        </p:txBody>
      </p:sp>
      <p:sp>
        <p:nvSpPr>
          <p:cNvPr id="510" name="Google Shape;510;p42"/>
          <p:cNvSpPr txBox="1"/>
          <p:nvPr/>
        </p:nvSpPr>
        <p:spPr>
          <a:xfrm>
            <a:off x="5689015" y="4868057"/>
            <a:ext cx="61338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/>
              <a:t>Se ejecuta el sistema operativo</a:t>
            </a:r>
            <a:endParaRPr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/>
              <a:t>El SO puede hacer lo que quiera (Acceso a instrucciones privilegiadas)</a:t>
            </a:r>
            <a:endParaRPr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/>
              <a:t>Acceso al hardware.</a:t>
            </a:r>
            <a:endParaRPr sz="2000" dirty="0"/>
          </a:p>
        </p:txBody>
      </p:sp>
      <p:sp>
        <p:nvSpPr>
          <p:cNvPr id="11" name="Google Shape;505;p42">
            <a:extLst>
              <a:ext uri="{FF2B5EF4-FFF2-40B4-BE49-F238E27FC236}">
                <a16:creationId xmlns:a16="http://schemas.microsoft.com/office/drawing/2014/main" id="{B154868C-85C1-445D-94D5-D44C9C033DC9}"/>
              </a:ext>
            </a:extLst>
          </p:cNvPr>
          <p:cNvSpPr txBox="1"/>
          <p:nvPr/>
        </p:nvSpPr>
        <p:spPr>
          <a:xfrm>
            <a:off x="2866665" y="2716357"/>
            <a:ext cx="2323800" cy="585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/>
              <a:t>Modo Usuario</a:t>
            </a:r>
            <a:endParaRPr sz="26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342546" y="1698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6" name="Google Shape;516;p43"/>
          <p:cNvSpPr txBox="1">
            <a:spLocks noGrp="1"/>
          </p:cNvSpPr>
          <p:nvPr>
            <p:ph type="body" idx="1"/>
          </p:nvPr>
        </p:nvSpPr>
        <p:spPr>
          <a:xfrm>
            <a:off x="342546" y="1086339"/>
            <a:ext cx="7389163" cy="12771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¿Qué dispara el cambio de modos?</a:t>
            </a:r>
            <a:endParaRPr sz="20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b="1" dirty="0">
                <a:latin typeface="+mn-lt"/>
              </a:rPr>
              <a:t>Llamada a sistema</a:t>
            </a:r>
            <a:r>
              <a:rPr lang="es-MX" sz="2000" dirty="0">
                <a:latin typeface="+mn-lt"/>
              </a:rPr>
              <a:t>: Sw — lo pide el programa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b="1" dirty="0">
                <a:latin typeface="+mn-lt"/>
              </a:rPr>
              <a:t>Interrupción</a:t>
            </a:r>
            <a:r>
              <a:rPr lang="es-MX" sz="2000" dirty="0">
                <a:latin typeface="+mn-lt"/>
              </a:rPr>
              <a:t>: </a:t>
            </a:r>
            <a:r>
              <a:rPr lang="it-IT" sz="2000" dirty="0">
                <a:latin typeface="+mn-lt"/>
              </a:rPr>
              <a:t>Hw — lo genera un dispositivo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32" name="Grupo 531">
            <a:extLst>
              <a:ext uri="{FF2B5EF4-FFF2-40B4-BE49-F238E27FC236}">
                <a16:creationId xmlns:a16="http://schemas.microsoft.com/office/drawing/2014/main" id="{836C03DF-57E6-488A-B07E-5006C13EBAD2}"/>
              </a:ext>
            </a:extLst>
          </p:cNvPr>
          <p:cNvGrpSpPr/>
          <p:nvPr/>
        </p:nvGrpSpPr>
        <p:grpSpPr>
          <a:xfrm>
            <a:off x="8613779" y="395904"/>
            <a:ext cx="1785847" cy="1929710"/>
            <a:chOff x="8664439" y="218404"/>
            <a:chExt cx="2226144" cy="2374280"/>
          </a:xfrm>
        </p:grpSpPr>
        <p:sp>
          <p:nvSpPr>
            <p:cNvPr id="26" name="Google Shape;482;p40">
              <a:extLst>
                <a:ext uri="{FF2B5EF4-FFF2-40B4-BE49-F238E27FC236}">
                  <a16:creationId xmlns:a16="http://schemas.microsoft.com/office/drawing/2014/main" id="{57C9B625-9020-4D02-BAB3-4445743750FE}"/>
                </a:ext>
              </a:extLst>
            </p:cNvPr>
            <p:cNvSpPr/>
            <p:nvPr/>
          </p:nvSpPr>
          <p:spPr>
            <a:xfrm>
              <a:off x="8664439" y="218404"/>
              <a:ext cx="895617" cy="833915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ea typeface="Courier New"/>
                  <a:cs typeface="Courier New"/>
                  <a:sym typeface="Courier New"/>
                </a:rPr>
                <a:t>P1</a:t>
              </a:r>
              <a:endParaRPr sz="2000" b="1" dirty="0"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" name="Google Shape;483;p40">
              <a:extLst>
                <a:ext uri="{FF2B5EF4-FFF2-40B4-BE49-F238E27FC236}">
                  <a16:creationId xmlns:a16="http://schemas.microsoft.com/office/drawing/2014/main" id="{647B49AA-B191-4C9D-80CF-0E77B44F460C}"/>
                </a:ext>
              </a:extLst>
            </p:cNvPr>
            <p:cNvSpPr/>
            <p:nvPr/>
          </p:nvSpPr>
          <p:spPr>
            <a:xfrm>
              <a:off x="9994966" y="218404"/>
              <a:ext cx="895617" cy="833915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ea typeface="Courier New"/>
                  <a:cs typeface="Courier New" panose="02070309020205020404" pitchFamily="49" charset="0"/>
                  <a:sym typeface="Courier New"/>
                </a:rPr>
                <a:t>P2</a:t>
              </a:r>
              <a:endParaRPr sz="2000" b="1" dirty="0">
                <a:ea typeface="Courier New"/>
                <a:cs typeface="Courier New" panose="02070309020205020404" pitchFamily="49" charset="0"/>
                <a:sym typeface="Courier New"/>
              </a:endParaRPr>
            </a:p>
          </p:txBody>
        </p:sp>
        <p:sp>
          <p:nvSpPr>
            <p:cNvPr id="28" name="Google Shape;487;p40">
              <a:extLst>
                <a:ext uri="{FF2B5EF4-FFF2-40B4-BE49-F238E27FC236}">
                  <a16:creationId xmlns:a16="http://schemas.microsoft.com/office/drawing/2014/main" id="{E52A05AC-AF32-468C-8177-6563AF3138CF}"/>
                </a:ext>
              </a:extLst>
            </p:cNvPr>
            <p:cNvSpPr/>
            <p:nvPr/>
          </p:nvSpPr>
          <p:spPr>
            <a:xfrm>
              <a:off x="9326992" y="1823504"/>
              <a:ext cx="866034" cy="769180"/>
            </a:xfrm>
            <a:prstGeom prst="roundRect">
              <a:avLst>
                <a:gd name="adj" fmla="val 16667"/>
              </a:avLst>
            </a:prstGeom>
            <a:solidFill>
              <a:srgbClr val="93C47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ea typeface="Courier New"/>
                  <a:cs typeface="Courier New" panose="02070309020205020404" pitchFamily="49" charset="0"/>
                  <a:sym typeface="Courier New"/>
                </a:rPr>
                <a:t>SO</a:t>
              </a:r>
              <a:endParaRPr sz="1600" b="1" dirty="0">
                <a:cs typeface="Courier New" panose="02070309020205020404" pitchFamily="49" charset="0"/>
              </a:endParaRPr>
            </a:p>
          </p:txBody>
        </p:sp>
        <p:cxnSp>
          <p:nvCxnSpPr>
            <p:cNvPr id="37" name="Google Shape;334;p31">
              <a:extLst>
                <a:ext uri="{FF2B5EF4-FFF2-40B4-BE49-F238E27FC236}">
                  <a16:creationId xmlns:a16="http://schemas.microsoft.com/office/drawing/2014/main" id="{6A23E309-50CD-4178-AF60-47668A9D14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57774" y="1104277"/>
              <a:ext cx="487680" cy="297180"/>
            </a:xfrm>
            <a:prstGeom prst="straightConnector1">
              <a:avLst/>
            </a:prstGeom>
            <a:noFill/>
            <a:ln w="28575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cxnSp>
          <p:nvCxnSpPr>
            <p:cNvPr id="38" name="Google Shape;335;p31">
              <a:extLst>
                <a:ext uri="{FF2B5EF4-FFF2-40B4-BE49-F238E27FC236}">
                  <a16:creationId xmlns:a16="http://schemas.microsoft.com/office/drawing/2014/main" id="{DA9854A5-B4BD-4565-9D8E-CFD8B0BC0C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8621" y="1412071"/>
              <a:ext cx="4192" cy="342496"/>
            </a:xfrm>
            <a:prstGeom prst="straightConnector1">
              <a:avLst/>
            </a:prstGeom>
            <a:noFill/>
            <a:ln w="381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Google Shape;336;p31">
              <a:extLst>
                <a:ext uri="{FF2B5EF4-FFF2-40B4-BE49-F238E27FC236}">
                  <a16:creationId xmlns:a16="http://schemas.microsoft.com/office/drawing/2014/main" id="{82D7FD2E-A34C-42C9-B4B1-5A0C0A13714B}"/>
                </a:ext>
              </a:extLst>
            </p:cNvPr>
            <p:cNvSpPr/>
            <p:nvPr/>
          </p:nvSpPr>
          <p:spPr>
            <a:xfrm rot="16200000" flipH="1">
              <a:off x="9607206" y="1133339"/>
              <a:ext cx="258350" cy="529612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31" name="Grupo 530">
            <a:extLst>
              <a:ext uri="{FF2B5EF4-FFF2-40B4-BE49-F238E27FC236}">
                <a16:creationId xmlns:a16="http://schemas.microsoft.com/office/drawing/2014/main" id="{17392305-E328-44EB-87AB-48267AB4285A}"/>
              </a:ext>
            </a:extLst>
          </p:cNvPr>
          <p:cNvGrpSpPr/>
          <p:nvPr/>
        </p:nvGrpSpPr>
        <p:grpSpPr>
          <a:xfrm>
            <a:off x="7030178" y="2723758"/>
            <a:ext cx="4878609" cy="3964417"/>
            <a:chOff x="6369673" y="2308079"/>
            <a:chExt cx="4878609" cy="3964417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8C41E6C-3BB3-423C-B901-EF58713618C8}"/>
                </a:ext>
              </a:extLst>
            </p:cNvPr>
            <p:cNvSpPr txBox="1"/>
            <p:nvPr/>
          </p:nvSpPr>
          <p:spPr>
            <a:xfrm>
              <a:off x="9996634" y="3448604"/>
              <a:ext cx="270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0F1182C8-98FF-4940-971B-937A51EA1D85}"/>
                </a:ext>
              </a:extLst>
            </p:cNvPr>
            <p:cNvGrpSpPr/>
            <p:nvPr/>
          </p:nvGrpSpPr>
          <p:grpSpPr>
            <a:xfrm>
              <a:off x="6369673" y="2308079"/>
              <a:ext cx="3745560" cy="1164032"/>
              <a:chOff x="6338240" y="1771050"/>
              <a:chExt cx="3745560" cy="1164032"/>
            </a:xfrm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C687399A-C400-4BCF-BBF2-5CD119DECAC3}"/>
                  </a:ext>
                </a:extLst>
              </p:cNvPr>
              <p:cNvSpPr/>
              <p:nvPr/>
            </p:nvSpPr>
            <p:spPr>
              <a:xfrm>
                <a:off x="7039771" y="2369259"/>
                <a:ext cx="679666" cy="5501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P1</a:t>
                </a:r>
              </a:p>
            </p:txBody>
          </p:sp>
          <p:sp>
            <p:nvSpPr>
              <p:cNvPr id="23" name="Google Shape;415;p37">
                <a:extLst>
                  <a:ext uri="{FF2B5EF4-FFF2-40B4-BE49-F238E27FC236}">
                    <a16:creationId xmlns:a16="http://schemas.microsoft.com/office/drawing/2014/main" id="{C8BF716B-212E-47B9-941B-F905ACF61872}"/>
                  </a:ext>
                </a:extLst>
              </p:cNvPr>
              <p:cNvSpPr/>
              <p:nvPr/>
            </p:nvSpPr>
            <p:spPr>
              <a:xfrm rot="5400000" flipV="1">
                <a:off x="7648922" y="1874120"/>
                <a:ext cx="208019" cy="723252"/>
              </a:xfrm>
              <a:custGeom>
                <a:avLst/>
                <a:gdLst/>
                <a:ahLst/>
                <a:cxnLst/>
                <a:rect l="l" t="t" r="r" b="b"/>
                <a:pathLst>
                  <a:path w="10334" h="35679" extrusionOk="0">
                    <a:moveTo>
                      <a:pt x="10334" y="0"/>
                    </a:moveTo>
                    <a:cubicBezTo>
                      <a:pt x="8872" y="1852"/>
                      <a:pt x="3120" y="7116"/>
                      <a:pt x="1560" y="11113"/>
                    </a:cubicBezTo>
                    <a:cubicBezTo>
                      <a:pt x="0" y="15110"/>
                      <a:pt x="-487" y="19887"/>
                      <a:pt x="975" y="23981"/>
                    </a:cubicBezTo>
                    <a:cubicBezTo>
                      <a:pt x="2437" y="28075"/>
                      <a:pt x="8774" y="33729"/>
                      <a:pt x="10334" y="35679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4" name="Google Shape;416;p37">
                <a:extLst>
                  <a:ext uri="{FF2B5EF4-FFF2-40B4-BE49-F238E27FC236}">
                    <a16:creationId xmlns:a16="http://schemas.microsoft.com/office/drawing/2014/main" id="{8AB8DF02-F5FB-405E-9F4C-A8C5E4BE0E17}"/>
                  </a:ext>
                </a:extLst>
              </p:cNvPr>
              <p:cNvSpPr txBox="1"/>
              <p:nvPr/>
            </p:nvSpPr>
            <p:spPr>
              <a:xfrm>
                <a:off x="7551648" y="1771050"/>
                <a:ext cx="446151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solidFill>
                      <a:schemeClr val="accent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CS</a:t>
                </a:r>
                <a:endParaRPr sz="16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118EE914-0A07-4B2D-9440-D3CF5A51AF9A}"/>
                  </a:ext>
                </a:extLst>
              </p:cNvPr>
              <p:cNvSpPr/>
              <p:nvPr/>
            </p:nvSpPr>
            <p:spPr>
              <a:xfrm>
                <a:off x="7774724" y="2367911"/>
                <a:ext cx="679666" cy="5467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P2</a:t>
                </a: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FB1CE783-B06F-489A-AB7D-39DBE356E9A2}"/>
                  </a:ext>
                </a:extLst>
              </p:cNvPr>
              <p:cNvSpPr/>
              <p:nvPr/>
            </p:nvSpPr>
            <p:spPr>
              <a:xfrm>
                <a:off x="7717796" y="2368549"/>
                <a:ext cx="57780" cy="54371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0" name="Conector recto de flecha 49">
                <a:extLst>
                  <a:ext uri="{FF2B5EF4-FFF2-40B4-BE49-F238E27FC236}">
                    <a16:creationId xmlns:a16="http://schemas.microsoft.com/office/drawing/2014/main" id="{CDC74755-899E-497F-8451-964D3192EE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39771" y="1904705"/>
                <a:ext cx="1642" cy="101228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de flecha 50">
                <a:extLst>
                  <a:ext uri="{FF2B5EF4-FFF2-40B4-BE49-F238E27FC236}">
                    <a16:creationId xmlns:a16="http://schemas.microsoft.com/office/drawing/2014/main" id="{E9CEFE37-1850-408B-A8CF-C0BC50D20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9771" y="2916985"/>
                <a:ext cx="3044029" cy="1809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Google Shape;309;p30">
                <a:extLst>
                  <a:ext uri="{FF2B5EF4-FFF2-40B4-BE49-F238E27FC236}">
                    <a16:creationId xmlns:a16="http://schemas.microsoft.com/office/drawing/2014/main" id="{3C9CC2E9-F14F-463A-8820-BF650E560902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338240" y="2348944"/>
                <a:ext cx="570560" cy="539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23E8A905-AEC9-47BE-A652-AAC54BCF8C6C}"/>
                </a:ext>
              </a:extLst>
            </p:cNvPr>
            <p:cNvGrpSpPr/>
            <p:nvPr/>
          </p:nvGrpSpPr>
          <p:grpSpPr>
            <a:xfrm>
              <a:off x="7583081" y="4256143"/>
              <a:ext cx="3665201" cy="1618209"/>
              <a:chOff x="6422164" y="3182529"/>
              <a:chExt cx="3665201" cy="1618209"/>
            </a:xfrm>
          </p:grpSpPr>
          <p:sp>
            <p:nvSpPr>
              <p:cNvPr id="21" name="Google Shape;415;p37">
                <a:extLst>
                  <a:ext uri="{FF2B5EF4-FFF2-40B4-BE49-F238E27FC236}">
                    <a16:creationId xmlns:a16="http://schemas.microsoft.com/office/drawing/2014/main" id="{ADDBB08B-7B40-409E-97C8-57874FAD1F1E}"/>
                  </a:ext>
                </a:extLst>
              </p:cNvPr>
              <p:cNvSpPr/>
              <p:nvPr/>
            </p:nvSpPr>
            <p:spPr>
              <a:xfrm rot="5400000" flipV="1">
                <a:off x="8061297" y="3182624"/>
                <a:ext cx="208019" cy="723252"/>
              </a:xfrm>
              <a:custGeom>
                <a:avLst/>
                <a:gdLst/>
                <a:ahLst/>
                <a:cxnLst/>
                <a:rect l="l" t="t" r="r" b="b"/>
                <a:pathLst>
                  <a:path w="10334" h="35679" extrusionOk="0">
                    <a:moveTo>
                      <a:pt x="10334" y="0"/>
                    </a:moveTo>
                    <a:cubicBezTo>
                      <a:pt x="8872" y="1852"/>
                      <a:pt x="3120" y="7116"/>
                      <a:pt x="1560" y="11113"/>
                    </a:cubicBezTo>
                    <a:cubicBezTo>
                      <a:pt x="0" y="15110"/>
                      <a:pt x="-487" y="19887"/>
                      <a:pt x="975" y="23981"/>
                    </a:cubicBezTo>
                    <a:cubicBezTo>
                      <a:pt x="2437" y="28075"/>
                      <a:pt x="8774" y="33729"/>
                      <a:pt x="10334" y="35679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" name="Google Shape;416;p37">
                <a:extLst>
                  <a:ext uri="{FF2B5EF4-FFF2-40B4-BE49-F238E27FC236}">
                    <a16:creationId xmlns:a16="http://schemas.microsoft.com/office/drawing/2014/main" id="{E42A40E2-1E34-41E8-B1F2-96F04DD43F62}"/>
                  </a:ext>
                </a:extLst>
              </p:cNvPr>
              <p:cNvSpPr txBox="1"/>
              <p:nvPr/>
            </p:nvSpPr>
            <p:spPr>
              <a:xfrm>
                <a:off x="8190097" y="3182529"/>
                <a:ext cx="446151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solidFill>
                      <a:schemeClr val="accent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CS</a:t>
                </a:r>
                <a:endParaRPr sz="16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E35F8FEC-775C-4205-8673-18B7B0CCFB26}"/>
                  </a:ext>
                </a:extLst>
              </p:cNvPr>
              <p:cNvSpPr/>
              <p:nvPr/>
            </p:nvSpPr>
            <p:spPr>
              <a:xfrm>
                <a:off x="7177711" y="3705178"/>
                <a:ext cx="679666" cy="5501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P1</a:t>
                </a:r>
              </a:p>
            </p:txBody>
          </p:sp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783E3007-63DD-4DE4-9DC3-165CA94265F8}"/>
                  </a:ext>
                </a:extLst>
              </p:cNvPr>
              <p:cNvSpPr txBox="1"/>
              <p:nvPr/>
            </p:nvSpPr>
            <p:spPr>
              <a:xfrm>
                <a:off x="9998954" y="4236768"/>
                <a:ext cx="88411" cy="324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t</a:t>
                </a:r>
              </a:p>
            </p:txBody>
          </p:sp>
          <p:sp>
            <p:nvSpPr>
              <p:cNvPr id="64" name="Rectángulo 63">
                <a:extLst>
                  <a:ext uri="{FF2B5EF4-FFF2-40B4-BE49-F238E27FC236}">
                    <a16:creationId xmlns:a16="http://schemas.microsoft.com/office/drawing/2014/main" id="{8C6A09BD-0768-4670-950D-3FA1D9838B1B}"/>
                  </a:ext>
                </a:extLst>
              </p:cNvPr>
              <p:cNvSpPr/>
              <p:nvPr/>
            </p:nvSpPr>
            <p:spPr>
              <a:xfrm>
                <a:off x="8477250" y="3700237"/>
                <a:ext cx="663882" cy="5467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P2</a:t>
                </a:r>
              </a:p>
            </p:txBody>
          </p:sp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DF69BABF-594D-4B3C-AFBB-2AA1F7AC2D43}"/>
                  </a:ext>
                </a:extLst>
              </p:cNvPr>
              <p:cNvSpPr/>
              <p:nvPr/>
            </p:nvSpPr>
            <p:spPr>
              <a:xfrm>
                <a:off x="7856220" y="4257019"/>
                <a:ext cx="618172" cy="54371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</a:rPr>
                  <a:t>SO</a:t>
                </a:r>
              </a:p>
            </p:txBody>
          </p:sp>
          <p:cxnSp>
            <p:nvCxnSpPr>
              <p:cNvPr id="66" name="Conector recto de flecha 65">
                <a:extLst>
                  <a:ext uri="{FF2B5EF4-FFF2-40B4-BE49-F238E27FC236}">
                    <a16:creationId xmlns:a16="http://schemas.microsoft.com/office/drawing/2014/main" id="{497E4AB1-F5B5-4476-B35A-DB4E82CDE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77711" y="3240624"/>
                <a:ext cx="1642" cy="101228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de flecha 66">
                <a:extLst>
                  <a:ext uri="{FF2B5EF4-FFF2-40B4-BE49-F238E27FC236}">
                    <a16:creationId xmlns:a16="http://schemas.microsoft.com/office/drawing/2014/main" id="{ED5465EF-CD05-436B-80A4-A8A767B8A7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7711" y="4251960"/>
                <a:ext cx="2865449" cy="9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0" name="Google Shape;309;p30">
                <a:extLst>
                  <a:ext uri="{FF2B5EF4-FFF2-40B4-BE49-F238E27FC236}">
                    <a16:creationId xmlns:a16="http://schemas.microsoft.com/office/drawing/2014/main" id="{399357CE-8675-4A91-BCC4-19D5E32493AF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422164" y="3706627"/>
                <a:ext cx="570560" cy="539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12" name="Elipse 511">
              <a:extLst>
                <a:ext uri="{FF2B5EF4-FFF2-40B4-BE49-F238E27FC236}">
                  <a16:creationId xmlns:a16="http://schemas.microsoft.com/office/drawing/2014/main" id="{D5A02217-6428-4927-BE9F-36120A0C6841}"/>
                </a:ext>
              </a:extLst>
            </p:cNvPr>
            <p:cNvSpPr/>
            <p:nvPr/>
          </p:nvSpPr>
          <p:spPr>
            <a:xfrm>
              <a:off x="7651433" y="2772775"/>
              <a:ext cx="275771" cy="833915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C260CC79-8A98-43FB-BD32-1626568EA68D}"/>
                </a:ext>
              </a:extLst>
            </p:cNvPr>
            <p:cNvSpPr/>
            <p:nvPr/>
          </p:nvSpPr>
          <p:spPr>
            <a:xfrm>
              <a:off x="8775247" y="3966029"/>
              <a:ext cx="1120400" cy="230646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514" name="Conector recto de flecha 513">
              <a:extLst>
                <a:ext uri="{FF2B5EF4-FFF2-40B4-BE49-F238E27FC236}">
                  <a16:creationId xmlns:a16="http://schemas.microsoft.com/office/drawing/2014/main" id="{BA6CCB36-5417-4DCF-B86B-62BE391CF599}"/>
                </a:ext>
              </a:extLst>
            </p:cNvPr>
            <p:cNvCxnSpPr>
              <a:stCxn id="512" idx="4"/>
              <a:endCxn id="78" idx="1"/>
            </p:cNvCxnSpPr>
            <p:nvPr/>
          </p:nvCxnSpPr>
          <p:spPr>
            <a:xfrm>
              <a:off x="7789319" y="3606690"/>
              <a:ext cx="1150007" cy="6971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2" name="Picture 2" descr="icono de lupa, imágenes prediseñadas de lupa, png transparente 9589567 PNG">
              <a:extLst>
                <a:ext uri="{FF2B5EF4-FFF2-40B4-BE49-F238E27FC236}">
                  <a16:creationId xmlns:a16="http://schemas.microsoft.com/office/drawing/2014/main" id="{9B28C1CC-6546-4662-B73B-95CEC49457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57989" y="3733645"/>
              <a:ext cx="747333" cy="747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0" name="Grupo 529">
            <a:extLst>
              <a:ext uri="{FF2B5EF4-FFF2-40B4-BE49-F238E27FC236}">
                <a16:creationId xmlns:a16="http://schemas.microsoft.com/office/drawing/2014/main" id="{E1C5E64D-B9E7-4FF4-A016-D1E58C3A9C73}"/>
              </a:ext>
            </a:extLst>
          </p:cNvPr>
          <p:cNvGrpSpPr/>
          <p:nvPr/>
        </p:nvGrpSpPr>
        <p:grpSpPr>
          <a:xfrm>
            <a:off x="1031208" y="4022369"/>
            <a:ext cx="4899782" cy="1127856"/>
            <a:chOff x="820560" y="5065463"/>
            <a:chExt cx="4899782" cy="1127856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8503E31F-4071-4BE4-BD5C-C518B24BB43F}"/>
                </a:ext>
              </a:extLst>
            </p:cNvPr>
            <p:cNvSpPr/>
            <p:nvPr/>
          </p:nvSpPr>
          <p:spPr>
            <a:xfrm>
              <a:off x="1424576" y="5065463"/>
              <a:ext cx="1132115" cy="107405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400" b="1" dirty="0">
                  <a:solidFill>
                    <a:schemeClr val="tx1"/>
                  </a:solidFill>
                </a:rPr>
                <a:t>Usuario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61D56D8D-A28D-4A2F-83B6-C50A4EC3223E}"/>
                </a:ext>
              </a:extLst>
            </p:cNvPr>
            <p:cNvSpPr/>
            <p:nvPr/>
          </p:nvSpPr>
          <p:spPr>
            <a:xfrm>
              <a:off x="4042862" y="5119262"/>
              <a:ext cx="1132115" cy="107405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400" b="1" dirty="0">
                  <a:solidFill>
                    <a:schemeClr val="tx1"/>
                  </a:solidFill>
                </a:rPr>
                <a:t>Kernel</a:t>
              </a:r>
            </a:p>
          </p:txBody>
        </p:sp>
        <p:cxnSp>
          <p:nvCxnSpPr>
            <p:cNvPr id="523" name="Conector: curvado 522">
              <a:extLst>
                <a:ext uri="{FF2B5EF4-FFF2-40B4-BE49-F238E27FC236}">
                  <a16:creationId xmlns:a16="http://schemas.microsoft.com/office/drawing/2014/main" id="{CDF4E880-B963-49AA-8F8C-ABA5D0B2D526}"/>
                </a:ext>
              </a:extLst>
            </p:cNvPr>
            <p:cNvCxnSpPr>
              <a:cxnSpLocks/>
              <a:stCxn id="2" idx="7"/>
              <a:endCxn id="9" idx="1"/>
            </p:cNvCxnSpPr>
            <p:nvPr/>
          </p:nvCxnSpPr>
          <p:spPr>
            <a:xfrm rot="16200000" flipH="1">
              <a:off x="3272876" y="4340775"/>
              <a:ext cx="53799" cy="1817759"/>
            </a:xfrm>
            <a:prstGeom prst="curvedConnector3">
              <a:avLst>
                <a:gd name="adj1" fmla="val -717285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Conector: curvado 525">
              <a:extLst>
                <a:ext uri="{FF2B5EF4-FFF2-40B4-BE49-F238E27FC236}">
                  <a16:creationId xmlns:a16="http://schemas.microsoft.com/office/drawing/2014/main" id="{3BB591FB-61AD-4748-8409-445995FCEE72}"/>
                </a:ext>
              </a:extLst>
            </p:cNvPr>
            <p:cNvCxnSpPr>
              <a:cxnSpLocks/>
              <a:stCxn id="9" idx="3"/>
              <a:endCxn id="2" idx="5"/>
            </p:cNvCxnSpPr>
            <p:nvPr/>
          </p:nvCxnSpPr>
          <p:spPr>
            <a:xfrm rot="5400000" flipH="1">
              <a:off x="3272877" y="5100249"/>
              <a:ext cx="53799" cy="1817759"/>
            </a:xfrm>
            <a:prstGeom prst="curvedConnector3">
              <a:avLst>
                <a:gd name="adj1" fmla="val -717285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Google Shape;508;p42">
              <a:extLst>
                <a:ext uri="{FF2B5EF4-FFF2-40B4-BE49-F238E27FC236}">
                  <a16:creationId xmlns:a16="http://schemas.microsoft.com/office/drawing/2014/main" id="{B2A6A4CA-1D43-4D91-84EA-41BD3685FE7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20560" y="5307993"/>
              <a:ext cx="548392" cy="745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507;p42">
              <a:extLst>
                <a:ext uri="{FF2B5EF4-FFF2-40B4-BE49-F238E27FC236}">
                  <a16:creationId xmlns:a16="http://schemas.microsoft.com/office/drawing/2014/main" id="{FE789FD6-265A-4016-8A54-25E6E81714F4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97270" y="5276554"/>
              <a:ext cx="423072" cy="80898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47738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342546" y="1698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6" name="Google Shape;516;p43"/>
          <p:cNvSpPr txBox="1">
            <a:spLocks noGrp="1"/>
          </p:cNvSpPr>
          <p:nvPr>
            <p:ph type="body" idx="1"/>
          </p:nvPr>
        </p:nvSpPr>
        <p:spPr>
          <a:xfrm>
            <a:off x="342546" y="970224"/>
            <a:ext cx="5942139" cy="53289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Llamada de sistema (Syscall)</a:t>
            </a:r>
            <a:endParaRPr sz="20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El programa decide activamente invocarla — es la aplicación quien "pide" pasar a modo kernel.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No ejecuta el </a:t>
            </a:r>
            <a:r>
              <a:rPr lang="es-MX" sz="2000" b="1" dirty="0">
                <a:latin typeface="+mn-lt"/>
              </a:rPr>
              <a:t>trap</a:t>
            </a:r>
            <a:r>
              <a:rPr lang="es-MX" sz="2000" dirty="0">
                <a:latin typeface="+mn-lt"/>
              </a:rPr>
              <a:t> directamente: llama a una función de la biblioteca estándar (</a:t>
            </a:r>
            <a:r>
              <a:rPr lang="es-MX" sz="1800" b="1" dirty="0">
                <a:latin typeface="Consolas" panose="020B0609020204030204" pitchFamily="49" charset="0"/>
              </a:rPr>
              <a:t>open()</a:t>
            </a:r>
            <a:r>
              <a:rPr lang="es-MX" sz="2000" dirty="0">
                <a:latin typeface="+mn-lt"/>
              </a:rPr>
              <a:t>, en el ejemplo), que internamente coloca el número de la </a:t>
            </a:r>
            <a:r>
              <a:rPr lang="es-MX" sz="2000" b="1" dirty="0">
                <a:latin typeface="+mn-lt"/>
              </a:rPr>
              <a:t>syscall</a:t>
            </a:r>
            <a:r>
              <a:rPr lang="es-MX" sz="2000" dirty="0">
                <a:latin typeface="+mn-lt"/>
              </a:rPr>
              <a:t> en un registro y ejecuta la instrucción trap.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El SO usa ese número para buscar en la </a:t>
            </a:r>
            <a:r>
              <a:rPr lang="es-MX" sz="2000" b="1" dirty="0">
                <a:latin typeface="+mn-lt"/>
              </a:rPr>
              <a:t>syscall table</a:t>
            </a:r>
            <a:r>
              <a:rPr lang="es-MX" sz="2000" dirty="0">
                <a:latin typeface="+mn-lt"/>
              </a:rPr>
              <a:t> — así el proceso nunca indica una dirección arbitraria a la que saltar dentro del kernel, solo puede </a:t>
            </a:r>
            <a:r>
              <a:rPr lang="es-MX" sz="2000" i="1" dirty="0">
                <a:latin typeface="+mn-lt"/>
              </a:rPr>
              <a:t>pedir un servicio por número</a:t>
            </a:r>
            <a:r>
              <a:rPr lang="es-MX" sz="2000" dirty="0">
                <a:latin typeface="+mn-lt"/>
              </a:rPr>
              <a:t>. Esta indirección es en sí misma una medida de protección.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El control regresa al </a:t>
            </a:r>
            <a:r>
              <a:rPr lang="es-MX" sz="2000" b="1" dirty="0">
                <a:latin typeface="+mn-lt"/>
              </a:rPr>
              <a:t>mismo proceso</a:t>
            </a:r>
            <a:r>
              <a:rPr lang="es-MX" sz="2000" dirty="0">
                <a:latin typeface="+mn-lt"/>
              </a:rPr>
              <a:t> que hizo la llamada — veremos exactamente cómo en la siguiente diapositiva.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43" name="Google Shape;518;p43">
            <a:extLst>
              <a:ext uri="{FF2B5EF4-FFF2-40B4-BE49-F238E27FC236}">
                <a16:creationId xmlns:a16="http://schemas.microsoft.com/office/drawing/2014/main" id="{43BB5329-19BD-4712-B23B-4A556DBB4F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502" y="970224"/>
            <a:ext cx="5185051" cy="3165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5549E4B-9D78-4965-90AC-7F7238D24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647" y="4466129"/>
            <a:ext cx="382905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83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"/>
          <p:cNvSpPr txBox="1">
            <a:spLocks noGrp="1"/>
          </p:cNvSpPr>
          <p:nvPr>
            <p:ph type="title"/>
          </p:nvPr>
        </p:nvSpPr>
        <p:spPr>
          <a:xfrm>
            <a:off x="356283" y="96038"/>
            <a:ext cx="886436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26" name="Google Shape;526;p44"/>
          <p:cNvSpPr txBox="1">
            <a:spLocks noGrp="1"/>
          </p:cNvSpPr>
          <p:nvPr>
            <p:ph type="body" idx="1"/>
          </p:nvPr>
        </p:nvSpPr>
        <p:spPr>
          <a:xfrm>
            <a:off x="475073" y="953459"/>
            <a:ext cx="10487400" cy="66703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Transición entre modo usuario y modo kernel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27" name="Google Shape;52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059" y="1632629"/>
            <a:ext cx="10051276" cy="2814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FED1BF63-7D2D-41EE-93A3-39B40E91E55C}"/>
              </a:ext>
            </a:extLst>
          </p:cNvPr>
          <p:cNvGrpSpPr/>
          <p:nvPr/>
        </p:nvGrpSpPr>
        <p:grpSpPr>
          <a:xfrm>
            <a:off x="1789541" y="5294454"/>
            <a:ext cx="9048636" cy="929219"/>
            <a:chOff x="6776065" y="5615099"/>
            <a:chExt cx="5559486" cy="1058088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21DDFA1-84DD-4A97-8685-CF8D3E1CC46B}"/>
                </a:ext>
              </a:extLst>
            </p:cNvPr>
            <p:cNvGrpSpPr/>
            <p:nvPr/>
          </p:nvGrpSpPr>
          <p:grpSpPr>
            <a:xfrm>
              <a:off x="6776065" y="5615099"/>
              <a:ext cx="5294670" cy="654697"/>
              <a:chOff x="6268065" y="5704156"/>
              <a:chExt cx="5294670" cy="654697"/>
            </a:xfrm>
          </p:grpSpPr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EA2E1199-0B4F-436D-BF9E-7028E1B44F16}"/>
                  </a:ext>
                </a:extLst>
              </p:cNvPr>
              <p:cNvCxnSpPr/>
              <p:nvPr/>
            </p:nvCxnSpPr>
            <p:spPr>
              <a:xfrm>
                <a:off x="6268065" y="6358850"/>
                <a:ext cx="529467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387E074E-CFA5-4A2F-A691-DDBC61C764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72983" y="5704156"/>
                <a:ext cx="1457" cy="65469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B9ECAEE-C37F-402C-AFDA-7F64168149B0}"/>
                </a:ext>
              </a:extLst>
            </p:cNvPr>
            <p:cNvSpPr txBox="1"/>
            <p:nvPr/>
          </p:nvSpPr>
          <p:spPr>
            <a:xfrm>
              <a:off x="12070735" y="630385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grpSp>
        <p:nvGrpSpPr>
          <p:cNvPr id="12" name="Google Shape;549;p47">
            <a:extLst>
              <a:ext uri="{FF2B5EF4-FFF2-40B4-BE49-F238E27FC236}">
                <a16:creationId xmlns:a16="http://schemas.microsoft.com/office/drawing/2014/main" id="{434A6ADD-38B2-4BE9-BCC8-42824A4A6314}"/>
              </a:ext>
            </a:extLst>
          </p:cNvPr>
          <p:cNvGrpSpPr/>
          <p:nvPr/>
        </p:nvGrpSpPr>
        <p:grpSpPr>
          <a:xfrm>
            <a:off x="332891" y="5267674"/>
            <a:ext cx="1167517" cy="1012282"/>
            <a:chOff x="3388075" y="4087175"/>
            <a:chExt cx="1650900" cy="1473300"/>
          </a:xfrm>
        </p:grpSpPr>
        <p:sp>
          <p:nvSpPr>
            <p:cNvPr id="13" name="Google Shape;550;p47">
              <a:extLst>
                <a:ext uri="{FF2B5EF4-FFF2-40B4-BE49-F238E27FC236}">
                  <a16:creationId xmlns:a16="http://schemas.microsoft.com/office/drawing/2014/main" id="{E1D460A4-246B-4F47-8737-85A6E135F001}"/>
                </a:ext>
              </a:extLst>
            </p:cNvPr>
            <p:cNvSpPr/>
            <p:nvPr/>
          </p:nvSpPr>
          <p:spPr>
            <a:xfrm>
              <a:off x="3388075" y="4087175"/>
              <a:ext cx="1650900" cy="1473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3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3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" name="Google Shape;551;p47">
              <a:extLst>
                <a:ext uri="{FF2B5EF4-FFF2-40B4-BE49-F238E27FC236}">
                  <a16:creationId xmlns:a16="http://schemas.microsoft.com/office/drawing/2014/main" id="{01FB63AF-EF16-4F38-9533-6573464718BA}"/>
                </a:ext>
              </a:extLst>
            </p:cNvPr>
            <p:cNvSpPr/>
            <p:nvPr/>
          </p:nvSpPr>
          <p:spPr>
            <a:xfrm>
              <a:off x="4391275" y="4899975"/>
              <a:ext cx="355500" cy="3810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52;p47">
              <a:extLst>
                <a:ext uri="{FF2B5EF4-FFF2-40B4-BE49-F238E27FC236}">
                  <a16:creationId xmlns:a16="http://schemas.microsoft.com/office/drawing/2014/main" id="{9784AF1F-BE2A-4B1D-9E73-7E8ACFC53DC4}"/>
                </a:ext>
              </a:extLst>
            </p:cNvPr>
            <p:cNvSpPr txBox="1"/>
            <p:nvPr/>
          </p:nvSpPr>
          <p:spPr>
            <a:xfrm>
              <a:off x="3421152" y="4832677"/>
              <a:ext cx="970124" cy="5822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urier New"/>
                  <a:ea typeface="Courier New"/>
                  <a:cs typeface="Courier New"/>
                  <a:sym typeface="Courier New"/>
                </a:rPr>
                <a:t>mode</a:t>
              </a:r>
              <a:endParaRPr sz="1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7"/>
          <p:cNvSpPr txBox="1">
            <a:spLocks noGrp="1"/>
          </p:cNvSpPr>
          <p:nvPr>
            <p:ph type="title"/>
          </p:nvPr>
        </p:nvSpPr>
        <p:spPr>
          <a:xfrm>
            <a:off x="460204" y="232489"/>
            <a:ext cx="91127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/>
          </a:p>
        </p:txBody>
      </p:sp>
      <p:sp>
        <p:nvSpPr>
          <p:cNvPr id="548" name="Google Shape;548;p47"/>
          <p:cNvSpPr txBox="1">
            <a:spLocks noGrp="1"/>
          </p:cNvSpPr>
          <p:nvPr>
            <p:ph type="body" idx="1"/>
          </p:nvPr>
        </p:nvSpPr>
        <p:spPr>
          <a:xfrm>
            <a:off x="460204" y="1081725"/>
            <a:ext cx="11271591" cy="256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Llamadas al sistema (Syscalls)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Instrucción </a:t>
            </a:r>
            <a:r>
              <a:rPr lang="es-ES" sz="2000" b="1" dirty="0">
                <a:solidFill>
                  <a:srgbClr val="92D05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trap</a:t>
            </a:r>
            <a:r>
              <a:rPr lang="es-ES" sz="2200" dirty="0">
                <a:latin typeface="+mn-lt"/>
              </a:rPr>
              <a:t>: Instrucción que permite simultáneamente: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Cambiar de modo usuario a modo kernel.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Cambiar el bit de modo de la CPU (</a:t>
            </a:r>
            <a:r>
              <a:rPr lang="es-ES" sz="2000" dirty="0">
                <a:latin typeface="+mn-lt"/>
                <a:ea typeface="Courier New"/>
                <a:cs typeface="Courier New"/>
                <a:sym typeface="Courier New"/>
              </a:rPr>
              <a:t>mode bit = 0</a:t>
            </a:r>
            <a:r>
              <a:rPr lang="es-ES" sz="2000" dirty="0">
                <a:latin typeface="+mn-lt"/>
              </a:rPr>
              <a:t>) para entrar al modo kernel.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Instrucción </a:t>
            </a:r>
            <a:r>
              <a:rPr lang="es-ES" sz="2000" b="1" dirty="0">
                <a:solidFill>
                  <a:srgbClr val="C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return from trap</a:t>
            </a:r>
            <a:r>
              <a:rPr lang="es-ES" sz="2200" dirty="0">
                <a:latin typeface="+mn-lt"/>
              </a:rPr>
              <a:t>: Permite: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Retornar al modo usuario.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Restablece CPU (</a:t>
            </a:r>
            <a:r>
              <a:rPr lang="es-ES" sz="2000" dirty="0">
                <a:latin typeface="+mn-lt"/>
                <a:ea typeface="Courier New"/>
                <a:cs typeface="Courier New"/>
                <a:sym typeface="Courier New"/>
              </a:rPr>
              <a:t>mode bit = 1</a:t>
            </a:r>
            <a:r>
              <a:rPr lang="es-ES" sz="2000" dirty="0">
                <a:latin typeface="+mn-lt"/>
              </a:rPr>
              <a:t>) a modo usuario.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49" name="Google Shape;549;p47"/>
          <p:cNvGrpSpPr/>
          <p:nvPr/>
        </p:nvGrpSpPr>
        <p:grpSpPr>
          <a:xfrm>
            <a:off x="2257775" y="4582475"/>
            <a:ext cx="1650900" cy="1473300"/>
            <a:chOff x="3388075" y="4087175"/>
            <a:chExt cx="1650900" cy="1473300"/>
          </a:xfrm>
        </p:grpSpPr>
        <p:sp>
          <p:nvSpPr>
            <p:cNvPr id="550" name="Google Shape;550;p47"/>
            <p:cNvSpPr/>
            <p:nvPr/>
          </p:nvSpPr>
          <p:spPr>
            <a:xfrm>
              <a:off x="3388075" y="4087175"/>
              <a:ext cx="1650900" cy="1473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3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3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51" name="Google Shape;551;p47"/>
            <p:cNvSpPr/>
            <p:nvPr/>
          </p:nvSpPr>
          <p:spPr>
            <a:xfrm>
              <a:off x="4391275" y="4899975"/>
              <a:ext cx="355500" cy="3810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7"/>
            <p:cNvSpPr txBox="1"/>
            <p:nvPr/>
          </p:nvSpPr>
          <p:spPr>
            <a:xfrm>
              <a:off x="3680275" y="4874925"/>
              <a:ext cx="711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mode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53" name="Google Shape;553;p47"/>
          <p:cNvSpPr/>
          <p:nvPr/>
        </p:nvSpPr>
        <p:spPr>
          <a:xfrm>
            <a:off x="8836375" y="4690425"/>
            <a:ext cx="1473300" cy="14733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Kernel</a:t>
            </a:r>
            <a:endParaRPr sz="1800" b="1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(mode = 0)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554" name="Google Shape;554;p47"/>
          <p:cNvSpPr/>
          <p:nvPr/>
        </p:nvSpPr>
        <p:spPr>
          <a:xfrm>
            <a:off x="5635875" y="4582475"/>
            <a:ext cx="1473300" cy="14733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User</a:t>
            </a:r>
            <a:endParaRPr sz="1800" b="1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(mode = 1)</a:t>
            </a:r>
            <a:endParaRPr sz="11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55" name="Google Shape;555;p47"/>
          <p:cNvCxnSpPr>
            <a:stCxn id="554" idx="0"/>
            <a:endCxn id="553" idx="0"/>
          </p:cNvCxnSpPr>
          <p:nvPr/>
        </p:nvCxnSpPr>
        <p:spPr>
          <a:xfrm rot="-5400000" flipH="1">
            <a:off x="7918725" y="3036275"/>
            <a:ext cx="108000" cy="3200400"/>
          </a:xfrm>
          <a:prstGeom prst="curvedConnector3">
            <a:avLst>
              <a:gd name="adj1" fmla="val -32925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6" name="Google Shape;556;p47"/>
          <p:cNvCxnSpPr>
            <a:stCxn id="553" idx="4"/>
            <a:endCxn id="554" idx="4"/>
          </p:cNvCxnSpPr>
          <p:nvPr/>
        </p:nvCxnSpPr>
        <p:spPr>
          <a:xfrm rot="5400000" flipH="1">
            <a:off x="7918825" y="4509525"/>
            <a:ext cx="108000" cy="3200400"/>
          </a:xfrm>
          <a:prstGeom prst="curvedConnector3">
            <a:avLst>
              <a:gd name="adj1" fmla="val -32328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7" name="Google Shape;557;p47"/>
          <p:cNvSpPr txBox="1"/>
          <p:nvPr/>
        </p:nvSpPr>
        <p:spPr>
          <a:xfrm>
            <a:off x="7458375" y="4242788"/>
            <a:ext cx="9525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trap</a:t>
            </a:r>
            <a:endParaRPr sz="1200" dirty="0">
              <a:solidFill>
                <a:schemeClr val="accent6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558" name="Google Shape;558;p47"/>
          <p:cNvSpPr txBox="1"/>
          <p:nvPr/>
        </p:nvSpPr>
        <p:spPr>
          <a:xfrm>
            <a:off x="6882339" y="6005051"/>
            <a:ext cx="2104572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return from trap</a:t>
            </a:r>
            <a:endParaRPr sz="1200" dirty="0">
              <a:solidFill>
                <a:srgbClr val="FF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5"/>
          <p:cNvSpPr txBox="1">
            <a:spLocks noGrp="1"/>
          </p:cNvSpPr>
          <p:nvPr>
            <p:ph type="title"/>
          </p:nvPr>
        </p:nvSpPr>
        <p:spPr>
          <a:xfrm>
            <a:off x="435430" y="96038"/>
            <a:ext cx="878522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3" name="Google Shape;533;p45"/>
          <p:cNvSpPr txBox="1">
            <a:spLocks noGrp="1"/>
          </p:cNvSpPr>
          <p:nvPr>
            <p:ph type="body" idx="1"/>
          </p:nvPr>
        </p:nvSpPr>
        <p:spPr>
          <a:xfrm>
            <a:off x="435430" y="1104400"/>
            <a:ext cx="5994400" cy="519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Llamadas al sistema (Syscalls)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Interfaz de programación que permite al SO exponer ciertas funcionalidades clave a los programas de usuario: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Normalmente escritas en un lenguaje de alto nivel (como C o C++).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Los programas acceden a estas principalmente a través de una interfaz de programación (API) de alto nivel en lugar hacerlo directamente.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APIs más comunes:</a:t>
            </a:r>
            <a:endParaRPr sz="20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000" dirty="0">
                <a:latin typeface="+mn-lt"/>
              </a:rPr>
              <a:t>Win32 (Windows)</a:t>
            </a:r>
            <a:endParaRPr sz="20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000" dirty="0">
                <a:latin typeface="+mn-lt"/>
              </a:rPr>
              <a:t>POSIX (Linux, Mac OS, Unix)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API de Java (JVM)</a:t>
            </a:r>
            <a:br>
              <a:rPr lang="es-ES" sz="2000" dirty="0"/>
            </a:b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34" name="Google Shape;5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014" y="1275562"/>
            <a:ext cx="4554072" cy="51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6"/>
          <p:cNvSpPr txBox="1">
            <a:spLocks noGrp="1"/>
          </p:cNvSpPr>
          <p:nvPr>
            <p:ph type="title"/>
          </p:nvPr>
        </p:nvSpPr>
        <p:spPr>
          <a:xfrm>
            <a:off x="420914" y="122788"/>
            <a:ext cx="85820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41" name="Google Shape;54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036" y="1151608"/>
            <a:ext cx="4499169" cy="50223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294DEC-C0B4-4951-9513-4876384B7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913" y="1233258"/>
            <a:ext cx="6037943" cy="4859100"/>
          </a:xfrm>
        </p:spPr>
        <p:txBody>
          <a:bodyPr/>
          <a:lstStyle/>
          <a:p>
            <a:pPr marL="114300" indent="0">
              <a:buNone/>
            </a:pPr>
            <a:r>
              <a:rPr lang="es-CO" sz="2400" b="1" dirty="0">
                <a:latin typeface="+mn-lt"/>
              </a:rPr>
              <a:t>Llamadas al sistema (Syscalls)</a:t>
            </a:r>
            <a:endParaRPr lang="es-CO" sz="2400" dirty="0">
              <a:latin typeface="+mn-lt"/>
            </a:endParaRPr>
          </a:p>
          <a:p>
            <a:r>
              <a:rPr lang="es-MX" sz="2000" dirty="0">
                <a:latin typeface="+mn-lt"/>
              </a:rPr>
              <a:t>Cada sistema operativo expone las mismas funciones básicas — pero con nombres y firmas distintas. La tabla compara Windows (Win32) y Unix (POSIX) para la misma funcionalidad.</a:t>
            </a:r>
          </a:p>
          <a:p>
            <a:r>
              <a:rPr lang="es-MX" sz="2000" dirty="0">
                <a:latin typeface="+mn-lt"/>
              </a:rPr>
              <a:t>La fila </a:t>
            </a:r>
            <a:r>
              <a:rPr lang="es-MX" sz="2000" b="1" dirty="0">
                <a:latin typeface="+mn-lt"/>
              </a:rPr>
              <a:t>Process control</a:t>
            </a:r>
            <a:r>
              <a:rPr lang="es-MX" sz="2000" dirty="0">
                <a:latin typeface="+mn-lt"/>
              </a:rPr>
              <a:t> es la versión concreta de la API de procesos que ya vimos (</a:t>
            </a:r>
            <a:r>
              <a:rPr lang="es-MX" sz="2000" b="1" dirty="0">
                <a:latin typeface="+mn-lt"/>
              </a:rPr>
              <a:t>Crear</a:t>
            </a:r>
            <a:r>
              <a:rPr lang="es-MX" sz="2000" dirty="0">
                <a:latin typeface="+mn-lt"/>
              </a:rPr>
              <a:t>/</a:t>
            </a:r>
            <a:r>
              <a:rPr lang="es-MX" sz="2000" b="1" dirty="0">
                <a:latin typeface="+mn-lt"/>
              </a:rPr>
              <a:t>Eliminar</a:t>
            </a:r>
            <a:r>
              <a:rPr lang="es-MX" sz="2000" dirty="0">
                <a:latin typeface="+mn-lt"/>
              </a:rPr>
              <a:t>/</a:t>
            </a:r>
            <a:r>
              <a:rPr lang="es-MX" sz="2000" b="1" dirty="0">
                <a:latin typeface="+mn-lt"/>
              </a:rPr>
              <a:t>Esperar</a:t>
            </a:r>
            <a:r>
              <a:rPr lang="es-MX" sz="2000" dirty="0">
                <a:latin typeface="+mn-lt"/>
              </a:rPr>
              <a:t>): </a:t>
            </a:r>
            <a:r>
              <a:rPr lang="es-MX" sz="1800" dirty="0" err="1">
                <a:latin typeface="Consolas" panose="020B0609020204030204" pitchFamily="49" charset="0"/>
              </a:rPr>
              <a:t>fork</a:t>
            </a:r>
            <a:r>
              <a:rPr lang="es-MX" sz="1800" dirty="0">
                <a:latin typeface="Consolas" panose="020B0609020204030204" pitchFamily="49" charset="0"/>
              </a:rPr>
              <a:t>()/</a:t>
            </a:r>
            <a:r>
              <a:rPr lang="es-MX" sz="1800" dirty="0" err="1">
                <a:latin typeface="Consolas" panose="020B0609020204030204" pitchFamily="49" charset="0"/>
              </a:rPr>
              <a:t>exit</a:t>
            </a:r>
            <a:r>
              <a:rPr lang="es-MX" sz="1800" dirty="0">
                <a:latin typeface="Consolas" panose="020B0609020204030204" pitchFamily="49" charset="0"/>
              </a:rPr>
              <a:t>()/</a:t>
            </a:r>
            <a:r>
              <a:rPr lang="es-MX" sz="1800" dirty="0" err="1">
                <a:latin typeface="Consolas" panose="020B0609020204030204" pitchFamily="49" charset="0"/>
              </a:rPr>
              <a:t>wait</a:t>
            </a:r>
            <a:r>
              <a:rPr lang="es-MX" sz="1800" dirty="0">
                <a:latin typeface="Consolas" panose="020B0609020204030204" pitchFamily="49" charset="0"/>
              </a:rPr>
              <a:t>()</a:t>
            </a:r>
            <a:r>
              <a:rPr lang="es-MX" sz="2000" dirty="0">
                <a:latin typeface="+mn-lt"/>
              </a:rPr>
              <a:t> en Unix son la implementación real de esas operaciones abstractas.</a:t>
            </a:r>
          </a:p>
          <a:p>
            <a:r>
              <a:rPr lang="es-MX" sz="2000" dirty="0">
                <a:latin typeface="+mn-lt"/>
              </a:rPr>
              <a:t>Esto es justo la idea de "API de alto nivel" de la diapositiva anterior: el programador casi nunca llama al número de syscall directamente — llama a </a:t>
            </a:r>
            <a:r>
              <a:rPr lang="es-MX" sz="1800" dirty="0">
                <a:latin typeface="Consolas" panose="020B0609020204030204" pitchFamily="49" charset="0"/>
              </a:rPr>
              <a:t>open()</a:t>
            </a:r>
            <a:r>
              <a:rPr lang="es-MX" sz="2000" dirty="0">
                <a:latin typeface="+mn-lt"/>
              </a:rPr>
              <a:t>, </a:t>
            </a:r>
            <a:r>
              <a:rPr lang="es-MX" sz="1800" dirty="0">
                <a:latin typeface="Consolas" panose="020B0609020204030204" pitchFamily="49" charset="0"/>
              </a:rPr>
              <a:t>read()</a:t>
            </a:r>
            <a:r>
              <a:rPr lang="es-MX" sz="2000" dirty="0">
                <a:latin typeface="+mn-lt"/>
              </a:rPr>
              <a:t>, etc., y es la biblioteca estándar (</a:t>
            </a:r>
            <a:r>
              <a:rPr lang="es-MX" sz="2000" b="1" dirty="0">
                <a:latin typeface="+mn-lt"/>
              </a:rPr>
              <a:t>libc</a:t>
            </a:r>
            <a:r>
              <a:rPr lang="es-MX" sz="2000" dirty="0">
                <a:latin typeface="+mn-lt"/>
              </a:rPr>
              <a:t>) quien resuelve el número y ejecuta el trap.</a:t>
            </a:r>
            <a:endParaRPr lang="es-CO" sz="2000" dirty="0"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342546" y="1698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6" name="Google Shape;516;p43"/>
          <p:cNvSpPr txBox="1">
            <a:spLocks noGrp="1"/>
          </p:cNvSpPr>
          <p:nvPr>
            <p:ph type="body" idx="1"/>
          </p:nvPr>
        </p:nvSpPr>
        <p:spPr>
          <a:xfrm>
            <a:off x="342546" y="924568"/>
            <a:ext cx="11384997" cy="19339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Interruciones - ¿Qué dispara una interrupción?</a:t>
            </a:r>
            <a:endParaRPr sz="24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A diferencia de la syscall, aquí el programa no pide nada — el evento lo dispara un dispositivo externo, en cualquier momento, sin que ningún proceso lo sepa (por eso es Hw, asíncrono).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El procesador ya sabe qué hacer: igual que con la syscall table, el SO configuró desde el </a:t>
            </a:r>
            <a:r>
              <a:rPr lang="es-MX" sz="2000" b="1" dirty="0">
                <a:latin typeface="+mn-lt"/>
              </a:rPr>
              <a:t>boot</a:t>
            </a:r>
            <a:r>
              <a:rPr lang="es-MX" sz="2000" dirty="0">
                <a:latin typeface="+mn-lt"/>
              </a:rPr>
              <a:t> una dirección de manejador para cada línea de interrupción (el equivalente, para hardware, de la trap table).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CO"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E3C485A-6F61-4B5F-BEB1-48B4E239F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479" y="3613254"/>
            <a:ext cx="6363054" cy="2620081"/>
          </a:xfrm>
          <a:prstGeom prst="rect">
            <a:avLst/>
          </a:prstGeom>
        </p:spPr>
      </p:pic>
      <p:pic>
        <p:nvPicPr>
          <p:cNvPr id="8195" name="Picture 3">
            <a:extLst>
              <a:ext uri="{FF2B5EF4-FFF2-40B4-BE49-F238E27FC236}">
                <a16:creationId xmlns:a16="http://schemas.microsoft.com/office/drawing/2014/main" id="{C2B151BF-FD33-4539-95C0-FA49568AF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03" y="3038461"/>
            <a:ext cx="4293961" cy="340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342546" y="1698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6" name="Google Shape;516;p43"/>
          <p:cNvSpPr txBox="1">
            <a:spLocks noGrp="1"/>
          </p:cNvSpPr>
          <p:nvPr>
            <p:ph type="body" idx="1"/>
          </p:nvPr>
        </p:nvSpPr>
        <p:spPr>
          <a:xfrm>
            <a:off x="342546" y="874958"/>
            <a:ext cx="7683854" cy="29453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Interruciones - Mecanismo: ¿quién atiende la interrupción?</a:t>
            </a:r>
            <a:endParaRPr sz="24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El SO revisa si hay un manejador registrado para esa línea específica (</a:t>
            </a:r>
            <a:r>
              <a:rPr lang="es-MX" sz="1800" dirty="0">
                <a:latin typeface="Consolas" panose="020B0609020204030204" pitchFamily="49" charset="0"/>
              </a:rPr>
              <a:t>do_IRQ()</a:t>
            </a:r>
            <a:r>
              <a:rPr lang="es-MX" sz="2000" dirty="0">
                <a:latin typeface="+mn-lt"/>
              </a:rPr>
              <a:t>):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MX" sz="1600" b="1" dirty="0">
                <a:latin typeface="+mn-lt"/>
              </a:rPr>
              <a:t>Si lo hay</a:t>
            </a:r>
            <a:r>
              <a:rPr lang="es-MX" sz="1600" dirty="0">
                <a:latin typeface="+mn-lt"/>
              </a:rPr>
              <a:t>: ejecuta todos los manejadores registrados en esa línea (</a:t>
            </a:r>
            <a:r>
              <a:rPr lang="es-MX" sz="1400" dirty="0">
                <a:latin typeface="Consolas" panose="020B0609020204030204" pitchFamily="49" charset="0"/>
              </a:rPr>
              <a:t>handle_IRQ_event()</a:t>
            </a:r>
            <a:r>
              <a:rPr lang="es-MX" sz="1600" dirty="0">
                <a:latin typeface="+mn-lt"/>
              </a:rPr>
              <a:t>) — puede haber más de un dispositivo compartiendo la misma línea.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MX" sz="1600" b="1" dirty="0">
                <a:latin typeface="+mn-lt"/>
              </a:rPr>
              <a:t>Si no lo hay</a:t>
            </a:r>
            <a:r>
              <a:rPr lang="es-MX" sz="1600" dirty="0">
                <a:latin typeface="+mn-lt"/>
              </a:rPr>
              <a:t>: no hace nada (interrupción "espuria").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En ambos casos, se retorna exactamente a donde el procesador estaba antes de ser interrumpido (</a:t>
            </a:r>
            <a:r>
              <a:rPr lang="es-MX" sz="1800" dirty="0">
                <a:latin typeface="Consolas" panose="020B0609020204030204" pitchFamily="49" charset="0"/>
              </a:rPr>
              <a:t>ret_from_intr()</a:t>
            </a:r>
            <a:r>
              <a:rPr lang="es-MX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416E38DB-2E42-4AA5-8A03-E43268E8E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15" y="3984113"/>
            <a:ext cx="6089014" cy="2537089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4E5CD164-2CEA-4F9F-97DC-3D1772E2A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38" y="1792424"/>
            <a:ext cx="6083519" cy="405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80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342546" y="1698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6" name="Google Shape;516;p43"/>
          <p:cNvSpPr txBox="1">
            <a:spLocks noGrp="1"/>
          </p:cNvSpPr>
          <p:nvPr>
            <p:ph type="body" idx="1"/>
          </p:nvPr>
        </p:nvSpPr>
        <p:spPr>
          <a:xfrm>
            <a:off x="342546" y="817192"/>
            <a:ext cx="8051068" cy="28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</a:rPr>
              <a:t>Interruciones - Ejemplo: el teclado</a:t>
            </a:r>
            <a:endParaRPr sz="24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b="1" dirty="0">
                <a:latin typeface="+mn-lt"/>
              </a:rPr>
              <a:t>Ejemplo — teclado</a:t>
            </a:r>
            <a:r>
              <a:rPr lang="es-MX" sz="2000" dirty="0">
                <a:latin typeface="+mn-lt"/>
              </a:rPr>
              <a:t>: Cuando presionas una tecla, el controlador del teclado genera una señal eléctrica hacia el interrupt controller, que a su vez interrumpe al procesador — sin importar qué estaba haciendo la CPU en ese instante.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Es el mismo principio del </a:t>
            </a:r>
            <a:r>
              <a:rPr lang="es-MX" sz="1800" b="1" dirty="0">
                <a:latin typeface="Consolas" panose="020B0609020204030204" pitchFamily="49" charset="0"/>
              </a:rPr>
              <a:t>return-</a:t>
            </a:r>
            <a:r>
              <a:rPr lang="es-MX" sz="1800" b="1" dirty="0" err="1">
                <a:latin typeface="Consolas" panose="020B0609020204030204" pitchFamily="49" charset="0"/>
              </a:rPr>
              <a:t>from</a:t>
            </a:r>
            <a:r>
              <a:rPr lang="es-MX" sz="1800" b="1" dirty="0">
                <a:latin typeface="Consolas" panose="020B0609020204030204" pitchFamily="49" charset="0"/>
              </a:rPr>
              <a:t>-trap</a:t>
            </a:r>
            <a:r>
              <a:rPr lang="es-MX" sz="2000" dirty="0">
                <a:latin typeface="+mn-lt"/>
              </a:rPr>
              <a:t> que ya vimos con las </a:t>
            </a:r>
            <a:r>
              <a:rPr lang="es-MX" sz="2000" b="1" dirty="0">
                <a:latin typeface="+mn-lt"/>
              </a:rPr>
              <a:t>syscalls</a:t>
            </a:r>
            <a:r>
              <a:rPr lang="es-MX" sz="2000" dirty="0">
                <a:latin typeface="+mn-lt"/>
              </a:rPr>
              <a:t> — solo que aquí el punto de retorno pudo ser cualquier instrucción en ejecución, no necesariamente un trap explícito.</a:t>
            </a:r>
            <a:endParaRPr sz="18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517" name="Google Shape;51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01" y="3760171"/>
            <a:ext cx="5986098" cy="2868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3B58C4-D93D-437A-B997-67FA1AA74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970" y="742896"/>
            <a:ext cx="6191697" cy="53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5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"/>
          <p:cNvSpPr txBox="1">
            <a:spLocks noGrp="1"/>
          </p:cNvSpPr>
          <p:nvPr>
            <p:ph type="title"/>
          </p:nvPr>
        </p:nvSpPr>
        <p:spPr>
          <a:xfrm>
            <a:off x="595085" y="96038"/>
            <a:ext cx="99422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 - Protocolo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4" name="Google Shape;564;p48"/>
          <p:cNvSpPr txBox="1">
            <a:spLocks noGrp="1"/>
          </p:cNvSpPr>
          <p:nvPr>
            <p:ph type="body" idx="1"/>
          </p:nvPr>
        </p:nvSpPr>
        <p:spPr>
          <a:xfrm>
            <a:off x="595085" y="859358"/>
            <a:ext cx="6877350" cy="46418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Boot </a:t>
            </a:r>
            <a:r>
              <a:rPr lang="es-ES" sz="2000" b="1" dirty="0" err="1">
                <a:latin typeface="+mn-lt"/>
              </a:rPr>
              <a:t>process</a:t>
            </a:r>
            <a:endParaRPr b="1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787BFC-279D-434C-812A-6EAEA678E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06" y="1407644"/>
            <a:ext cx="4442321" cy="5072009"/>
          </a:xfrm>
          <a:prstGeom prst="rect">
            <a:avLst/>
          </a:prstGeom>
        </p:spPr>
      </p:pic>
      <p:sp>
        <p:nvSpPr>
          <p:cNvPr id="26" name="Google Shape;580;p48">
            <a:extLst>
              <a:ext uri="{FF2B5EF4-FFF2-40B4-BE49-F238E27FC236}">
                <a16:creationId xmlns:a16="http://schemas.microsoft.com/office/drawing/2014/main" id="{5E2A1561-8302-4C67-88CB-7F484D866BD7}"/>
              </a:ext>
            </a:extLst>
          </p:cNvPr>
          <p:cNvSpPr txBox="1"/>
          <p:nvPr/>
        </p:nvSpPr>
        <p:spPr>
          <a:xfrm>
            <a:off x="7105337" y="6119099"/>
            <a:ext cx="4606163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dirty="0"/>
              <a:t>Recomendación</a:t>
            </a:r>
            <a:r>
              <a:rPr lang="es-ES" sz="1000" dirty="0"/>
              <a:t>: Antes de empezar esta parte vea el video </a:t>
            </a:r>
            <a:r>
              <a:rPr lang="es-ES" sz="1000" b="1" dirty="0" err="1"/>
              <a:t>Computer</a:t>
            </a:r>
            <a:r>
              <a:rPr lang="es-ES" sz="1000" b="1" dirty="0"/>
              <a:t> Boot </a:t>
            </a:r>
            <a:r>
              <a:rPr lang="es-ES" sz="1000" b="1" dirty="0" err="1"/>
              <a:t>Process</a:t>
            </a:r>
            <a:r>
              <a:rPr lang="es-ES" sz="1000" b="1" dirty="0"/>
              <a:t> </a:t>
            </a:r>
            <a:r>
              <a:rPr lang="es-ES" sz="1000" b="1" dirty="0" err="1"/>
              <a:t>animation</a:t>
            </a:r>
            <a:r>
              <a:rPr lang="es-ES" sz="1000" b="1" dirty="0"/>
              <a:t> </a:t>
            </a:r>
            <a:r>
              <a:rPr lang="es-ES" sz="1000" u="sng" dirty="0">
                <a:solidFill>
                  <a:schemeClr val="hlink"/>
                </a:solidFill>
                <a:hlinkClick r:id="rId4"/>
              </a:rPr>
              <a:t>[link]</a:t>
            </a:r>
            <a:endParaRPr sz="1000" dirty="0"/>
          </a:p>
        </p:txBody>
      </p:sp>
      <p:sp>
        <p:nvSpPr>
          <p:cNvPr id="27" name="Google Shape;580;p48">
            <a:extLst>
              <a:ext uri="{FF2B5EF4-FFF2-40B4-BE49-F238E27FC236}">
                <a16:creationId xmlns:a16="http://schemas.microsoft.com/office/drawing/2014/main" id="{29F1085C-4286-458C-B320-9CC40F6F2D22}"/>
              </a:ext>
            </a:extLst>
          </p:cNvPr>
          <p:cNvSpPr txBox="1"/>
          <p:nvPr/>
        </p:nvSpPr>
        <p:spPr>
          <a:xfrm>
            <a:off x="480500" y="6457320"/>
            <a:ext cx="574069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dirty="0"/>
              <a:t>Imagen tomada del articulo </a:t>
            </a:r>
            <a:r>
              <a:rPr lang="en-US" sz="1000" b="1" dirty="0"/>
              <a:t>EP88: Linux Boot Process Explained </a:t>
            </a:r>
            <a:r>
              <a:rPr lang="es-ES" sz="1000" b="1" dirty="0"/>
              <a:t> </a:t>
            </a:r>
            <a:r>
              <a:rPr lang="es-ES" sz="1000" u="sng" dirty="0">
                <a:solidFill>
                  <a:schemeClr val="hlink"/>
                </a:solidFill>
                <a:hlinkClick r:id="rId5"/>
              </a:rPr>
              <a:t>[link]</a:t>
            </a:r>
            <a:endParaRPr sz="1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3CA675B-9225-4E38-84B1-666A82D6E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855" y="2075552"/>
            <a:ext cx="2851161" cy="14323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4EF8F9F-41A9-45F0-AFBF-737A01B60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948" y="2047779"/>
            <a:ext cx="2770844" cy="14601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909B2BD-EE14-4F92-B2F7-C4629E4741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335" y="3796307"/>
            <a:ext cx="2898065" cy="150009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5B58732-4BD0-4DC3-8E4B-B197A56682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948" y="3814399"/>
            <a:ext cx="2770844" cy="146390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"/>
          <p:cNvSpPr txBox="1">
            <a:spLocks noGrp="1"/>
          </p:cNvSpPr>
          <p:nvPr>
            <p:ph type="title"/>
          </p:nvPr>
        </p:nvSpPr>
        <p:spPr>
          <a:xfrm>
            <a:off x="595085" y="96038"/>
            <a:ext cx="99422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 - Protocolo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4" name="Google Shape;564;p48"/>
          <p:cNvSpPr txBox="1">
            <a:spLocks noGrp="1"/>
          </p:cNvSpPr>
          <p:nvPr>
            <p:ph type="body" idx="1"/>
          </p:nvPr>
        </p:nvSpPr>
        <p:spPr>
          <a:xfrm>
            <a:off x="739070" y="1073467"/>
            <a:ext cx="6877350" cy="46418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SO @ Boot</a:t>
            </a:r>
            <a:endParaRPr b="1" dirty="0">
              <a:latin typeface="+mn-lt"/>
            </a:endParaRPr>
          </a:p>
        </p:txBody>
      </p:sp>
      <p:graphicFrame>
        <p:nvGraphicFramePr>
          <p:cNvPr id="565" name="Google Shape;565;p48"/>
          <p:cNvGraphicFramePr/>
          <p:nvPr/>
        </p:nvGraphicFramePr>
        <p:xfrm>
          <a:off x="1055863" y="1537656"/>
          <a:ext cx="6021225" cy="2039389"/>
        </p:xfrm>
        <a:graphic>
          <a:graphicData uri="http://schemas.openxmlformats.org/drawingml/2006/table">
            <a:tbl>
              <a:tblPr>
                <a:noFill/>
                <a:tableStyleId>{FB9EFA35-8E2C-4024-A639-D8BE7C187570}</a:tableStyleId>
              </a:tblPr>
              <a:tblGrid>
                <a:gridCol w="2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SO @ Boot</a:t>
                      </a:r>
                      <a:endParaRPr sz="1800" b="1" dirty="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(Modo kernel)</a:t>
                      </a:r>
                      <a:endParaRPr sz="18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Hardware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35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-ES" sz="1400" dirty="0"/>
                        <a:t>Inicializa la </a:t>
                      </a:r>
                      <a:r>
                        <a:rPr lang="es-ES" sz="1400" b="1" dirty="0"/>
                        <a:t>trap table</a:t>
                      </a:r>
                      <a:endParaRPr sz="14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Almacena la dirección del …</a:t>
                      </a:r>
                    </a:p>
                    <a:p>
                      <a:pPr marL="914400" lvl="1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s-ES" sz="1400" b="1" dirty="0" err="1">
                          <a:solidFill>
                            <a:schemeClr val="dk1"/>
                          </a:solidFill>
                        </a:rPr>
                        <a:t>Syscall</a:t>
                      </a:r>
                      <a:r>
                        <a:rPr lang="es-ES" sz="1400" b="1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dk1"/>
                          </a:solidFill>
                        </a:rPr>
                        <a:t>handler</a:t>
                      </a:r>
                      <a:endParaRPr lang="es-ES" sz="1400" b="1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66" name="Google Shape;566;p48"/>
          <p:cNvGraphicFramePr/>
          <p:nvPr/>
        </p:nvGraphicFramePr>
        <p:xfrm>
          <a:off x="8322025" y="1870650"/>
          <a:ext cx="1003300" cy="1371450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7" name="Google Shape;567;p48"/>
          <p:cNvGraphicFramePr/>
          <p:nvPr/>
        </p:nvGraphicFramePr>
        <p:xfrm>
          <a:off x="10249625" y="1870650"/>
          <a:ext cx="1311975" cy="1904875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131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network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timer</a:t>
                      </a:r>
                      <a:endParaRPr sz="13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keyboard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system call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8" name="Google Shape;568;p48"/>
          <p:cNvSpPr txBox="1"/>
          <p:nvPr/>
        </p:nvSpPr>
        <p:spPr>
          <a:xfrm>
            <a:off x="8209425" y="1115375"/>
            <a:ext cx="122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urier New"/>
                <a:ea typeface="Courier New"/>
                <a:cs typeface="Courier New"/>
                <a:sym typeface="Courier New"/>
              </a:rPr>
              <a:t>Trap table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69" name="Google Shape;569;p48"/>
          <p:cNvGraphicFramePr/>
          <p:nvPr/>
        </p:nvGraphicFramePr>
        <p:xfrm>
          <a:off x="8322025" y="4469850"/>
          <a:ext cx="1003300" cy="822870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0" name="Google Shape;570;p48"/>
          <p:cNvSpPr txBox="1"/>
          <p:nvPr/>
        </p:nvSpPr>
        <p:spPr>
          <a:xfrm>
            <a:off x="8209425" y="3828200"/>
            <a:ext cx="122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urier New"/>
                <a:ea typeface="Courier New"/>
                <a:cs typeface="Courier New"/>
                <a:sym typeface="Courier New"/>
              </a:rPr>
              <a:t>Syscall table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71" name="Google Shape;571;p48"/>
          <p:cNvGraphicFramePr/>
          <p:nvPr/>
        </p:nvGraphicFramePr>
        <p:xfrm>
          <a:off x="10249625" y="4309813"/>
          <a:ext cx="1311975" cy="1142925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131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open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getpid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72" name="Google Shape;572;p48"/>
          <p:cNvCxnSpPr/>
          <p:nvPr/>
        </p:nvCxnSpPr>
        <p:spPr>
          <a:xfrm>
            <a:off x="9093550" y="2029775"/>
            <a:ext cx="1168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3" name="Google Shape;573;p48"/>
          <p:cNvCxnSpPr/>
          <p:nvPr/>
        </p:nvCxnSpPr>
        <p:spPr>
          <a:xfrm>
            <a:off x="9131650" y="2296475"/>
            <a:ext cx="11304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48"/>
          <p:cNvCxnSpPr/>
          <p:nvPr/>
        </p:nvCxnSpPr>
        <p:spPr>
          <a:xfrm rot="10800000" flipH="1">
            <a:off x="9182450" y="2436075"/>
            <a:ext cx="1054200" cy="13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" name="Google Shape;575;p48"/>
          <p:cNvCxnSpPr/>
          <p:nvPr/>
        </p:nvCxnSpPr>
        <p:spPr>
          <a:xfrm>
            <a:off x="9150700" y="2823150"/>
            <a:ext cx="1111200" cy="41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6" name="Google Shape;576;p48"/>
          <p:cNvCxnSpPr/>
          <p:nvPr/>
        </p:nvCxnSpPr>
        <p:spPr>
          <a:xfrm>
            <a:off x="9150700" y="3096150"/>
            <a:ext cx="1111200" cy="495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" name="Google Shape;577;p48"/>
          <p:cNvCxnSpPr/>
          <p:nvPr/>
        </p:nvCxnSpPr>
        <p:spPr>
          <a:xfrm rot="10800000" flipH="1">
            <a:off x="9122200" y="4506325"/>
            <a:ext cx="1114500" cy="15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" name="Google Shape;578;p48"/>
          <p:cNvCxnSpPr/>
          <p:nvPr/>
        </p:nvCxnSpPr>
        <p:spPr>
          <a:xfrm>
            <a:off x="9122200" y="4872450"/>
            <a:ext cx="1114500" cy="4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9" name="Google Shape;579;p48"/>
          <p:cNvCxnSpPr/>
          <p:nvPr/>
        </p:nvCxnSpPr>
        <p:spPr>
          <a:xfrm rot="10800000" flipH="1">
            <a:off x="9144350" y="4912675"/>
            <a:ext cx="1092300" cy="26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1" name="Google Shape;581;p48"/>
          <p:cNvSpPr txBox="1"/>
          <p:nvPr/>
        </p:nvSpPr>
        <p:spPr>
          <a:xfrm>
            <a:off x="595085" y="5914422"/>
            <a:ext cx="618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dirty="0"/>
              <a:t>Archivos relacionados</a:t>
            </a:r>
            <a:r>
              <a:rPr lang="es-ES" sz="1000" dirty="0"/>
              <a:t>: </a:t>
            </a:r>
            <a:r>
              <a:rPr lang="es-ES" sz="1000" u="sng" dirty="0" err="1">
                <a:solidFill>
                  <a:schemeClr val="hlink"/>
                </a:solidFill>
                <a:hlinkClick r:id="rId3"/>
              </a:rPr>
              <a:t>trap.c</a:t>
            </a:r>
            <a:r>
              <a:rPr lang="es-ES" sz="1000" dirty="0"/>
              <a:t>, </a:t>
            </a:r>
            <a:r>
              <a:rPr lang="es-ES" sz="1000" u="sng" dirty="0" err="1">
                <a:solidFill>
                  <a:schemeClr val="hlink"/>
                </a:solidFill>
                <a:hlinkClick r:id="rId4"/>
              </a:rPr>
              <a:t>trapasm.S</a:t>
            </a:r>
            <a:r>
              <a:rPr lang="es-ES" sz="1000" dirty="0"/>
              <a:t>, </a:t>
            </a:r>
            <a:r>
              <a:rPr lang="es-ES" sz="1000" u="sng" dirty="0">
                <a:solidFill>
                  <a:schemeClr val="hlink"/>
                </a:solidFill>
                <a:hlinkClick r:id="rId5"/>
              </a:rPr>
              <a:t>vectors.pl</a:t>
            </a:r>
            <a:r>
              <a:rPr lang="es-ES" sz="1000" dirty="0"/>
              <a:t> (Para mas información ver: A </a:t>
            </a:r>
            <a:r>
              <a:rPr lang="es-ES" sz="1000" dirty="0" err="1"/>
              <a:t>commentary</a:t>
            </a:r>
            <a:r>
              <a:rPr lang="es-ES" sz="1000" dirty="0"/>
              <a:t> </a:t>
            </a:r>
            <a:r>
              <a:rPr lang="es-ES" sz="1000" dirty="0" err="1"/>
              <a:t>on</a:t>
            </a:r>
            <a:r>
              <a:rPr lang="es-ES" sz="1000" dirty="0"/>
              <a:t> </a:t>
            </a:r>
            <a:r>
              <a:rPr lang="es-ES" sz="1000" dirty="0" err="1"/>
              <a:t>the</a:t>
            </a:r>
            <a:r>
              <a:rPr lang="es-ES" sz="1000" dirty="0"/>
              <a:t> </a:t>
            </a:r>
            <a:r>
              <a:rPr lang="es-ES" sz="1000" dirty="0" err="1"/>
              <a:t>sixth</a:t>
            </a:r>
            <a:r>
              <a:rPr lang="es-ES" sz="1000" dirty="0"/>
              <a:t> </a:t>
            </a:r>
            <a:r>
              <a:rPr lang="es-ES" sz="1000" dirty="0" err="1"/>
              <a:t>Edition</a:t>
            </a:r>
            <a:r>
              <a:rPr lang="es-ES" sz="1000" dirty="0"/>
              <a:t> Unix </a:t>
            </a:r>
            <a:r>
              <a:rPr lang="es-ES" sz="1000" dirty="0" err="1"/>
              <a:t>Operating</a:t>
            </a:r>
            <a:r>
              <a:rPr lang="es-ES" sz="1000" dirty="0"/>
              <a:t> </a:t>
            </a:r>
            <a:r>
              <a:rPr lang="es-ES" sz="1000" dirty="0" err="1"/>
              <a:t>System</a:t>
            </a:r>
            <a:r>
              <a:rPr lang="es-ES" sz="1000" dirty="0"/>
              <a:t> de J. </a:t>
            </a:r>
            <a:r>
              <a:rPr lang="es-ES" sz="1000" dirty="0" err="1"/>
              <a:t>Lions</a:t>
            </a:r>
            <a:r>
              <a:rPr lang="es-ES" sz="1000" dirty="0"/>
              <a:t> </a:t>
            </a:r>
            <a:r>
              <a:rPr lang="es-ES" sz="1000" u="sng" dirty="0">
                <a:solidFill>
                  <a:schemeClr val="hlink"/>
                </a:solidFill>
                <a:hlinkClick r:id="rId6"/>
              </a:rPr>
              <a:t>[link]</a:t>
            </a:r>
            <a:r>
              <a:rPr lang="es-ES" sz="1000" dirty="0"/>
              <a:t>)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28573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>
            <a:spLocks noGrp="1"/>
          </p:cNvSpPr>
          <p:nvPr>
            <p:ph type="title"/>
          </p:nvPr>
        </p:nvSpPr>
        <p:spPr>
          <a:xfrm>
            <a:off x="227829" y="96038"/>
            <a:ext cx="116013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227828" y="886797"/>
            <a:ext cx="11334068" cy="66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Ejecución directa limitada - Ejemplo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93D1246-F575-4E40-98FE-1E57E30C2402}"/>
              </a:ext>
            </a:extLst>
          </p:cNvPr>
          <p:cNvGrpSpPr/>
          <p:nvPr/>
        </p:nvGrpSpPr>
        <p:grpSpPr>
          <a:xfrm>
            <a:off x="1527774" y="5465061"/>
            <a:ext cx="10620683" cy="1012283"/>
            <a:chOff x="6776065" y="5629468"/>
            <a:chExt cx="6692054" cy="115267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BD0A7E98-F263-4C9F-89FA-55EAC2BD3FD6}"/>
                </a:ext>
              </a:extLst>
            </p:cNvPr>
            <p:cNvGrpSpPr/>
            <p:nvPr/>
          </p:nvGrpSpPr>
          <p:grpSpPr>
            <a:xfrm>
              <a:off x="6776065" y="5629468"/>
              <a:ext cx="6591454" cy="1152670"/>
              <a:chOff x="6268065" y="5718525"/>
              <a:chExt cx="6591454" cy="1152670"/>
            </a:xfrm>
          </p:grpSpPr>
          <p:cxnSp>
            <p:nvCxnSpPr>
              <p:cNvPr id="8" name="Conector recto de flecha 7">
                <a:extLst>
                  <a:ext uri="{FF2B5EF4-FFF2-40B4-BE49-F238E27FC236}">
                    <a16:creationId xmlns:a16="http://schemas.microsoft.com/office/drawing/2014/main" id="{5025C226-BEE1-4574-A349-C1E5641BB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065" y="6358850"/>
                <a:ext cx="6591454" cy="285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cto de flecha 8">
                <a:extLst>
                  <a:ext uri="{FF2B5EF4-FFF2-40B4-BE49-F238E27FC236}">
                    <a16:creationId xmlns:a16="http://schemas.microsoft.com/office/drawing/2014/main" id="{CA8777B7-98B0-43AA-9461-5833E98265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A717534-26BE-4818-B42B-B805EFCCE257}"/>
                </a:ext>
              </a:extLst>
            </p:cNvPr>
            <p:cNvSpPr txBox="1"/>
            <p:nvPr/>
          </p:nvSpPr>
          <p:spPr>
            <a:xfrm>
              <a:off x="13203303" y="640807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402B70FA-9868-43F7-914E-96ACA542F927}"/>
              </a:ext>
            </a:extLst>
          </p:cNvPr>
          <p:cNvGrpSpPr/>
          <p:nvPr/>
        </p:nvGrpSpPr>
        <p:grpSpPr>
          <a:xfrm>
            <a:off x="406133" y="5219730"/>
            <a:ext cx="874197" cy="1176915"/>
            <a:chOff x="227828" y="5196269"/>
            <a:chExt cx="874197" cy="117691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7570BEE-4EFE-4382-90D0-E24C2A2655DD}"/>
                </a:ext>
              </a:extLst>
            </p:cNvPr>
            <p:cNvSpPr/>
            <p:nvPr/>
          </p:nvSpPr>
          <p:spPr>
            <a:xfrm>
              <a:off x="227828" y="5547514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95DD936-21D5-493D-BA1C-1C6FBF475255}"/>
                </a:ext>
              </a:extLst>
            </p:cNvPr>
            <p:cNvSpPr txBox="1"/>
            <p:nvPr/>
          </p:nvSpPr>
          <p:spPr>
            <a:xfrm>
              <a:off x="406133" y="519626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3AB4A5E-B8CA-4C10-8914-AC8169196EFE}"/>
                </a:ext>
              </a:extLst>
            </p:cNvPr>
            <p:cNvSpPr/>
            <p:nvPr/>
          </p:nvSpPr>
          <p:spPr>
            <a:xfrm>
              <a:off x="664927" y="5692174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062072B4-5C04-4192-9859-0599BAAF4617}"/>
                </a:ext>
              </a:extLst>
            </p:cNvPr>
            <p:cNvSpPr txBox="1"/>
            <p:nvPr/>
          </p:nvSpPr>
          <p:spPr>
            <a:xfrm>
              <a:off x="262755" y="5609104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D7E11B8-D95D-44AC-B809-8B7D117559AA}"/>
              </a:ext>
            </a:extLst>
          </p:cNvPr>
          <p:cNvSpPr/>
          <p:nvPr/>
        </p:nvSpPr>
        <p:spPr>
          <a:xfrm>
            <a:off x="2639366" y="1926471"/>
            <a:ext cx="1487335" cy="2630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AAE0379-65DB-46F0-97A3-F8901007BF2B}"/>
              </a:ext>
            </a:extLst>
          </p:cNvPr>
          <p:cNvSpPr txBox="1"/>
          <p:nvPr/>
        </p:nvSpPr>
        <p:spPr>
          <a:xfrm>
            <a:off x="2745020" y="1530472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C95E64D2-A8A4-478E-97CC-0552DCC04F2C}"/>
              </a:ext>
            </a:extLst>
          </p:cNvPr>
          <p:cNvGrpSpPr/>
          <p:nvPr/>
        </p:nvGrpSpPr>
        <p:grpSpPr>
          <a:xfrm>
            <a:off x="406133" y="2197366"/>
            <a:ext cx="874197" cy="1195002"/>
            <a:chOff x="1620690" y="2501644"/>
            <a:chExt cx="874197" cy="1195002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46544706-20C0-431E-A7A5-1DFA85813D9D}"/>
                </a:ext>
              </a:extLst>
            </p:cNvPr>
            <p:cNvSpPr/>
            <p:nvPr/>
          </p:nvSpPr>
          <p:spPr>
            <a:xfrm>
              <a:off x="1620690" y="2870976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43C4A29B-5639-41CC-891F-34DEE22ACFEF}"/>
                </a:ext>
              </a:extLst>
            </p:cNvPr>
            <p:cNvSpPr txBox="1"/>
            <p:nvPr/>
          </p:nvSpPr>
          <p:spPr>
            <a:xfrm>
              <a:off x="1798994" y="250164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846A43CE-257C-4AEA-9681-C4E6C8E44625}"/>
                </a:ext>
              </a:extLst>
            </p:cNvPr>
            <p:cNvSpPr/>
            <p:nvPr/>
          </p:nvSpPr>
          <p:spPr>
            <a:xfrm>
              <a:off x="2057788" y="2997549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1998551-F008-496C-811E-4FF7FDAB3507}"/>
                </a:ext>
              </a:extLst>
            </p:cNvPr>
            <p:cNvSpPr txBox="1"/>
            <p:nvPr/>
          </p:nvSpPr>
          <p:spPr>
            <a:xfrm>
              <a:off x="1655616" y="291447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165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"/>
          <p:cNvSpPr txBox="1">
            <a:spLocks noGrp="1"/>
          </p:cNvSpPr>
          <p:nvPr>
            <p:ph type="body" idx="1"/>
          </p:nvPr>
        </p:nvSpPr>
        <p:spPr>
          <a:xfrm>
            <a:off x="870211" y="1227724"/>
            <a:ext cx="10479314" cy="46418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SO @ Run</a:t>
            </a:r>
            <a:endParaRPr b="1" dirty="0">
              <a:latin typeface="+mn-lt"/>
            </a:endParaRPr>
          </a:p>
        </p:txBody>
      </p:sp>
      <p:graphicFrame>
        <p:nvGraphicFramePr>
          <p:cNvPr id="588" name="Google Shape;588;p49"/>
          <p:cNvGraphicFramePr/>
          <p:nvPr>
            <p:extLst>
              <p:ext uri="{D42A27DB-BD31-4B8C-83A1-F6EECF244321}">
                <p14:modId xmlns:p14="http://schemas.microsoft.com/office/powerpoint/2010/main" val="280523249"/>
              </p:ext>
            </p:extLst>
          </p:nvPr>
        </p:nvGraphicFramePr>
        <p:xfrm>
          <a:off x="842475" y="1874100"/>
          <a:ext cx="10861350" cy="4677925"/>
        </p:xfrm>
        <a:graphic>
          <a:graphicData uri="http://schemas.openxmlformats.org/drawingml/2006/table">
            <a:tbl>
              <a:tblPr>
                <a:noFill/>
                <a:tableStyleId>{FB9EFA35-8E2C-4024-A639-D8BE7C187570}</a:tableStyleId>
              </a:tblPr>
              <a:tblGrid>
                <a:gridCol w="387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SO @ Run</a:t>
                      </a:r>
                      <a:endParaRPr sz="1600" b="1" dirty="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(Modo kernel)</a:t>
                      </a:r>
                      <a:endParaRPr sz="16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Hardware</a:t>
                      </a:r>
                      <a:endParaRPr sz="16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Programa</a:t>
                      </a:r>
                      <a:endParaRPr sz="16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(Modo usuario)</a:t>
                      </a:r>
                      <a:endParaRPr sz="16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350"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-ES" sz="1400" dirty="0"/>
                        <a:t>Crea entrada en la lista de procesos</a:t>
                      </a:r>
                      <a:endParaRPr sz="1400" dirty="0"/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-ES" sz="1400" dirty="0"/>
                        <a:t>Asigna memoria al proceso</a:t>
                      </a:r>
                      <a:endParaRPr sz="1400" dirty="0"/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-ES" sz="1400" dirty="0"/>
                        <a:t>Carga el programa a memoria </a:t>
                      </a:r>
                      <a:endParaRPr sz="1400" dirty="0"/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-ES" sz="1400" dirty="0"/>
                        <a:t>Inicializa pila (</a:t>
                      </a:r>
                      <a:r>
                        <a:rPr lang="es-ES" sz="1400" b="1" dirty="0"/>
                        <a:t>stack</a:t>
                      </a:r>
                      <a:r>
                        <a:rPr lang="es-ES" sz="1400" dirty="0"/>
                        <a:t>) con </a:t>
                      </a:r>
                      <a:r>
                        <a:rPr lang="es-ES" sz="14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argc/argv</a:t>
                      </a:r>
                      <a:endParaRPr sz="14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-ES" sz="1400" dirty="0"/>
                        <a:t>Almacena valores de registros en el </a:t>
                      </a: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kernel stack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Courier New"/>
                        <a:buChar char="●"/>
                      </a:pPr>
                      <a:r>
                        <a:rPr lang="es-ES" sz="1400" b="1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Return-from-trap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Inicializa registros desde el kernel stack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Pasa a </a:t>
                      </a:r>
                      <a:r>
                        <a:rPr lang="es-ES" sz="1400" b="1" dirty="0">
                          <a:solidFill>
                            <a:schemeClr val="dk1"/>
                          </a:solidFill>
                        </a:rPr>
                        <a:t>modo usuario</a:t>
                      </a:r>
                      <a:endParaRPr sz="14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Salta a 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main()</a:t>
                      </a:r>
                      <a:endParaRPr sz="1400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Ejecuta 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main()</a:t>
                      </a:r>
                      <a:endParaRPr sz="1400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Llamado al sistema (</a:t>
                      </a: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trap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9" name="Google Shape;589;p49"/>
          <p:cNvSpPr txBox="1"/>
          <p:nvPr/>
        </p:nvSpPr>
        <p:spPr>
          <a:xfrm>
            <a:off x="745200" y="6552025"/>
            <a:ext cx="1105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/>
              <a:t>Archivos relacionados</a:t>
            </a:r>
            <a:r>
              <a:rPr lang="es-ES" sz="1000"/>
              <a:t>: </a:t>
            </a:r>
            <a:r>
              <a:rPr lang="es-ES" sz="1000" u="sng">
                <a:solidFill>
                  <a:schemeClr val="hlink"/>
                </a:solidFill>
                <a:hlinkClick r:id="rId3"/>
              </a:rPr>
              <a:t>proc.h</a:t>
            </a:r>
            <a:r>
              <a:rPr lang="es-ES" sz="1000"/>
              <a:t>, </a:t>
            </a:r>
            <a:r>
              <a:rPr lang="es-ES" sz="1000" u="sng">
                <a:solidFill>
                  <a:schemeClr val="hlink"/>
                </a:solidFill>
                <a:hlinkClick r:id="rId4"/>
              </a:rPr>
              <a:t>proc.c</a:t>
            </a:r>
            <a:r>
              <a:rPr lang="es-ES" sz="1000"/>
              <a:t> (Para mas información ver: A commentary on the sixth Edition Unix Operating System de J. Lions </a:t>
            </a:r>
            <a:r>
              <a:rPr lang="es-ES" sz="1000" u="sng">
                <a:solidFill>
                  <a:schemeClr val="hlink"/>
                </a:solidFill>
                <a:hlinkClick r:id="rId5"/>
              </a:rPr>
              <a:t>[link]</a:t>
            </a:r>
            <a:r>
              <a:rPr lang="es-ES" sz="1000"/>
              <a:t>)</a:t>
            </a:r>
            <a:endParaRPr sz="1000"/>
          </a:p>
        </p:txBody>
      </p:sp>
      <p:sp>
        <p:nvSpPr>
          <p:cNvPr id="8" name="Google Shape;563;p48">
            <a:extLst>
              <a:ext uri="{FF2B5EF4-FFF2-40B4-BE49-F238E27FC236}">
                <a16:creationId xmlns:a16="http://schemas.microsoft.com/office/drawing/2014/main" id="{7D45AC1F-9D39-4C10-8A22-439DBD588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085" y="96038"/>
            <a:ext cx="99422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 - Protocolo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>
            <a:spLocks noGrp="1"/>
          </p:cNvSpPr>
          <p:nvPr>
            <p:ph type="title"/>
          </p:nvPr>
        </p:nvSpPr>
        <p:spPr>
          <a:xfrm>
            <a:off x="227829" y="96038"/>
            <a:ext cx="116013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227828" y="886797"/>
            <a:ext cx="10411200" cy="66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Ejecución directa limitada - Ejemplo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626CED-5F00-4869-95EF-193742854F45}"/>
              </a:ext>
            </a:extLst>
          </p:cNvPr>
          <p:cNvSpPr/>
          <p:nvPr/>
        </p:nvSpPr>
        <p:spPr>
          <a:xfrm>
            <a:off x="3853923" y="2230749"/>
            <a:ext cx="1487335" cy="2630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0BFE78-C77E-44D9-80E1-D44164813DFC}"/>
              </a:ext>
            </a:extLst>
          </p:cNvPr>
          <p:cNvSpPr txBox="1"/>
          <p:nvPr/>
        </p:nvSpPr>
        <p:spPr>
          <a:xfrm>
            <a:off x="3959577" y="1834750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BD24840-0DC8-486A-8B6E-EC3054655324}"/>
              </a:ext>
            </a:extLst>
          </p:cNvPr>
          <p:cNvGrpSpPr/>
          <p:nvPr/>
        </p:nvGrpSpPr>
        <p:grpSpPr>
          <a:xfrm>
            <a:off x="1620690" y="2501644"/>
            <a:ext cx="874197" cy="1195002"/>
            <a:chOff x="1620690" y="2501644"/>
            <a:chExt cx="874197" cy="119500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4B222DD-0E51-4B52-9B12-B700113AF79F}"/>
                </a:ext>
              </a:extLst>
            </p:cNvPr>
            <p:cNvSpPr/>
            <p:nvPr/>
          </p:nvSpPr>
          <p:spPr>
            <a:xfrm>
              <a:off x="1620690" y="2870976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ADD5469-E8D8-460E-B997-08AB1A55D259}"/>
                </a:ext>
              </a:extLst>
            </p:cNvPr>
            <p:cNvSpPr txBox="1"/>
            <p:nvPr/>
          </p:nvSpPr>
          <p:spPr>
            <a:xfrm>
              <a:off x="1798994" y="250164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DF2DAEE-E7D9-4B97-8DA4-13A47D3F1B32}"/>
                </a:ext>
              </a:extLst>
            </p:cNvPr>
            <p:cNvSpPr/>
            <p:nvPr/>
          </p:nvSpPr>
          <p:spPr>
            <a:xfrm>
              <a:off x="2057788" y="2997549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DD4FCEC-EDA8-4CF3-8C67-143C2357AE17}"/>
                </a:ext>
              </a:extLst>
            </p:cNvPr>
            <p:cNvSpPr txBox="1"/>
            <p:nvPr/>
          </p:nvSpPr>
          <p:spPr>
            <a:xfrm>
              <a:off x="1655616" y="291447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8A85522-BF42-4E7D-9BBD-2AFA9CF61896}"/>
              </a:ext>
            </a:extLst>
          </p:cNvPr>
          <p:cNvGrpSpPr/>
          <p:nvPr/>
        </p:nvGrpSpPr>
        <p:grpSpPr>
          <a:xfrm>
            <a:off x="1527774" y="5465061"/>
            <a:ext cx="10620683" cy="1012283"/>
            <a:chOff x="6776065" y="5629468"/>
            <a:chExt cx="6692054" cy="1152670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B7B61E9B-01BC-4975-BA7D-5B4A64B5FABF}"/>
                </a:ext>
              </a:extLst>
            </p:cNvPr>
            <p:cNvGrpSpPr/>
            <p:nvPr/>
          </p:nvGrpSpPr>
          <p:grpSpPr>
            <a:xfrm>
              <a:off x="6776065" y="5629468"/>
              <a:ext cx="6591454" cy="1152670"/>
              <a:chOff x="6268065" y="5718525"/>
              <a:chExt cx="6591454" cy="1152670"/>
            </a:xfrm>
          </p:grpSpPr>
          <p:cxnSp>
            <p:nvCxnSpPr>
              <p:cNvPr id="24" name="Conector recto de flecha 23">
                <a:extLst>
                  <a:ext uri="{FF2B5EF4-FFF2-40B4-BE49-F238E27FC236}">
                    <a16:creationId xmlns:a16="http://schemas.microsoft.com/office/drawing/2014/main" id="{FE72C488-D50B-4025-9FDD-DADAE8EE9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065" y="6358850"/>
                <a:ext cx="6591454" cy="285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8EA5672A-16E1-4715-9F94-CBAF70E308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F43390E-11B7-409A-A8EB-1F40BF415A84}"/>
                </a:ext>
              </a:extLst>
            </p:cNvPr>
            <p:cNvSpPr txBox="1"/>
            <p:nvPr/>
          </p:nvSpPr>
          <p:spPr>
            <a:xfrm>
              <a:off x="13203303" y="640807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13B53A6-9564-4E93-9EA6-6289F632B4F2}"/>
              </a:ext>
            </a:extLst>
          </p:cNvPr>
          <p:cNvGrpSpPr/>
          <p:nvPr/>
        </p:nvGrpSpPr>
        <p:grpSpPr>
          <a:xfrm>
            <a:off x="406133" y="5219730"/>
            <a:ext cx="874197" cy="1176915"/>
            <a:chOff x="227828" y="5196269"/>
            <a:chExt cx="874197" cy="1176915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101B28A-5567-441C-B991-2825475E6E73}"/>
                </a:ext>
              </a:extLst>
            </p:cNvPr>
            <p:cNvSpPr/>
            <p:nvPr/>
          </p:nvSpPr>
          <p:spPr>
            <a:xfrm>
              <a:off x="227828" y="5547514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15DDDD32-820C-4D3D-AC70-F1966D697F39}"/>
                </a:ext>
              </a:extLst>
            </p:cNvPr>
            <p:cNvSpPr txBox="1"/>
            <p:nvPr/>
          </p:nvSpPr>
          <p:spPr>
            <a:xfrm>
              <a:off x="406133" y="519626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68730525-371A-43B5-8707-69B2B8753E26}"/>
                </a:ext>
              </a:extLst>
            </p:cNvPr>
            <p:cNvSpPr/>
            <p:nvPr/>
          </p:nvSpPr>
          <p:spPr>
            <a:xfrm>
              <a:off x="664927" y="5692174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4F7645D-A1D4-4EF0-90C7-045594739B35}"/>
                </a:ext>
              </a:extLst>
            </p:cNvPr>
            <p:cNvSpPr txBox="1"/>
            <p:nvPr/>
          </p:nvSpPr>
          <p:spPr>
            <a:xfrm>
              <a:off x="262755" y="5609104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5" name="Google Shape;595;p50"/>
          <p:cNvGraphicFramePr/>
          <p:nvPr>
            <p:extLst>
              <p:ext uri="{D42A27DB-BD31-4B8C-83A1-F6EECF244321}">
                <p14:modId xmlns:p14="http://schemas.microsoft.com/office/powerpoint/2010/main" val="3376691659"/>
              </p:ext>
            </p:extLst>
          </p:nvPr>
        </p:nvGraphicFramePr>
        <p:xfrm>
          <a:off x="916650" y="1403363"/>
          <a:ext cx="10861350" cy="5127128"/>
        </p:xfrm>
        <a:graphic>
          <a:graphicData uri="http://schemas.openxmlformats.org/drawingml/2006/table">
            <a:tbl>
              <a:tblPr>
                <a:noFill/>
                <a:tableStyleId>{FB9EFA35-8E2C-4024-A639-D8BE7C187570}</a:tableStyleId>
              </a:tblPr>
              <a:tblGrid>
                <a:gridCol w="393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06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SO @ Run</a:t>
                      </a:r>
                      <a:endParaRPr sz="1800" b="1" dirty="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(Modo kernel)</a:t>
                      </a:r>
                      <a:endParaRPr sz="18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Hardware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Programa</a:t>
                      </a:r>
                      <a:endParaRPr sz="18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(Modo usuario)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246">
                <a:tc>
                  <a:txBody>
                    <a:bodyPr/>
                    <a:lstStyle/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Almacena valores de registros en el </a:t>
                      </a:r>
                      <a:r>
                        <a:rPr lang="es-ES" sz="1200" b="1" dirty="0"/>
                        <a:t>kernel stack</a:t>
                      </a:r>
                      <a:endParaRPr sz="1200" b="1" dirty="0"/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Pasa a </a:t>
                      </a:r>
                      <a:r>
                        <a:rPr lang="es-ES" sz="1200" b="1" dirty="0"/>
                        <a:t>modo kernel</a:t>
                      </a:r>
                      <a:endParaRPr sz="1200" b="1" dirty="0"/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Salta al </a:t>
                      </a:r>
                      <a:r>
                        <a:rPr lang="es-ES" sz="1200" b="1" dirty="0"/>
                        <a:t>trap handler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114"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Atiende el evento 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trap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Realiza el trabajo solicitado por la </a:t>
                      </a:r>
                      <a:r>
                        <a:rPr lang="es-ES" sz="1200" b="1" dirty="0"/>
                        <a:t>llamada al sistema</a:t>
                      </a:r>
                      <a:endParaRPr sz="1200" b="1" dirty="0"/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ourier New"/>
                        <a:buChar char="●"/>
                      </a:pP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-trap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6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Restaura valores de registros desde el </a:t>
                      </a:r>
                      <a:r>
                        <a:rPr lang="es-ES" sz="1200" b="1" dirty="0">
                          <a:solidFill>
                            <a:schemeClr val="dk1"/>
                          </a:solidFill>
                        </a:rPr>
                        <a:t>kernel stack</a:t>
                      </a:r>
                      <a:endParaRPr sz="12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Pasa a </a:t>
                      </a:r>
                      <a:r>
                        <a:rPr lang="es-ES" sz="1200" b="1" dirty="0">
                          <a:solidFill>
                            <a:schemeClr val="dk1"/>
                          </a:solidFill>
                        </a:rPr>
                        <a:t>modo usuario</a:t>
                      </a:r>
                      <a:endParaRPr sz="12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Salta a PC después de 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trap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48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return de  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main()</a:t>
                      </a:r>
                      <a:endParaRPr sz="1200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Llamado al sistema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exit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trap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60"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Libera la memoria del proceso</a:t>
                      </a:r>
                      <a:endParaRPr sz="1200" dirty="0"/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s-ES" sz="1200" dirty="0"/>
                        <a:t>Elimina la entrada de la lista de procesos.</a:t>
                      </a:r>
                      <a:endParaRPr sz="1200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Google Shape;563;p48">
            <a:extLst>
              <a:ext uri="{FF2B5EF4-FFF2-40B4-BE49-F238E27FC236}">
                <a16:creationId xmlns:a16="http://schemas.microsoft.com/office/drawing/2014/main" id="{C96CCD67-84C9-4024-945F-35B729290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085" y="96038"/>
            <a:ext cx="99422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 - Protocolo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>
            <a:spLocks noGrp="1"/>
          </p:cNvSpPr>
          <p:nvPr>
            <p:ph type="title"/>
          </p:nvPr>
        </p:nvSpPr>
        <p:spPr>
          <a:xfrm>
            <a:off x="227829" y="96038"/>
            <a:ext cx="116013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227828" y="886797"/>
            <a:ext cx="10411200" cy="66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Ejecución directa limitada - 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626CED-5F00-4869-95EF-193742854F45}"/>
              </a:ext>
            </a:extLst>
          </p:cNvPr>
          <p:cNvSpPr/>
          <p:nvPr/>
        </p:nvSpPr>
        <p:spPr>
          <a:xfrm>
            <a:off x="3853923" y="2230749"/>
            <a:ext cx="1487335" cy="2630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0BFE78-C77E-44D9-80E1-D44164813DFC}"/>
              </a:ext>
            </a:extLst>
          </p:cNvPr>
          <p:cNvSpPr txBox="1"/>
          <p:nvPr/>
        </p:nvSpPr>
        <p:spPr>
          <a:xfrm>
            <a:off x="3959577" y="1834750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BD24840-0DC8-486A-8B6E-EC3054655324}"/>
              </a:ext>
            </a:extLst>
          </p:cNvPr>
          <p:cNvGrpSpPr/>
          <p:nvPr/>
        </p:nvGrpSpPr>
        <p:grpSpPr>
          <a:xfrm>
            <a:off x="1620690" y="2501644"/>
            <a:ext cx="874197" cy="1195002"/>
            <a:chOff x="1620690" y="2501644"/>
            <a:chExt cx="874197" cy="119500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4B222DD-0E51-4B52-9B12-B700113AF79F}"/>
                </a:ext>
              </a:extLst>
            </p:cNvPr>
            <p:cNvSpPr/>
            <p:nvPr/>
          </p:nvSpPr>
          <p:spPr>
            <a:xfrm>
              <a:off x="1620690" y="2870976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ADD5469-E8D8-460E-B997-08AB1A55D259}"/>
                </a:ext>
              </a:extLst>
            </p:cNvPr>
            <p:cNvSpPr txBox="1"/>
            <p:nvPr/>
          </p:nvSpPr>
          <p:spPr>
            <a:xfrm>
              <a:off x="1798994" y="250164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DF2DAEE-E7D9-4B97-8DA4-13A47D3F1B32}"/>
                </a:ext>
              </a:extLst>
            </p:cNvPr>
            <p:cNvSpPr/>
            <p:nvPr/>
          </p:nvSpPr>
          <p:spPr>
            <a:xfrm>
              <a:off x="2057788" y="2997549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DD4FCEC-EDA8-4CF3-8C67-143C2357AE17}"/>
                </a:ext>
              </a:extLst>
            </p:cNvPr>
            <p:cNvSpPr txBox="1"/>
            <p:nvPr/>
          </p:nvSpPr>
          <p:spPr>
            <a:xfrm>
              <a:off x="1655616" y="291447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8A85522-BF42-4E7D-9BBD-2AFA9CF61896}"/>
              </a:ext>
            </a:extLst>
          </p:cNvPr>
          <p:cNvGrpSpPr/>
          <p:nvPr/>
        </p:nvGrpSpPr>
        <p:grpSpPr>
          <a:xfrm>
            <a:off x="1527774" y="5465061"/>
            <a:ext cx="10620683" cy="1012283"/>
            <a:chOff x="6776065" y="5629468"/>
            <a:chExt cx="6692054" cy="1152670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B7B61E9B-01BC-4975-BA7D-5B4A64B5FABF}"/>
                </a:ext>
              </a:extLst>
            </p:cNvPr>
            <p:cNvGrpSpPr/>
            <p:nvPr/>
          </p:nvGrpSpPr>
          <p:grpSpPr>
            <a:xfrm>
              <a:off x="6776065" y="5629468"/>
              <a:ext cx="6591454" cy="1152670"/>
              <a:chOff x="6268065" y="5718525"/>
              <a:chExt cx="6591454" cy="1152670"/>
            </a:xfrm>
          </p:grpSpPr>
          <p:cxnSp>
            <p:nvCxnSpPr>
              <p:cNvPr id="24" name="Conector recto de flecha 23">
                <a:extLst>
                  <a:ext uri="{FF2B5EF4-FFF2-40B4-BE49-F238E27FC236}">
                    <a16:creationId xmlns:a16="http://schemas.microsoft.com/office/drawing/2014/main" id="{FE72C488-D50B-4025-9FDD-DADAE8EE9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065" y="6358850"/>
                <a:ext cx="6591454" cy="285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8EA5672A-16E1-4715-9F94-CBAF70E308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F43390E-11B7-409A-A8EB-1F40BF415A84}"/>
                </a:ext>
              </a:extLst>
            </p:cNvPr>
            <p:cNvSpPr txBox="1"/>
            <p:nvPr/>
          </p:nvSpPr>
          <p:spPr>
            <a:xfrm>
              <a:off x="13203303" y="640807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13B53A6-9564-4E93-9EA6-6289F632B4F2}"/>
              </a:ext>
            </a:extLst>
          </p:cNvPr>
          <p:cNvGrpSpPr/>
          <p:nvPr/>
        </p:nvGrpSpPr>
        <p:grpSpPr>
          <a:xfrm>
            <a:off x="406133" y="5219730"/>
            <a:ext cx="874197" cy="1176915"/>
            <a:chOff x="227828" y="5196269"/>
            <a:chExt cx="874197" cy="1176915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101B28A-5567-441C-B991-2825475E6E73}"/>
                </a:ext>
              </a:extLst>
            </p:cNvPr>
            <p:cNvSpPr/>
            <p:nvPr/>
          </p:nvSpPr>
          <p:spPr>
            <a:xfrm>
              <a:off x="227828" y="5547514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15DDDD32-820C-4D3D-AC70-F1966D697F39}"/>
                </a:ext>
              </a:extLst>
            </p:cNvPr>
            <p:cNvSpPr txBox="1"/>
            <p:nvPr/>
          </p:nvSpPr>
          <p:spPr>
            <a:xfrm>
              <a:off x="406133" y="519626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68730525-371A-43B5-8707-69B2B8753E26}"/>
                </a:ext>
              </a:extLst>
            </p:cNvPr>
            <p:cNvSpPr/>
            <p:nvPr/>
          </p:nvSpPr>
          <p:spPr>
            <a:xfrm>
              <a:off x="664927" y="5692174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4F7645D-A1D4-4EF0-90C7-045594739B35}"/>
                </a:ext>
              </a:extLst>
            </p:cNvPr>
            <p:cNvSpPr txBox="1"/>
            <p:nvPr/>
          </p:nvSpPr>
          <p:spPr>
            <a:xfrm>
              <a:off x="262755" y="5609104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635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>
            <a:spLocks noGrp="1"/>
          </p:cNvSpPr>
          <p:nvPr>
            <p:ph type="title"/>
          </p:nvPr>
        </p:nvSpPr>
        <p:spPr>
          <a:xfrm>
            <a:off x="227829" y="96038"/>
            <a:ext cx="116013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227828" y="886797"/>
            <a:ext cx="10411200" cy="66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Ejecución directa limitada - </a:t>
            </a:r>
            <a:r>
              <a:rPr lang="es-MX" sz="2400" b="1" dirty="0">
                <a:latin typeface="+mn-lt"/>
              </a:rPr>
              <a:t>Resumen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BF2475-3FF5-4B40-8D40-059B779E3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86" y="1585912"/>
            <a:ext cx="952500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34EF377-77F4-4CF9-AF31-1BD825B2F804}"/>
              </a:ext>
            </a:extLst>
          </p:cNvPr>
          <p:cNvSpPr txBox="1"/>
          <p:nvPr/>
        </p:nvSpPr>
        <p:spPr>
          <a:xfrm>
            <a:off x="1367586" y="5443129"/>
            <a:ext cx="2934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Imagen tomada del siguiente </a:t>
            </a:r>
            <a:r>
              <a:rPr lang="es-CO" sz="1600" dirty="0">
                <a:hlinkClick r:id="rId4"/>
              </a:rPr>
              <a:t>link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880091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2"/>
          <p:cNvSpPr txBox="1">
            <a:spLocks noGrp="1"/>
          </p:cNvSpPr>
          <p:nvPr>
            <p:ph type="title"/>
          </p:nvPr>
        </p:nvSpPr>
        <p:spPr>
          <a:xfrm>
            <a:off x="333829" y="96038"/>
            <a:ext cx="88868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8" name="Google Shape;608;p52"/>
          <p:cNvSpPr txBox="1">
            <a:spLocks noGrp="1"/>
          </p:cNvSpPr>
          <p:nvPr>
            <p:ph type="body" idx="1"/>
          </p:nvPr>
        </p:nvSpPr>
        <p:spPr>
          <a:xfrm>
            <a:off x="333829" y="1045538"/>
            <a:ext cx="11524342" cy="541227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Problema 2: Cambio entre procesos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¿Cómo hace el SO para retomar el control de la CPU y realizar cambios entre procesos?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Hay dos formas: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Propuesta cooperativa</a:t>
            </a:r>
            <a:r>
              <a:rPr lang="es-ES" sz="2000" dirty="0">
                <a:latin typeface="+mn-lt"/>
              </a:rPr>
              <a:t>: Se cede el control mediante llamados a sistema.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Propuesta no-cooperativa</a:t>
            </a:r>
            <a:r>
              <a:rPr lang="es-ES" sz="2000" dirty="0">
                <a:latin typeface="+mn-lt"/>
              </a:rPr>
              <a:t>: El SO toma el control. 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09" name="Google Shape;609;p52"/>
          <p:cNvGraphicFramePr/>
          <p:nvPr>
            <p:extLst>
              <p:ext uri="{D42A27DB-BD31-4B8C-83A1-F6EECF244321}">
                <p14:modId xmlns:p14="http://schemas.microsoft.com/office/powerpoint/2010/main" val="74261000"/>
              </p:ext>
            </p:extLst>
          </p:nvPr>
        </p:nvGraphicFramePr>
        <p:xfrm>
          <a:off x="8898864" y="1442553"/>
          <a:ext cx="1815375" cy="856225"/>
        </p:xfrm>
        <a:graphic>
          <a:graphicData uri="http://schemas.openxmlformats.org/drawingml/2006/table">
            <a:tbl>
              <a:tblPr>
                <a:noFill/>
                <a:tableStyleId>{3A39004B-9025-4134-980C-2776F01560DB}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0" name="Google Shape;610;p52"/>
          <p:cNvCxnSpPr/>
          <p:nvPr/>
        </p:nvCxnSpPr>
        <p:spPr>
          <a:xfrm>
            <a:off x="8881575" y="1172651"/>
            <a:ext cx="2275200" cy="1116900"/>
          </a:xfrm>
          <a:prstGeom prst="bentConnector3">
            <a:avLst>
              <a:gd name="adj1" fmla="val 8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11" name="Google Shape;611;p52"/>
          <p:cNvSpPr txBox="1"/>
          <p:nvPr/>
        </p:nvSpPr>
        <p:spPr>
          <a:xfrm>
            <a:off x="8070725" y="1548214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2" name="Google Shape;612;p52"/>
          <p:cNvSpPr txBox="1"/>
          <p:nvPr/>
        </p:nvSpPr>
        <p:spPr>
          <a:xfrm>
            <a:off x="10586350" y="2223401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13" name="Google Shape;6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29" y="1972963"/>
            <a:ext cx="6729425" cy="2414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2DF49F74-DAC5-49A4-9649-B34FDFC2A3EC}"/>
              </a:ext>
            </a:extLst>
          </p:cNvPr>
          <p:cNvGrpSpPr/>
          <p:nvPr/>
        </p:nvGrpSpPr>
        <p:grpSpPr>
          <a:xfrm>
            <a:off x="7800349" y="3470464"/>
            <a:ext cx="3880897" cy="1012283"/>
            <a:chOff x="6776065" y="5629468"/>
            <a:chExt cx="5723626" cy="1152670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FF4E9F6-E2F5-446F-A1A2-A4A3F7B71662}"/>
                </a:ext>
              </a:extLst>
            </p:cNvPr>
            <p:cNvGrpSpPr/>
            <p:nvPr/>
          </p:nvGrpSpPr>
          <p:grpSpPr>
            <a:xfrm>
              <a:off x="6776065" y="5629468"/>
              <a:ext cx="5723626" cy="1152670"/>
              <a:chOff x="6268065" y="5718525"/>
              <a:chExt cx="5723626" cy="1152670"/>
            </a:xfrm>
          </p:grpSpPr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07AA0E68-09C6-41D6-A797-0A0979BA1C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065" y="6358850"/>
                <a:ext cx="572362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805F3C22-B859-45E0-B8F8-399010F489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83DCD57-28D8-49FC-AE83-A058286CDE15}"/>
                </a:ext>
              </a:extLst>
            </p:cNvPr>
            <p:cNvSpPr txBox="1"/>
            <p:nvPr/>
          </p:nvSpPr>
          <p:spPr>
            <a:xfrm>
              <a:off x="12070735" y="630385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9" name="Google Shape;619;p53"/>
          <p:cNvSpPr txBox="1">
            <a:spLocks noGrp="1"/>
          </p:cNvSpPr>
          <p:nvPr>
            <p:ph type="body" idx="1"/>
          </p:nvPr>
        </p:nvSpPr>
        <p:spPr>
          <a:xfrm>
            <a:off x="395634" y="818963"/>
            <a:ext cx="11092350" cy="554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Propuesta cooperativa (no apropiativa)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Los procesos liberan la CPU periódicamente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cambio de contexto se da empleando llamadas a sistema.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b="1" dirty="0">
                <a:latin typeface="+mn-lt"/>
              </a:rPr>
              <a:t>Empleo de la llamada a sistema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s-ES" sz="2000" b="1" dirty="0">
                <a:latin typeface="+mn-lt"/>
              </a:rPr>
              <a:t>Operación ilegal</a:t>
            </a:r>
            <a:r>
              <a:rPr lang="es-ES" sz="2000" dirty="0">
                <a:latin typeface="+mn-lt"/>
              </a:rPr>
              <a:t>: División por cero, acceso ilegal a memoria, etc.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20" name="Google Shape;620;p53"/>
          <p:cNvGrpSpPr/>
          <p:nvPr/>
        </p:nvGrpSpPr>
        <p:grpSpPr>
          <a:xfrm>
            <a:off x="2118075" y="2411625"/>
            <a:ext cx="8857925" cy="1696202"/>
            <a:chOff x="1965675" y="3554625"/>
            <a:chExt cx="8857925" cy="1696202"/>
          </a:xfrm>
        </p:grpSpPr>
        <p:grpSp>
          <p:nvGrpSpPr>
            <p:cNvPr id="621" name="Google Shape;621;p53"/>
            <p:cNvGrpSpPr/>
            <p:nvPr/>
          </p:nvGrpSpPr>
          <p:grpSpPr>
            <a:xfrm>
              <a:off x="1965675" y="3554625"/>
              <a:ext cx="8857925" cy="1396212"/>
              <a:chOff x="1965675" y="3249825"/>
              <a:chExt cx="8857925" cy="1396212"/>
            </a:xfrm>
          </p:grpSpPr>
          <p:sp>
            <p:nvSpPr>
              <p:cNvPr id="622" name="Google Shape;622;p53"/>
              <p:cNvSpPr/>
              <p:nvPr/>
            </p:nvSpPr>
            <p:spPr>
              <a:xfrm>
                <a:off x="3349350" y="3249825"/>
                <a:ext cx="528000" cy="5232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P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23" name="Google Shape;623;p53"/>
              <p:cNvSpPr/>
              <p:nvPr/>
            </p:nvSpPr>
            <p:spPr>
              <a:xfrm>
                <a:off x="6041975" y="4010600"/>
                <a:ext cx="528000" cy="5232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SO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24" name="Google Shape;624;p53"/>
              <p:cNvSpPr/>
              <p:nvPr/>
            </p:nvSpPr>
            <p:spPr>
              <a:xfrm>
                <a:off x="9197450" y="3249825"/>
                <a:ext cx="528000" cy="5232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P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625" name="Google Shape;625;p53"/>
              <p:cNvGrpSpPr/>
              <p:nvPr/>
            </p:nvGrpSpPr>
            <p:grpSpPr>
              <a:xfrm>
                <a:off x="1965675" y="3871275"/>
                <a:ext cx="8857925" cy="774763"/>
                <a:chOff x="1965675" y="3871275"/>
                <a:chExt cx="8857925" cy="774763"/>
              </a:xfrm>
            </p:grpSpPr>
            <p:cxnSp>
              <p:nvCxnSpPr>
                <p:cNvPr id="626" name="Google Shape;626;p53"/>
                <p:cNvCxnSpPr/>
                <p:nvPr/>
              </p:nvCxnSpPr>
              <p:spPr>
                <a:xfrm>
                  <a:off x="4766150" y="3902850"/>
                  <a:ext cx="120600" cy="730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3A81B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27" name="Google Shape;627;p53"/>
                <p:cNvCxnSpPr/>
                <p:nvPr/>
              </p:nvCxnSpPr>
              <p:spPr>
                <a:xfrm rot="10800000" flipH="1">
                  <a:off x="7883875" y="3890275"/>
                  <a:ext cx="139500" cy="755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3A81B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28" name="Google Shape;628;p53"/>
                <p:cNvCxnSpPr/>
                <p:nvPr/>
              </p:nvCxnSpPr>
              <p:spPr>
                <a:xfrm>
                  <a:off x="1965675" y="3871275"/>
                  <a:ext cx="2800500" cy="210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29" name="Google Shape;629;p53"/>
                <p:cNvCxnSpPr/>
                <p:nvPr/>
              </p:nvCxnSpPr>
              <p:spPr>
                <a:xfrm>
                  <a:off x="8023100" y="3887325"/>
                  <a:ext cx="2800500" cy="210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30" name="Google Shape;630;p53"/>
                <p:cNvCxnSpPr/>
                <p:nvPr/>
              </p:nvCxnSpPr>
              <p:spPr>
                <a:xfrm>
                  <a:off x="4886750" y="4626838"/>
                  <a:ext cx="3009900" cy="19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631" name="Google Shape;631;p53"/>
            <p:cNvSpPr txBox="1"/>
            <p:nvPr/>
          </p:nvSpPr>
          <p:spPr>
            <a:xfrm>
              <a:off x="5000981" y="3732562"/>
              <a:ext cx="1041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yield()</a:t>
              </a:r>
              <a:endParaRPr sz="16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32" name="Google Shape;632;p53"/>
            <p:cNvSpPr txBox="1"/>
            <p:nvPr/>
          </p:nvSpPr>
          <p:spPr>
            <a:xfrm>
              <a:off x="8255856" y="4327427"/>
              <a:ext cx="1041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 from yield()</a:t>
              </a:r>
              <a:endParaRPr sz="16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33" name="Google Shape;633;p53"/>
            <p:cNvCxnSpPr>
              <a:endCxn id="631" idx="1"/>
            </p:cNvCxnSpPr>
            <p:nvPr/>
          </p:nvCxnSpPr>
          <p:spPr>
            <a:xfrm rot="10800000" flipH="1">
              <a:off x="4780781" y="3948112"/>
              <a:ext cx="220200" cy="233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4" name="Google Shape;634;p53"/>
            <p:cNvCxnSpPr>
              <a:endCxn id="632" idx="1"/>
            </p:cNvCxnSpPr>
            <p:nvPr/>
          </p:nvCxnSpPr>
          <p:spPr>
            <a:xfrm rot="10800000" flipH="1">
              <a:off x="7947456" y="4789127"/>
              <a:ext cx="308400" cy="16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35" name="Google Shape;635;p53"/>
          <p:cNvSpPr/>
          <p:nvPr/>
        </p:nvSpPr>
        <p:spPr>
          <a:xfrm flipH="1">
            <a:off x="7572773" y="4990150"/>
            <a:ext cx="304776" cy="572778"/>
          </a:xfrm>
          <a:prstGeom prst="lightningBolt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6" name="Google Shape;636;p53"/>
          <p:cNvGrpSpPr/>
          <p:nvPr/>
        </p:nvGrpSpPr>
        <p:grpSpPr>
          <a:xfrm>
            <a:off x="3184875" y="4990150"/>
            <a:ext cx="5930975" cy="1396212"/>
            <a:chOff x="1965675" y="3554625"/>
            <a:chExt cx="5930975" cy="1396212"/>
          </a:xfrm>
        </p:grpSpPr>
        <p:grpSp>
          <p:nvGrpSpPr>
            <p:cNvPr id="637" name="Google Shape;637;p53"/>
            <p:cNvGrpSpPr/>
            <p:nvPr/>
          </p:nvGrpSpPr>
          <p:grpSpPr>
            <a:xfrm>
              <a:off x="1965675" y="3554625"/>
              <a:ext cx="5930975" cy="1396212"/>
              <a:chOff x="1965675" y="3249825"/>
              <a:chExt cx="5930975" cy="1396212"/>
            </a:xfrm>
          </p:grpSpPr>
          <p:sp>
            <p:nvSpPr>
              <p:cNvPr id="638" name="Google Shape;638;p53"/>
              <p:cNvSpPr/>
              <p:nvPr/>
            </p:nvSpPr>
            <p:spPr>
              <a:xfrm>
                <a:off x="3349350" y="3249825"/>
                <a:ext cx="528000" cy="5232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P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39" name="Google Shape;639;p53"/>
              <p:cNvSpPr/>
              <p:nvPr/>
            </p:nvSpPr>
            <p:spPr>
              <a:xfrm>
                <a:off x="6003875" y="3962175"/>
                <a:ext cx="528000" cy="5232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SO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640" name="Google Shape;640;p53"/>
              <p:cNvGrpSpPr/>
              <p:nvPr/>
            </p:nvGrpSpPr>
            <p:grpSpPr>
              <a:xfrm>
                <a:off x="1965675" y="3871275"/>
                <a:ext cx="5930975" cy="774763"/>
                <a:chOff x="1965675" y="3871275"/>
                <a:chExt cx="5930975" cy="774763"/>
              </a:xfrm>
            </p:grpSpPr>
            <p:cxnSp>
              <p:nvCxnSpPr>
                <p:cNvPr id="641" name="Google Shape;641;p53"/>
                <p:cNvCxnSpPr/>
                <p:nvPr/>
              </p:nvCxnSpPr>
              <p:spPr>
                <a:xfrm>
                  <a:off x="4766150" y="3902850"/>
                  <a:ext cx="120600" cy="730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3A81B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2" name="Google Shape;642;p53"/>
                <p:cNvCxnSpPr/>
                <p:nvPr/>
              </p:nvCxnSpPr>
              <p:spPr>
                <a:xfrm>
                  <a:off x="1965675" y="3871275"/>
                  <a:ext cx="2800500" cy="210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3" name="Google Shape;643;p53"/>
                <p:cNvCxnSpPr/>
                <p:nvPr/>
              </p:nvCxnSpPr>
              <p:spPr>
                <a:xfrm>
                  <a:off x="4886750" y="4626838"/>
                  <a:ext cx="3009900" cy="19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644" name="Google Shape;644;p53"/>
            <p:cNvSpPr txBox="1"/>
            <p:nvPr/>
          </p:nvSpPr>
          <p:spPr>
            <a:xfrm>
              <a:off x="5042410" y="3600663"/>
              <a:ext cx="1447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excepción</a:t>
              </a:r>
              <a:endParaRPr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645" name="Google Shape;645;p53"/>
          <p:cNvCxnSpPr>
            <a:endCxn id="644" idx="1"/>
          </p:cNvCxnSpPr>
          <p:nvPr/>
        </p:nvCxnSpPr>
        <p:spPr>
          <a:xfrm rot="10800000" flipH="1">
            <a:off x="5941810" y="5251738"/>
            <a:ext cx="319800" cy="384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6" name="Google Shape;646;p53"/>
          <p:cNvSpPr txBox="1"/>
          <p:nvPr/>
        </p:nvSpPr>
        <p:spPr>
          <a:xfrm>
            <a:off x="802350" y="6445250"/>
            <a:ext cx="910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dirty="0"/>
              <a:t>Archivos relacionados</a:t>
            </a:r>
            <a:r>
              <a:rPr lang="es-ES" sz="1000" dirty="0"/>
              <a:t>: </a:t>
            </a:r>
            <a:r>
              <a:rPr lang="es-ES" sz="1000" u="sng" dirty="0" err="1">
                <a:solidFill>
                  <a:schemeClr val="hlink"/>
                </a:solidFill>
                <a:hlinkClick r:id="rId3"/>
              </a:rPr>
              <a:t>trap.c</a:t>
            </a:r>
            <a:r>
              <a:rPr lang="es-ES" sz="1000" dirty="0"/>
              <a:t>, </a:t>
            </a:r>
            <a:r>
              <a:rPr lang="es-ES" sz="1000" u="sng" dirty="0" err="1">
                <a:solidFill>
                  <a:schemeClr val="hlink"/>
                </a:solidFill>
                <a:hlinkClick r:id="rId4"/>
              </a:rPr>
              <a:t>trapasm.S</a:t>
            </a:r>
            <a:r>
              <a:rPr lang="es-ES" sz="1000" dirty="0"/>
              <a:t>, </a:t>
            </a:r>
            <a:r>
              <a:rPr lang="es-ES" sz="1000" u="sng" dirty="0">
                <a:solidFill>
                  <a:schemeClr val="hlink"/>
                </a:solidFill>
                <a:hlinkClick r:id="rId5"/>
              </a:rPr>
              <a:t>vectors.pl</a:t>
            </a:r>
            <a:r>
              <a:rPr lang="es-ES" sz="1000" dirty="0"/>
              <a:t> (Para mas información ver: A </a:t>
            </a:r>
            <a:r>
              <a:rPr lang="es-ES" sz="1000" dirty="0" err="1"/>
              <a:t>commentary</a:t>
            </a:r>
            <a:r>
              <a:rPr lang="es-ES" sz="1000" dirty="0"/>
              <a:t> </a:t>
            </a:r>
            <a:r>
              <a:rPr lang="es-ES" sz="1000" dirty="0" err="1"/>
              <a:t>on</a:t>
            </a:r>
            <a:r>
              <a:rPr lang="es-ES" sz="1000" dirty="0"/>
              <a:t> </a:t>
            </a:r>
            <a:r>
              <a:rPr lang="es-ES" sz="1000" dirty="0" err="1"/>
              <a:t>the</a:t>
            </a:r>
            <a:r>
              <a:rPr lang="es-ES" sz="1000" dirty="0"/>
              <a:t> </a:t>
            </a:r>
            <a:r>
              <a:rPr lang="es-ES" sz="1000" dirty="0" err="1"/>
              <a:t>sixth</a:t>
            </a:r>
            <a:r>
              <a:rPr lang="es-ES" sz="1000" dirty="0"/>
              <a:t> </a:t>
            </a:r>
            <a:r>
              <a:rPr lang="es-ES" sz="1000" dirty="0" err="1"/>
              <a:t>Edition</a:t>
            </a:r>
            <a:r>
              <a:rPr lang="es-ES" sz="1000" dirty="0"/>
              <a:t> Unix </a:t>
            </a:r>
            <a:r>
              <a:rPr lang="es-ES" sz="1000" dirty="0" err="1"/>
              <a:t>Operating</a:t>
            </a:r>
            <a:r>
              <a:rPr lang="es-ES" sz="1000" dirty="0"/>
              <a:t> </a:t>
            </a:r>
            <a:r>
              <a:rPr lang="es-ES" sz="1000" dirty="0" err="1"/>
              <a:t>System</a:t>
            </a:r>
            <a:r>
              <a:rPr lang="es-ES" sz="1000" dirty="0"/>
              <a:t> de J. </a:t>
            </a:r>
            <a:r>
              <a:rPr lang="es-ES" sz="1000" dirty="0" err="1"/>
              <a:t>Lions</a:t>
            </a:r>
            <a:r>
              <a:rPr lang="es-ES" sz="1000" dirty="0"/>
              <a:t> </a:t>
            </a:r>
            <a:r>
              <a:rPr lang="es-ES" sz="1000" u="sng" dirty="0">
                <a:solidFill>
                  <a:schemeClr val="hlink"/>
                </a:solidFill>
                <a:hlinkClick r:id="rId6"/>
              </a:rPr>
              <a:t>[link]</a:t>
            </a:r>
            <a:r>
              <a:rPr lang="es-ES" sz="1000" dirty="0"/>
              <a:t>)</a:t>
            </a:r>
            <a:endParaRPr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/>
          </a:p>
        </p:txBody>
      </p:sp>
      <p:sp>
        <p:nvSpPr>
          <p:cNvPr id="652" name="Google Shape;652;p54"/>
          <p:cNvSpPr txBox="1">
            <a:spLocks noGrp="1"/>
          </p:cNvSpPr>
          <p:nvPr>
            <p:ph type="body" idx="1"/>
          </p:nvPr>
        </p:nvSpPr>
        <p:spPr>
          <a:xfrm>
            <a:off x="362857" y="888500"/>
            <a:ext cx="11600543" cy="14465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Propuesta cooperativa (no apropiativa)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Cuando el proceso libera la CPU, es el sistema operativo quien decide el próximo proceso que la usará (Como se hace lo veremos luego).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654" name="Google Shape;654;p54"/>
          <p:cNvSpPr/>
          <p:nvPr/>
        </p:nvSpPr>
        <p:spPr>
          <a:xfrm>
            <a:off x="3387450" y="2830725"/>
            <a:ext cx="528000" cy="5232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5" name="Google Shape;655;p54"/>
          <p:cNvSpPr/>
          <p:nvPr/>
        </p:nvSpPr>
        <p:spPr>
          <a:xfrm>
            <a:off x="4611350" y="4286325"/>
            <a:ext cx="528000" cy="5232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SO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6" name="Google Shape;656;p54"/>
          <p:cNvSpPr/>
          <p:nvPr/>
        </p:nvSpPr>
        <p:spPr>
          <a:xfrm>
            <a:off x="8796125" y="2830725"/>
            <a:ext cx="528000" cy="5232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5981734" y="2812087"/>
            <a:ext cx="528000" cy="523200"/>
          </a:xfrm>
          <a:prstGeom prst="ellipse">
            <a:avLst/>
          </a:prstGeom>
          <a:solidFill>
            <a:srgbClr val="EA9999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54"/>
          <p:cNvSpPr/>
          <p:nvPr/>
        </p:nvSpPr>
        <p:spPr>
          <a:xfrm>
            <a:off x="7362775" y="4286325"/>
            <a:ext cx="528000" cy="5232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SO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60" name="Google Shape;660;p54"/>
          <p:cNvCxnSpPr>
            <a:cxnSpLocks/>
          </p:cNvCxnSpPr>
          <p:nvPr/>
        </p:nvCxnSpPr>
        <p:spPr>
          <a:xfrm>
            <a:off x="4200875" y="3452175"/>
            <a:ext cx="139800" cy="73050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1" name="Google Shape;661;p54"/>
          <p:cNvCxnSpPr>
            <a:cxnSpLocks/>
          </p:cNvCxnSpPr>
          <p:nvPr/>
        </p:nvCxnSpPr>
        <p:spPr>
          <a:xfrm>
            <a:off x="6888340" y="3425481"/>
            <a:ext cx="188035" cy="759444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54"/>
          <p:cNvCxnSpPr/>
          <p:nvPr/>
        </p:nvCxnSpPr>
        <p:spPr>
          <a:xfrm rot="10800000" flipH="1">
            <a:off x="2976725" y="3452125"/>
            <a:ext cx="1224300" cy="7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" name="Google Shape;663;p54"/>
          <p:cNvCxnSpPr/>
          <p:nvPr/>
        </p:nvCxnSpPr>
        <p:spPr>
          <a:xfrm rot="10800000" flipH="1">
            <a:off x="4340675" y="4182675"/>
            <a:ext cx="1224300" cy="7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" name="Google Shape;664;p54"/>
          <p:cNvCxnSpPr>
            <a:cxnSpLocks/>
          </p:cNvCxnSpPr>
          <p:nvPr/>
        </p:nvCxnSpPr>
        <p:spPr>
          <a:xfrm flipV="1">
            <a:off x="5564975" y="3459625"/>
            <a:ext cx="99065" cy="72305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p54"/>
          <p:cNvCxnSpPr/>
          <p:nvPr/>
        </p:nvCxnSpPr>
        <p:spPr>
          <a:xfrm rot="10800000" flipH="1">
            <a:off x="5664040" y="3435438"/>
            <a:ext cx="1224300" cy="7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" name="Google Shape;666;p54"/>
          <p:cNvCxnSpPr/>
          <p:nvPr/>
        </p:nvCxnSpPr>
        <p:spPr>
          <a:xfrm rot="10800000" flipH="1">
            <a:off x="7076375" y="4182675"/>
            <a:ext cx="1224300" cy="7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" name="Google Shape;667;p54"/>
          <p:cNvCxnSpPr/>
          <p:nvPr/>
        </p:nvCxnSpPr>
        <p:spPr>
          <a:xfrm rot="10800000" flipH="1">
            <a:off x="8300675" y="3454425"/>
            <a:ext cx="147300" cy="726000"/>
          </a:xfrm>
          <a:prstGeom prst="straightConnector1">
            <a:avLst/>
          </a:prstGeom>
          <a:noFill/>
          <a:ln w="19050" cap="flat" cmpd="sng">
            <a:solidFill>
              <a:srgbClr val="3A81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8" name="Google Shape;668;p54"/>
          <p:cNvCxnSpPr/>
          <p:nvPr/>
        </p:nvCxnSpPr>
        <p:spPr>
          <a:xfrm rot="10800000" flipH="1">
            <a:off x="8447975" y="3459625"/>
            <a:ext cx="1224300" cy="7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69" name="Google Shape;669;p54"/>
          <p:cNvGrpSpPr/>
          <p:nvPr/>
        </p:nvGrpSpPr>
        <p:grpSpPr>
          <a:xfrm>
            <a:off x="4160681" y="2887450"/>
            <a:ext cx="738712" cy="564687"/>
            <a:chOff x="2738281" y="2684250"/>
            <a:chExt cx="738712" cy="564687"/>
          </a:xfrm>
        </p:grpSpPr>
        <p:cxnSp>
          <p:nvCxnSpPr>
            <p:cNvPr id="670" name="Google Shape;670;p54"/>
            <p:cNvCxnSpPr/>
            <p:nvPr/>
          </p:nvCxnSpPr>
          <p:spPr>
            <a:xfrm rot="10800000" flipH="1">
              <a:off x="2738281" y="3015237"/>
              <a:ext cx="220200" cy="233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1" name="Google Shape;671;p54"/>
            <p:cNvSpPr/>
            <p:nvPr/>
          </p:nvSpPr>
          <p:spPr>
            <a:xfrm>
              <a:off x="3019775" y="2684250"/>
              <a:ext cx="457218" cy="409752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54"/>
          <p:cNvGrpSpPr/>
          <p:nvPr/>
        </p:nvGrpSpPr>
        <p:grpSpPr>
          <a:xfrm>
            <a:off x="5612797" y="4199362"/>
            <a:ext cx="696575" cy="545491"/>
            <a:chOff x="4123418" y="3164236"/>
            <a:chExt cx="696575" cy="545491"/>
          </a:xfrm>
        </p:grpSpPr>
        <p:sp>
          <p:nvSpPr>
            <p:cNvPr id="673" name="Google Shape;673;p54"/>
            <p:cNvSpPr/>
            <p:nvPr/>
          </p:nvSpPr>
          <p:spPr>
            <a:xfrm>
              <a:off x="4362775" y="3299975"/>
              <a:ext cx="457218" cy="409752"/>
            </a:xfrm>
            <a:prstGeom prst="irregularSeal2">
              <a:avLst/>
            </a:prstGeom>
            <a:solidFill>
              <a:srgbClr val="FFE59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74" name="Google Shape;674;p54"/>
            <p:cNvCxnSpPr>
              <a:cxnSpLocks/>
            </p:cNvCxnSpPr>
            <p:nvPr/>
          </p:nvCxnSpPr>
          <p:spPr>
            <a:xfrm>
              <a:off x="4123418" y="3164236"/>
              <a:ext cx="239357" cy="143688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675" name="Google Shape;675;p54"/>
          <p:cNvGrpSpPr/>
          <p:nvPr/>
        </p:nvGrpSpPr>
        <p:grpSpPr>
          <a:xfrm>
            <a:off x="6888340" y="2795636"/>
            <a:ext cx="747121" cy="528940"/>
            <a:chOff x="5370951" y="4708157"/>
            <a:chExt cx="747121" cy="528940"/>
          </a:xfrm>
        </p:grpSpPr>
        <p:cxnSp>
          <p:nvCxnSpPr>
            <p:cNvPr id="676" name="Google Shape;676;p54"/>
            <p:cNvCxnSpPr>
              <a:cxnSpLocks/>
            </p:cNvCxnSpPr>
            <p:nvPr/>
          </p:nvCxnSpPr>
          <p:spPr>
            <a:xfrm flipV="1">
              <a:off x="5370951" y="5005837"/>
              <a:ext cx="261910" cy="23126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7" name="Google Shape;677;p54"/>
            <p:cNvSpPr/>
            <p:nvPr/>
          </p:nvSpPr>
          <p:spPr>
            <a:xfrm>
              <a:off x="5660854" y="4708157"/>
              <a:ext cx="457218" cy="409752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54"/>
          <p:cNvGrpSpPr/>
          <p:nvPr/>
        </p:nvGrpSpPr>
        <p:grpSpPr>
          <a:xfrm>
            <a:off x="8300678" y="4192413"/>
            <a:ext cx="604515" cy="560389"/>
            <a:chOff x="6878278" y="3989213"/>
            <a:chExt cx="604515" cy="560389"/>
          </a:xfrm>
        </p:grpSpPr>
        <p:sp>
          <p:nvSpPr>
            <p:cNvPr id="679" name="Google Shape;679;p54"/>
            <p:cNvSpPr/>
            <p:nvPr/>
          </p:nvSpPr>
          <p:spPr>
            <a:xfrm>
              <a:off x="7025575" y="4139850"/>
              <a:ext cx="457218" cy="409752"/>
            </a:xfrm>
            <a:prstGeom prst="irregularSeal2">
              <a:avLst/>
            </a:prstGeom>
            <a:solidFill>
              <a:srgbClr val="FFE59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80" name="Google Shape;680;p54"/>
            <p:cNvCxnSpPr/>
            <p:nvPr/>
          </p:nvCxnSpPr>
          <p:spPr>
            <a:xfrm>
              <a:off x="6878278" y="3989213"/>
              <a:ext cx="220200" cy="2031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86" name="Google Shape;686;p55"/>
          <p:cNvSpPr txBox="1">
            <a:spLocks noGrp="1"/>
          </p:cNvSpPr>
          <p:nvPr>
            <p:ph type="body" idx="1"/>
          </p:nvPr>
        </p:nvSpPr>
        <p:spPr>
          <a:xfrm>
            <a:off x="333829" y="812300"/>
            <a:ext cx="11120321" cy="57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Propuesta no cooperativa (apropiativa)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sistema operativo es quien toma el control de la CPU mediante interrupciones por timer.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timer lanza interrupciones cada cierto tiempo (algunos milisegundos).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Cuando se lanza una ejecución por timer: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El proceso en ejecución es</a:t>
            </a:r>
            <a:r>
              <a:rPr lang="es-ES" sz="2000" b="1" dirty="0">
                <a:latin typeface="+mn-lt"/>
              </a:rPr>
              <a:t> suspendido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almacena el estado del proceso.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Una </a:t>
            </a:r>
            <a:r>
              <a:rPr lang="es-ES" sz="2000" b="1" dirty="0">
                <a:latin typeface="+mn-lt"/>
              </a:rPr>
              <a:t>rutina de atención </a:t>
            </a:r>
            <a:r>
              <a:rPr lang="es-ES" sz="2000" dirty="0">
                <a:latin typeface="+mn-lt"/>
              </a:rPr>
              <a:t>a la interrupción es ejecutada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87" name="Google Shape;687;p55"/>
          <p:cNvGrpSpPr/>
          <p:nvPr/>
        </p:nvGrpSpPr>
        <p:grpSpPr>
          <a:xfrm>
            <a:off x="1293961" y="2361562"/>
            <a:ext cx="6700490" cy="2134875"/>
            <a:chOff x="3289675" y="2509700"/>
            <a:chExt cx="6700490" cy="2134875"/>
          </a:xfrm>
        </p:grpSpPr>
        <p:grpSp>
          <p:nvGrpSpPr>
            <p:cNvPr id="688" name="Google Shape;688;p55"/>
            <p:cNvGrpSpPr/>
            <p:nvPr/>
          </p:nvGrpSpPr>
          <p:grpSpPr>
            <a:xfrm>
              <a:off x="6090064" y="2509700"/>
              <a:ext cx="814001" cy="572778"/>
              <a:chOff x="6090064" y="2509700"/>
              <a:chExt cx="814001" cy="572778"/>
            </a:xfrm>
          </p:grpSpPr>
          <p:sp>
            <p:nvSpPr>
              <p:cNvPr id="689" name="Google Shape;689;p55"/>
              <p:cNvSpPr/>
              <p:nvPr/>
            </p:nvSpPr>
            <p:spPr>
              <a:xfrm flipH="1">
                <a:off x="6090064" y="2509700"/>
                <a:ext cx="222210" cy="572778"/>
              </a:xfrm>
              <a:prstGeom prst="lightningBolt">
                <a:avLst/>
              </a:prstGeom>
              <a:solidFill>
                <a:srgbClr val="FFFF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90" name="Google Shape;690;p5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427165" y="2557628"/>
                <a:ext cx="476900" cy="476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91" name="Google Shape;691;p55"/>
            <p:cNvGrpSpPr/>
            <p:nvPr/>
          </p:nvGrpSpPr>
          <p:grpSpPr>
            <a:xfrm>
              <a:off x="3289675" y="2585900"/>
              <a:ext cx="5930975" cy="2058675"/>
              <a:chOff x="1965675" y="3249825"/>
              <a:chExt cx="5930975" cy="2058675"/>
            </a:xfrm>
          </p:grpSpPr>
          <p:sp>
            <p:nvSpPr>
              <p:cNvPr id="692" name="Google Shape;692;p55"/>
              <p:cNvSpPr/>
              <p:nvPr/>
            </p:nvSpPr>
            <p:spPr>
              <a:xfrm>
                <a:off x="3158850" y="3249825"/>
                <a:ext cx="528000" cy="5232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P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93" name="Google Shape;693;p55"/>
              <p:cNvSpPr/>
              <p:nvPr/>
            </p:nvSpPr>
            <p:spPr>
              <a:xfrm>
                <a:off x="6130638" y="4785300"/>
                <a:ext cx="528000" cy="5232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SO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694" name="Google Shape;694;p55"/>
              <p:cNvGrpSpPr/>
              <p:nvPr/>
            </p:nvGrpSpPr>
            <p:grpSpPr>
              <a:xfrm>
                <a:off x="1965675" y="3871275"/>
                <a:ext cx="5930975" cy="774763"/>
                <a:chOff x="1965675" y="3871275"/>
                <a:chExt cx="5930975" cy="774763"/>
              </a:xfrm>
            </p:grpSpPr>
            <p:cxnSp>
              <p:nvCxnSpPr>
                <p:cNvPr id="695" name="Google Shape;695;p55"/>
                <p:cNvCxnSpPr/>
                <p:nvPr/>
              </p:nvCxnSpPr>
              <p:spPr>
                <a:xfrm>
                  <a:off x="4766150" y="3902850"/>
                  <a:ext cx="120600" cy="730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3A81B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96" name="Google Shape;696;p55"/>
                <p:cNvCxnSpPr/>
                <p:nvPr/>
              </p:nvCxnSpPr>
              <p:spPr>
                <a:xfrm>
                  <a:off x="1965675" y="3871275"/>
                  <a:ext cx="2800500" cy="210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97" name="Google Shape;697;p55"/>
                <p:cNvCxnSpPr/>
                <p:nvPr/>
              </p:nvCxnSpPr>
              <p:spPr>
                <a:xfrm>
                  <a:off x="4886750" y="4626838"/>
                  <a:ext cx="3009900" cy="19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698" name="Google Shape;698;p55"/>
            <p:cNvGrpSpPr/>
            <p:nvPr/>
          </p:nvGrpSpPr>
          <p:grpSpPr>
            <a:xfrm>
              <a:off x="9220639" y="3388963"/>
              <a:ext cx="769526" cy="572778"/>
              <a:chOff x="9220639" y="3388963"/>
              <a:chExt cx="769526" cy="572778"/>
            </a:xfrm>
          </p:grpSpPr>
          <p:sp>
            <p:nvSpPr>
              <p:cNvPr id="699" name="Google Shape;699;p55"/>
              <p:cNvSpPr/>
              <p:nvPr/>
            </p:nvSpPr>
            <p:spPr>
              <a:xfrm flipH="1">
                <a:off x="9220639" y="3388963"/>
                <a:ext cx="222210" cy="572778"/>
              </a:xfrm>
              <a:prstGeom prst="lightningBolt">
                <a:avLst/>
              </a:prstGeom>
              <a:solidFill>
                <a:srgbClr val="FFFF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0" name="Google Shape;700;p5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13265" y="3436915"/>
                <a:ext cx="476900" cy="476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6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03802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06" name="Google Shape;706;p56"/>
          <p:cNvSpPr txBox="1">
            <a:spLocks noGrp="1"/>
          </p:cNvSpPr>
          <p:nvPr>
            <p:ph type="body" idx="1"/>
          </p:nvPr>
        </p:nvSpPr>
        <p:spPr>
          <a:xfrm>
            <a:off x="348343" y="812300"/>
            <a:ext cx="11105807" cy="57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Propuesta no cooperativa (apropiativa)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interrupción del </a:t>
            </a:r>
            <a:r>
              <a:rPr lang="es-ES" sz="2000" dirty="0" err="1">
                <a:latin typeface="+mn-lt"/>
              </a:rPr>
              <a:t>timer</a:t>
            </a:r>
            <a:r>
              <a:rPr lang="es-ES" sz="2000" dirty="0">
                <a:latin typeface="+mn-lt"/>
              </a:rPr>
              <a:t> le da a la SO la habilidad de </a:t>
            </a:r>
            <a:r>
              <a:rPr lang="es-ES" sz="2000" b="1" dirty="0">
                <a:latin typeface="+mn-lt"/>
              </a:rPr>
              <a:t>retomar</a:t>
            </a:r>
            <a:r>
              <a:rPr lang="es-ES" sz="2000" dirty="0">
                <a:latin typeface="+mn-lt"/>
              </a:rPr>
              <a:t> el control de la CPU.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707" name="Google Shape;707;p56"/>
          <p:cNvGrpSpPr/>
          <p:nvPr/>
        </p:nvGrpSpPr>
        <p:grpSpPr>
          <a:xfrm>
            <a:off x="4575460" y="2941500"/>
            <a:ext cx="6700490" cy="2134875"/>
            <a:chOff x="3289675" y="2509700"/>
            <a:chExt cx="6700490" cy="2134875"/>
          </a:xfrm>
        </p:grpSpPr>
        <p:grpSp>
          <p:nvGrpSpPr>
            <p:cNvPr id="708" name="Google Shape;708;p56"/>
            <p:cNvGrpSpPr/>
            <p:nvPr/>
          </p:nvGrpSpPr>
          <p:grpSpPr>
            <a:xfrm>
              <a:off x="6090064" y="2509700"/>
              <a:ext cx="814001" cy="572778"/>
              <a:chOff x="6090064" y="2509700"/>
              <a:chExt cx="814001" cy="572778"/>
            </a:xfrm>
          </p:grpSpPr>
          <p:sp>
            <p:nvSpPr>
              <p:cNvPr id="709" name="Google Shape;709;p56"/>
              <p:cNvSpPr/>
              <p:nvPr/>
            </p:nvSpPr>
            <p:spPr>
              <a:xfrm flipH="1">
                <a:off x="6090064" y="2509700"/>
                <a:ext cx="222210" cy="572778"/>
              </a:xfrm>
              <a:prstGeom prst="lightningBolt">
                <a:avLst/>
              </a:prstGeom>
              <a:solidFill>
                <a:srgbClr val="FFFF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10" name="Google Shape;710;p5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427165" y="2557628"/>
                <a:ext cx="476900" cy="476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1" name="Google Shape;711;p56"/>
            <p:cNvGrpSpPr/>
            <p:nvPr/>
          </p:nvGrpSpPr>
          <p:grpSpPr>
            <a:xfrm>
              <a:off x="3289675" y="2585900"/>
              <a:ext cx="5930975" cy="2058675"/>
              <a:chOff x="1965675" y="3249825"/>
              <a:chExt cx="5930975" cy="2058675"/>
            </a:xfrm>
          </p:grpSpPr>
          <p:sp>
            <p:nvSpPr>
              <p:cNvPr id="712" name="Google Shape;712;p56"/>
              <p:cNvSpPr/>
              <p:nvPr/>
            </p:nvSpPr>
            <p:spPr>
              <a:xfrm>
                <a:off x="3158850" y="3249825"/>
                <a:ext cx="528000" cy="5232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P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13" name="Google Shape;713;p56"/>
              <p:cNvSpPr/>
              <p:nvPr/>
            </p:nvSpPr>
            <p:spPr>
              <a:xfrm>
                <a:off x="6130638" y="4785300"/>
                <a:ext cx="528000" cy="5232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urier New"/>
                    <a:ea typeface="Courier New"/>
                    <a:cs typeface="Courier New"/>
                    <a:sym typeface="Courier New"/>
                  </a:rPr>
                  <a:t>SO</a:t>
                </a:r>
                <a:endParaRPr sz="1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714" name="Google Shape;714;p56"/>
              <p:cNvGrpSpPr/>
              <p:nvPr/>
            </p:nvGrpSpPr>
            <p:grpSpPr>
              <a:xfrm>
                <a:off x="1965675" y="3871275"/>
                <a:ext cx="5930975" cy="774763"/>
                <a:chOff x="1965675" y="3871275"/>
                <a:chExt cx="5930975" cy="774763"/>
              </a:xfrm>
            </p:grpSpPr>
            <p:cxnSp>
              <p:nvCxnSpPr>
                <p:cNvPr id="715" name="Google Shape;715;p56"/>
                <p:cNvCxnSpPr/>
                <p:nvPr/>
              </p:nvCxnSpPr>
              <p:spPr>
                <a:xfrm>
                  <a:off x="4766150" y="3902850"/>
                  <a:ext cx="120600" cy="730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3A81B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16" name="Google Shape;716;p56"/>
                <p:cNvCxnSpPr/>
                <p:nvPr/>
              </p:nvCxnSpPr>
              <p:spPr>
                <a:xfrm>
                  <a:off x="1965675" y="3871275"/>
                  <a:ext cx="2800500" cy="210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17" name="Google Shape;717;p56"/>
                <p:cNvCxnSpPr/>
                <p:nvPr/>
              </p:nvCxnSpPr>
              <p:spPr>
                <a:xfrm>
                  <a:off x="4886750" y="4626838"/>
                  <a:ext cx="3009900" cy="19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718" name="Google Shape;718;p56"/>
            <p:cNvGrpSpPr/>
            <p:nvPr/>
          </p:nvGrpSpPr>
          <p:grpSpPr>
            <a:xfrm>
              <a:off x="9220639" y="3388963"/>
              <a:ext cx="769526" cy="572778"/>
              <a:chOff x="9220639" y="3388963"/>
              <a:chExt cx="769526" cy="572778"/>
            </a:xfrm>
          </p:grpSpPr>
          <p:sp>
            <p:nvSpPr>
              <p:cNvPr id="719" name="Google Shape;719;p56"/>
              <p:cNvSpPr/>
              <p:nvPr/>
            </p:nvSpPr>
            <p:spPr>
              <a:xfrm flipH="1">
                <a:off x="9220639" y="3388963"/>
                <a:ext cx="222210" cy="572778"/>
              </a:xfrm>
              <a:prstGeom prst="lightningBolt">
                <a:avLst/>
              </a:prstGeom>
              <a:solidFill>
                <a:srgbClr val="FFFF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0" name="Google Shape;720;p5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13265" y="3436915"/>
                <a:ext cx="476900" cy="476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21" name="Google Shape;72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0102" y="2022762"/>
            <a:ext cx="237172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7"/>
          <p:cNvSpPr txBox="1">
            <a:spLocks noGrp="1"/>
          </p:cNvSpPr>
          <p:nvPr>
            <p:ph type="title"/>
          </p:nvPr>
        </p:nvSpPr>
        <p:spPr>
          <a:xfrm>
            <a:off x="408650" y="56779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7" name="Google Shape;727;p57"/>
          <p:cNvSpPr txBox="1">
            <a:spLocks noGrp="1"/>
          </p:cNvSpPr>
          <p:nvPr>
            <p:ph type="body" idx="1"/>
          </p:nvPr>
        </p:nvSpPr>
        <p:spPr>
          <a:xfrm>
            <a:off x="211843" y="836188"/>
            <a:ext cx="11571507" cy="13494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Sobre las interrupciones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Las interrupciones son generadas por hardware.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Son asíncronas.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728" name="Google Shape;728;p57"/>
          <p:cNvGrpSpPr/>
          <p:nvPr/>
        </p:nvGrpSpPr>
        <p:grpSpPr>
          <a:xfrm>
            <a:off x="1203275" y="4646525"/>
            <a:ext cx="2985600" cy="1715500"/>
            <a:chOff x="1612850" y="3436850"/>
            <a:chExt cx="2985600" cy="1715500"/>
          </a:xfrm>
        </p:grpSpPr>
        <p:sp>
          <p:nvSpPr>
            <p:cNvPr id="729" name="Google Shape;729;p57"/>
            <p:cNvSpPr/>
            <p:nvPr/>
          </p:nvSpPr>
          <p:spPr>
            <a:xfrm>
              <a:off x="1612850" y="3436850"/>
              <a:ext cx="2985600" cy="485700"/>
            </a:xfrm>
            <a:prstGeom prst="rect">
              <a:avLst/>
            </a:prstGeom>
            <a:solidFill>
              <a:srgbClr val="FFF2CC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Process</a:t>
              </a:r>
              <a:endParaRPr sz="19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30" name="Google Shape;730;p57"/>
            <p:cNvSpPr/>
            <p:nvPr/>
          </p:nvSpPr>
          <p:spPr>
            <a:xfrm>
              <a:off x="1612850" y="3922650"/>
              <a:ext cx="2985600" cy="4857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31" name="Google Shape;731;p57"/>
            <p:cNvSpPr/>
            <p:nvPr/>
          </p:nvSpPr>
          <p:spPr>
            <a:xfrm>
              <a:off x="1612850" y="4408350"/>
              <a:ext cx="2985600" cy="744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Hardware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732" name="Google Shape;732;p57"/>
          <p:cNvGrpSpPr/>
          <p:nvPr/>
        </p:nvGrpSpPr>
        <p:grpSpPr>
          <a:xfrm>
            <a:off x="8613725" y="4646525"/>
            <a:ext cx="2985600" cy="1715500"/>
            <a:chOff x="5099000" y="4075025"/>
            <a:chExt cx="2985600" cy="1715500"/>
          </a:xfrm>
        </p:grpSpPr>
        <p:grpSp>
          <p:nvGrpSpPr>
            <p:cNvPr id="733" name="Google Shape;733;p57"/>
            <p:cNvGrpSpPr/>
            <p:nvPr/>
          </p:nvGrpSpPr>
          <p:grpSpPr>
            <a:xfrm>
              <a:off x="5099000" y="4075025"/>
              <a:ext cx="2985600" cy="1715500"/>
              <a:chOff x="1612850" y="3436850"/>
              <a:chExt cx="2985600" cy="1715500"/>
            </a:xfrm>
          </p:grpSpPr>
          <p:sp>
            <p:nvSpPr>
              <p:cNvPr id="734" name="Google Shape;734;p57"/>
              <p:cNvSpPr/>
              <p:nvPr/>
            </p:nvSpPr>
            <p:spPr>
              <a:xfrm>
                <a:off x="1612850" y="3436850"/>
                <a:ext cx="2985600" cy="4857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9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Process</a:t>
                </a:r>
                <a:endParaRPr sz="19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35" name="Google Shape;735;p57"/>
              <p:cNvSpPr/>
              <p:nvPr/>
            </p:nvSpPr>
            <p:spPr>
              <a:xfrm>
                <a:off x="1612850" y="3922650"/>
                <a:ext cx="2985600" cy="485700"/>
              </a:xfrm>
              <a:prstGeom prst="rect">
                <a:avLst/>
              </a:prstGeom>
              <a:solidFill>
                <a:srgbClr val="D9EAD3"/>
              </a:solidFill>
              <a:ln w="381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solidFill>
                      <a:srgbClr val="0B69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SO</a:t>
                </a:r>
                <a:endParaRPr sz="18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36" name="Google Shape;736;p57"/>
              <p:cNvSpPr/>
              <p:nvPr/>
            </p:nvSpPr>
            <p:spPr>
              <a:xfrm>
                <a:off x="1612850" y="4408350"/>
                <a:ext cx="2985600" cy="744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Hardware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37" name="Google Shape;737;p57"/>
              <p:cNvSpPr/>
              <p:nvPr/>
            </p:nvSpPr>
            <p:spPr>
              <a:xfrm>
                <a:off x="2807751" y="4537500"/>
                <a:ext cx="1695492" cy="485676"/>
              </a:xfrm>
              <a:prstGeom prst="irregularSeal2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b="1" dirty="0">
                    <a:solidFill>
                      <a:schemeClr val="dk1"/>
                    </a:solidFill>
                  </a:rPr>
                  <a:t>Timer int</a:t>
                </a:r>
                <a:endParaRPr sz="1000" b="1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738" name="Google Shape;738;p57"/>
            <p:cNvSpPr/>
            <p:nvPr/>
          </p:nvSpPr>
          <p:spPr>
            <a:xfrm>
              <a:off x="6760625" y="4656050"/>
              <a:ext cx="981000" cy="2478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/>
                <a:t>handler</a:t>
              </a:r>
              <a:endParaRPr sz="1200" b="1" dirty="0"/>
            </a:p>
          </p:txBody>
        </p:sp>
        <p:sp>
          <p:nvSpPr>
            <p:cNvPr id="739" name="Google Shape;739;p57"/>
            <p:cNvSpPr/>
            <p:nvPr/>
          </p:nvSpPr>
          <p:spPr>
            <a:xfrm>
              <a:off x="7189175" y="4903850"/>
              <a:ext cx="123900" cy="247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57"/>
          <p:cNvGrpSpPr/>
          <p:nvPr/>
        </p:nvGrpSpPr>
        <p:grpSpPr>
          <a:xfrm>
            <a:off x="6280039" y="2400713"/>
            <a:ext cx="814001" cy="572778"/>
            <a:chOff x="6090064" y="2509700"/>
            <a:chExt cx="814001" cy="572778"/>
          </a:xfrm>
        </p:grpSpPr>
        <p:sp>
          <p:nvSpPr>
            <p:cNvPr id="741" name="Google Shape;741;p57"/>
            <p:cNvSpPr/>
            <p:nvPr/>
          </p:nvSpPr>
          <p:spPr>
            <a:xfrm flipH="1">
              <a:off x="6090064" y="2509700"/>
              <a:ext cx="222210" cy="572778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42" name="Google Shape;742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27165" y="2557628"/>
              <a:ext cx="476900" cy="476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3" name="Google Shape;743;p57"/>
          <p:cNvSpPr/>
          <p:nvPr/>
        </p:nvSpPr>
        <p:spPr>
          <a:xfrm>
            <a:off x="3187450" y="2304413"/>
            <a:ext cx="528000" cy="5232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4" name="Google Shape;744;p57"/>
          <p:cNvSpPr/>
          <p:nvPr/>
        </p:nvSpPr>
        <p:spPr>
          <a:xfrm>
            <a:off x="9683488" y="3897038"/>
            <a:ext cx="528000" cy="5232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SO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45" name="Google Shape;745;p57"/>
          <p:cNvGrpSpPr/>
          <p:nvPr/>
        </p:nvGrpSpPr>
        <p:grpSpPr>
          <a:xfrm>
            <a:off x="1232219" y="2973488"/>
            <a:ext cx="10538156" cy="774763"/>
            <a:chOff x="1965675" y="3871275"/>
            <a:chExt cx="5930975" cy="774763"/>
          </a:xfrm>
        </p:grpSpPr>
        <p:cxnSp>
          <p:nvCxnSpPr>
            <p:cNvPr id="746" name="Google Shape;746;p57"/>
            <p:cNvCxnSpPr/>
            <p:nvPr/>
          </p:nvCxnSpPr>
          <p:spPr>
            <a:xfrm>
              <a:off x="4766150" y="3902850"/>
              <a:ext cx="120600" cy="730500"/>
            </a:xfrm>
            <a:prstGeom prst="straightConnector1">
              <a:avLst/>
            </a:prstGeom>
            <a:noFill/>
            <a:ln w="19050" cap="flat" cmpd="sng">
              <a:solidFill>
                <a:srgbClr val="3A81B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7" name="Google Shape;747;p57"/>
            <p:cNvCxnSpPr/>
            <p:nvPr/>
          </p:nvCxnSpPr>
          <p:spPr>
            <a:xfrm>
              <a:off x="1965675" y="3871275"/>
              <a:ext cx="2800500" cy="210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8" name="Google Shape;748;p57"/>
            <p:cNvCxnSpPr/>
            <p:nvPr/>
          </p:nvCxnSpPr>
          <p:spPr>
            <a:xfrm>
              <a:off x="4886750" y="4626838"/>
              <a:ext cx="3009900" cy="192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749" name="Google Shape;749;p57"/>
          <p:cNvGrpSpPr/>
          <p:nvPr/>
        </p:nvGrpSpPr>
        <p:grpSpPr>
          <a:xfrm>
            <a:off x="4908500" y="4646525"/>
            <a:ext cx="2985600" cy="1715500"/>
            <a:chOff x="1612850" y="3436850"/>
            <a:chExt cx="2985600" cy="1715500"/>
          </a:xfrm>
        </p:grpSpPr>
        <p:sp>
          <p:nvSpPr>
            <p:cNvPr id="750" name="Google Shape;750;p57"/>
            <p:cNvSpPr/>
            <p:nvPr/>
          </p:nvSpPr>
          <p:spPr>
            <a:xfrm>
              <a:off x="1612850" y="3436850"/>
              <a:ext cx="2985600" cy="485700"/>
            </a:xfrm>
            <a:prstGeom prst="rect">
              <a:avLst/>
            </a:prstGeom>
            <a:solidFill>
              <a:srgbClr val="FFF2CC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9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Process</a:t>
              </a:r>
              <a:endParaRPr sz="19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1" name="Google Shape;751;p57"/>
            <p:cNvSpPr/>
            <p:nvPr/>
          </p:nvSpPr>
          <p:spPr>
            <a:xfrm>
              <a:off x="1612850" y="3922650"/>
              <a:ext cx="2985600" cy="4857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2" name="Google Shape;752;p57"/>
            <p:cNvSpPr/>
            <p:nvPr/>
          </p:nvSpPr>
          <p:spPr>
            <a:xfrm>
              <a:off x="1612850" y="4408350"/>
              <a:ext cx="2985600" cy="744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Hardware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3" name="Google Shape;753;p57"/>
            <p:cNvSpPr/>
            <p:nvPr/>
          </p:nvSpPr>
          <p:spPr>
            <a:xfrm>
              <a:off x="2807751" y="4537500"/>
              <a:ext cx="1695492" cy="485676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>
                  <a:solidFill>
                    <a:srgbClr val="FF0000"/>
                  </a:solidFill>
                </a:rPr>
                <a:t>Timer int</a:t>
              </a:r>
              <a:endParaRPr sz="1000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754" name="Google Shape;754;p57"/>
          <p:cNvCxnSpPr/>
          <p:nvPr/>
        </p:nvCxnSpPr>
        <p:spPr>
          <a:xfrm>
            <a:off x="6198550" y="1836650"/>
            <a:ext cx="9600" cy="26673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8"/>
          <p:cNvSpPr txBox="1">
            <a:spLocks noGrp="1"/>
          </p:cNvSpPr>
          <p:nvPr>
            <p:ph type="title"/>
          </p:nvPr>
        </p:nvSpPr>
        <p:spPr>
          <a:xfrm>
            <a:off x="228600" y="96038"/>
            <a:ext cx="8992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Interrupción y varios procesos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0" name="Google Shape;760;p58"/>
          <p:cNvSpPr txBox="1">
            <a:spLocks noGrp="1"/>
          </p:cNvSpPr>
          <p:nvPr>
            <p:ph type="body" idx="1"/>
          </p:nvPr>
        </p:nvSpPr>
        <p:spPr>
          <a:xfrm>
            <a:off x="228600" y="951898"/>
            <a:ext cx="11569700" cy="16323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000" dirty="0">
                <a:latin typeface="+mn-lt"/>
              </a:rPr>
              <a:t>Cuando hay una interrupción el scheduler tiene que tomar una decisión sobre el paso a seguir: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Continuar con el proceso actual.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Cambiar a un proceso diferente.</a:t>
            </a:r>
            <a:endParaRPr sz="2000" dirty="0">
              <a:latin typeface="+mn-lt"/>
            </a:endParaRPr>
          </a:p>
          <a:p>
            <a:pPr marL="381000">
              <a:lnSpc>
                <a:spcPct val="115000"/>
              </a:lnSpc>
              <a:spcBef>
                <a:spcPts val="0"/>
              </a:spcBef>
              <a:buSzPts val="3000"/>
            </a:pPr>
            <a:r>
              <a:rPr lang="es-ES" sz="2000" dirty="0">
                <a:latin typeface="+mn-lt"/>
              </a:rPr>
              <a:t>Si la decisión es cambiar, el SO ejecuta un cambio de contexto (</a:t>
            </a:r>
            <a:r>
              <a:rPr lang="es-ES" sz="2000" b="1" dirty="0">
                <a:latin typeface="+mn-lt"/>
              </a:rPr>
              <a:t>context switch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61" name="Google Shape;761;p58"/>
          <p:cNvGrpSpPr/>
          <p:nvPr/>
        </p:nvGrpSpPr>
        <p:grpSpPr>
          <a:xfrm>
            <a:off x="964275" y="3429000"/>
            <a:ext cx="3165925" cy="1952525"/>
            <a:chOff x="1488150" y="2279763"/>
            <a:chExt cx="3165925" cy="1952525"/>
          </a:xfrm>
        </p:grpSpPr>
        <p:pic>
          <p:nvPicPr>
            <p:cNvPr id="762" name="Google Shape;762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55100" y="3138775"/>
              <a:ext cx="698975" cy="698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3" name="Google Shape;763;p58"/>
            <p:cNvSpPr/>
            <p:nvPr/>
          </p:nvSpPr>
          <p:spPr>
            <a:xfrm>
              <a:off x="1516000" y="2279763"/>
              <a:ext cx="731100" cy="7311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P0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4" name="Google Shape;764;p58"/>
            <p:cNvSpPr/>
            <p:nvPr/>
          </p:nvSpPr>
          <p:spPr>
            <a:xfrm>
              <a:off x="1488150" y="3501188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765" name="Google Shape;765;p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29337" y="2409650"/>
              <a:ext cx="894634" cy="891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66" name="Google Shape;766;p58"/>
            <p:cNvCxnSpPr/>
            <p:nvPr/>
          </p:nvCxnSpPr>
          <p:spPr>
            <a:xfrm>
              <a:off x="2321275" y="2766375"/>
              <a:ext cx="543600" cy="672900"/>
            </a:xfrm>
            <a:prstGeom prst="straightConnector1">
              <a:avLst/>
            </a:prstGeom>
            <a:noFill/>
            <a:ln w="28575" cap="flat" cmpd="sng">
              <a:solidFill>
                <a:srgbClr val="888888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767" name="Google Shape;767;p58"/>
            <p:cNvCxnSpPr/>
            <p:nvPr/>
          </p:nvCxnSpPr>
          <p:spPr>
            <a:xfrm>
              <a:off x="2873200" y="3409513"/>
              <a:ext cx="972000" cy="4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68" name="Google Shape;768;p58"/>
            <p:cNvSpPr/>
            <p:nvPr/>
          </p:nvSpPr>
          <p:spPr>
            <a:xfrm>
              <a:off x="2606528" y="2894113"/>
              <a:ext cx="258350" cy="891975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69" name="Google Shape;769;p58"/>
            <p:cNvSpPr txBox="1"/>
            <p:nvPr/>
          </p:nvSpPr>
          <p:spPr>
            <a:xfrm>
              <a:off x="2044100" y="3124550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770" name="Google Shape;77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089" y="3243811"/>
            <a:ext cx="6729425" cy="241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9"/>
          <p:cNvSpPr txBox="1">
            <a:spLocks noGrp="1"/>
          </p:cNvSpPr>
          <p:nvPr>
            <p:ph type="title"/>
          </p:nvPr>
        </p:nvSpPr>
        <p:spPr>
          <a:xfrm>
            <a:off x="228600" y="11705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Cambio de contexto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6" name="Google Shape;776;p59"/>
          <p:cNvSpPr txBox="1">
            <a:spLocks noGrp="1"/>
          </p:cNvSpPr>
          <p:nvPr>
            <p:ph type="body" idx="1"/>
          </p:nvPr>
        </p:nvSpPr>
        <p:spPr>
          <a:xfrm>
            <a:off x="228600" y="1066550"/>
            <a:ext cx="5287400" cy="43309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Cuando hay un cambio de contexto pasa lo siguiente: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Se almacena el estado del proceso en ejecución en el PCB, esto implica almacenar los valores de la CPU en el </a:t>
            </a:r>
            <a:r>
              <a:rPr lang="es-ES" sz="2000" b="1" dirty="0">
                <a:latin typeface="+mn-lt"/>
              </a:rPr>
              <a:t>kernel stack</a:t>
            </a:r>
            <a:r>
              <a:rPr lang="es-ES" sz="2000" dirty="0">
                <a:latin typeface="+mn-lt"/>
              </a:rPr>
              <a:t>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Registros de propósito general.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PC.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kernel Stack pointer.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Se restauran los valores del proceso que se va a ejecutar desde el </a:t>
            </a:r>
            <a:r>
              <a:rPr lang="es-ES" sz="2000" b="1" dirty="0">
                <a:latin typeface="+mn-lt"/>
              </a:rPr>
              <a:t>kernel stack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Se cambia al </a:t>
            </a:r>
            <a:r>
              <a:rPr lang="es-ES" sz="2000" b="1" dirty="0">
                <a:latin typeface="+mn-lt"/>
              </a:rPr>
              <a:t>kernel stack</a:t>
            </a:r>
            <a:r>
              <a:rPr lang="es-ES" sz="2000" dirty="0">
                <a:latin typeface="+mn-lt"/>
              </a:rPr>
              <a:t> del proceso que se va a ejecutar.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3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3200" dirty="0">
              <a:latin typeface="+mn-lt"/>
            </a:endParaRPr>
          </a:p>
        </p:txBody>
      </p:sp>
      <p:pic>
        <p:nvPicPr>
          <p:cNvPr id="777" name="Google Shape;77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950" y="1350338"/>
            <a:ext cx="6174450" cy="504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9"/>
          <p:cNvSpPr txBox="1">
            <a:spLocks noGrp="1"/>
          </p:cNvSpPr>
          <p:nvPr>
            <p:ph type="title"/>
          </p:nvPr>
        </p:nvSpPr>
        <p:spPr>
          <a:xfrm>
            <a:off x="243550" y="269700"/>
            <a:ext cx="8494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Cambio de contexto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77" name="Google Shape;77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300" y="1701800"/>
            <a:ext cx="4305300" cy="408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33343824-5EF6-4959-BC93-60E977BD178F}"/>
              </a:ext>
            </a:extLst>
          </p:cNvPr>
          <p:cNvGrpSpPr/>
          <p:nvPr/>
        </p:nvGrpSpPr>
        <p:grpSpPr>
          <a:xfrm>
            <a:off x="1565369" y="5285058"/>
            <a:ext cx="5061347" cy="1012283"/>
            <a:chOff x="6776065" y="5629468"/>
            <a:chExt cx="5559486" cy="1152670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E719D49-7E7F-4196-922A-59DBE29ED17E}"/>
                </a:ext>
              </a:extLst>
            </p:cNvPr>
            <p:cNvGrpSpPr/>
            <p:nvPr/>
          </p:nvGrpSpPr>
          <p:grpSpPr>
            <a:xfrm>
              <a:off x="6776065" y="5629468"/>
              <a:ext cx="5294670" cy="1152670"/>
              <a:chOff x="6268065" y="5718525"/>
              <a:chExt cx="5294670" cy="1152670"/>
            </a:xfrm>
          </p:grpSpPr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A19173E5-3B32-46C4-A18C-09BCB0DF06F7}"/>
                  </a:ext>
                </a:extLst>
              </p:cNvPr>
              <p:cNvCxnSpPr/>
              <p:nvPr/>
            </p:nvCxnSpPr>
            <p:spPr>
              <a:xfrm>
                <a:off x="6268065" y="6358850"/>
                <a:ext cx="529467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1F8B6170-00CD-42BC-87CC-10617C6684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7F72624-69F5-421E-8755-74864C110E3B}"/>
                </a:ext>
              </a:extLst>
            </p:cNvPr>
            <p:cNvSpPr txBox="1"/>
            <p:nvPr/>
          </p:nvSpPr>
          <p:spPr>
            <a:xfrm>
              <a:off x="12070735" y="630385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4C4040-D17B-4538-8588-7840BCF7A031}"/>
              </a:ext>
            </a:extLst>
          </p:cNvPr>
          <p:cNvSpPr/>
          <p:nvPr/>
        </p:nvSpPr>
        <p:spPr>
          <a:xfrm>
            <a:off x="421502" y="5375989"/>
            <a:ext cx="874197" cy="8256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7766E8-782B-4897-B75D-717A390470F3}"/>
              </a:ext>
            </a:extLst>
          </p:cNvPr>
          <p:cNvSpPr txBox="1"/>
          <p:nvPr/>
        </p:nvSpPr>
        <p:spPr>
          <a:xfrm>
            <a:off x="599806" y="500665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CPU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068E165-2AE9-4ED1-BCFC-523941B0C6F3}"/>
              </a:ext>
            </a:extLst>
          </p:cNvPr>
          <p:cNvSpPr/>
          <p:nvPr/>
        </p:nvSpPr>
        <p:spPr>
          <a:xfrm>
            <a:off x="858600" y="5502562"/>
            <a:ext cx="286650" cy="2414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AEDDBD-2F2C-41AE-8CF8-CFEB69ADC6C4}"/>
              </a:ext>
            </a:extLst>
          </p:cNvPr>
          <p:cNvSpPr txBox="1"/>
          <p:nvPr/>
        </p:nvSpPr>
        <p:spPr>
          <a:xfrm>
            <a:off x="456428" y="541949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M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FC1E346-A466-4150-ADAD-8F61EFBA3D9B}"/>
              </a:ext>
            </a:extLst>
          </p:cNvPr>
          <p:cNvSpPr/>
          <p:nvPr/>
        </p:nvSpPr>
        <p:spPr>
          <a:xfrm>
            <a:off x="4082523" y="1967635"/>
            <a:ext cx="1487335" cy="2630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5CF934A-5EEA-403A-9537-7BF844022386}"/>
              </a:ext>
            </a:extLst>
          </p:cNvPr>
          <p:cNvSpPr txBox="1"/>
          <p:nvPr/>
        </p:nvSpPr>
        <p:spPr>
          <a:xfrm>
            <a:off x="4188177" y="1571636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7A6F6D2-8C3B-4138-B886-E368E50C089E}"/>
              </a:ext>
            </a:extLst>
          </p:cNvPr>
          <p:cNvGrpSpPr/>
          <p:nvPr/>
        </p:nvGrpSpPr>
        <p:grpSpPr>
          <a:xfrm>
            <a:off x="1849290" y="2238530"/>
            <a:ext cx="874197" cy="1195002"/>
            <a:chOff x="1620690" y="2501644"/>
            <a:chExt cx="874197" cy="1195002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5E999B13-EAF1-4CDC-8533-67D4996A2D04}"/>
                </a:ext>
              </a:extLst>
            </p:cNvPr>
            <p:cNvSpPr/>
            <p:nvPr/>
          </p:nvSpPr>
          <p:spPr>
            <a:xfrm>
              <a:off x="1620690" y="2870976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1747F55-AAED-4030-A330-02816D421210}"/>
                </a:ext>
              </a:extLst>
            </p:cNvPr>
            <p:cNvSpPr txBox="1"/>
            <p:nvPr/>
          </p:nvSpPr>
          <p:spPr>
            <a:xfrm>
              <a:off x="1798994" y="250164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55B6F9C4-0645-4459-B98E-F04E1875DC0B}"/>
                </a:ext>
              </a:extLst>
            </p:cNvPr>
            <p:cNvSpPr/>
            <p:nvPr/>
          </p:nvSpPr>
          <p:spPr>
            <a:xfrm>
              <a:off x="2057788" y="2997549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3F8352C-28DD-44A4-9D3D-D4A499F31827}"/>
                </a:ext>
              </a:extLst>
            </p:cNvPr>
            <p:cNvSpPr txBox="1"/>
            <p:nvPr/>
          </p:nvSpPr>
          <p:spPr>
            <a:xfrm>
              <a:off x="1655616" y="291447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0702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9"/>
          <p:cNvSpPr txBox="1">
            <a:spLocks noGrp="1"/>
          </p:cNvSpPr>
          <p:nvPr>
            <p:ph type="title"/>
          </p:nvPr>
        </p:nvSpPr>
        <p:spPr>
          <a:xfrm>
            <a:off x="243550" y="269700"/>
            <a:ext cx="8494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Cambio de contexto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29EBFB8-2FFC-4795-9E6D-AC4E38C40ABB}"/>
              </a:ext>
            </a:extLst>
          </p:cNvPr>
          <p:cNvSpPr txBox="1"/>
          <p:nvPr/>
        </p:nvSpPr>
        <p:spPr>
          <a:xfrm>
            <a:off x="1367586" y="5443129"/>
            <a:ext cx="2934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Imagen tomada del siguiente </a:t>
            </a:r>
            <a:r>
              <a:rPr lang="es-CO" sz="1600" dirty="0">
                <a:hlinkClick r:id="rId3"/>
              </a:rPr>
              <a:t>link</a:t>
            </a:r>
            <a:endParaRPr lang="es-CO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53FEA1-5EB0-4CE6-B95E-7602F4F79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43" y="1919288"/>
            <a:ext cx="10730857" cy="340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870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0"/>
          <p:cNvSpPr txBox="1">
            <a:spLocks noGrp="1"/>
          </p:cNvSpPr>
          <p:nvPr>
            <p:ph type="title"/>
          </p:nvPr>
        </p:nvSpPr>
        <p:spPr>
          <a:xfrm>
            <a:off x="444500" y="96038"/>
            <a:ext cx="87761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(timer)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83" name="Google Shape;783;p60"/>
          <p:cNvSpPr txBox="1">
            <a:spLocks noGrp="1"/>
          </p:cNvSpPr>
          <p:nvPr>
            <p:ph type="body" idx="1"/>
          </p:nvPr>
        </p:nvSpPr>
        <p:spPr>
          <a:xfrm>
            <a:off x="444500" y="1045538"/>
            <a:ext cx="11516700" cy="5267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SO @ Boot</a:t>
            </a:r>
            <a:endParaRPr sz="20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784" name="Google Shape;784;p60"/>
          <p:cNvGraphicFramePr/>
          <p:nvPr>
            <p:extLst>
              <p:ext uri="{D42A27DB-BD31-4B8C-83A1-F6EECF244321}">
                <p14:modId xmlns:p14="http://schemas.microsoft.com/office/powerpoint/2010/main" val="1710432651"/>
              </p:ext>
            </p:extLst>
          </p:nvPr>
        </p:nvGraphicFramePr>
        <p:xfrm>
          <a:off x="1033625" y="1703313"/>
          <a:ext cx="9836325" cy="3668609"/>
        </p:xfrm>
        <a:graphic>
          <a:graphicData uri="http://schemas.openxmlformats.org/drawingml/2006/table">
            <a:tbl>
              <a:tblPr>
                <a:noFill/>
                <a:tableStyleId>{FB9EFA35-8E2C-4024-A639-D8BE7C187570}</a:tableStyleId>
              </a:tblPr>
              <a:tblGrid>
                <a:gridCol w="480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SO @ Boot</a:t>
                      </a:r>
                      <a:endParaRPr sz="2000" b="1" dirty="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(Modo kernel)</a:t>
                      </a:r>
                      <a:endParaRPr sz="20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Hardware</a:t>
                      </a:r>
                      <a:endParaRPr sz="20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35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-ES" sz="1600" dirty="0"/>
                        <a:t>Inicializa la </a:t>
                      </a:r>
                      <a:r>
                        <a:rPr lang="es-ES" sz="1600" b="1" dirty="0"/>
                        <a:t>trap table</a:t>
                      </a:r>
                      <a:endParaRPr sz="16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</a:rPr>
                        <a:t>Almacena la dirección del </a:t>
                      </a:r>
                      <a:r>
                        <a:rPr lang="es-ES" sz="1600" b="1" dirty="0" err="1">
                          <a:solidFill>
                            <a:schemeClr val="dk1"/>
                          </a:solidFill>
                        </a:rPr>
                        <a:t>Syscall</a:t>
                      </a:r>
                      <a:r>
                        <a:rPr lang="es-ES" sz="1600" b="1" dirty="0">
                          <a:solidFill>
                            <a:schemeClr val="dk1"/>
                          </a:solidFill>
                        </a:rPr>
                        <a:t> handler 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</a:rPr>
                        <a:t>y el </a:t>
                      </a:r>
                      <a:r>
                        <a:rPr lang="es-ES" sz="1600" b="1" dirty="0">
                          <a:solidFill>
                            <a:schemeClr val="dk1"/>
                          </a:solidFill>
                        </a:rPr>
                        <a:t>timer handler</a:t>
                      </a:r>
                      <a:endParaRPr sz="1600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-ES" sz="1600" dirty="0"/>
                        <a:t>Inicia el </a:t>
                      </a:r>
                      <a:r>
                        <a:rPr lang="es-ES" sz="1600" b="1" dirty="0"/>
                        <a:t>timer </a:t>
                      </a:r>
                      <a:r>
                        <a:rPr lang="es-ES" sz="1600" b="1" dirty="0" err="1"/>
                        <a:t>interrupt</a:t>
                      </a:r>
                      <a:endParaRPr sz="16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</a:rPr>
                        <a:t>Inicia el </a:t>
                      </a:r>
                      <a:r>
                        <a:rPr lang="es-ES" sz="1600" b="1" dirty="0">
                          <a:solidFill>
                            <a:schemeClr val="dk1"/>
                          </a:solidFill>
                        </a:rPr>
                        <a:t>timer</a:t>
                      </a:r>
                      <a:endParaRPr sz="16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</a:rPr>
                        <a:t>Interrumpe la CPU en X ms</a:t>
                      </a:r>
                      <a:endParaRPr sz="16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>
            <a:spLocks noGrp="1"/>
          </p:cNvSpPr>
          <p:nvPr>
            <p:ph type="title"/>
          </p:nvPr>
        </p:nvSpPr>
        <p:spPr>
          <a:xfrm>
            <a:off x="227829" y="96038"/>
            <a:ext cx="116013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(EDL)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227828" y="886797"/>
            <a:ext cx="10411200" cy="66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Ejecución directa limitada - 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626CED-5F00-4869-95EF-193742854F45}"/>
              </a:ext>
            </a:extLst>
          </p:cNvPr>
          <p:cNvSpPr/>
          <p:nvPr/>
        </p:nvSpPr>
        <p:spPr>
          <a:xfrm>
            <a:off x="3853923" y="2230749"/>
            <a:ext cx="1487335" cy="2630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0BFE78-C77E-44D9-80E1-D44164813DFC}"/>
              </a:ext>
            </a:extLst>
          </p:cNvPr>
          <p:cNvSpPr txBox="1"/>
          <p:nvPr/>
        </p:nvSpPr>
        <p:spPr>
          <a:xfrm>
            <a:off x="3959577" y="1834750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BD24840-0DC8-486A-8B6E-EC3054655324}"/>
              </a:ext>
            </a:extLst>
          </p:cNvPr>
          <p:cNvGrpSpPr/>
          <p:nvPr/>
        </p:nvGrpSpPr>
        <p:grpSpPr>
          <a:xfrm>
            <a:off x="1620690" y="2501644"/>
            <a:ext cx="874197" cy="1195002"/>
            <a:chOff x="1620690" y="2501644"/>
            <a:chExt cx="874197" cy="119500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4B222DD-0E51-4B52-9B12-B700113AF79F}"/>
                </a:ext>
              </a:extLst>
            </p:cNvPr>
            <p:cNvSpPr/>
            <p:nvPr/>
          </p:nvSpPr>
          <p:spPr>
            <a:xfrm>
              <a:off x="1620690" y="2870976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ADD5469-E8D8-460E-B997-08AB1A55D259}"/>
                </a:ext>
              </a:extLst>
            </p:cNvPr>
            <p:cNvSpPr txBox="1"/>
            <p:nvPr/>
          </p:nvSpPr>
          <p:spPr>
            <a:xfrm>
              <a:off x="1798994" y="250164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DF2DAEE-E7D9-4B97-8DA4-13A47D3F1B32}"/>
                </a:ext>
              </a:extLst>
            </p:cNvPr>
            <p:cNvSpPr/>
            <p:nvPr/>
          </p:nvSpPr>
          <p:spPr>
            <a:xfrm>
              <a:off x="2057788" y="2997549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DD4FCEC-EDA8-4CF3-8C67-143C2357AE17}"/>
                </a:ext>
              </a:extLst>
            </p:cNvPr>
            <p:cNvSpPr txBox="1"/>
            <p:nvPr/>
          </p:nvSpPr>
          <p:spPr>
            <a:xfrm>
              <a:off x="1655616" y="291447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8A85522-BF42-4E7D-9BBD-2AFA9CF61896}"/>
              </a:ext>
            </a:extLst>
          </p:cNvPr>
          <p:cNvGrpSpPr/>
          <p:nvPr/>
        </p:nvGrpSpPr>
        <p:grpSpPr>
          <a:xfrm>
            <a:off x="1527774" y="5465061"/>
            <a:ext cx="10620683" cy="1012283"/>
            <a:chOff x="6776065" y="5629468"/>
            <a:chExt cx="6692054" cy="1152670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B7B61E9B-01BC-4975-BA7D-5B4A64B5FABF}"/>
                </a:ext>
              </a:extLst>
            </p:cNvPr>
            <p:cNvGrpSpPr/>
            <p:nvPr/>
          </p:nvGrpSpPr>
          <p:grpSpPr>
            <a:xfrm>
              <a:off x="6776065" y="5629468"/>
              <a:ext cx="6591454" cy="1152670"/>
              <a:chOff x="6268065" y="5718525"/>
              <a:chExt cx="6591454" cy="1152670"/>
            </a:xfrm>
          </p:grpSpPr>
          <p:cxnSp>
            <p:nvCxnSpPr>
              <p:cNvPr id="24" name="Conector recto de flecha 23">
                <a:extLst>
                  <a:ext uri="{FF2B5EF4-FFF2-40B4-BE49-F238E27FC236}">
                    <a16:creationId xmlns:a16="http://schemas.microsoft.com/office/drawing/2014/main" id="{FE72C488-D50B-4025-9FDD-DADAE8EE9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065" y="6358850"/>
                <a:ext cx="6591454" cy="285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8EA5672A-16E1-4715-9F94-CBAF70E308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F43390E-11B7-409A-A8EB-1F40BF415A84}"/>
                </a:ext>
              </a:extLst>
            </p:cNvPr>
            <p:cNvSpPr txBox="1"/>
            <p:nvPr/>
          </p:nvSpPr>
          <p:spPr>
            <a:xfrm>
              <a:off x="13203303" y="6408075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13B53A6-9564-4E93-9EA6-6289F632B4F2}"/>
              </a:ext>
            </a:extLst>
          </p:cNvPr>
          <p:cNvGrpSpPr/>
          <p:nvPr/>
        </p:nvGrpSpPr>
        <p:grpSpPr>
          <a:xfrm>
            <a:off x="406133" y="5219730"/>
            <a:ext cx="874197" cy="1176915"/>
            <a:chOff x="227828" y="5196269"/>
            <a:chExt cx="874197" cy="1176915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101B28A-5567-441C-B991-2825475E6E73}"/>
                </a:ext>
              </a:extLst>
            </p:cNvPr>
            <p:cNvSpPr/>
            <p:nvPr/>
          </p:nvSpPr>
          <p:spPr>
            <a:xfrm>
              <a:off x="227828" y="5547514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15DDDD32-820C-4D3D-AC70-F1966D697F39}"/>
                </a:ext>
              </a:extLst>
            </p:cNvPr>
            <p:cNvSpPr txBox="1"/>
            <p:nvPr/>
          </p:nvSpPr>
          <p:spPr>
            <a:xfrm>
              <a:off x="406133" y="519626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68730525-371A-43B5-8707-69B2B8753E26}"/>
                </a:ext>
              </a:extLst>
            </p:cNvPr>
            <p:cNvSpPr/>
            <p:nvPr/>
          </p:nvSpPr>
          <p:spPr>
            <a:xfrm>
              <a:off x="664927" y="5692174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4F7645D-A1D4-4EF0-90C7-045594739B35}"/>
                </a:ext>
              </a:extLst>
            </p:cNvPr>
            <p:cNvSpPr txBox="1"/>
            <p:nvPr/>
          </p:nvSpPr>
          <p:spPr>
            <a:xfrm>
              <a:off x="262755" y="5609104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8605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1"/>
          <p:cNvSpPr txBox="1">
            <a:spLocks noGrp="1"/>
          </p:cNvSpPr>
          <p:nvPr>
            <p:ph type="title"/>
          </p:nvPr>
        </p:nvSpPr>
        <p:spPr>
          <a:xfrm>
            <a:off x="338800" y="103519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 directa limitada (timer)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90" name="Google Shape;790;p61"/>
          <p:cNvSpPr txBox="1">
            <a:spLocks noGrp="1"/>
          </p:cNvSpPr>
          <p:nvPr>
            <p:ph type="body" idx="1"/>
          </p:nvPr>
        </p:nvSpPr>
        <p:spPr>
          <a:xfrm>
            <a:off x="338800" y="896864"/>
            <a:ext cx="10945200" cy="46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SO @ Run</a:t>
            </a:r>
            <a:endParaRPr sz="20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791" name="Google Shape;791;p61"/>
          <p:cNvGraphicFramePr/>
          <p:nvPr>
            <p:extLst>
              <p:ext uri="{D42A27DB-BD31-4B8C-83A1-F6EECF244321}">
                <p14:modId xmlns:p14="http://schemas.microsoft.com/office/powerpoint/2010/main" val="2217406512"/>
              </p:ext>
            </p:extLst>
          </p:nvPr>
        </p:nvGraphicFramePr>
        <p:xfrm>
          <a:off x="931575" y="1379973"/>
          <a:ext cx="10861350" cy="4992315"/>
        </p:xfrm>
        <a:graphic>
          <a:graphicData uri="http://schemas.openxmlformats.org/drawingml/2006/table">
            <a:tbl>
              <a:tblPr>
                <a:noFill/>
                <a:tableStyleId>{FB9EFA35-8E2C-4024-A639-D8BE7C187570}</a:tableStyleId>
              </a:tblPr>
              <a:tblGrid>
                <a:gridCol w="387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96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SO @ Run</a:t>
                      </a:r>
                      <a:endParaRPr sz="2000" b="1" dirty="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(Modo kernel)</a:t>
                      </a:r>
                      <a:endParaRPr sz="2000" b="1" dirty="0"/>
                    </a:p>
                  </a:txBody>
                  <a:tcPr marL="91425" marR="91425" marT="91425" marB="91425"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Hardware</a:t>
                      </a:r>
                      <a:endParaRPr sz="20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Programa</a:t>
                      </a:r>
                      <a:endParaRPr sz="2000"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(Modo usuario)</a:t>
                      </a:r>
                      <a:endParaRPr sz="20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s-ES" sz="1000"/>
                        <a:t>Proceso </a:t>
                      </a:r>
                      <a:r>
                        <a:rPr lang="es-ES" sz="1000" b="1"/>
                        <a:t>A</a:t>
                      </a:r>
                      <a:endParaRPr sz="1000" b="1"/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s-ES" sz="1000"/>
                        <a:t>...</a:t>
                      </a: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Interrupción del </a:t>
                      </a:r>
                      <a:r>
                        <a:rPr lang="es-ES" sz="1000" b="1" dirty="0">
                          <a:solidFill>
                            <a:schemeClr val="dk1"/>
                          </a:solidFill>
                        </a:rPr>
                        <a:t>timer</a:t>
                      </a:r>
                      <a:endParaRPr sz="10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Almacena registros de </a:t>
                      </a:r>
                      <a:r>
                        <a:rPr lang="es-ES" sz="1000" b="1" dirty="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 en el </a:t>
                      </a:r>
                      <a:r>
                        <a:rPr lang="es-ES" sz="1000" b="1" dirty="0">
                          <a:solidFill>
                            <a:schemeClr val="dk1"/>
                          </a:solidFill>
                        </a:rPr>
                        <a:t>kernel stack de A</a:t>
                      </a:r>
                      <a:endParaRPr sz="10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Pasa a </a:t>
                      </a:r>
                      <a:r>
                        <a:rPr lang="es-ES" sz="1000" b="1" dirty="0">
                          <a:solidFill>
                            <a:schemeClr val="dk1"/>
                          </a:solidFill>
                        </a:rPr>
                        <a:t>modo kernel</a:t>
                      </a:r>
                      <a:endParaRPr sz="1000" b="1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Salta al </a:t>
                      </a:r>
                      <a:r>
                        <a:rPr lang="es-ES" sz="1000" b="1" dirty="0">
                          <a:solidFill>
                            <a:schemeClr val="dk1"/>
                          </a:solidFill>
                        </a:rPr>
                        <a:t>timer handler</a:t>
                      </a:r>
                      <a:endParaRPr sz="1000" b="1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s-ES" sz="1000" dirty="0"/>
                        <a:t>Atiende el trap</a:t>
                      </a:r>
                      <a:endParaRPr sz="1000" dirty="0"/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s-ES" sz="1000" dirty="0"/>
                        <a:t>Llama la rutina switch()</a:t>
                      </a:r>
                      <a:endParaRPr sz="1000" dirty="0"/>
                    </a:p>
                    <a:p>
                      <a:pPr marL="914400" lvl="1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○"/>
                      </a:pPr>
                      <a:r>
                        <a:rPr lang="es-ES" sz="1000" dirty="0"/>
                        <a:t>Almacena registros de A </a:t>
                      </a:r>
                      <a:r>
                        <a:rPr lang="es-ES" sz="1000" dirty="0" err="1"/>
                        <a:t>a</a:t>
                      </a:r>
                      <a:r>
                        <a:rPr lang="es-ES" sz="1000" dirty="0"/>
                        <a:t> PCB de A</a:t>
                      </a:r>
                      <a:endParaRPr sz="1000" dirty="0"/>
                    </a:p>
                    <a:p>
                      <a:pPr marL="914400" lvl="1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○"/>
                      </a:pPr>
                      <a:r>
                        <a:rPr lang="es-ES" sz="1000" dirty="0"/>
                        <a:t>Restaura registros de B desde PCB de B</a:t>
                      </a:r>
                      <a:endParaRPr sz="1000" dirty="0"/>
                    </a:p>
                    <a:p>
                      <a:pPr marL="914400" lvl="1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○"/>
                      </a:pPr>
                      <a:r>
                        <a:rPr lang="es-ES" sz="1000" dirty="0"/>
                        <a:t>Cambia a kernel stack de B</a:t>
                      </a:r>
                      <a:endParaRPr sz="1000" dirty="0"/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s-ES" sz="1000" dirty="0" err="1"/>
                        <a:t>Return-from-trap</a:t>
                      </a:r>
                      <a:r>
                        <a:rPr lang="es-ES" sz="1000" dirty="0"/>
                        <a:t> (hacia B)</a:t>
                      </a:r>
                      <a:endParaRPr sz="1000" dirty="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Restaura registros de B a kernel stack de B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Pasa a modo usuario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Salta a PC de B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Proceso B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2"/>
          <p:cNvSpPr txBox="1">
            <a:spLocks noGrp="1"/>
          </p:cNvSpPr>
          <p:nvPr>
            <p:ph type="title"/>
          </p:nvPr>
        </p:nvSpPr>
        <p:spPr>
          <a:xfrm>
            <a:off x="351500" y="17006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Múltiples interrupciones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7D37705-70F6-4FD5-AB13-16CBA5071D66}"/>
              </a:ext>
            </a:extLst>
          </p:cNvPr>
          <p:cNvGrpSpPr/>
          <p:nvPr/>
        </p:nvGrpSpPr>
        <p:grpSpPr>
          <a:xfrm>
            <a:off x="1603974" y="5084061"/>
            <a:ext cx="8613090" cy="1012283"/>
            <a:chOff x="6776065" y="5629468"/>
            <a:chExt cx="5427077" cy="1152670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6EED7FF4-083E-466F-AD8A-FC919FED3ACB}"/>
                </a:ext>
              </a:extLst>
            </p:cNvPr>
            <p:cNvGrpSpPr/>
            <p:nvPr/>
          </p:nvGrpSpPr>
          <p:grpSpPr>
            <a:xfrm>
              <a:off x="6776065" y="5629468"/>
              <a:ext cx="5294670" cy="1152670"/>
              <a:chOff x="6268065" y="5718525"/>
              <a:chExt cx="5294670" cy="1152670"/>
            </a:xfrm>
          </p:grpSpPr>
          <p:cxnSp>
            <p:nvCxnSpPr>
              <p:cNvPr id="9" name="Conector recto de flecha 8">
                <a:extLst>
                  <a:ext uri="{FF2B5EF4-FFF2-40B4-BE49-F238E27FC236}">
                    <a16:creationId xmlns:a16="http://schemas.microsoft.com/office/drawing/2014/main" id="{D9F9E78A-9EC4-4B04-A2AE-37677F9A9FA8}"/>
                  </a:ext>
                </a:extLst>
              </p:cNvPr>
              <p:cNvCxnSpPr/>
              <p:nvPr/>
            </p:nvCxnSpPr>
            <p:spPr>
              <a:xfrm>
                <a:off x="6268065" y="6358850"/>
                <a:ext cx="529467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3C361AA7-BB66-4023-9E82-9E717E7B79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8065" y="571852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19BD7DF-D5D4-4D70-81E6-FD56973D0EEA}"/>
                </a:ext>
              </a:extLst>
            </p:cNvPr>
            <p:cNvSpPr txBox="1"/>
            <p:nvPr/>
          </p:nvSpPr>
          <p:spPr>
            <a:xfrm>
              <a:off x="11938326" y="6303854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BA78EAC-54F2-42C2-9662-FDFE9B59EADB}"/>
              </a:ext>
            </a:extLst>
          </p:cNvPr>
          <p:cNvGrpSpPr/>
          <p:nvPr/>
        </p:nvGrpSpPr>
        <p:grpSpPr>
          <a:xfrm>
            <a:off x="482333" y="4838730"/>
            <a:ext cx="874197" cy="1176915"/>
            <a:chOff x="227828" y="5196269"/>
            <a:chExt cx="874197" cy="117691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BFE76F5-0A01-4C77-BC1D-45DFADC0881E}"/>
                </a:ext>
              </a:extLst>
            </p:cNvPr>
            <p:cNvSpPr/>
            <p:nvPr/>
          </p:nvSpPr>
          <p:spPr>
            <a:xfrm>
              <a:off x="227828" y="5547514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A88C949-B533-4110-90E8-359479B23482}"/>
                </a:ext>
              </a:extLst>
            </p:cNvPr>
            <p:cNvSpPr txBox="1"/>
            <p:nvPr/>
          </p:nvSpPr>
          <p:spPr>
            <a:xfrm>
              <a:off x="406133" y="519626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7AFDF64-7B9C-4B2F-8B6D-E9E3C36426A3}"/>
                </a:ext>
              </a:extLst>
            </p:cNvPr>
            <p:cNvSpPr/>
            <p:nvPr/>
          </p:nvSpPr>
          <p:spPr>
            <a:xfrm>
              <a:off x="664927" y="5692174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FABC8B1-C8F4-4BAC-9154-8CE641CA6A4E}"/>
                </a:ext>
              </a:extLst>
            </p:cNvPr>
            <p:cNvSpPr txBox="1"/>
            <p:nvPr/>
          </p:nvSpPr>
          <p:spPr>
            <a:xfrm>
              <a:off x="262755" y="5609104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C145C2-A6EC-40FC-ABBF-B4F3B04CEB85}"/>
              </a:ext>
            </a:extLst>
          </p:cNvPr>
          <p:cNvSpPr/>
          <p:nvPr/>
        </p:nvSpPr>
        <p:spPr>
          <a:xfrm>
            <a:off x="2715566" y="1545471"/>
            <a:ext cx="1487335" cy="26306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836ED5-5A11-41DA-9207-34DF8934ABB3}"/>
              </a:ext>
            </a:extLst>
          </p:cNvPr>
          <p:cNvSpPr txBox="1"/>
          <p:nvPr/>
        </p:nvSpPr>
        <p:spPr>
          <a:xfrm>
            <a:off x="2821220" y="1149472"/>
            <a:ext cx="12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Memoria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BEC3A5C-EAF2-4D28-8C20-A15A1AE2440A}"/>
              </a:ext>
            </a:extLst>
          </p:cNvPr>
          <p:cNvGrpSpPr/>
          <p:nvPr/>
        </p:nvGrpSpPr>
        <p:grpSpPr>
          <a:xfrm>
            <a:off x="482333" y="1816366"/>
            <a:ext cx="874197" cy="1195002"/>
            <a:chOff x="1620690" y="2501644"/>
            <a:chExt cx="874197" cy="1195002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39AE456C-05E8-43B5-8F37-559C963320BE}"/>
                </a:ext>
              </a:extLst>
            </p:cNvPr>
            <p:cNvSpPr/>
            <p:nvPr/>
          </p:nvSpPr>
          <p:spPr>
            <a:xfrm>
              <a:off x="1620690" y="2870976"/>
              <a:ext cx="874197" cy="82567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C293457-4341-4579-9EEA-E312FF2A4F89}"/>
                </a:ext>
              </a:extLst>
            </p:cNvPr>
            <p:cNvSpPr txBox="1"/>
            <p:nvPr/>
          </p:nvSpPr>
          <p:spPr>
            <a:xfrm>
              <a:off x="1798994" y="250164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53B7F09-AB4E-4747-97AE-1BD98D8E812A}"/>
                </a:ext>
              </a:extLst>
            </p:cNvPr>
            <p:cNvSpPr/>
            <p:nvPr/>
          </p:nvSpPr>
          <p:spPr>
            <a:xfrm>
              <a:off x="2057788" y="2997549"/>
              <a:ext cx="286650" cy="24146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B4BE4752-6467-49D2-BB62-CE992A12D756}"/>
                </a:ext>
              </a:extLst>
            </p:cNvPr>
            <p:cNvSpPr txBox="1"/>
            <p:nvPr/>
          </p:nvSpPr>
          <p:spPr>
            <a:xfrm>
              <a:off x="1655616" y="291447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M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2"/>
          <p:cNvSpPr txBox="1">
            <a:spLocks noGrp="1"/>
          </p:cNvSpPr>
          <p:nvPr>
            <p:ph type="title"/>
          </p:nvPr>
        </p:nvSpPr>
        <p:spPr>
          <a:xfrm>
            <a:off x="554700" y="1303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Múltiples interrupciones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97" name="Google Shape;797;p62"/>
          <p:cNvSpPr txBox="1">
            <a:spLocks noGrp="1"/>
          </p:cNvSpPr>
          <p:nvPr>
            <p:ph type="body" idx="1"/>
          </p:nvPr>
        </p:nvSpPr>
        <p:spPr>
          <a:xfrm>
            <a:off x="554700" y="1079800"/>
            <a:ext cx="11288100" cy="203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¿Qué pasa si, durante una interrupción o una rutina de atención (</a:t>
            </a:r>
            <a:r>
              <a:rPr lang="es-ES" sz="2000" b="1" dirty="0">
                <a:latin typeface="+mn-lt"/>
              </a:rPr>
              <a:t>trap handler</a:t>
            </a:r>
            <a:r>
              <a:rPr lang="es-ES" sz="2000" dirty="0">
                <a:latin typeface="+mn-lt"/>
              </a:rPr>
              <a:t>), llega otra interrupción?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SO se encarga de estas situaciones: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b="1" dirty="0">
                <a:latin typeface="+mn-lt"/>
              </a:rPr>
              <a:t>Deshabilita interrupciones</a:t>
            </a:r>
            <a:r>
              <a:rPr lang="es-ES" sz="2000" dirty="0">
                <a:latin typeface="+mn-lt"/>
              </a:rPr>
              <a:t> durante la atención a las interrupciones.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Utiliza esquemas de protección (bloqueo) avanzados para </a:t>
            </a:r>
            <a:r>
              <a:rPr lang="es-ES" sz="2000" b="1" dirty="0">
                <a:latin typeface="+mn-lt"/>
              </a:rPr>
              <a:t>proteger</a:t>
            </a:r>
            <a:r>
              <a:rPr lang="es-ES" sz="2000" dirty="0">
                <a:latin typeface="+mn-lt"/>
              </a:rPr>
              <a:t> el acceso concurrente a </a:t>
            </a:r>
            <a:r>
              <a:rPr lang="es-ES" sz="2000" b="1" dirty="0">
                <a:latin typeface="+mn-lt"/>
              </a:rPr>
              <a:t>estructuras de datos internas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3038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594" y="232475"/>
            <a:ext cx="7186400" cy="55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2546850" y="5978812"/>
            <a:ext cx="70983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https://twitter.com/b0rk/status/804200666226900992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3"/>
          <p:cNvSpPr txBox="1">
            <a:spLocks noGrp="1"/>
          </p:cNvSpPr>
          <p:nvPr>
            <p:ph type="title"/>
          </p:nvPr>
        </p:nvSpPr>
        <p:spPr>
          <a:xfrm>
            <a:off x="696686" y="57938"/>
            <a:ext cx="85049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Para comprender todo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03" name="Google Shape;803;p63"/>
          <p:cNvSpPr txBox="1">
            <a:spLocks noGrp="1"/>
          </p:cNvSpPr>
          <p:nvPr>
            <p:ph type="body" idx="1"/>
          </p:nvPr>
        </p:nvSpPr>
        <p:spPr>
          <a:xfrm>
            <a:off x="696686" y="1079800"/>
            <a:ext cx="11146114" cy="1172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Ahora que ha finalizado la clase, se recomienda que vea el video </a:t>
            </a:r>
            <a:r>
              <a:rPr lang="es-ES" sz="2200" b="1" dirty="0" err="1">
                <a:latin typeface="+mn-lt"/>
              </a:rPr>
              <a:t>How</a:t>
            </a:r>
            <a:r>
              <a:rPr lang="es-ES" sz="2200" b="1" dirty="0">
                <a:latin typeface="+mn-lt"/>
              </a:rPr>
              <a:t> a Single Bit </a:t>
            </a:r>
            <a:r>
              <a:rPr lang="es-ES" sz="2200" b="1" dirty="0" err="1">
                <a:latin typeface="+mn-lt"/>
              </a:rPr>
              <a:t>Inside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Your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Processor</a:t>
            </a:r>
            <a:r>
              <a:rPr lang="es-ES" sz="2200" b="1" dirty="0">
                <a:latin typeface="+mn-lt"/>
              </a:rPr>
              <a:t> Shields </a:t>
            </a:r>
            <a:r>
              <a:rPr lang="es-ES" sz="2200" b="1" dirty="0" err="1">
                <a:latin typeface="+mn-lt"/>
              </a:rPr>
              <a:t>Your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Operating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System's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Integrity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200" dirty="0">
                <a:latin typeface="+mn-lt"/>
              </a:rPr>
              <a:t>) para que refuerce los conceptos anteriormente explicados.</a:t>
            </a:r>
            <a:endParaRPr sz="2200" dirty="0">
              <a:latin typeface="+mn-lt"/>
            </a:endParaRPr>
          </a:p>
        </p:txBody>
      </p:sp>
      <p:pic>
        <p:nvPicPr>
          <p:cNvPr id="804" name="Google Shape;804;p63" descr="ACE your next technical interview! Get 10% off when subscribing to Neetcode Pro: https://neetcode.io/core&#10;&#10;Sponsor my work on Github: https://github.com/jdvillal&#10;&#10;In this video we learn about CPU kernel/user operational modes and how the hardware helps software (the operating system) to maintain complete control of the computer.&#10;&#10;Content:&#10;00:00 Intro&#10;00:57 CPU operational modes.&#10;02:28 Interrupts&#10;04:02 Op. Mode switching mechanism&#10;04:53 Kernel-mode &amp;&amp; User-mode&#10;07:51 Sponsor message&#10;08:34 System calls&#10;13:31 Op. Mode switching mechanism (Summary)&#10;14:14 Cooperative Operating Systems&#10;14:53 Preemptive Operating Systems&#10;16:34 Operating system abstraction&#10;17:03 Kernel-level Drivers&#10;18:37 Kernel-level Software (Rootkit)&#10;19:49 The CrowdStrike disaster&#10;20:20 Spyware concerns with Vanguard&#10;21:08 Video recommendations (for further information)&#10;21:18 Close&#10;&#10;Questions and business contact:&#10;contact.coredumped@gmail.com&#10;&#10;Join our discord server:&#10;https://discord.gg/szyQsXfzuv&#10;&#10;Follow me on twitter:&#10; https://twittter.com/coredumpped    &#10;&#10;Twitch:&#10;https://twitch.tv/coredumpped" title="How a Single Bit Inside Your Processor Shields Your Operating System's Integrity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2025" y="2330000"/>
            <a:ext cx="6908575" cy="3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10" name="Google Shape;810;p64"/>
          <p:cNvSpPr txBox="1">
            <a:spLocks noGrp="1"/>
          </p:cNvSpPr>
          <p:nvPr>
            <p:ph type="body" idx="1"/>
          </p:nvPr>
        </p:nvSpPr>
        <p:spPr>
          <a:xfrm>
            <a:off x="916650" y="912957"/>
            <a:ext cx="108753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b="1" dirty="0" err="1">
                <a:latin typeface="+mj-lt"/>
              </a:rPr>
              <a:t>Operating</a:t>
            </a:r>
            <a:r>
              <a:rPr lang="es-ES" sz="2000" b="1" dirty="0">
                <a:latin typeface="+mj-lt"/>
              </a:rPr>
              <a:t> </a:t>
            </a:r>
            <a:r>
              <a:rPr lang="es-ES" sz="2000" b="1" dirty="0" err="1">
                <a:latin typeface="+mj-lt"/>
              </a:rPr>
              <a:t>Systems</a:t>
            </a:r>
            <a:r>
              <a:rPr lang="es-ES" sz="2000" b="1" dirty="0">
                <a:latin typeface="+mj-lt"/>
              </a:rPr>
              <a:t> </a:t>
            </a:r>
            <a:r>
              <a:rPr lang="es-ES" sz="2000" b="1" dirty="0" err="1">
                <a:latin typeface="+mj-lt"/>
              </a:rPr>
              <a:t>Three</a:t>
            </a:r>
            <a:r>
              <a:rPr lang="es-ES" sz="2000" b="1" dirty="0">
                <a:latin typeface="+mj-lt"/>
              </a:rPr>
              <a:t> Easy </a:t>
            </a:r>
            <a:r>
              <a:rPr lang="es-ES" sz="2000" b="1" dirty="0" err="1">
                <a:latin typeface="+mj-lt"/>
              </a:rPr>
              <a:t>Pieces</a:t>
            </a:r>
            <a:r>
              <a:rPr lang="es-ES" sz="2000" b="1" dirty="0">
                <a:latin typeface="+mj-lt"/>
              </a:rPr>
              <a:t> </a:t>
            </a:r>
            <a:r>
              <a:rPr lang="es-ES" sz="2000" dirty="0">
                <a:latin typeface="+mj-lt"/>
              </a:rPr>
              <a:t>(</a:t>
            </a:r>
            <a:r>
              <a:rPr lang="es-ES" sz="2000" u="sng" dirty="0" err="1">
                <a:solidFill>
                  <a:schemeClr val="hlink"/>
                </a:solidFill>
                <a:latin typeface="+mj-lt"/>
                <a:hlinkClick r:id="rId3"/>
              </a:rPr>
              <a:t>website</a:t>
            </a:r>
            <a:r>
              <a:rPr lang="es-ES" sz="2000" dirty="0">
                <a:latin typeface="+mj-lt"/>
              </a:rPr>
              <a:t>: Capítulos </a:t>
            </a:r>
            <a:r>
              <a:rPr lang="es-ES" sz="2000" u="sng" dirty="0">
                <a:solidFill>
                  <a:schemeClr val="hlink"/>
                </a:solidFill>
                <a:latin typeface="+mj-lt"/>
                <a:hlinkClick r:id="rId4"/>
              </a:rPr>
              <a:t>1</a:t>
            </a:r>
            <a:r>
              <a:rPr lang="es-ES" sz="2000" dirty="0">
                <a:latin typeface="+mj-lt"/>
              </a:rPr>
              <a:t> y </a:t>
            </a:r>
            <a:r>
              <a:rPr lang="es-ES" sz="2000" u="sng" dirty="0">
                <a:solidFill>
                  <a:schemeClr val="hlink"/>
                </a:solidFill>
                <a:latin typeface="+mj-lt"/>
                <a:hlinkClick r:id="rId5"/>
              </a:rPr>
              <a:t>2</a:t>
            </a:r>
            <a:r>
              <a:rPr lang="es-ES" sz="2000" dirty="0">
                <a:latin typeface="+mj-lt"/>
              </a:rPr>
              <a:t>)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j-lt"/>
              </a:rPr>
              <a:t>Videos de </a:t>
            </a:r>
            <a:r>
              <a:rPr lang="es-ES" sz="2000" dirty="0" err="1">
                <a:latin typeface="+mj-lt"/>
              </a:rPr>
              <a:t>youtube</a:t>
            </a:r>
            <a:r>
              <a:rPr lang="es-ES" sz="2000" dirty="0">
                <a:latin typeface="+mj-lt"/>
              </a:rPr>
              <a:t>: Clase 1 - Introducción a los sistemas operativos (</a:t>
            </a:r>
            <a:r>
              <a:rPr lang="es-ES" sz="2000" u="sng" dirty="0">
                <a:solidFill>
                  <a:schemeClr val="hlink"/>
                </a:solidFill>
                <a:latin typeface="+mj-lt"/>
                <a:hlinkClick r:id="rId6"/>
              </a:rPr>
              <a:t>link</a:t>
            </a:r>
            <a:r>
              <a:rPr lang="es-ES" sz="2000" dirty="0">
                <a:latin typeface="+mj-lt"/>
              </a:rPr>
              <a:t>).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j-lt"/>
              </a:rPr>
              <a:t>Página de </a:t>
            </a:r>
            <a:r>
              <a:rPr lang="es-ES" sz="2000" dirty="0" err="1">
                <a:latin typeface="+mj-lt"/>
              </a:rPr>
              <a:t>Remzi</a:t>
            </a:r>
            <a:r>
              <a:rPr lang="es-ES" sz="2000" dirty="0">
                <a:latin typeface="+mj-lt"/>
              </a:rPr>
              <a:t> H. </a:t>
            </a:r>
            <a:r>
              <a:rPr lang="es-ES" sz="2000" dirty="0" err="1">
                <a:latin typeface="+mj-lt"/>
              </a:rPr>
              <a:t>Arpaci-Dusseau</a:t>
            </a:r>
            <a:r>
              <a:rPr lang="es-ES" sz="2000" dirty="0">
                <a:latin typeface="+mj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j-lt"/>
                <a:hlinkClick r:id="rId7"/>
              </a:rPr>
              <a:t>link</a:t>
            </a:r>
            <a:r>
              <a:rPr lang="es-ES" sz="2000" dirty="0">
                <a:latin typeface="+mj-lt"/>
              </a:rPr>
              <a:t>)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j-lt"/>
              </a:rPr>
              <a:t>Operating</a:t>
            </a:r>
            <a:r>
              <a:rPr lang="es-ES" sz="2000" dirty="0">
                <a:latin typeface="+mj-lt"/>
              </a:rPr>
              <a:t> </a:t>
            </a:r>
            <a:r>
              <a:rPr lang="es-ES" sz="2000" dirty="0" err="1">
                <a:latin typeface="+mj-lt"/>
              </a:rPr>
              <a:t>System</a:t>
            </a:r>
            <a:r>
              <a:rPr lang="es-ES" sz="2000" dirty="0">
                <a:latin typeface="+mj-lt"/>
              </a:rPr>
              <a:t> </a:t>
            </a:r>
            <a:r>
              <a:rPr lang="es-ES" sz="2000" dirty="0" err="1">
                <a:latin typeface="+mj-lt"/>
              </a:rPr>
              <a:t>Concepts</a:t>
            </a:r>
            <a:r>
              <a:rPr lang="es-ES" sz="2000" dirty="0">
                <a:latin typeface="+mj-lt"/>
              </a:rPr>
              <a:t> - </a:t>
            </a:r>
            <a:r>
              <a:rPr lang="es-ES" sz="2000" dirty="0" err="1">
                <a:latin typeface="+mj-lt"/>
              </a:rPr>
              <a:t>Tenth</a:t>
            </a:r>
            <a:r>
              <a:rPr lang="es-ES" sz="2000" dirty="0">
                <a:latin typeface="+mj-lt"/>
              </a:rPr>
              <a:t> </a:t>
            </a:r>
            <a:r>
              <a:rPr lang="es-ES" sz="2000" dirty="0" err="1">
                <a:latin typeface="+mj-lt"/>
              </a:rPr>
              <a:t>Edition</a:t>
            </a:r>
            <a:r>
              <a:rPr lang="es-ES" sz="2000" dirty="0">
                <a:latin typeface="+mj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j-lt"/>
                <a:hlinkClick r:id="rId8"/>
              </a:rPr>
              <a:t>website</a:t>
            </a:r>
            <a:r>
              <a:rPr lang="es-ES" sz="2000" dirty="0">
                <a:latin typeface="+mj-lt"/>
              </a:rPr>
              <a:t>)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j-lt"/>
              </a:rPr>
              <a:t>Operating</a:t>
            </a:r>
            <a:r>
              <a:rPr lang="es-ES" sz="2000" dirty="0">
                <a:latin typeface="+mj-lt"/>
              </a:rPr>
              <a:t> </a:t>
            </a:r>
            <a:r>
              <a:rPr lang="es-ES" sz="2000" dirty="0" err="1">
                <a:latin typeface="+mj-lt"/>
              </a:rPr>
              <a:t>Systems</a:t>
            </a:r>
            <a:r>
              <a:rPr lang="es-ES" sz="2000" dirty="0">
                <a:latin typeface="+mj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j-lt"/>
                <a:hlinkClick r:id="rId9"/>
              </a:rPr>
              <a:t>link</a:t>
            </a:r>
            <a:r>
              <a:rPr lang="es-ES" sz="2000" dirty="0">
                <a:latin typeface="+mj-lt"/>
              </a:rPr>
              <a:t>)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0"/>
              </a:rPr>
              <a:t>https://github.com/Aniruddha-Tapas/Operating-Systems-Notes/blob/master/1-Overview.md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1"/>
              </a:rPr>
              <a:t>https://myaut.github.io/dtrace-stap-book/kernel/proc.html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2"/>
              </a:rPr>
              <a:t>https://myaut.github.io/dtrace-stap-book/index.html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3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4"/>
              </a:rPr>
              <a:t>http://www.it.uu.se/education/course/homepage/os/vt18/module-4/simple-threads/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5"/>
              </a:rPr>
              <a:t>https://courses.cs.duke.edu/spring19/compsci590.1/slides/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6"/>
              </a:rPr>
              <a:t>https://w3.cs.jmu.edu/kirkpams/OpenCSF/Books/csf/html/index.html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7"/>
              </a:rPr>
              <a:t>https://github.com/cfenollosa/os-tutorial</a:t>
            </a:r>
            <a:r>
              <a:rPr lang="es-ES" sz="2000" dirty="0">
                <a:latin typeface="+mj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CO" sz="2000" dirty="0">
                <a:latin typeface="+mj-lt"/>
                <a:hlinkClick r:id="rId9"/>
              </a:rPr>
              <a:t>https://applied-programming.github.io/Operating-Systems-Notes/</a:t>
            </a:r>
            <a:endParaRPr lang="es-ES"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CO" sz="2000" dirty="0">
                <a:latin typeface="+mj-lt"/>
                <a:hlinkClick r:id="rId18"/>
              </a:rPr>
              <a:t>https://www.omscs-notes.com/operating-systems/io-management/</a:t>
            </a:r>
            <a:endParaRPr lang="es-CO" sz="20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endParaRPr sz="20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8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</TotalTime>
  <Words>3943</Words>
  <Application>Microsoft Office PowerPoint</Application>
  <PresentationFormat>Panorámica</PresentationFormat>
  <Paragraphs>1058</Paragraphs>
  <Slides>53</Slides>
  <Notes>53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2" baseType="lpstr">
      <vt:lpstr>Calibri Light</vt:lpstr>
      <vt:lpstr>Times New Roman</vt:lpstr>
      <vt:lpstr>Roboto Slab</vt:lpstr>
      <vt:lpstr>Roboto</vt:lpstr>
      <vt:lpstr>Consolas</vt:lpstr>
      <vt:lpstr>Calibri</vt:lpstr>
      <vt:lpstr>Courier New</vt:lpstr>
      <vt:lpstr>Arial</vt:lpstr>
      <vt:lpstr>Tema de Office</vt:lpstr>
      <vt:lpstr>Apuntes clase 4</vt:lpstr>
      <vt:lpstr>Agenda</vt:lpstr>
      <vt:lpstr>Repaso clase anterior</vt:lpstr>
      <vt:lpstr>El proceso como abstracción</vt:lpstr>
      <vt:lpstr>Repaso clase anterior</vt:lpstr>
      <vt:lpstr>Repaso clase anterior</vt:lpstr>
      <vt:lpstr>Contexto</vt:lpstr>
      <vt:lpstr>Contexto</vt:lpstr>
      <vt:lpstr>Contexto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 - Protocolo</vt:lpstr>
      <vt:lpstr>Ejecución directa limitada (EDL) - Protocolo</vt:lpstr>
      <vt:lpstr>Ejecución directa limitada (EDL)</vt:lpstr>
      <vt:lpstr>Ejecución directa limitada (EDL) - Protocolo</vt:lpstr>
      <vt:lpstr>Ejecución directa limitada (EDL)</vt:lpstr>
      <vt:lpstr>Ejecución directa limitada (EDL) - Protocolo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Ejecución directa limitada (EDL)</vt:lpstr>
      <vt:lpstr>Interrupción y varios procesos</vt:lpstr>
      <vt:lpstr>Cambio de contexto</vt:lpstr>
      <vt:lpstr>Cambio de contexto</vt:lpstr>
      <vt:lpstr>Cambio de contexto</vt:lpstr>
      <vt:lpstr>Ejecución directa limitada (timer)</vt:lpstr>
      <vt:lpstr>Ejecución directa limitada (EDL)</vt:lpstr>
      <vt:lpstr>Ejecución directa limitada (timer)</vt:lpstr>
      <vt:lpstr>Múltiples interrupciones</vt:lpstr>
      <vt:lpstr>Múltiples interrupciones</vt:lpstr>
      <vt:lpstr>Presentación de PowerPoint</vt:lpstr>
      <vt:lpstr>Para comprender todo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Sistemas Operativos</dc:title>
  <cp:lastModifiedBy>HENRY ALBERTO ARCILA RAMIREZ</cp:lastModifiedBy>
  <cp:revision>22</cp:revision>
  <dcterms:modified xsi:type="dcterms:W3CDTF">2026-08-18T12:56:31Z</dcterms:modified>
</cp:coreProperties>
</file>