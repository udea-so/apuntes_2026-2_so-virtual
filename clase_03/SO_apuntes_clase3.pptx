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8" r:id="rId3"/>
    <p:sldId id="261" r:id="rId4"/>
    <p:sldId id="306" r:id="rId5"/>
    <p:sldId id="305" r:id="rId6"/>
    <p:sldId id="307" r:id="rId7"/>
    <p:sldId id="308" r:id="rId8"/>
    <p:sldId id="309" r:id="rId9"/>
    <p:sldId id="312" r:id="rId10"/>
    <p:sldId id="311" r:id="rId11"/>
    <p:sldId id="310" r:id="rId12"/>
    <p:sldId id="313" r:id="rId13"/>
    <p:sldId id="287" r:id="rId14"/>
    <p:sldId id="315" r:id="rId15"/>
    <p:sldId id="317" r:id="rId16"/>
    <p:sldId id="316" r:id="rId17"/>
    <p:sldId id="318" r:id="rId18"/>
    <p:sldId id="319" r:id="rId19"/>
    <p:sldId id="320" r:id="rId20"/>
    <p:sldId id="322" r:id="rId21"/>
    <p:sldId id="323" r:id="rId22"/>
    <p:sldId id="324" r:id="rId23"/>
    <p:sldId id="325" r:id="rId24"/>
    <p:sldId id="326" r:id="rId25"/>
    <p:sldId id="327" r:id="rId26"/>
    <p:sldId id="328" r:id="rId27"/>
    <p:sldId id="329" r:id="rId28"/>
    <p:sldId id="321" r:id="rId2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7CB702-8691-46C7-8F45-ADD5335D54F9}" type="datetimeFigureOut">
              <a:rPr lang="es-CO" smtClean="0"/>
              <a:t>10/08/2026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F6D2D5-9B13-49F8-9469-365765D8189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7751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0292d3bc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0292d3bc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1043d1bb18a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1043d1bb18a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11565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0292d3bc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0292d3bc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054292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0292d3bc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0292d3bc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765016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0292d3bc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0292d3bc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56391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0292d3bc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0292d3bc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357042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0292d3bc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0292d3bc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5267367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0292d3bc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0292d3bc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807936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0292d3bc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0292d3bc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3661481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0292d3bc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0292d3bc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184003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926a7ab31e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g926a7ab31e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926a7ab31e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g926a7ab31e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652940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926a7ab31e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g926a7ab31e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50642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926a7ab31e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g926a7ab31e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85629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926a7ab31e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g926a7ab31e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98307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926a7ab31e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g926a7ab31e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42175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926a7ab31e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g926a7ab31e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72623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926a7ab31e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g926a7ab31e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029378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926a7ab31e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g926a7ab31e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17371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926a7ab31e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g926a7ab31e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445153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926a7ab31e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g926a7ab31e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96479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926a7ab31e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g926a7ab31e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43900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926a7ab31e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g926a7ab31e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79243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926a7ab31e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g926a7ab31e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192162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926a7ab31e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g926a7ab31e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24457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926a7ab31e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g926a7ab31e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2125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D6B0E4-4CCB-48D1-A5C1-115A94BC8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8289684-AD7E-4316-8A8E-534359C304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73C3BE-968B-4C97-8EFA-749852F3C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C41C-8DAC-4880-9EBF-4A80A4FB9896}" type="datetimeFigureOut">
              <a:rPr lang="es-CO" smtClean="0"/>
              <a:t>10/08/2026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05A52B-CFD8-49AC-86DC-EC1417422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A7C14C-7628-48A6-A904-63CBC1B5A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A391A-6BD3-4883-BED2-53F471EE51C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49528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87F80-E586-408F-94C9-C6B5E1F73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4DEFC0-9632-4EFF-A664-1183042AD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9A6805-EB42-4FB1-9608-FF6A31DEE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C41C-8DAC-4880-9EBF-4A80A4FB9896}" type="datetimeFigureOut">
              <a:rPr lang="es-CO" smtClean="0"/>
              <a:t>10/08/2026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D60AFE-FFF4-4965-BB6C-FE63F0EFE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0D805F-7C01-40E7-A9B2-2BCC5D25E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A391A-6BD3-4883-BED2-53F471EE51C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4943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2F25AE-70AA-4FB6-A27D-8654ECDB0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3200CAB-70CE-4497-8202-607CEBC8A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A1ADA1-4662-48DC-8C61-4C65CD1F9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C41C-8DAC-4880-9EBF-4A80A4FB9896}" type="datetimeFigureOut">
              <a:rPr lang="es-CO" smtClean="0"/>
              <a:t>10/08/2026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BF3722-D966-4C62-A47D-D951FFFDF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24B6FC-DC7B-48BC-AD71-9451282CB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A391A-6BD3-4883-BED2-53F471EE51C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062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B2C8F-7ECE-497C-B4AE-A2E1C472F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711547-65B8-4370-BECA-EBF6862050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A08BD90-D73C-44DA-8C09-5CE388C91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A94904-A258-473C-8C3D-E52669F32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C41C-8DAC-4880-9EBF-4A80A4FB9896}" type="datetimeFigureOut">
              <a:rPr lang="es-CO" smtClean="0"/>
              <a:t>10/08/2026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D6C4AD2-57AE-4A7F-BB67-065D16313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C10A5B-E5EC-41B2-A474-C6D6DAB72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A391A-6BD3-4883-BED2-53F471EE51C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81926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A493F-71B4-49D3-B420-A853364D3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5AE0E9-D091-4187-9BF3-81BC58FE9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30F8000-426E-4E86-B194-BB0B8737F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C5C6653-BF91-428A-AA4D-658D894994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B1BC6E3-A2B6-4424-B6ED-4A54F3BB36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3FC58AA-1774-4E23-8DE7-69668026F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C41C-8DAC-4880-9EBF-4A80A4FB9896}" type="datetimeFigureOut">
              <a:rPr lang="es-CO" smtClean="0"/>
              <a:t>10/08/2026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9769982-E056-4764-8A15-90693F615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1A4881F-11C8-4B11-88A5-8E7DD6D76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A391A-6BD3-4883-BED2-53F471EE51C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57712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BDEA83-A8BB-45AF-BA73-03966D23F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131FDE-2624-4805-9F2B-97C43D05C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C41C-8DAC-4880-9EBF-4A80A4FB9896}" type="datetimeFigureOut">
              <a:rPr lang="es-CO" smtClean="0"/>
              <a:t>10/08/2026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8D0F4AD-46AC-4150-AFEB-EAC6E4A13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FFCD112-01B1-4B8F-A661-7FB4475BC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A391A-6BD3-4883-BED2-53F471EE51C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3818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510EFDB-CF54-4088-876F-9C29BC957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C41C-8DAC-4880-9EBF-4A80A4FB9896}" type="datetimeFigureOut">
              <a:rPr lang="es-CO" smtClean="0"/>
              <a:t>10/08/2026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5237CD1-23CE-4491-AD31-40A37481A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A4F5BC6-BFDD-426C-AA7A-316689006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A391A-6BD3-4883-BED2-53F471EE51C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7136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A08855-742D-47B9-BA65-CD0DBF4A7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CA72C3-9E7A-49EC-AAF7-5AFE22735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109F4EB-ED15-4EE1-B8BE-C91B4B5EEE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A7B17BF-6D8D-4B8D-8D88-394807D82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C41C-8DAC-4880-9EBF-4A80A4FB9896}" type="datetimeFigureOut">
              <a:rPr lang="es-CO" smtClean="0"/>
              <a:t>10/08/2026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617B5C-1147-4B85-A66B-954A390FC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209119B-725F-43BF-8F8D-539E5580E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A391A-6BD3-4883-BED2-53F471EE51C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71005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85A0E0-B3EE-4E08-AC5B-349F25F04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6FA9914-C878-45DB-9A39-B6A6495F62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75EB442-6957-408F-9774-2A57388661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2844344-C805-42B9-8903-CD39CE10D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C41C-8DAC-4880-9EBF-4A80A4FB9896}" type="datetimeFigureOut">
              <a:rPr lang="es-CO" smtClean="0"/>
              <a:t>10/08/2026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ACA5327-205D-4B56-9181-055173793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7AB0DF-D923-46D0-A74E-952BAC92F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A391A-6BD3-4883-BED2-53F471EE51C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1149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AF7DA8-8673-4445-B06D-507FCABD9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E9C2AF5-B9B3-4862-8839-1C2B92327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9CA92C-4FF7-4689-9C0B-AD302E220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C41C-8DAC-4880-9EBF-4A80A4FB9896}" type="datetimeFigureOut">
              <a:rPr lang="es-CO" smtClean="0"/>
              <a:t>10/08/2026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1D513D-0D39-4672-BBC1-79A1B1E30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7D47F4-076C-480E-A020-C3F2EB61D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A391A-6BD3-4883-BED2-53F471EE51C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91885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E2D661D-32B9-4CFF-BDFF-275235F922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C3FE65-2ABE-4D24-B596-9A697E9276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774561-325E-4604-AE23-8840D165A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C41C-8DAC-4880-9EBF-4A80A4FB9896}" type="datetimeFigureOut">
              <a:rPr lang="es-CO" smtClean="0"/>
              <a:t>10/08/2026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D5F3D1-3F61-43F9-8C0C-16F368CD2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AA20AE-2A52-446D-91D2-0FD1DB8C8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A391A-6BD3-4883-BED2-53F471EE51C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02119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E4140AE-AF72-4A07-A9D9-E0AEAFBDE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17B839-F54D-47E7-930B-5B1A9EE6C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5E411D-9D4D-40ED-9E67-5111934946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27C41C-8DAC-4880-9EBF-4A80A4FB9896}" type="datetimeFigureOut">
              <a:rPr lang="es-CO" smtClean="0"/>
              <a:t>10/08/2026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2A6400-F2A1-4716-919F-F5A3FD0999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F82287-5880-40B7-BE7B-2DE2820451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A391A-6BD3-4883-BED2-53F471EE51C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8502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9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5.png"/><Relationship Id="rId4" Type="http://schemas.openxmlformats.org/officeDocument/2006/relationships/image" Target="../media/image20.pn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ythontutor.com/render.html#code=%23include%20%3Cstdio.h%3E%0A%0Aint%20x%3B%0Aint%20y%20%3D%2015%3B%0A%0Aint%20main%28%29%20%7B%0A%20%20int%20*values%3B%0A%20%20int%20i%3B%0A%20%20%0A%20%20values%20%3D%20%28int%20*%29malloc%28sizeof%28int%29*5%29%3B%0A%20%20%0A%20%20for%28i%20%3D%200%3B%20i%20%3C%205%3B%20i%2B%2B%29%20%7B%0A%20%20%20%20values%5Bi%5D%20%3D%20i%3B%20%20%20%20%0A%20%20%7D%0A%20%20%0A%20%20return%200%3B%0A%7D&amp;cumulative=false&amp;curInstr=0&amp;heapPrimitives=nevernest&amp;mode=display&amp;origin=opt-frontend.js&amp;py=c_gcc9.3.0&amp;rawInputLstJSON=%5B%5D&amp;textReferences=false" TargetMode="Externa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hyperlink" Target="https://github.com/mit-pdos/xv6-public/blob/master/proc.h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hyperlink" Target="https://github.com/mit-pdos/xv6-public/blob/master/proc.h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t-pdos/xv6-public/blob/master/proc.h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t-pdos/xv6-public/blob/master/proc.h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E85FF3-2D97-4FD2-BC3C-E374020627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b="1" dirty="0"/>
              <a:t>Apuntes clase 3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5AAC6F-29B1-4561-BED7-077A25CE9B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272289"/>
          </a:xfrm>
        </p:spPr>
        <p:txBody>
          <a:bodyPr>
            <a:normAutofit/>
          </a:bodyPr>
          <a:lstStyle/>
          <a:p>
            <a:r>
              <a:rPr lang="es-CO" sz="3200" b="1" dirty="0"/>
              <a:t>Sistemas Operativos</a:t>
            </a:r>
          </a:p>
          <a:p>
            <a:r>
              <a:rPr lang="es-CO" dirty="0"/>
              <a:t>Universidad de Antioquia</a:t>
            </a:r>
          </a:p>
          <a:p>
            <a:r>
              <a:rPr lang="es-CO" dirty="0"/>
              <a:t>Facultad de Ingeniería</a:t>
            </a:r>
          </a:p>
          <a:p>
            <a:r>
              <a:rPr lang="es-CO" dirty="0"/>
              <a:t>Ingeniería de Sistemas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92589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Agenda</a:t>
            </a:r>
            <a:endParaRPr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46" name="Google Shape;146;p18"/>
          <p:cNvSpPr txBox="1">
            <a:spLocks noGrp="1"/>
          </p:cNvSpPr>
          <p:nvPr>
            <p:ph type="body" idx="1"/>
          </p:nvPr>
        </p:nvSpPr>
        <p:spPr>
          <a:xfrm>
            <a:off x="464126" y="999450"/>
            <a:ext cx="11173691" cy="340629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indent="-457200">
              <a:buSzPts val="2700"/>
            </a:pPr>
            <a:r>
              <a:rPr lang="es-ES" sz="2700" dirty="0"/>
              <a:t>Repaso clase anterior</a:t>
            </a:r>
            <a:endParaRPr sz="2700" dirty="0"/>
          </a:p>
          <a:p>
            <a:pPr marL="514350" indent="-457200">
              <a:spcBef>
                <a:spcPts val="0"/>
              </a:spcBef>
              <a:buSzPts val="2700"/>
            </a:pPr>
            <a:r>
              <a:rPr lang="es-ES" sz="2700" dirty="0"/>
              <a:t>Contexto</a:t>
            </a:r>
            <a:endParaRPr sz="2700" dirty="0"/>
          </a:p>
          <a:p>
            <a:pPr marL="514350" indent="-457200">
              <a:spcBef>
                <a:spcPts val="0"/>
              </a:spcBef>
              <a:buSzPts val="2700"/>
            </a:pPr>
            <a:r>
              <a:rPr lang="es-ES" sz="2700" dirty="0"/>
              <a:t>¿Que es un proceso?</a:t>
            </a:r>
            <a:endParaRPr sz="2700" dirty="0"/>
          </a:p>
          <a:p>
            <a:pPr marL="514350" indent="-457200">
              <a:spcBef>
                <a:spcPts val="0"/>
              </a:spcBef>
              <a:buSzPts val="2700"/>
            </a:pPr>
            <a:r>
              <a:rPr lang="es-ES" sz="2700" dirty="0"/>
              <a:t>¿Como se crea un proceso?</a:t>
            </a:r>
            <a:endParaRPr sz="2700" dirty="0"/>
          </a:p>
          <a:p>
            <a:pPr marL="514350" indent="-457200">
              <a:spcBef>
                <a:spcPts val="0"/>
              </a:spcBef>
              <a:buSzPts val="2700"/>
            </a:pPr>
            <a:r>
              <a:rPr lang="es-ES" sz="2700" dirty="0"/>
              <a:t>Elementos de los sistemas operativos</a:t>
            </a:r>
            <a:endParaRPr sz="2700" dirty="0"/>
          </a:p>
          <a:p>
            <a:pPr marL="514350" indent="-457200">
              <a:spcBef>
                <a:spcPts val="0"/>
              </a:spcBef>
              <a:buSzPts val="2700"/>
            </a:pPr>
            <a:r>
              <a:rPr lang="es-ES" sz="2700" dirty="0"/>
              <a:t>API de procesos</a:t>
            </a:r>
            <a:endParaRPr sz="2700" dirty="0"/>
          </a:p>
          <a:p>
            <a:pPr marL="514350" indent="-457200">
              <a:spcBef>
                <a:spcPts val="0"/>
              </a:spcBef>
              <a:buSzPts val="2700"/>
            </a:pPr>
            <a:r>
              <a:rPr lang="es-ES" sz="2700" dirty="0"/>
              <a:t>Estados de un proceso</a:t>
            </a:r>
            <a:endParaRPr sz="2700" dirty="0"/>
          </a:p>
          <a:p>
            <a:pPr marL="514350" indent="-457200">
              <a:spcBef>
                <a:spcPts val="0"/>
              </a:spcBef>
              <a:buSzPts val="2700"/>
            </a:pPr>
            <a:r>
              <a:rPr lang="es-ES" sz="2700" dirty="0"/>
              <a:t>Estructuras de datos de sistemas operativos</a:t>
            </a:r>
            <a:endParaRPr sz="2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1031938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Instruction fecth</a:t>
            </a:r>
            <a:endParaRPr dirty="0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69EE44B9-87C8-49E1-A088-E2537D81DE6F}"/>
              </a:ext>
            </a:extLst>
          </p:cNvPr>
          <p:cNvGrpSpPr/>
          <p:nvPr/>
        </p:nvGrpSpPr>
        <p:grpSpPr>
          <a:xfrm>
            <a:off x="534389" y="1212639"/>
            <a:ext cx="2741400" cy="5336017"/>
            <a:chOff x="534389" y="1212639"/>
            <a:chExt cx="2741400" cy="5336017"/>
          </a:xfrm>
        </p:grpSpPr>
        <p:sp>
          <p:nvSpPr>
            <p:cNvPr id="182" name="Google Shape;182;p21"/>
            <p:cNvSpPr/>
            <p:nvPr/>
          </p:nvSpPr>
          <p:spPr>
            <a:xfrm>
              <a:off x="1754039" y="1212639"/>
              <a:ext cx="1123200" cy="1063259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urier New"/>
                  <a:ea typeface="Courier New"/>
                  <a:cs typeface="Courier New"/>
                  <a:sym typeface="Courier New"/>
                </a:rPr>
                <a:t>Start</a:t>
              </a:r>
              <a:endParaRPr sz="1400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83" name="Google Shape;183;p21"/>
            <p:cNvSpPr/>
            <p:nvPr/>
          </p:nvSpPr>
          <p:spPr>
            <a:xfrm>
              <a:off x="1532639" y="2624136"/>
              <a:ext cx="1568700" cy="358500"/>
            </a:xfrm>
            <a:prstGeom prst="rect">
              <a:avLst/>
            </a:prstGeom>
            <a:solidFill>
              <a:srgbClr val="FFE599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urier New"/>
                  <a:ea typeface="Courier New"/>
                  <a:cs typeface="Courier New"/>
                  <a:sym typeface="Courier New"/>
                </a:rPr>
                <a:t>Fetch</a:t>
              </a:r>
              <a:endParaRPr sz="16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84" name="Google Shape;184;p21"/>
            <p:cNvSpPr/>
            <p:nvPr/>
          </p:nvSpPr>
          <p:spPr>
            <a:xfrm>
              <a:off x="1535489" y="3313236"/>
              <a:ext cx="1568700" cy="358500"/>
            </a:xfrm>
            <a:prstGeom prst="rect">
              <a:avLst/>
            </a:prstGeom>
            <a:solidFill>
              <a:srgbClr val="FFE599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urier New"/>
                  <a:ea typeface="Courier New"/>
                  <a:cs typeface="Courier New"/>
                  <a:sym typeface="Courier New"/>
                </a:rPr>
                <a:t>Decode</a:t>
              </a:r>
              <a:endParaRPr sz="16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85" name="Google Shape;185;p21"/>
            <p:cNvSpPr/>
            <p:nvPr/>
          </p:nvSpPr>
          <p:spPr>
            <a:xfrm>
              <a:off x="1535489" y="4002336"/>
              <a:ext cx="1568700" cy="358500"/>
            </a:xfrm>
            <a:prstGeom prst="rect">
              <a:avLst/>
            </a:prstGeom>
            <a:solidFill>
              <a:srgbClr val="FFE599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urier New"/>
                  <a:ea typeface="Courier New"/>
                  <a:cs typeface="Courier New"/>
                  <a:sym typeface="Courier New"/>
                </a:rPr>
                <a:t>Execute</a:t>
              </a:r>
              <a:endParaRPr sz="16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86" name="Google Shape;186;p21"/>
            <p:cNvSpPr/>
            <p:nvPr/>
          </p:nvSpPr>
          <p:spPr>
            <a:xfrm>
              <a:off x="1363889" y="4691436"/>
              <a:ext cx="1911900" cy="523800"/>
            </a:xfrm>
            <a:prstGeom prst="diamond">
              <a:avLst/>
            </a:prstGeom>
            <a:solidFill>
              <a:srgbClr val="F9CB9C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urier New"/>
                  <a:ea typeface="Courier New"/>
                  <a:cs typeface="Courier New"/>
                  <a:sym typeface="Courier New"/>
                </a:rPr>
                <a:t>Any</a:t>
              </a:r>
              <a:r>
                <a:rPr lang="es-ES" sz="1600" dirty="0">
                  <a:latin typeface="Courier New"/>
                  <a:ea typeface="Courier New"/>
                  <a:cs typeface="Courier New"/>
                  <a:sym typeface="Courier New"/>
                </a:rPr>
                <a:t>?</a:t>
              </a:r>
              <a:endParaRPr sz="1600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87" name="Google Shape;187;p21"/>
            <p:cNvSpPr/>
            <p:nvPr/>
          </p:nvSpPr>
          <p:spPr>
            <a:xfrm>
              <a:off x="1765739" y="5475469"/>
              <a:ext cx="1080900" cy="1073187"/>
            </a:xfrm>
            <a:prstGeom prst="ellipse">
              <a:avLst/>
            </a:prstGeom>
            <a:solidFill>
              <a:srgbClr val="F4CCCC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urier New"/>
                  <a:ea typeface="Courier New"/>
                  <a:cs typeface="Courier New"/>
                  <a:sym typeface="Courier New"/>
                </a:rPr>
                <a:t>End</a:t>
              </a:r>
              <a:endParaRPr sz="1600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188" name="Google Shape;188;p21"/>
            <p:cNvCxnSpPr>
              <a:cxnSpLocks/>
              <a:stCxn id="182" idx="4"/>
              <a:endCxn id="183" idx="0"/>
            </p:cNvCxnSpPr>
            <p:nvPr/>
          </p:nvCxnSpPr>
          <p:spPr>
            <a:xfrm>
              <a:off x="2315639" y="2275898"/>
              <a:ext cx="1350" cy="348238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89" name="Google Shape;189;p21"/>
            <p:cNvCxnSpPr>
              <a:stCxn id="183" idx="2"/>
              <a:endCxn id="184" idx="0"/>
            </p:cNvCxnSpPr>
            <p:nvPr/>
          </p:nvCxnSpPr>
          <p:spPr>
            <a:xfrm>
              <a:off x="2316989" y="2982636"/>
              <a:ext cx="3000" cy="330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90" name="Google Shape;190;p21"/>
            <p:cNvCxnSpPr>
              <a:stCxn id="184" idx="2"/>
              <a:endCxn id="185" idx="0"/>
            </p:cNvCxnSpPr>
            <p:nvPr/>
          </p:nvCxnSpPr>
          <p:spPr>
            <a:xfrm>
              <a:off x="2319839" y="3671736"/>
              <a:ext cx="0" cy="330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91" name="Google Shape;191;p21"/>
            <p:cNvCxnSpPr>
              <a:stCxn id="185" idx="2"/>
              <a:endCxn id="186" idx="0"/>
            </p:cNvCxnSpPr>
            <p:nvPr/>
          </p:nvCxnSpPr>
          <p:spPr>
            <a:xfrm>
              <a:off x="2319839" y="4360836"/>
              <a:ext cx="0" cy="330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92" name="Google Shape;192;p21"/>
            <p:cNvCxnSpPr>
              <a:cxnSpLocks/>
              <a:stCxn id="186" idx="2"/>
              <a:endCxn id="187" idx="0"/>
            </p:cNvCxnSpPr>
            <p:nvPr/>
          </p:nvCxnSpPr>
          <p:spPr>
            <a:xfrm flipH="1">
              <a:off x="2306189" y="5215236"/>
              <a:ext cx="13650" cy="260233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93" name="Google Shape;193;p21"/>
            <p:cNvCxnSpPr/>
            <p:nvPr/>
          </p:nvCxnSpPr>
          <p:spPr>
            <a:xfrm rot="-5400000" flipH="1">
              <a:off x="-308911" y="3280536"/>
              <a:ext cx="2535000" cy="810600"/>
            </a:xfrm>
            <a:prstGeom prst="bentConnector3">
              <a:avLst>
                <a:gd name="adj1" fmla="val 99953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4" name="Google Shape;194;p21"/>
            <p:cNvCxnSpPr/>
            <p:nvPr/>
          </p:nvCxnSpPr>
          <p:spPr>
            <a:xfrm>
              <a:off x="534389" y="2418486"/>
              <a:ext cx="17718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5" name="Google Shape;195;p21"/>
            <p:cNvSpPr txBox="1"/>
            <p:nvPr/>
          </p:nvSpPr>
          <p:spPr>
            <a:xfrm>
              <a:off x="2433673" y="5165811"/>
              <a:ext cx="479515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latin typeface="Courier New"/>
                  <a:ea typeface="Courier New"/>
                  <a:cs typeface="Courier New"/>
                  <a:sym typeface="Courier New"/>
                </a:rPr>
                <a:t>no</a:t>
              </a:r>
              <a:endParaRPr sz="1200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96" name="Google Shape;196;p21"/>
            <p:cNvSpPr txBox="1"/>
            <p:nvPr/>
          </p:nvSpPr>
          <p:spPr>
            <a:xfrm>
              <a:off x="697289" y="4660236"/>
              <a:ext cx="666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urier New"/>
                  <a:ea typeface="Courier New"/>
                  <a:cs typeface="Courier New"/>
                  <a:sym typeface="Courier New"/>
                </a:rPr>
                <a:t>yes</a:t>
              </a:r>
              <a:endParaRPr sz="12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45" name="CuadroTexto 44">
            <a:extLst>
              <a:ext uri="{FF2B5EF4-FFF2-40B4-BE49-F238E27FC236}">
                <a16:creationId xmlns:a16="http://schemas.microsoft.com/office/drawing/2014/main" id="{EE6F3BCA-8953-4BB6-B023-06A39845F5FC}"/>
              </a:ext>
            </a:extLst>
          </p:cNvPr>
          <p:cNvSpPr txBox="1"/>
          <p:nvPr/>
        </p:nvSpPr>
        <p:spPr>
          <a:xfrm>
            <a:off x="4221929" y="1270492"/>
            <a:ext cx="2620606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400" dirty="0">
                <a:latin typeface="Consolas" panose="020B0609020204030204" pitchFamily="49" charset="0"/>
              </a:rPr>
              <a:t>.data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    </a:t>
            </a:r>
            <a:r>
              <a:rPr lang="es-CO" sz="1400" dirty="0" err="1">
                <a:latin typeface="Consolas" panose="020B0609020204030204" pitchFamily="49" charset="0"/>
              </a:rPr>
              <a:t>var_x</a:t>
            </a:r>
            <a:r>
              <a:rPr lang="es-CO" sz="1400" dirty="0">
                <a:latin typeface="Consolas" panose="020B0609020204030204" pitchFamily="49" charset="0"/>
              </a:rPr>
              <a:t>: .</a:t>
            </a:r>
            <a:r>
              <a:rPr lang="es-CO" sz="1400" dirty="0" err="1">
                <a:latin typeface="Consolas" panose="020B0609020204030204" pitchFamily="49" charset="0"/>
              </a:rPr>
              <a:t>word</a:t>
            </a:r>
            <a:r>
              <a:rPr lang="es-CO" sz="1400" dirty="0">
                <a:latin typeface="Consolas" panose="020B0609020204030204" pitchFamily="49" charset="0"/>
              </a:rPr>
              <a:t> 30     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.</a:t>
            </a:r>
            <a:r>
              <a:rPr lang="es-CO" sz="1400" dirty="0" err="1">
                <a:latin typeface="Consolas" panose="020B0609020204030204" pitchFamily="49" charset="0"/>
              </a:rPr>
              <a:t>text</a:t>
            </a:r>
            <a:endParaRPr lang="es-CO" sz="1400" dirty="0">
              <a:latin typeface="Consolas" panose="020B0609020204030204" pitchFamily="49" charset="0"/>
            </a:endParaRPr>
          </a:p>
          <a:p>
            <a:r>
              <a:rPr lang="es-CO" sz="1400" dirty="0" err="1">
                <a:latin typeface="Consolas" panose="020B0609020204030204" pitchFamily="49" charset="0"/>
              </a:rPr>
              <a:t>main</a:t>
            </a:r>
            <a:r>
              <a:rPr lang="es-CO" sz="1400" dirty="0">
                <a:latin typeface="Consolas" panose="020B0609020204030204" pitchFamily="49" charset="0"/>
              </a:rPr>
              <a:t>: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    la $t1, </a:t>
            </a:r>
            <a:r>
              <a:rPr lang="es-CO" sz="1400" dirty="0" err="1">
                <a:latin typeface="Consolas" panose="020B0609020204030204" pitchFamily="49" charset="0"/>
              </a:rPr>
              <a:t>var_x</a:t>
            </a:r>
            <a:r>
              <a:rPr lang="es-CO" sz="1400" dirty="0">
                <a:latin typeface="Consolas" panose="020B0609020204030204" pitchFamily="49" charset="0"/>
              </a:rPr>
              <a:t>       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    </a:t>
            </a:r>
            <a:r>
              <a:rPr lang="es-CO" sz="1400" dirty="0" err="1">
                <a:latin typeface="Consolas" panose="020B0609020204030204" pitchFamily="49" charset="0"/>
              </a:rPr>
              <a:t>lw</a:t>
            </a:r>
            <a:r>
              <a:rPr lang="es-CO" sz="1400" dirty="0">
                <a:latin typeface="Consolas" panose="020B0609020204030204" pitchFamily="49" charset="0"/>
              </a:rPr>
              <a:t> $t0, 0($t1)           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    </a:t>
            </a:r>
            <a:r>
              <a:rPr lang="es-CO" sz="1400" dirty="0" err="1">
                <a:latin typeface="Consolas" panose="020B0609020204030204" pitchFamily="49" charset="0"/>
              </a:rPr>
              <a:t>addi</a:t>
            </a:r>
            <a:r>
              <a:rPr lang="es-CO" sz="1400" dirty="0">
                <a:latin typeface="Consolas" panose="020B0609020204030204" pitchFamily="49" charset="0"/>
              </a:rPr>
              <a:t> $t0, $t0, 1       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    </a:t>
            </a:r>
            <a:r>
              <a:rPr lang="es-CO" sz="1400" dirty="0" err="1">
                <a:latin typeface="Consolas" panose="020B0609020204030204" pitchFamily="49" charset="0"/>
              </a:rPr>
              <a:t>sw</a:t>
            </a:r>
            <a:r>
              <a:rPr lang="es-CO" sz="1400" dirty="0">
                <a:latin typeface="Consolas" panose="020B0609020204030204" pitchFamily="49" charset="0"/>
              </a:rPr>
              <a:t> $t0, 0($t1) </a:t>
            </a:r>
          </a:p>
        </p:txBody>
      </p:sp>
      <p:pic>
        <p:nvPicPr>
          <p:cNvPr id="48" name="Google Shape;225;p23">
            <a:extLst>
              <a:ext uri="{FF2B5EF4-FFF2-40B4-BE49-F238E27FC236}">
                <a16:creationId xmlns:a16="http://schemas.microsoft.com/office/drawing/2014/main" id="{E525A3FF-FFE5-4399-BD5C-6A50F32C458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5643" y="1747661"/>
            <a:ext cx="914963" cy="94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254587C-5441-4686-9E8A-82EDED931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634" y="3494068"/>
            <a:ext cx="6825581" cy="26199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7"/>
          <p:cNvSpPr txBox="1">
            <a:spLocks noGrp="1"/>
          </p:cNvSpPr>
          <p:nvPr>
            <p:ph type="title"/>
          </p:nvPr>
        </p:nvSpPr>
        <p:spPr>
          <a:xfrm>
            <a:off x="572662" y="206940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Contraste</a:t>
            </a:r>
            <a:endParaRPr dirty="0"/>
          </a:p>
        </p:txBody>
      </p:sp>
      <p:pic>
        <p:nvPicPr>
          <p:cNvPr id="11" name="Google Shape;330;p29">
            <a:extLst>
              <a:ext uri="{FF2B5EF4-FFF2-40B4-BE49-F238E27FC236}">
                <a16:creationId xmlns:a16="http://schemas.microsoft.com/office/drawing/2014/main" id="{984F2F3F-AD09-4946-BAD0-3F8271201BD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8084" y="1769565"/>
            <a:ext cx="4105551" cy="192807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3AC62D7-7CD9-4FBD-8648-30A719F0F196}"/>
              </a:ext>
            </a:extLst>
          </p:cNvPr>
          <p:cNvSpPr txBox="1"/>
          <p:nvPr/>
        </p:nvSpPr>
        <p:spPr>
          <a:xfrm>
            <a:off x="6982691" y="1228169"/>
            <a:ext cx="36329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/>
              <a:t>Con sistema Operativo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29DAB69-D538-4B5D-8E84-4D9E425B0BC3}"/>
              </a:ext>
            </a:extLst>
          </p:cNvPr>
          <p:cNvSpPr txBox="1"/>
          <p:nvPr/>
        </p:nvSpPr>
        <p:spPr>
          <a:xfrm>
            <a:off x="1741313" y="1192067"/>
            <a:ext cx="3313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/>
              <a:t>Sin sistema Operativo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383FCD2-7407-498A-924C-ECC333232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3258" y="1999864"/>
            <a:ext cx="2631823" cy="2584450"/>
          </a:xfrm>
          <a:prstGeom prst="rect">
            <a:avLst/>
          </a:prstGeom>
        </p:spPr>
      </p:pic>
      <p:pic>
        <p:nvPicPr>
          <p:cNvPr id="22" name="Google Shape;347;p30">
            <a:extLst>
              <a:ext uri="{FF2B5EF4-FFF2-40B4-BE49-F238E27FC236}">
                <a16:creationId xmlns:a16="http://schemas.microsoft.com/office/drawing/2014/main" id="{F885AD9E-6A49-46F4-AC16-4AB2CA4EB8D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76662" y="5629831"/>
            <a:ext cx="687975" cy="687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" name="Google Shape;348;p30">
            <a:extLst>
              <a:ext uri="{FF2B5EF4-FFF2-40B4-BE49-F238E27FC236}">
                <a16:creationId xmlns:a16="http://schemas.microsoft.com/office/drawing/2014/main" id="{11C89CC7-4BC7-4543-9DC0-A9E3890606F6}"/>
              </a:ext>
            </a:extLst>
          </p:cNvPr>
          <p:cNvCxnSpPr>
            <a:cxnSpLocks/>
          </p:cNvCxnSpPr>
          <p:nvPr/>
        </p:nvCxnSpPr>
        <p:spPr>
          <a:xfrm>
            <a:off x="7248891" y="5486372"/>
            <a:ext cx="3494337" cy="0"/>
          </a:xfrm>
          <a:prstGeom prst="straightConnector1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4" name="Google Shape;349;p30">
            <a:extLst>
              <a:ext uri="{FF2B5EF4-FFF2-40B4-BE49-F238E27FC236}">
                <a16:creationId xmlns:a16="http://schemas.microsoft.com/office/drawing/2014/main" id="{432A2C81-41A9-4156-A192-79CEB00B671E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98198" y="5486372"/>
            <a:ext cx="687975" cy="687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" name="Google Shape;350;p30">
            <a:extLst>
              <a:ext uri="{FF2B5EF4-FFF2-40B4-BE49-F238E27FC236}">
                <a16:creationId xmlns:a16="http://schemas.microsoft.com/office/drawing/2014/main" id="{5D4267FD-88F1-4CD3-81FA-A9CA7224C836}"/>
              </a:ext>
            </a:extLst>
          </p:cNvPr>
          <p:cNvCxnSpPr>
            <a:cxnSpLocks/>
          </p:cNvCxnSpPr>
          <p:nvPr/>
        </p:nvCxnSpPr>
        <p:spPr>
          <a:xfrm>
            <a:off x="2050473" y="5312076"/>
            <a:ext cx="3534979" cy="0"/>
          </a:xfrm>
          <a:prstGeom prst="straightConnector1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6" name="Google Shape;351;p30">
            <a:extLst>
              <a:ext uri="{FF2B5EF4-FFF2-40B4-BE49-F238E27FC236}">
                <a16:creationId xmlns:a16="http://schemas.microsoft.com/office/drawing/2014/main" id="{CAAD765B-584B-4AB8-AD7F-231DE15D0A84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73036" y="4770131"/>
            <a:ext cx="701567" cy="552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352;p30">
            <a:extLst>
              <a:ext uri="{FF2B5EF4-FFF2-40B4-BE49-F238E27FC236}">
                <a16:creationId xmlns:a16="http://schemas.microsoft.com/office/drawing/2014/main" id="{331D929C-E9D1-4FF6-82E5-3EE9F00A5A30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76986" y="4770131"/>
            <a:ext cx="701567" cy="552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353;p30">
            <a:extLst>
              <a:ext uri="{FF2B5EF4-FFF2-40B4-BE49-F238E27FC236}">
                <a16:creationId xmlns:a16="http://schemas.microsoft.com/office/drawing/2014/main" id="{DA48FD32-569D-491B-9127-E520E89E83AC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80936" y="4770131"/>
            <a:ext cx="701567" cy="552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354;p30">
            <a:extLst>
              <a:ext uri="{FF2B5EF4-FFF2-40B4-BE49-F238E27FC236}">
                <a16:creationId xmlns:a16="http://schemas.microsoft.com/office/drawing/2014/main" id="{0EF6AFD3-20FB-4B2F-B494-28C7C7236F5A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66615" y="4584314"/>
            <a:ext cx="701567" cy="5525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759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>
            <a:spLocks noGrp="1"/>
          </p:cNvSpPr>
          <p:nvPr>
            <p:ph type="title"/>
          </p:nvPr>
        </p:nvSpPr>
        <p:spPr>
          <a:xfrm>
            <a:off x="722686" y="289544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Virtualización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59FDFBF-51EB-446C-8616-607A4D9D2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568" y="1949400"/>
            <a:ext cx="4695064" cy="184698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3406A98-1E23-446D-A5CA-33B886E693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1206" y="1841726"/>
            <a:ext cx="2980952" cy="209122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35AD63C-52E3-4B37-94E9-0E93766831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9842" y="4700246"/>
            <a:ext cx="2715400" cy="137462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609E9AF-2C83-4520-B4D1-E90C57A5D3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4809" y="4636928"/>
            <a:ext cx="3640281" cy="190892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94D42BCF-535F-47E4-950D-2721E55F3FFD}"/>
              </a:ext>
            </a:extLst>
          </p:cNvPr>
          <p:cNvSpPr txBox="1"/>
          <p:nvPr/>
        </p:nvSpPr>
        <p:spPr>
          <a:xfrm>
            <a:off x="1989842" y="1471095"/>
            <a:ext cx="2230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/>
              <a:t>Virtualización de CPU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B326432A-CFB9-4E64-A6BE-09C11B509E57}"/>
              </a:ext>
            </a:extLst>
          </p:cNvPr>
          <p:cNvSpPr txBox="1"/>
          <p:nvPr/>
        </p:nvSpPr>
        <p:spPr>
          <a:xfrm>
            <a:off x="7487697" y="1395038"/>
            <a:ext cx="2714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/>
              <a:t>Virtualización de Memoria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D6EDAA0-3790-4E52-813A-431168D9EF5B}"/>
              </a:ext>
            </a:extLst>
          </p:cNvPr>
          <p:cNvSpPr txBox="1"/>
          <p:nvPr/>
        </p:nvSpPr>
        <p:spPr>
          <a:xfrm>
            <a:off x="1990781" y="4267596"/>
            <a:ext cx="2767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/>
              <a:t>Concurrencia y paralelismo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494F3312-B0F9-4441-8C43-AE5C39818737}"/>
              </a:ext>
            </a:extLst>
          </p:cNvPr>
          <p:cNvSpPr txBox="1"/>
          <p:nvPr/>
        </p:nvSpPr>
        <p:spPr>
          <a:xfrm>
            <a:off x="7221206" y="4267596"/>
            <a:ext cx="1317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/>
              <a:t>Persistencia</a:t>
            </a:r>
          </a:p>
        </p:txBody>
      </p:sp>
    </p:spTree>
    <p:extLst>
      <p:ext uri="{BB962C8B-B14F-4D97-AF65-F5344CB8AC3E}">
        <p14:creationId xmlns:p14="http://schemas.microsoft.com/office/powerpoint/2010/main" val="2213807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>
            <a:spLocks noGrp="1"/>
          </p:cNvSpPr>
          <p:nvPr>
            <p:ph type="title"/>
          </p:nvPr>
        </p:nvSpPr>
        <p:spPr>
          <a:xfrm>
            <a:off x="722686" y="289544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Contextualización</a:t>
            </a:r>
            <a:endParaRPr dirty="0"/>
          </a:p>
        </p:txBody>
      </p:sp>
      <p:pic>
        <p:nvPicPr>
          <p:cNvPr id="11" name="Google Shape;361;p31">
            <a:extLst>
              <a:ext uri="{FF2B5EF4-FFF2-40B4-BE49-F238E27FC236}">
                <a16:creationId xmlns:a16="http://schemas.microsoft.com/office/drawing/2014/main" id="{69E2D9B0-00B2-41F6-A008-D41F2A9F585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7681" y="2460847"/>
            <a:ext cx="5419005" cy="430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360;p31">
            <a:extLst>
              <a:ext uri="{FF2B5EF4-FFF2-40B4-BE49-F238E27FC236}">
                <a16:creationId xmlns:a16="http://schemas.microsoft.com/office/drawing/2014/main" id="{FBA9FAF8-507F-489E-B3FF-EBD7D9FEA39A}"/>
              </a:ext>
            </a:extLst>
          </p:cNvPr>
          <p:cNvSpPr txBox="1">
            <a:spLocks/>
          </p:cNvSpPr>
          <p:nvPr/>
        </p:nvSpPr>
        <p:spPr>
          <a:xfrm>
            <a:off x="722686" y="1161847"/>
            <a:ext cx="10746628" cy="10548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b="1" dirty="0"/>
              <a:t>Virtualización de CPU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sz="2400" dirty="0"/>
              <a:t>¿Cómo es que teniendo una sola CPU (en teoría) puedo correr varias tareas a la vez?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457200" indent="0">
              <a:buFont typeface="Arial" panose="020B0604020202020204" pitchFamily="34" charset="0"/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9658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>
            <a:spLocks noGrp="1"/>
          </p:cNvSpPr>
          <p:nvPr>
            <p:ph type="title"/>
          </p:nvPr>
        </p:nvSpPr>
        <p:spPr>
          <a:xfrm>
            <a:off x="722686" y="289544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Programa .vs. Proceso</a:t>
            </a:r>
            <a:endParaRPr dirty="0"/>
          </a:p>
        </p:txBody>
      </p:sp>
      <p:sp>
        <p:nvSpPr>
          <p:cNvPr id="11" name="Google Shape;368;p32">
            <a:extLst>
              <a:ext uri="{FF2B5EF4-FFF2-40B4-BE49-F238E27FC236}">
                <a16:creationId xmlns:a16="http://schemas.microsoft.com/office/drawing/2014/main" id="{B298AA17-C483-4A1B-BA69-ED5FDB760061}"/>
              </a:ext>
            </a:extLst>
          </p:cNvPr>
          <p:cNvSpPr txBox="1"/>
          <p:nvPr/>
        </p:nvSpPr>
        <p:spPr>
          <a:xfrm>
            <a:off x="1283145" y="1535525"/>
            <a:ext cx="1915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rgbClr val="FF0000"/>
                </a:solidFill>
              </a:rPr>
              <a:t>Programa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12" name="Google Shape;369;p32">
            <a:extLst>
              <a:ext uri="{FF2B5EF4-FFF2-40B4-BE49-F238E27FC236}">
                <a16:creationId xmlns:a16="http://schemas.microsoft.com/office/drawing/2014/main" id="{82F1400E-DA4C-4533-9238-B002B86BD91E}"/>
              </a:ext>
            </a:extLst>
          </p:cNvPr>
          <p:cNvSpPr txBox="1"/>
          <p:nvPr/>
        </p:nvSpPr>
        <p:spPr>
          <a:xfrm>
            <a:off x="7762750" y="1535525"/>
            <a:ext cx="3769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rgbClr val="0B6937"/>
                </a:solidFill>
              </a:rPr>
              <a:t>Proceso</a:t>
            </a:r>
            <a:endParaRPr sz="2400" b="1">
              <a:solidFill>
                <a:srgbClr val="0B6937"/>
              </a:solidFill>
            </a:endParaRPr>
          </a:p>
        </p:txBody>
      </p:sp>
      <p:pic>
        <p:nvPicPr>
          <p:cNvPr id="13" name="Google Shape;370;p32">
            <a:extLst>
              <a:ext uri="{FF2B5EF4-FFF2-40B4-BE49-F238E27FC236}">
                <a16:creationId xmlns:a16="http://schemas.microsoft.com/office/drawing/2014/main" id="{846C41FA-3F04-47B5-B9FE-B2BF264913F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9395" y="2219325"/>
            <a:ext cx="2409825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371;p32">
            <a:extLst>
              <a:ext uri="{FF2B5EF4-FFF2-40B4-BE49-F238E27FC236}">
                <a16:creationId xmlns:a16="http://schemas.microsoft.com/office/drawing/2014/main" id="{1E1CF0B0-5AD2-4B3D-ACF6-C829F160AFB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4545" y="4892538"/>
            <a:ext cx="625398" cy="56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372;p32">
            <a:extLst>
              <a:ext uri="{FF2B5EF4-FFF2-40B4-BE49-F238E27FC236}">
                <a16:creationId xmlns:a16="http://schemas.microsoft.com/office/drawing/2014/main" id="{2ECDA432-3FF3-4164-932F-8AA56539228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22370" y="4892525"/>
            <a:ext cx="533400" cy="565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373;p32">
            <a:extLst>
              <a:ext uri="{FF2B5EF4-FFF2-40B4-BE49-F238E27FC236}">
                <a16:creationId xmlns:a16="http://schemas.microsoft.com/office/drawing/2014/main" id="{80671E60-10F0-443B-A4AE-5F7241E0E656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99970" y="2597763"/>
            <a:ext cx="35433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374;p32">
            <a:extLst>
              <a:ext uri="{FF2B5EF4-FFF2-40B4-BE49-F238E27FC236}">
                <a16:creationId xmlns:a16="http://schemas.microsoft.com/office/drawing/2014/main" id="{273624A3-4FD0-4D13-AD2F-2EEBB40D0DD4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32320" y="5458046"/>
            <a:ext cx="726525" cy="73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375;p32">
            <a:extLst>
              <a:ext uri="{FF2B5EF4-FFF2-40B4-BE49-F238E27FC236}">
                <a16:creationId xmlns:a16="http://schemas.microsoft.com/office/drawing/2014/main" id="{4AF7F8B1-FA1F-40B4-8B14-3DE5B922FB2D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104983" y="5372538"/>
            <a:ext cx="1084725" cy="87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376;p32">
            <a:extLst>
              <a:ext uri="{FF2B5EF4-FFF2-40B4-BE49-F238E27FC236}">
                <a16:creationId xmlns:a16="http://schemas.microsoft.com/office/drawing/2014/main" id="{B0892C11-F84C-4E30-9645-00C63A1C0222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17420" y="5631438"/>
            <a:ext cx="3543300" cy="361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47788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>
            <a:spLocks noGrp="1"/>
          </p:cNvSpPr>
          <p:nvPr>
            <p:ph type="title"/>
          </p:nvPr>
        </p:nvSpPr>
        <p:spPr>
          <a:xfrm>
            <a:off x="722686" y="289544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Programa. vs. proceso</a:t>
            </a:r>
            <a:endParaRPr dirty="0"/>
          </a:p>
        </p:txBody>
      </p:sp>
      <p:pic>
        <p:nvPicPr>
          <p:cNvPr id="3" name="Google Shape;383;p33">
            <a:extLst>
              <a:ext uri="{FF2B5EF4-FFF2-40B4-BE49-F238E27FC236}">
                <a16:creationId xmlns:a16="http://schemas.microsoft.com/office/drawing/2014/main" id="{ED81858A-2947-4E68-96C1-6B572F5F466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02607" y="1059804"/>
            <a:ext cx="1001045" cy="14445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oogle Shape;384;p33">
            <a:extLst>
              <a:ext uri="{FF2B5EF4-FFF2-40B4-BE49-F238E27FC236}">
                <a16:creationId xmlns:a16="http://schemas.microsoft.com/office/drawing/2014/main" id="{262AB248-BD9F-4DF7-A212-359FDC637F8C}"/>
              </a:ext>
            </a:extLst>
          </p:cNvPr>
          <p:cNvGrpSpPr/>
          <p:nvPr/>
        </p:nvGrpSpPr>
        <p:grpSpPr>
          <a:xfrm>
            <a:off x="7283965" y="644427"/>
            <a:ext cx="2595827" cy="2527604"/>
            <a:chOff x="7105058" y="2798800"/>
            <a:chExt cx="3632892" cy="3017775"/>
          </a:xfrm>
        </p:grpSpPr>
        <p:pic>
          <p:nvPicPr>
            <p:cNvPr id="5" name="Google Shape;385;p33">
              <a:extLst>
                <a:ext uri="{FF2B5EF4-FFF2-40B4-BE49-F238E27FC236}">
                  <a16:creationId xmlns:a16="http://schemas.microsoft.com/office/drawing/2014/main" id="{2905952B-84F4-47E2-9640-E0221338D2C3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105058" y="2798800"/>
              <a:ext cx="3632892" cy="30177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" name="Google Shape;386;p33">
              <a:extLst>
                <a:ext uri="{FF2B5EF4-FFF2-40B4-BE49-F238E27FC236}">
                  <a16:creationId xmlns:a16="http://schemas.microsoft.com/office/drawing/2014/main" id="{661E5AF3-C147-4E53-8FBA-F00C8B731AC4}"/>
                </a:ext>
              </a:extLst>
            </p:cNvPr>
            <p:cNvGrpSpPr/>
            <p:nvPr/>
          </p:nvGrpSpPr>
          <p:grpSpPr>
            <a:xfrm>
              <a:off x="7884925" y="4237125"/>
              <a:ext cx="1553700" cy="949500"/>
              <a:chOff x="7884925" y="4237125"/>
              <a:chExt cx="1553700" cy="949500"/>
            </a:xfrm>
          </p:grpSpPr>
          <p:sp>
            <p:nvSpPr>
              <p:cNvPr id="7" name="Google Shape;387;p33">
                <a:extLst>
                  <a:ext uri="{FF2B5EF4-FFF2-40B4-BE49-F238E27FC236}">
                    <a16:creationId xmlns:a16="http://schemas.microsoft.com/office/drawing/2014/main" id="{C4F370F4-0F37-4AEE-A401-7353A4FDD3B2}"/>
                  </a:ext>
                </a:extLst>
              </p:cNvPr>
              <p:cNvSpPr/>
              <p:nvPr/>
            </p:nvSpPr>
            <p:spPr>
              <a:xfrm>
                <a:off x="7884925" y="4237125"/>
                <a:ext cx="1553700" cy="949500"/>
              </a:xfrm>
              <a:prstGeom prst="foldedCorner">
                <a:avLst>
                  <a:gd name="adj" fmla="val 16667"/>
                </a:avLst>
              </a:prstGeom>
              <a:solidFill>
                <a:srgbClr val="F3F3F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388;p33">
                <a:extLst>
                  <a:ext uri="{FF2B5EF4-FFF2-40B4-BE49-F238E27FC236}">
                    <a16:creationId xmlns:a16="http://schemas.microsoft.com/office/drawing/2014/main" id="{C3D192B3-016D-4977-8AFD-2FB98C907E9D}"/>
                  </a:ext>
                </a:extLst>
              </p:cNvPr>
              <p:cNvSpPr/>
              <p:nvPr/>
            </p:nvSpPr>
            <p:spPr>
              <a:xfrm>
                <a:off x="8059050" y="4335075"/>
                <a:ext cx="1161600" cy="308100"/>
              </a:xfrm>
              <a:prstGeom prst="rect">
                <a:avLst/>
              </a:prstGeom>
              <a:solidFill>
                <a:srgbClr val="FCE5CD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dirty="0"/>
                  <a:t>Code</a:t>
                </a:r>
                <a:endParaRPr dirty="0"/>
              </a:p>
            </p:txBody>
          </p:sp>
          <p:sp>
            <p:nvSpPr>
              <p:cNvPr id="9" name="Google Shape;389;p33">
                <a:extLst>
                  <a:ext uri="{FF2B5EF4-FFF2-40B4-BE49-F238E27FC236}">
                    <a16:creationId xmlns:a16="http://schemas.microsoft.com/office/drawing/2014/main" id="{46A71541-529D-403A-8204-3566CDEBA5F8}"/>
                  </a:ext>
                </a:extLst>
              </p:cNvPr>
              <p:cNvSpPr/>
              <p:nvPr/>
            </p:nvSpPr>
            <p:spPr>
              <a:xfrm>
                <a:off x="8061050" y="4711300"/>
                <a:ext cx="1161600" cy="3081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/>
                  <a:t>Data</a:t>
                </a:r>
                <a:endParaRPr/>
              </a:p>
            </p:txBody>
          </p:sp>
        </p:grpSp>
      </p:grpSp>
      <p:pic>
        <p:nvPicPr>
          <p:cNvPr id="11" name="Google Shape;396;p34">
            <a:extLst>
              <a:ext uri="{FF2B5EF4-FFF2-40B4-BE49-F238E27FC236}">
                <a16:creationId xmlns:a16="http://schemas.microsoft.com/office/drawing/2014/main" id="{6138591C-2D86-4857-81D5-800004FF847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6416" y="1235872"/>
            <a:ext cx="1275435" cy="912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399;p34">
            <a:extLst>
              <a:ext uri="{FF2B5EF4-FFF2-40B4-BE49-F238E27FC236}">
                <a16:creationId xmlns:a16="http://schemas.microsoft.com/office/drawing/2014/main" id="{F7DFA442-1243-4BA4-BCE9-276186E8D878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60249" y="1243254"/>
            <a:ext cx="1275435" cy="912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400;p34">
            <a:extLst>
              <a:ext uri="{FF2B5EF4-FFF2-40B4-BE49-F238E27FC236}">
                <a16:creationId xmlns:a16="http://schemas.microsoft.com/office/drawing/2014/main" id="{6222702B-81B6-41AA-AB4B-3A973BFD6C0A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04865" y="2177644"/>
            <a:ext cx="711420" cy="57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401;p34">
            <a:extLst>
              <a:ext uri="{FF2B5EF4-FFF2-40B4-BE49-F238E27FC236}">
                <a16:creationId xmlns:a16="http://schemas.microsoft.com/office/drawing/2014/main" id="{00E46F4C-D807-45A3-9249-5B06E4DF8AFE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28424" y="2147702"/>
            <a:ext cx="711420" cy="57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349;p30">
            <a:extLst>
              <a:ext uri="{FF2B5EF4-FFF2-40B4-BE49-F238E27FC236}">
                <a16:creationId xmlns:a16="http://schemas.microsoft.com/office/drawing/2014/main" id="{2F3CB0D0-465A-43A1-97E7-727A367D820B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11173" y="2950249"/>
            <a:ext cx="687975" cy="687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" name="Google Shape;350;p30">
            <a:extLst>
              <a:ext uri="{FF2B5EF4-FFF2-40B4-BE49-F238E27FC236}">
                <a16:creationId xmlns:a16="http://schemas.microsoft.com/office/drawing/2014/main" id="{7211F6C6-9404-4A5A-9E60-7EAD1D38C3DC}"/>
              </a:ext>
            </a:extLst>
          </p:cNvPr>
          <p:cNvCxnSpPr>
            <a:cxnSpLocks/>
          </p:cNvCxnSpPr>
          <p:nvPr/>
        </p:nvCxnSpPr>
        <p:spPr>
          <a:xfrm>
            <a:off x="2087672" y="2864218"/>
            <a:ext cx="3534979" cy="0"/>
          </a:xfrm>
          <a:prstGeom prst="straightConnector1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8" name="Google Shape;485;p40">
            <a:extLst>
              <a:ext uri="{FF2B5EF4-FFF2-40B4-BE49-F238E27FC236}">
                <a16:creationId xmlns:a16="http://schemas.microsoft.com/office/drawing/2014/main" id="{7B9AB86B-AD42-41BA-B41E-8626EE8CD3A9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12330" y="3814398"/>
            <a:ext cx="4708713" cy="26392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0054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>
            <a:spLocks noGrp="1"/>
          </p:cNvSpPr>
          <p:nvPr>
            <p:ph type="title"/>
          </p:nvPr>
        </p:nvSpPr>
        <p:spPr>
          <a:xfrm>
            <a:off x="722686" y="289544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Proceso: Abstracción</a:t>
            </a:r>
            <a:endParaRPr dirty="0"/>
          </a:p>
        </p:txBody>
      </p:sp>
      <p:pic>
        <p:nvPicPr>
          <p:cNvPr id="4" name="Google Shape;414;p36">
            <a:extLst>
              <a:ext uri="{FF2B5EF4-FFF2-40B4-BE49-F238E27FC236}">
                <a16:creationId xmlns:a16="http://schemas.microsoft.com/office/drawing/2014/main" id="{EF16DF98-A379-4061-867F-CF0C31F8C7E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5137" y="1253919"/>
            <a:ext cx="1940759" cy="1574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oogle Shape;415;p36">
            <a:extLst>
              <a:ext uri="{FF2B5EF4-FFF2-40B4-BE49-F238E27FC236}">
                <a16:creationId xmlns:a16="http://schemas.microsoft.com/office/drawing/2014/main" id="{B318C87C-616C-4755-8961-034BEE1C4943}"/>
              </a:ext>
            </a:extLst>
          </p:cNvPr>
          <p:cNvGrpSpPr/>
          <p:nvPr/>
        </p:nvGrpSpPr>
        <p:grpSpPr>
          <a:xfrm>
            <a:off x="5896000" y="1239044"/>
            <a:ext cx="4549500" cy="4393500"/>
            <a:chOff x="5458950" y="1790200"/>
            <a:chExt cx="4549500" cy="4393500"/>
          </a:xfrm>
        </p:grpSpPr>
        <p:sp>
          <p:nvSpPr>
            <p:cNvPr id="6" name="Google Shape;416;p36">
              <a:extLst>
                <a:ext uri="{FF2B5EF4-FFF2-40B4-BE49-F238E27FC236}">
                  <a16:creationId xmlns:a16="http://schemas.microsoft.com/office/drawing/2014/main" id="{848D0F09-BDAD-4517-A4CA-8EC5295AE65D}"/>
                </a:ext>
              </a:extLst>
            </p:cNvPr>
            <p:cNvSpPr/>
            <p:nvPr/>
          </p:nvSpPr>
          <p:spPr>
            <a:xfrm>
              <a:off x="5458950" y="1790200"/>
              <a:ext cx="4549500" cy="43935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2857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" name="Google Shape;417;p36">
              <a:extLst>
                <a:ext uri="{FF2B5EF4-FFF2-40B4-BE49-F238E27FC236}">
                  <a16:creationId xmlns:a16="http://schemas.microsoft.com/office/drawing/2014/main" id="{D57D7915-98C8-4EA7-B0F9-729FD9E32433}"/>
                </a:ext>
              </a:extLst>
            </p:cNvPr>
            <p:cNvGrpSpPr/>
            <p:nvPr/>
          </p:nvGrpSpPr>
          <p:grpSpPr>
            <a:xfrm>
              <a:off x="5922575" y="2608725"/>
              <a:ext cx="1518300" cy="2104675"/>
              <a:chOff x="6011800" y="2642175"/>
              <a:chExt cx="1518300" cy="2104675"/>
            </a:xfrm>
          </p:grpSpPr>
          <p:sp>
            <p:nvSpPr>
              <p:cNvPr id="20" name="Google Shape;418;p36">
                <a:extLst>
                  <a:ext uri="{FF2B5EF4-FFF2-40B4-BE49-F238E27FC236}">
                    <a16:creationId xmlns:a16="http://schemas.microsoft.com/office/drawing/2014/main" id="{3554D3AB-1A3D-488A-9958-6E8C25EEDC6F}"/>
                  </a:ext>
                </a:extLst>
              </p:cNvPr>
              <p:cNvSpPr txBox="1"/>
              <p:nvPr/>
            </p:nvSpPr>
            <p:spPr>
              <a:xfrm>
                <a:off x="6295300" y="2642175"/>
                <a:ext cx="9702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CPU</a:t>
                </a:r>
                <a:endParaRPr sz="16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grpSp>
            <p:nvGrpSpPr>
              <p:cNvPr id="21" name="Google Shape;419;p36">
                <a:extLst>
                  <a:ext uri="{FF2B5EF4-FFF2-40B4-BE49-F238E27FC236}">
                    <a16:creationId xmlns:a16="http://schemas.microsoft.com/office/drawing/2014/main" id="{A3A55228-2DAB-440E-A40D-17FE22D8553C}"/>
                  </a:ext>
                </a:extLst>
              </p:cNvPr>
              <p:cNvGrpSpPr/>
              <p:nvPr/>
            </p:nvGrpSpPr>
            <p:grpSpPr>
              <a:xfrm>
                <a:off x="6011800" y="3042363"/>
                <a:ext cx="1488000" cy="1401900"/>
                <a:chOff x="6011800" y="3042363"/>
                <a:chExt cx="1488000" cy="1401900"/>
              </a:xfrm>
            </p:grpSpPr>
            <p:sp>
              <p:nvSpPr>
                <p:cNvPr id="23" name="Google Shape;420;p36">
                  <a:extLst>
                    <a:ext uri="{FF2B5EF4-FFF2-40B4-BE49-F238E27FC236}">
                      <a16:creationId xmlns:a16="http://schemas.microsoft.com/office/drawing/2014/main" id="{A8A3D515-B37C-4001-977F-470339D48CA5}"/>
                    </a:ext>
                  </a:extLst>
                </p:cNvPr>
                <p:cNvSpPr/>
                <p:nvPr/>
              </p:nvSpPr>
              <p:spPr>
                <a:xfrm>
                  <a:off x="6161500" y="3042363"/>
                  <a:ext cx="1338300" cy="1401900"/>
                </a:xfrm>
                <a:prstGeom prst="rect">
                  <a:avLst/>
                </a:prstGeom>
                <a:solidFill>
                  <a:srgbClr val="FFE599"/>
                </a:solidFill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4" name="Google Shape;421;p36">
                  <a:extLst>
                    <a:ext uri="{FF2B5EF4-FFF2-40B4-BE49-F238E27FC236}">
                      <a16:creationId xmlns:a16="http://schemas.microsoft.com/office/drawing/2014/main" id="{B2C807A8-2BD0-4A4C-BE3F-DD2FDF7337EB}"/>
                    </a:ext>
                  </a:extLst>
                </p:cNvPr>
                <p:cNvGrpSpPr/>
                <p:nvPr/>
              </p:nvGrpSpPr>
              <p:grpSpPr>
                <a:xfrm>
                  <a:off x="6011800" y="3096950"/>
                  <a:ext cx="1298325" cy="461635"/>
                  <a:chOff x="6011800" y="3096950"/>
                  <a:chExt cx="1298325" cy="461635"/>
                </a:xfrm>
              </p:grpSpPr>
              <p:sp>
                <p:nvSpPr>
                  <p:cNvPr id="29" name="Google Shape;422;p36">
                    <a:extLst>
                      <a:ext uri="{FF2B5EF4-FFF2-40B4-BE49-F238E27FC236}">
                        <a16:creationId xmlns:a16="http://schemas.microsoft.com/office/drawing/2014/main" id="{E417B36E-39F8-4E80-B4FA-71777F98B6DD}"/>
                      </a:ext>
                    </a:extLst>
                  </p:cNvPr>
                  <p:cNvSpPr/>
                  <p:nvPr/>
                </p:nvSpPr>
                <p:spPr>
                  <a:xfrm>
                    <a:off x="6618625" y="3212150"/>
                    <a:ext cx="691500" cy="200400"/>
                  </a:xfrm>
                  <a:prstGeom prst="rect">
                    <a:avLst/>
                  </a:prstGeom>
                  <a:solidFill>
                    <a:srgbClr val="EA9999"/>
                  </a:solidFill>
                  <a:ln w="19050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" name="Google Shape;423;p36">
                    <a:extLst>
                      <a:ext uri="{FF2B5EF4-FFF2-40B4-BE49-F238E27FC236}">
                        <a16:creationId xmlns:a16="http://schemas.microsoft.com/office/drawing/2014/main" id="{6A954445-9C1A-42EC-90F9-EB1F06CE4EA9}"/>
                      </a:ext>
                    </a:extLst>
                  </p:cNvPr>
                  <p:cNvSpPr txBox="1"/>
                  <p:nvPr/>
                </p:nvSpPr>
                <p:spPr>
                  <a:xfrm>
                    <a:off x="6011800" y="3096950"/>
                    <a:ext cx="629250" cy="46163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PC</a:t>
                    </a:r>
                    <a:endParaRPr b="1">
                      <a:latin typeface="Courier New"/>
                      <a:ea typeface="Courier New"/>
                      <a:cs typeface="Courier New"/>
                      <a:sym typeface="Courier New"/>
                    </a:endParaRPr>
                  </a:p>
                </p:txBody>
              </p:sp>
            </p:grpSp>
            <p:grpSp>
              <p:nvGrpSpPr>
                <p:cNvPr id="25" name="Google Shape;424;p36">
                  <a:extLst>
                    <a:ext uri="{FF2B5EF4-FFF2-40B4-BE49-F238E27FC236}">
                      <a16:creationId xmlns:a16="http://schemas.microsoft.com/office/drawing/2014/main" id="{A7298E64-397C-4701-8B81-6400C9D60353}"/>
                    </a:ext>
                  </a:extLst>
                </p:cNvPr>
                <p:cNvGrpSpPr/>
                <p:nvPr/>
              </p:nvGrpSpPr>
              <p:grpSpPr>
                <a:xfrm>
                  <a:off x="6034900" y="3412550"/>
                  <a:ext cx="1275225" cy="461635"/>
                  <a:chOff x="6034900" y="3412550"/>
                  <a:chExt cx="1275225" cy="461635"/>
                </a:xfrm>
              </p:grpSpPr>
              <p:sp>
                <p:nvSpPr>
                  <p:cNvPr id="27" name="Google Shape;425;p36">
                    <a:extLst>
                      <a:ext uri="{FF2B5EF4-FFF2-40B4-BE49-F238E27FC236}">
                        <a16:creationId xmlns:a16="http://schemas.microsoft.com/office/drawing/2014/main" id="{7CE908D1-43A6-47CC-8EB8-B9116934D68B}"/>
                      </a:ext>
                    </a:extLst>
                  </p:cNvPr>
                  <p:cNvSpPr txBox="1"/>
                  <p:nvPr/>
                </p:nvSpPr>
                <p:spPr>
                  <a:xfrm>
                    <a:off x="6034900" y="3412550"/>
                    <a:ext cx="606150" cy="46163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 dirty="0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SP</a:t>
                    </a:r>
                    <a:endParaRPr b="1" dirty="0">
                      <a:latin typeface="Courier New"/>
                      <a:ea typeface="Courier New"/>
                      <a:cs typeface="Courier New"/>
                      <a:sym typeface="Courier New"/>
                    </a:endParaRPr>
                  </a:p>
                </p:txBody>
              </p:sp>
              <p:sp>
                <p:nvSpPr>
                  <p:cNvPr id="28" name="Google Shape;426;p36">
                    <a:extLst>
                      <a:ext uri="{FF2B5EF4-FFF2-40B4-BE49-F238E27FC236}">
                        <a16:creationId xmlns:a16="http://schemas.microsoft.com/office/drawing/2014/main" id="{0635EC95-625A-4997-82EB-435487E2587E}"/>
                      </a:ext>
                    </a:extLst>
                  </p:cNvPr>
                  <p:cNvSpPr/>
                  <p:nvPr/>
                </p:nvSpPr>
                <p:spPr>
                  <a:xfrm>
                    <a:off x="6618625" y="3520825"/>
                    <a:ext cx="691500" cy="200400"/>
                  </a:xfrm>
                  <a:prstGeom prst="rect">
                    <a:avLst/>
                  </a:prstGeom>
                  <a:solidFill>
                    <a:srgbClr val="EA9999"/>
                  </a:solidFill>
                  <a:ln w="19050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26" name="Google Shape;427;p36">
                  <a:extLst>
                    <a:ext uri="{FF2B5EF4-FFF2-40B4-BE49-F238E27FC236}">
                      <a16:creationId xmlns:a16="http://schemas.microsoft.com/office/drawing/2014/main" id="{29DC0EB0-E975-4F0E-8BCC-10CA9027191E}"/>
                    </a:ext>
                  </a:extLst>
                </p:cNvPr>
                <p:cNvSpPr txBox="1"/>
                <p:nvPr/>
              </p:nvSpPr>
              <p:spPr>
                <a:xfrm>
                  <a:off x="6566050" y="3744900"/>
                  <a:ext cx="5292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urier New"/>
                      <a:ea typeface="Courier New"/>
                      <a:cs typeface="Courier New"/>
                      <a:sym typeface="Courier New"/>
                    </a:rPr>
                    <a:t>...</a:t>
                  </a:r>
                  <a:endParaRPr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  <p:sp>
            <p:nvSpPr>
              <p:cNvPr id="22" name="Google Shape;428;p36">
                <a:extLst>
                  <a:ext uri="{FF2B5EF4-FFF2-40B4-BE49-F238E27FC236}">
                    <a16:creationId xmlns:a16="http://schemas.microsoft.com/office/drawing/2014/main" id="{DCADB482-F440-44D7-AD4C-8C5DDEDBF522}"/>
                  </a:ext>
                </a:extLst>
              </p:cNvPr>
              <p:cNvSpPr txBox="1"/>
              <p:nvPr/>
            </p:nvSpPr>
            <p:spPr>
              <a:xfrm>
                <a:off x="6161500" y="4392850"/>
                <a:ext cx="13686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100" b="1">
                    <a:solidFill>
                      <a:srgbClr val="FF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Registros</a:t>
                </a:r>
                <a:endParaRPr sz="1100" b="1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8" name="Google Shape;429;p36">
              <a:extLst>
                <a:ext uri="{FF2B5EF4-FFF2-40B4-BE49-F238E27FC236}">
                  <a16:creationId xmlns:a16="http://schemas.microsoft.com/office/drawing/2014/main" id="{33B69E90-E4CB-4BDA-A3E3-9F94577091E8}"/>
                </a:ext>
              </a:extLst>
            </p:cNvPr>
            <p:cNvSpPr/>
            <p:nvPr/>
          </p:nvSpPr>
          <p:spPr>
            <a:xfrm>
              <a:off x="7948250" y="2813125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" name="Google Shape;430;p36">
              <a:extLst>
                <a:ext uri="{FF2B5EF4-FFF2-40B4-BE49-F238E27FC236}">
                  <a16:creationId xmlns:a16="http://schemas.microsoft.com/office/drawing/2014/main" id="{C3EF860A-A512-4A83-A226-10E738DD3335}"/>
                </a:ext>
              </a:extLst>
            </p:cNvPr>
            <p:cNvGrpSpPr/>
            <p:nvPr/>
          </p:nvGrpSpPr>
          <p:grpSpPr>
            <a:xfrm>
              <a:off x="7805450" y="2441425"/>
              <a:ext cx="1368600" cy="2457250"/>
              <a:chOff x="7805450" y="2441425"/>
              <a:chExt cx="1368600" cy="2457250"/>
            </a:xfrm>
          </p:grpSpPr>
          <p:grpSp>
            <p:nvGrpSpPr>
              <p:cNvPr id="11" name="Google Shape;431;p36">
                <a:extLst>
                  <a:ext uri="{FF2B5EF4-FFF2-40B4-BE49-F238E27FC236}">
                    <a16:creationId xmlns:a16="http://schemas.microsoft.com/office/drawing/2014/main" id="{7864A725-A315-4354-BD74-CBEA55575BA0}"/>
                  </a:ext>
                </a:extLst>
              </p:cNvPr>
              <p:cNvGrpSpPr/>
              <p:nvPr/>
            </p:nvGrpSpPr>
            <p:grpSpPr>
              <a:xfrm>
                <a:off x="7948250" y="2813125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14" name="Google Shape;432;p36">
                  <a:extLst>
                    <a:ext uri="{FF2B5EF4-FFF2-40B4-BE49-F238E27FC236}">
                      <a16:creationId xmlns:a16="http://schemas.microsoft.com/office/drawing/2014/main" id="{A0AF8BE9-28B5-4C49-B766-E5D189643848}"/>
                    </a:ext>
                  </a:extLst>
                </p:cNvPr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15" name="Google Shape;433;p36">
                  <a:extLst>
                    <a:ext uri="{FF2B5EF4-FFF2-40B4-BE49-F238E27FC236}">
                      <a16:creationId xmlns:a16="http://schemas.microsoft.com/office/drawing/2014/main" id="{628A5C30-DCC6-427F-A089-D33769344DF7}"/>
                    </a:ext>
                  </a:extLst>
                </p:cNvPr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16" name="Google Shape;434;p36">
                  <a:extLst>
                    <a:ext uri="{FF2B5EF4-FFF2-40B4-BE49-F238E27FC236}">
                      <a16:creationId xmlns:a16="http://schemas.microsoft.com/office/drawing/2014/main" id="{4F25807F-F4AB-416B-9D6D-71C566305338}"/>
                    </a:ext>
                  </a:extLst>
                </p:cNvPr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/>
                </a:p>
              </p:txBody>
            </p:sp>
            <p:sp>
              <p:nvSpPr>
                <p:cNvPr id="17" name="Google Shape;435;p36">
                  <a:extLst>
                    <a:ext uri="{FF2B5EF4-FFF2-40B4-BE49-F238E27FC236}">
                      <a16:creationId xmlns:a16="http://schemas.microsoft.com/office/drawing/2014/main" id="{B9F8F989-EBF0-4375-B81D-40A01887ACC6}"/>
                    </a:ext>
                  </a:extLst>
                </p:cNvPr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/>
                </a:p>
              </p:txBody>
            </p:sp>
            <p:cxnSp>
              <p:nvCxnSpPr>
                <p:cNvPr id="18" name="Google Shape;436;p36">
                  <a:extLst>
                    <a:ext uri="{FF2B5EF4-FFF2-40B4-BE49-F238E27FC236}">
                      <a16:creationId xmlns:a16="http://schemas.microsoft.com/office/drawing/2014/main" id="{66009678-0D48-4339-B092-D5109966CC17}"/>
                    </a:ext>
                  </a:extLst>
                </p:cNvPr>
                <p:cNvCxnSpPr>
                  <a:stCxn id="16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9" name="Google Shape;437;p36">
                  <a:extLst>
                    <a:ext uri="{FF2B5EF4-FFF2-40B4-BE49-F238E27FC236}">
                      <a16:creationId xmlns:a16="http://schemas.microsoft.com/office/drawing/2014/main" id="{40430746-1600-40A6-A152-0ADD2E1A9BD7}"/>
                    </a:ext>
                  </a:extLst>
                </p:cNvPr>
                <p:cNvCxnSpPr>
                  <a:stCxn id="17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12" name="Google Shape;438;p36">
                <a:extLst>
                  <a:ext uri="{FF2B5EF4-FFF2-40B4-BE49-F238E27FC236}">
                    <a16:creationId xmlns:a16="http://schemas.microsoft.com/office/drawing/2014/main" id="{F6CD2280-0B7C-4D8A-98D0-04E5BF987626}"/>
                  </a:ext>
                </a:extLst>
              </p:cNvPr>
              <p:cNvSpPr txBox="1"/>
              <p:nvPr/>
            </p:nvSpPr>
            <p:spPr>
              <a:xfrm>
                <a:off x="8001200" y="2441425"/>
                <a:ext cx="9702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MM</a:t>
                </a:r>
                <a:endParaRPr sz="16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3" name="Google Shape;439;p36">
                <a:extLst>
                  <a:ext uri="{FF2B5EF4-FFF2-40B4-BE49-F238E27FC236}">
                    <a16:creationId xmlns:a16="http://schemas.microsoft.com/office/drawing/2014/main" id="{2C7FA328-8CEB-49AE-BF78-0D805BE5C82A}"/>
                  </a:ext>
                </a:extLst>
              </p:cNvPr>
              <p:cNvSpPr txBox="1"/>
              <p:nvPr/>
            </p:nvSpPr>
            <p:spPr>
              <a:xfrm>
                <a:off x="7805450" y="4544675"/>
                <a:ext cx="13686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100" b="1">
                    <a:solidFill>
                      <a:srgbClr val="FF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Address Space</a:t>
                </a:r>
                <a:endParaRPr sz="1100" b="1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10" name="Google Shape;440;p36">
              <a:extLst>
                <a:ext uri="{FF2B5EF4-FFF2-40B4-BE49-F238E27FC236}">
                  <a16:creationId xmlns:a16="http://schemas.microsoft.com/office/drawing/2014/main" id="{E6D70364-E286-4118-8303-55E2DC1BE9F2}"/>
                </a:ext>
              </a:extLst>
            </p:cNvPr>
            <p:cNvSpPr/>
            <p:nvPr/>
          </p:nvSpPr>
          <p:spPr>
            <a:xfrm>
              <a:off x="6930600" y="5055800"/>
              <a:ext cx="1446900" cy="4683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latin typeface="Courier New"/>
                  <a:ea typeface="Courier New"/>
                  <a:cs typeface="Courier New"/>
                  <a:sym typeface="Courier New"/>
                </a:rPr>
                <a:t>I/O</a:t>
              </a:r>
              <a:endParaRPr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cxnSp>
        <p:nvCxnSpPr>
          <p:cNvPr id="31" name="Google Shape;441;p36">
            <a:extLst>
              <a:ext uri="{FF2B5EF4-FFF2-40B4-BE49-F238E27FC236}">
                <a16:creationId xmlns:a16="http://schemas.microsoft.com/office/drawing/2014/main" id="{160DC7E5-DBD5-4FE2-8A2C-5D463102C121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745896" y="2040932"/>
            <a:ext cx="1958100" cy="579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32" name="Google Shape;442;p36">
            <a:extLst>
              <a:ext uri="{FF2B5EF4-FFF2-40B4-BE49-F238E27FC236}">
                <a16:creationId xmlns:a16="http://schemas.microsoft.com/office/drawing/2014/main" id="{7946699D-8770-4B44-901A-B3280719C5A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431464" y="1363057"/>
            <a:ext cx="787000" cy="7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450;p37">
            <a:extLst>
              <a:ext uri="{FF2B5EF4-FFF2-40B4-BE49-F238E27FC236}">
                <a16:creationId xmlns:a16="http://schemas.microsoft.com/office/drawing/2014/main" id="{F280CFB7-3BFD-4E44-9BE3-31F559C90907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36462" y="5815976"/>
            <a:ext cx="949500" cy="94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451;p37">
            <a:extLst>
              <a:ext uri="{FF2B5EF4-FFF2-40B4-BE49-F238E27FC236}">
                <a16:creationId xmlns:a16="http://schemas.microsoft.com/office/drawing/2014/main" id="{9C241068-733F-45CF-A76E-C0889E63BB87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49562" y="5836336"/>
            <a:ext cx="949500" cy="908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452;p37">
            <a:extLst>
              <a:ext uri="{FF2B5EF4-FFF2-40B4-BE49-F238E27FC236}">
                <a16:creationId xmlns:a16="http://schemas.microsoft.com/office/drawing/2014/main" id="{C756429E-73F5-4D73-AA8E-ABC13328254E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740662" y="5738876"/>
            <a:ext cx="914950" cy="91495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453;p37">
            <a:extLst>
              <a:ext uri="{FF2B5EF4-FFF2-40B4-BE49-F238E27FC236}">
                <a16:creationId xmlns:a16="http://schemas.microsoft.com/office/drawing/2014/main" id="{4E950140-C554-47A8-AEDA-F859F964CF96}"/>
              </a:ext>
            </a:extLst>
          </p:cNvPr>
          <p:cNvSpPr/>
          <p:nvPr/>
        </p:nvSpPr>
        <p:spPr>
          <a:xfrm>
            <a:off x="5790525" y="6014726"/>
            <a:ext cx="569100" cy="552000"/>
          </a:xfrm>
          <a:prstGeom prst="mathPlus">
            <a:avLst>
              <a:gd name="adj1" fmla="val 2352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454;p37">
            <a:extLst>
              <a:ext uri="{FF2B5EF4-FFF2-40B4-BE49-F238E27FC236}">
                <a16:creationId xmlns:a16="http://schemas.microsoft.com/office/drawing/2014/main" id="{5E6AA142-7A7D-4FA4-9A54-67075A91EF89}"/>
              </a:ext>
            </a:extLst>
          </p:cNvPr>
          <p:cNvSpPr/>
          <p:nvPr/>
        </p:nvSpPr>
        <p:spPr>
          <a:xfrm>
            <a:off x="8688975" y="6014726"/>
            <a:ext cx="569100" cy="552000"/>
          </a:xfrm>
          <a:prstGeom prst="mathPlus">
            <a:avLst>
              <a:gd name="adj1" fmla="val 2352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455;p37">
            <a:extLst>
              <a:ext uri="{FF2B5EF4-FFF2-40B4-BE49-F238E27FC236}">
                <a16:creationId xmlns:a16="http://schemas.microsoft.com/office/drawing/2014/main" id="{C0125CFF-FBB2-43D8-AEE6-EB28A078A1EF}"/>
              </a:ext>
            </a:extLst>
          </p:cNvPr>
          <p:cNvSpPr/>
          <p:nvPr/>
        </p:nvSpPr>
        <p:spPr>
          <a:xfrm>
            <a:off x="3182650" y="6014726"/>
            <a:ext cx="569100" cy="552000"/>
          </a:xfrm>
          <a:prstGeom prst="mathEqual">
            <a:avLst>
              <a:gd name="adj1" fmla="val 23520"/>
              <a:gd name="adj2" fmla="val 1176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" name="Google Shape;449;p37">
            <a:extLst>
              <a:ext uri="{FF2B5EF4-FFF2-40B4-BE49-F238E27FC236}">
                <a16:creationId xmlns:a16="http://schemas.microsoft.com/office/drawing/2014/main" id="{1CF3D15E-D1EC-49F9-8F63-8A14C12D83A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249" y="5538052"/>
            <a:ext cx="1555045" cy="12274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8780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>
            <a:spLocks noGrp="1"/>
          </p:cNvSpPr>
          <p:nvPr>
            <p:ph type="title"/>
          </p:nvPr>
        </p:nvSpPr>
        <p:spPr>
          <a:xfrm>
            <a:off x="722686" y="289544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Virtualización</a:t>
            </a:r>
            <a:endParaRPr dirty="0"/>
          </a:p>
        </p:txBody>
      </p:sp>
      <p:pic>
        <p:nvPicPr>
          <p:cNvPr id="4" name="Google Shape;492;p41">
            <a:extLst>
              <a:ext uri="{FF2B5EF4-FFF2-40B4-BE49-F238E27FC236}">
                <a16:creationId xmlns:a16="http://schemas.microsoft.com/office/drawing/2014/main" id="{4658890E-6BD4-4EFD-8D79-ECA36EADAC4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9382" y="2022544"/>
            <a:ext cx="8159750" cy="3879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493;p41">
            <a:extLst>
              <a:ext uri="{FF2B5EF4-FFF2-40B4-BE49-F238E27FC236}">
                <a16:creationId xmlns:a16="http://schemas.microsoft.com/office/drawing/2014/main" id="{A7A3D64B-7169-4AD3-827F-BED0B7BEF59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33607" y="1239044"/>
            <a:ext cx="589175" cy="58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495;p41">
            <a:extLst>
              <a:ext uri="{FF2B5EF4-FFF2-40B4-BE49-F238E27FC236}">
                <a16:creationId xmlns:a16="http://schemas.microsoft.com/office/drawing/2014/main" id="{7300FC67-C23B-4A9D-863A-31E35E0EF9E4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46618" y="2022540"/>
            <a:ext cx="1517425" cy="1169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oogle Shape;496;p41">
            <a:extLst>
              <a:ext uri="{FF2B5EF4-FFF2-40B4-BE49-F238E27FC236}">
                <a16:creationId xmlns:a16="http://schemas.microsoft.com/office/drawing/2014/main" id="{13818DF9-6B88-436F-B8C7-FE819EE96648}"/>
              </a:ext>
            </a:extLst>
          </p:cNvPr>
          <p:cNvGrpSpPr/>
          <p:nvPr/>
        </p:nvGrpSpPr>
        <p:grpSpPr>
          <a:xfrm>
            <a:off x="1567282" y="3739894"/>
            <a:ext cx="1076100" cy="1739700"/>
            <a:chOff x="1775100" y="4022850"/>
            <a:chExt cx="1076100" cy="1739700"/>
          </a:xfrm>
        </p:grpSpPr>
        <p:sp>
          <p:nvSpPr>
            <p:cNvPr id="8" name="Google Shape;497;p41">
              <a:extLst>
                <a:ext uri="{FF2B5EF4-FFF2-40B4-BE49-F238E27FC236}">
                  <a16:creationId xmlns:a16="http://schemas.microsoft.com/office/drawing/2014/main" id="{F14D610F-0B12-48C3-90C3-2C6DC7F3A78E}"/>
                </a:ext>
              </a:extLst>
            </p:cNvPr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" name="Google Shape;498;p41">
              <a:extLst>
                <a:ext uri="{FF2B5EF4-FFF2-40B4-BE49-F238E27FC236}">
                  <a16:creationId xmlns:a16="http://schemas.microsoft.com/office/drawing/2014/main" id="{7F3037D0-AB17-4FC1-9FF0-3B8FC8C632A5}"/>
                </a:ext>
              </a:extLst>
            </p:cNvPr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10" name="Google Shape;499;p41">
                <a:extLst>
                  <a:ext uri="{FF2B5EF4-FFF2-40B4-BE49-F238E27FC236}">
                    <a16:creationId xmlns:a16="http://schemas.microsoft.com/office/drawing/2014/main" id="{F08BE760-B8A9-4BB5-BDEA-ADA771B0D746}"/>
                  </a:ext>
                </a:extLst>
              </p:cNvPr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1" name="Google Shape;500;p41">
                <a:extLst>
                  <a:ext uri="{FF2B5EF4-FFF2-40B4-BE49-F238E27FC236}">
                    <a16:creationId xmlns:a16="http://schemas.microsoft.com/office/drawing/2014/main" id="{AB36E447-BC6F-465D-900A-A056273060C0}"/>
                  </a:ext>
                </a:extLst>
              </p:cNvPr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/>
              </a:p>
            </p:txBody>
          </p:sp>
          <p:sp>
            <p:nvSpPr>
              <p:cNvPr id="12" name="Google Shape;501;p41">
                <a:extLst>
                  <a:ext uri="{FF2B5EF4-FFF2-40B4-BE49-F238E27FC236}">
                    <a16:creationId xmlns:a16="http://schemas.microsoft.com/office/drawing/2014/main" id="{F79393D5-4C3A-4959-A281-B554A8B89B0F}"/>
                  </a:ext>
                </a:extLst>
              </p:cNvPr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/>
              </a:p>
            </p:txBody>
          </p:sp>
          <p:sp>
            <p:nvSpPr>
              <p:cNvPr id="13" name="Google Shape;502;p41">
                <a:extLst>
                  <a:ext uri="{FF2B5EF4-FFF2-40B4-BE49-F238E27FC236}">
                    <a16:creationId xmlns:a16="http://schemas.microsoft.com/office/drawing/2014/main" id="{167204E9-8D66-4C67-A14A-95C8FFA93566}"/>
                  </a:ext>
                </a:extLst>
              </p:cNvPr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/>
              </a:p>
            </p:txBody>
          </p:sp>
          <p:cxnSp>
            <p:nvCxnSpPr>
              <p:cNvPr id="14" name="Google Shape;503;p41">
                <a:extLst>
                  <a:ext uri="{FF2B5EF4-FFF2-40B4-BE49-F238E27FC236}">
                    <a16:creationId xmlns:a16="http://schemas.microsoft.com/office/drawing/2014/main" id="{A849407A-5E3D-441B-A8BA-1ED4C2ACBE7A}"/>
                  </a:ext>
                </a:extLst>
              </p:cNvPr>
              <p:cNvCxnSpPr>
                <a:stCxn id="12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5" name="Google Shape;504;p41">
                <a:extLst>
                  <a:ext uri="{FF2B5EF4-FFF2-40B4-BE49-F238E27FC236}">
                    <a16:creationId xmlns:a16="http://schemas.microsoft.com/office/drawing/2014/main" id="{E4361165-3E15-44E1-AFAB-CFF19145277F}"/>
                  </a:ext>
                </a:extLst>
              </p:cNvPr>
              <p:cNvCxnSpPr>
                <a:stCxn id="13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sp>
        <p:nvSpPr>
          <p:cNvPr id="16" name="Google Shape;505;p41">
            <a:extLst>
              <a:ext uri="{FF2B5EF4-FFF2-40B4-BE49-F238E27FC236}">
                <a16:creationId xmlns:a16="http://schemas.microsoft.com/office/drawing/2014/main" id="{6D988828-BED9-4C26-8956-C771EE481E40}"/>
              </a:ext>
            </a:extLst>
          </p:cNvPr>
          <p:cNvSpPr txBox="1"/>
          <p:nvPr/>
        </p:nvSpPr>
        <p:spPr>
          <a:xfrm>
            <a:off x="5734370" y="6000619"/>
            <a:ext cx="34845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/>
              <a:t>Simulación online</a:t>
            </a:r>
            <a:r>
              <a:rPr lang="es-ES"/>
              <a:t> (</a:t>
            </a:r>
            <a:r>
              <a:rPr lang="es-ES" u="sng">
                <a:solidFill>
                  <a:schemeClr val="hlink"/>
                </a:solidFill>
                <a:hlinkClick r:id="rId6"/>
              </a:rPr>
              <a:t>link</a:t>
            </a:r>
            <a:r>
              <a:rPr lang="es-ES"/>
              <a:t>)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70331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>
            <a:spLocks noGrp="1"/>
          </p:cNvSpPr>
          <p:nvPr>
            <p:ph type="title"/>
          </p:nvPr>
        </p:nvSpPr>
        <p:spPr>
          <a:xfrm>
            <a:off x="722686" y="289544"/>
            <a:ext cx="998687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Carga: De un programa a un proceso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2971358-C4A6-4D32-A9DD-1104BC496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6125" y="1239044"/>
            <a:ext cx="4889739" cy="4986088"/>
          </a:xfrm>
          <a:prstGeom prst="rect">
            <a:avLst/>
          </a:prstGeom>
        </p:spPr>
      </p:pic>
      <p:sp>
        <p:nvSpPr>
          <p:cNvPr id="4" name="Google Shape;520;p43">
            <a:extLst>
              <a:ext uri="{FF2B5EF4-FFF2-40B4-BE49-F238E27FC236}">
                <a16:creationId xmlns:a16="http://schemas.microsoft.com/office/drawing/2014/main" id="{10265CF8-73BD-488C-A7EF-F039C076A729}"/>
              </a:ext>
            </a:extLst>
          </p:cNvPr>
          <p:cNvSpPr txBox="1">
            <a:spLocks/>
          </p:cNvSpPr>
          <p:nvPr/>
        </p:nvSpPr>
        <p:spPr>
          <a:xfrm>
            <a:off x="722686" y="1239044"/>
            <a:ext cx="4675909" cy="3825000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s-MX" sz="2400" b="1" dirty="0"/>
              <a:t>Pasos </a:t>
            </a:r>
          </a:p>
          <a:p>
            <a:pPr marL="457200" indent="-355600">
              <a:lnSpc>
                <a:spcPct val="100000"/>
              </a:lnSpc>
              <a:spcBef>
                <a:spcPts val="600"/>
              </a:spcBef>
              <a:buSzPts val="2000"/>
              <a:buFont typeface="Arial"/>
              <a:buAutoNum type="arabicPeriod"/>
            </a:pPr>
            <a:r>
              <a:rPr lang="es-CO" sz="1800" b="0" i="0" u="none" strike="noStrike" dirty="0">
                <a:solidFill>
                  <a:srgbClr val="000000"/>
                </a:solidFill>
                <a:effectLst/>
              </a:rPr>
              <a:t>del código del programa a memoria en forma diferida</a:t>
            </a:r>
          </a:p>
          <a:p>
            <a:pPr marL="457200" indent="-355600">
              <a:lnSpc>
                <a:spcPct val="100000"/>
              </a:lnSpc>
              <a:spcBef>
                <a:spcPts val="600"/>
              </a:spcBef>
              <a:buSzPts val="2000"/>
              <a:buFont typeface="Arial"/>
              <a:buAutoNum type="arabicPeriod"/>
            </a:pPr>
            <a:r>
              <a:rPr lang="es-MX" sz="1800" b="0" i="0" u="none" strike="noStrike" dirty="0">
                <a:solidFill>
                  <a:srgbClr val="000000"/>
                </a:solidFill>
                <a:effectLst/>
              </a:rPr>
              <a:t>Asignación de memoria en la pila (</a:t>
            </a:r>
            <a:r>
              <a:rPr lang="es-MX" sz="1800" b="1" i="0" u="none" strike="noStrike" dirty="0" err="1">
                <a:solidFill>
                  <a:srgbClr val="000000"/>
                </a:solidFill>
                <a:effectLst/>
              </a:rPr>
              <a:t>stack</a:t>
            </a:r>
            <a:r>
              <a:rPr lang="es-MX" sz="1800" b="0" i="0" u="none" strike="noStrike" dirty="0">
                <a:solidFill>
                  <a:srgbClr val="000000"/>
                </a:solidFill>
                <a:effectLst/>
              </a:rPr>
              <a:t>) en tiempo de ejecución</a:t>
            </a:r>
          </a:p>
          <a:p>
            <a:pPr marL="457200" indent="-355600">
              <a:lnSpc>
                <a:spcPct val="100000"/>
              </a:lnSpc>
              <a:spcBef>
                <a:spcPts val="0"/>
              </a:spcBef>
              <a:buSzPts val="2000"/>
              <a:buFont typeface="Arial" panose="020B0604020202020204" pitchFamily="34" charset="0"/>
              <a:buAutoNum type="arabicPeriod"/>
            </a:pPr>
            <a:r>
              <a:rPr lang="es-MX" sz="2000" dirty="0"/>
              <a:t>Creación del espacio de memoria </a:t>
            </a:r>
            <a:r>
              <a:rPr lang="es-MX" sz="2000" b="1" dirty="0" err="1"/>
              <a:t>heap</a:t>
            </a:r>
            <a:endParaRPr lang="es-MX" sz="2000" b="1" dirty="0"/>
          </a:p>
          <a:p>
            <a:pPr marL="457200" indent="-355600">
              <a:lnSpc>
                <a:spcPct val="100000"/>
              </a:lnSpc>
              <a:spcBef>
                <a:spcPts val="0"/>
              </a:spcBef>
              <a:buSzPts val="2000"/>
              <a:buFont typeface="Arial" panose="020B0604020202020204" pitchFamily="34" charset="0"/>
              <a:buAutoNum type="arabicPeriod"/>
            </a:pPr>
            <a:r>
              <a:rPr lang="es-MX" sz="1800" b="0" i="0" u="none" strike="noStrike" dirty="0">
                <a:solidFill>
                  <a:srgbClr val="000000"/>
                </a:solidFill>
                <a:effectLst/>
              </a:rPr>
              <a:t>Realización de tareas de inicialización I/O</a:t>
            </a:r>
          </a:p>
          <a:p>
            <a:pPr marL="457200" indent="-355600">
              <a:lnSpc>
                <a:spcPct val="100000"/>
              </a:lnSpc>
              <a:spcBef>
                <a:spcPts val="0"/>
              </a:spcBef>
              <a:buSzPts val="2000"/>
              <a:buFont typeface="Arial" panose="020B0604020202020204" pitchFamily="34" charset="0"/>
              <a:buAutoNum type="arabicPeriod"/>
            </a:pPr>
            <a:r>
              <a:rPr lang="es-MX" sz="1800" dirty="0"/>
              <a:t>Inicio del programa ejecutando el punto de entrada </a:t>
            </a:r>
            <a:r>
              <a:rPr lang="es-MX" sz="1800" dirty="0">
                <a:ea typeface="Courier New"/>
                <a:cs typeface="Courier New"/>
                <a:sym typeface="Courier New"/>
              </a:rPr>
              <a:t>main()</a:t>
            </a:r>
          </a:p>
          <a:p>
            <a:pPr marL="457200" indent="-355600">
              <a:lnSpc>
                <a:spcPct val="100000"/>
              </a:lnSpc>
              <a:spcBef>
                <a:spcPts val="0"/>
              </a:spcBef>
              <a:buSzPts val="2000"/>
              <a:buFont typeface="Arial" panose="020B0604020202020204" pitchFamily="34" charset="0"/>
              <a:buAutoNum type="arabicPeriod"/>
            </a:pPr>
            <a:endParaRPr lang="es-MX" sz="1800" b="0" i="0" u="none" strike="noStrike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457200" indent="-355600">
              <a:lnSpc>
                <a:spcPct val="100000"/>
              </a:lnSpc>
              <a:spcBef>
                <a:spcPts val="0"/>
              </a:spcBef>
              <a:buSzPts val="2000"/>
              <a:buFont typeface="Arial" panose="020B0604020202020204" pitchFamily="34" charset="0"/>
              <a:buAutoNum type="arabicPeriod"/>
            </a:pPr>
            <a:endParaRPr lang="es-MX" sz="2000" dirty="0"/>
          </a:p>
          <a:p>
            <a:pPr marL="91440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es-MX" sz="2000" dirty="0"/>
          </a:p>
          <a:p>
            <a:pPr marL="45720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s-MX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21406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>
            <a:spLocks noGrp="1"/>
          </p:cNvSpPr>
          <p:nvPr>
            <p:ph type="title"/>
          </p:nvPr>
        </p:nvSpPr>
        <p:spPr>
          <a:xfrm>
            <a:off x="722686" y="289544"/>
            <a:ext cx="998687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Volvamos a la pregunta</a:t>
            </a:r>
            <a:endParaRPr dirty="0"/>
          </a:p>
        </p:txBody>
      </p:sp>
      <p:sp>
        <p:nvSpPr>
          <p:cNvPr id="4" name="Google Shape;520;p43">
            <a:extLst>
              <a:ext uri="{FF2B5EF4-FFF2-40B4-BE49-F238E27FC236}">
                <a16:creationId xmlns:a16="http://schemas.microsoft.com/office/drawing/2014/main" id="{10265CF8-73BD-488C-A7EF-F039C076A729}"/>
              </a:ext>
            </a:extLst>
          </p:cNvPr>
          <p:cNvSpPr txBox="1">
            <a:spLocks/>
          </p:cNvSpPr>
          <p:nvPr/>
        </p:nvSpPr>
        <p:spPr>
          <a:xfrm>
            <a:off x="722686" y="1119405"/>
            <a:ext cx="10746628" cy="6728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MX" sz="2400" dirty="0"/>
              <a:t>¿Cómo es que teniendo una sola CPU (en teoría) puedo correr varias tareas a la vez?</a:t>
            </a:r>
          </a:p>
          <a:p>
            <a:pPr marL="457200" indent="-355600">
              <a:lnSpc>
                <a:spcPct val="100000"/>
              </a:lnSpc>
              <a:spcBef>
                <a:spcPts val="0"/>
              </a:spcBef>
              <a:buSzPts val="2000"/>
              <a:buFont typeface="Arial" panose="020B0604020202020204" pitchFamily="34" charset="0"/>
              <a:buAutoNum type="arabicPeriod"/>
            </a:pPr>
            <a:endParaRPr lang="es-MX" sz="1800" b="0" i="0" u="none" strike="noStrike" dirty="0">
              <a:effectLst/>
              <a:latin typeface="Roboto" panose="02000000000000000000" pitchFamily="2" charset="0"/>
            </a:endParaRPr>
          </a:p>
          <a:p>
            <a:pPr marL="457200" indent="-355600">
              <a:lnSpc>
                <a:spcPct val="100000"/>
              </a:lnSpc>
              <a:spcBef>
                <a:spcPts val="0"/>
              </a:spcBef>
              <a:buSzPts val="2000"/>
              <a:buFont typeface="Arial" panose="020B0604020202020204" pitchFamily="34" charset="0"/>
              <a:buAutoNum type="arabicPeriod"/>
            </a:pPr>
            <a:endParaRPr lang="es-MX" sz="2000" dirty="0"/>
          </a:p>
          <a:p>
            <a:pPr marL="91440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es-MX" sz="2000" dirty="0"/>
          </a:p>
          <a:p>
            <a:pPr marL="45720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s-MX" sz="1400" dirty="0"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</p:txBody>
      </p:sp>
      <p:cxnSp>
        <p:nvCxnSpPr>
          <p:cNvPr id="5" name="Google Shape;536;p45">
            <a:extLst>
              <a:ext uri="{FF2B5EF4-FFF2-40B4-BE49-F238E27FC236}">
                <a16:creationId xmlns:a16="http://schemas.microsoft.com/office/drawing/2014/main" id="{DA8B72F9-8253-449F-BCE2-3DF77B63A440}"/>
              </a:ext>
            </a:extLst>
          </p:cNvPr>
          <p:cNvCxnSpPr/>
          <p:nvPr/>
        </p:nvCxnSpPr>
        <p:spPr>
          <a:xfrm rot="10800000" flipH="1">
            <a:off x="1158053" y="5166210"/>
            <a:ext cx="3501900" cy="23700"/>
          </a:xfrm>
          <a:prstGeom prst="straightConnector1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Google Shape;538;p45">
            <a:extLst>
              <a:ext uri="{FF2B5EF4-FFF2-40B4-BE49-F238E27FC236}">
                <a16:creationId xmlns:a16="http://schemas.microsoft.com/office/drawing/2014/main" id="{1A649EA8-D04A-4C09-AF2B-F901BB12AA9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6950" y="4486448"/>
            <a:ext cx="520440" cy="5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539;p45">
            <a:extLst>
              <a:ext uri="{FF2B5EF4-FFF2-40B4-BE49-F238E27FC236}">
                <a16:creationId xmlns:a16="http://schemas.microsoft.com/office/drawing/2014/main" id="{024F3560-7172-4B56-94B2-C04A85F96B9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9765" y="4371572"/>
            <a:ext cx="701575" cy="70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540;p45">
            <a:extLst>
              <a:ext uri="{FF2B5EF4-FFF2-40B4-BE49-F238E27FC236}">
                <a16:creationId xmlns:a16="http://schemas.microsoft.com/office/drawing/2014/main" id="{948DEB3F-D005-4D83-8980-131E601523E7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77818" y="4486781"/>
            <a:ext cx="520450" cy="471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541;p45">
            <a:extLst>
              <a:ext uri="{FF2B5EF4-FFF2-40B4-BE49-F238E27FC236}">
                <a16:creationId xmlns:a16="http://schemas.microsoft.com/office/drawing/2014/main" id="{73BB7E0A-B482-449E-8C9F-04CC5F837D8C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19767" y="5282998"/>
            <a:ext cx="701574" cy="836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537;p45">
            <a:extLst>
              <a:ext uri="{FF2B5EF4-FFF2-40B4-BE49-F238E27FC236}">
                <a16:creationId xmlns:a16="http://schemas.microsoft.com/office/drawing/2014/main" id="{89544D6A-1A82-4943-8DED-17ED55E80E47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96000" y="2786362"/>
            <a:ext cx="5852826" cy="148498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451D0DC7-E204-4890-93EF-98D6DCB6C68E}"/>
              </a:ext>
            </a:extLst>
          </p:cNvPr>
          <p:cNvSpPr txBox="1"/>
          <p:nvPr/>
        </p:nvSpPr>
        <p:spPr>
          <a:xfrm>
            <a:off x="7647709" y="2113479"/>
            <a:ext cx="3821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dirty="0"/>
              <a:t>Técnica de</a:t>
            </a:r>
            <a:r>
              <a:rPr lang="es-MX" sz="2000" b="1" dirty="0"/>
              <a:t> time </a:t>
            </a:r>
            <a:r>
              <a:rPr lang="es-MX" sz="2000" b="1" dirty="0" err="1"/>
              <a:t>sharing</a:t>
            </a:r>
            <a:endParaRPr lang="es-CO" sz="20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D500C06-1E35-40D6-9BD7-6F317797D0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138" y="1865962"/>
            <a:ext cx="3968828" cy="222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16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9349568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Elementos de los sistemas operativos</a:t>
            </a:r>
            <a:endParaRPr lang="es-ES"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53" name="Google Shape;553;p47"/>
          <p:cNvSpPr txBox="1">
            <a:spLocks noGrp="1"/>
          </p:cNvSpPr>
          <p:nvPr>
            <p:ph type="body" idx="1"/>
          </p:nvPr>
        </p:nvSpPr>
        <p:spPr>
          <a:xfrm>
            <a:off x="498764" y="1010300"/>
            <a:ext cx="11042072" cy="538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MX" sz="2000" dirty="0"/>
              <a:t>Estos tres conceptos son los pilares que permiten que el software interactúe con el hardware sin caos</a:t>
            </a:r>
            <a:r>
              <a:rPr lang="es-ES" sz="2000" dirty="0"/>
              <a:t>: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000" b="1" dirty="0"/>
              <a:t>Abstracción (lo que “ve” el usuario)</a:t>
            </a:r>
            <a:r>
              <a:rPr lang="es-ES" sz="2000" dirty="0"/>
              <a:t>: </a:t>
            </a:r>
            <a:r>
              <a:rPr lang="es-MX" sz="2000" dirty="0"/>
              <a:t>Interfaz simplificada que oculta la complejidad física del hardware.</a:t>
            </a:r>
          </a:p>
          <a:p>
            <a:pPr marL="914400" lvl="1" indent="-368300">
              <a:lnSpc>
                <a:spcPct val="100000"/>
              </a:lnSpc>
              <a:spcBef>
                <a:spcPts val="600"/>
              </a:spcBef>
              <a:buSzPts val="2200"/>
            </a:pPr>
            <a:r>
              <a:rPr lang="es-ES" sz="2000" dirty="0"/>
              <a:t>process, thread, file, socket, memory page.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000" b="1" dirty="0"/>
              <a:t>Mecanismos (el “como” se hace): </a:t>
            </a:r>
            <a:r>
              <a:rPr lang="es-MX" sz="2000" dirty="0"/>
              <a:t>representa las herramientas o funciones de bajo nivel que permiten implementar una operación.</a:t>
            </a:r>
          </a:p>
          <a:p>
            <a:pPr marL="1003300" lvl="1" indent="-457200">
              <a:lnSpc>
                <a:spcPct val="100000"/>
              </a:lnSpc>
              <a:spcBef>
                <a:spcPts val="0"/>
              </a:spcBef>
              <a:buSzPts val="2200"/>
            </a:pPr>
            <a:r>
              <a:rPr lang="es-ES" sz="2000" dirty="0" err="1"/>
              <a:t>create</a:t>
            </a:r>
            <a:r>
              <a:rPr lang="es-ES" sz="2000" dirty="0"/>
              <a:t>, </a:t>
            </a:r>
            <a:r>
              <a:rPr lang="es-ES" sz="2000" dirty="0" err="1"/>
              <a:t>schedule</a:t>
            </a:r>
            <a:r>
              <a:rPr lang="es-ES" sz="2000" dirty="0"/>
              <a:t>, open, </a:t>
            </a:r>
            <a:r>
              <a:rPr lang="es-ES" sz="2000" dirty="0" err="1"/>
              <a:t>write</a:t>
            </a:r>
            <a:r>
              <a:rPr lang="es-ES" sz="2000" dirty="0"/>
              <a:t>, </a:t>
            </a:r>
            <a:r>
              <a:rPr lang="es-ES" sz="2000" dirty="0" err="1"/>
              <a:t>locate</a:t>
            </a:r>
            <a:r>
              <a:rPr lang="es-ES" sz="2000" dirty="0"/>
              <a:t>.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000" b="1" dirty="0"/>
              <a:t>Políticas (El “quien” y “cuando”)</a:t>
            </a:r>
            <a:r>
              <a:rPr lang="es-ES" sz="2000" dirty="0"/>
              <a:t>: </a:t>
            </a:r>
            <a:r>
              <a:rPr lang="es-MX" sz="2000" dirty="0"/>
              <a:t>es el conjunto de reglas o algoritmos que deciden cómo se utilizan los mecanismos para cumplir un objetivo.</a:t>
            </a:r>
          </a:p>
          <a:p>
            <a:pPr marL="1003300" lvl="1" indent="-457200">
              <a:lnSpc>
                <a:spcPct val="100000"/>
              </a:lnSpc>
              <a:spcBef>
                <a:spcPts val="0"/>
              </a:spcBef>
              <a:buSzPts val="2200"/>
            </a:pPr>
            <a:r>
              <a:rPr lang="es-ES" sz="2000" dirty="0" err="1"/>
              <a:t>Last</a:t>
            </a:r>
            <a:r>
              <a:rPr lang="es-ES" sz="2000" dirty="0"/>
              <a:t> Recently Used (LRU), Earliest </a:t>
            </a:r>
            <a:r>
              <a:rPr lang="es-ES" sz="2000" dirty="0" err="1"/>
              <a:t>Deadline</a:t>
            </a:r>
            <a:r>
              <a:rPr lang="es-ES" sz="2000" dirty="0"/>
              <a:t> </a:t>
            </a:r>
            <a:r>
              <a:rPr lang="es-ES" sz="2000" dirty="0" err="1"/>
              <a:t>First</a:t>
            </a:r>
            <a:r>
              <a:rPr lang="es-ES" sz="2000" dirty="0"/>
              <a:t> (EDF), etc.</a:t>
            </a: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lang="es-ES" sz="2000"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s-ES" dirty="0"/>
          </a:p>
        </p:txBody>
      </p:sp>
      <p:graphicFrame>
        <p:nvGraphicFramePr>
          <p:cNvPr id="554" name="Google Shape;554;p47"/>
          <p:cNvGraphicFramePr/>
          <p:nvPr>
            <p:extLst>
              <p:ext uri="{D42A27DB-BD31-4B8C-83A1-F6EECF244321}">
                <p14:modId xmlns:p14="http://schemas.microsoft.com/office/powerpoint/2010/main" val="858836648"/>
              </p:ext>
            </p:extLst>
          </p:nvPr>
        </p:nvGraphicFramePr>
        <p:xfrm>
          <a:off x="3385997" y="4932050"/>
          <a:ext cx="7967803" cy="14629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574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1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8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00">
                <a:tc row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200" b="1" dirty="0"/>
                        <a:t>Process management</a:t>
                      </a:r>
                      <a:endParaRPr sz="2200" b="1"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/>
                        <a:t>Abstracción</a:t>
                      </a:r>
                      <a:endParaRPr sz="20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/>
                        <a:t>Proceso</a:t>
                      </a:r>
                      <a:endParaRPr sz="2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/>
                        <a:t>Mecanismos</a:t>
                      </a:r>
                      <a:endParaRPr sz="20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/>
                        <a:t>create, destroy, wait, status,...</a:t>
                      </a:r>
                      <a:endParaRPr sz="2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/>
                        <a:t>Políticas</a:t>
                      </a:r>
                      <a:endParaRPr sz="2000"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solidFill>
                            <a:schemeClr val="dk1"/>
                          </a:solidFill>
                        </a:rPr>
                        <a:t>FIFO, RR,...</a:t>
                      </a:r>
                      <a:endParaRPr sz="20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Google Shape;450;p37">
            <a:extLst>
              <a:ext uri="{FF2B5EF4-FFF2-40B4-BE49-F238E27FC236}">
                <a16:creationId xmlns:a16="http://schemas.microsoft.com/office/drawing/2014/main" id="{070461D4-9EB4-42DF-B68B-A1B548142DE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7225" y="5188775"/>
            <a:ext cx="949500" cy="94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9349568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Como implementar la Abstracción</a:t>
            </a:r>
            <a:endParaRPr lang="es-ES"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53" name="Google Shape;553;p47"/>
          <p:cNvSpPr txBox="1">
            <a:spLocks noGrp="1"/>
          </p:cNvSpPr>
          <p:nvPr>
            <p:ph type="body" idx="1"/>
          </p:nvPr>
        </p:nvSpPr>
        <p:spPr>
          <a:xfrm>
            <a:off x="332510" y="1081755"/>
            <a:ext cx="5541818" cy="273042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None/>
            </a:pPr>
            <a:r>
              <a:rPr lang="es-MX" sz="2000" b="1" dirty="0"/>
              <a:t>La Abstracción (El "Qué")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b="1" dirty="0"/>
              <a:t>Definición:</a:t>
            </a:r>
            <a:r>
              <a:rPr lang="es-MX" sz="2000" dirty="0"/>
              <a:t> Modelo simplificado que oculta la complejidad del hardware.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b="1" dirty="0"/>
              <a:t>Objetivo:</a:t>
            </a:r>
            <a:r>
              <a:rPr lang="es-MX" sz="2000" dirty="0"/>
              <a:t> Transformar recursos físicos (voltajes, sectores) en objetos lógicos.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b="1" dirty="0"/>
              <a:t>Ejemplos:</a:t>
            </a:r>
            <a:r>
              <a:rPr lang="es-MX" sz="2000" dirty="0"/>
              <a:t> Archivos, Procesos, Espacios de Direccionamiento.</a:t>
            </a: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s-ES" dirty="0"/>
          </a:p>
        </p:txBody>
      </p:sp>
      <p:sp>
        <p:nvSpPr>
          <p:cNvPr id="8" name="Google Shape;553;p47">
            <a:extLst>
              <a:ext uri="{FF2B5EF4-FFF2-40B4-BE49-F238E27FC236}">
                <a16:creationId xmlns:a16="http://schemas.microsoft.com/office/drawing/2014/main" id="{44A36B86-4315-41B1-9567-DB30590BDC3C}"/>
              </a:ext>
            </a:extLst>
          </p:cNvPr>
          <p:cNvSpPr txBox="1">
            <a:spLocks/>
          </p:cNvSpPr>
          <p:nvPr/>
        </p:nvSpPr>
        <p:spPr>
          <a:xfrm>
            <a:off x="6096000" y="973103"/>
            <a:ext cx="5375564" cy="2875298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2000" b="1" dirty="0"/>
              <a:t>La API (El "Contrato")</a:t>
            </a:r>
          </a:p>
          <a:p>
            <a:r>
              <a:rPr lang="es-MX" sz="2000" b="1" dirty="0"/>
              <a:t>Definición:</a:t>
            </a:r>
            <a:r>
              <a:rPr lang="es-MX" sz="2000" dirty="0"/>
              <a:t> Conjunto de funciones y protocolos (</a:t>
            </a:r>
            <a:r>
              <a:rPr lang="es-MX" sz="2000" b="1" dirty="0"/>
              <a:t>punto de entrada</a:t>
            </a:r>
            <a:r>
              <a:rPr lang="es-MX" sz="2000" dirty="0"/>
              <a:t>) para interactuar con el Kernel.</a:t>
            </a:r>
          </a:p>
          <a:p>
            <a:r>
              <a:rPr lang="es-MX" sz="2000" b="1" dirty="0"/>
              <a:t>Rol:</a:t>
            </a:r>
            <a:r>
              <a:rPr lang="es-MX" sz="2000" dirty="0"/>
              <a:t> Es la </a:t>
            </a:r>
            <a:r>
              <a:rPr lang="es-MX" sz="2000" b="1" dirty="0"/>
              <a:t>formalización de la abstracción</a:t>
            </a:r>
            <a:r>
              <a:rPr lang="es-MX" sz="2000" dirty="0"/>
              <a:t>. Permite la portabilidad (ej. POSIX).</a:t>
            </a:r>
          </a:p>
          <a:p>
            <a:r>
              <a:rPr lang="es-MX" sz="2000" b="1" dirty="0"/>
              <a:t>Seguridad:</a:t>
            </a:r>
            <a:r>
              <a:rPr lang="es-MX" sz="2000" dirty="0"/>
              <a:t> Única vía legal para pasar de </a:t>
            </a:r>
            <a:r>
              <a:rPr lang="es-MX" sz="2000" i="1" dirty="0"/>
              <a:t>Modo Usuario</a:t>
            </a:r>
            <a:r>
              <a:rPr lang="es-MX" sz="2000" dirty="0"/>
              <a:t> a </a:t>
            </a:r>
            <a:r>
              <a:rPr lang="es-MX" sz="2000" i="1" dirty="0"/>
              <a:t>Modo Privilegiado</a:t>
            </a:r>
            <a:r>
              <a:rPr lang="es-MX" sz="2000" dirty="0"/>
              <a:t>.</a:t>
            </a:r>
          </a:p>
          <a:p>
            <a:pPr marL="457200" indent="0">
              <a:buFont typeface="Arial" panose="020B0604020202020204" pitchFamily="34" charset="0"/>
              <a:buNone/>
            </a:pPr>
            <a:endParaRPr lang="es-ES" dirty="0"/>
          </a:p>
        </p:txBody>
      </p:sp>
      <p:graphicFrame>
        <p:nvGraphicFramePr>
          <p:cNvPr id="9" name="Google Shape;573;p49">
            <a:extLst>
              <a:ext uri="{FF2B5EF4-FFF2-40B4-BE49-F238E27FC236}">
                <a16:creationId xmlns:a16="http://schemas.microsoft.com/office/drawing/2014/main" id="{9D258CAB-F7EB-45DD-86D2-DC610D7A34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5955911"/>
              </p:ext>
            </p:extLst>
          </p:nvPr>
        </p:nvGraphicFramePr>
        <p:xfrm>
          <a:off x="5591434" y="4037018"/>
          <a:ext cx="6289964" cy="25601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327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/>
                        <a:t>Función</a:t>
                      </a:r>
                      <a:endParaRPr sz="16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/>
                        <a:t>Descripción</a:t>
                      </a:r>
                      <a:endParaRPr sz="16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Crear (</a:t>
                      </a:r>
                      <a:r>
                        <a:rPr lang="es-ES" sz="1200" dirty="0" err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create</a:t>
                      </a:r>
                      <a:r>
                        <a:rPr lang="es-ES" sz="12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2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/>
                        <a:t>Crea un nuevo proceso para ejecutar un programa.</a:t>
                      </a:r>
                      <a:endParaRPr sz="14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Eliminar (destroy)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/>
                        <a:t>Forzar la detención de un programa en ejecución.</a:t>
                      </a:r>
                      <a:endParaRPr sz="14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Esperar (</a:t>
                      </a:r>
                      <a:r>
                        <a:rPr lang="es-ES" sz="1200" dirty="0" err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wait</a:t>
                      </a:r>
                      <a:r>
                        <a:rPr lang="es-ES" sz="12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2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/>
                        <a:t>Espera que un proceso termine su ejecución.</a:t>
                      </a:r>
                      <a:endParaRPr sz="14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Operaciones de control	</a:t>
                      </a:r>
                      <a:endParaRPr sz="12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/>
                        <a:t>Ej. Suspender un proceso.</a:t>
                      </a:r>
                      <a:endParaRPr sz="14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Estado (status)</a:t>
                      </a:r>
                      <a:endParaRPr sz="12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/>
                        <a:t>Información de estado del proceso.</a:t>
                      </a:r>
                      <a:endParaRPr sz="14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0" name="Picture 2" descr="processlifecycle">
            <a:extLst>
              <a:ext uri="{FF2B5EF4-FFF2-40B4-BE49-F238E27FC236}">
                <a16:creationId xmlns:a16="http://schemas.microsoft.com/office/drawing/2014/main" id="{22CC7EA7-E9C0-494C-845B-A0496714D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650" y="4037018"/>
            <a:ext cx="3754149" cy="2121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7762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9349568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Como implementar la Abstracción</a:t>
            </a:r>
            <a:endParaRPr lang="es-ES"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53" name="Google Shape;553;p47"/>
          <p:cNvSpPr txBox="1">
            <a:spLocks noGrp="1"/>
          </p:cNvSpPr>
          <p:nvPr>
            <p:ph type="body" idx="1"/>
          </p:nvPr>
        </p:nvSpPr>
        <p:spPr>
          <a:xfrm>
            <a:off x="332510" y="1081755"/>
            <a:ext cx="5541818" cy="273042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None/>
            </a:pPr>
            <a:r>
              <a:rPr lang="es-MX" sz="2000" b="1" dirty="0"/>
              <a:t>La Abstracción (El "Qué")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b="1" dirty="0"/>
              <a:t>Definición:</a:t>
            </a:r>
            <a:r>
              <a:rPr lang="es-MX" sz="2000" dirty="0"/>
              <a:t> Modelo simplificado que oculta la complejidad del hardware.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b="1" dirty="0"/>
              <a:t>Objetivo:</a:t>
            </a:r>
            <a:r>
              <a:rPr lang="es-MX" sz="2000" dirty="0"/>
              <a:t> Transformar recursos físicos (voltajes, sectores) en objetos lógicos.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b="1" dirty="0"/>
              <a:t>Ejemplos:</a:t>
            </a:r>
            <a:r>
              <a:rPr lang="es-MX" sz="2000" dirty="0"/>
              <a:t> Archivos, Procesos, Espacios de Direccionamiento.</a:t>
            </a: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s-ES" dirty="0"/>
          </a:p>
        </p:txBody>
      </p:sp>
      <p:sp>
        <p:nvSpPr>
          <p:cNvPr id="8" name="Google Shape;553;p47">
            <a:extLst>
              <a:ext uri="{FF2B5EF4-FFF2-40B4-BE49-F238E27FC236}">
                <a16:creationId xmlns:a16="http://schemas.microsoft.com/office/drawing/2014/main" id="{44A36B86-4315-41B1-9567-DB30590BDC3C}"/>
              </a:ext>
            </a:extLst>
          </p:cNvPr>
          <p:cNvSpPr txBox="1">
            <a:spLocks/>
          </p:cNvSpPr>
          <p:nvPr/>
        </p:nvSpPr>
        <p:spPr>
          <a:xfrm>
            <a:off x="6096000" y="973103"/>
            <a:ext cx="5375564" cy="2875298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2000" b="1" dirty="0"/>
              <a:t>La API (El "Contrato")</a:t>
            </a:r>
          </a:p>
          <a:p>
            <a:r>
              <a:rPr lang="es-MX" sz="2000" b="1" dirty="0"/>
              <a:t>Definición:</a:t>
            </a:r>
            <a:r>
              <a:rPr lang="es-MX" sz="2000" dirty="0"/>
              <a:t> Conjunto de funciones y protocolos (</a:t>
            </a:r>
            <a:r>
              <a:rPr lang="es-MX" sz="2000" b="1" dirty="0"/>
              <a:t>punto de entrada</a:t>
            </a:r>
            <a:r>
              <a:rPr lang="es-MX" sz="2000" dirty="0"/>
              <a:t>) para interactuar con el Kernel.</a:t>
            </a:r>
          </a:p>
          <a:p>
            <a:r>
              <a:rPr lang="es-MX" sz="2000" b="1" dirty="0"/>
              <a:t>Rol:</a:t>
            </a:r>
            <a:r>
              <a:rPr lang="es-MX" sz="2000" dirty="0"/>
              <a:t> Es la </a:t>
            </a:r>
            <a:r>
              <a:rPr lang="es-MX" sz="2000" b="1" dirty="0"/>
              <a:t>formalización de la abstracción</a:t>
            </a:r>
            <a:r>
              <a:rPr lang="es-MX" sz="2000" dirty="0"/>
              <a:t>. Permite la portabilidad (ej. POSIX).</a:t>
            </a:r>
          </a:p>
          <a:p>
            <a:r>
              <a:rPr lang="es-MX" sz="2000" b="1" dirty="0"/>
              <a:t>Seguridad:</a:t>
            </a:r>
            <a:r>
              <a:rPr lang="es-MX" sz="2000" dirty="0"/>
              <a:t> Única vía legal para pasar de </a:t>
            </a:r>
            <a:r>
              <a:rPr lang="es-MX" sz="2000" i="1" dirty="0"/>
              <a:t>Modo Usuario</a:t>
            </a:r>
            <a:r>
              <a:rPr lang="es-MX" sz="2000" dirty="0"/>
              <a:t> a </a:t>
            </a:r>
            <a:r>
              <a:rPr lang="es-MX" sz="2000" i="1" dirty="0"/>
              <a:t>Modo Privilegiado</a:t>
            </a:r>
            <a:r>
              <a:rPr lang="es-MX" sz="2000" dirty="0"/>
              <a:t>.</a:t>
            </a:r>
          </a:p>
          <a:p>
            <a:pPr marL="457200" indent="0">
              <a:buFont typeface="Arial" panose="020B0604020202020204" pitchFamily="34" charset="0"/>
              <a:buNone/>
            </a:pPr>
            <a:endParaRPr lang="es-ES" dirty="0"/>
          </a:p>
        </p:txBody>
      </p:sp>
      <p:graphicFrame>
        <p:nvGraphicFramePr>
          <p:cNvPr id="9" name="Google Shape;573;p49">
            <a:extLst>
              <a:ext uri="{FF2B5EF4-FFF2-40B4-BE49-F238E27FC236}">
                <a16:creationId xmlns:a16="http://schemas.microsoft.com/office/drawing/2014/main" id="{9D258CAB-F7EB-45DD-86D2-DC610D7A34A2}"/>
              </a:ext>
            </a:extLst>
          </p:cNvPr>
          <p:cNvGraphicFramePr/>
          <p:nvPr/>
        </p:nvGraphicFramePr>
        <p:xfrm>
          <a:off x="5591434" y="4037018"/>
          <a:ext cx="6289964" cy="25601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327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/>
                        <a:t>Función</a:t>
                      </a:r>
                      <a:endParaRPr sz="16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/>
                        <a:t>Descripción</a:t>
                      </a:r>
                      <a:endParaRPr sz="16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Crear (</a:t>
                      </a:r>
                      <a:r>
                        <a:rPr lang="es-ES" sz="1200" dirty="0" err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create</a:t>
                      </a:r>
                      <a:r>
                        <a:rPr lang="es-ES" sz="12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2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/>
                        <a:t>Crea un nuevo proceso para ejecutar un programa.</a:t>
                      </a:r>
                      <a:endParaRPr sz="14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Eliminar (destroy)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/>
                        <a:t>Forzar la detención de un programa en ejecución.</a:t>
                      </a:r>
                      <a:endParaRPr sz="14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Esperar (</a:t>
                      </a:r>
                      <a:r>
                        <a:rPr lang="es-ES" sz="1200" dirty="0" err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wait</a:t>
                      </a:r>
                      <a:r>
                        <a:rPr lang="es-ES" sz="12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2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/>
                        <a:t>Espera que un proceso termine su ejecución.</a:t>
                      </a:r>
                      <a:endParaRPr sz="14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Operaciones de control	</a:t>
                      </a:r>
                      <a:endParaRPr sz="12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/>
                        <a:t>Ej. Suspender un proceso.</a:t>
                      </a:r>
                      <a:endParaRPr sz="14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Estado (status)</a:t>
                      </a:r>
                      <a:endParaRPr sz="12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/>
                        <a:t>Información de estado del proceso.</a:t>
                      </a:r>
                      <a:endParaRPr sz="14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0" name="Picture 2" descr="processlifecycle">
            <a:extLst>
              <a:ext uri="{FF2B5EF4-FFF2-40B4-BE49-F238E27FC236}">
                <a16:creationId xmlns:a16="http://schemas.microsoft.com/office/drawing/2014/main" id="{22CC7EA7-E9C0-494C-845B-A0496714D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650" y="4037018"/>
            <a:ext cx="3754149" cy="2121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6600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9349568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Modelo de tres estados</a:t>
            </a:r>
            <a:endParaRPr lang="es-ES"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8" name="Google Shape;586;p51">
            <a:extLst>
              <a:ext uri="{FF2B5EF4-FFF2-40B4-BE49-F238E27FC236}">
                <a16:creationId xmlns:a16="http://schemas.microsoft.com/office/drawing/2014/main" id="{769BE2A6-2251-4633-91AB-9143E8A3D35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8624" y="1135593"/>
            <a:ext cx="6467475" cy="395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587;p51">
            <a:extLst>
              <a:ext uri="{FF2B5EF4-FFF2-40B4-BE49-F238E27FC236}">
                <a16:creationId xmlns:a16="http://schemas.microsoft.com/office/drawing/2014/main" id="{84CB9574-27F5-4A10-9A5B-91D6283B808A}"/>
              </a:ext>
            </a:extLst>
          </p:cNvPr>
          <p:cNvSpPr txBox="1"/>
          <p:nvPr/>
        </p:nvSpPr>
        <p:spPr>
          <a:xfrm>
            <a:off x="8814186" y="2194292"/>
            <a:ext cx="2596800" cy="6771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</a:rPr>
              <a:t>El proceso se ejecuta en el procesador</a:t>
            </a:r>
            <a:endParaRPr sz="1600"/>
          </a:p>
        </p:txBody>
      </p:sp>
      <p:sp>
        <p:nvSpPr>
          <p:cNvPr id="10" name="Google Shape;588;p51">
            <a:extLst>
              <a:ext uri="{FF2B5EF4-FFF2-40B4-BE49-F238E27FC236}">
                <a16:creationId xmlns:a16="http://schemas.microsoft.com/office/drawing/2014/main" id="{385DBF42-9098-4D46-83B0-E4C679679A6F}"/>
              </a:ext>
            </a:extLst>
          </p:cNvPr>
          <p:cNvSpPr txBox="1"/>
          <p:nvPr/>
        </p:nvSpPr>
        <p:spPr>
          <a:xfrm>
            <a:off x="656936" y="2037217"/>
            <a:ext cx="2914800" cy="12807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</a:rPr>
              <a:t>El proceso está listo para ser ejecutado pero el SO ha decidido no ejecutarlo en este momento.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1" name="Google Shape;589;p51">
            <a:extLst>
              <a:ext uri="{FF2B5EF4-FFF2-40B4-BE49-F238E27FC236}">
                <a16:creationId xmlns:a16="http://schemas.microsoft.com/office/drawing/2014/main" id="{73DC3FAB-7C84-46A7-A84C-81BA0D1CEDF7}"/>
              </a:ext>
            </a:extLst>
          </p:cNvPr>
          <p:cNvSpPr txBox="1"/>
          <p:nvPr/>
        </p:nvSpPr>
        <p:spPr>
          <a:xfrm>
            <a:off x="4890686" y="5247242"/>
            <a:ext cx="2781600" cy="71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</a:rPr>
              <a:t>El proceso desarrolla alguna operación (I/O disco).</a:t>
            </a:r>
            <a:endParaRPr sz="16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5142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9349568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Modelo de tres estados</a:t>
            </a:r>
            <a:endParaRPr lang="es-ES"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4098" name="Picture 2" descr="io">
            <a:extLst>
              <a:ext uri="{FF2B5EF4-FFF2-40B4-BE49-F238E27FC236}">
                <a16:creationId xmlns:a16="http://schemas.microsoft.com/office/drawing/2014/main" id="{34B46307-2531-4459-9158-78BBCB758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578096"/>
            <a:ext cx="7098288" cy="3424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oogle Shape;586;p51">
            <a:extLst>
              <a:ext uri="{FF2B5EF4-FFF2-40B4-BE49-F238E27FC236}">
                <a16:creationId xmlns:a16="http://schemas.microsoft.com/office/drawing/2014/main" id="{61682E9E-595B-498A-A016-111649B309E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402" y="2161611"/>
            <a:ext cx="3717779" cy="25347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8463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9349568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Estados de un proceso – Ejemplo 1</a:t>
            </a:r>
            <a:endParaRPr lang="es-ES"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7" name="Google Shape;596;p52">
            <a:extLst>
              <a:ext uri="{FF2B5EF4-FFF2-40B4-BE49-F238E27FC236}">
                <a16:creationId xmlns:a16="http://schemas.microsoft.com/office/drawing/2014/main" id="{3A502652-2E09-494A-94BF-6130F804F08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1334" y="1135593"/>
            <a:ext cx="3637502" cy="2418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597;p52">
            <a:extLst>
              <a:ext uri="{FF2B5EF4-FFF2-40B4-BE49-F238E27FC236}">
                <a16:creationId xmlns:a16="http://schemas.microsoft.com/office/drawing/2014/main" id="{37CEE171-6A97-4EFC-8027-E214B06358B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6650" y="1045538"/>
            <a:ext cx="5179350" cy="26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41976E0-DA63-4BFC-8990-EA03ABC700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2997" y="4281373"/>
            <a:ext cx="6126623" cy="214713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5C82061-B58E-4DB6-AE23-2E3EB77142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650" y="4240359"/>
            <a:ext cx="3829584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0925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9349568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Estados de un proceso – Ejemplo 2</a:t>
            </a:r>
            <a:endParaRPr lang="es-ES"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7" name="Google Shape;596;p52">
            <a:extLst>
              <a:ext uri="{FF2B5EF4-FFF2-40B4-BE49-F238E27FC236}">
                <a16:creationId xmlns:a16="http://schemas.microsoft.com/office/drawing/2014/main" id="{3A502652-2E09-494A-94BF-6130F804F08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1334" y="1135593"/>
            <a:ext cx="3637502" cy="2418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605;p53">
            <a:extLst>
              <a:ext uri="{FF2B5EF4-FFF2-40B4-BE49-F238E27FC236}">
                <a16:creationId xmlns:a16="http://schemas.microsoft.com/office/drawing/2014/main" id="{AE4795EA-8EE8-4049-8A2E-F5F4B9A7C0B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4147" y="1045538"/>
            <a:ext cx="4727164" cy="2746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EB33A86-D9DB-4F78-BAC9-A96CEA7746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2997" y="4281373"/>
            <a:ext cx="6126623" cy="214713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8367731-F1FF-40FC-BCEB-BE1A81C5AD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650" y="4240359"/>
            <a:ext cx="3829584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60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7"/>
          <p:cNvSpPr txBox="1">
            <a:spLocks noGrp="1"/>
          </p:cNvSpPr>
          <p:nvPr>
            <p:ph type="title"/>
          </p:nvPr>
        </p:nvSpPr>
        <p:spPr>
          <a:xfrm>
            <a:off x="1096759" y="165310"/>
            <a:ext cx="10097714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Pasando al código – Estructuras de datos</a:t>
            </a:r>
            <a:endParaRPr lang="es-ES"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" name="Google Shape;619;p55">
            <a:extLst>
              <a:ext uri="{FF2B5EF4-FFF2-40B4-BE49-F238E27FC236}">
                <a16:creationId xmlns:a16="http://schemas.microsoft.com/office/drawing/2014/main" id="{DBD72DBF-A229-49B2-8361-5933F4EFFEFC}"/>
              </a:ext>
            </a:extLst>
          </p:cNvPr>
          <p:cNvSpPr txBox="1">
            <a:spLocks/>
          </p:cNvSpPr>
          <p:nvPr/>
        </p:nvSpPr>
        <p:spPr>
          <a:xfrm>
            <a:off x="561109" y="1029966"/>
            <a:ext cx="11187546" cy="515944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9100" indent="-342900">
              <a:lnSpc>
                <a:spcPct val="100000"/>
              </a:lnSpc>
              <a:spcBef>
                <a:spcPts val="600"/>
              </a:spcBef>
              <a:buSzPts val="2400"/>
            </a:pPr>
            <a:r>
              <a:rPr lang="es-MX" sz="2000" dirty="0"/>
              <a:t>El sistema operativo requiere </a:t>
            </a:r>
            <a:r>
              <a:rPr lang="es-MX" sz="2000" b="1" dirty="0"/>
              <a:t>estructuras de datos</a:t>
            </a:r>
            <a:r>
              <a:rPr lang="es-MX" sz="2000" dirty="0"/>
              <a:t> para rastrear los elementos claves.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MX" sz="1100" dirty="0"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457200" indent="0">
              <a:buFont typeface="Arial" panose="020B0604020202020204" pitchFamily="34" charset="0"/>
              <a:buNone/>
            </a:pPr>
            <a:endParaRPr lang="es-MX" dirty="0"/>
          </a:p>
        </p:txBody>
      </p:sp>
      <p:pic>
        <p:nvPicPr>
          <p:cNvPr id="8" name="Google Shape;620;p55">
            <a:extLst>
              <a:ext uri="{FF2B5EF4-FFF2-40B4-BE49-F238E27FC236}">
                <a16:creationId xmlns:a16="http://schemas.microsoft.com/office/drawing/2014/main" id="{95932945-E8D2-4394-8193-0B9D04C2E73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559" y="1845746"/>
            <a:ext cx="2768175" cy="4382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621;p55">
            <a:extLst>
              <a:ext uri="{FF2B5EF4-FFF2-40B4-BE49-F238E27FC236}">
                <a16:creationId xmlns:a16="http://schemas.microsoft.com/office/drawing/2014/main" id="{54E46627-CAC0-4FFC-8E86-B354F36D1FF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7639" y="2089942"/>
            <a:ext cx="7296425" cy="82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622;p55">
            <a:extLst>
              <a:ext uri="{FF2B5EF4-FFF2-40B4-BE49-F238E27FC236}">
                <a16:creationId xmlns:a16="http://schemas.microsoft.com/office/drawing/2014/main" id="{E9DEE977-BDC2-41D2-804E-609E5B819EA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19540" y="3523667"/>
            <a:ext cx="7432901" cy="1005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623;p55">
            <a:extLst>
              <a:ext uri="{FF2B5EF4-FFF2-40B4-BE49-F238E27FC236}">
                <a16:creationId xmlns:a16="http://schemas.microsoft.com/office/drawing/2014/main" id="{555F8B30-472A-48D1-84B6-B849A600BBCA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9403" y="5141675"/>
            <a:ext cx="7432899" cy="1225567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624;p55">
            <a:extLst>
              <a:ext uri="{FF2B5EF4-FFF2-40B4-BE49-F238E27FC236}">
                <a16:creationId xmlns:a16="http://schemas.microsoft.com/office/drawing/2014/main" id="{C6D69EB1-83C2-4AE4-BAFF-DD1F4C7F1D96}"/>
              </a:ext>
            </a:extLst>
          </p:cNvPr>
          <p:cNvSpPr txBox="1"/>
          <p:nvPr/>
        </p:nvSpPr>
        <p:spPr>
          <a:xfrm>
            <a:off x="3921465" y="1658842"/>
            <a:ext cx="7130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/>
              <a:t>Single </a:t>
            </a:r>
            <a:r>
              <a:rPr lang="es-ES" sz="1600" b="1" dirty="0" err="1"/>
              <a:t>linked</a:t>
            </a:r>
            <a:r>
              <a:rPr lang="es-ES" sz="1600" b="1" dirty="0"/>
              <a:t> </a:t>
            </a:r>
            <a:r>
              <a:rPr lang="es-ES" sz="1600" b="1" dirty="0" err="1"/>
              <a:t>list</a:t>
            </a:r>
            <a:endParaRPr sz="1600" b="1" dirty="0"/>
          </a:p>
        </p:txBody>
      </p:sp>
      <p:sp>
        <p:nvSpPr>
          <p:cNvPr id="13" name="Google Shape;625;p55">
            <a:extLst>
              <a:ext uri="{FF2B5EF4-FFF2-40B4-BE49-F238E27FC236}">
                <a16:creationId xmlns:a16="http://schemas.microsoft.com/office/drawing/2014/main" id="{AB94BFE4-A09D-4C4D-8E2C-48544D102E0C}"/>
              </a:ext>
            </a:extLst>
          </p:cNvPr>
          <p:cNvSpPr txBox="1"/>
          <p:nvPr/>
        </p:nvSpPr>
        <p:spPr>
          <a:xfrm>
            <a:off x="3989415" y="4710567"/>
            <a:ext cx="7130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/>
              <a:t>Circular </a:t>
            </a:r>
            <a:r>
              <a:rPr lang="es-ES" sz="1600" b="1" dirty="0" err="1"/>
              <a:t>linked</a:t>
            </a:r>
            <a:r>
              <a:rPr lang="es-ES" sz="1600" b="1" dirty="0"/>
              <a:t> </a:t>
            </a:r>
            <a:r>
              <a:rPr lang="es-ES" sz="1600" b="1" dirty="0" err="1"/>
              <a:t>list</a:t>
            </a:r>
            <a:endParaRPr sz="1600" b="1" dirty="0"/>
          </a:p>
        </p:txBody>
      </p:sp>
      <p:sp>
        <p:nvSpPr>
          <p:cNvPr id="14" name="Google Shape;626;p55">
            <a:extLst>
              <a:ext uri="{FF2B5EF4-FFF2-40B4-BE49-F238E27FC236}">
                <a16:creationId xmlns:a16="http://schemas.microsoft.com/office/drawing/2014/main" id="{847F692C-8FA2-4FBB-B5F9-33DEACE2BB40}"/>
              </a:ext>
            </a:extLst>
          </p:cNvPr>
          <p:cNvSpPr txBox="1"/>
          <p:nvPr/>
        </p:nvSpPr>
        <p:spPr>
          <a:xfrm>
            <a:off x="3989415" y="3052992"/>
            <a:ext cx="7130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 err="1"/>
              <a:t>Double</a:t>
            </a:r>
            <a:r>
              <a:rPr lang="es-ES" sz="1600" b="1" dirty="0"/>
              <a:t> </a:t>
            </a:r>
            <a:r>
              <a:rPr lang="es-ES" sz="1600" b="1" dirty="0" err="1"/>
              <a:t>linked</a:t>
            </a:r>
            <a:r>
              <a:rPr lang="es-ES" sz="1600" b="1" dirty="0"/>
              <a:t> </a:t>
            </a:r>
            <a:r>
              <a:rPr lang="es-ES" sz="1600" b="1" dirty="0" err="1"/>
              <a:t>list</a:t>
            </a:r>
            <a:endParaRPr sz="1600" b="1" dirty="0"/>
          </a:p>
        </p:txBody>
      </p:sp>
    </p:spTree>
    <p:extLst>
      <p:ext uri="{BB962C8B-B14F-4D97-AF65-F5344CB8AC3E}">
        <p14:creationId xmlns:p14="http://schemas.microsoft.com/office/powerpoint/2010/main" val="14484441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7"/>
          <p:cNvSpPr txBox="1">
            <a:spLocks noGrp="1"/>
          </p:cNvSpPr>
          <p:nvPr>
            <p:ph type="title"/>
          </p:nvPr>
        </p:nvSpPr>
        <p:spPr>
          <a:xfrm>
            <a:off x="1096759" y="165310"/>
            <a:ext cx="10097714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Pasando al código – Estructuras de datos</a:t>
            </a:r>
            <a:endParaRPr lang="es-ES"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" name="Google Shape;619;p55">
            <a:extLst>
              <a:ext uri="{FF2B5EF4-FFF2-40B4-BE49-F238E27FC236}">
                <a16:creationId xmlns:a16="http://schemas.microsoft.com/office/drawing/2014/main" id="{DBD72DBF-A229-49B2-8361-5933F4EFFEFC}"/>
              </a:ext>
            </a:extLst>
          </p:cNvPr>
          <p:cNvSpPr txBox="1">
            <a:spLocks/>
          </p:cNvSpPr>
          <p:nvPr/>
        </p:nvSpPr>
        <p:spPr>
          <a:xfrm>
            <a:off x="561109" y="1029966"/>
            <a:ext cx="11187546" cy="515944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9100" indent="-342900">
              <a:lnSpc>
                <a:spcPct val="100000"/>
              </a:lnSpc>
              <a:spcBef>
                <a:spcPts val="600"/>
              </a:spcBef>
              <a:buSzPts val="2400"/>
            </a:pPr>
            <a:r>
              <a:rPr lang="es-MX" sz="2000" dirty="0"/>
              <a:t>El sistema operativo requiere </a:t>
            </a:r>
            <a:r>
              <a:rPr lang="es-MX" sz="2000" b="1" dirty="0"/>
              <a:t>estructuras de datos</a:t>
            </a:r>
            <a:r>
              <a:rPr lang="es-MX" sz="2000" dirty="0"/>
              <a:t> para rastrear los elementos claves.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MX" sz="1100" dirty="0"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457200" indent="0">
              <a:buFont typeface="Arial" panose="020B0604020202020204" pitchFamily="34" charset="0"/>
              <a:buNone/>
            </a:pPr>
            <a:endParaRPr lang="es-MX" dirty="0"/>
          </a:p>
        </p:txBody>
      </p:sp>
      <p:pic>
        <p:nvPicPr>
          <p:cNvPr id="15" name="Google Shape;634;p56">
            <a:extLst>
              <a:ext uri="{FF2B5EF4-FFF2-40B4-BE49-F238E27FC236}">
                <a16:creationId xmlns:a16="http://schemas.microsoft.com/office/drawing/2014/main" id="{9A80F222-7A14-4BC3-9899-174D02B909E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7225" y="2776573"/>
            <a:ext cx="3716875" cy="289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635;p56">
            <a:extLst>
              <a:ext uri="{FF2B5EF4-FFF2-40B4-BE49-F238E27FC236}">
                <a16:creationId xmlns:a16="http://schemas.microsoft.com/office/drawing/2014/main" id="{1F4F652E-03EE-46DC-B59C-031F811ED145}"/>
              </a:ext>
            </a:extLst>
          </p:cNvPr>
          <p:cNvSpPr txBox="1"/>
          <p:nvPr/>
        </p:nvSpPr>
        <p:spPr>
          <a:xfrm>
            <a:off x="4292375" y="2065200"/>
            <a:ext cx="7130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 err="1"/>
              <a:t>Binary</a:t>
            </a:r>
            <a:r>
              <a:rPr lang="es-ES" sz="1600" b="1" dirty="0"/>
              <a:t> </a:t>
            </a:r>
            <a:r>
              <a:rPr lang="es-ES" sz="1600" b="1" dirty="0" err="1"/>
              <a:t>search</a:t>
            </a:r>
            <a:r>
              <a:rPr lang="es-ES" sz="1600" b="1" dirty="0"/>
              <a:t> </a:t>
            </a:r>
            <a:r>
              <a:rPr lang="es-ES" sz="1600" b="1" dirty="0" err="1"/>
              <a:t>three</a:t>
            </a:r>
            <a:endParaRPr sz="1600" b="1" dirty="0"/>
          </a:p>
        </p:txBody>
      </p:sp>
      <p:pic>
        <p:nvPicPr>
          <p:cNvPr id="17" name="Google Shape;633;p56">
            <a:extLst>
              <a:ext uri="{FF2B5EF4-FFF2-40B4-BE49-F238E27FC236}">
                <a16:creationId xmlns:a16="http://schemas.microsoft.com/office/drawing/2014/main" id="{250EC1A6-8524-40BC-B090-EBB69E05814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4075" y="1990150"/>
            <a:ext cx="2572275" cy="40727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04088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7"/>
          <p:cNvSpPr txBox="1">
            <a:spLocks noGrp="1"/>
          </p:cNvSpPr>
          <p:nvPr>
            <p:ph type="title"/>
          </p:nvPr>
        </p:nvSpPr>
        <p:spPr>
          <a:xfrm>
            <a:off x="1096759" y="165310"/>
            <a:ext cx="10097714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Lista de procesos</a:t>
            </a:r>
            <a:endParaRPr lang="es-ES"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" name="Google Shape;619;p55">
            <a:extLst>
              <a:ext uri="{FF2B5EF4-FFF2-40B4-BE49-F238E27FC236}">
                <a16:creationId xmlns:a16="http://schemas.microsoft.com/office/drawing/2014/main" id="{DBD72DBF-A229-49B2-8361-5933F4EFFEFC}"/>
              </a:ext>
            </a:extLst>
          </p:cNvPr>
          <p:cNvSpPr txBox="1">
            <a:spLocks/>
          </p:cNvSpPr>
          <p:nvPr/>
        </p:nvSpPr>
        <p:spPr>
          <a:xfrm>
            <a:off x="561109" y="1029966"/>
            <a:ext cx="11187546" cy="1466334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82600" indent="-342900"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s-MX" sz="2400" dirty="0"/>
              <a:t>Procesos listos</a:t>
            </a:r>
          </a:p>
          <a:p>
            <a:pPr marL="482600" indent="-342900"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s-MX" sz="2400" dirty="0"/>
              <a:t>Procesos bloqueados</a:t>
            </a:r>
          </a:p>
          <a:p>
            <a:pPr marL="482600" indent="-342900"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s-MX" sz="2400" dirty="0"/>
              <a:t>Procesos en ejecución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MX" sz="1100" dirty="0"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457200" indent="0">
              <a:buFont typeface="Arial" panose="020B0604020202020204" pitchFamily="34" charset="0"/>
              <a:buNone/>
            </a:pPr>
            <a:endParaRPr lang="es-MX" dirty="0"/>
          </a:p>
        </p:txBody>
      </p:sp>
      <p:pic>
        <p:nvPicPr>
          <p:cNvPr id="8" name="Google Shape;649;p58">
            <a:extLst>
              <a:ext uri="{FF2B5EF4-FFF2-40B4-BE49-F238E27FC236}">
                <a16:creationId xmlns:a16="http://schemas.microsoft.com/office/drawing/2014/main" id="{14EFCF5E-167C-46FE-886E-6022F4DE093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8687" y="2556713"/>
            <a:ext cx="6076950" cy="360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2" descr="io">
            <a:extLst>
              <a:ext uri="{FF2B5EF4-FFF2-40B4-BE49-F238E27FC236}">
                <a16:creationId xmlns:a16="http://schemas.microsoft.com/office/drawing/2014/main" id="{0F4B93CB-E4D3-44D0-8A8C-B9CD03458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36" y="3344509"/>
            <a:ext cx="4604905" cy="2221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13414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7"/>
          <p:cNvSpPr txBox="1">
            <a:spLocks noGrp="1"/>
          </p:cNvSpPr>
          <p:nvPr>
            <p:ph type="title"/>
          </p:nvPr>
        </p:nvSpPr>
        <p:spPr>
          <a:xfrm>
            <a:off x="1096759" y="165310"/>
            <a:ext cx="10097714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Process Control Block (PCB)</a:t>
            </a:r>
            <a:endParaRPr lang="es-ES"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" name="Google Shape;619;p55">
            <a:extLst>
              <a:ext uri="{FF2B5EF4-FFF2-40B4-BE49-F238E27FC236}">
                <a16:creationId xmlns:a16="http://schemas.microsoft.com/office/drawing/2014/main" id="{DBD72DBF-A229-49B2-8361-5933F4EFFEFC}"/>
              </a:ext>
            </a:extLst>
          </p:cNvPr>
          <p:cNvSpPr txBox="1">
            <a:spLocks/>
          </p:cNvSpPr>
          <p:nvPr/>
        </p:nvSpPr>
        <p:spPr>
          <a:xfrm>
            <a:off x="443345" y="1029966"/>
            <a:ext cx="5430982" cy="5662724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MX" sz="2000" dirty="0"/>
              <a:t>Información acerca de cada proceso (estructura en C).</a:t>
            </a:r>
          </a:p>
          <a:p>
            <a:pPr marL="457200" indent="-323850">
              <a:lnSpc>
                <a:spcPct val="100000"/>
              </a:lnSpc>
              <a:spcBef>
                <a:spcPts val="0"/>
              </a:spcBef>
              <a:buSzPts val="1500"/>
              <a:buFont typeface="Times New Roman"/>
              <a:buChar char="○"/>
            </a:pPr>
            <a:r>
              <a:rPr lang="es-MX" sz="1800" b="1" dirty="0"/>
              <a:t>Estado de ejecución del programa</a:t>
            </a:r>
            <a:r>
              <a:rPr lang="es-MX" sz="1800" dirty="0"/>
              <a:t>: running, </a:t>
            </a:r>
            <a:r>
              <a:rPr lang="es-MX" sz="1800" dirty="0" err="1"/>
              <a:t>ready</a:t>
            </a:r>
            <a:r>
              <a:rPr lang="es-MX" sz="1800" dirty="0"/>
              <a:t>, etc.</a:t>
            </a:r>
          </a:p>
          <a:p>
            <a:pPr marL="457200" indent="-323850">
              <a:lnSpc>
                <a:spcPct val="100000"/>
              </a:lnSpc>
              <a:spcBef>
                <a:spcPts val="0"/>
              </a:spcBef>
              <a:buSzPts val="1500"/>
              <a:buFont typeface="Times New Roman"/>
              <a:buChar char="○"/>
            </a:pPr>
            <a:r>
              <a:rPr lang="es-MX" sz="1800" b="1" dirty="0" err="1"/>
              <a:t>Program</a:t>
            </a:r>
            <a:r>
              <a:rPr lang="es-MX" sz="1800" b="1" dirty="0"/>
              <a:t> </a:t>
            </a:r>
            <a:r>
              <a:rPr lang="es-MX" sz="1800" b="1" dirty="0" err="1"/>
              <a:t>counter</a:t>
            </a:r>
            <a:r>
              <a:rPr lang="es-MX" sz="1800" dirty="0"/>
              <a:t>: Localización de la próxima instrucción a ejecutar.</a:t>
            </a:r>
          </a:p>
          <a:p>
            <a:pPr marL="457200" indent="-323850">
              <a:lnSpc>
                <a:spcPct val="100000"/>
              </a:lnSpc>
              <a:spcBef>
                <a:spcPts val="0"/>
              </a:spcBef>
              <a:buSzPts val="1500"/>
              <a:buFont typeface="Times New Roman"/>
              <a:buChar char="○"/>
            </a:pPr>
            <a:r>
              <a:rPr lang="es-MX" sz="1800" b="1" dirty="0"/>
              <a:t>Registros de la CPU</a:t>
            </a:r>
            <a:r>
              <a:rPr lang="es-MX" sz="1800" dirty="0"/>
              <a:t>: Contenido de todos registros asociados al proceso.</a:t>
            </a:r>
          </a:p>
          <a:p>
            <a:pPr marL="457200" indent="-323850">
              <a:lnSpc>
                <a:spcPct val="100000"/>
              </a:lnSpc>
              <a:spcBef>
                <a:spcPts val="0"/>
              </a:spcBef>
              <a:buSzPts val="1500"/>
              <a:buFont typeface="Times New Roman"/>
              <a:buChar char="○"/>
            </a:pPr>
            <a:r>
              <a:rPr lang="es-MX" sz="1800" b="1" dirty="0"/>
              <a:t>Información de </a:t>
            </a:r>
            <a:r>
              <a:rPr lang="es-MX" sz="1800" b="1" dirty="0" err="1"/>
              <a:t>scheduling</a:t>
            </a:r>
            <a:r>
              <a:rPr lang="es-MX" sz="1800" b="1" dirty="0"/>
              <a:t> de la CPU</a:t>
            </a:r>
            <a:r>
              <a:rPr lang="es-MX" sz="1800" dirty="0"/>
              <a:t>: Prioridades, etc.</a:t>
            </a:r>
          </a:p>
          <a:p>
            <a:pPr marL="457200" indent="-323850">
              <a:lnSpc>
                <a:spcPct val="100000"/>
              </a:lnSpc>
              <a:spcBef>
                <a:spcPts val="0"/>
              </a:spcBef>
              <a:buSzPts val="1500"/>
              <a:buFont typeface="Times New Roman"/>
              <a:buChar char="○"/>
            </a:pPr>
            <a:r>
              <a:rPr lang="es-MX" sz="1800" b="1" dirty="0"/>
              <a:t>Información de manejo de memoria</a:t>
            </a:r>
            <a:r>
              <a:rPr lang="es-MX" sz="1800" dirty="0"/>
              <a:t>: Memoria asignada por el proceso.</a:t>
            </a:r>
          </a:p>
          <a:p>
            <a:pPr marL="457200" indent="-323850">
              <a:lnSpc>
                <a:spcPct val="100000"/>
              </a:lnSpc>
              <a:spcBef>
                <a:spcPts val="0"/>
              </a:spcBef>
              <a:buSzPts val="1500"/>
              <a:buFont typeface="Times New Roman"/>
              <a:buChar char="○"/>
            </a:pPr>
            <a:r>
              <a:rPr lang="es-MX" sz="1800" b="1" dirty="0"/>
              <a:t>Información (</a:t>
            </a:r>
            <a:r>
              <a:rPr lang="es-MX" sz="1800" b="1" dirty="0" err="1"/>
              <a:t>Accounting</a:t>
            </a:r>
            <a:r>
              <a:rPr lang="es-MX" sz="1800" b="1" dirty="0"/>
              <a:t> </a:t>
            </a:r>
            <a:r>
              <a:rPr lang="es-MX" sz="1800" b="1" dirty="0" err="1"/>
              <a:t>information</a:t>
            </a:r>
            <a:r>
              <a:rPr lang="es-MX" sz="1800" b="1" dirty="0"/>
              <a:t>)</a:t>
            </a:r>
            <a:r>
              <a:rPr lang="es-MX" sz="1800" dirty="0"/>
              <a:t>: CPU usada, tiempo gastado desde el inicio, limites de tiempo.</a:t>
            </a:r>
          </a:p>
          <a:p>
            <a:pPr marL="457200" indent="-323850">
              <a:lnSpc>
                <a:spcPct val="100000"/>
              </a:lnSpc>
              <a:spcBef>
                <a:spcPts val="0"/>
              </a:spcBef>
              <a:buSzPts val="1500"/>
              <a:buFont typeface="Times New Roman"/>
              <a:buChar char="○"/>
            </a:pPr>
            <a:r>
              <a:rPr lang="es-MX" sz="1800" b="1" dirty="0"/>
              <a:t>Información de estado de I/O</a:t>
            </a:r>
            <a:r>
              <a:rPr lang="es-MX" sz="1800" dirty="0"/>
              <a:t>: Dispositivos I/O asociados al proceso, lista de archivos abiertos.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457200" indent="0">
              <a:buFont typeface="Arial" panose="020B0604020202020204" pitchFamily="34" charset="0"/>
              <a:buNone/>
            </a:pPr>
            <a:endParaRPr lang="es-MX" dirty="0"/>
          </a:p>
        </p:txBody>
      </p:sp>
      <p:pic>
        <p:nvPicPr>
          <p:cNvPr id="6146" name="Picture 2" descr="PCB">
            <a:extLst>
              <a:ext uri="{FF2B5EF4-FFF2-40B4-BE49-F238E27FC236}">
                <a16:creationId xmlns:a16="http://schemas.microsoft.com/office/drawing/2014/main" id="{855FD261-79CD-41FA-A9F5-14416E453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9128" y="1637867"/>
            <a:ext cx="3320327" cy="4518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81317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7"/>
          <p:cNvSpPr txBox="1">
            <a:spLocks noGrp="1"/>
          </p:cNvSpPr>
          <p:nvPr>
            <p:ph type="title"/>
          </p:nvPr>
        </p:nvSpPr>
        <p:spPr>
          <a:xfrm>
            <a:off x="1096759" y="165310"/>
            <a:ext cx="10097714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Process Control Block (PCB)</a:t>
            </a:r>
            <a:endParaRPr lang="es-ES"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" name="Google Shape;664;p60">
            <a:extLst>
              <a:ext uri="{FF2B5EF4-FFF2-40B4-BE49-F238E27FC236}">
                <a16:creationId xmlns:a16="http://schemas.microsoft.com/office/drawing/2014/main" id="{07C971BE-81A6-4E07-8A62-F86FC5B0E208}"/>
              </a:ext>
            </a:extLst>
          </p:cNvPr>
          <p:cNvSpPr txBox="1"/>
          <p:nvPr/>
        </p:nvSpPr>
        <p:spPr>
          <a:xfrm>
            <a:off x="4040569" y="3734850"/>
            <a:ext cx="7760400" cy="19086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pid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t_pid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  /* process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identifier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*/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  /*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of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process */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time_slice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/*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scheduling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information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*/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task_struct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parent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;/*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process’s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parent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*/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list_head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children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/*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process’s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children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*/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files_struct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*files;/*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of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open files */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mm_struct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*mm;   /*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address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space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of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process */</a:t>
            </a:r>
            <a:endParaRPr dirty="0"/>
          </a:p>
        </p:txBody>
      </p:sp>
      <p:pic>
        <p:nvPicPr>
          <p:cNvPr id="6" name="Google Shape;665;p60">
            <a:extLst>
              <a:ext uri="{FF2B5EF4-FFF2-40B4-BE49-F238E27FC236}">
                <a16:creationId xmlns:a16="http://schemas.microsoft.com/office/drawing/2014/main" id="{196BE5E5-F89F-4F60-B844-58BA036C66A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8443" y="1387650"/>
            <a:ext cx="6430137" cy="22176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666;p60">
            <a:extLst>
              <a:ext uri="{FF2B5EF4-FFF2-40B4-BE49-F238E27FC236}">
                <a16:creationId xmlns:a16="http://schemas.microsoft.com/office/drawing/2014/main" id="{A81218B9-B138-400D-960D-BBD23A4D93F0}"/>
              </a:ext>
            </a:extLst>
          </p:cNvPr>
          <p:cNvSpPr txBox="1"/>
          <p:nvPr/>
        </p:nvSpPr>
        <p:spPr>
          <a:xfrm>
            <a:off x="6096000" y="5773050"/>
            <a:ext cx="384544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 err="1">
                <a:latin typeface="Roboto"/>
                <a:ea typeface="Roboto"/>
                <a:cs typeface="Roboto"/>
                <a:sym typeface="Roboto"/>
              </a:rPr>
              <a:t>The</a:t>
            </a:r>
            <a:r>
              <a:rPr lang="es-ES" b="1" dirty="0">
                <a:latin typeface="Roboto"/>
                <a:ea typeface="Roboto"/>
                <a:cs typeface="Roboto"/>
                <a:sym typeface="Roboto"/>
              </a:rPr>
              <a:t> xv6 </a:t>
            </a:r>
            <a:r>
              <a:rPr lang="es-ES" b="1" dirty="0" err="1">
                <a:latin typeface="Roboto"/>
                <a:ea typeface="Roboto"/>
                <a:cs typeface="Roboto"/>
                <a:sym typeface="Roboto"/>
              </a:rPr>
              <a:t>Proc</a:t>
            </a:r>
            <a:r>
              <a:rPr lang="es-ES" b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b="1" dirty="0" err="1">
                <a:latin typeface="Roboto"/>
                <a:ea typeface="Roboto"/>
                <a:cs typeface="Roboto"/>
                <a:sym typeface="Roboto"/>
              </a:rPr>
              <a:t>Structure</a:t>
            </a:r>
            <a:r>
              <a:rPr lang="es-ES" dirty="0">
                <a:latin typeface="Roboto"/>
                <a:ea typeface="Roboto"/>
                <a:cs typeface="Roboto"/>
                <a:sym typeface="Roboto"/>
              </a:rPr>
              <a:t>  (</a:t>
            </a:r>
            <a:r>
              <a:rPr lang="es-ES" u="sng" dirty="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link</a:t>
            </a:r>
            <a:r>
              <a:rPr lang="es-ES" dirty="0">
                <a:latin typeface="Roboto"/>
                <a:ea typeface="Roboto"/>
                <a:cs typeface="Roboto"/>
                <a:sym typeface="Roboto"/>
              </a:rPr>
              <a:t>) 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" name="Picture 2" descr="PCB">
            <a:extLst>
              <a:ext uri="{FF2B5EF4-FFF2-40B4-BE49-F238E27FC236}">
                <a16:creationId xmlns:a16="http://schemas.microsoft.com/office/drawing/2014/main" id="{0B83E267-5231-469D-A8A1-BE56EFEFD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88" y="1485618"/>
            <a:ext cx="3320327" cy="4518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12104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7"/>
          <p:cNvSpPr txBox="1">
            <a:spLocks noGrp="1"/>
          </p:cNvSpPr>
          <p:nvPr>
            <p:ph type="title"/>
          </p:nvPr>
        </p:nvSpPr>
        <p:spPr>
          <a:xfrm>
            <a:off x="1096759" y="165310"/>
            <a:ext cx="10097714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Process Control Block (PCB)</a:t>
            </a:r>
            <a:endParaRPr lang="es-ES"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" name="Google Shape;664;p60">
            <a:extLst>
              <a:ext uri="{FF2B5EF4-FFF2-40B4-BE49-F238E27FC236}">
                <a16:creationId xmlns:a16="http://schemas.microsoft.com/office/drawing/2014/main" id="{07C971BE-81A6-4E07-8A62-F86FC5B0E208}"/>
              </a:ext>
            </a:extLst>
          </p:cNvPr>
          <p:cNvSpPr txBox="1"/>
          <p:nvPr/>
        </p:nvSpPr>
        <p:spPr>
          <a:xfrm>
            <a:off x="4040569" y="3734850"/>
            <a:ext cx="7760400" cy="19086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pid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t_pid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  /* process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identifier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*/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  /*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of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process */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time_slice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/*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scheduling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information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*/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task_struct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parent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;/*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process’s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parent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*/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list_head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children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/*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process’s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children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*/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files_struct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*files;/*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of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open files */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mm_struct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*mm;   /*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address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space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of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process */</a:t>
            </a:r>
            <a:endParaRPr dirty="0"/>
          </a:p>
        </p:txBody>
      </p:sp>
      <p:pic>
        <p:nvPicPr>
          <p:cNvPr id="6" name="Google Shape;665;p60">
            <a:extLst>
              <a:ext uri="{FF2B5EF4-FFF2-40B4-BE49-F238E27FC236}">
                <a16:creationId xmlns:a16="http://schemas.microsoft.com/office/drawing/2014/main" id="{196BE5E5-F89F-4F60-B844-58BA036C66A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8443" y="1387650"/>
            <a:ext cx="6430137" cy="22176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666;p60">
            <a:extLst>
              <a:ext uri="{FF2B5EF4-FFF2-40B4-BE49-F238E27FC236}">
                <a16:creationId xmlns:a16="http://schemas.microsoft.com/office/drawing/2014/main" id="{A81218B9-B138-400D-960D-BBD23A4D93F0}"/>
              </a:ext>
            </a:extLst>
          </p:cNvPr>
          <p:cNvSpPr txBox="1"/>
          <p:nvPr/>
        </p:nvSpPr>
        <p:spPr>
          <a:xfrm>
            <a:off x="6096000" y="5773050"/>
            <a:ext cx="384544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 err="1">
                <a:latin typeface="Roboto"/>
                <a:ea typeface="Roboto"/>
                <a:cs typeface="Roboto"/>
                <a:sym typeface="Roboto"/>
              </a:rPr>
              <a:t>The</a:t>
            </a:r>
            <a:r>
              <a:rPr lang="es-ES" b="1" dirty="0">
                <a:latin typeface="Roboto"/>
                <a:ea typeface="Roboto"/>
                <a:cs typeface="Roboto"/>
                <a:sym typeface="Roboto"/>
              </a:rPr>
              <a:t> xv6 </a:t>
            </a:r>
            <a:r>
              <a:rPr lang="es-ES" b="1" dirty="0" err="1">
                <a:latin typeface="Roboto"/>
                <a:ea typeface="Roboto"/>
                <a:cs typeface="Roboto"/>
                <a:sym typeface="Roboto"/>
              </a:rPr>
              <a:t>Proc</a:t>
            </a:r>
            <a:r>
              <a:rPr lang="es-ES" b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b="1" dirty="0" err="1">
                <a:latin typeface="Roboto"/>
                <a:ea typeface="Roboto"/>
                <a:cs typeface="Roboto"/>
                <a:sym typeface="Roboto"/>
              </a:rPr>
              <a:t>Structure</a:t>
            </a:r>
            <a:r>
              <a:rPr lang="es-ES" dirty="0">
                <a:latin typeface="Roboto"/>
                <a:ea typeface="Roboto"/>
                <a:cs typeface="Roboto"/>
                <a:sym typeface="Roboto"/>
              </a:rPr>
              <a:t>  (</a:t>
            </a:r>
            <a:r>
              <a:rPr lang="es-ES" u="sng" dirty="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link</a:t>
            </a:r>
            <a:r>
              <a:rPr lang="es-ES" dirty="0">
                <a:latin typeface="Roboto"/>
                <a:ea typeface="Roboto"/>
                <a:cs typeface="Roboto"/>
                <a:sym typeface="Roboto"/>
              </a:rPr>
              <a:t>) 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" name="Picture 2" descr="PCB">
            <a:extLst>
              <a:ext uri="{FF2B5EF4-FFF2-40B4-BE49-F238E27FC236}">
                <a16:creationId xmlns:a16="http://schemas.microsoft.com/office/drawing/2014/main" id="{0B83E267-5231-469D-A8A1-BE56EFEFD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88" y="1485618"/>
            <a:ext cx="3320327" cy="4518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04507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7"/>
          <p:cNvSpPr txBox="1">
            <a:spLocks noGrp="1"/>
          </p:cNvSpPr>
          <p:nvPr>
            <p:ph type="title"/>
          </p:nvPr>
        </p:nvSpPr>
        <p:spPr>
          <a:xfrm>
            <a:off x="1047143" y="314750"/>
            <a:ext cx="10097714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Process Control Block (PCB)</a:t>
            </a:r>
            <a:endParaRPr lang="es-ES"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" name="Google Shape;673;p61">
            <a:extLst>
              <a:ext uri="{FF2B5EF4-FFF2-40B4-BE49-F238E27FC236}">
                <a16:creationId xmlns:a16="http://schemas.microsoft.com/office/drawing/2014/main" id="{378D5D9D-ECD9-4F60-9E61-C6442DA7B4A1}"/>
              </a:ext>
            </a:extLst>
          </p:cNvPr>
          <p:cNvSpPr txBox="1"/>
          <p:nvPr/>
        </p:nvSpPr>
        <p:spPr>
          <a:xfrm>
            <a:off x="1371225" y="1943500"/>
            <a:ext cx="10249800" cy="4125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//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the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registers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xv6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will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save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and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restore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//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to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stop and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subsequently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restart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a process 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context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eip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esp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ebx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ecx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edx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esi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edi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ebp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}; 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//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the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different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states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a process can be in 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enum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proc_state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{ UNUSED, EMBRYO, SLEEPING, 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                RUNNABLE, RUNNING, ZOMBIE };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" name="Google Shape;674;p61">
            <a:extLst>
              <a:ext uri="{FF2B5EF4-FFF2-40B4-BE49-F238E27FC236}">
                <a16:creationId xmlns:a16="http://schemas.microsoft.com/office/drawing/2014/main" id="{79EA56F2-0238-4EE4-B405-2E84FC368B28}"/>
              </a:ext>
            </a:extLst>
          </p:cNvPr>
          <p:cNvSpPr txBox="1"/>
          <p:nvPr/>
        </p:nvSpPr>
        <p:spPr>
          <a:xfrm>
            <a:off x="4433455" y="6102950"/>
            <a:ext cx="3754683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 err="1">
                <a:latin typeface="Roboto"/>
                <a:ea typeface="Roboto"/>
                <a:cs typeface="Roboto"/>
                <a:sym typeface="Roboto"/>
              </a:rPr>
              <a:t>The</a:t>
            </a:r>
            <a:r>
              <a:rPr lang="es-ES" b="1" dirty="0">
                <a:latin typeface="Roboto"/>
                <a:ea typeface="Roboto"/>
                <a:cs typeface="Roboto"/>
                <a:sym typeface="Roboto"/>
              </a:rPr>
              <a:t> xv6 </a:t>
            </a:r>
            <a:r>
              <a:rPr lang="es-ES" b="1" dirty="0" err="1">
                <a:latin typeface="Roboto"/>
                <a:ea typeface="Roboto"/>
                <a:cs typeface="Roboto"/>
                <a:sym typeface="Roboto"/>
              </a:rPr>
              <a:t>Proc</a:t>
            </a:r>
            <a:r>
              <a:rPr lang="es-ES" b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b="1" dirty="0" err="1">
                <a:latin typeface="Roboto"/>
                <a:ea typeface="Roboto"/>
                <a:cs typeface="Roboto"/>
                <a:sym typeface="Roboto"/>
              </a:rPr>
              <a:t>Structure</a:t>
            </a:r>
            <a:r>
              <a:rPr lang="es-ES" dirty="0">
                <a:latin typeface="Roboto"/>
                <a:ea typeface="Roboto"/>
                <a:cs typeface="Roboto"/>
                <a:sym typeface="Roboto"/>
              </a:rPr>
              <a:t>  (</a:t>
            </a:r>
            <a:r>
              <a:rPr lang="es-ES" u="sng" dirty="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link</a:t>
            </a:r>
            <a:r>
              <a:rPr lang="es-ES" dirty="0">
                <a:latin typeface="Roboto"/>
                <a:ea typeface="Roboto"/>
                <a:cs typeface="Roboto"/>
                <a:sym typeface="Roboto"/>
              </a:rPr>
              <a:t>) 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2289554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7"/>
          <p:cNvSpPr txBox="1">
            <a:spLocks noGrp="1"/>
          </p:cNvSpPr>
          <p:nvPr>
            <p:ph type="title"/>
          </p:nvPr>
        </p:nvSpPr>
        <p:spPr>
          <a:xfrm>
            <a:off x="1096759" y="165310"/>
            <a:ext cx="10097714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Process Control Block (PCB)</a:t>
            </a:r>
            <a:endParaRPr lang="es-ES"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0" name="Google Shape;674;p61">
            <a:extLst>
              <a:ext uri="{FF2B5EF4-FFF2-40B4-BE49-F238E27FC236}">
                <a16:creationId xmlns:a16="http://schemas.microsoft.com/office/drawing/2014/main" id="{79EA56F2-0238-4EE4-B405-2E84FC368B28}"/>
              </a:ext>
            </a:extLst>
          </p:cNvPr>
          <p:cNvSpPr txBox="1"/>
          <p:nvPr/>
        </p:nvSpPr>
        <p:spPr>
          <a:xfrm>
            <a:off x="4433455" y="6102950"/>
            <a:ext cx="3754683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 err="1">
                <a:latin typeface="Roboto"/>
                <a:ea typeface="Roboto"/>
                <a:cs typeface="Roboto"/>
                <a:sym typeface="Roboto"/>
              </a:rPr>
              <a:t>The</a:t>
            </a:r>
            <a:r>
              <a:rPr lang="es-ES" b="1" dirty="0">
                <a:latin typeface="Roboto"/>
                <a:ea typeface="Roboto"/>
                <a:cs typeface="Roboto"/>
                <a:sym typeface="Roboto"/>
              </a:rPr>
              <a:t> xv6 </a:t>
            </a:r>
            <a:r>
              <a:rPr lang="es-ES" b="1" dirty="0" err="1">
                <a:latin typeface="Roboto"/>
                <a:ea typeface="Roboto"/>
                <a:cs typeface="Roboto"/>
                <a:sym typeface="Roboto"/>
              </a:rPr>
              <a:t>Proc</a:t>
            </a:r>
            <a:r>
              <a:rPr lang="es-ES" b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b="1" dirty="0" err="1">
                <a:latin typeface="Roboto"/>
                <a:ea typeface="Roboto"/>
                <a:cs typeface="Roboto"/>
                <a:sym typeface="Roboto"/>
              </a:rPr>
              <a:t>Structure</a:t>
            </a:r>
            <a:r>
              <a:rPr lang="es-ES" dirty="0">
                <a:latin typeface="Roboto"/>
                <a:ea typeface="Roboto"/>
                <a:cs typeface="Roboto"/>
                <a:sym typeface="Roboto"/>
              </a:rPr>
              <a:t>  (</a:t>
            </a:r>
            <a:r>
              <a:rPr lang="es-ES" u="sng" dirty="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link</a:t>
            </a:r>
            <a:r>
              <a:rPr lang="es-ES" dirty="0">
                <a:latin typeface="Roboto"/>
                <a:ea typeface="Roboto"/>
                <a:cs typeface="Roboto"/>
                <a:sym typeface="Roboto"/>
              </a:rPr>
              <a:t>) 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" name="Google Shape;681;p62">
            <a:extLst>
              <a:ext uri="{FF2B5EF4-FFF2-40B4-BE49-F238E27FC236}">
                <a16:creationId xmlns:a16="http://schemas.microsoft.com/office/drawing/2014/main" id="{C6177FCA-5F43-4C86-9607-CFF986E59EA8}"/>
              </a:ext>
            </a:extLst>
          </p:cNvPr>
          <p:cNvSpPr txBox="1"/>
          <p:nvPr/>
        </p:nvSpPr>
        <p:spPr>
          <a:xfrm>
            <a:off x="1415700" y="1300080"/>
            <a:ext cx="10249800" cy="46176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//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the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information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xv6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tracks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about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each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process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//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including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its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register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context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and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proc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mem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;                       // Start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of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process memory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uint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sz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;                         //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of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process memory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kstack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;                    //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Bottom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of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kernel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stack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                                 //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process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enum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proc_state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;           // Process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pid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;                         // Process ID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proc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parent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;             //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Parent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process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*chan;                      //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!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zero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, sleeping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chan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killed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;                      //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!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zero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, has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been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killed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file *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ofile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[NOFILE];      // Open files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inode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cwd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;               //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Current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directory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context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context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;          //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Switch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here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to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run process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trapframe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tf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;            //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Trap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frame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the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                                  //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current</a:t>
            </a: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latin typeface="Courier New"/>
                <a:ea typeface="Courier New"/>
                <a:cs typeface="Courier New"/>
                <a:sym typeface="Courier New"/>
              </a:rPr>
              <a:t>interrupt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6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291886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9349568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Modelo Linux</a:t>
            </a:r>
            <a:endParaRPr lang="es-ES"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5" name="Google Shape;612;p54">
            <a:extLst>
              <a:ext uri="{FF2B5EF4-FFF2-40B4-BE49-F238E27FC236}">
                <a16:creationId xmlns:a16="http://schemas.microsoft.com/office/drawing/2014/main" id="{E46D3F2B-AF8A-4F50-9745-CA1E40C7911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9836" y="1045538"/>
            <a:ext cx="6432150" cy="482214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613;p54">
            <a:extLst>
              <a:ext uri="{FF2B5EF4-FFF2-40B4-BE49-F238E27FC236}">
                <a16:creationId xmlns:a16="http://schemas.microsoft.com/office/drawing/2014/main" id="{8DEC5FE3-CB87-4989-85CD-870B12F5522D}"/>
              </a:ext>
            </a:extLst>
          </p:cNvPr>
          <p:cNvSpPr txBox="1"/>
          <p:nvPr/>
        </p:nvSpPr>
        <p:spPr>
          <a:xfrm>
            <a:off x="3248386" y="5867687"/>
            <a:ext cx="5778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</a:rPr>
              <a:t>Imagen realizada por Adrián Martínez </a:t>
            </a:r>
            <a:endParaRPr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7261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2035</Words>
  <Application>Microsoft Office PowerPoint</Application>
  <PresentationFormat>Panorámica</PresentationFormat>
  <Paragraphs>289</Paragraphs>
  <Slides>28</Slides>
  <Notes>27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7" baseType="lpstr">
      <vt:lpstr>Arial</vt:lpstr>
      <vt:lpstr>Calibri</vt:lpstr>
      <vt:lpstr>Calibri Light</vt:lpstr>
      <vt:lpstr>Consolas</vt:lpstr>
      <vt:lpstr>Courier New</vt:lpstr>
      <vt:lpstr>Roboto</vt:lpstr>
      <vt:lpstr>Roboto Slab</vt:lpstr>
      <vt:lpstr>Times New Roman</vt:lpstr>
      <vt:lpstr>Tema de Office</vt:lpstr>
      <vt:lpstr>Apuntes clase 3</vt:lpstr>
      <vt:lpstr>Agenda</vt:lpstr>
      <vt:lpstr>Instruction fecth</vt:lpstr>
      <vt:lpstr>Contraste</vt:lpstr>
      <vt:lpstr>Virtualización</vt:lpstr>
      <vt:lpstr>Contextualización</vt:lpstr>
      <vt:lpstr>Programa .vs. Proceso</vt:lpstr>
      <vt:lpstr>Programa. vs. proceso</vt:lpstr>
      <vt:lpstr>Proceso: Abstracción</vt:lpstr>
      <vt:lpstr>Virtualización</vt:lpstr>
      <vt:lpstr>Carga: De un programa a un proceso</vt:lpstr>
      <vt:lpstr>Volvamos a la pregunta</vt:lpstr>
      <vt:lpstr>Elementos de los sistemas operativos</vt:lpstr>
      <vt:lpstr>Como implementar la Abstracción</vt:lpstr>
      <vt:lpstr>Como implementar la Abstracción</vt:lpstr>
      <vt:lpstr>Modelo de tres estados</vt:lpstr>
      <vt:lpstr>Modelo de tres estados</vt:lpstr>
      <vt:lpstr>Estados de un proceso – Ejemplo 1</vt:lpstr>
      <vt:lpstr>Estados de un proceso – Ejemplo 2</vt:lpstr>
      <vt:lpstr>Pasando al código – Estructuras de datos</vt:lpstr>
      <vt:lpstr>Pasando al código – Estructuras de datos</vt:lpstr>
      <vt:lpstr>Lista de procesos</vt:lpstr>
      <vt:lpstr>Process Control Block (PCB)</vt:lpstr>
      <vt:lpstr>Process Control Block (PCB)</vt:lpstr>
      <vt:lpstr>Process Control Block (PCB)</vt:lpstr>
      <vt:lpstr>Process Control Block (PCB)</vt:lpstr>
      <vt:lpstr>Process Control Block (PCB)</vt:lpstr>
      <vt:lpstr>Modelo Linux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Apuntes clase 2</dc:title>
  <dc:creator>Henry Arcila</dc:creator>
  <cp:lastModifiedBy>HENRY ALBERTO ARCILA RAMIREZ</cp:lastModifiedBy>
  <cp:revision>5</cp:revision>
  <dcterms:created xsi:type="dcterms:W3CDTF">2026-02-17T03:53:21Z</dcterms:created>
  <dcterms:modified xsi:type="dcterms:W3CDTF">2026-08-11T03:55:46Z</dcterms:modified>
</cp:coreProperties>
</file>