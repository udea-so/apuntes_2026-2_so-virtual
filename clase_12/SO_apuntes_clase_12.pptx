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6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344" r:id="rId14"/>
    <p:sldId id="345" r:id="rId15"/>
    <p:sldId id="346" r:id="rId16"/>
    <p:sldId id="347" r:id="rId17"/>
    <p:sldId id="349" r:id="rId18"/>
    <p:sldId id="350" r:id="rId19"/>
    <p:sldId id="351" r:id="rId20"/>
    <p:sldId id="352" r:id="rId21"/>
    <p:sldId id="353" r:id="rId22"/>
    <p:sldId id="354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9" r:id="rId36"/>
    <p:sldId id="370" r:id="rId37"/>
    <p:sldId id="371" r:id="rId38"/>
    <p:sldId id="372" r:id="rId39"/>
    <p:sldId id="373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5" r:id="rId50"/>
    <p:sldId id="386" r:id="rId51"/>
    <p:sldId id="387" r:id="rId52"/>
    <p:sldId id="388" r:id="rId53"/>
    <p:sldId id="389" r:id="rId54"/>
    <p:sldId id="391" r:id="rId55"/>
    <p:sldId id="392" r:id="rId56"/>
    <p:sldId id="393" r:id="rId57"/>
    <p:sldId id="394" r:id="rId58"/>
    <p:sldId id="395" r:id="rId59"/>
    <p:sldId id="396" r:id="rId60"/>
  </p:sldIdLst>
  <p:sldSz cx="12192000" cy="6858000"/>
  <p:notesSz cx="6858000" cy="9144000"/>
  <p:embeddedFontLst>
    <p:embeddedFont>
      <p:font typeface="Calibri" panose="020F0502020204030204" pitchFamily="34" charset="0"/>
      <p:regular r:id="rId62"/>
      <p:bold r:id="rId63"/>
      <p:italic r:id="rId64"/>
      <p:boldItalic r:id="rId65"/>
    </p:embeddedFont>
    <p:embeddedFont>
      <p:font typeface="Calibri Light" panose="020F0302020204030204" pitchFamily="34" charset="0"/>
      <p:regular r:id="rId66"/>
      <p:italic r:id="rId67"/>
    </p:embeddedFont>
    <p:embeddedFont>
      <p:font typeface="Consolas" panose="020B0609020204030204" pitchFamily="49" charset="0"/>
      <p:regular r:id="rId68"/>
      <p:bold r:id="rId69"/>
      <p:italic r:id="rId70"/>
      <p:boldItalic r:id="rId71"/>
    </p:embeddedFont>
    <p:embeddedFont>
      <p:font typeface="Roboto" panose="02000000000000000000" pitchFamily="2" charset="0"/>
      <p:regular r:id="rId72"/>
      <p:bold r:id="rId73"/>
      <p:italic r:id="rId74"/>
      <p:boldItalic r:id="rId75"/>
    </p:embeddedFont>
    <p:embeddedFont>
      <p:font typeface="Roboto Slab" panose="020B0604020202020204" charset="0"/>
      <p:regular r:id="rId76"/>
      <p:bold r:id="rId77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3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c6a2e83c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c6a2e83c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0c6a2e83c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0c6a2e83c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0c6a2e83cc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0c6a2e83cc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0f71ec7b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0f71ec7bc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13212c29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13212c29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13212c29b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13212c29b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13212c29bb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13212c29bb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15265ae9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15265ae9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15265ae9e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15265ae9e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15265ae9e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15265ae9e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48dd72d00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48dd72d00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5265ae9e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15265ae9e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148dd72d00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148dd72d00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3e980eb33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g13e980eb33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15265ae9e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g115265ae9e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15265ae9e1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115265ae9e1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148dd72d00_1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g1148dd72d00_1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148dd72d00_1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g1148dd72d00_1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13212c29bb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13212c29bb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148dd72d00_1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148dd72d00_1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148dd72d00_1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148dd72d00_1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148dd72d00_1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148dd72d00_1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15265ae9e1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115265ae9e1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1545e916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1545e916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11545e9165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11545e9165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148dd72d00_1_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148dd72d00_1_6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148dd72d00_1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148dd72d00_1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11545e9165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11545e9165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1148dd72d00_1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1148dd72d00_1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3" name="Google Shape;813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3212c29bb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0" name="Google Shape;820;g113212c29bb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13212c29bb_0_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0" name="Google Shape;850;g113212c29bb_0_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11545e9165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4" name="Google Shape;864;g11545e9165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11545e91654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3" name="Google Shape;873;g11545e9165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14975471e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14975471e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114975471e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114975471e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4975471e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4975471e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4975471eb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4975471eb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14975471eb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114975471eb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114975471eb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114975471eb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114975471eb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114975471eb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115c7f9ec6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g115c7f9ec6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114975471eb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g114975471eb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14975471eb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9" name="Google Shape;1189;g114975471eb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115c7f9ec68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g115c7f9ec68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14ae551f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g114ae551f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115c7f9ec6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115c7f9ec6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114ae551f2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114ae551f2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114ae551f2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14ae551f2c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904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2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p3q5zWCw8J4&amp;t=3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niruddha-Tapas/Operating-Systems-Notes/blob/master/1-Overview.md" TargetMode="External"/><Relationship Id="rId13" Type="http://schemas.openxmlformats.org/officeDocument/2006/relationships/hyperlink" Target="https://courses.cs.duke.edu/spring19/compsci590.1/slides/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web.eecs.utk.edu/~mbeck/classes/cs560/560/oldtests/t2/2003/Answers.html" TargetMode="External"/><Relationship Id="rId12" Type="http://schemas.openxmlformats.org/officeDocument/2006/relationships/hyperlink" Target="http://www.it.uu.se/education/course/homepage/os/vt18/module-4/simple-threads/" TargetMode="External"/><Relationship Id="rId2" Type="http://schemas.openxmlformats.org/officeDocument/2006/relationships/notesSlide" Target="../notesSlides/notesSlide58.xml"/><Relationship Id="rId16" Type="http://schemas.openxmlformats.org/officeDocument/2006/relationships/hyperlink" Target="https://www.scs.stanford.edu/22wi-cs212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pplied-programming.github.io/Operating-Systems-Notes/" TargetMode="External"/><Relationship Id="rId11" Type="http://schemas.openxmlformats.org/officeDocument/2006/relationships/hyperlink" Target="https://www.technologyuk.net/computing/computer-software/operating-systems/operating-system-utilities.shtml" TargetMode="External"/><Relationship Id="rId5" Type="http://schemas.openxmlformats.org/officeDocument/2006/relationships/hyperlink" Target="https://www.os-book.com/OS10/index.html" TargetMode="External"/><Relationship Id="rId15" Type="http://schemas.openxmlformats.org/officeDocument/2006/relationships/hyperlink" Target="http://pages.cs.wisc.edu/~bart/537/lecturenotes/titlepage.html" TargetMode="External"/><Relationship Id="rId10" Type="http://schemas.openxmlformats.org/officeDocument/2006/relationships/hyperlink" Target="https://myaut.github.io/dtrace-stap-book/index.html" TargetMode="External"/><Relationship Id="rId4" Type="http://schemas.openxmlformats.org/officeDocument/2006/relationships/hyperlink" Target="https://pages.cs.wisc.edu/~remzi/OSTEP/vm-beyondphys.pdf" TargetMode="External"/><Relationship Id="rId9" Type="http://schemas.openxmlformats.org/officeDocument/2006/relationships/hyperlink" Target="https://myaut.github.io/dtrace-stap-book/kernel/proc.html" TargetMode="External"/><Relationship Id="rId14" Type="http://schemas.openxmlformats.org/officeDocument/2006/relationships/hyperlink" Target="http://csl.snu.ac.kr/courses/4190.307/2020-1/" TargetMode="Externa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eecs.umich.edu/~akamil/teaching/sp04/" TargetMode="External"/><Relationship Id="rId3" Type="http://schemas.openxmlformats.org/officeDocument/2006/relationships/hyperlink" Target="https://flint.cs.yale.edu/cs421/papers/x86-asm/asm.html" TargetMode="External"/><Relationship Id="rId7" Type="http://schemas.openxmlformats.org/officeDocument/2006/relationships/hyperlink" Target="http://www.cs.cmu.edu/~213/" TargetMode="External"/><Relationship Id="rId12" Type="http://schemas.openxmlformats.org/officeDocument/2006/relationships/hyperlink" Target="https://oslab.kaist.ac.kr/ee488-fall-2020/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sapp.cs.cmu.edu/" TargetMode="External"/><Relationship Id="rId11" Type="http://schemas.openxmlformats.org/officeDocument/2006/relationships/hyperlink" Target="https://oslab.kaist.ac.kr/courseware/" TargetMode="External"/><Relationship Id="rId5" Type="http://schemas.openxmlformats.org/officeDocument/2006/relationships/hyperlink" Target="https://applied-programming.github.io/Operating-Systems-Notes/5-Memory-Management/" TargetMode="External"/><Relationship Id="rId10" Type="http://schemas.openxmlformats.org/officeDocument/2006/relationships/hyperlink" Target="https://emeryberger.com/teaching/grad-systems/" TargetMode="External"/><Relationship Id="rId4" Type="http://schemas.openxmlformats.org/officeDocument/2006/relationships/hyperlink" Target="https://github.com/Aniruddha-Tapas/Operating-Systems-Notes/blob/master/5-Memory-Management.md" TargetMode="External"/><Relationship Id="rId9" Type="http://schemas.openxmlformats.org/officeDocument/2006/relationships/hyperlink" Target="https://courses.engr.illinois.edu/cs241/sp201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12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602036"/>
            <a:ext cx="9144000" cy="296099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 err="1">
                <a:ea typeface="Roboto"/>
                <a:cs typeface="Roboto"/>
                <a:sym typeface="Roboto"/>
              </a:rPr>
              <a:t>Swapping</a:t>
            </a:r>
            <a:r>
              <a:rPr lang="es-ES" sz="4400" b="1" dirty="0">
                <a:ea typeface="Roboto"/>
                <a:cs typeface="Roboto"/>
                <a:sym typeface="Roboto"/>
              </a:rPr>
              <a:t> </a:t>
            </a:r>
            <a:r>
              <a:rPr lang="es-ES" sz="4400" b="1" dirty="0" err="1">
                <a:ea typeface="Roboto"/>
                <a:cs typeface="Roboto"/>
                <a:sym typeface="Roboto"/>
              </a:rPr>
              <a:t>Mechanism</a:t>
            </a:r>
            <a:endParaRPr lang="es-ES" sz="4400" b="1" dirty="0"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000" b="1" dirty="0"/>
              <a:t>Sistemas Operativos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dirty="0">
                <a:ea typeface="Roboto"/>
                <a:cs typeface="Roboto"/>
                <a:sym typeface="Roboto"/>
              </a:rPr>
              <a:t>Universidad de Antioquia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dirty="0">
                <a:ea typeface="Roboto"/>
                <a:cs typeface="Roboto"/>
                <a:sym typeface="Roboto"/>
              </a:rPr>
              <a:t>Facultad de Ingeniería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dirty="0">
                <a:ea typeface="Roboto"/>
                <a:cs typeface="Roboto"/>
                <a:sym typeface="Roboto"/>
              </a:rPr>
              <a:t>Ingeniería de Sistemas</a:t>
            </a:r>
            <a:endParaRPr sz="32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Dynamic Relocation (base &amp; bounds)</a:t>
            </a:r>
          </a:p>
        </p:txBody>
      </p:sp>
      <p:grpSp>
        <p:nvGrpSpPr>
          <p:cNvPr id="159" name="Google Shape;159;p20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160" name="Google Shape;160;p20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1" name="Google Shape;161;p20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2" name="Google Shape;162;p20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163" name="Google Shape;163;p20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164" name="Google Shape;164;p20"/>
              <p:cNvCxnSpPr>
                <a:stCxn id="163" idx="4"/>
                <a:endCxn id="165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166" name="Google Shape;166;p20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165" name="Google Shape;165;p20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67" name="Google Shape;167;p20"/>
                <p:cNvSpPr txBox="1"/>
                <p:nvPr/>
              </p:nvSpPr>
              <p:spPr>
                <a:xfrm>
                  <a:off x="9216101" y="3738234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grpSp>
        <p:nvGrpSpPr>
          <p:cNvPr id="168" name="Google Shape;168;p20"/>
          <p:cNvGrpSpPr/>
          <p:nvPr/>
        </p:nvGrpSpPr>
        <p:grpSpPr>
          <a:xfrm>
            <a:off x="4119750" y="2100082"/>
            <a:ext cx="7362256" cy="4003568"/>
            <a:chOff x="4318025" y="1831832"/>
            <a:chExt cx="7362256" cy="4003568"/>
          </a:xfrm>
        </p:grpSpPr>
        <p:sp>
          <p:nvSpPr>
            <p:cNvPr id="169" name="Google Shape;169;p20"/>
            <p:cNvSpPr/>
            <p:nvPr/>
          </p:nvSpPr>
          <p:spPr>
            <a:xfrm>
              <a:off x="4318025" y="2383200"/>
              <a:ext cx="4962000" cy="30651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4324806" y="183183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4504648" y="3708601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6303425" y="2654100"/>
              <a:ext cx="2720100" cy="2578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7487305" y="2654096"/>
              <a:ext cx="6276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MMU</a:t>
              </a:r>
              <a:endParaRPr sz="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4" name="Google Shape;174;p20"/>
            <p:cNvGrpSpPr/>
            <p:nvPr/>
          </p:nvGrpSpPr>
          <p:grpSpPr>
            <a:xfrm>
              <a:off x="10394675" y="2823350"/>
              <a:ext cx="1125300" cy="2339900"/>
              <a:chOff x="2625425" y="3871775"/>
              <a:chExt cx="1125300" cy="2339900"/>
            </a:xfrm>
          </p:grpSpPr>
          <p:grpSp>
            <p:nvGrpSpPr>
              <p:cNvPr id="175" name="Google Shape;175;p20"/>
              <p:cNvGrpSpPr/>
              <p:nvPr/>
            </p:nvGrpSpPr>
            <p:grpSpPr>
              <a:xfrm>
                <a:off x="2626525" y="4273149"/>
                <a:ext cx="1124200" cy="1619400"/>
                <a:chOff x="2626525" y="4273149"/>
                <a:chExt cx="1124200" cy="1619400"/>
              </a:xfrm>
            </p:grpSpPr>
            <p:sp>
              <p:nvSpPr>
                <p:cNvPr id="176" name="Google Shape;176;p20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20"/>
                <p:cNvSpPr/>
                <p:nvPr/>
              </p:nvSpPr>
              <p:spPr>
                <a:xfrm>
                  <a:off x="2628725" y="4801224"/>
                  <a:ext cx="1122000" cy="583200"/>
                </a:xfrm>
                <a:prstGeom prst="rect">
                  <a:avLst/>
                </a:prstGeom>
                <a:solidFill>
                  <a:srgbClr val="D9D9D9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200"/>
                </a:p>
              </p:txBody>
            </p:sp>
          </p:grpSp>
          <p:cxnSp>
            <p:nvCxnSpPr>
              <p:cNvPr id="178" name="Google Shape;178;p20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20"/>
              <p:cNvCxnSpPr/>
              <p:nvPr/>
            </p:nvCxnSpPr>
            <p:spPr>
              <a:xfrm rot="10800000">
                <a:off x="2625552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20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20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2" name="Google Shape;182;p20"/>
            <p:cNvSpPr txBox="1"/>
            <p:nvPr/>
          </p:nvSpPr>
          <p:spPr>
            <a:xfrm>
              <a:off x="5150225" y="3641600"/>
              <a:ext cx="115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9139000" y="3542075"/>
              <a:ext cx="1342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Address (PA)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7583825" y="5496700"/>
              <a:ext cx="134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Data word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5" name="Google Shape;185;p20"/>
            <p:cNvGrpSpPr/>
            <p:nvPr/>
          </p:nvGrpSpPr>
          <p:grpSpPr>
            <a:xfrm>
              <a:off x="5204248" y="3110700"/>
              <a:ext cx="5193702" cy="2052650"/>
              <a:chOff x="4839273" y="4250500"/>
              <a:chExt cx="5193702" cy="2052650"/>
            </a:xfrm>
          </p:grpSpPr>
          <p:grpSp>
            <p:nvGrpSpPr>
              <p:cNvPr id="186" name="Google Shape;186;p20"/>
              <p:cNvGrpSpPr/>
              <p:nvPr/>
            </p:nvGrpSpPr>
            <p:grpSpPr>
              <a:xfrm>
                <a:off x="4839273" y="4250500"/>
                <a:ext cx="5193702" cy="2052650"/>
                <a:chOff x="4705323" y="4089750"/>
                <a:chExt cx="5193702" cy="2052650"/>
              </a:xfrm>
            </p:grpSpPr>
            <p:sp>
              <p:nvSpPr>
                <p:cNvPr id="187" name="Google Shape;187;p20"/>
                <p:cNvSpPr/>
                <p:nvPr/>
              </p:nvSpPr>
              <p:spPr>
                <a:xfrm>
                  <a:off x="7578075" y="408975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88" name="Google Shape;188;p20"/>
                <p:cNvSpPr/>
                <p:nvPr/>
              </p:nvSpPr>
              <p:spPr>
                <a:xfrm>
                  <a:off x="6393600" y="410150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89" name="Google Shape;189;p20"/>
                <p:cNvSpPr/>
                <p:nvPr/>
              </p:nvSpPr>
              <p:spPr>
                <a:xfrm>
                  <a:off x="6456900" y="4843400"/>
                  <a:ext cx="699600" cy="390300"/>
                </a:xfrm>
                <a:prstGeom prst="flowChartDecision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&lt;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90" name="Google Shape;190;p20"/>
                <p:cNvSpPr/>
                <p:nvPr/>
              </p:nvSpPr>
              <p:spPr>
                <a:xfrm>
                  <a:off x="7787325" y="4821548"/>
                  <a:ext cx="415500" cy="4311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+</a:t>
                  </a:r>
                  <a:endParaRPr sz="1000"/>
                </a:p>
              </p:txBody>
            </p:sp>
            <p:cxnSp>
              <p:nvCxnSpPr>
                <p:cNvPr id="191" name="Google Shape;191;p20"/>
                <p:cNvCxnSpPr>
                  <a:stCxn id="171" idx="6"/>
                  <a:endCxn id="189" idx="1"/>
                </p:cNvCxnSpPr>
                <p:nvPr/>
              </p:nvCxnSpPr>
              <p:spPr>
                <a:xfrm rot="10800000" flipH="1">
                  <a:off x="4705323" y="5038651"/>
                  <a:ext cx="1751700" cy="9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2" name="Google Shape;192;p20"/>
                <p:cNvCxnSpPr>
                  <a:stCxn id="188" idx="2"/>
                  <a:endCxn id="189" idx="0"/>
                </p:cNvCxnSpPr>
                <p:nvPr/>
              </p:nvCxnSpPr>
              <p:spPr>
                <a:xfrm>
                  <a:off x="6803400" y="4431200"/>
                  <a:ext cx="3300" cy="412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3" name="Google Shape;193;p20"/>
                <p:cNvCxnSpPr>
                  <a:stCxn id="187" idx="2"/>
                  <a:endCxn id="190" idx="0"/>
                </p:cNvCxnSpPr>
                <p:nvPr/>
              </p:nvCxnSpPr>
              <p:spPr>
                <a:xfrm>
                  <a:off x="7987875" y="4419450"/>
                  <a:ext cx="7200" cy="40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4" name="Google Shape;194;p20"/>
                <p:cNvCxnSpPr>
                  <a:stCxn id="189" idx="3"/>
                  <a:endCxn id="190" idx="2"/>
                </p:cNvCxnSpPr>
                <p:nvPr/>
              </p:nvCxnSpPr>
              <p:spPr>
                <a:xfrm rot="10800000" flipH="1">
                  <a:off x="7156500" y="5037050"/>
                  <a:ext cx="630900" cy="1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5" name="Google Shape;195;p20"/>
                <p:cNvCxnSpPr>
                  <a:stCxn id="189" idx="2"/>
                </p:cNvCxnSpPr>
                <p:nvPr/>
              </p:nvCxnSpPr>
              <p:spPr>
                <a:xfrm flipH="1">
                  <a:off x="6804600" y="5233700"/>
                  <a:ext cx="2100" cy="908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6" name="Google Shape;196;p20"/>
                <p:cNvCxnSpPr>
                  <a:stCxn id="190" idx="6"/>
                  <a:endCxn id="177" idx="1"/>
                </p:cNvCxnSpPr>
                <p:nvPr/>
              </p:nvCxnSpPr>
              <p:spPr>
                <a:xfrm rot="10800000" flipH="1">
                  <a:off x="8202825" y="5023598"/>
                  <a:ext cx="1696200" cy="13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97" name="Google Shape;197;p20"/>
              <p:cNvSpPr txBox="1"/>
              <p:nvPr/>
            </p:nvSpPr>
            <p:spPr>
              <a:xfrm>
                <a:off x="7274000" y="486010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Yes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98" name="Google Shape;198;p20"/>
              <p:cNvSpPr txBox="1"/>
              <p:nvPr/>
            </p:nvSpPr>
            <p:spPr>
              <a:xfrm>
                <a:off x="6983200" y="536665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No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99" name="Google Shape;199;p20"/>
            <p:cNvSpPr txBox="1"/>
            <p:nvPr/>
          </p:nvSpPr>
          <p:spPr>
            <a:xfrm>
              <a:off x="7253825" y="4662850"/>
              <a:ext cx="1342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00" name="Google Shape;200;p20"/>
            <p:cNvCxnSpPr>
              <a:stCxn id="177" idx="3"/>
            </p:cNvCxnSpPr>
            <p:nvPr/>
          </p:nvCxnSpPr>
          <p:spPr>
            <a:xfrm flipH="1">
              <a:off x="4859675" y="4044399"/>
              <a:ext cx="6660300" cy="1791000"/>
            </a:xfrm>
            <a:prstGeom prst="bentConnector3">
              <a:avLst>
                <a:gd name="adj1" fmla="val -357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20"/>
            <p:cNvCxnSpPr>
              <a:endCxn id="171" idx="4"/>
            </p:cNvCxnSpPr>
            <p:nvPr/>
          </p:nvCxnSpPr>
          <p:spPr>
            <a:xfrm rot="10800000">
              <a:off x="4854448" y="4430401"/>
              <a:ext cx="4800" cy="1394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2" name="Google Shape;202;p20"/>
            <p:cNvSpPr txBox="1"/>
            <p:nvPr/>
          </p:nvSpPr>
          <p:spPr>
            <a:xfrm>
              <a:off x="10192581" y="1831832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Dynamic Relocation (base &amp; bounds)</a:t>
            </a:r>
            <a:endParaRPr dirty="0"/>
          </a:p>
        </p:txBody>
      </p:sp>
      <p:grpSp>
        <p:nvGrpSpPr>
          <p:cNvPr id="209" name="Google Shape;209;p21"/>
          <p:cNvGrpSpPr/>
          <p:nvPr/>
        </p:nvGrpSpPr>
        <p:grpSpPr>
          <a:xfrm>
            <a:off x="5132985" y="1754150"/>
            <a:ext cx="5468492" cy="2566425"/>
            <a:chOff x="4905735" y="3809425"/>
            <a:chExt cx="5468492" cy="2566425"/>
          </a:xfrm>
        </p:grpSpPr>
        <p:sp>
          <p:nvSpPr>
            <p:cNvPr id="210" name="Google Shape;210;p21"/>
            <p:cNvSpPr txBox="1"/>
            <p:nvPr/>
          </p:nvSpPr>
          <p:spPr>
            <a:xfrm>
              <a:off x="4905735" y="4836550"/>
              <a:ext cx="66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79146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base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60689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6336900" y="4802600"/>
              <a:ext cx="924225" cy="562575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8396925" y="4821538"/>
              <a:ext cx="495600" cy="524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+</a:t>
              </a:r>
              <a:endParaRPr/>
            </a:p>
          </p:txBody>
        </p:sp>
        <p:cxnSp>
          <p:nvCxnSpPr>
            <p:cNvPr id="215" name="Google Shape;215;p21"/>
            <p:cNvCxnSpPr>
              <a:stCxn id="210" idx="3"/>
              <a:endCxn id="213" idx="1"/>
            </p:cNvCxnSpPr>
            <p:nvPr/>
          </p:nvCxnSpPr>
          <p:spPr>
            <a:xfrm>
              <a:off x="5575635" y="5082850"/>
              <a:ext cx="7614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6" name="Google Shape;216;p21"/>
            <p:cNvCxnSpPr>
              <a:stCxn id="212" idx="2"/>
              <a:endCxn id="213" idx="0"/>
            </p:cNvCxnSpPr>
            <p:nvPr/>
          </p:nvCxnSpPr>
          <p:spPr>
            <a:xfrm>
              <a:off x="6799025" y="4184425"/>
              <a:ext cx="0" cy="61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7" name="Google Shape;217;p21"/>
            <p:cNvCxnSpPr>
              <a:stCxn id="211" idx="2"/>
              <a:endCxn id="214" idx="0"/>
            </p:cNvCxnSpPr>
            <p:nvPr/>
          </p:nvCxnSpPr>
          <p:spPr>
            <a:xfrm>
              <a:off x="8644725" y="4184425"/>
              <a:ext cx="0" cy="63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8" name="Google Shape;218;p21"/>
            <p:cNvCxnSpPr>
              <a:stCxn id="213" idx="3"/>
              <a:endCxn id="214" idx="2"/>
            </p:cNvCxnSpPr>
            <p:nvPr/>
          </p:nvCxnSpPr>
          <p:spPr>
            <a:xfrm>
              <a:off x="7261125" y="5083888"/>
              <a:ext cx="113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9" name="Google Shape;219;p21"/>
            <p:cNvCxnSpPr/>
            <p:nvPr/>
          </p:nvCxnSpPr>
          <p:spPr>
            <a:xfrm>
              <a:off x="6799025" y="5365163"/>
              <a:ext cx="2400" cy="908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0" name="Google Shape;220;p21"/>
            <p:cNvSpPr txBox="1"/>
            <p:nvPr/>
          </p:nvSpPr>
          <p:spPr>
            <a:xfrm>
              <a:off x="6652638" y="5268025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7165313" y="4667500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2" name="Google Shape;222;p21"/>
            <p:cNvCxnSpPr/>
            <p:nvPr/>
          </p:nvCxnSpPr>
          <p:spPr>
            <a:xfrm rot="10800000" flipH="1">
              <a:off x="8892525" y="5080888"/>
              <a:ext cx="720300" cy="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3" name="Google Shape;223;p21"/>
            <p:cNvSpPr txBox="1"/>
            <p:nvPr/>
          </p:nvSpPr>
          <p:spPr>
            <a:xfrm>
              <a:off x="9612827" y="4836100"/>
              <a:ext cx="7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6799025" y="5944750"/>
              <a:ext cx="201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600" b="1" dirty="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6559300" y="4748725"/>
            <a:ext cx="3132600" cy="637200"/>
            <a:chOff x="6652650" y="1665575"/>
            <a:chExt cx="3132600" cy="637200"/>
          </a:xfrm>
        </p:grpSpPr>
        <p:sp>
          <p:nvSpPr>
            <p:cNvPr id="226" name="Google Shape;226;p21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8" name="Google Shape;228;p21"/>
          <p:cNvGrpSpPr/>
          <p:nvPr/>
        </p:nvGrpSpPr>
        <p:grpSpPr>
          <a:xfrm>
            <a:off x="6559300" y="5639150"/>
            <a:ext cx="3132600" cy="637200"/>
            <a:chOff x="6652650" y="2614950"/>
            <a:chExt cx="3132600" cy="637200"/>
          </a:xfrm>
        </p:grpSpPr>
        <p:sp>
          <p:nvSpPr>
            <p:cNvPr id="229" name="Google Shape;229;p21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31" name="Google Shape;231;p21"/>
          <p:cNvGrpSpPr/>
          <p:nvPr/>
        </p:nvGrpSpPr>
        <p:grpSpPr>
          <a:xfrm>
            <a:off x="1543692" y="2087167"/>
            <a:ext cx="2340362" cy="3023498"/>
            <a:chOff x="8005450" y="1566825"/>
            <a:chExt cx="3308400" cy="4491900"/>
          </a:xfrm>
        </p:grpSpPr>
        <p:sp>
          <p:nvSpPr>
            <p:cNvPr id="232" name="Google Shape;232;p21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34" name="Google Shape;234;p21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235" name="Google Shape;235;p21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36" name="Google Shape;236;p21"/>
              <p:cNvCxnSpPr>
                <a:stCxn id="235" idx="4"/>
                <a:endCxn id="237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38" name="Google Shape;238;p21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239" name="Google Shape;239;p21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237" name="Google Shape;237;p21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240" name="Google Shape;240;p21"/>
                  <p:cNvSpPr txBox="1"/>
                  <p:nvPr/>
                </p:nvSpPr>
                <p:spPr>
                  <a:xfrm>
                    <a:off x="9216099" y="3718049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41" name="Google Shape;241;p21"/>
                <p:cNvGrpSpPr/>
                <p:nvPr/>
              </p:nvGrpSpPr>
              <p:grpSpPr>
                <a:xfrm>
                  <a:off x="8638450" y="4265550"/>
                  <a:ext cx="1901250" cy="548700"/>
                  <a:chOff x="8638450" y="4265550"/>
                  <a:chExt cx="1901250" cy="548700"/>
                </a:xfrm>
              </p:grpSpPr>
              <p:sp>
                <p:nvSpPr>
                  <p:cNvPr id="242" name="Google Shape;242;p21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" name="Google Shape;243;p21"/>
                  <p:cNvSpPr txBox="1"/>
                  <p:nvPr/>
                </p:nvSpPr>
                <p:spPr>
                  <a:xfrm>
                    <a:off x="8638450" y="4265550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44" name="Google Shape;244;p21"/>
                <p:cNvGrpSpPr/>
                <p:nvPr/>
              </p:nvGrpSpPr>
              <p:grpSpPr>
                <a:xfrm>
                  <a:off x="8483375" y="4782162"/>
                  <a:ext cx="2056325" cy="548700"/>
                  <a:chOff x="8483375" y="4782162"/>
                  <a:chExt cx="2056325" cy="548700"/>
                </a:xfrm>
              </p:grpSpPr>
              <p:sp>
                <p:nvSpPr>
                  <p:cNvPr id="245" name="Google Shape;245;p21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" name="Google Shape;246;p21"/>
                  <p:cNvSpPr txBox="1"/>
                  <p:nvPr/>
                </p:nvSpPr>
                <p:spPr>
                  <a:xfrm>
                    <a:off x="8483375" y="4782162"/>
                    <a:ext cx="10929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Segmentación</a:t>
            </a:r>
            <a:endParaRPr dirty="0"/>
          </a:p>
        </p:txBody>
      </p:sp>
      <p:grpSp>
        <p:nvGrpSpPr>
          <p:cNvPr id="253" name="Google Shape;253;p22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254" name="Google Shape;254;p2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56" name="Google Shape;256;p22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257" name="Google Shape;257;p2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58" name="Google Shape;258;p22"/>
              <p:cNvCxnSpPr>
                <a:stCxn id="257" idx="4"/>
                <a:endCxn id="259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60" name="Google Shape;260;p22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259" name="Google Shape;259;p22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61" name="Google Shape;261;p22"/>
                <p:cNvSpPr txBox="1"/>
                <p:nvPr/>
              </p:nvSpPr>
              <p:spPr>
                <a:xfrm>
                  <a:off x="9216099" y="3718049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sp>
        <p:nvSpPr>
          <p:cNvPr id="262" name="Google Shape;262;p22"/>
          <p:cNvSpPr/>
          <p:nvPr/>
        </p:nvSpPr>
        <p:spPr>
          <a:xfrm>
            <a:off x="3944800" y="2629888"/>
            <a:ext cx="4962000" cy="28926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3951581" y="2078519"/>
            <a:ext cx="14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CPU Chip</a:t>
            </a:r>
            <a:endParaRPr sz="2000" b="1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4131423" y="3824526"/>
            <a:ext cx="699600" cy="721800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14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930200" y="3070038"/>
            <a:ext cx="2720100" cy="223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6976455" y="3070033"/>
            <a:ext cx="627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MMU</a:t>
            </a:r>
            <a:endParaRPr sz="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804025" y="3662663"/>
            <a:ext cx="1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8759500" y="3751288"/>
            <a:ext cx="13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Address (PA)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7270125" y="5661863"/>
            <a:ext cx="134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Data word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0" name="Google Shape;270;p22"/>
          <p:cNvCxnSpPr>
            <a:stCxn id="264" idx="6"/>
            <a:endCxn id="265" idx="1"/>
          </p:cNvCxnSpPr>
          <p:nvPr/>
        </p:nvCxnSpPr>
        <p:spPr>
          <a:xfrm>
            <a:off x="4831023" y="4185426"/>
            <a:ext cx="1099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22"/>
          <p:cNvCxnSpPr>
            <a:stCxn id="265" idx="3"/>
            <a:endCxn id="272" idx="1"/>
          </p:cNvCxnSpPr>
          <p:nvPr/>
        </p:nvCxnSpPr>
        <p:spPr>
          <a:xfrm>
            <a:off x="8650300" y="4185438"/>
            <a:ext cx="13746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3" name="Google Shape;273;p22"/>
          <p:cNvCxnSpPr>
            <a:endCxn id="264" idx="4"/>
          </p:cNvCxnSpPr>
          <p:nvPr/>
        </p:nvCxnSpPr>
        <p:spPr>
          <a:xfrm rot="10800000">
            <a:off x="4481223" y="4546326"/>
            <a:ext cx="5400" cy="144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22"/>
          <p:cNvSpPr txBox="1"/>
          <p:nvPr/>
        </p:nvSpPr>
        <p:spPr>
          <a:xfrm>
            <a:off x="9819356" y="2078519"/>
            <a:ext cx="1487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75" name="Google Shape;275;p22"/>
          <p:cNvGrpSpPr/>
          <p:nvPr/>
        </p:nvGrpSpPr>
        <p:grpSpPr>
          <a:xfrm>
            <a:off x="10022550" y="2970513"/>
            <a:ext cx="1124200" cy="2339900"/>
            <a:chOff x="2626525" y="3871775"/>
            <a:chExt cx="1124200" cy="2339900"/>
          </a:xfrm>
        </p:grpSpPr>
        <p:grpSp>
          <p:nvGrpSpPr>
            <p:cNvPr id="276" name="Google Shape;276;p22"/>
            <p:cNvGrpSpPr/>
            <p:nvPr/>
          </p:nvGrpSpPr>
          <p:grpSpPr>
            <a:xfrm>
              <a:off x="2626525" y="4273149"/>
              <a:ext cx="1124200" cy="1619400"/>
              <a:chOff x="2626525" y="4273149"/>
              <a:chExt cx="1124200" cy="1619400"/>
            </a:xfrm>
          </p:grpSpPr>
          <p:sp>
            <p:nvSpPr>
              <p:cNvPr id="277" name="Google Shape;277;p22"/>
              <p:cNvSpPr/>
              <p:nvPr/>
            </p:nvSpPr>
            <p:spPr>
              <a:xfrm>
                <a:off x="2626525" y="4273149"/>
                <a:ext cx="1122000" cy="16194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2628725" y="4801224"/>
                <a:ext cx="1122000" cy="583200"/>
              </a:xfrm>
              <a:prstGeom prst="rect">
                <a:avLst/>
              </a:prstGeom>
              <a:solidFill>
                <a:srgbClr val="D9D9D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/>
              </a:p>
            </p:txBody>
          </p:sp>
        </p:grpSp>
        <p:cxnSp>
          <p:nvCxnSpPr>
            <p:cNvPr id="278" name="Google Shape;278;p22"/>
            <p:cNvCxnSpPr/>
            <p:nvPr/>
          </p:nvCxnSpPr>
          <p:spPr>
            <a:xfrm rot="10800000">
              <a:off x="2640173" y="3872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22"/>
            <p:cNvCxnSpPr/>
            <p:nvPr/>
          </p:nvCxnSpPr>
          <p:spPr>
            <a:xfrm rot="10800000">
              <a:off x="2627600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22"/>
            <p:cNvCxnSpPr/>
            <p:nvPr/>
          </p:nvCxnSpPr>
          <p:spPr>
            <a:xfrm rot="10800000">
              <a:off x="3749525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22"/>
            <p:cNvCxnSpPr/>
            <p:nvPr/>
          </p:nvCxnSpPr>
          <p:spPr>
            <a:xfrm rot="10800000">
              <a:off x="3748600" y="3871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282" name="Google Shape;282;p22"/>
          <p:cNvGraphicFramePr/>
          <p:nvPr/>
        </p:nvGraphicFramePr>
        <p:xfrm>
          <a:off x="6109638" y="3539013"/>
          <a:ext cx="2340350" cy="173724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83" name="Google Shape;283;p22"/>
          <p:cNvCxnSpPr>
            <a:stCxn id="272" idx="3"/>
          </p:cNvCxnSpPr>
          <p:nvPr/>
        </p:nvCxnSpPr>
        <p:spPr>
          <a:xfrm flipH="1">
            <a:off x="4498150" y="4191562"/>
            <a:ext cx="6648600" cy="1809000"/>
          </a:xfrm>
          <a:prstGeom prst="bentConnector3">
            <a:avLst>
              <a:gd name="adj1" fmla="val -358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Segmentación</a:t>
            </a:r>
            <a:endParaRPr dirty="0"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992500" y="1689250"/>
            <a:ext cx="3545700" cy="4111200"/>
            <a:chOff x="602600" y="2377375"/>
            <a:chExt cx="3545700" cy="4111200"/>
          </a:xfrm>
        </p:grpSpPr>
        <p:sp>
          <p:nvSpPr>
            <p:cNvPr id="290" name="Google Shape;290;p23"/>
            <p:cNvSpPr/>
            <p:nvPr/>
          </p:nvSpPr>
          <p:spPr>
            <a:xfrm>
              <a:off x="602600" y="2377375"/>
              <a:ext cx="3545700" cy="41112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1" name="Google Shape;291;p23"/>
            <p:cNvSpPr txBox="1"/>
            <p:nvPr/>
          </p:nvSpPr>
          <p:spPr>
            <a:xfrm>
              <a:off x="1578256" y="237738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2020511" y="2800814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93" name="Google Shape;293;p23"/>
            <p:cNvCxnSpPr>
              <a:stCxn id="292" idx="4"/>
              <a:endCxn id="294" idx="0"/>
            </p:cNvCxnSpPr>
            <p:nvPr/>
          </p:nvCxnSpPr>
          <p:spPr>
            <a:xfrm>
              <a:off x="2370311" y="3522614"/>
              <a:ext cx="0" cy="355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295" name="Google Shape;295;p23"/>
            <p:cNvGrpSpPr/>
            <p:nvPr/>
          </p:nvGrpSpPr>
          <p:grpSpPr>
            <a:xfrm>
              <a:off x="910042" y="3822353"/>
              <a:ext cx="2920431" cy="2339925"/>
              <a:chOff x="8597231" y="3675891"/>
              <a:chExt cx="4880400" cy="1753278"/>
            </a:xfrm>
          </p:grpSpPr>
          <p:sp>
            <p:nvSpPr>
              <p:cNvPr id="294" name="Google Shape;294;p23"/>
              <p:cNvSpPr/>
              <p:nvPr/>
            </p:nvSpPr>
            <p:spPr>
              <a:xfrm>
                <a:off x="8597231" y="3717969"/>
                <a:ext cx="4880400" cy="17112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6" name="Google Shape;296;p23"/>
              <p:cNvSpPr txBox="1"/>
              <p:nvPr/>
            </p:nvSpPr>
            <p:spPr>
              <a:xfrm>
                <a:off x="10593876" y="3675891"/>
                <a:ext cx="887101" cy="299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MMU</a:t>
                </a:r>
                <a:endParaRPr sz="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297" name="Google Shape;297;p23"/>
          <p:cNvGraphicFramePr/>
          <p:nvPr/>
        </p:nvGraphicFramePr>
        <p:xfrm>
          <a:off x="1595163" y="3642388"/>
          <a:ext cx="2340350" cy="173724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9" name="Google Shape;299;p23"/>
          <p:cNvGraphicFramePr/>
          <p:nvPr>
            <p:extLst>
              <p:ext uri="{D42A27DB-BD31-4B8C-83A1-F6EECF244321}">
                <p14:modId xmlns:p14="http://schemas.microsoft.com/office/powerpoint/2010/main" val="2961001164"/>
              </p:ext>
            </p:extLst>
          </p:nvPr>
        </p:nvGraphicFramePr>
        <p:xfrm>
          <a:off x="5056350" y="3963000"/>
          <a:ext cx="6864725" cy="201156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9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Protection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0" name="Google Shape;300;p23"/>
          <p:cNvGraphicFramePr/>
          <p:nvPr/>
        </p:nvGraphicFramePr>
        <p:xfrm>
          <a:off x="5546275" y="1907550"/>
          <a:ext cx="6032950" cy="83817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1" name="Google Shape;301;p23"/>
          <p:cNvSpPr txBox="1"/>
          <p:nvPr/>
        </p:nvSpPr>
        <p:spPr>
          <a:xfrm>
            <a:off x="4976550" y="230395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302" name="Google Shape;302;p23"/>
          <p:cNvSpPr/>
          <p:nvPr/>
        </p:nvSpPr>
        <p:spPr>
          <a:xfrm rot="5400000">
            <a:off x="8881800" y="372550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8348700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304" name="Google Shape;304;p23"/>
          <p:cNvSpPr/>
          <p:nvPr/>
        </p:nvSpPr>
        <p:spPr>
          <a:xfrm rot="5400000">
            <a:off x="5832675" y="2540650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5294625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Segmentación</a:t>
            </a:r>
            <a:endParaRPr dirty="0"/>
          </a:p>
        </p:txBody>
      </p:sp>
      <p:graphicFrame>
        <p:nvGraphicFramePr>
          <p:cNvPr id="312" name="Google Shape;312;p24"/>
          <p:cNvGraphicFramePr/>
          <p:nvPr/>
        </p:nvGraphicFramePr>
        <p:xfrm>
          <a:off x="1055875" y="1893350"/>
          <a:ext cx="10271900" cy="350508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42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</a:t>
                      </a: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 - VA(heap)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base(heap)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offset(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= offset - offset(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13" name="Google Shape;3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900" y="3564375"/>
            <a:ext cx="4865550" cy="11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Paginación</a:t>
            </a:r>
            <a:endParaRPr dirty="0"/>
          </a:p>
        </p:txBody>
      </p:sp>
      <p:graphicFrame>
        <p:nvGraphicFramePr>
          <p:cNvPr id="320" name="Google Shape;320;p25"/>
          <p:cNvGraphicFramePr/>
          <p:nvPr/>
        </p:nvGraphicFramePr>
        <p:xfrm>
          <a:off x="2014588" y="1942000"/>
          <a:ext cx="2227675" cy="179820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21" name="Google Shape;321;p25"/>
          <p:cNvGrpSpPr/>
          <p:nvPr/>
        </p:nvGrpSpPr>
        <p:grpSpPr>
          <a:xfrm>
            <a:off x="964454" y="1889463"/>
            <a:ext cx="979788" cy="1655500"/>
            <a:chOff x="6895500" y="3168388"/>
            <a:chExt cx="963600" cy="1655500"/>
          </a:xfrm>
        </p:grpSpPr>
        <p:sp>
          <p:nvSpPr>
            <p:cNvPr id="322" name="Google Shape;322;p25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323" name="Google Shape;323;p25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324" name="Google Shape;324;p25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325" name="Google Shape;325;p25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326" name="Google Shape;326;p25"/>
          <p:cNvSpPr txBox="1"/>
          <p:nvPr/>
        </p:nvSpPr>
        <p:spPr>
          <a:xfrm>
            <a:off x="2091325" y="3663363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327" name="Google Shape;327;p25"/>
          <p:cNvGraphicFramePr/>
          <p:nvPr/>
        </p:nvGraphicFramePr>
        <p:xfrm>
          <a:off x="8943063" y="1664488"/>
          <a:ext cx="2227675" cy="347224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28" name="Google Shape;328;p25"/>
          <p:cNvGrpSpPr/>
          <p:nvPr/>
        </p:nvGrpSpPr>
        <p:grpSpPr>
          <a:xfrm>
            <a:off x="7896226" y="1671262"/>
            <a:ext cx="1047237" cy="3389724"/>
            <a:chOff x="6720550" y="2261913"/>
            <a:chExt cx="858672" cy="3389724"/>
          </a:xfrm>
        </p:grpSpPr>
        <p:sp>
          <p:nvSpPr>
            <p:cNvPr id="329" name="Google Shape;329;p25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0" name="Google Shape;330;p25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1" name="Google Shape;331;p25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2" name="Google Shape;332;p25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3" name="Google Shape;333;p25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4" name="Google Shape;334;p25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6" name="Google Shape;336;p25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337" name="Google Shape;337;p25"/>
          <p:cNvSpPr txBox="1"/>
          <p:nvPr/>
        </p:nvSpPr>
        <p:spPr>
          <a:xfrm>
            <a:off x="8838150" y="515160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338" name="Google Shape;338;p25"/>
          <p:cNvSpPr txBox="1"/>
          <p:nvPr/>
        </p:nvSpPr>
        <p:spPr>
          <a:xfrm>
            <a:off x="1455038" y="144773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8371938" y="121852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aphicFrame>
        <p:nvGraphicFramePr>
          <p:cNvPr id="340" name="Google Shape;340;p25"/>
          <p:cNvGraphicFramePr/>
          <p:nvPr/>
        </p:nvGraphicFramePr>
        <p:xfrm>
          <a:off x="1626263" y="5890175"/>
          <a:ext cx="2966700" cy="45875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1" name="Google Shape;341;p25"/>
          <p:cNvGraphicFramePr/>
          <p:nvPr/>
        </p:nvGraphicFramePr>
        <p:xfrm>
          <a:off x="8268788" y="5843088"/>
          <a:ext cx="3466075" cy="488475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2" name="Google Shape;342;p25"/>
          <p:cNvSpPr txBox="1"/>
          <p:nvPr/>
        </p:nvSpPr>
        <p:spPr>
          <a:xfrm>
            <a:off x="7755788" y="58257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343" name="Google Shape;343;p25"/>
          <p:cNvSpPr txBox="1"/>
          <p:nvPr/>
        </p:nvSpPr>
        <p:spPr>
          <a:xfrm>
            <a:off x="964438" y="582471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344" name="Google Shape;344;p25"/>
          <p:cNvCxnSpPr/>
          <p:nvPr/>
        </p:nvCxnSpPr>
        <p:spPr>
          <a:xfrm>
            <a:off x="5009975" y="6087325"/>
            <a:ext cx="21576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45" name="Google Shape;345;p25"/>
          <p:cNvGrpSpPr/>
          <p:nvPr/>
        </p:nvGrpSpPr>
        <p:grpSpPr>
          <a:xfrm>
            <a:off x="4592972" y="1723875"/>
            <a:ext cx="3303251" cy="837000"/>
            <a:chOff x="3888184" y="3951525"/>
            <a:chExt cx="3303251" cy="837000"/>
          </a:xfrm>
        </p:grpSpPr>
        <p:grpSp>
          <p:nvGrpSpPr>
            <p:cNvPr id="346" name="Google Shape;346;p25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347" name="Google Shape;347;p25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48" name="Google Shape;348;p25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49" name="Google Shape;349;p25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50" name="Google Shape;350;p25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p25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52" name="Google Shape;352;p25"/>
          <p:cNvSpPr/>
          <p:nvPr/>
        </p:nvSpPr>
        <p:spPr>
          <a:xfrm>
            <a:off x="5468938" y="522028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5821000" y="3086807"/>
          <a:ext cx="852850" cy="213350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85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54" name="Google Shape;354;p25"/>
          <p:cNvGrpSpPr/>
          <p:nvPr/>
        </p:nvGrpSpPr>
        <p:grpSpPr>
          <a:xfrm>
            <a:off x="5081250" y="3111338"/>
            <a:ext cx="636313" cy="2057925"/>
            <a:chOff x="4673025" y="3220413"/>
            <a:chExt cx="636313" cy="2057925"/>
          </a:xfrm>
        </p:grpSpPr>
        <p:grpSp>
          <p:nvGrpSpPr>
            <p:cNvPr id="355" name="Google Shape;355;p25"/>
            <p:cNvGrpSpPr/>
            <p:nvPr/>
          </p:nvGrpSpPr>
          <p:grpSpPr>
            <a:xfrm>
              <a:off x="4673025" y="3593888"/>
              <a:ext cx="636313" cy="1684450"/>
              <a:chOff x="5161375" y="3094650"/>
              <a:chExt cx="636313" cy="1684450"/>
            </a:xfrm>
          </p:grpSpPr>
          <p:sp>
            <p:nvSpPr>
              <p:cNvPr id="356" name="Google Shape;356;p25"/>
              <p:cNvSpPr txBox="1"/>
              <p:nvPr/>
            </p:nvSpPr>
            <p:spPr>
              <a:xfrm>
                <a:off x="5161375" y="30946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57" name="Google Shape;357;p25"/>
              <p:cNvSpPr txBox="1"/>
              <p:nvPr/>
            </p:nvSpPr>
            <p:spPr>
              <a:xfrm>
                <a:off x="5161388" y="35213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58" name="Google Shape;358;p25"/>
              <p:cNvSpPr txBox="1"/>
              <p:nvPr/>
            </p:nvSpPr>
            <p:spPr>
              <a:xfrm>
                <a:off x="5161375" y="39524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59" name="Google Shape;359;p25"/>
              <p:cNvSpPr txBox="1"/>
              <p:nvPr/>
            </p:nvSpPr>
            <p:spPr>
              <a:xfrm>
                <a:off x="5161375" y="434800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60" name="Google Shape;360;p25"/>
            <p:cNvSpPr txBox="1"/>
            <p:nvPr/>
          </p:nvSpPr>
          <p:spPr>
            <a:xfrm>
              <a:off x="4673025" y="3220413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361" name="Google Shape;361;p25"/>
          <p:cNvSpPr/>
          <p:nvPr/>
        </p:nvSpPr>
        <p:spPr>
          <a:xfrm>
            <a:off x="5641125" y="1577650"/>
            <a:ext cx="1093800" cy="1107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5140375" y="2990919"/>
            <a:ext cx="1879800" cy="2821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3" name="Google Shape;363;p25"/>
          <p:cNvCxnSpPr/>
          <p:nvPr/>
        </p:nvCxnSpPr>
        <p:spPr>
          <a:xfrm flipH="1">
            <a:off x="5174600" y="1718400"/>
            <a:ext cx="478200" cy="1458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4" name="Google Shape;364;p25"/>
          <p:cNvCxnSpPr/>
          <p:nvPr/>
        </p:nvCxnSpPr>
        <p:spPr>
          <a:xfrm>
            <a:off x="6725825" y="1695050"/>
            <a:ext cx="291600" cy="156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25"/>
          <p:cNvCxnSpPr/>
          <p:nvPr/>
        </p:nvCxnSpPr>
        <p:spPr>
          <a:xfrm>
            <a:off x="4218225" y="2604800"/>
            <a:ext cx="1866000" cy="1644600"/>
          </a:xfrm>
          <a:prstGeom prst="bentConnector3">
            <a:avLst>
              <a:gd name="adj1" fmla="val 2937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25"/>
          <p:cNvCxnSpPr/>
          <p:nvPr/>
        </p:nvCxnSpPr>
        <p:spPr>
          <a:xfrm rot="10800000" flipH="1">
            <a:off x="6492550" y="3584475"/>
            <a:ext cx="1726200" cy="676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Paginación</a:t>
            </a:r>
            <a:endParaRPr dirty="0"/>
          </a:p>
        </p:txBody>
      </p:sp>
      <p:graphicFrame>
        <p:nvGraphicFramePr>
          <p:cNvPr id="373" name="Google Shape;373;p26"/>
          <p:cNvGraphicFramePr/>
          <p:nvPr>
            <p:extLst>
              <p:ext uri="{D42A27DB-BD31-4B8C-83A1-F6EECF244321}">
                <p14:modId xmlns:p14="http://schemas.microsoft.com/office/powerpoint/2010/main" val="2976376505"/>
              </p:ext>
            </p:extLst>
          </p:nvPr>
        </p:nvGraphicFramePr>
        <p:xfrm>
          <a:off x="6480038" y="2847650"/>
          <a:ext cx="2518975" cy="39621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72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4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4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4" name="Google Shape;374;p26"/>
          <p:cNvGraphicFramePr/>
          <p:nvPr>
            <p:extLst>
              <p:ext uri="{D42A27DB-BD31-4B8C-83A1-F6EECF244321}">
                <p14:modId xmlns:p14="http://schemas.microsoft.com/office/powerpoint/2010/main" val="4267993402"/>
              </p:ext>
            </p:extLst>
          </p:nvPr>
        </p:nvGraphicFramePr>
        <p:xfrm>
          <a:off x="2616675" y="2847650"/>
          <a:ext cx="2342250" cy="39621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50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4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4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5" name="Google Shape;375;p26"/>
          <p:cNvSpPr/>
          <p:nvPr/>
        </p:nvSpPr>
        <p:spPr>
          <a:xfrm>
            <a:off x="1056375" y="2649755"/>
            <a:ext cx="794100" cy="79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76" name="Google Shape;376;p26"/>
          <p:cNvCxnSpPr>
            <a:stCxn id="375" idx="3"/>
          </p:cNvCxnSpPr>
          <p:nvPr/>
        </p:nvCxnSpPr>
        <p:spPr>
          <a:xfrm>
            <a:off x="1850475" y="3045755"/>
            <a:ext cx="746400" cy="21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7" name="Google Shape;377;p26"/>
          <p:cNvSpPr txBox="1"/>
          <p:nvPr/>
        </p:nvSpPr>
        <p:spPr>
          <a:xfrm>
            <a:off x="4340650" y="4138800"/>
            <a:ext cx="545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100" dirty="0"/>
          </a:p>
        </p:txBody>
      </p:sp>
      <p:sp>
        <p:nvSpPr>
          <p:cNvPr id="378" name="Google Shape;378;p26"/>
          <p:cNvSpPr txBox="1"/>
          <p:nvPr/>
        </p:nvSpPr>
        <p:spPr>
          <a:xfrm>
            <a:off x="10949725" y="2709150"/>
            <a:ext cx="95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00...00</a:t>
            </a:r>
            <a:endParaRPr sz="1000">
              <a:solidFill>
                <a:srgbClr val="FF0000"/>
              </a:solidFill>
            </a:endParaRPr>
          </a:p>
        </p:txBody>
      </p:sp>
      <p:graphicFrame>
        <p:nvGraphicFramePr>
          <p:cNvPr id="379" name="Google Shape;379;p26"/>
          <p:cNvGraphicFramePr/>
          <p:nvPr/>
        </p:nvGraphicFramePr>
        <p:xfrm>
          <a:off x="5173050" y="3744155"/>
          <a:ext cx="1204300" cy="274302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0" name="Google Shape;380;p26"/>
          <p:cNvSpPr/>
          <p:nvPr/>
        </p:nvSpPr>
        <p:spPr>
          <a:xfrm>
            <a:off x="4886350" y="3744150"/>
            <a:ext cx="198300" cy="11895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1" name="Google Shape;381;p26"/>
          <p:cNvCxnSpPr/>
          <p:nvPr/>
        </p:nvCxnSpPr>
        <p:spPr>
          <a:xfrm rot="-5400000" flipH="1">
            <a:off x="3331825" y="3292900"/>
            <a:ext cx="1889400" cy="1819500"/>
          </a:xfrm>
          <a:prstGeom prst="bentConnector3">
            <a:avLst>
              <a:gd name="adj1" fmla="val 100001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Google Shape;382;p26"/>
          <p:cNvCxnSpPr/>
          <p:nvPr/>
        </p:nvCxnSpPr>
        <p:spPr>
          <a:xfrm rot="-5400000">
            <a:off x="5926875" y="3730300"/>
            <a:ext cx="1901100" cy="956400"/>
          </a:xfrm>
          <a:prstGeom prst="bentConnector3">
            <a:avLst>
              <a:gd name="adj1" fmla="val 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83" name="Google Shape;383;p26"/>
          <p:cNvGrpSpPr/>
          <p:nvPr/>
        </p:nvGrpSpPr>
        <p:grpSpPr>
          <a:xfrm>
            <a:off x="4591587" y="2324875"/>
            <a:ext cx="4023905" cy="536500"/>
            <a:chOff x="4813050" y="1928325"/>
            <a:chExt cx="4746850" cy="536500"/>
          </a:xfrm>
        </p:grpSpPr>
        <p:cxnSp>
          <p:nvCxnSpPr>
            <p:cNvPr id="384" name="Google Shape;384;p26"/>
            <p:cNvCxnSpPr/>
            <p:nvPr/>
          </p:nvCxnSpPr>
          <p:spPr>
            <a:xfrm rot="10800000">
              <a:off x="4813050" y="1928425"/>
              <a:ext cx="0" cy="536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26"/>
            <p:cNvCxnSpPr/>
            <p:nvPr/>
          </p:nvCxnSpPr>
          <p:spPr>
            <a:xfrm>
              <a:off x="4824700" y="1928325"/>
              <a:ext cx="4735200" cy="513300"/>
            </a:xfrm>
            <a:prstGeom prst="bentConnector3">
              <a:avLst>
                <a:gd name="adj1" fmla="val 99703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386" name="Google Shape;386;p26"/>
          <p:cNvGraphicFramePr/>
          <p:nvPr/>
        </p:nvGraphicFramePr>
        <p:xfrm>
          <a:off x="9745413" y="1663128"/>
          <a:ext cx="1204300" cy="411453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20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387" name="Google Shape;387;p26"/>
          <p:cNvCxnSpPr/>
          <p:nvPr/>
        </p:nvCxnSpPr>
        <p:spPr>
          <a:xfrm>
            <a:off x="8999025" y="3044705"/>
            <a:ext cx="746400" cy="21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8" name="Google Shape;388;p26"/>
          <p:cNvSpPr txBox="1"/>
          <p:nvPr/>
        </p:nvSpPr>
        <p:spPr>
          <a:xfrm>
            <a:off x="10949725" y="3044700"/>
            <a:ext cx="95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11...11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389" name="Google Shape;389;p26"/>
          <p:cNvSpPr txBox="1"/>
          <p:nvPr/>
        </p:nvSpPr>
        <p:spPr>
          <a:xfrm>
            <a:off x="2616675" y="2324875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Virtual Address</a:t>
            </a:r>
            <a:endParaRPr sz="1200" b="1" dirty="0">
              <a:solidFill>
                <a:srgbClr val="9E9E9E"/>
              </a:solidFill>
            </a:endParaRPr>
          </a:p>
        </p:txBody>
      </p:sp>
      <p:sp>
        <p:nvSpPr>
          <p:cNvPr id="390" name="Google Shape;390;p26"/>
          <p:cNvSpPr txBox="1"/>
          <p:nvPr/>
        </p:nvSpPr>
        <p:spPr>
          <a:xfrm>
            <a:off x="6480050" y="2324875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sz="1200" b="1" dirty="0">
              <a:solidFill>
                <a:srgbClr val="9E9E9E"/>
              </a:solidFill>
            </a:endParaRPr>
          </a:p>
        </p:txBody>
      </p:sp>
      <p:sp>
        <p:nvSpPr>
          <p:cNvPr id="391" name="Google Shape;391;p26"/>
          <p:cNvSpPr txBox="1"/>
          <p:nvPr/>
        </p:nvSpPr>
        <p:spPr>
          <a:xfrm>
            <a:off x="1952650" y="2649750"/>
            <a:ext cx="4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392" name="Google Shape;392;p26"/>
          <p:cNvSpPr txBox="1"/>
          <p:nvPr/>
        </p:nvSpPr>
        <p:spPr>
          <a:xfrm>
            <a:off x="9080675" y="2678400"/>
            <a:ext cx="4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393" name="Google Shape;393;p26"/>
          <p:cNvSpPr txBox="1"/>
          <p:nvPr/>
        </p:nvSpPr>
        <p:spPr>
          <a:xfrm>
            <a:off x="5206500" y="3383400"/>
            <a:ext cx="118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</a:t>
            </a:r>
            <a:endParaRPr sz="12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Paginación</a:t>
            </a:r>
            <a:endParaRPr dirty="0"/>
          </a:p>
        </p:txBody>
      </p:sp>
      <p:sp>
        <p:nvSpPr>
          <p:cNvPr id="428" name="Google Shape;428;p27"/>
          <p:cNvSpPr txBox="1">
            <a:spLocks noGrp="1"/>
          </p:cNvSpPr>
          <p:nvPr>
            <p:ph type="body" idx="4294967295"/>
          </p:nvPr>
        </p:nvSpPr>
        <p:spPr>
          <a:xfrm>
            <a:off x="243112" y="5227229"/>
            <a:ext cx="3722688" cy="1293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</a:rPr>
              <a:t>PTBR (Page Table Base </a:t>
            </a:r>
            <a:r>
              <a:rPr lang="es-ES" sz="1400" b="1" dirty="0" err="1">
                <a:solidFill>
                  <a:srgbClr val="FF0000"/>
                </a:solidFill>
              </a:rPr>
              <a:t>Register</a:t>
            </a:r>
            <a:r>
              <a:rPr lang="es-ES" sz="1400" b="1" dirty="0">
                <a:solidFill>
                  <a:srgbClr val="FF0000"/>
                </a:solidFill>
              </a:rPr>
              <a:t>)</a:t>
            </a:r>
            <a:endParaRPr sz="1400" b="1" dirty="0">
              <a:solidFill>
                <a:srgbClr val="FF0000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-ES" sz="1200" dirty="0"/>
              <a:t>Registro que apunta a la dirección base de la tabla de página del proceso que se encuentra actualmente en ejecución.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dirty="0"/>
              <a:t>Cada proceso tiene su propio PTBR.</a:t>
            </a:r>
            <a:endParaRPr sz="1200" dirty="0"/>
          </a:p>
        </p:txBody>
      </p:sp>
      <p:grpSp>
        <p:nvGrpSpPr>
          <p:cNvPr id="400" name="Google Shape;400;p27"/>
          <p:cNvGrpSpPr/>
          <p:nvPr/>
        </p:nvGrpSpPr>
        <p:grpSpPr>
          <a:xfrm>
            <a:off x="916642" y="2000867"/>
            <a:ext cx="2340362" cy="3023498"/>
            <a:chOff x="8005450" y="1566825"/>
            <a:chExt cx="3308400" cy="4491900"/>
          </a:xfrm>
        </p:grpSpPr>
        <p:sp>
          <p:nvSpPr>
            <p:cNvPr id="401" name="Google Shape;401;p27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2" name="Google Shape;402;p27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03" name="Google Shape;403;p27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404" name="Google Shape;404;p27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05" name="Google Shape;405;p27"/>
              <p:cNvCxnSpPr>
                <a:stCxn id="404" idx="4"/>
                <a:endCxn id="406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07" name="Google Shape;407;p27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grpSp>
              <p:nvGrpSpPr>
                <p:cNvPr id="408" name="Google Shape;408;p27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06" name="Google Shape;406;p27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09" name="Google Shape;409;p27"/>
                  <p:cNvSpPr txBox="1"/>
                  <p:nvPr/>
                </p:nvSpPr>
                <p:spPr>
                  <a:xfrm>
                    <a:off x="9216099" y="3718049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10" name="Google Shape;410;p27"/>
                <p:cNvGrpSpPr/>
                <p:nvPr/>
              </p:nvGrpSpPr>
              <p:grpSpPr>
                <a:xfrm>
                  <a:off x="8638450" y="4491965"/>
                  <a:ext cx="1901260" cy="548700"/>
                  <a:chOff x="8638450" y="4491965"/>
                  <a:chExt cx="1901260" cy="548700"/>
                </a:xfrm>
              </p:grpSpPr>
              <p:sp>
                <p:nvSpPr>
                  <p:cNvPr id="411" name="Google Shape;411;p27"/>
                  <p:cNvSpPr/>
                  <p:nvPr/>
                </p:nvSpPr>
                <p:spPr>
                  <a:xfrm>
                    <a:off x="9550910" y="4570695"/>
                    <a:ext cx="988800" cy="4566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&amp;PT[]</a:t>
                    </a:r>
                    <a:endParaRPr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412" name="Google Shape;412;p27"/>
                  <p:cNvSpPr txBox="1"/>
                  <p:nvPr/>
                </p:nvSpPr>
                <p:spPr>
                  <a:xfrm>
                    <a:off x="8638450" y="4491965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cxnSp>
        <p:nvCxnSpPr>
          <p:cNvPr id="413" name="Google Shape;413;p27"/>
          <p:cNvCxnSpPr>
            <a:stCxn id="411" idx="3"/>
          </p:cNvCxnSpPr>
          <p:nvPr/>
        </p:nvCxnSpPr>
        <p:spPr>
          <a:xfrm rot="10800000" flipH="1">
            <a:off x="2709377" y="3584541"/>
            <a:ext cx="2103600" cy="591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14" name="Google Shape;414;p27"/>
          <p:cNvGrpSpPr/>
          <p:nvPr/>
        </p:nvGrpSpPr>
        <p:grpSpPr>
          <a:xfrm>
            <a:off x="4824675" y="2068300"/>
            <a:ext cx="2966700" cy="3907200"/>
            <a:chOff x="6957275" y="2149925"/>
            <a:chExt cx="2966700" cy="3907200"/>
          </a:xfrm>
        </p:grpSpPr>
        <p:sp>
          <p:nvSpPr>
            <p:cNvPr id="415" name="Google Shape;415;p27"/>
            <p:cNvSpPr/>
            <p:nvPr/>
          </p:nvSpPr>
          <p:spPr>
            <a:xfrm>
              <a:off x="6957275" y="2149925"/>
              <a:ext cx="2966700" cy="3230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16" name="Google Shape;416;p27"/>
            <p:cNvCxnSpPr/>
            <p:nvPr/>
          </p:nvCxnSpPr>
          <p:spPr>
            <a:xfrm>
              <a:off x="6957275" y="5322325"/>
              <a:ext cx="0" cy="6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27"/>
            <p:cNvCxnSpPr/>
            <p:nvPr/>
          </p:nvCxnSpPr>
          <p:spPr>
            <a:xfrm>
              <a:off x="9923975" y="5380625"/>
              <a:ext cx="0" cy="6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418" name="Google Shape;418;p27"/>
          <p:cNvGraphicFramePr/>
          <p:nvPr>
            <p:extLst>
              <p:ext uri="{D42A27DB-BD31-4B8C-83A1-F6EECF244321}">
                <p14:modId xmlns:p14="http://schemas.microsoft.com/office/powerpoint/2010/main" val="1453524074"/>
              </p:ext>
            </p:extLst>
          </p:nvPr>
        </p:nvGraphicFramePr>
        <p:xfrm>
          <a:off x="5582988" y="3345732"/>
          <a:ext cx="1907575" cy="170676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3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19" name="Google Shape;419;p27"/>
          <p:cNvGrpSpPr/>
          <p:nvPr/>
        </p:nvGrpSpPr>
        <p:grpSpPr>
          <a:xfrm>
            <a:off x="4748925" y="3356888"/>
            <a:ext cx="793213" cy="1684450"/>
            <a:chOff x="5004475" y="3094650"/>
            <a:chExt cx="793213" cy="1684450"/>
          </a:xfrm>
        </p:grpSpPr>
        <p:sp>
          <p:nvSpPr>
            <p:cNvPr id="420" name="Google Shape;420;p27"/>
            <p:cNvSpPr txBox="1"/>
            <p:nvPr/>
          </p:nvSpPr>
          <p:spPr>
            <a:xfrm>
              <a:off x="5004475" y="3094650"/>
              <a:ext cx="793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VPN:0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421" name="Google Shape;421;p27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422" name="Google Shape;422;p27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423" name="Google Shape;423;p27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424" name="Google Shape;424;p27"/>
          <p:cNvSpPr/>
          <p:nvPr/>
        </p:nvSpPr>
        <p:spPr>
          <a:xfrm>
            <a:off x="5542138" y="2879000"/>
            <a:ext cx="1989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5036775" y="2162975"/>
            <a:ext cx="25425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nsolas"/>
                <a:ea typeface="Consolas"/>
                <a:cs typeface="Consolas"/>
                <a:sym typeface="Consolas"/>
              </a:rPr>
              <a:t>Operating System</a:t>
            </a:r>
            <a:endParaRPr sz="2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6" name="Google Shape;426;p27"/>
          <p:cNvSpPr txBox="1"/>
          <p:nvPr/>
        </p:nvSpPr>
        <p:spPr>
          <a:xfrm>
            <a:off x="3850950" y="32134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5036775" y="1604225"/>
            <a:ext cx="254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29" name="Google Shape;429;p27"/>
          <p:cNvCxnSpPr/>
          <p:nvPr/>
        </p:nvCxnSpPr>
        <p:spPr>
          <a:xfrm rot="10800000" flipH="1">
            <a:off x="7628125" y="3001325"/>
            <a:ext cx="1675200" cy="1451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30" name="Google Shape;430;p27"/>
          <p:cNvGraphicFramePr/>
          <p:nvPr/>
        </p:nvGraphicFramePr>
        <p:xfrm>
          <a:off x="9816588" y="2786757"/>
          <a:ext cx="1907575" cy="42669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3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1" name="Google Shape;431;p27"/>
          <p:cNvSpPr/>
          <p:nvPr/>
        </p:nvSpPr>
        <p:spPr>
          <a:xfrm>
            <a:off x="5197925" y="4167675"/>
            <a:ext cx="2379300" cy="489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9303328" y="2784550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b="1">
              <a:solidFill>
                <a:srgbClr val="70AD47"/>
              </a:solidFill>
            </a:endParaRPr>
          </a:p>
        </p:txBody>
      </p:sp>
      <p:sp>
        <p:nvSpPr>
          <p:cNvPr id="433" name="Google Shape;433;p27"/>
          <p:cNvSpPr txBox="1"/>
          <p:nvPr/>
        </p:nvSpPr>
        <p:spPr>
          <a:xfrm>
            <a:off x="8650250" y="3433038"/>
            <a:ext cx="3335700" cy="40007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PTEAddr = PTBR + (VPN*size(PTE))</a:t>
            </a:r>
            <a:endParaRPr sz="14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27"/>
          <p:cNvSpPr txBox="1"/>
          <p:nvPr/>
        </p:nvSpPr>
        <p:spPr>
          <a:xfrm>
            <a:off x="8650250" y="3999013"/>
            <a:ext cx="3335700" cy="40007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 = AccessMemory[PTEAddr]</a:t>
            </a:r>
            <a:endParaRPr sz="14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TLB</a:t>
            </a:r>
            <a:endParaRPr dirty="0"/>
          </a:p>
        </p:txBody>
      </p:sp>
      <p:grpSp>
        <p:nvGrpSpPr>
          <p:cNvPr id="441" name="Google Shape;441;p28"/>
          <p:cNvGrpSpPr/>
          <p:nvPr/>
        </p:nvGrpSpPr>
        <p:grpSpPr>
          <a:xfrm>
            <a:off x="6837450" y="1481075"/>
            <a:ext cx="4945200" cy="2462425"/>
            <a:chOff x="3308475" y="3275925"/>
            <a:chExt cx="4945200" cy="2462425"/>
          </a:xfrm>
        </p:grpSpPr>
        <p:grpSp>
          <p:nvGrpSpPr>
            <p:cNvPr id="442" name="Google Shape;442;p28"/>
            <p:cNvGrpSpPr/>
            <p:nvPr/>
          </p:nvGrpSpPr>
          <p:grpSpPr>
            <a:xfrm>
              <a:off x="4019950" y="3473025"/>
              <a:ext cx="1344684" cy="1582059"/>
              <a:chOff x="1842634" y="4206918"/>
              <a:chExt cx="801600" cy="1256400"/>
            </a:xfrm>
          </p:grpSpPr>
          <p:sp>
            <p:nvSpPr>
              <p:cNvPr id="443" name="Google Shape;443;p28"/>
              <p:cNvSpPr/>
              <p:nvPr/>
            </p:nvSpPr>
            <p:spPr>
              <a:xfrm>
                <a:off x="1842634" y="4206918"/>
                <a:ext cx="801600" cy="1256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44" name="Google Shape;444;p28"/>
              <p:cNvSpPr txBox="1"/>
              <p:nvPr/>
            </p:nvSpPr>
            <p:spPr>
              <a:xfrm>
                <a:off x="2083476" y="4509669"/>
                <a:ext cx="342600" cy="29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TLB</a:t>
                </a:r>
                <a:endParaRPr sz="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445" name="Google Shape;445;p28"/>
            <p:cNvSpPr/>
            <p:nvPr/>
          </p:nvSpPr>
          <p:spPr>
            <a:xfrm>
              <a:off x="6656625" y="3275925"/>
              <a:ext cx="1344900" cy="18624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Mem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46" name="Google Shape;446;p28"/>
            <p:cNvGrpSpPr/>
            <p:nvPr/>
          </p:nvGrpSpPr>
          <p:grpSpPr>
            <a:xfrm>
              <a:off x="7010775" y="4286950"/>
              <a:ext cx="636600" cy="641400"/>
              <a:chOff x="9231450" y="2884725"/>
              <a:chExt cx="636600" cy="641400"/>
            </a:xfrm>
          </p:grpSpPr>
          <p:grpSp>
            <p:nvGrpSpPr>
              <p:cNvPr id="447" name="Google Shape;447;p28"/>
              <p:cNvGrpSpPr/>
              <p:nvPr/>
            </p:nvGrpSpPr>
            <p:grpSpPr>
              <a:xfrm>
                <a:off x="9231450" y="2884725"/>
                <a:ext cx="636600" cy="641400"/>
                <a:chOff x="9231450" y="2884725"/>
                <a:chExt cx="636600" cy="641400"/>
              </a:xfrm>
            </p:grpSpPr>
            <p:sp>
              <p:nvSpPr>
                <p:cNvPr id="448" name="Google Shape;448;p28"/>
                <p:cNvSpPr/>
                <p:nvPr/>
              </p:nvSpPr>
              <p:spPr>
                <a:xfrm>
                  <a:off x="9233850" y="2884725"/>
                  <a:ext cx="629400" cy="6414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49" name="Google Shape;449;p28"/>
                <p:cNvCxnSpPr>
                  <a:stCxn id="448" idx="1"/>
                </p:cNvCxnSpPr>
                <p:nvPr/>
              </p:nvCxnSpPr>
              <p:spPr>
                <a:xfrm>
                  <a:off x="9233850" y="3205425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0" name="Google Shape;450;p28"/>
                <p:cNvCxnSpPr/>
                <p:nvPr/>
              </p:nvCxnSpPr>
              <p:spPr>
                <a:xfrm>
                  <a:off x="9233850" y="304000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1" name="Google Shape;451;p28"/>
                <p:cNvCxnSpPr/>
                <p:nvPr/>
              </p:nvCxnSpPr>
              <p:spPr>
                <a:xfrm>
                  <a:off x="9231450" y="336735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52" name="Google Shape;452;p28"/>
              <p:cNvSpPr txBox="1"/>
              <p:nvPr/>
            </p:nvSpPr>
            <p:spPr>
              <a:xfrm>
                <a:off x="9389400" y="3042150"/>
                <a:ext cx="32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…</a:t>
                </a:r>
                <a:endParaRPr/>
              </a:p>
            </p:txBody>
          </p:sp>
        </p:grpSp>
        <p:sp>
          <p:nvSpPr>
            <p:cNvPr id="453" name="Google Shape;453;p28"/>
            <p:cNvSpPr txBox="1"/>
            <p:nvPr/>
          </p:nvSpPr>
          <p:spPr>
            <a:xfrm>
              <a:off x="7015276" y="3947629"/>
              <a:ext cx="62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</a:t>
              </a:r>
              <a:endParaRPr sz="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54" name="Google Shape;454;p28"/>
            <p:cNvCxnSpPr/>
            <p:nvPr/>
          </p:nvCxnSpPr>
          <p:spPr>
            <a:xfrm>
              <a:off x="3308475" y="5738350"/>
              <a:ext cx="49452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5" name="Google Shape;455;p28"/>
            <p:cNvCxnSpPr>
              <a:stCxn id="443" idx="2"/>
            </p:cNvCxnSpPr>
            <p:nvPr/>
          </p:nvCxnSpPr>
          <p:spPr>
            <a:xfrm flipH="1">
              <a:off x="4684792" y="5055084"/>
              <a:ext cx="7500" cy="675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28"/>
            <p:cNvCxnSpPr>
              <a:stCxn id="445" idx="2"/>
            </p:cNvCxnSpPr>
            <p:nvPr/>
          </p:nvCxnSpPr>
          <p:spPr>
            <a:xfrm flipH="1">
              <a:off x="7326375" y="5138325"/>
              <a:ext cx="2700" cy="592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57" name="Google Shape;457;p28"/>
            <p:cNvGrpSpPr/>
            <p:nvPr/>
          </p:nvGrpSpPr>
          <p:grpSpPr>
            <a:xfrm>
              <a:off x="4394975" y="4171100"/>
              <a:ext cx="636600" cy="641400"/>
              <a:chOff x="9231450" y="2884725"/>
              <a:chExt cx="636600" cy="641400"/>
            </a:xfrm>
          </p:grpSpPr>
          <p:grpSp>
            <p:nvGrpSpPr>
              <p:cNvPr id="458" name="Google Shape;458;p28"/>
              <p:cNvGrpSpPr/>
              <p:nvPr/>
            </p:nvGrpSpPr>
            <p:grpSpPr>
              <a:xfrm>
                <a:off x="9231450" y="2884725"/>
                <a:ext cx="636600" cy="641400"/>
                <a:chOff x="9231450" y="2884725"/>
                <a:chExt cx="636600" cy="641400"/>
              </a:xfrm>
            </p:grpSpPr>
            <p:sp>
              <p:nvSpPr>
                <p:cNvPr id="459" name="Google Shape;459;p28"/>
                <p:cNvSpPr/>
                <p:nvPr/>
              </p:nvSpPr>
              <p:spPr>
                <a:xfrm>
                  <a:off x="9233850" y="2884725"/>
                  <a:ext cx="629400" cy="6414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60" name="Google Shape;460;p28"/>
                <p:cNvCxnSpPr>
                  <a:stCxn id="459" idx="1"/>
                </p:cNvCxnSpPr>
                <p:nvPr/>
              </p:nvCxnSpPr>
              <p:spPr>
                <a:xfrm>
                  <a:off x="9233850" y="3205425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" name="Google Shape;461;p28"/>
                <p:cNvCxnSpPr/>
                <p:nvPr/>
              </p:nvCxnSpPr>
              <p:spPr>
                <a:xfrm>
                  <a:off x="9233850" y="304000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2" name="Google Shape;462;p28"/>
                <p:cNvCxnSpPr/>
                <p:nvPr/>
              </p:nvCxnSpPr>
              <p:spPr>
                <a:xfrm>
                  <a:off x="9231450" y="336735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63" name="Google Shape;463;p28"/>
              <p:cNvSpPr txBox="1"/>
              <p:nvPr/>
            </p:nvSpPr>
            <p:spPr>
              <a:xfrm>
                <a:off x="9389400" y="3042150"/>
                <a:ext cx="32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…</a:t>
                </a:r>
                <a:endParaRPr/>
              </a:p>
            </p:txBody>
          </p:sp>
        </p:grpSp>
      </p:grpSp>
      <p:cxnSp>
        <p:nvCxnSpPr>
          <p:cNvPr id="464" name="Google Shape;464;p28"/>
          <p:cNvCxnSpPr/>
          <p:nvPr/>
        </p:nvCxnSpPr>
        <p:spPr>
          <a:xfrm flipH="1">
            <a:off x="8481975" y="1159825"/>
            <a:ext cx="758100" cy="1271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5" name="Google Shape;465;p28"/>
          <p:cNvSpPr txBox="1"/>
          <p:nvPr/>
        </p:nvSpPr>
        <p:spPr>
          <a:xfrm>
            <a:off x="9181775" y="917250"/>
            <a:ext cx="84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Cache</a:t>
            </a:r>
            <a:endParaRPr sz="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28"/>
          <p:cNvSpPr txBox="1"/>
          <p:nvPr/>
        </p:nvSpPr>
        <p:spPr>
          <a:xfrm>
            <a:off x="8570225" y="4048800"/>
            <a:ext cx="2064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Memory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Interconnection</a:t>
            </a:r>
            <a:endParaRPr sz="1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8481975" y="3369275"/>
            <a:ext cx="206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PTEs más populares son transferidas más a menudo</a:t>
            </a:r>
            <a:endParaRPr sz="4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8" name="Google Shape;468;p28"/>
          <p:cNvCxnSpPr/>
          <p:nvPr/>
        </p:nvCxnSpPr>
        <p:spPr>
          <a:xfrm rot="10800000">
            <a:off x="9053325" y="3865700"/>
            <a:ext cx="1084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69" name="Google Shape;469;p28"/>
          <p:cNvGraphicFramePr/>
          <p:nvPr/>
        </p:nvGraphicFramePr>
        <p:xfrm>
          <a:off x="2746325" y="4856450"/>
          <a:ext cx="4851825" cy="45717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4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0" name="Google Shape;470;p28"/>
          <p:cNvGraphicFramePr/>
          <p:nvPr/>
        </p:nvGraphicFramePr>
        <p:xfrm>
          <a:off x="4609688" y="5976900"/>
          <a:ext cx="6893550" cy="45717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54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1" name="Google Shape;471;p28"/>
          <p:cNvCxnSpPr/>
          <p:nvPr/>
        </p:nvCxnSpPr>
        <p:spPr>
          <a:xfrm>
            <a:off x="4228500" y="5396975"/>
            <a:ext cx="349800" cy="51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28"/>
          <p:cNvCxnSpPr/>
          <p:nvPr/>
        </p:nvCxnSpPr>
        <p:spPr>
          <a:xfrm>
            <a:off x="7680825" y="5338650"/>
            <a:ext cx="3662100" cy="58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3" name="Google Shape;473;p28"/>
          <p:cNvSpPr txBox="1"/>
          <p:nvPr/>
        </p:nvSpPr>
        <p:spPr>
          <a:xfrm>
            <a:off x="1196050" y="4854188"/>
            <a:ext cx="145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 Entry</a:t>
            </a:r>
            <a:endParaRPr b="1" dirty="0"/>
          </a:p>
        </p:txBody>
      </p:sp>
      <p:sp>
        <p:nvSpPr>
          <p:cNvPr id="474" name="Google Shape;474;p28"/>
          <p:cNvSpPr txBox="1"/>
          <p:nvPr/>
        </p:nvSpPr>
        <p:spPr>
          <a:xfrm>
            <a:off x="2957975" y="5993613"/>
            <a:ext cx="145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b="1"/>
          </a:p>
        </p:txBody>
      </p:sp>
      <p:cxnSp>
        <p:nvCxnSpPr>
          <p:cNvPr id="475" name="Google Shape;475;p28"/>
          <p:cNvCxnSpPr>
            <a:cxnSpLocks/>
          </p:cNvCxnSpPr>
          <p:nvPr/>
        </p:nvCxnSpPr>
        <p:spPr>
          <a:xfrm rot="10800000" flipV="1">
            <a:off x="5043059" y="2631898"/>
            <a:ext cx="3003866" cy="2222290"/>
          </a:xfrm>
          <a:prstGeom prst="bentConnector3">
            <a:avLst>
              <a:gd name="adj1" fmla="val 10008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TLB</a:t>
            </a:r>
            <a:endParaRPr dirty="0"/>
          </a:p>
        </p:txBody>
      </p:sp>
      <p:pic>
        <p:nvPicPr>
          <p:cNvPr id="482" name="Google Shape;4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175" y="1450775"/>
            <a:ext cx="10094650" cy="48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0"/>
          <p:cNvSpPr txBox="1">
            <a:spLocks noGrp="1"/>
          </p:cNvSpPr>
          <p:nvPr>
            <p:ph type="title"/>
          </p:nvPr>
        </p:nvSpPr>
        <p:spPr>
          <a:xfrm>
            <a:off x="782200" y="188293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Problemas debido a los métodos de traducción de direcciones</a:t>
            </a:r>
            <a:endParaRPr dirty="0"/>
          </a:p>
        </p:txBody>
      </p:sp>
      <p:graphicFrame>
        <p:nvGraphicFramePr>
          <p:cNvPr id="489" name="Google Shape;489;p30"/>
          <p:cNvGraphicFramePr/>
          <p:nvPr>
            <p:extLst>
              <p:ext uri="{D42A27DB-BD31-4B8C-83A1-F6EECF244321}">
                <p14:modId xmlns:p14="http://schemas.microsoft.com/office/powerpoint/2010/main" val="4007177089"/>
              </p:ext>
            </p:extLst>
          </p:nvPr>
        </p:nvGraphicFramePr>
        <p:xfrm>
          <a:off x="1010800" y="1695075"/>
          <a:ext cx="10287000" cy="341361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32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Método</a:t>
                      </a:r>
                      <a:endParaRPr sz="2000" b="1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</a:t>
                      </a:r>
                      <a:endParaRPr sz="2000" b="1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Dynamic Relocation (Base &amp; Bounds)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Fragmentación interna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Segmentation (Base &amp; Bounds generalizado)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Fragmentación externa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Paginación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Enorme gasto de memoria debido al espacio ocupado en memoria por cada una de las tablas de pagina asociadas al workload → 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Overhead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 de memoria.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Doble acceso a memoria → Ralentización 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TLB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Gasto de Memoria → 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Overhead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 de memoria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Poco optima cuando no hay localidad → TLB miss altas.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Contextualización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465900" y="973975"/>
            <a:ext cx="7432350" cy="546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/>
              <a:t>Suposiciones hechas hasta el momento</a:t>
            </a:r>
            <a:endParaRPr sz="2600" b="1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Anteriormente habíamos asumido que el espacio de direcciones (Address Space) era lo suficientemente pequeño, para caber en la memoria física.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size(AS) &lt; size(PM)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MX" sz="2200" dirty="0"/>
              <a:t>Incluso, los espacios de direcciones de todos los procesos en ejecución caben en memoria física.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size(sum(AS[Pi])) &lt; size(PM)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9589350" y="1910075"/>
            <a:ext cx="1049700" cy="1050000"/>
            <a:chOff x="9436950" y="1528650"/>
            <a:chExt cx="1049700" cy="1050000"/>
          </a:xfrm>
        </p:grpSpPr>
        <p:sp>
          <p:nvSpPr>
            <p:cNvPr id="160" name="Google Shape;160;p20"/>
            <p:cNvSpPr/>
            <p:nvPr/>
          </p:nvSpPr>
          <p:spPr>
            <a:xfrm>
              <a:off x="9436950" y="1528650"/>
              <a:ext cx="1049700" cy="10500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9632650" y="1910875"/>
              <a:ext cx="653850" cy="483000"/>
              <a:chOff x="9281900" y="3440875"/>
              <a:chExt cx="653850" cy="483000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9285200" y="3440875"/>
                <a:ext cx="648900" cy="483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20"/>
              <p:cNvCxnSpPr/>
              <p:nvPr/>
            </p:nvCxnSpPr>
            <p:spPr>
              <a:xfrm>
                <a:off x="9281900" y="35358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" name="Google Shape;164;p20"/>
              <p:cNvCxnSpPr/>
              <p:nvPr/>
            </p:nvCxnSpPr>
            <p:spPr>
              <a:xfrm>
                <a:off x="9283550" y="362777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" name="Google Shape;165;p20"/>
              <p:cNvCxnSpPr/>
              <p:nvPr/>
            </p:nvCxnSpPr>
            <p:spPr>
              <a:xfrm>
                <a:off x="9283550" y="37293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" name="Google Shape;166;p20"/>
              <p:cNvCxnSpPr/>
              <p:nvPr/>
            </p:nvCxnSpPr>
            <p:spPr>
              <a:xfrm>
                <a:off x="9283550" y="382762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7" name="Google Shape;167;p20"/>
          <p:cNvGrpSpPr/>
          <p:nvPr/>
        </p:nvGrpSpPr>
        <p:grpSpPr>
          <a:xfrm>
            <a:off x="8791950" y="3920650"/>
            <a:ext cx="2745300" cy="1357500"/>
            <a:chOff x="8880000" y="3399000"/>
            <a:chExt cx="2745300" cy="1357500"/>
          </a:xfrm>
        </p:grpSpPr>
        <p:sp>
          <p:nvSpPr>
            <p:cNvPr id="168" name="Google Shape;168;p20"/>
            <p:cNvSpPr/>
            <p:nvPr/>
          </p:nvSpPr>
          <p:spPr>
            <a:xfrm>
              <a:off x="8880000" y="3399000"/>
              <a:ext cx="2745300" cy="1357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9145200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95266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9892000" y="41072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102573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10620038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11166875" y="4043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7375" y="4361950"/>
            <a:ext cx="432475" cy="42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10519350" y="2835125"/>
            <a:ext cx="570450" cy="1259569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77" name="Google Shape;177;p20"/>
          <p:cNvSpPr/>
          <p:nvPr/>
        </p:nvSpPr>
        <p:spPr>
          <a:xfrm rot="-8803767">
            <a:off x="9234013" y="2799225"/>
            <a:ext cx="570457" cy="1259553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418300" y="96038"/>
            <a:ext cx="88023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Contextualización</a:t>
            </a:r>
            <a:endParaRPr dirty="0"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418300" y="973975"/>
            <a:ext cx="7379850" cy="54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Relajando las situaciones anteriores</a:t>
            </a:r>
            <a:endParaRPr sz="2800" b="1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¿Es posible que se den casos en los cuales el SO no tenga suficiente memoria </a:t>
            </a:r>
            <a:r>
              <a:rPr lang="es-ES" sz="2200" dirty="0" err="1"/>
              <a:t>fisica</a:t>
            </a:r>
            <a:r>
              <a:rPr lang="es-ES" sz="2200" dirty="0"/>
              <a:t> (PM) para soportar todos los procesos? - </a:t>
            </a:r>
            <a:r>
              <a:rPr lang="es-ES" sz="2200" b="1" dirty="0">
                <a:solidFill>
                  <a:srgbClr val="8CC63E"/>
                </a:solidFill>
              </a:rPr>
              <a:t>Si</a:t>
            </a:r>
            <a:endParaRPr sz="2000" b="1" dirty="0">
              <a:solidFill>
                <a:srgbClr val="8CC63E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¿Cuando se puede dar lo anteriormente planteado?</a:t>
            </a:r>
            <a:endParaRPr sz="22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Cuando se tiene un único proceso con un espacio de direcciones muy grande.</a:t>
            </a: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size(AS) &gt; size(PM)</a:t>
            </a:r>
            <a:endParaRPr sz="20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Cuando el espacio de direcciones de todos los procesos combinados supera la cantidad de memoria física disponible.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size(sum(AS[Pi])) &gt; size(PM)</a:t>
            </a:r>
            <a:endParaRPr sz="20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84" name="Google Shape;184;p21"/>
          <p:cNvGrpSpPr/>
          <p:nvPr/>
        </p:nvGrpSpPr>
        <p:grpSpPr>
          <a:xfrm>
            <a:off x="9576625" y="2100925"/>
            <a:ext cx="1049700" cy="1050000"/>
            <a:chOff x="9436950" y="1528650"/>
            <a:chExt cx="1049700" cy="1050000"/>
          </a:xfrm>
        </p:grpSpPr>
        <p:sp>
          <p:nvSpPr>
            <p:cNvPr id="185" name="Google Shape;185;p21"/>
            <p:cNvSpPr/>
            <p:nvPr/>
          </p:nvSpPr>
          <p:spPr>
            <a:xfrm>
              <a:off x="9436950" y="1528650"/>
              <a:ext cx="1049700" cy="10500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6" name="Google Shape;186;p21"/>
            <p:cNvGrpSpPr/>
            <p:nvPr/>
          </p:nvGrpSpPr>
          <p:grpSpPr>
            <a:xfrm>
              <a:off x="9632650" y="1910875"/>
              <a:ext cx="653850" cy="483000"/>
              <a:chOff x="9281900" y="3440875"/>
              <a:chExt cx="653850" cy="483000"/>
            </a:xfrm>
          </p:grpSpPr>
          <p:sp>
            <p:nvSpPr>
              <p:cNvPr id="187" name="Google Shape;187;p21"/>
              <p:cNvSpPr/>
              <p:nvPr/>
            </p:nvSpPr>
            <p:spPr>
              <a:xfrm>
                <a:off x="9285200" y="3440875"/>
                <a:ext cx="648900" cy="483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8" name="Google Shape;188;p21"/>
              <p:cNvCxnSpPr/>
              <p:nvPr/>
            </p:nvCxnSpPr>
            <p:spPr>
              <a:xfrm>
                <a:off x="9281900" y="35358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21"/>
              <p:cNvCxnSpPr/>
              <p:nvPr/>
            </p:nvCxnSpPr>
            <p:spPr>
              <a:xfrm>
                <a:off x="9283550" y="362777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21"/>
              <p:cNvCxnSpPr/>
              <p:nvPr/>
            </p:nvCxnSpPr>
            <p:spPr>
              <a:xfrm>
                <a:off x="9283550" y="37293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21"/>
              <p:cNvCxnSpPr/>
              <p:nvPr/>
            </p:nvCxnSpPr>
            <p:spPr>
              <a:xfrm>
                <a:off x="9283550" y="382762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92" name="Google Shape;192;p21"/>
          <p:cNvGrpSpPr/>
          <p:nvPr/>
        </p:nvGrpSpPr>
        <p:grpSpPr>
          <a:xfrm>
            <a:off x="8779225" y="4111500"/>
            <a:ext cx="2745300" cy="1357500"/>
            <a:chOff x="8880000" y="3399000"/>
            <a:chExt cx="2745300" cy="1357500"/>
          </a:xfrm>
        </p:grpSpPr>
        <p:sp>
          <p:nvSpPr>
            <p:cNvPr id="193" name="Google Shape;193;p21"/>
            <p:cNvSpPr/>
            <p:nvPr/>
          </p:nvSpPr>
          <p:spPr>
            <a:xfrm>
              <a:off x="8880000" y="3399000"/>
              <a:ext cx="2745300" cy="1357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9145200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95266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9892000" y="41072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102573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10620038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11166875" y="4043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275" y="4560948"/>
            <a:ext cx="434450" cy="4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10455725" y="3060125"/>
            <a:ext cx="570450" cy="1259569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02" name="Google Shape;202;p21"/>
          <p:cNvSpPr/>
          <p:nvPr/>
        </p:nvSpPr>
        <p:spPr>
          <a:xfrm rot="-8803767">
            <a:off x="9170388" y="3024225"/>
            <a:ext cx="570457" cy="1259553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>
            <a:spLocks noGrp="1"/>
          </p:cNvSpPr>
          <p:nvPr>
            <p:ph type="title"/>
          </p:nvPr>
        </p:nvSpPr>
        <p:spPr>
          <a:xfrm>
            <a:off x="333829" y="96038"/>
            <a:ext cx="88868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Contextualización</a:t>
            </a:r>
            <a:endParaRPr dirty="0"/>
          </a:p>
        </p:txBody>
      </p:sp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333829" y="820551"/>
            <a:ext cx="6180000" cy="61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En resumen</a:t>
            </a:r>
            <a:endParaRPr sz="2800" b="1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09" name="Google Shape;209;p22"/>
          <p:cNvGrpSpPr/>
          <p:nvPr/>
        </p:nvGrpSpPr>
        <p:grpSpPr>
          <a:xfrm>
            <a:off x="8629054" y="1975331"/>
            <a:ext cx="806322" cy="1163511"/>
            <a:chOff x="1775100" y="4022850"/>
            <a:chExt cx="1076100" cy="1739700"/>
          </a:xfrm>
        </p:grpSpPr>
        <p:sp>
          <p:nvSpPr>
            <p:cNvPr id="210" name="Google Shape;210;p2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  <a:ea typeface="Roboto" panose="02000000000000000000" pitchFamily="2" charset="0"/>
              </a:endParaRPr>
            </a:p>
          </p:txBody>
        </p:sp>
        <p:grpSp>
          <p:nvGrpSpPr>
            <p:cNvPr id="211" name="Google Shape;211;p2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212" name="Google Shape;212;p2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Roboto" panose="02000000000000000000" pitchFamily="2" charset="0"/>
                  <a:cs typeface="Courier New"/>
                  <a:sym typeface="Courier New"/>
                </a:endParaRPr>
              </a:p>
            </p:txBody>
          </p:sp>
          <p:sp>
            <p:nvSpPr>
              <p:cNvPr id="213" name="Google Shape;213;p2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14" name="Google Shape;214;p2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heap</a:t>
                </a:r>
                <a:endParaRPr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15" name="Google Shape;215;p2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 err="1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cxnSp>
            <p:nvCxnSpPr>
              <p:cNvPr id="216" name="Google Shape;216;p22"/>
              <p:cNvCxnSpPr>
                <a:stCxn id="21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17" name="Google Shape;217;p22"/>
              <p:cNvCxnSpPr>
                <a:stCxn id="21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18" name="Google Shape;218;p22"/>
          <p:cNvGrpSpPr/>
          <p:nvPr/>
        </p:nvGrpSpPr>
        <p:grpSpPr>
          <a:xfrm>
            <a:off x="8629042" y="3579393"/>
            <a:ext cx="806322" cy="1163511"/>
            <a:chOff x="1775100" y="4022850"/>
            <a:chExt cx="1076100" cy="1739700"/>
          </a:xfrm>
        </p:grpSpPr>
        <p:sp>
          <p:nvSpPr>
            <p:cNvPr id="219" name="Google Shape;219;p2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  <a:ea typeface="Roboto" panose="02000000000000000000" pitchFamily="2" charset="0"/>
              </a:endParaRPr>
            </a:p>
          </p:txBody>
        </p:sp>
        <p:grpSp>
          <p:nvGrpSpPr>
            <p:cNvPr id="220" name="Google Shape;220;p2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221" name="Google Shape;221;p2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Roboto" panose="02000000000000000000" pitchFamily="2" charset="0"/>
                  <a:cs typeface="Courier New"/>
                  <a:sym typeface="Courier New"/>
                </a:endParaRPr>
              </a:p>
            </p:txBody>
          </p:sp>
          <p:sp>
            <p:nvSpPr>
              <p:cNvPr id="222" name="Google Shape;222;p2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23" name="Google Shape;223;p2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heap</a:t>
                </a:r>
                <a:endParaRPr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24" name="Google Shape;224;p2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 err="1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cxnSp>
            <p:nvCxnSpPr>
              <p:cNvPr id="225" name="Google Shape;225;p22"/>
              <p:cNvCxnSpPr>
                <a:stCxn id="223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6" name="Google Shape;226;p22"/>
              <p:cNvCxnSpPr>
                <a:stCxn id="224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27" name="Google Shape;227;p22"/>
          <p:cNvGrpSpPr/>
          <p:nvPr/>
        </p:nvGrpSpPr>
        <p:grpSpPr>
          <a:xfrm>
            <a:off x="10827675" y="1230575"/>
            <a:ext cx="822300" cy="3936300"/>
            <a:chOff x="6401200" y="2480400"/>
            <a:chExt cx="822300" cy="3936300"/>
          </a:xfrm>
        </p:grpSpPr>
        <p:sp>
          <p:nvSpPr>
            <p:cNvPr id="228" name="Google Shape;228;p22"/>
            <p:cNvSpPr/>
            <p:nvPr/>
          </p:nvSpPr>
          <p:spPr>
            <a:xfrm>
              <a:off x="6401200" y="2480400"/>
              <a:ext cx="822300" cy="3936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  <a:ea typeface="Roboto" panose="02000000000000000000" pitchFamily="2" charset="0"/>
              </a:endParaRPr>
            </a:p>
          </p:txBody>
        </p:sp>
        <p:grpSp>
          <p:nvGrpSpPr>
            <p:cNvPr id="229" name="Google Shape;229;p22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230" name="Google Shape;230;p2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231" name="Google Shape;231;p2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32" name="Google Shape;232;p2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Roboto" panose="02000000000000000000" pitchFamily="2" charset="0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33" name="Google Shape;233;p2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Roboto" panose="02000000000000000000" pitchFamily="2" charset="0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234" name="Google Shape;234;p2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Roboto" panose="02000000000000000000" pitchFamily="2" charset="0"/>
                      <a:cs typeface="Courier New"/>
                      <a:sym typeface="Courier New"/>
                    </a:rPr>
                    <a:t>heap</a:t>
                  </a:r>
                  <a:endParaRPr>
                    <a:latin typeface="Consolas" panose="020B0609020204030204" pitchFamily="49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235" name="Google Shape;235;p2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 err="1">
                      <a:latin typeface="Consolas" panose="020B0609020204030204" pitchFamily="49" charset="0"/>
                      <a:ea typeface="Roboto" panose="02000000000000000000" pitchFamily="2" charset="0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  <a:ea typeface="Roboto" panose="02000000000000000000" pitchFamily="2" charset="0"/>
                  </a:endParaRPr>
                </a:p>
              </p:txBody>
            </p:sp>
            <p:cxnSp>
              <p:nvCxnSpPr>
                <p:cNvPr id="236" name="Google Shape;236;p22"/>
                <p:cNvCxnSpPr>
                  <a:stCxn id="23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37" name="Google Shape;237;p22"/>
                <p:cNvCxnSpPr>
                  <a:stCxn id="23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238" name="Google Shape;238;p22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239" name="Google Shape;239;p2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240" name="Google Shape;240;p2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41" name="Google Shape;241;p2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Roboto" panose="02000000000000000000" pitchFamily="2" charset="0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42" name="Google Shape;242;p2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Roboto" panose="02000000000000000000" pitchFamily="2" charset="0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243" name="Google Shape;243;p2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Roboto" panose="02000000000000000000" pitchFamily="2" charset="0"/>
                      <a:cs typeface="Courier New"/>
                      <a:sym typeface="Courier New"/>
                    </a:rPr>
                    <a:t>heap</a:t>
                  </a:r>
                  <a:endParaRPr>
                    <a:latin typeface="Consolas" panose="020B0609020204030204" pitchFamily="49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244" name="Google Shape;244;p2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 err="1">
                      <a:latin typeface="Consolas" panose="020B0609020204030204" pitchFamily="49" charset="0"/>
                      <a:ea typeface="Roboto" panose="02000000000000000000" pitchFamily="2" charset="0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  <a:ea typeface="Roboto" panose="02000000000000000000" pitchFamily="2" charset="0"/>
                  </a:endParaRPr>
                </a:p>
              </p:txBody>
            </p:sp>
            <p:cxnSp>
              <p:nvCxnSpPr>
                <p:cNvPr id="245" name="Google Shape;245;p22"/>
                <p:cNvCxnSpPr>
                  <a:stCxn id="243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46" name="Google Shape;246;p22"/>
                <p:cNvCxnSpPr>
                  <a:stCxn id="244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247" name="Google Shape;247;p22"/>
          <p:cNvSpPr/>
          <p:nvPr/>
        </p:nvSpPr>
        <p:spPr>
          <a:xfrm>
            <a:off x="7329588" y="2191538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Roboto" panose="02000000000000000000" pitchFamily="2" charset="0"/>
                <a:cs typeface="Courier New"/>
                <a:sym typeface="Courier New"/>
              </a:rPr>
              <a:t>P1</a:t>
            </a:r>
            <a:endParaRPr sz="1800">
              <a:latin typeface="Consolas" panose="020B0609020204030204" pitchFamily="49" charset="0"/>
              <a:ea typeface="Roboto" panose="02000000000000000000" pitchFamily="2" charset="0"/>
              <a:cs typeface="Courier New"/>
              <a:sym typeface="Courier New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7323750" y="37956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Roboto" panose="02000000000000000000" pitchFamily="2" charset="0"/>
                <a:cs typeface="Courier New"/>
                <a:sym typeface="Courier New"/>
              </a:rPr>
              <a:t>P2</a:t>
            </a:r>
            <a:endParaRPr sz="1800">
              <a:latin typeface="Consolas" panose="020B0609020204030204" pitchFamily="49" charset="0"/>
              <a:ea typeface="Roboto" panose="02000000000000000000" pitchFamily="2" charset="0"/>
              <a:cs typeface="Courier New"/>
              <a:sym typeface="Courier New"/>
            </a:endParaRPr>
          </a:p>
        </p:txBody>
      </p:sp>
      <p:cxnSp>
        <p:nvCxnSpPr>
          <p:cNvPr id="249" name="Google Shape;249;p22"/>
          <p:cNvCxnSpPr/>
          <p:nvPr/>
        </p:nvCxnSpPr>
        <p:spPr>
          <a:xfrm rot="10800000" flipH="1">
            <a:off x="9450575" y="1857550"/>
            <a:ext cx="1373400" cy="125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22"/>
          <p:cNvCxnSpPr/>
          <p:nvPr/>
        </p:nvCxnSpPr>
        <p:spPr>
          <a:xfrm rot="10800000" flipH="1">
            <a:off x="9450575" y="3030375"/>
            <a:ext cx="1376100" cy="11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22"/>
          <p:cNvCxnSpPr/>
          <p:nvPr/>
        </p:nvCxnSpPr>
        <p:spPr>
          <a:xfrm rot="10800000" flipH="1">
            <a:off x="9450575" y="3575900"/>
            <a:ext cx="1376400" cy="99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2"/>
          <p:cNvCxnSpPr/>
          <p:nvPr/>
        </p:nvCxnSpPr>
        <p:spPr>
          <a:xfrm>
            <a:off x="9450575" y="4743650"/>
            <a:ext cx="1376700" cy="5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2"/>
          <p:cNvCxnSpPr/>
          <p:nvPr/>
        </p:nvCxnSpPr>
        <p:spPr>
          <a:xfrm rot="10800000" flipH="1">
            <a:off x="8141875" y="415115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" name="Google Shape;254;p22"/>
          <p:cNvCxnSpPr/>
          <p:nvPr/>
        </p:nvCxnSpPr>
        <p:spPr>
          <a:xfrm rot="10800000" flipH="1">
            <a:off x="8153525" y="255805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5" name="Google Shape;255;p22"/>
          <p:cNvCxnSpPr>
            <a:stCxn id="214" idx="3"/>
            <a:endCxn id="234" idx="1"/>
          </p:cNvCxnSpPr>
          <p:nvPr/>
        </p:nvCxnSpPr>
        <p:spPr>
          <a:xfrm rot="10800000" flipH="1">
            <a:off x="9435376" y="2354183"/>
            <a:ext cx="1400400" cy="1128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" name="Google Shape;256;p22"/>
          <p:cNvCxnSpPr>
            <a:stCxn id="223" idx="3"/>
            <a:endCxn id="243" idx="1"/>
          </p:cNvCxnSpPr>
          <p:nvPr/>
        </p:nvCxnSpPr>
        <p:spPr>
          <a:xfrm rot="10800000" flipH="1">
            <a:off x="9435363" y="4068645"/>
            <a:ext cx="1400400" cy="24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7" name="Google Shape;257;p22"/>
          <p:cNvSpPr txBox="1"/>
          <p:nvPr/>
        </p:nvSpPr>
        <p:spPr>
          <a:xfrm>
            <a:off x="7910975" y="1161161"/>
            <a:ext cx="1539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 panose="020B0609020204030204" pitchFamily="49" charset="0"/>
                <a:ea typeface="Roboto" panose="02000000000000000000" pitchFamily="2" charset="0"/>
                <a:cs typeface="Courier New"/>
                <a:sym typeface="Courier New"/>
              </a:rPr>
              <a:t>Dirección Virtual</a:t>
            </a:r>
            <a:endParaRPr sz="1200" dirty="0">
              <a:latin typeface="Consolas" panose="020B0609020204030204" pitchFamily="49" charset="0"/>
              <a:ea typeface="Roboto" panose="02000000000000000000" pitchFamily="2" charset="0"/>
              <a:cs typeface="Courier New"/>
              <a:sym typeface="Courier New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9763432" y="1097722"/>
            <a:ext cx="1027687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 panose="020B0609020204030204" pitchFamily="49" charset="0"/>
                <a:ea typeface="Roboto" panose="02000000000000000000" pitchFamily="2" charset="0"/>
                <a:cs typeface="Courier New"/>
                <a:sym typeface="Courier New"/>
              </a:rPr>
              <a:t>Dirección Física</a:t>
            </a:r>
            <a:endParaRPr sz="1200" dirty="0">
              <a:latin typeface="Consolas" panose="020B0609020204030204" pitchFamily="49" charset="0"/>
              <a:ea typeface="Roboto" panose="02000000000000000000" pitchFamily="2" charset="0"/>
              <a:cs typeface="Courier New"/>
              <a:sym typeface="Courier New"/>
            </a:endParaRPr>
          </a:p>
        </p:txBody>
      </p:sp>
      <p:grpSp>
        <p:nvGrpSpPr>
          <p:cNvPr id="259" name="Google Shape;259;p22"/>
          <p:cNvGrpSpPr/>
          <p:nvPr/>
        </p:nvGrpSpPr>
        <p:grpSpPr>
          <a:xfrm>
            <a:off x="7582575" y="5183450"/>
            <a:ext cx="4426050" cy="738633"/>
            <a:chOff x="7439250" y="5328100"/>
            <a:chExt cx="4426050" cy="738633"/>
          </a:xfrm>
        </p:grpSpPr>
        <p:sp>
          <p:nvSpPr>
            <p:cNvPr id="260" name="Google Shape;260;p22"/>
            <p:cNvSpPr txBox="1"/>
            <p:nvPr/>
          </p:nvSpPr>
          <p:spPr>
            <a:xfrm>
              <a:off x="7439250" y="5328100"/>
              <a:ext cx="15396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nsolas" panose="020B0609020204030204" pitchFamily="49" charset="0"/>
                <a:ea typeface="Roboto" panose="02000000000000000000" pitchFamily="2" charset="0"/>
                <a:cs typeface="Courier New"/>
                <a:sym typeface="Courier New"/>
              </a:endParaRPr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10325700" y="5328100"/>
              <a:ext cx="15396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Courier New"/>
                  <a:sym typeface="Courier New"/>
                </a:rPr>
                <a:t>Memoria Física</a:t>
              </a:r>
              <a:endParaRPr b="1">
                <a:solidFill>
                  <a:srgbClr val="70AD47"/>
                </a:solidFill>
                <a:latin typeface="Consolas" panose="020B0609020204030204" pitchFamily="49" charset="0"/>
                <a:ea typeface="Roboto" panose="02000000000000000000" pitchFamily="2" charset="0"/>
                <a:cs typeface="Courier New"/>
                <a:sym typeface="Courier New"/>
              </a:endParaRPr>
            </a:p>
          </p:txBody>
        </p:sp>
        <p:grpSp>
          <p:nvGrpSpPr>
            <p:cNvPr id="262" name="Google Shape;262;p22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263" name="Google Shape;263;p22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>
                  <a:lumMod val="75000"/>
                </a:schemeClr>
              </a:solidFill>
              <a:ln w="952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64" name="Google Shape;264;p22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rgbClr val="FFFFFF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rgbClr val="FFFFFF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265" name="Google Shape;2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3975" y="5870811"/>
            <a:ext cx="897725" cy="8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>
            <a:spLocks noGrp="1"/>
          </p:cNvSpPr>
          <p:nvPr>
            <p:ph type="body" idx="1"/>
          </p:nvPr>
        </p:nvSpPr>
        <p:spPr>
          <a:xfrm>
            <a:off x="341821" y="1319022"/>
            <a:ext cx="6575060" cy="181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200" dirty="0"/>
              <a:t>El espacio de direcciones de un proceso es pequeño y cabe en memoria física.</a:t>
            </a:r>
            <a:endParaRPr sz="22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200" dirty="0"/>
              <a:t>El espacio de direcciones debido al </a:t>
            </a:r>
            <a:r>
              <a:rPr lang="es-ES" sz="2200" b="1" dirty="0"/>
              <a:t>workload</a:t>
            </a:r>
            <a:r>
              <a:rPr lang="es-ES" sz="2200" dirty="0"/>
              <a:t> (todos los procesos en ejecución) cabe en memoria.</a:t>
            </a: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67" name="Google Shape;267;p22"/>
          <p:cNvGrpSpPr/>
          <p:nvPr/>
        </p:nvGrpSpPr>
        <p:grpSpPr>
          <a:xfrm>
            <a:off x="1842975" y="3298875"/>
            <a:ext cx="1049700" cy="1050000"/>
            <a:chOff x="9436950" y="1528650"/>
            <a:chExt cx="1049700" cy="1050000"/>
          </a:xfrm>
        </p:grpSpPr>
        <p:sp>
          <p:nvSpPr>
            <p:cNvPr id="268" name="Google Shape;268;p22"/>
            <p:cNvSpPr/>
            <p:nvPr/>
          </p:nvSpPr>
          <p:spPr>
            <a:xfrm>
              <a:off x="9436950" y="1528650"/>
              <a:ext cx="1049700" cy="10500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69" name="Google Shape;269;p22"/>
            <p:cNvGrpSpPr/>
            <p:nvPr/>
          </p:nvGrpSpPr>
          <p:grpSpPr>
            <a:xfrm>
              <a:off x="9632650" y="1910875"/>
              <a:ext cx="653850" cy="483000"/>
              <a:chOff x="9281900" y="3440875"/>
              <a:chExt cx="653850" cy="483000"/>
            </a:xfrm>
          </p:grpSpPr>
          <p:sp>
            <p:nvSpPr>
              <p:cNvPr id="270" name="Google Shape;270;p22"/>
              <p:cNvSpPr/>
              <p:nvPr/>
            </p:nvSpPr>
            <p:spPr>
              <a:xfrm>
                <a:off x="9285200" y="3440875"/>
                <a:ext cx="648900" cy="483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1" name="Google Shape;271;p22"/>
              <p:cNvCxnSpPr/>
              <p:nvPr/>
            </p:nvCxnSpPr>
            <p:spPr>
              <a:xfrm>
                <a:off x="9281900" y="35358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2"/>
              <p:cNvCxnSpPr/>
              <p:nvPr/>
            </p:nvCxnSpPr>
            <p:spPr>
              <a:xfrm>
                <a:off x="9283550" y="362777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22"/>
              <p:cNvCxnSpPr/>
              <p:nvPr/>
            </p:nvCxnSpPr>
            <p:spPr>
              <a:xfrm>
                <a:off x="9283550" y="37293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22"/>
              <p:cNvCxnSpPr/>
              <p:nvPr/>
            </p:nvCxnSpPr>
            <p:spPr>
              <a:xfrm>
                <a:off x="9283550" y="382762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75" name="Google Shape;275;p22"/>
          <p:cNvGrpSpPr/>
          <p:nvPr/>
        </p:nvGrpSpPr>
        <p:grpSpPr>
          <a:xfrm>
            <a:off x="995175" y="4836325"/>
            <a:ext cx="2745300" cy="1357500"/>
            <a:chOff x="8880000" y="3399000"/>
            <a:chExt cx="2745300" cy="1357500"/>
          </a:xfrm>
        </p:grpSpPr>
        <p:sp>
          <p:nvSpPr>
            <p:cNvPr id="276" name="Google Shape;276;p22"/>
            <p:cNvSpPr/>
            <p:nvPr/>
          </p:nvSpPr>
          <p:spPr>
            <a:xfrm>
              <a:off x="8880000" y="3399000"/>
              <a:ext cx="2745300" cy="1357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9145200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95266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9892000" y="41072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02573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10620038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11166875" y="4043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" name="Google Shape;283;p22"/>
          <p:cNvSpPr/>
          <p:nvPr/>
        </p:nvSpPr>
        <p:spPr>
          <a:xfrm rot="416969">
            <a:off x="2705416" y="3870851"/>
            <a:ext cx="570477" cy="1194395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4" name="Google Shape;284;p22"/>
          <p:cNvSpPr/>
          <p:nvPr/>
        </p:nvSpPr>
        <p:spPr>
          <a:xfrm rot="-9075854">
            <a:off x="1474329" y="3807729"/>
            <a:ext cx="549602" cy="1212190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5" name="Google Shape;285;p22"/>
          <p:cNvSpPr/>
          <p:nvPr/>
        </p:nvSpPr>
        <p:spPr>
          <a:xfrm>
            <a:off x="3959463" y="4836325"/>
            <a:ext cx="3032100" cy="1357506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 tenemos suficiente </a:t>
            </a:r>
            <a:r>
              <a:rPr lang="es-ES" sz="13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Mem</a:t>
            </a:r>
            <a:r>
              <a:rPr lang="es-ES" sz="13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es-ES" sz="13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Fisica</a:t>
            </a:r>
            <a:endParaRPr sz="13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>
            <a:spLocks noGrp="1"/>
          </p:cNvSpPr>
          <p:nvPr>
            <p:ph type="title"/>
          </p:nvPr>
        </p:nvSpPr>
        <p:spPr>
          <a:xfrm>
            <a:off x="566057" y="96038"/>
            <a:ext cx="86545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Contextualización</a:t>
            </a:r>
            <a:endParaRPr dirty="0"/>
          </a:p>
        </p:txBody>
      </p:sp>
      <p:sp>
        <p:nvSpPr>
          <p:cNvPr id="291" name="Google Shape;291;p23"/>
          <p:cNvSpPr txBox="1">
            <a:spLocks noGrp="1"/>
          </p:cNvSpPr>
          <p:nvPr>
            <p:ph type="body" idx="1"/>
          </p:nvPr>
        </p:nvSpPr>
        <p:spPr>
          <a:xfrm>
            <a:off x="566057" y="867157"/>
            <a:ext cx="11042421" cy="56975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Pregunta clave</a:t>
            </a:r>
            <a:endParaRPr sz="2800"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" name="Google Shape;292;p23"/>
          <p:cNvSpPr txBox="1"/>
          <p:nvPr/>
        </p:nvSpPr>
        <p:spPr>
          <a:xfrm>
            <a:off x="711200" y="1578425"/>
            <a:ext cx="10897278" cy="169274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¿Cómo ir más allá de la memoria física?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ea typeface="Roboto"/>
                <a:cs typeface="Roboto"/>
                <a:sym typeface="Roboto"/>
              </a:rPr>
              <a:t>¿Cómo puede el sistema operativo usar un dispositivo más grande y lento para proporcionar de forma transparente la ilusión de un gran espacio de direcciones virtuales?</a:t>
            </a:r>
            <a:endParaRPr sz="24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Jerarquía de memoria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7" name="Google Shape;307;p25"/>
          <p:cNvSpPr txBox="1">
            <a:spLocks noGrp="1"/>
          </p:cNvSpPr>
          <p:nvPr>
            <p:ph type="body" idx="1"/>
          </p:nvPr>
        </p:nvSpPr>
        <p:spPr>
          <a:xfrm>
            <a:off x="355650" y="835600"/>
            <a:ext cx="114807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Jerarquía de memoria en un sistema moderno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308" name="Google Shape;3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175" y="1558300"/>
            <a:ext cx="7751650" cy="43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2375400" y="6033325"/>
            <a:ext cx="7394400" cy="58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How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computer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memory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works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-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Kanawat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Senanan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4"/>
              </a:rPr>
              <a:t>link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 txBox="1">
            <a:spLocks noGrp="1"/>
          </p:cNvSpPr>
          <p:nvPr>
            <p:ph type="title"/>
          </p:nvPr>
        </p:nvSpPr>
        <p:spPr>
          <a:xfrm>
            <a:off x="478971" y="96038"/>
            <a:ext cx="87416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Jerarquía de memoria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body" idx="1"/>
          </p:nvPr>
        </p:nvSpPr>
        <p:spPr>
          <a:xfrm>
            <a:off x="478971" y="835600"/>
            <a:ext cx="11357379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Jerarquía de memoria en un sistema moderno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16" name="Google Shape;316;p26"/>
          <p:cNvGrpSpPr/>
          <p:nvPr/>
        </p:nvGrpSpPr>
        <p:grpSpPr>
          <a:xfrm>
            <a:off x="6740450" y="1982650"/>
            <a:ext cx="4796700" cy="4008000"/>
            <a:chOff x="6740450" y="1982650"/>
            <a:chExt cx="4796700" cy="4008000"/>
          </a:xfrm>
        </p:grpSpPr>
        <p:grpSp>
          <p:nvGrpSpPr>
            <p:cNvPr id="317" name="Google Shape;317;p26"/>
            <p:cNvGrpSpPr/>
            <p:nvPr/>
          </p:nvGrpSpPr>
          <p:grpSpPr>
            <a:xfrm>
              <a:off x="6740450" y="1982650"/>
              <a:ext cx="4796700" cy="4008000"/>
              <a:chOff x="6753175" y="1880850"/>
              <a:chExt cx="4796700" cy="4008000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6753175" y="1880850"/>
                <a:ext cx="4796700" cy="4008000"/>
              </a:xfrm>
              <a:prstGeom prst="triangle">
                <a:avLst>
                  <a:gd name="adj" fmla="val 49814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9" name="Google Shape;319;p26"/>
              <p:cNvCxnSpPr/>
              <p:nvPr/>
            </p:nvCxnSpPr>
            <p:spPr>
              <a:xfrm rot="10800000" flipH="1">
                <a:off x="8460425" y="3026800"/>
                <a:ext cx="1371000" cy="9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26"/>
              <p:cNvCxnSpPr>
                <a:stCxn id="318" idx="1"/>
                <a:endCxn id="318" idx="5"/>
              </p:cNvCxnSpPr>
              <p:nvPr/>
            </p:nvCxnSpPr>
            <p:spPr>
              <a:xfrm>
                <a:off x="7947889" y="3884850"/>
                <a:ext cx="2398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26"/>
              <p:cNvCxnSpPr/>
              <p:nvPr/>
            </p:nvCxnSpPr>
            <p:spPr>
              <a:xfrm rot="10800000" flipH="1">
                <a:off x="7398000" y="4820750"/>
                <a:ext cx="3510000" cy="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22" name="Google Shape;322;p26"/>
            <p:cNvSpPr/>
            <p:nvPr/>
          </p:nvSpPr>
          <p:spPr>
            <a:xfrm>
              <a:off x="8591600" y="2494199"/>
              <a:ext cx="1094400" cy="5572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 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Registers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8591600" y="3407375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Cache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8591600" y="4297750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7637450" y="5328100"/>
              <a:ext cx="3002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Mass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Storage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hard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disk, tape, etc.)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6" name="Google Shape;326;p26"/>
          <p:cNvGrpSpPr/>
          <p:nvPr/>
        </p:nvGrpSpPr>
        <p:grpSpPr>
          <a:xfrm>
            <a:off x="6600525" y="2593075"/>
            <a:ext cx="941625" cy="2430300"/>
            <a:chOff x="6422400" y="2529750"/>
            <a:chExt cx="941625" cy="2430300"/>
          </a:xfrm>
        </p:grpSpPr>
        <p:cxnSp>
          <p:nvCxnSpPr>
            <p:cNvPr id="327" name="Google Shape;327;p26"/>
            <p:cNvCxnSpPr/>
            <p:nvPr/>
          </p:nvCxnSpPr>
          <p:spPr>
            <a:xfrm>
              <a:off x="6422400" y="2529750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8" name="Google Shape;328;p26"/>
            <p:cNvSpPr/>
            <p:nvPr/>
          </p:nvSpPr>
          <p:spPr>
            <a:xfrm>
              <a:off x="6491925" y="3445275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Size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9" name="Google Shape;329;p26"/>
          <p:cNvGrpSpPr/>
          <p:nvPr/>
        </p:nvGrpSpPr>
        <p:grpSpPr>
          <a:xfrm>
            <a:off x="10779375" y="2593075"/>
            <a:ext cx="884700" cy="2430300"/>
            <a:chOff x="10779375" y="2593075"/>
            <a:chExt cx="884700" cy="2430300"/>
          </a:xfrm>
        </p:grpSpPr>
        <p:cxnSp>
          <p:nvCxnSpPr>
            <p:cNvPr id="330" name="Google Shape;330;p26"/>
            <p:cNvCxnSpPr/>
            <p:nvPr/>
          </p:nvCxnSpPr>
          <p:spPr>
            <a:xfrm rot="10800000" flipH="1">
              <a:off x="11651475" y="2593075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1" name="Google Shape;331;p26"/>
            <p:cNvSpPr/>
            <p:nvPr/>
          </p:nvSpPr>
          <p:spPr>
            <a:xfrm>
              <a:off x="10779375" y="321270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Speed</a:t>
              </a:r>
              <a:endParaRPr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0779375" y="377035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Cost</a:t>
              </a:r>
              <a:endParaRPr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3" name="Google Shape;333;p26"/>
          <p:cNvGrpSpPr/>
          <p:nvPr/>
        </p:nvGrpSpPr>
        <p:grpSpPr>
          <a:xfrm>
            <a:off x="987992" y="1658822"/>
            <a:ext cx="5066854" cy="5053578"/>
            <a:chOff x="364542" y="1658822"/>
            <a:chExt cx="5066854" cy="5053578"/>
          </a:xfrm>
        </p:grpSpPr>
        <p:grpSp>
          <p:nvGrpSpPr>
            <p:cNvPr id="334" name="Google Shape;334;p26"/>
            <p:cNvGrpSpPr/>
            <p:nvPr/>
          </p:nvGrpSpPr>
          <p:grpSpPr>
            <a:xfrm>
              <a:off x="2529417" y="1658822"/>
              <a:ext cx="872091" cy="949515"/>
              <a:chOff x="9436950" y="1528650"/>
              <a:chExt cx="1049700" cy="1050000"/>
            </a:xfrm>
          </p:grpSpPr>
          <p:sp>
            <p:nvSpPr>
              <p:cNvPr id="335" name="Google Shape;335;p26"/>
              <p:cNvSpPr/>
              <p:nvPr/>
            </p:nvSpPr>
            <p:spPr>
              <a:xfrm>
                <a:off x="9436950" y="1528650"/>
                <a:ext cx="1049700" cy="10500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grpSp>
            <p:nvGrpSpPr>
              <p:cNvPr id="336" name="Google Shape;336;p26"/>
              <p:cNvGrpSpPr/>
              <p:nvPr/>
            </p:nvGrpSpPr>
            <p:grpSpPr>
              <a:xfrm>
                <a:off x="9632650" y="1910875"/>
                <a:ext cx="653850" cy="483000"/>
                <a:chOff x="9281900" y="3440875"/>
                <a:chExt cx="653850" cy="483000"/>
              </a:xfrm>
            </p:grpSpPr>
            <p:sp>
              <p:nvSpPr>
                <p:cNvPr id="337" name="Google Shape;337;p26"/>
                <p:cNvSpPr/>
                <p:nvPr/>
              </p:nvSpPr>
              <p:spPr>
                <a:xfrm>
                  <a:off x="9285200" y="3440875"/>
                  <a:ext cx="648900" cy="483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38" name="Google Shape;338;p26"/>
                <p:cNvCxnSpPr/>
                <p:nvPr/>
              </p:nvCxnSpPr>
              <p:spPr>
                <a:xfrm>
                  <a:off x="9281900" y="35358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26"/>
                <p:cNvCxnSpPr/>
                <p:nvPr/>
              </p:nvCxnSpPr>
              <p:spPr>
                <a:xfrm>
                  <a:off x="9283550" y="362777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26"/>
                <p:cNvCxnSpPr/>
                <p:nvPr/>
              </p:nvCxnSpPr>
              <p:spPr>
                <a:xfrm>
                  <a:off x="9283550" y="37293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26"/>
                <p:cNvCxnSpPr/>
                <p:nvPr/>
              </p:nvCxnSpPr>
              <p:spPr>
                <a:xfrm>
                  <a:off x="9283550" y="382762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42" name="Google Shape;342;p26"/>
            <p:cNvGrpSpPr/>
            <p:nvPr/>
          </p:nvGrpSpPr>
          <p:grpSpPr>
            <a:xfrm>
              <a:off x="1956651" y="2986998"/>
              <a:ext cx="1883550" cy="884004"/>
              <a:chOff x="8880000" y="3399000"/>
              <a:chExt cx="2745300" cy="1357500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8880000" y="3399000"/>
                <a:ext cx="2745300" cy="13575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 err="1">
                    <a:latin typeface="Consolas"/>
                    <a:ea typeface="Consolas"/>
                    <a:cs typeface="Consolas"/>
                    <a:sym typeface="Consolas"/>
                  </a:rPr>
                  <a:t>Main</a:t>
                </a: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 Memory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9145200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95266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9892000" y="41072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6"/>
              <p:cNvSpPr/>
              <p:nvPr/>
            </p:nvSpPr>
            <p:spPr>
              <a:xfrm>
                <a:off x="102573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6"/>
              <p:cNvSpPr/>
              <p:nvPr/>
            </p:nvSpPr>
            <p:spPr>
              <a:xfrm>
                <a:off x="10620038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11166875" y="4043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0" name="Google Shape;350;p26"/>
            <p:cNvSpPr/>
            <p:nvPr/>
          </p:nvSpPr>
          <p:spPr>
            <a:xfrm>
              <a:off x="1467563" y="4300675"/>
              <a:ext cx="2995800" cy="722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SSD (Solid State Drive)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1" name="Google Shape;351;p26"/>
            <p:cNvGrpSpPr/>
            <p:nvPr/>
          </p:nvGrpSpPr>
          <p:grpSpPr>
            <a:xfrm>
              <a:off x="2433113" y="5453050"/>
              <a:ext cx="1064725" cy="1259350"/>
              <a:chOff x="1243875" y="5299700"/>
              <a:chExt cx="1064725" cy="1259350"/>
            </a:xfrm>
          </p:grpSpPr>
          <p:sp>
            <p:nvSpPr>
              <p:cNvPr id="352" name="Google Shape;352;p26"/>
              <p:cNvSpPr/>
              <p:nvPr/>
            </p:nvSpPr>
            <p:spPr>
              <a:xfrm>
                <a:off x="1243875" y="612645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1243875" y="5532525"/>
                <a:ext cx="1064700" cy="827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Hard 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Drive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54" name="Google Shape;354;p26"/>
              <p:cNvSpPr/>
              <p:nvPr/>
            </p:nvSpPr>
            <p:spPr>
              <a:xfrm>
                <a:off x="1243900" y="529970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5" name="Google Shape;355;p26"/>
              <p:cNvCxnSpPr/>
              <p:nvPr/>
            </p:nvCxnSpPr>
            <p:spPr>
              <a:xfrm>
                <a:off x="1254550" y="6368200"/>
                <a:ext cx="10434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9D2E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56" name="Google Shape;356;p26"/>
            <p:cNvSpPr/>
            <p:nvPr/>
          </p:nvSpPr>
          <p:spPr>
            <a:xfrm rot="-8989418">
              <a:off x="2328436" y="2145360"/>
              <a:ext cx="185095" cy="978845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7" name="Google Shape;357;p26"/>
            <p:cNvSpPr/>
            <p:nvPr/>
          </p:nvSpPr>
          <p:spPr>
            <a:xfrm rot="-575579">
              <a:off x="3374070" y="2154245"/>
              <a:ext cx="300204" cy="1058447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" name="Google Shape;358;p26"/>
            <p:cNvSpPr/>
            <p:nvPr/>
          </p:nvSpPr>
          <p:spPr>
            <a:xfrm rot="-9075647">
              <a:off x="1960223" y="3627871"/>
              <a:ext cx="320091" cy="717564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9" name="Google Shape;359;p26"/>
            <p:cNvSpPr/>
            <p:nvPr/>
          </p:nvSpPr>
          <p:spPr>
            <a:xfrm rot="949901">
              <a:off x="3384982" y="3681062"/>
              <a:ext cx="331632" cy="69937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0" name="Google Shape;360;p26"/>
            <p:cNvSpPr/>
            <p:nvPr/>
          </p:nvSpPr>
          <p:spPr>
            <a:xfrm rot="-9075561">
              <a:off x="726758" y="371033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1" name="Google Shape;361;p26"/>
            <p:cNvSpPr/>
            <p:nvPr/>
          </p:nvSpPr>
          <p:spPr>
            <a:xfrm rot="9075561" flipH="1">
              <a:off x="2596833" y="378638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Jerarquía de memoria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7" name="Google Shape;367;p27"/>
          <p:cNvSpPr txBox="1">
            <a:spLocks noGrp="1"/>
          </p:cNvSpPr>
          <p:nvPr>
            <p:ph type="body" idx="1"/>
          </p:nvPr>
        </p:nvSpPr>
        <p:spPr>
          <a:xfrm>
            <a:off x="551543" y="835600"/>
            <a:ext cx="11284807" cy="1454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Jerarquía de memoria en un sistema moderno</a:t>
            </a:r>
            <a:endParaRPr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Cada capa actúa como un </a:t>
            </a:r>
            <a:r>
              <a:rPr lang="es-ES" sz="2400" b="1" dirty="0">
                <a:solidFill>
                  <a:schemeClr val="accent2"/>
                </a:solidFill>
                <a:latin typeface="+mn-lt"/>
              </a:rPr>
              <a:t>espacio de almacenamiento de respaldo (backing store)</a:t>
            </a:r>
            <a:r>
              <a:rPr lang="es-ES" sz="2400" dirty="0">
                <a:latin typeface="+mn-lt"/>
              </a:rPr>
              <a:t> de la capa superior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68" name="Google Shape;368;p27"/>
          <p:cNvGrpSpPr/>
          <p:nvPr/>
        </p:nvGrpSpPr>
        <p:grpSpPr>
          <a:xfrm>
            <a:off x="3984650" y="2453425"/>
            <a:ext cx="4796700" cy="4008000"/>
            <a:chOff x="6740450" y="1982650"/>
            <a:chExt cx="4796700" cy="4008000"/>
          </a:xfrm>
        </p:grpSpPr>
        <p:grpSp>
          <p:nvGrpSpPr>
            <p:cNvPr id="369" name="Google Shape;369;p27"/>
            <p:cNvGrpSpPr/>
            <p:nvPr/>
          </p:nvGrpSpPr>
          <p:grpSpPr>
            <a:xfrm>
              <a:off x="6740450" y="1982650"/>
              <a:ext cx="4796700" cy="4008000"/>
              <a:chOff x="6753175" y="1880850"/>
              <a:chExt cx="4796700" cy="4008000"/>
            </a:xfrm>
          </p:grpSpPr>
          <p:sp>
            <p:nvSpPr>
              <p:cNvPr id="370" name="Google Shape;370;p27"/>
              <p:cNvSpPr/>
              <p:nvPr/>
            </p:nvSpPr>
            <p:spPr>
              <a:xfrm>
                <a:off x="6753175" y="1880850"/>
                <a:ext cx="4796700" cy="4008000"/>
              </a:xfrm>
              <a:prstGeom prst="triangle">
                <a:avLst>
                  <a:gd name="adj" fmla="val 49814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71" name="Google Shape;371;p27"/>
              <p:cNvCxnSpPr/>
              <p:nvPr/>
            </p:nvCxnSpPr>
            <p:spPr>
              <a:xfrm rot="10800000" flipH="1">
                <a:off x="8460425" y="3026800"/>
                <a:ext cx="1371000" cy="9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27"/>
              <p:cNvCxnSpPr>
                <a:stCxn id="370" idx="1"/>
                <a:endCxn id="370" idx="5"/>
              </p:cNvCxnSpPr>
              <p:nvPr/>
            </p:nvCxnSpPr>
            <p:spPr>
              <a:xfrm>
                <a:off x="7947889" y="3884850"/>
                <a:ext cx="2398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" name="Google Shape;373;p27"/>
              <p:cNvCxnSpPr/>
              <p:nvPr/>
            </p:nvCxnSpPr>
            <p:spPr>
              <a:xfrm rot="10800000" flipH="1">
                <a:off x="7398000" y="4820750"/>
                <a:ext cx="3510000" cy="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74" name="Google Shape;374;p27"/>
            <p:cNvSpPr/>
            <p:nvPr/>
          </p:nvSpPr>
          <p:spPr>
            <a:xfrm>
              <a:off x="8591600" y="2618800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 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Registers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8591600" y="3407375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Cache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8591600" y="4297750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memory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7637450" y="5328100"/>
              <a:ext cx="3002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Mass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Storage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hard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disk, tape, etc.)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78" name="Google Shape;378;p27"/>
          <p:cNvGrpSpPr/>
          <p:nvPr/>
        </p:nvGrpSpPr>
        <p:grpSpPr>
          <a:xfrm>
            <a:off x="3844725" y="3063850"/>
            <a:ext cx="941625" cy="2430300"/>
            <a:chOff x="6422400" y="2529750"/>
            <a:chExt cx="941625" cy="2430300"/>
          </a:xfrm>
        </p:grpSpPr>
        <p:cxnSp>
          <p:nvCxnSpPr>
            <p:cNvPr id="379" name="Google Shape;379;p27"/>
            <p:cNvCxnSpPr/>
            <p:nvPr/>
          </p:nvCxnSpPr>
          <p:spPr>
            <a:xfrm>
              <a:off x="6422400" y="2529750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0" name="Google Shape;380;p27"/>
            <p:cNvSpPr/>
            <p:nvPr/>
          </p:nvSpPr>
          <p:spPr>
            <a:xfrm>
              <a:off x="6491925" y="3445275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Size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81" name="Google Shape;381;p27"/>
          <p:cNvGrpSpPr/>
          <p:nvPr/>
        </p:nvGrpSpPr>
        <p:grpSpPr>
          <a:xfrm>
            <a:off x="8023575" y="3063850"/>
            <a:ext cx="884700" cy="2430300"/>
            <a:chOff x="10779375" y="2593075"/>
            <a:chExt cx="884700" cy="2430300"/>
          </a:xfrm>
        </p:grpSpPr>
        <p:cxnSp>
          <p:nvCxnSpPr>
            <p:cNvPr id="382" name="Google Shape;382;p27"/>
            <p:cNvCxnSpPr/>
            <p:nvPr/>
          </p:nvCxnSpPr>
          <p:spPr>
            <a:xfrm rot="10800000" flipH="1">
              <a:off x="11651475" y="2593075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3" name="Google Shape;383;p27"/>
            <p:cNvSpPr/>
            <p:nvPr/>
          </p:nvSpPr>
          <p:spPr>
            <a:xfrm>
              <a:off x="10779375" y="321270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Speed</a:t>
              </a:r>
              <a:endParaRPr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10779375" y="377035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Cost</a:t>
              </a:r>
              <a:endParaRPr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"/>
          <p:cNvSpPr txBox="1">
            <a:spLocks noGrp="1"/>
          </p:cNvSpPr>
          <p:nvPr>
            <p:ph type="title"/>
          </p:nvPr>
        </p:nvSpPr>
        <p:spPr>
          <a:xfrm>
            <a:off x="595086" y="96038"/>
            <a:ext cx="86255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Jerarquía de memoria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0" name="Google Shape;390;p28"/>
          <p:cNvSpPr txBox="1">
            <a:spLocks noGrp="1"/>
          </p:cNvSpPr>
          <p:nvPr>
            <p:ph type="body" idx="1"/>
          </p:nvPr>
        </p:nvSpPr>
        <p:spPr>
          <a:xfrm>
            <a:off x="595086" y="835600"/>
            <a:ext cx="11241264" cy="108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Procesos y memoria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Ejecución de un programa sencillo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1933900" y="2046575"/>
            <a:ext cx="22377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"/>
              <a:buAutoNum type="arabicPeriod"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Estado inicial</a:t>
            </a:r>
            <a:endParaRPr sz="20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7465700" y="2046575"/>
            <a:ext cx="43707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"/>
              <a:buAutoNum type="arabicPeriod" startAt="2"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Ejecución del programa</a:t>
            </a:r>
            <a:endParaRPr sz="20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ea typeface="Roboto"/>
                <a:cs typeface="Roboto"/>
                <a:sym typeface="Roboto"/>
              </a:rPr>
              <a:t>Se crea un proceso y se reserva memoria para este.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4171600" y="2173775"/>
            <a:ext cx="3166800" cy="24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4" name="Google Shape;394;p28"/>
          <p:cNvGrpSpPr/>
          <p:nvPr/>
        </p:nvGrpSpPr>
        <p:grpSpPr>
          <a:xfrm>
            <a:off x="814850" y="3194250"/>
            <a:ext cx="4815875" cy="3394175"/>
            <a:chOff x="814850" y="3194250"/>
            <a:chExt cx="4815875" cy="3394175"/>
          </a:xfrm>
        </p:grpSpPr>
        <p:grpSp>
          <p:nvGrpSpPr>
            <p:cNvPr id="395" name="Google Shape;395;p28"/>
            <p:cNvGrpSpPr/>
            <p:nvPr/>
          </p:nvGrpSpPr>
          <p:grpSpPr>
            <a:xfrm>
              <a:off x="814850" y="3432975"/>
              <a:ext cx="4729600" cy="3155450"/>
              <a:chOff x="916650" y="2474825"/>
              <a:chExt cx="4729600" cy="3155450"/>
            </a:xfrm>
          </p:grpSpPr>
          <p:grpSp>
            <p:nvGrpSpPr>
              <p:cNvPr id="396" name="Google Shape;396;p28"/>
              <p:cNvGrpSpPr/>
              <p:nvPr/>
            </p:nvGrpSpPr>
            <p:grpSpPr>
              <a:xfrm>
                <a:off x="916650" y="2474825"/>
                <a:ext cx="2353850" cy="3155450"/>
                <a:chOff x="5748025" y="2542475"/>
                <a:chExt cx="2353850" cy="3155450"/>
              </a:xfrm>
            </p:grpSpPr>
            <p:pic>
              <p:nvPicPr>
                <p:cNvPr id="397" name="Google Shape;397;p28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5748025" y="2542475"/>
                  <a:ext cx="2353850" cy="3155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98" name="Google Shape;398;p28"/>
                <p:cNvGrpSpPr/>
                <p:nvPr/>
              </p:nvGrpSpPr>
              <p:grpSpPr>
                <a:xfrm>
                  <a:off x="6311288" y="3959675"/>
                  <a:ext cx="1167150" cy="1102150"/>
                  <a:chOff x="6311288" y="3959675"/>
                  <a:chExt cx="1167150" cy="1102150"/>
                </a:xfrm>
              </p:grpSpPr>
              <p:grpSp>
                <p:nvGrpSpPr>
                  <p:cNvPr id="399" name="Google Shape;399;p28"/>
                  <p:cNvGrpSpPr/>
                  <p:nvPr/>
                </p:nvGrpSpPr>
                <p:grpSpPr>
                  <a:xfrm>
                    <a:off x="6311288" y="3959675"/>
                    <a:ext cx="1161600" cy="707700"/>
                    <a:chOff x="6311288" y="3959675"/>
                    <a:chExt cx="1161600" cy="707700"/>
                  </a:xfrm>
                </p:grpSpPr>
                <p:sp>
                  <p:nvSpPr>
                    <p:cNvPr id="400" name="Google Shape;400;p28"/>
                    <p:cNvSpPr/>
                    <p:nvPr/>
                  </p:nvSpPr>
                  <p:spPr>
                    <a:xfrm>
                      <a:off x="6360525" y="3959675"/>
                      <a:ext cx="1107000" cy="7077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1" name="Google Shape;401;p28"/>
                    <p:cNvSpPr/>
                    <p:nvPr/>
                  </p:nvSpPr>
                  <p:spPr>
                    <a:xfrm>
                      <a:off x="6311288" y="4044154"/>
                      <a:ext cx="1161600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02" name="Google Shape;402;p28"/>
                    <p:cNvSpPr/>
                    <p:nvPr/>
                  </p:nvSpPr>
                  <p:spPr>
                    <a:xfrm>
                      <a:off x="6311288" y="4310333"/>
                      <a:ext cx="1161600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  <p:sp>
                <p:nvSpPr>
                  <p:cNvPr id="403" name="Google Shape;403;p28"/>
                  <p:cNvSpPr/>
                  <p:nvPr/>
                </p:nvSpPr>
                <p:spPr>
                  <a:xfrm>
                    <a:off x="6371438" y="4753725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Program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sp>
            <p:nvSpPr>
              <p:cNvPr id="404" name="Google Shape;404;p28"/>
              <p:cNvSpPr/>
              <p:nvPr/>
            </p:nvSpPr>
            <p:spPr>
              <a:xfrm>
                <a:off x="3488950" y="2941500"/>
                <a:ext cx="2157300" cy="22221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5" name="Google Shape;405;p28"/>
            <p:cNvGrpSpPr/>
            <p:nvPr/>
          </p:nvGrpSpPr>
          <p:grpSpPr>
            <a:xfrm>
              <a:off x="1196555" y="3194250"/>
              <a:ext cx="4434170" cy="308100"/>
              <a:chOff x="1196555" y="3194250"/>
              <a:chExt cx="4434170" cy="308100"/>
            </a:xfrm>
          </p:grpSpPr>
          <p:sp>
            <p:nvSpPr>
              <p:cNvPr id="406" name="Google Shape;406;p28"/>
              <p:cNvSpPr/>
              <p:nvPr/>
            </p:nvSpPr>
            <p:spPr>
              <a:xfrm>
                <a:off x="1196555" y="3194250"/>
                <a:ext cx="15261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nsolas"/>
                    <a:ea typeface="Consolas"/>
                    <a:cs typeface="Consolas"/>
                    <a:sym typeface="Consolas"/>
                  </a:rPr>
                  <a:t>Hard disc</a:t>
                </a:r>
                <a:endParaRPr sz="1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07" name="Google Shape;407;p28"/>
              <p:cNvSpPr/>
              <p:nvPr/>
            </p:nvSpPr>
            <p:spPr>
              <a:xfrm>
                <a:off x="3499525" y="3194250"/>
                <a:ext cx="21312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>
                    <a:latin typeface="Consolas"/>
                    <a:ea typeface="Consolas"/>
                    <a:cs typeface="Consolas"/>
                    <a:sym typeface="Consolas"/>
                  </a:rPr>
                  <a:t>Virtual Memory</a:t>
                </a:r>
                <a:endParaRPr sz="18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pSp>
        <p:nvGrpSpPr>
          <p:cNvPr id="408" name="Google Shape;408;p28"/>
          <p:cNvGrpSpPr/>
          <p:nvPr/>
        </p:nvGrpSpPr>
        <p:grpSpPr>
          <a:xfrm>
            <a:off x="6905350" y="3194250"/>
            <a:ext cx="4931050" cy="3394175"/>
            <a:chOff x="6905350" y="3194250"/>
            <a:chExt cx="4931050" cy="3394175"/>
          </a:xfrm>
        </p:grpSpPr>
        <p:grpSp>
          <p:nvGrpSpPr>
            <p:cNvPr id="409" name="Google Shape;409;p28"/>
            <p:cNvGrpSpPr/>
            <p:nvPr/>
          </p:nvGrpSpPr>
          <p:grpSpPr>
            <a:xfrm>
              <a:off x="6905350" y="3432975"/>
              <a:ext cx="4931050" cy="3155450"/>
              <a:chOff x="6791350" y="2373050"/>
              <a:chExt cx="4931050" cy="3155450"/>
            </a:xfrm>
          </p:grpSpPr>
          <p:grpSp>
            <p:nvGrpSpPr>
              <p:cNvPr id="410" name="Google Shape;410;p28"/>
              <p:cNvGrpSpPr/>
              <p:nvPr/>
            </p:nvGrpSpPr>
            <p:grpSpPr>
              <a:xfrm>
                <a:off x="6791350" y="2373050"/>
                <a:ext cx="2353850" cy="3155450"/>
                <a:chOff x="5748025" y="2542475"/>
                <a:chExt cx="2353850" cy="3155450"/>
              </a:xfrm>
            </p:grpSpPr>
            <p:pic>
              <p:nvPicPr>
                <p:cNvPr id="411" name="Google Shape;411;p28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5748025" y="2542475"/>
                  <a:ext cx="2353850" cy="3155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12" name="Google Shape;412;p28"/>
                <p:cNvGrpSpPr/>
                <p:nvPr/>
              </p:nvGrpSpPr>
              <p:grpSpPr>
                <a:xfrm>
                  <a:off x="6311288" y="3959675"/>
                  <a:ext cx="1167150" cy="1102150"/>
                  <a:chOff x="6311288" y="3959675"/>
                  <a:chExt cx="1167150" cy="1102150"/>
                </a:xfrm>
              </p:grpSpPr>
              <p:grpSp>
                <p:nvGrpSpPr>
                  <p:cNvPr id="413" name="Google Shape;413;p28"/>
                  <p:cNvGrpSpPr/>
                  <p:nvPr/>
                </p:nvGrpSpPr>
                <p:grpSpPr>
                  <a:xfrm>
                    <a:off x="6311288" y="3959675"/>
                    <a:ext cx="1161600" cy="707700"/>
                    <a:chOff x="6311288" y="3959675"/>
                    <a:chExt cx="1161600" cy="707700"/>
                  </a:xfrm>
                </p:grpSpPr>
                <p:sp>
                  <p:nvSpPr>
                    <p:cNvPr id="414" name="Google Shape;414;p28"/>
                    <p:cNvSpPr/>
                    <p:nvPr/>
                  </p:nvSpPr>
                  <p:spPr>
                    <a:xfrm>
                      <a:off x="6360525" y="3959675"/>
                      <a:ext cx="1107000" cy="7077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15" name="Google Shape;415;p28"/>
                    <p:cNvSpPr/>
                    <p:nvPr/>
                  </p:nvSpPr>
                  <p:spPr>
                    <a:xfrm>
                      <a:off x="6311288" y="4044154"/>
                      <a:ext cx="1161600" cy="2661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16" name="Google Shape;416;p28"/>
                    <p:cNvSpPr/>
                    <p:nvPr/>
                  </p:nvSpPr>
                  <p:spPr>
                    <a:xfrm>
                      <a:off x="6311288" y="4310333"/>
                      <a:ext cx="1161600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  <p:sp>
                <p:nvSpPr>
                  <p:cNvPr id="417" name="Google Shape;417;p28"/>
                  <p:cNvSpPr/>
                  <p:nvPr/>
                </p:nvSpPr>
                <p:spPr>
                  <a:xfrm>
                    <a:off x="6371438" y="4753725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Program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grpSp>
            <p:nvGrpSpPr>
              <p:cNvPr id="418" name="Google Shape;418;p28"/>
              <p:cNvGrpSpPr/>
              <p:nvPr/>
            </p:nvGrpSpPr>
            <p:grpSpPr>
              <a:xfrm>
                <a:off x="9565100" y="2839725"/>
                <a:ext cx="2157300" cy="2222100"/>
                <a:chOff x="9323350" y="2839725"/>
                <a:chExt cx="2157300" cy="2222100"/>
              </a:xfrm>
            </p:grpSpPr>
            <p:sp>
              <p:nvSpPr>
                <p:cNvPr id="419" name="Google Shape;419;p28"/>
                <p:cNvSpPr/>
                <p:nvPr/>
              </p:nvSpPr>
              <p:spPr>
                <a:xfrm>
                  <a:off x="9323350" y="2839725"/>
                  <a:ext cx="2157300" cy="22221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20" name="Google Shape;420;p28"/>
                <p:cNvGrpSpPr/>
                <p:nvPr/>
              </p:nvGrpSpPr>
              <p:grpSpPr>
                <a:xfrm>
                  <a:off x="9758906" y="3132350"/>
                  <a:ext cx="1172007" cy="1785600"/>
                  <a:chOff x="9758906" y="3132350"/>
                  <a:chExt cx="1172007" cy="1785600"/>
                </a:xfrm>
              </p:grpSpPr>
              <p:grpSp>
                <p:nvGrpSpPr>
                  <p:cNvPr id="421" name="Google Shape;421;p28"/>
                  <p:cNvGrpSpPr/>
                  <p:nvPr/>
                </p:nvGrpSpPr>
                <p:grpSpPr>
                  <a:xfrm>
                    <a:off x="9758906" y="3132350"/>
                    <a:ext cx="1168725" cy="1344000"/>
                    <a:chOff x="9758906" y="3132350"/>
                    <a:chExt cx="1168725" cy="1344000"/>
                  </a:xfrm>
                </p:grpSpPr>
                <p:sp>
                  <p:nvSpPr>
                    <p:cNvPr id="422" name="Google Shape;422;p28"/>
                    <p:cNvSpPr/>
                    <p:nvPr/>
                  </p:nvSpPr>
                  <p:spPr>
                    <a:xfrm>
                      <a:off x="9827225" y="3132350"/>
                      <a:ext cx="1100400" cy="13440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3" name="Google Shape;423;p28"/>
                    <p:cNvSpPr/>
                    <p:nvPr/>
                  </p:nvSpPr>
                  <p:spPr>
                    <a:xfrm>
                      <a:off x="9758918" y="3192000"/>
                      <a:ext cx="1100384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24" name="Google Shape;424;p28"/>
                    <p:cNvSpPr/>
                    <p:nvPr/>
                  </p:nvSpPr>
                  <p:spPr>
                    <a:xfrm>
                      <a:off x="9758918" y="3402150"/>
                      <a:ext cx="1100384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25" name="Google Shape;425;p28"/>
                    <p:cNvSpPr/>
                    <p:nvPr/>
                  </p:nvSpPr>
                  <p:spPr>
                    <a:xfrm>
                      <a:off x="9758906" y="3624850"/>
                      <a:ext cx="1100400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26" name="Google Shape;426;p28"/>
                    <p:cNvSpPr/>
                    <p:nvPr/>
                  </p:nvSpPr>
                  <p:spPr>
                    <a:xfrm>
                      <a:off x="9827231" y="4117350"/>
                      <a:ext cx="1100400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  <p:sp>
                <p:nvSpPr>
                  <p:cNvPr id="427" name="Google Shape;427;p28"/>
                  <p:cNvSpPr/>
                  <p:nvPr/>
                </p:nvSpPr>
                <p:spPr>
                  <a:xfrm>
                    <a:off x="9823913" y="4609850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Process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cxnSp>
            <p:nvCxnSpPr>
              <p:cNvPr id="428" name="Google Shape;428;p28"/>
              <p:cNvCxnSpPr/>
              <p:nvPr/>
            </p:nvCxnSpPr>
            <p:spPr>
              <a:xfrm rot="10800000" flipH="1">
                <a:off x="8305450" y="3369625"/>
                <a:ext cx="19212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29" name="Google Shape;429;p28"/>
              <p:cNvSpPr/>
              <p:nvPr/>
            </p:nvSpPr>
            <p:spPr>
              <a:xfrm rot="-1203538">
                <a:off x="8512329" y="3433384"/>
                <a:ext cx="1161560" cy="2658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B693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Create</a:t>
                </a:r>
                <a:endParaRPr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430" name="Google Shape;430;p28"/>
            <p:cNvSpPr/>
            <p:nvPr/>
          </p:nvSpPr>
          <p:spPr>
            <a:xfrm>
              <a:off x="9705200" y="319425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7338405" y="319425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9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Jerarquía de memoria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37" name="Google Shape;437;p29"/>
          <p:cNvSpPr txBox="1">
            <a:spLocks noGrp="1"/>
          </p:cNvSpPr>
          <p:nvPr>
            <p:ph type="body" idx="1"/>
          </p:nvPr>
        </p:nvSpPr>
        <p:spPr>
          <a:xfrm>
            <a:off x="355649" y="835600"/>
            <a:ext cx="11588625" cy="136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Procesos y memoria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Programa más realista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Suele hacer uso de muchas librerías algunas de las cuales raramente suelen ser usadas.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6371475" y="2393000"/>
            <a:ext cx="5572800" cy="2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Escenario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El programa usa varias librerías que son referenciadas en memoria virtual.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De acuerdo a lo visto hasta ahora, las páginas virtuales tienen que estar mapeadas en memoria física a través de la </a:t>
            </a: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tabla de página (PT)</a:t>
            </a:r>
            <a:r>
              <a:rPr lang="es-ES" sz="2000" dirty="0">
                <a:ea typeface="Roboto"/>
                <a:cs typeface="Roboto"/>
                <a:sym typeface="Roboto"/>
              </a:rPr>
              <a:t>.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6982200" y="4881100"/>
            <a:ext cx="4555062" cy="1357506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Problema: </a:t>
            </a: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Gasto de memoria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40" name="Google Shape;440;p29"/>
          <p:cNvGrpSpPr/>
          <p:nvPr/>
        </p:nvGrpSpPr>
        <p:grpSpPr>
          <a:xfrm>
            <a:off x="1028850" y="2618824"/>
            <a:ext cx="4941975" cy="4004551"/>
            <a:chOff x="1028850" y="2618824"/>
            <a:chExt cx="4941975" cy="4004551"/>
          </a:xfrm>
        </p:grpSpPr>
        <p:grpSp>
          <p:nvGrpSpPr>
            <p:cNvPr id="441" name="Google Shape;441;p29"/>
            <p:cNvGrpSpPr/>
            <p:nvPr/>
          </p:nvGrpSpPr>
          <p:grpSpPr>
            <a:xfrm>
              <a:off x="1028850" y="2618824"/>
              <a:ext cx="4941975" cy="3619775"/>
              <a:chOff x="1397800" y="2364349"/>
              <a:chExt cx="4941975" cy="3619775"/>
            </a:xfrm>
          </p:grpSpPr>
          <p:grpSp>
            <p:nvGrpSpPr>
              <p:cNvPr id="442" name="Google Shape;442;p29"/>
              <p:cNvGrpSpPr/>
              <p:nvPr/>
            </p:nvGrpSpPr>
            <p:grpSpPr>
              <a:xfrm>
                <a:off x="1397800" y="2364349"/>
                <a:ext cx="2353850" cy="3619775"/>
                <a:chOff x="1397800" y="2364349"/>
                <a:chExt cx="2353850" cy="3619775"/>
              </a:xfrm>
            </p:grpSpPr>
            <p:pic>
              <p:nvPicPr>
                <p:cNvPr id="443" name="Google Shape;443;p2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397800" y="2364349"/>
                  <a:ext cx="2353850" cy="36197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44" name="Google Shape;444;p29"/>
                <p:cNvGrpSpPr/>
                <p:nvPr/>
              </p:nvGrpSpPr>
              <p:grpSpPr>
                <a:xfrm>
                  <a:off x="1880050" y="4005675"/>
                  <a:ext cx="1437600" cy="1294725"/>
                  <a:chOff x="1880050" y="4005675"/>
                  <a:chExt cx="1437600" cy="1294725"/>
                </a:xfrm>
              </p:grpSpPr>
              <p:sp>
                <p:nvSpPr>
                  <p:cNvPr id="445" name="Google Shape;445;p29"/>
                  <p:cNvSpPr/>
                  <p:nvPr/>
                </p:nvSpPr>
                <p:spPr>
                  <a:xfrm>
                    <a:off x="2032138" y="4992300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Program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446" name="Google Shape;446;p29"/>
                  <p:cNvGrpSpPr/>
                  <p:nvPr/>
                </p:nvGrpSpPr>
                <p:grpSpPr>
                  <a:xfrm>
                    <a:off x="1880050" y="4005675"/>
                    <a:ext cx="1437600" cy="967200"/>
                    <a:chOff x="1880050" y="4005675"/>
                    <a:chExt cx="1437600" cy="967200"/>
                  </a:xfrm>
                </p:grpSpPr>
                <p:sp>
                  <p:nvSpPr>
                    <p:cNvPr id="447" name="Google Shape;447;p29"/>
                    <p:cNvSpPr/>
                    <p:nvPr/>
                  </p:nvSpPr>
                  <p:spPr>
                    <a:xfrm>
                      <a:off x="1880050" y="4005675"/>
                      <a:ext cx="1437600" cy="9672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48" name="Google Shape;448;p29"/>
                    <p:cNvSpPr/>
                    <p:nvPr/>
                  </p:nvSpPr>
                  <p:spPr>
                    <a:xfrm>
                      <a:off x="1997438" y="4679183"/>
                      <a:ext cx="1161600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grpSp>
                  <p:nvGrpSpPr>
                    <p:cNvPr id="449" name="Google Shape;449;p29"/>
                    <p:cNvGrpSpPr/>
                    <p:nvPr/>
                  </p:nvGrpSpPr>
                  <p:grpSpPr>
                    <a:xfrm>
                      <a:off x="1943774" y="4052925"/>
                      <a:ext cx="1291350" cy="579225"/>
                      <a:chOff x="1943774" y="4052925"/>
                      <a:chExt cx="1291350" cy="579225"/>
                    </a:xfrm>
                  </p:grpSpPr>
                  <p:sp>
                    <p:nvSpPr>
                      <p:cNvPr id="450" name="Google Shape;450;p29"/>
                      <p:cNvSpPr/>
                      <p:nvPr/>
                    </p:nvSpPr>
                    <p:spPr>
                      <a:xfrm>
                        <a:off x="2618024" y="4366050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B6D7A8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Code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51" name="Google Shape;451;p29"/>
                      <p:cNvSpPr/>
                      <p:nvPr/>
                    </p:nvSpPr>
                    <p:spPr>
                      <a:xfrm>
                        <a:off x="1943774" y="4366050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A4C2F4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libC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52" name="Google Shape;452;p29"/>
                      <p:cNvSpPr/>
                      <p:nvPr/>
                    </p:nvSpPr>
                    <p:spPr>
                      <a:xfrm>
                        <a:off x="1943774" y="4052925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FCE5CD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libA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53" name="Google Shape;453;p29"/>
                      <p:cNvSpPr/>
                      <p:nvPr/>
                    </p:nvSpPr>
                    <p:spPr>
                      <a:xfrm>
                        <a:off x="2618024" y="4052925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F4CCCC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libB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454" name="Google Shape;454;p29"/>
              <p:cNvGrpSpPr/>
              <p:nvPr/>
            </p:nvGrpSpPr>
            <p:grpSpPr>
              <a:xfrm>
                <a:off x="4182475" y="3174425"/>
                <a:ext cx="2157300" cy="2688900"/>
                <a:chOff x="4182475" y="3174425"/>
                <a:chExt cx="2157300" cy="2688900"/>
              </a:xfrm>
            </p:grpSpPr>
            <p:sp>
              <p:nvSpPr>
                <p:cNvPr id="455" name="Google Shape;455;p29"/>
                <p:cNvSpPr/>
                <p:nvPr/>
              </p:nvSpPr>
              <p:spPr>
                <a:xfrm>
                  <a:off x="4182475" y="3174425"/>
                  <a:ext cx="2157300" cy="26889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56" name="Google Shape;456;p29"/>
                <p:cNvGrpSpPr/>
                <p:nvPr/>
              </p:nvGrpSpPr>
              <p:grpSpPr>
                <a:xfrm>
                  <a:off x="4564725" y="3467050"/>
                  <a:ext cx="1399500" cy="2064950"/>
                  <a:chOff x="4564725" y="3467050"/>
                  <a:chExt cx="1399500" cy="2064950"/>
                </a:xfrm>
              </p:grpSpPr>
              <p:sp>
                <p:nvSpPr>
                  <p:cNvPr id="457" name="Google Shape;457;p29"/>
                  <p:cNvSpPr/>
                  <p:nvPr/>
                </p:nvSpPr>
                <p:spPr>
                  <a:xfrm>
                    <a:off x="4707613" y="5223900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Process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458" name="Google Shape;458;p29"/>
                  <p:cNvGrpSpPr/>
                  <p:nvPr/>
                </p:nvGrpSpPr>
                <p:grpSpPr>
                  <a:xfrm>
                    <a:off x="4564725" y="3467050"/>
                    <a:ext cx="1399500" cy="1756800"/>
                    <a:chOff x="4564725" y="3467050"/>
                    <a:chExt cx="1399500" cy="1756800"/>
                  </a:xfrm>
                </p:grpSpPr>
                <p:sp>
                  <p:nvSpPr>
                    <p:cNvPr id="459" name="Google Shape;459;p29"/>
                    <p:cNvSpPr/>
                    <p:nvPr/>
                  </p:nvSpPr>
                  <p:spPr>
                    <a:xfrm>
                      <a:off x="4564725" y="3467050"/>
                      <a:ext cx="1399500" cy="17568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60" name="Google Shape;460;p29"/>
                    <p:cNvSpPr/>
                    <p:nvPr/>
                  </p:nvSpPr>
                  <p:spPr>
                    <a:xfrm>
                      <a:off x="4863475" y="4054913"/>
                      <a:ext cx="795300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61" name="Google Shape;461;p29"/>
                    <p:cNvSpPr/>
                    <p:nvPr/>
                  </p:nvSpPr>
                  <p:spPr>
                    <a:xfrm>
                      <a:off x="4850749" y="4251325"/>
                      <a:ext cx="795300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62" name="Google Shape;462;p29"/>
                    <p:cNvSpPr/>
                    <p:nvPr/>
                  </p:nvSpPr>
                  <p:spPr>
                    <a:xfrm>
                      <a:off x="4850749" y="4915750"/>
                      <a:ext cx="847174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grpSp>
                  <p:nvGrpSpPr>
                    <p:cNvPr id="463" name="Google Shape;463;p29"/>
                    <p:cNvGrpSpPr/>
                    <p:nvPr/>
                  </p:nvGrpSpPr>
                  <p:grpSpPr>
                    <a:xfrm>
                      <a:off x="4615449" y="3513225"/>
                      <a:ext cx="1291350" cy="579225"/>
                      <a:chOff x="1943774" y="4052925"/>
                      <a:chExt cx="1291350" cy="579225"/>
                    </a:xfrm>
                  </p:grpSpPr>
                  <p:sp>
                    <p:nvSpPr>
                      <p:cNvPr id="464" name="Google Shape;464;p29"/>
                      <p:cNvSpPr/>
                      <p:nvPr/>
                    </p:nvSpPr>
                    <p:spPr>
                      <a:xfrm>
                        <a:off x="2618024" y="4366050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B6D7A8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Code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65" name="Google Shape;465;p29"/>
                      <p:cNvSpPr/>
                      <p:nvPr/>
                    </p:nvSpPr>
                    <p:spPr>
                      <a:xfrm>
                        <a:off x="1943774" y="4366050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A4C2F4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libC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66" name="Google Shape;466;p29"/>
                      <p:cNvSpPr/>
                      <p:nvPr/>
                    </p:nvSpPr>
                    <p:spPr>
                      <a:xfrm>
                        <a:off x="1943774" y="4052925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FCE5CD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libA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67" name="Google Shape;467;p29"/>
                      <p:cNvSpPr/>
                      <p:nvPr/>
                    </p:nvSpPr>
                    <p:spPr>
                      <a:xfrm>
                        <a:off x="2618024" y="4052925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F4CCCC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libB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</p:grpSp>
              </p:grpSp>
            </p:grpSp>
          </p:grpSp>
          <p:cxnSp>
            <p:nvCxnSpPr>
              <p:cNvPr id="468" name="Google Shape;468;p29"/>
              <p:cNvCxnSpPr/>
              <p:nvPr/>
            </p:nvCxnSpPr>
            <p:spPr>
              <a:xfrm rot="10800000" flipH="1">
                <a:off x="3266375" y="3840363"/>
                <a:ext cx="1336500" cy="45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69" name="Google Shape;469;p29"/>
              <p:cNvSpPr/>
              <p:nvPr/>
            </p:nvSpPr>
            <p:spPr>
              <a:xfrm rot="-1197924">
                <a:off x="3277063" y="3835595"/>
                <a:ext cx="1161508" cy="265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B693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Create </a:t>
                </a:r>
                <a:endParaRPr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470" name="Google Shape;470;p29"/>
            <p:cNvSpPr/>
            <p:nvPr/>
          </p:nvSpPr>
          <p:spPr>
            <a:xfrm>
              <a:off x="1383830" y="6315275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3839475" y="6315275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0"/>
          <p:cNvSpPr txBox="1">
            <a:spLocks noGrp="1"/>
          </p:cNvSpPr>
          <p:nvPr>
            <p:ph type="title"/>
          </p:nvPr>
        </p:nvSpPr>
        <p:spPr>
          <a:xfrm>
            <a:off x="355649" y="96038"/>
            <a:ext cx="886500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Jerarquía de memoria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77" name="Google Shape;477;p30"/>
          <p:cNvSpPr txBox="1">
            <a:spLocks noGrp="1"/>
          </p:cNvSpPr>
          <p:nvPr>
            <p:ph type="body" idx="1"/>
          </p:nvPr>
        </p:nvSpPr>
        <p:spPr>
          <a:xfrm>
            <a:off x="420915" y="810200"/>
            <a:ext cx="11415436" cy="58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Procesos y memoria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p30"/>
          <p:cNvSpPr/>
          <p:nvPr/>
        </p:nvSpPr>
        <p:spPr>
          <a:xfrm>
            <a:off x="420914" y="1484300"/>
            <a:ext cx="11415436" cy="1115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Escenario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ea typeface="Roboto"/>
                <a:cs typeface="Roboto"/>
                <a:sym typeface="Roboto"/>
              </a:rPr>
              <a:t>¿Cómo evitar el desperdicio de páginas físicas (</a:t>
            </a:r>
            <a:r>
              <a:rPr lang="es-ES" sz="2000" b="1" dirty="0">
                <a:ea typeface="Roboto"/>
                <a:cs typeface="Roboto"/>
                <a:sym typeface="Roboto"/>
              </a:rPr>
              <a:t>frames</a:t>
            </a:r>
            <a:r>
              <a:rPr lang="es-ES" sz="2000" dirty="0">
                <a:ea typeface="Roboto"/>
                <a:cs typeface="Roboto"/>
                <a:sym typeface="Roboto"/>
              </a:rPr>
              <a:t>) empleados para respaldar páginas virtuales (</a:t>
            </a:r>
            <a:r>
              <a:rPr lang="es-ES" sz="2000" b="1" dirty="0">
                <a:ea typeface="Roboto"/>
                <a:cs typeface="Roboto"/>
                <a:sym typeface="Roboto"/>
              </a:rPr>
              <a:t>pages</a:t>
            </a:r>
            <a:r>
              <a:rPr lang="es-ES" sz="2000" dirty="0">
                <a:ea typeface="Roboto"/>
                <a:cs typeface="Roboto"/>
                <a:sym typeface="Roboto"/>
              </a:rPr>
              <a:t>) poco usadas?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0"/>
          <p:cNvSpPr/>
          <p:nvPr/>
        </p:nvSpPr>
        <p:spPr>
          <a:xfrm>
            <a:off x="420914" y="3266750"/>
            <a:ext cx="3686136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Se requiere un espacio (usualmente en el disco duro) en la jerarquía de memoria.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Enviar a otro nivel porciones de espacio de direccionamiento que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no son muy demandadas</a:t>
            </a:r>
            <a:r>
              <a:rPr lang="es-ES" sz="2000" dirty="0">
                <a:ea typeface="Roboto"/>
                <a:cs typeface="Roboto"/>
                <a:sym typeface="Roboto"/>
              </a:rPr>
              <a:t>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ea typeface="Roboto"/>
              <a:cs typeface="Roboto"/>
              <a:sym typeface="Roboto"/>
            </a:endParaRPr>
          </a:p>
        </p:txBody>
      </p:sp>
      <p:pic>
        <p:nvPicPr>
          <p:cNvPr id="480" name="Google Shape;4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051" y="3089300"/>
            <a:ext cx="3449025" cy="296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6325" y="3038150"/>
            <a:ext cx="3340025" cy="3233076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/>
          <p:nvPr/>
        </p:nvSpPr>
        <p:spPr>
          <a:xfrm>
            <a:off x="7623675" y="4227975"/>
            <a:ext cx="741600" cy="316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0"/>
          <p:cNvSpPr txBox="1"/>
          <p:nvPr/>
        </p:nvSpPr>
        <p:spPr>
          <a:xfrm>
            <a:off x="5369275" y="2755900"/>
            <a:ext cx="114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Antes</a:t>
            </a:r>
            <a:endParaRPr sz="1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4" name="Google Shape;484;p30"/>
          <p:cNvSpPr txBox="1"/>
          <p:nvPr/>
        </p:nvSpPr>
        <p:spPr>
          <a:xfrm>
            <a:off x="9594838" y="2755900"/>
            <a:ext cx="114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Después</a:t>
            </a:r>
            <a:endParaRPr sz="12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Swapping - Introducción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96" name="Google Shape;496;p32"/>
          <p:cNvSpPr txBox="1">
            <a:spLocks noGrp="1"/>
          </p:cNvSpPr>
          <p:nvPr>
            <p:ph type="body" idx="1"/>
          </p:nvPr>
        </p:nvSpPr>
        <p:spPr>
          <a:xfrm>
            <a:off x="991050" y="2872000"/>
            <a:ext cx="10547400" cy="55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</a:rPr>
              <a:t>Mejora</a:t>
            </a:r>
            <a:r>
              <a:rPr lang="es-ES" sz="2400" dirty="0">
                <a:solidFill>
                  <a:schemeClr val="accent1"/>
                </a:solidFill>
              </a:rPr>
              <a:t>: </a:t>
            </a:r>
            <a:r>
              <a:rPr lang="es-ES" sz="2400" b="1" dirty="0">
                <a:solidFill>
                  <a:srgbClr val="E06666"/>
                </a:solidFill>
              </a:rPr>
              <a:t>Swapping</a:t>
            </a:r>
            <a:endParaRPr sz="2400" b="1" dirty="0">
              <a:solidFill>
                <a:srgbClr val="E0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solidFill>
                <a:srgbClr val="E06666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497" name="Google Shape;497;p32"/>
          <p:cNvSpPr txBox="1"/>
          <p:nvPr/>
        </p:nvSpPr>
        <p:spPr>
          <a:xfrm>
            <a:off x="991050" y="1045550"/>
            <a:ext cx="105474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latin typeface="Roboto"/>
                <a:ea typeface="Roboto"/>
                <a:cs typeface="Roboto"/>
                <a:sym typeface="Roboto"/>
              </a:rPr>
              <a:t>¿Cómo ir más allá de la memoria física?</a:t>
            </a:r>
            <a:endParaRPr sz="26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Roboto"/>
                <a:ea typeface="Roboto"/>
                <a:cs typeface="Roboto"/>
                <a:sym typeface="Roboto"/>
              </a:rPr>
              <a:t>¿Cómo puede el sistema operativo usar un dispositivo más grande y lento para proporcionar de forma transparente la ilusión de un gran espacio de direcciones virtuales?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3"/>
          <p:cNvSpPr txBox="1">
            <a:spLocks noGrp="1"/>
          </p:cNvSpPr>
          <p:nvPr>
            <p:ph type="title"/>
          </p:nvPr>
        </p:nvSpPr>
        <p:spPr>
          <a:xfrm>
            <a:off x="464457" y="96038"/>
            <a:ext cx="87561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03" name="Google Shape;503;p33"/>
          <p:cNvSpPr txBox="1">
            <a:spLocks noGrp="1"/>
          </p:cNvSpPr>
          <p:nvPr>
            <p:ph type="body" idx="1"/>
          </p:nvPr>
        </p:nvSpPr>
        <p:spPr>
          <a:xfrm>
            <a:off x="464457" y="928900"/>
            <a:ext cx="10845093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¿Cómo funciona?</a:t>
            </a:r>
            <a:endParaRPr sz="2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504" name="Google Shape;504;p33"/>
          <p:cNvGrpSpPr/>
          <p:nvPr/>
        </p:nvGrpSpPr>
        <p:grpSpPr>
          <a:xfrm>
            <a:off x="6604150" y="1111300"/>
            <a:ext cx="2353850" cy="3792774"/>
            <a:chOff x="6604150" y="1111300"/>
            <a:chExt cx="2353850" cy="3792774"/>
          </a:xfrm>
        </p:grpSpPr>
        <p:grpSp>
          <p:nvGrpSpPr>
            <p:cNvPr id="505" name="Google Shape;505;p33"/>
            <p:cNvGrpSpPr/>
            <p:nvPr/>
          </p:nvGrpSpPr>
          <p:grpSpPr>
            <a:xfrm>
              <a:off x="6604150" y="1284299"/>
              <a:ext cx="2353850" cy="3619775"/>
              <a:chOff x="1397800" y="2364349"/>
              <a:chExt cx="2353850" cy="3619775"/>
            </a:xfrm>
          </p:grpSpPr>
          <p:pic>
            <p:nvPicPr>
              <p:cNvPr id="506" name="Google Shape;506;p3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97800" y="2364349"/>
                <a:ext cx="2353850" cy="36197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07" name="Google Shape;507;p33"/>
              <p:cNvGrpSpPr/>
              <p:nvPr/>
            </p:nvGrpSpPr>
            <p:grpSpPr>
              <a:xfrm>
                <a:off x="1880050" y="4005675"/>
                <a:ext cx="1437600" cy="1294725"/>
                <a:chOff x="1880050" y="4005675"/>
                <a:chExt cx="1437600" cy="1294725"/>
              </a:xfrm>
            </p:grpSpPr>
            <p:sp>
              <p:nvSpPr>
                <p:cNvPr id="508" name="Google Shape;508;p33"/>
                <p:cNvSpPr/>
                <p:nvPr/>
              </p:nvSpPr>
              <p:spPr>
                <a:xfrm>
                  <a:off x="2032138" y="49923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Program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509" name="Google Shape;509;p33"/>
                <p:cNvGrpSpPr/>
                <p:nvPr/>
              </p:nvGrpSpPr>
              <p:grpSpPr>
                <a:xfrm>
                  <a:off x="1880050" y="4005675"/>
                  <a:ext cx="1437600" cy="967200"/>
                  <a:chOff x="1880050" y="4005675"/>
                  <a:chExt cx="1437600" cy="967200"/>
                </a:xfrm>
              </p:grpSpPr>
              <p:sp>
                <p:nvSpPr>
                  <p:cNvPr id="510" name="Google Shape;510;p33"/>
                  <p:cNvSpPr/>
                  <p:nvPr/>
                </p:nvSpPr>
                <p:spPr>
                  <a:xfrm>
                    <a:off x="1880050" y="4005675"/>
                    <a:ext cx="1437600" cy="967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3"/>
                  <p:cNvSpPr/>
                  <p:nvPr/>
                </p:nvSpPr>
                <p:spPr>
                  <a:xfrm>
                    <a:off x="1997438" y="4679183"/>
                    <a:ext cx="1161600" cy="26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512" name="Google Shape;512;p33"/>
                  <p:cNvGrpSpPr/>
                  <p:nvPr/>
                </p:nvGrpSpPr>
                <p:grpSpPr>
                  <a:xfrm>
                    <a:off x="1943774" y="40529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513" name="Google Shape;513;p33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14" name="Google Shape;514;p33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15" name="Google Shape;515;p33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16" name="Google Shape;516;p33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517" name="Google Shape;517;p33"/>
            <p:cNvSpPr/>
            <p:nvPr/>
          </p:nvSpPr>
          <p:spPr>
            <a:xfrm>
              <a:off x="7018030" y="111130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18" name="Google Shape;518;p33"/>
          <p:cNvGrpSpPr/>
          <p:nvPr/>
        </p:nvGrpSpPr>
        <p:grpSpPr>
          <a:xfrm>
            <a:off x="9414925" y="1111300"/>
            <a:ext cx="2157300" cy="3179400"/>
            <a:chOff x="9414925" y="1111300"/>
            <a:chExt cx="2157300" cy="3179400"/>
          </a:xfrm>
        </p:grpSpPr>
        <p:grpSp>
          <p:nvGrpSpPr>
            <p:cNvPr id="519" name="Google Shape;519;p33"/>
            <p:cNvGrpSpPr/>
            <p:nvPr/>
          </p:nvGrpSpPr>
          <p:grpSpPr>
            <a:xfrm>
              <a:off x="9414925" y="1601800"/>
              <a:ext cx="2157300" cy="2688900"/>
              <a:chOff x="4182475" y="3174425"/>
              <a:chExt cx="2157300" cy="2688900"/>
            </a:xfrm>
          </p:grpSpPr>
          <p:sp>
            <p:nvSpPr>
              <p:cNvPr id="520" name="Google Shape;520;p33"/>
              <p:cNvSpPr/>
              <p:nvPr/>
            </p:nvSpPr>
            <p:spPr>
              <a:xfrm>
                <a:off x="4182475" y="3174425"/>
                <a:ext cx="2157300" cy="26889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1" name="Google Shape;521;p33"/>
              <p:cNvGrpSpPr/>
              <p:nvPr/>
            </p:nvGrpSpPr>
            <p:grpSpPr>
              <a:xfrm>
                <a:off x="4564725" y="3467050"/>
                <a:ext cx="1399500" cy="2064950"/>
                <a:chOff x="4564725" y="3467050"/>
                <a:chExt cx="1399500" cy="2064950"/>
              </a:xfrm>
            </p:grpSpPr>
            <p:sp>
              <p:nvSpPr>
                <p:cNvPr id="522" name="Google Shape;522;p33"/>
                <p:cNvSpPr/>
                <p:nvPr/>
              </p:nvSpPr>
              <p:spPr>
                <a:xfrm>
                  <a:off x="4707613" y="52239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Process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523" name="Google Shape;523;p33"/>
                <p:cNvGrpSpPr/>
                <p:nvPr/>
              </p:nvGrpSpPr>
              <p:grpSpPr>
                <a:xfrm>
                  <a:off x="4564725" y="3467050"/>
                  <a:ext cx="1399500" cy="1756800"/>
                  <a:chOff x="4564725" y="3467050"/>
                  <a:chExt cx="1399500" cy="1756800"/>
                </a:xfrm>
              </p:grpSpPr>
              <p:sp>
                <p:nvSpPr>
                  <p:cNvPr id="524" name="Google Shape;524;p33"/>
                  <p:cNvSpPr/>
                  <p:nvPr/>
                </p:nvSpPr>
                <p:spPr>
                  <a:xfrm>
                    <a:off x="4564725" y="3467050"/>
                    <a:ext cx="1399500" cy="17568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3"/>
                  <p:cNvSpPr/>
                  <p:nvPr/>
                </p:nvSpPr>
                <p:spPr>
                  <a:xfrm>
                    <a:off x="4863475" y="4054913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26" name="Google Shape;526;p33"/>
                  <p:cNvSpPr/>
                  <p:nvPr/>
                </p:nvSpPr>
                <p:spPr>
                  <a:xfrm>
                    <a:off x="4850749" y="4251325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Heap</a:t>
                    </a:r>
                    <a:endParaRPr b="1">
                      <a:solidFill>
                        <a:srgbClr val="0000FF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27" name="Google Shape;527;p33"/>
                  <p:cNvSpPr/>
                  <p:nvPr/>
                </p:nvSpPr>
                <p:spPr>
                  <a:xfrm>
                    <a:off x="4837128" y="4915750"/>
                    <a:ext cx="811523" cy="256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Stack</a:t>
                    </a:r>
                    <a:endParaRPr b="1" dirty="0">
                      <a:solidFill>
                        <a:srgbClr val="FF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528" name="Google Shape;528;p33"/>
                  <p:cNvGrpSpPr/>
                  <p:nvPr/>
                </p:nvGrpSpPr>
                <p:grpSpPr>
                  <a:xfrm>
                    <a:off x="4615449" y="35132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529" name="Google Shape;529;p33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30" name="Google Shape;530;p33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31" name="Google Shape;531;p33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32" name="Google Shape;532;p33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533" name="Google Shape;533;p33"/>
            <p:cNvSpPr/>
            <p:nvPr/>
          </p:nvSpPr>
          <p:spPr>
            <a:xfrm>
              <a:off x="9414925" y="111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34" name="Google Shape;534;p33"/>
          <p:cNvGrpSpPr/>
          <p:nvPr/>
        </p:nvGrpSpPr>
        <p:grpSpPr>
          <a:xfrm>
            <a:off x="8271925" y="4969825"/>
            <a:ext cx="2131200" cy="1356575"/>
            <a:chOff x="8170325" y="5142825"/>
            <a:chExt cx="2131200" cy="1356575"/>
          </a:xfrm>
        </p:grpSpPr>
        <p:grpSp>
          <p:nvGrpSpPr>
            <p:cNvPr id="535" name="Google Shape;535;p33"/>
            <p:cNvGrpSpPr/>
            <p:nvPr/>
          </p:nvGrpSpPr>
          <p:grpSpPr>
            <a:xfrm>
              <a:off x="8607625" y="5142825"/>
              <a:ext cx="1399500" cy="949500"/>
              <a:chOff x="2634375" y="2846925"/>
              <a:chExt cx="1399500" cy="949500"/>
            </a:xfrm>
          </p:grpSpPr>
          <p:sp>
            <p:nvSpPr>
              <p:cNvPr id="536" name="Google Shape;536;p33"/>
              <p:cNvSpPr/>
              <p:nvPr/>
            </p:nvSpPr>
            <p:spPr>
              <a:xfrm>
                <a:off x="2634375" y="2846925"/>
                <a:ext cx="1399500" cy="9495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7" name="Google Shape;537;p33"/>
              <p:cNvGrpSpPr/>
              <p:nvPr/>
            </p:nvGrpSpPr>
            <p:grpSpPr>
              <a:xfrm>
                <a:off x="2685099" y="2901425"/>
                <a:ext cx="1291350" cy="266100"/>
                <a:chOff x="1943774" y="4061250"/>
                <a:chExt cx="1291350" cy="266100"/>
              </a:xfrm>
            </p:grpSpPr>
            <p:sp>
              <p:nvSpPr>
                <p:cNvPr id="538" name="Google Shape;538;p33"/>
                <p:cNvSpPr/>
                <p:nvPr/>
              </p:nvSpPr>
              <p:spPr>
                <a:xfrm>
                  <a:off x="2618024" y="4061250"/>
                  <a:ext cx="617100" cy="2661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Code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39" name="Google Shape;539;p33"/>
                <p:cNvSpPr/>
                <p:nvPr/>
              </p:nvSpPr>
              <p:spPr>
                <a:xfrm>
                  <a:off x="1943774" y="4061250"/>
                  <a:ext cx="617100" cy="266100"/>
                </a:xfrm>
                <a:prstGeom prst="rect">
                  <a:avLst/>
                </a:prstGeom>
                <a:solidFill>
                  <a:srgbClr val="A4C2F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libC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540" name="Google Shape;540;p33"/>
            <p:cNvSpPr/>
            <p:nvPr/>
          </p:nvSpPr>
          <p:spPr>
            <a:xfrm>
              <a:off x="8170325" y="619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41" name="Google Shape;541;p33"/>
          <p:cNvSpPr/>
          <p:nvPr/>
        </p:nvSpPr>
        <p:spPr>
          <a:xfrm>
            <a:off x="464457" y="1742000"/>
            <a:ext cx="5057143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AutoNum type="arabicPeriod"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Ejecución del programa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ea typeface="Roboto"/>
                <a:cs typeface="Roboto"/>
                <a:sym typeface="Roboto"/>
              </a:rPr>
              <a:t>Se reserva la memoria virtual del proceso creado.</a:t>
            </a:r>
            <a:endParaRPr sz="20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47" name="Google Shape;547;p34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¿Cómo funciona?</a:t>
            </a:r>
            <a:endParaRPr sz="2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548" name="Google Shape;548;p34"/>
          <p:cNvGrpSpPr/>
          <p:nvPr/>
        </p:nvGrpSpPr>
        <p:grpSpPr>
          <a:xfrm>
            <a:off x="6604150" y="1111300"/>
            <a:ext cx="2353850" cy="3792774"/>
            <a:chOff x="6604150" y="1111300"/>
            <a:chExt cx="2353850" cy="3792774"/>
          </a:xfrm>
        </p:grpSpPr>
        <p:grpSp>
          <p:nvGrpSpPr>
            <p:cNvPr id="549" name="Google Shape;549;p34"/>
            <p:cNvGrpSpPr/>
            <p:nvPr/>
          </p:nvGrpSpPr>
          <p:grpSpPr>
            <a:xfrm>
              <a:off x="6604150" y="1284299"/>
              <a:ext cx="2353850" cy="3619775"/>
              <a:chOff x="1397800" y="2364349"/>
              <a:chExt cx="2353850" cy="3619775"/>
            </a:xfrm>
          </p:grpSpPr>
          <p:pic>
            <p:nvPicPr>
              <p:cNvPr id="550" name="Google Shape;550;p3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97800" y="2364349"/>
                <a:ext cx="2353850" cy="36197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51" name="Google Shape;551;p34"/>
              <p:cNvGrpSpPr/>
              <p:nvPr/>
            </p:nvGrpSpPr>
            <p:grpSpPr>
              <a:xfrm>
                <a:off x="1880050" y="4005675"/>
                <a:ext cx="1437600" cy="1294725"/>
                <a:chOff x="1880050" y="4005675"/>
                <a:chExt cx="1437600" cy="1294725"/>
              </a:xfrm>
            </p:grpSpPr>
            <p:sp>
              <p:nvSpPr>
                <p:cNvPr id="552" name="Google Shape;552;p34"/>
                <p:cNvSpPr/>
                <p:nvPr/>
              </p:nvSpPr>
              <p:spPr>
                <a:xfrm>
                  <a:off x="2032138" y="49923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Program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553" name="Google Shape;553;p34"/>
                <p:cNvGrpSpPr/>
                <p:nvPr/>
              </p:nvGrpSpPr>
              <p:grpSpPr>
                <a:xfrm>
                  <a:off x="1880050" y="4005675"/>
                  <a:ext cx="1437600" cy="967200"/>
                  <a:chOff x="1880050" y="4005675"/>
                  <a:chExt cx="1437600" cy="967200"/>
                </a:xfrm>
              </p:grpSpPr>
              <p:sp>
                <p:nvSpPr>
                  <p:cNvPr id="554" name="Google Shape;554;p34"/>
                  <p:cNvSpPr/>
                  <p:nvPr/>
                </p:nvSpPr>
                <p:spPr>
                  <a:xfrm>
                    <a:off x="1880050" y="4005675"/>
                    <a:ext cx="1437600" cy="967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34"/>
                  <p:cNvSpPr/>
                  <p:nvPr/>
                </p:nvSpPr>
                <p:spPr>
                  <a:xfrm>
                    <a:off x="1997438" y="4679183"/>
                    <a:ext cx="1161600" cy="26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556" name="Google Shape;556;p34"/>
                  <p:cNvGrpSpPr/>
                  <p:nvPr/>
                </p:nvGrpSpPr>
                <p:grpSpPr>
                  <a:xfrm>
                    <a:off x="1943774" y="40529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557" name="Google Shape;557;p34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58" name="Google Shape;558;p34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59" name="Google Shape;559;p34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60" name="Google Shape;560;p34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561" name="Google Shape;561;p34"/>
            <p:cNvSpPr/>
            <p:nvPr/>
          </p:nvSpPr>
          <p:spPr>
            <a:xfrm>
              <a:off x="7018030" y="111130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62" name="Google Shape;562;p34"/>
          <p:cNvGrpSpPr/>
          <p:nvPr/>
        </p:nvGrpSpPr>
        <p:grpSpPr>
          <a:xfrm>
            <a:off x="9414925" y="1111300"/>
            <a:ext cx="2157300" cy="3179400"/>
            <a:chOff x="9414925" y="1111300"/>
            <a:chExt cx="2157300" cy="3179400"/>
          </a:xfrm>
        </p:grpSpPr>
        <p:grpSp>
          <p:nvGrpSpPr>
            <p:cNvPr id="563" name="Google Shape;563;p34"/>
            <p:cNvGrpSpPr/>
            <p:nvPr/>
          </p:nvGrpSpPr>
          <p:grpSpPr>
            <a:xfrm>
              <a:off x="9414925" y="1601800"/>
              <a:ext cx="2157300" cy="2688900"/>
              <a:chOff x="4182475" y="3174425"/>
              <a:chExt cx="2157300" cy="2688900"/>
            </a:xfrm>
          </p:grpSpPr>
          <p:sp>
            <p:nvSpPr>
              <p:cNvPr id="564" name="Google Shape;564;p34"/>
              <p:cNvSpPr/>
              <p:nvPr/>
            </p:nvSpPr>
            <p:spPr>
              <a:xfrm>
                <a:off x="4182475" y="3174425"/>
                <a:ext cx="2157300" cy="26889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5" name="Google Shape;565;p34"/>
              <p:cNvGrpSpPr/>
              <p:nvPr/>
            </p:nvGrpSpPr>
            <p:grpSpPr>
              <a:xfrm>
                <a:off x="4564725" y="3467050"/>
                <a:ext cx="1399500" cy="2064950"/>
                <a:chOff x="4564725" y="3467050"/>
                <a:chExt cx="1399500" cy="2064950"/>
              </a:xfrm>
            </p:grpSpPr>
            <p:sp>
              <p:nvSpPr>
                <p:cNvPr id="566" name="Google Shape;566;p34"/>
                <p:cNvSpPr/>
                <p:nvPr/>
              </p:nvSpPr>
              <p:spPr>
                <a:xfrm>
                  <a:off x="4707613" y="52239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Process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567" name="Google Shape;567;p34"/>
                <p:cNvGrpSpPr/>
                <p:nvPr/>
              </p:nvGrpSpPr>
              <p:grpSpPr>
                <a:xfrm>
                  <a:off x="4564725" y="3467050"/>
                  <a:ext cx="1399500" cy="1756800"/>
                  <a:chOff x="4564725" y="3467050"/>
                  <a:chExt cx="1399500" cy="1756800"/>
                </a:xfrm>
              </p:grpSpPr>
              <p:sp>
                <p:nvSpPr>
                  <p:cNvPr id="568" name="Google Shape;568;p34"/>
                  <p:cNvSpPr/>
                  <p:nvPr/>
                </p:nvSpPr>
                <p:spPr>
                  <a:xfrm>
                    <a:off x="4564725" y="3467050"/>
                    <a:ext cx="1399500" cy="17568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34"/>
                  <p:cNvSpPr/>
                  <p:nvPr/>
                </p:nvSpPr>
                <p:spPr>
                  <a:xfrm>
                    <a:off x="4863475" y="4054913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70" name="Google Shape;570;p34"/>
                  <p:cNvSpPr/>
                  <p:nvPr/>
                </p:nvSpPr>
                <p:spPr>
                  <a:xfrm>
                    <a:off x="4850749" y="4251325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Heap</a:t>
                    </a:r>
                    <a:endParaRPr b="1">
                      <a:solidFill>
                        <a:srgbClr val="0000FF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71" name="Google Shape;571;p34"/>
                  <p:cNvSpPr/>
                  <p:nvPr/>
                </p:nvSpPr>
                <p:spPr>
                  <a:xfrm>
                    <a:off x="4837640" y="4915750"/>
                    <a:ext cx="898098" cy="2758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Stack</a:t>
                    </a:r>
                    <a:endParaRPr b="1" dirty="0">
                      <a:solidFill>
                        <a:srgbClr val="FF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572" name="Google Shape;572;p34"/>
                  <p:cNvGrpSpPr/>
                  <p:nvPr/>
                </p:nvGrpSpPr>
                <p:grpSpPr>
                  <a:xfrm>
                    <a:off x="4615449" y="35132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573" name="Google Shape;573;p34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74" name="Google Shape;574;p34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75" name="Google Shape;575;p34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76" name="Google Shape;576;p34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577" name="Google Shape;577;p34"/>
            <p:cNvSpPr/>
            <p:nvPr/>
          </p:nvSpPr>
          <p:spPr>
            <a:xfrm>
              <a:off x="9414925" y="111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78" name="Google Shape;578;p34"/>
          <p:cNvGrpSpPr/>
          <p:nvPr/>
        </p:nvGrpSpPr>
        <p:grpSpPr>
          <a:xfrm>
            <a:off x="8271925" y="4969825"/>
            <a:ext cx="2131200" cy="1356575"/>
            <a:chOff x="8170325" y="5142825"/>
            <a:chExt cx="2131200" cy="1356575"/>
          </a:xfrm>
        </p:grpSpPr>
        <p:grpSp>
          <p:nvGrpSpPr>
            <p:cNvPr id="579" name="Google Shape;579;p34"/>
            <p:cNvGrpSpPr/>
            <p:nvPr/>
          </p:nvGrpSpPr>
          <p:grpSpPr>
            <a:xfrm>
              <a:off x="8607625" y="5142825"/>
              <a:ext cx="1399500" cy="949500"/>
              <a:chOff x="2634375" y="2846925"/>
              <a:chExt cx="1399500" cy="949500"/>
            </a:xfrm>
          </p:grpSpPr>
          <p:sp>
            <p:nvSpPr>
              <p:cNvPr id="580" name="Google Shape;580;p34"/>
              <p:cNvSpPr/>
              <p:nvPr/>
            </p:nvSpPr>
            <p:spPr>
              <a:xfrm>
                <a:off x="2634375" y="2846925"/>
                <a:ext cx="1399500" cy="9495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1" name="Google Shape;581;p34"/>
              <p:cNvGrpSpPr/>
              <p:nvPr/>
            </p:nvGrpSpPr>
            <p:grpSpPr>
              <a:xfrm>
                <a:off x="2685099" y="2901425"/>
                <a:ext cx="1291350" cy="266100"/>
                <a:chOff x="1943774" y="4061250"/>
                <a:chExt cx="1291350" cy="266100"/>
              </a:xfrm>
            </p:grpSpPr>
            <p:sp>
              <p:nvSpPr>
                <p:cNvPr id="582" name="Google Shape;582;p34"/>
                <p:cNvSpPr/>
                <p:nvPr/>
              </p:nvSpPr>
              <p:spPr>
                <a:xfrm>
                  <a:off x="2618024" y="4061250"/>
                  <a:ext cx="617100" cy="2661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Code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83" name="Google Shape;583;p34"/>
                <p:cNvSpPr/>
                <p:nvPr/>
              </p:nvSpPr>
              <p:spPr>
                <a:xfrm>
                  <a:off x="1943774" y="4061250"/>
                  <a:ext cx="617100" cy="266100"/>
                </a:xfrm>
                <a:prstGeom prst="rect">
                  <a:avLst/>
                </a:prstGeom>
                <a:solidFill>
                  <a:srgbClr val="A4C2F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libC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584" name="Google Shape;584;p34"/>
            <p:cNvSpPr/>
            <p:nvPr/>
          </p:nvSpPr>
          <p:spPr>
            <a:xfrm>
              <a:off x="8170325" y="619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85" name="Google Shape;585;p34"/>
          <p:cNvSpPr/>
          <p:nvPr/>
        </p:nvSpPr>
        <p:spPr>
          <a:xfrm>
            <a:off x="1001400" y="1729300"/>
            <a:ext cx="5053800" cy="47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AutoNum type="arabicPeriod" startAt="2"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Se crean las referencias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Memoria virtual → Memoria física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Memoria virtual → Disco duro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ea typeface="Roboto"/>
              <a:cs typeface="Roboto"/>
              <a:sym typeface="Roboto"/>
            </a:endParaRPr>
          </a:p>
        </p:txBody>
      </p:sp>
      <p:grpSp>
        <p:nvGrpSpPr>
          <p:cNvPr id="586" name="Google Shape;586;p34"/>
          <p:cNvGrpSpPr/>
          <p:nvPr/>
        </p:nvGrpSpPr>
        <p:grpSpPr>
          <a:xfrm>
            <a:off x="3006849" y="2874625"/>
            <a:ext cx="1291350" cy="266100"/>
            <a:chOff x="1943774" y="4061250"/>
            <a:chExt cx="1291350" cy="266100"/>
          </a:xfrm>
        </p:grpSpPr>
        <p:sp>
          <p:nvSpPr>
            <p:cNvPr id="587" name="Google Shape;587;p34"/>
            <p:cNvSpPr/>
            <p:nvPr/>
          </p:nvSpPr>
          <p:spPr>
            <a:xfrm>
              <a:off x="2618024" y="4061250"/>
              <a:ext cx="617100" cy="2661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Code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1943774" y="4061250"/>
              <a:ext cx="617100" cy="2661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libC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89" name="Google Shape;589;p34"/>
          <p:cNvGrpSpPr/>
          <p:nvPr/>
        </p:nvGrpSpPr>
        <p:grpSpPr>
          <a:xfrm>
            <a:off x="3006849" y="4192075"/>
            <a:ext cx="1291350" cy="266100"/>
            <a:chOff x="1943774" y="4052925"/>
            <a:chExt cx="1291350" cy="266100"/>
          </a:xfrm>
        </p:grpSpPr>
        <p:sp>
          <p:nvSpPr>
            <p:cNvPr id="590" name="Google Shape;590;p34"/>
            <p:cNvSpPr/>
            <p:nvPr/>
          </p:nvSpPr>
          <p:spPr>
            <a:xfrm>
              <a:off x="1943774" y="4052925"/>
              <a:ext cx="617100" cy="2661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libA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2618024" y="4052925"/>
              <a:ext cx="617100" cy="2661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libB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92" name="Google Shape;592;p34"/>
          <p:cNvSpPr/>
          <p:nvPr/>
        </p:nvSpPr>
        <p:spPr>
          <a:xfrm>
            <a:off x="8366475" y="1496450"/>
            <a:ext cx="2387600" cy="1644284"/>
          </a:xfrm>
          <a:custGeom>
            <a:avLst/>
            <a:gdLst/>
            <a:ahLst/>
            <a:cxnLst/>
            <a:rect l="l" t="t" r="r" b="b"/>
            <a:pathLst>
              <a:path w="95504" h="62378" extrusionOk="0">
                <a:moveTo>
                  <a:pt x="95504" y="16658"/>
                </a:moveTo>
                <a:cubicBezTo>
                  <a:pt x="94827" y="15473"/>
                  <a:pt x="93218" y="11578"/>
                  <a:pt x="91440" y="9546"/>
                </a:cubicBezTo>
                <a:cubicBezTo>
                  <a:pt x="89662" y="7514"/>
                  <a:pt x="87969" y="5990"/>
                  <a:pt x="84836" y="4466"/>
                </a:cubicBezTo>
                <a:cubicBezTo>
                  <a:pt x="81703" y="2942"/>
                  <a:pt x="77047" y="1079"/>
                  <a:pt x="72644" y="402"/>
                </a:cubicBezTo>
                <a:cubicBezTo>
                  <a:pt x="68241" y="-275"/>
                  <a:pt x="63500" y="148"/>
                  <a:pt x="58420" y="402"/>
                </a:cubicBezTo>
                <a:cubicBezTo>
                  <a:pt x="53340" y="656"/>
                  <a:pt x="46821" y="317"/>
                  <a:pt x="42164" y="1926"/>
                </a:cubicBezTo>
                <a:cubicBezTo>
                  <a:pt x="37507" y="3535"/>
                  <a:pt x="33782" y="7175"/>
                  <a:pt x="30480" y="10054"/>
                </a:cubicBezTo>
                <a:cubicBezTo>
                  <a:pt x="27178" y="12933"/>
                  <a:pt x="24638" y="15896"/>
                  <a:pt x="22352" y="19198"/>
                </a:cubicBezTo>
                <a:cubicBezTo>
                  <a:pt x="20066" y="22500"/>
                  <a:pt x="20489" y="22669"/>
                  <a:pt x="16764" y="29866"/>
                </a:cubicBezTo>
                <a:cubicBezTo>
                  <a:pt x="13039" y="37063"/>
                  <a:pt x="2794" y="56959"/>
                  <a:pt x="0" y="6237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3" name="Google Shape;593;p34"/>
          <p:cNvSpPr/>
          <p:nvPr/>
        </p:nvSpPr>
        <p:spPr>
          <a:xfrm>
            <a:off x="7706075" y="1641367"/>
            <a:ext cx="2247900" cy="1404400"/>
          </a:xfrm>
          <a:custGeom>
            <a:avLst/>
            <a:gdLst/>
            <a:ahLst/>
            <a:cxnLst/>
            <a:rect l="l" t="t" r="r" b="b"/>
            <a:pathLst>
              <a:path w="89916" h="56176" extrusionOk="0">
                <a:moveTo>
                  <a:pt x="89916" y="14520"/>
                </a:moveTo>
                <a:cubicBezTo>
                  <a:pt x="89408" y="13504"/>
                  <a:pt x="88053" y="10287"/>
                  <a:pt x="86868" y="8424"/>
                </a:cubicBezTo>
                <a:cubicBezTo>
                  <a:pt x="85683" y="6561"/>
                  <a:pt x="84751" y="4699"/>
                  <a:pt x="82804" y="3344"/>
                </a:cubicBezTo>
                <a:cubicBezTo>
                  <a:pt x="80857" y="1989"/>
                  <a:pt x="78655" y="719"/>
                  <a:pt x="75184" y="296"/>
                </a:cubicBezTo>
                <a:cubicBezTo>
                  <a:pt x="71713" y="-127"/>
                  <a:pt x="66633" y="-43"/>
                  <a:pt x="61976" y="804"/>
                </a:cubicBezTo>
                <a:cubicBezTo>
                  <a:pt x="57319" y="1651"/>
                  <a:pt x="52239" y="2836"/>
                  <a:pt x="47244" y="5376"/>
                </a:cubicBezTo>
                <a:cubicBezTo>
                  <a:pt x="42249" y="7916"/>
                  <a:pt x="37169" y="11811"/>
                  <a:pt x="32004" y="16044"/>
                </a:cubicBezTo>
                <a:cubicBezTo>
                  <a:pt x="26839" y="20277"/>
                  <a:pt x="20489" y="26119"/>
                  <a:pt x="16256" y="30776"/>
                </a:cubicBezTo>
                <a:cubicBezTo>
                  <a:pt x="12023" y="35433"/>
                  <a:pt x="9313" y="39751"/>
                  <a:pt x="6604" y="43984"/>
                </a:cubicBezTo>
                <a:cubicBezTo>
                  <a:pt x="3895" y="48217"/>
                  <a:pt x="1101" y="54144"/>
                  <a:pt x="0" y="561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4" name="Google Shape;594;p34"/>
          <p:cNvSpPr/>
          <p:nvPr/>
        </p:nvSpPr>
        <p:spPr>
          <a:xfrm>
            <a:off x="9890475" y="2372675"/>
            <a:ext cx="1530882" cy="2717709"/>
          </a:xfrm>
          <a:custGeom>
            <a:avLst/>
            <a:gdLst/>
            <a:ahLst/>
            <a:cxnLst/>
            <a:rect l="l" t="t" r="r" b="b"/>
            <a:pathLst>
              <a:path w="66315" h="99568" extrusionOk="0">
                <a:moveTo>
                  <a:pt x="50800" y="0"/>
                </a:moveTo>
                <a:cubicBezTo>
                  <a:pt x="51985" y="1101"/>
                  <a:pt x="55795" y="3725"/>
                  <a:pt x="57912" y="6604"/>
                </a:cubicBezTo>
                <a:cubicBezTo>
                  <a:pt x="60029" y="9483"/>
                  <a:pt x="62145" y="12785"/>
                  <a:pt x="63500" y="17272"/>
                </a:cubicBezTo>
                <a:cubicBezTo>
                  <a:pt x="64855" y="21759"/>
                  <a:pt x="65701" y="27940"/>
                  <a:pt x="66040" y="33528"/>
                </a:cubicBezTo>
                <a:cubicBezTo>
                  <a:pt x="66379" y="39116"/>
                  <a:pt x="66463" y="45551"/>
                  <a:pt x="65532" y="50800"/>
                </a:cubicBezTo>
                <a:cubicBezTo>
                  <a:pt x="64601" y="56049"/>
                  <a:pt x="63246" y="59690"/>
                  <a:pt x="60452" y="65024"/>
                </a:cubicBezTo>
                <a:cubicBezTo>
                  <a:pt x="57658" y="70358"/>
                  <a:pt x="52917" y="78486"/>
                  <a:pt x="48768" y="82804"/>
                </a:cubicBezTo>
                <a:cubicBezTo>
                  <a:pt x="44619" y="87122"/>
                  <a:pt x="40386" y="88731"/>
                  <a:pt x="35560" y="90932"/>
                </a:cubicBezTo>
                <a:cubicBezTo>
                  <a:pt x="30734" y="93133"/>
                  <a:pt x="25739" y="94573"/>
                  <a:pt x="19812" y="96012"/>
                </a:cubicBezTo>
                <a:cubicBezTo>
                  <a:pt x="13885" y="97451"/>
                  <a:pt x="3302" y="98975"/>
                  <a:pt x="0" y="9956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5" name="Google Shape;595;p34"/>
          <p:cNvSpPr/>
          <p:nvPr/>
        </p:nvSpPr>
        <p:spPr>
          <a:xfrm>
            <a:off x="8958000" y="2486975"/>
            <a:ext cx="1220550" cy="2590800"/>
          </a:xfrm>
          <a:custGeom>
            <a:avLst/>
            <a:gdLst/>
            <a:ahLst/>
            <a:cxnLst/>
            <a:rect l="l" t="t" r="r" b="b"/>
            <a:pathLst>
              <a:path w="54568" h="103632" extrusionOk="0">
                <a:moveTo>
                  <a:pt x="47244" y="0"/>
                </a:moveTo>
                <a:cubicBezTo>
                  <a:pt x="47837" y="931"/>
                  <a:pt x="49784" y="2540"/>
                  <a:pt x="50800" y="5588"/>
                </a:cubicBezTo>
                <a:cubicBezTo>
                  <a:pt x="51816" y="8636"/>
                  <a:pt x="52747" y="13293"/>
                  <a:pt x="53340" y="18288"/>
                </a:cubicBezTo>
                <a:cubicBezTo>
                  <a:pt x="53933" y="23283"/>
                  <a:pt x="54779" y="29972"/>
                  <a:pt x="54356" y="35560"/>
                </a:cubicBezTo>
                <a:cubicBezTo>
                  <a:pt x="53933" y="41148"/>
                  <a:pt x="53509" y="45889"/>
                  <a:pt x="50800" y="51816"/>
                </a:cubicBezTo>
                <a:cubicBezTo>
                  <a:pt x="48091" y="57743"/>
                  <a:pt x="42587" y="65447"/>
                  <a:pt x="38100" y="71120"/>
                </a:cubicBezTo>
                <a:cubicBezTo>
                  <a:pt x="33613" y="76793"/>
                  <a:pt x="28956" y="81195"/>
                  <a:pt x="23876" y="85852"/>
                </a:cubicBezTo>
                <a:cubicBezTo>
                  <a:pt x="18796" y="90509"/>
                  <a:pt x="11599" y="96097"/>
                  <a:pt x="7620" y="99060"/>
                </a:cubicBezTo>
                <a:cubicBezTo>
                  <a:pt x="3641" y="102023"/>
                  <a:pt x="1270" y="102870"/>
                  <a:pt x="0" y="10363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01" name="Google Shape;601;p35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¿Cómo funciona?</a:t>
            </a:r>
            <a:endParaRPr sz="2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602" name="Google Shape;602;p35"/>
          <p:cNvGrpSpPr/>
          <p:nvPr/>
        </p:nvGrpSpPr>
        <p:grpSpPr>
          <a:xfrm>
            <a:off x="6604150" y="1111300"/>
            <a:ext cx="2353850" cy="3792774"/>
            <a:chOff x="6604150" y="1111300"/>
            <a:chExt cx="2353850" cy="3792774"/>
          </a:xfrm>
        </p:grpSpPr>
        <p:grpSp>
          <p:nvGrpSpPr>
            <p:cNvPr id="603" name="Google Shape;603;p35"/>
            <p:cNvGrpSpPr/>
            <p:nvPr/>
          </p:nvGrpSpPr>
          <p:grpSpPr>
            <a:xfrm>
              <a:off x="6604150" y="1284299"/>
              <a:ext cx="2353850" cy="3619775"/>
              <a:chOff x="1397800" y="2364349"/>
              <a:chExt cx="2353850" cy="3619775"/>
            </a:xfrm>
          </p:grpSpPr>
          <p:pic>
            <p:nvPicPr>
              <p:cNvPr id="604" name="Google Shape;604;p3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97800" y="2364349"/>
                <a:ext cx="2353850" cy="36197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05" name="Google Shape;605;p35"/>
              <p:cNvGrpSpPr/>
              <p:nvPr/>
            </p:nvGrpSpPr>
            <p:grpSpPr>
              <a:xfrm>
                <a:off x="1880050" y="4005675"/>
                <a:ext cx="1437600" cy="1294725"/>
                <a:chOff x="1880050" y="4005675"/>
                <a:chExt cx="1437600" cy="1294725"/>
              </a:xfrm>
            </p:grpSpPr>
            <p:sp>
              <p:nvSpPr>
                <p:cNvPr id="606" name="Google Shape;606;p35"/>
                <p:cNvSpPr/>
                <p:nvPr/>
              </p:nvSpPr>
              <p:spPr>
                <a:xfrm>
                  <a:off x="2032138" y="49923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Program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07" name="Google Shape;607;p35"/>
                <p:cNvGrpSpPr/>
                <p:nvPr/>
              </p:nvGrpSpPr>
              <p:grpSpPr>
                <a:xfrm>
                  <a:off x="1880050" y="4005675"/>
                  <a:ext cx="1437600" cy="967200"/>
                  <a:chOff x="1880050" y="4005675"/>
                  <a:chExt cx="1437600" cy="967200"/>
                </a:xfrm>
              </p:grpSpPr>
              <p:sp>
                <p:nvSpPr>
                  <p:cNvPr id="608" name="Google Shape;608;p35"/>
                  <p:cNvSpPr/>
                  <p:nvPr/>
                </p:nvSpPr>
                <p:spPr>
                  <a:xfrm>
                    <a:off x="1880050" y="4005675"/>
                    <a:ext cx="1437600" cy="967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35"/>
                  <p:cNvSpPr/>
                  <p:nvPr/>
                </p:nvSpPr>
                <p:spPr>
                  <a:xfrm>
                    <a:off x="1997438" y="4679183"/>
                    <a:ext cx="1161600" cy="26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610" name="Google Shape;610;p35"/>
                  <p:cNvGrpSpPr/>
                  <p:nvPr/>
                </p:nvGrpSpPr>
                <p:grpSpPr>
                  <a:xfrm>
                    <a:off x="1943774" y="40529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611" name="Google Shape;611;p35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12" name="Google Shape;612;p35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13" name="Google Shape;613;p35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14" name="Google Shape;614;p35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615" name="Google Shape;615;p35"/>
            <p:cNvSpPr/>
            <p:nvPr/>
          </p:nvSpPr>
          <p:spPr>
            <a:xfrm>
              <a:off x="7018030" y="111130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16" name="Google Shape;616;p35"/>
          <p:cNvGrpSpPr/>
          <p:nvPr/>
        </p:nvGrpSpPr>
        <p:grpSpPr>
          <a:xfrm>
            <a:off x="9414925" y="1111300"/>
            <a:ext cx="2157300" cy="3179400"/>
            <a:chOff x="9414925" y="1111300"/>
            <a:chExt cx="2157300" cy="3179400"/>
          </a:xfrm>
        </p:grpSpPr>
        <p:grpSp>
          <p:nvGrpSpPr>
            <p:cNvPr id="617" name="Google Shape;617;p35"/>
            <p:cNvGrpSpPr/>
            <p:nvPr/>
          </p:nvGrpSpPr>
          <p:grpSpPr>
            <a:xfrm>
              <a:off x="9414925" y="1601800"/>
              <a:ext cx="2157300" cy="2688900"/>
              <a:chOff x="4182475" y="3174425"/>
              <a:chExt cx="2157300" cy="2688900"/>
            </a:xfrm>
          </p:grpSpPr>
          <p:sp>
            <p:nvSpPr>
              <p:cNvPr id="618" name="Google Shape;618;p35"/>
              <p:cNvSpPr/>
              <p:nvPr/>
            </p:nvSpPr>
            <p:spPr>
              <a:xfrm>
                <a:off x="4182475" y="3174425"/>
                <a:ext cx="2157300" cy="26889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19" name="Google Shape;619;p35"/>
              <p:cNvGrpSpPr/>
              <p:nvPr/>
            </p:nvGrpSpPr>
            <p:grpSpPr>
              <a:xfrm>
                <a:off x="4564725" y="3467050"/>
                <a:ext cx="1399500" cy="2064950"/>
                <a:chOff x="4564725" y="3467050"/>
                <a:chExt cx="1399500" cy="2064950"/>
              </a:xfrm>
            </p:grpSpPr>
            <p:sp>
              <p:nvSpPr>
                <p:cNvPr id="620" name="Google Shape;620;p35"/>
                <p:cNvSpPr/>
                <p:nvPr/>
              </p:nvSpPr>
              <p:spPr>
                <a:xfrm>
                  <a:off x="4707613" y="52239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Process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21" name="Google Shape;621;p35"/>
                <p:cNvGrpSpPr/>
                <p:nvPr/>
              </p:nvGrpSpPr>
              <p:grpSpPr>
                <a:xfrm>
                  <a:off x="4564725" y="3467050"/>
                  <a:ext cx="1399500" cy="1756800"/>
                  <a:chOff x="4564725" y="3467050"/>
                  <a:chExt cx="1399500" cy="1756800"/>
                </a:xfrm>
              </p:grpSpPr>
              <p:sp>
                <p:nvSpPr>
                  <p:cNvPr id="622" name="Google Shape;622;p35"/>
                  <p:cNvSpPr/>
                  <p:nvPr/>
                </p:nvSpPr>
                <p:spPr>
                  <a:xfrm>
                    <a:off x="4564725" y="3467050"/>
                    <a:ext cx="1399500" cy="17568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3" name="Google Shape;623;p35"/>
                  <p:cNvSpPr/>
                  <p:nvPr/>
                </p:nvSpPr>
                <p:spPr>
                  <a:xfrm>
                    <a:off x="4863475" y="4054913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24" name="Google Shape;624;p35"/>
                  <p:cNvSpPr/>
                  <p:nvPr/>
                </p:nvSpPr>
                <p:spPr>
                  <a:xfrm>
                    <a:off x="4850749" y="4251325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Heap</a:t>
                    </a:r>
                    <a:endParaRPr b="1">
                      <a:solidFill>
                        <a:srgbClr val="0000FF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25" name="Google Shape;625;p35"/>
                  <p:cNvSpPr/>
                  <p:nvPr/>
                </p:nvSpPr>
                <p:spPr>
                  <a:xfrm>
                    <a:off x="4818849" y="4915750"/>
                    <a:ext cx="839926" cy="2758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Stack</a:t>
                    </a:r>
                    <a:endParaRPr b="1" dirty="0">
                      <a:solidFill>
                        <a:srgbClr val="FF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626" name="Google Shape;626;p35"/>
                  <p:cNvGrpSpPr/>
                  <p:nvPr/>
                </p:nvGrpSpPr>
                <p:grpSpPr>
                  <a:xfrm>
                    <a:off x="4615449" y="35132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627" name="Google Shape;627;p35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28" name="Google Shape;628;p35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29" name="Google Shape;629;p35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30" name="Google Shape;630;p35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631" name="Google Shape;631;p35"/>
            <p:cNvSpPr/>
            <p:nvPr/>
          </p:nvSpPr>
          <p:spPr>
            <a:xfrm>
              <a:off x="9414925" y="111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32" name="Google Shape;632;p35"/>
          <p:cNvGrpSpPr/>
          <p:nvPr/>
        </p:nvGrpSpPr>
        <p:grpSpPr>
          <a:xfrm>
            <a:off x="8271925" y="4969825"/>
            <a:ext cx="2131200" cy="1356575"/>
            <a:chOff x="8170325" y="5142825"/>
            <a:chExt cx="2131200" cy="1356575"/>
          </a:xfrm>
        </p:grpSpPr>
        <p:grpSp>
          <p:nvGrpSpPr>
            <p:cNvPr id="633" name="Google Shape;633;p35"/>
            <p:cNvGrpSpPr/>
            <p:nvPr/>
          </p:nvGrpSpPr>
          <p:grpSpPr>
            <a:xfrm>
              <a:off x="8607625" y="5142825"/>
              <a:ext cx="1399500" cy="949500"/>
              <a:chOff x="2634375" y="2846925"/>
              <a:chExt cx="1399500" cy="949500"/>
            </a:xfrm>
          </p:grpSpPr>
          <p:sp>
            <p:nvSpPr>
              <p:cNvPr id="634" name="Google Shape;634;p35"/>
              <p:cNvSpPr/>
              <p:nvPr/>
            </p:nvSpPr>
            <p:spPr>
              <a:xfrm>
                <a:off x="2634375" y="2846925"/>
                <a:ext cx="1399500" cy="9495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5" name="Google Shape;635;p35"/>
              <p:cNvGrpSpPr/>
              <p:nvPr/>
            </p:nvGrpSpPr>
            <p:grpSpPr>
              <a:xfrm>
                <a:off x="2685099" y="2901425"/>
                <a:ext cx="1291350" cy="266100"/>
                <a:chOff x="1943774" y="4061250"/>
                <a:chExt cx="1291350" cy="266100"/>
              </a:xfrm>
            </p:grpSpPr>
            <p:sp>
              <p:nvSpPr>
                <p:cNvPr id="636" name="Google Shape;636;p35"/>
                <p:cNvSpPr/>
                <p:nvPr/>
              </p:nvSpPr>
              <p:spPr>
                <a:xfrm>
                  <a:off x="2618024" y="4061250"/>
                  <a:ext cx="617100" cy="2661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Code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37" name="Google Shape;637;p35"/>
                <p:cNvSpPr/>
                <p:nvPr/>
              </p:nvSpPr>
              <p:spPr>
                <a:xfrm>
                  <a:off x="1943774" y="4061250"/>
                  <a:ext cx="617100" cy="266100"/>
                </a:xfrm>
                <a:prstGeom prst="rect">
                  <a:avLst/>
                </a:prstGeom>
                <a:solidFill>
                  <a:srgbClr val="A4C2F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libC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638" name="Google Shape;638;p35"/>
            <p:cNvSpPr/>
            <p:nvPr/>
          </p:nvSpPr>
          <p:spPr>
            <a:xfrm>
              <a:off x="8170325" y="619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39" name="Google Shape;639;p35"/>
          <p:cNvSpPr/>
          <p:nvPr/>
        </p:nvSpPr>
        <p:spPr>
          <a:xfrm>
            <a:off x="1001400" y="1729300"/>
            <a:ext cx="5053800" cy="47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AutoNum type="arabicPeriod" startAt="3"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Se accede a la librería B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35"/>
          <p:cNvSpPr/>
          <p:nvPr/>
        </p:nvSpPr>
        <p:spPr>
          <a:xfrm>
            <a:off x="2744075" y="2472400"/>
            <a:ext cx="809100" cy="457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libB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35"/>
          <p:cNvSpPr/>
          <p:nvPr/>
        </p:nvSpPr>
        <p:spPr>
          <a:xfrm>
            <a:off x="8366475" y="1496450"/>
            <a:ext cx="2387600" cy="1644284"/>
          </a:xfrm>
          <a:custGeom>
            <a:avLst/>
            <a:gdLst/>
            <a:ahLst/>
            <a:cxnLst/>
            <a:rect l="l" t="t" r="r" b="b"/>
            <a:pathLst>
              <a:path w="95504" h="62378" extrusionOk="0">
                <a:moveTo>
                  <a:pt x="95504" y="16658"/>
                </a:moveTo>
                <a:cubicBezTo>
                  <a:pt x="94827" y="15473"/>
                  <a:pt x="93218" y="11578"/>
                  <a:pt x="91440" y="9546"/>
                </a:cubicBezTo>
                <a:cubicBezTo>
                  <a:pt x="89662" y="7514"/>
                  <a:pt x="87969" y="5990"/>
                  <a:pt x="84836" y="4466"/>
                </a:cubicBezTo>
                <a:cubicBezTo>
                  <a:pt x="81703" y="2942"/>
                  <a:pt x="77047" y="1079"/>
                  <a:pt x="72644" y="402"/>
                </a:cubicBezTo>
                <a:cubicBezTo>
                  <a:pt x="68241" y="-275"/>
                  <a:pt x="63500" y="148"/>
                  <a:pt x="58420" y="402"/>
                </a:cubicBezTo>
                <a:cubicBezTo>
                  <a:pt x="53340" y="656"/>
                  <a:pt x="46821" y="317"/>
                  <a:pt x="42164" y="1926"/>
                </a:cubicBezTo>
                <a:cubicBezTo>
                  <a:pt x="37507" y="3535"/>
                  <a:pt x="33782" y="7175"/>
                  <a:pt x="30480" y="10054"/>
                </a:cubicBezTo>
                <a:cubicBezTo>
                  <a:pt x="27178" y="12933"/>
                  <a:pt x="24638" y="15896"/>
                  <a:pt x="22352" y="19198"/>
                </a:cubicBezTo>
                <a:cubicBezTo>
                  <a:pt x="20066" y="22500"/>
                  <a:pt x="20489" y="22669"/>
                  <a:pt x="16764" y="29866"/>
                </a:cubicBezTo>
                <a:cubicBezTo>
                  <a:pt x="13039" y="37063"/>
                  <a:pt x="2794" y="56959"/>
                  <a:pt x="0" y="6237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2" name="Google Shape;642;p35"/>
          <p:cNvSpPr/>
          <p:nvPr/>
        </p:nvSpPr>
        <p:spPr>
          <a:xfrm>
            <a:off x="7706075" y="1641367"/>
            <a:ext cx="2247900" cy="1404400"/>
          </a:xfrm>
          <a:custGeom>
            <a:avLst/>
            <a:gdLst/>
            <a:ahLst/>
            <a:cxnLst/>
            <a:rect l="l" t="t" r="r" b="b"/>
            <a:pathLst>
              <a:path w="89916" h="56176" extrusionOk="0">
                <a:moveTo>
                  <a:pt x="89916" y="14520"/>
                </a:moveTo>
                <a:cubicBezTo>
                  <a:pt x="89408" y="13504"/>
                  <a:pt x="88053" y="10287"/>
                  <a:pt x="86868" y="8424"/>
                </a:cubicBezTo>
                <a:cubicBezTo>
                  <a:pt x="85683" y="6561"/>
                  <a:pt x="84751" y="4699"/>
                  <a:pt x="82804" y="3344"/>
                </a:cubicBezTo>
                <a:cubicBezTo>
                  <a:pt x="80857" y="1989"/>
                  <a:pt x="78655" y="719"/>
                  <a:pt x="75184" y="296"/>
                </a:cubicBezTo>
                <a:cubicBezTo>
                  <a:pt x="71713" y="-127"/>
                  <a:pt x="66633" y="-43"/>
                  <a:pt x="61976" y="804"/>
                </a:cubicBezTo>
                <a:cubicBezTo>
                  <a:pt x="57319" y="1651"/>
                  <a:pt x="52239" y="2836"/>
                  <a:pt x="47244" y="5376"/>
                </a:cubicBezTo>
                <a:cubicBezTo>
                  <a:pt x="42249" y="7916"/>
                  <a:pt x="37169" y="11811"/>
                  <a:pt x="32004" y="16044"/>
                </a:cubicBezTo>
                <a:cubicBezTo>
                  <a:pt x="26839" y="20277"/>
                  <a:pt x="20489" y="26119"/>
                  <a:pt x="16256" y="30776"/>
                </a:cubicBezTo>
                <a:cubicBezTo>
                  <a:pt x="12023" y="35433"/>
                  <a:pt x="9313" y="39751"/>
                  <a:pt x="6604" y="43984"/>
                </a:cubicBezTo>
                <a:cubicBezTo>
                  <a:pt x="3895" y="48217"/>
                  <a:pt x="1101" y="54144"/>
                  <a:pt x="0" y="561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3" name="Google Shape;643;p35"/>
          <p:cNvSpPr/>
          <p:nvPr/>
        </p:nvSpPr>
        <p:spPr>
          <a:xfrm>
            <a:off x="9890475" y="2372675"/>
            <a:ext cx="1530882" cy="2717709"/>
          </a:xfrm>
          <a:custGeom>
            <a:avLst/>
            <a:gdLst/>
            <a:ahLst/>
            <a:cxnLst/>
            <a:rect l="l" t="t" r="r" b="b"/>
            <a:pathLst>
              <a:path w="66315" h="99568" extrusionOk="0">
                <a:moveTo>
                  <a:pt x="50800" y="0"/>
                </a:moveTo>
                <a:cubicBezTo>
                  <a:pt x="51985" y="1101"/>
                  <a:pt x="55795" y="3725"/>
                  <a:pt x="57912" y="6604"/>
                </a:cubicBezTo>
                <a:cubicBezTo>
                  <a:pt x="60029" y="9483"/>
                  <a:pt x="62145" y="12785"/>
                  <a:pt x="63500" y="17272"/>
                </a:cubicBezTo>
                <a:cubicBezTo>
                  <a:pt x="64855" y="21759"/>
                  <a:pt x="65701" y="27940"/>
                  <a:pt x="66040" y="33528"/>
                </a:cubicBezTo>
                <a:cubicBezTo>
                  <a:pt x="66379" y="39116"/>
                  <a:pt x="66463" y="45551"/>
                  <a:pt x="65532" y="50800"/>
                </a:cubicBezTo>
                <a:cubicBezTo>
                  <a:pt x="64601" y="56049"/>
                  <a:pt x="63246" y="59690"/>
                  <a:pt x="60452" y="65024"/>
                </a:cubicBezTo>
                <a:cubicBezTo>
                  <a:pt x="57658" y="70358"/>
                  <a:pt x="52917" y="78486"/>
                  <a:pt x="48768" y="82804"/>
                </a:cubicBezTo>
                <a:cubicBezTo>
                  <a:pt x="44619" y="87122"/>
                  <a:pt x="40386" y="88731"/>
                  <a:pt x="35560" y="90932"/>
                </a:cubicBezTo>
                <a:cubicBezTo>
                  <a:pt x="30734" y="93133"/>
                  <a:pt x="25739" y="94573"/>
                  <a:pt x="19812" y="96012"/>
                </a:cubicBezTo>
                <a:cubicBezTo>
                  <a:pt x="13885" y="97451"/>
                  <a:pt x="3302" y="98975"/>
                  <a:pt x="0" y="9956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4" name="Google Shape;644;p35"/>
          <p:cNvSpPr/>
          <p:nvPr/>
        </p:nvSpPr>
        <p:spPr>
          <a:xfrm>
            <a:off x="8958000" y="2486975"/>
            <a:ext cx="1220550" cy="2590800"/>
          </a:xfrm>
          <a:custGeom>
            <a:avLst/>
            <a:gdLst/>
            <a:ahLst/>
            <a:cxnLst/>
            <a:rect l="l" t="t" r="r" b="b"/>
            <a:pathLst>
              <a:path w="54568" h="103632" extrusionOk="0">
                <a:moveTo>
                  <a:pt x="47244" y="0"/>
                </a:moveTo>
                <a:cubicBezTo>
                  <a:pt x="47837" y="931"/>
                  <a:pt x="49784" y="2540"/>
                  <a:pt x="50800" y="5588"/>
                </a:cubicBezTo>
                <a:cubicBezTo>
                  <a:pt x="51816" y="8636"/>
                  <a:pt x="52747" y="13293"/>
                  <a:pt x="53340" y="18288"/>
                </a:cubicBezTo>
                <a:cubicBezTo>
                  <a:pt x="53933" y="23283"/>
                  <a:pt x="54779" y="29972"/>
                  <a:pt x="54356" y="35560"/>
                </a:cubicBezTo>
                <a:cubicBezTo>
                  <a:pt x="53933" y="41148"/>
                  <a:pt x="53509" y="45889"/>
                  <a:pt x="50800" y="51816"/>
                </a:cubicBezTo>
                <a:cubicBezTo>
                  <a:pt x="48091" y="57743"/>
                  <a:pt x="42587" y="65447"/>
                  <a:pt x="38100" y="71120"/>
                </a:cubicBezTo>
                <a:cubicBezTo>
                  <a:pt x="33613" y="76793"/>
                  <a:pt x="28956" y="81195"/>
                  <a:pt x="23876" y="85852"/>
                </a:cubicBezTo>
                <a:cubicBezTo>
                  <a:pt x="18796" y="90509"/>
                  <a:pt x="11599" y="96097"/>
                  <a:pt x="7620" y="99060"/>
                </a:cubicBezTo>
                <a:cubicBezTo>
                  <a:pt x="3641" y="102023"/>
                  <a:pt x="1270" y="102870"/>
                  <a:pt x="0" y="10363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5" name="Google Shape;645;p35"/>
          <p:cNvSpPr/>
          <p:nvPr/>
        </p:nvSpPr>
        <p:spPr>
          <a:xfrm rot="127655">
            <a:off x="8605289" y="2061846"/>
            <a:ext cx="686874" cy="38545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latin typeface="Consolas"/>
                <a:ea typeface="Consolas"/>
                <a:cs typeface="Consolas"/>
                <a:sym typeface="Consolas"/>
              </a:rPr>
              <a:t>access</a:t>
            </a:r>
            <a:r>
              <a:rPr lang="es-ES" sz="11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libB</a:t>
            </a:r>
            <a:endParaRPr sz="11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51" name="Google Shape;651;p36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¿Cómo funciona?</a:t>
            </a:r>
            <a:endParaRPr sz="2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652" name="Google Shape;652;p36"/>
          <p:cNvGrpSpPr/>
          <p:nvPr/>
        </p:nvGrpSpPr>
        <p:grpSpPr>
          <a:xfrm>
            <a:off x="6604150" y="1111300"/>
            <a:ext cx="2353850" cy="3792774"/>
            <a:chOff x="6604150" y="1111300"/>
            <a:chExt cx="2353850" cy="3792774"/>
          </a:xfrm>
        </p:grpSpPr>
        <p:grpSp>
          <p:nvGrpSpPr>
            <p:cNvPr id="653" name="Google Shape;653;p36"/>
            <p:cNvGrpSpPr/>
            <p:nvPr/>
          </p:nvGrpSpPr>
          <p:grpSpPr>
            <a:xfrm>
              <a:off x="6604150" y="1284299"/>
              <a:ext cx="2353850" cy="3619775"/>
              <a:chOff x="1397800" y="2364349"/>
              <a:chExt cx="2353850" cy="3619775"/>
            </a:xfrm>
          </p:grpSpPr>
          <p:pic>
            <p:nvPicPr>
              <p:cNvPr id="654" name="Google Shape;654;p3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97800" y="2364349"/>
                <a:ext cx="2353850" cy="36197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55" name="Google Shape;655;p36"/>
              <p:cNvGrpSpPr/>
              <p:nvPr/>
            </p:nvGrpSpPr>
            <p:grpSpPr>
              <a:xfrm>
                <a:off x="1880050" y="4005675"/>
                <a:ext cx="1437600" cy="1294725"/>
                <a:chOff x="1880050" y="4005675"/>
                <a:chExt cx="1437600" cy="1294725"/>
              </a:xfrm>
            </p:grpSpPr>
            <p:sp>
              <p:nvSpPr>
                <p:cNvPr id="656" name="Google Shape;656;p36"/>
                <p:cNvSpPr/>
                <p:nvPr/>
              </p:nvSpPr>
              <p:spPr>
                <a:xfrm>
                  <a:off x="2032138" y="49923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Program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57" name="Google Shape;657;p36"/>
                <p:cNvGrpSpPr/>
                <p:nvPr/>
              </p:nvGrpSpPr>
              <p:grpSpPr>
                <a:xfrm>
                  <a:off x="1880050" y="4005675"/>
                  <a:ext cx="1437600" cy="967200"/>
                  <a:chOff x="1880050" y="4005675"/>
                  <a:chExt cx="1437600" cy="967200"/>
                </a:xfrm>
              </p:grpSpPr>
              <p:sp>
                <p:nvSpPr>
                  <p:cNvPr id="658" name="Google Shape;658;p36"/>
                  <p:cNvSpPr/>
                  <p:nvPr/>
                </p:nvSpPr>
                <p:spPr>
                  <a:xfrm>
                    <a:off x="1880050" y="4005675"/>
                    <a:ext cx="1437600" cy="967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9" name="Google Shape;659;p36"/>
                  <p:cNvSpPr/>
                  <p:nvPr/>
                </p:nvSpPr>
                <p:spPr>
                  <a:xfrm>
                    <a:off x="1997438" y="4679183"/>
                    <a:ext cx="1161600" cy="26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660" name="Google Shape;660;p36"/>
                  <p:cNvGrpSpPr/>
                  <p:nvPr/>
                </p:nvGrpSpPr>
                <p:grpSpPr>
                  <a:xfrm>
                    <a:off x="1943774" y="40529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661" name="Google Shape;661;p36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62" name="Google Shape;662;p36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63" name="Google Shape;663;p36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64" name="Google Shape;664;p36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665" name="Google Shape;665;p36"/>
            <p:cNvSpPr/>
            <p:nvPr/>
          </p:nvSpPr>
          <p:spPr>
            <a:xfrm>
              <a:off x="7018030" y="111130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66" name="Google Shape;666;p36"/>
          <p:cNvGrpSpPr/>
          <p:nvPr/>
        </p:nvGrpSpPr>
        <p:grpSpPr>
          <a:xfrm>
            <a:off x="9414925" y="1111300"/>
            <a:ext cx="2157300" cy="3179400"/>
            <a:chOff x="9414925" y="1111300"/>
            <a:chExt cx="2157300" cy="3179400"/>
          </a:xfrm>
        </p:grpSpPr>
        <p:grpSp>
          <p:nvGrpSpPr>
            <p:cNvPr id="667" name="Google Shape;667;p36"/>
            <p:cNvGrpSpPr/>
            <p:nvPr/>
          </p:nvGrpSpPr>
          <p:grpSpPr>
            <a:xfrm>
              <a:off x="9414925" y="1601800"/>
              <a:ext cx="2157300" cy="2688900"/>
              <a:chOff x="4182475" y="3174425"/>
              <a:chExt cx="2157300" cy="2688900"/>
            </a:xfrm>
          </p:grpSpPr>
          <p:sp>
            <p:nvSpPr>
              <p:cNvPr id="668" name="Google Shape;668;p36"/>
              <p:cNvSpPr/>
              <p:nvPr/>
            </p:nvSpPr>
            <p:spPr>
              <a:xfrm>
                <a:off x="4182475" y="3174425"/>
                <a:ext cx="2157300" cy="26889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9" name="Google Shape;669;p36"/>
              <p:cNvGrpSpPr/>
              <p:nvPr/>
            </p:nvGrpSpPr>
            <p:grpSpPr>
              <a:xfrm>
                <a:off x="4564725" y="3467050"/>
                <a:ext cx="1399500" cy="2064950"/>
                <a:chOff x="4564725" y="3467050"/>
                <a:chExt cx="1399500" cy="2064950"/>
              </a:xfrm>
            </p:grpSpPr>
            <p:sp>
              <p:nvSpPr>
                <p:cNvPr id="670" name="Google Shape;670;p36"/>
                <p:cNvSpPr/>
                <p:nvPr/>
              </p:nvSpPr>
              <p:spPr>
                <a:xfrm>
                  <a:off x="4707613" y="52239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Process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71" name="Google Shape;671;p36"/>
                <p:cNvGrpSpPr/>
                <p:nvPr/>
              </p:nvGrpSpPr>
              <p:grpSpPr>
                <a:xfrm>
                  <a:off x="4564725" y="3467050"/>
                  <a:ext cx="1399500" cy="1756800"/>
                  <a:chOff x="4564725" y="3467050"/>
                  <a:chExt cx="1399500" cy="1756800"/>
                </a:xfrm>
              </p:grpSpPr>
              <p:sp>
                <p:nvSpPr>
                  <p:cNvPr id="672" name="Google Shape;672;p36"/>
                  <p:cNvSpPr/>
                  <p:nvPr/>
                </p:nvSpPr>
                <p:spPr>
                  <a:xfrm>
                    <a:off x="4564725" y="3467050"/>
                    <a:ext cx="1399500" cy="17568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3" name="Google Shape;673;p36"/>
                  <p:cNvSpPr/>
                  <p:nvPr/>
                </p:nvSpPr>
                <p:spPr>
                  <a:xfrm>
                    <a:off x="4863475" y="4054913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74" name="Google Shape;674;p36"/>
                  <p:cNvSpPr/>
                  <p:nvPr/>
                </p:nvSpPr>
                <p:spPr>
                  <a:xfrm>
                    <a:off x="4850749" y="4251325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Heap</a:t>
                    </a:r>
                    <a:endParaRPr b="1">
                      <a:solidFill>
                        <a:srgbClr val="0000FF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75" name="Google Shape;675;p36"/>
                  <p:cNvSpPr/>
                  <p:nvPr/>
                </p:nvSpPr>
                <p:spPr>
                  <a:xfrm>
                    <a:off x="4779579" y="4915750"/>
                    <a:ext cx="976400" cy="236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Stack</a:t>
                    </a:r>
                    <a:endParaRPr b="1" dirty="0">
                      <a:solidFill>
                        <a:srgbClr val="FF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676" name="Google Shape;676;p36"/>
                  <p:cNvGrpSpPr/>
                  <p:nvPr/>
                </p:nvGrpSpPr>
                <p:grpSpPr>
                  <a:xfrm>
                    <a:off x="4615449" y="35132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677" name="Google Shape;677;p36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78" name="Google Shape;678;p36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79" name="Google Shape;679;p36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80" name="Google Shape;680;p36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681" name="Google Shape;681;p36"/>
            <p:cNvSpPr/>
            <p:nvPr/>
          </p:nvSpPr>
          <p:spPr>
            <a:xfrm>
              <a:off x="9414925" y="111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82" name="Google Shape;682;p36"/>
          <p:cNvGrpSpPr/>
          <p:nvPr/>
        </p:nvGrpSpPr>
        <p:grpSpPr>
          <a:xfrm>
            <a:off x="8271925" y="4969825"/>
            <a:ext cx="2131200" cy="1356575"/>
            <a:chOff x="8170325" y="5142825"/>
            <a:chExt cx="2131200" cy="1356575"/>
          </a:xfrm>
        </p:grpSpPr>
        <p:grpSp>
          <p:nvGrpSpPr>
            <p:cNvPr id="683" name="Google Shape;683;p36"/>
            <p:cNvGrpSpPr/>
            <p:nvPr/>
          </p:nvGrpSpPr>
          <p:grpSpPr>
            <a:xfrm>
              <a:off x="8607625" y="5142825"/>
              <a:ext cx="1399500" cy="949500"/>
              <a:chOff x="2634375" y="2846925"/>
              <a:chExt cx="1399500" cy="949500"/>
            </a:xfrm>
          </p:grpSpPr>
          <p:sp>
            <p:nvSpPr>
              <p:cNvPr id="684" name="Google Shape;684;p36"/>
              <p:cNvSpPr/>
              <p:nvPr/>
            </p:nvSpPr>
            <p:spPr>
              <a:xfrm>
                <a:off x="2634375" y="2846925"/>
                <a:ext cx="1399500" cy="9495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grpSp>
            <p:nvGrpSpPr>
              <p:cNvPr id="685" name="Google Shape;685;p36"/>
              <p:cNvGrpSpPr/>
              <p:nvPr/>
            </p:nvGrpSpPr>
            <p:grpSpPr>
              <a:xfrm>
                <a:off x="2685099" y="2901425"/>
                <a:ext cx="1291350" cy="266100"/>
                <a:chOff x="1943774" y="4061250"/>
                <a:chExt cx="1291350" cy="266100"/>
              </a:xfrm>
            </p:grpSpPr>
            <p:sp>
              <p:nvSpPr>
                <p:cNvPr id="686" name="Google Shape;686;p36"/>
                <p:cNvSpPr/>
                <p:nvPr/>
              </p:nvSpPr>
              <p:spPr>
                <a:xfrm>
                  <a:off x="2618024" y="4061250"/>
                  <a:ext cx="617100" cy="2661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Code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87" name="Google Shape;687;p36"/>
                <p:cNvSpPr/>
                <p:nvPr/>
              </p:nvSpPr>
              <p:spPr>
                <a:xfrm>
                  <a:off x="1943774" y="4061250"/>
                  <a:ext cx="617100" cy="266100"/>
                </a:xfrm>
                <a:prstGeom prst="rect">
                  <a:avLst/>
                </a:prstGeom>
                <a:solidFill>
                  <a:srgbClr val="A4C2F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libC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688" name="Google Shape;688;p36"/>
            <p:cNvSpPr/>
            <p:nvPr/>
          </p:nvSpPr>
          <p:spPr>
            <a:xfrm>
              <a:off x="8170325" y="619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89" name="Google Shape;689;p36"/>
          <p:cNvSpPr/>
          <p:nvPr/>
        </p:nvSpPr>
        <p:spPr>
          <a:xfrm>
            <a:off x="1001400" y="1729300"/>
            <a:ext cx="50538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AutoNum type="arabicPeriod" startAt="4"/>
            </a:pPr>
            <a:r>
              <a:rPr lang="es-ES" sz="2400" b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Se copia (o mueve) la página a la memoria principal</a:t>
            </a:r>
            <a:endParaRPr sz="2400" b="1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6"/>
          <p:cNvSpPr/>
          <p:nvPr/>
        </p:nvSpPr>
        <p:spPr>
          <a:xfrm>
            <a:off x="7706075" y="1641367"/>
            <a:ext cx="2247900" cy="1404400"/>
          </a:xfrm>
          <a:custGeom>
            <a:avLst/>
            <a:gdLst/>
            <a:ahLst/>
            <a:cxnLst/>
            <a:rect l="l" t="t" r="r" b="b"/>
            <a:pathLst>
              <a:path w="89916" h="56176" extrusionOk="0">
                <a:moveTo>
                  <a:pt x="89916" y="14520"/>
                </a:moveTo>
                <a:cubicBezTo>
                  <a:pt x="89408" y="13504"/>
                  <a:pt x="88053" y="10287"/>
                  <a:pt x="86868" y="8424"/>
                </a:cubicBezTo>
                <a:cubicBezTo>
                  <a:pt x="85683" y="6561"/>
                  <a:pt x="84751" y="4699"/>
                  <a:pt x="82804" y="3344"/>
                </a:cubicBezTo>
                <a:cubicBezTo>
                  <a:pt x="80857" y="1989"/>
                  <a:pt x="78655" y="719"/>
                  <a:pt x="75184" y="296"/>
                </a:cubicBezTo>
                <a:cubicBezTo>
                  <a:pt x="71713" y="-127"/>
                  <a:pt x="66633" y="-43"/>
                  <a:pt x="61976" y="804"/>
                </a:cubicBezTo>
                <a:cubicBezTo>
                  <a:pt x="57319" y="1651"/>
                  <a:pt x="52239" y="2836"/>
                  <a:pt x="47244" y="5376"/>
                </a:cubicBezTo>
                <a:cubicBezTo>
                  <a:pt x="42249" y="7916"/>
                  <a:pt x="37169" y="11811"/>
                  <a:pt x="32004" y="16044"/>
                </a:cubicBezTo>
                <a:cubicBezTo>
                  <a:pt x="26839" y="20277"/>
                  <a:pt x="20489" y="26119"/>
                  <a:pt x="16256" y="30776"/>
                </a:cubicBezTo>
                <a:cubicBezTo>
                  <a:pt x="12023" y="35433"/>
                  <a:pt x="9313" y="39751"/>
                  <a:pt x="6604" y="43984"/>
                </a:cubicBezTo>
                <a:cubicBezTo>
                  <a:pt x="3895" y="48217"/>
                  <a:pt x="1101" y="54144"/>
                  <a:pt x="0" y="561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91" name="Google Shape;691;p36"/>
          <p:cNvSpPr/>
          <p:nvPr/>
        </p:nvSpPr>
        <p:spPr>
          <a:xfrm>
            <a:off x="9890475" y="2372675"/>
            <a:ext cx="1530882" cy="2717709"/>
          </a:xfrm>
          <a:custGeom>
            <a:avLst/>
            <a:gdLst/>
            <a:ahLst/>
            <a:cxnLst/>
            <a:rect l="l" t="t" r="r" b="b"/>
            <a:pathLst>
              <a:path w="66315" h="99568" extrusionOk="0">
                <a:moveTo>
                  <a:pt x="50800" y="0"/>
                </a:moveTo>
                <a:cubicBezTo>
                  <a:pt x="51985" y="1101"/>
                  <a:pt x="55795" y="3725"/>
                  <a:pt x="57912" y="6604"/>
                </a:cubicBezTo>
                <a:cubicBezTo>
                  <a:pt x="60029" y="9483"/>
                  <a:pt x="62145" y="12785"/>
                  <a:pt x="63500" y="17272"/>
                </a:cubicBezTo>
                <a:cubicBezTo>
                  <a:pt x="64855" y="21759"/>
                  <a:pt x="65701" y="27940"/>
                  <a:pt x="66040" y="33528"/>
                </a:cubicBezTo>
                <a:cubicBezTo>
                  <a:pt x="66379" y="39116"/>
                  <a:pt x="66463" y="45551"/>
                  <a:pt x="65532" y="50800"/>
                </a:cubicBezTo>
                <a:cubicBezTo>
                  <a:pt x="64601" y="56049"/>
                  <a:pt x="63246" y="59690"/>
                  <a:pt x="60452" y="65024"/>
                </a:cubicBezTo>
                <a:cubicBezTo>
                  <a:pt x="57658" y="70358"/>
                  <a:pt x="52917" y="78486"/>
                  <a:pt x="48768" y="82804"/>
                </a:cubicBezTo>
                <a:cubicBezTo>
                  <a:pt x="44619" y="87122"/>
                  <a:pt x="40386" y="88731"/>
                  <a:pt x="35560" y="90932"/>
                </a:cubicBezTo>
                <a:cubicBezTo>
                  <a:pt x="30734" y="93133"/>
                  <a:pt x="25739" y="94573"/>
                  <a:pt x="19812" y="96012"/>
                </a:cubicBezTo>
                <a:cubicBezTo>
                  <a:pt x="13885" y="97451"/>
                  <a:pt x="3302" y="98975"/>
                  <a:pt x="0" y="9956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92" name="Google Shape;692;p36"/>
          <p:cNvSpPr/>
          <p:nvPr/>
        </p:nvSpPr>
        <p:spPr>
          <a:xfrm>
            <a:off x="8958000" y="2486975"/>
            <a:ext cx="1220550" cy="2590800"/>
          </a:xfrm>
          <a:custGeom>
            <a:avLst/>
            <a:gdLst/>
            <a:ahLst/>
            <a:cxnLst/>
            <a:rect l="l" t="t" r="r" b="b"/>
            <a:pathLst>
              <a:path w="54568" h="103632" extrusionOk="0">
                <a:moveTo>
                  <a:pt x="47244" y="0"/>
                </a:moveTo>
                <a:cubicBezTo>
                  <a:pt x="47837" y="931"/>
                  <a:pt x="49784" y="2540"/>
                  <a:pt x="50800" y="5588"/>
                </a:cubicBezTo>
                <a:cubicBezTo>
                  <a:pt x="51816" y="8636"/>
                  <a:pt x="52747" y="13293"/>
                  <a:pt x="53340" y="18288"/>
                </a:cubicBezTo>
                <a:cubicBezTo>
                  <a:pt x="53933" y="23283"/>
                  <a:pt x="54779" y="29972"/>
                  <a:pt x="54356" y="35560"/>
                </a:cubicBezTo>
                <a:cubicBezTo>
                  <a:pt x="53933" y="41148"/>
                  <a:pt x="53509" y="45889"/>
                  <a:pt x="50800" y="51816"/>
                </a:cubicBezTo>
                <a:cubicBezTo>
                  <a:pt x="48091" y="57743"/>
                  <a:pt x="42587" y="65447"/>
                  <a:pt x="38100" y="71120"/>
                </a:cubicBezTo>
                <a:cubicBezTo>
                  <a:pt x="33613" y="76793"/>
                  <a:pt x="28956" y="81195"/>
                  <a:pt x="23876" y="85852"/>
                </a:cubicBezTo>
                <a:cubicBezTo>
                  <a:pt x="18796" y="90509"/>
                  <a:pt x="11599" y="96097"/>
                  <a:pt x="7620" y="99060"/>
                </a:cubicBezTo>
                <a:cubicBezTo>
                  <a:pt x="3641" y="102023"/>
                  <a:pt x="1270" y="102870"/>
                  <a:pt x="0" y="10363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93" name="Google Shape;693;p36"/>
          <p:cNvGrpSpPr/>
          <p:nvPr/>
        </p:nvGrpSpPr>
        <p:grpSpPr>
          <a:xfrm>
            <a:off x="1409850" y="2806300"/>
            <a:ext cx="4261825" cy="1791450"/>
            <a:chOff x="1409850" y="2905325"/>
            <a:chExt cx="4261825" cy="1791450"/>
          </a:xfrm>
        </p:grpSpPr>
        <p:sp>
          <p:nvSpPr>
            <p:cNvPr id="694" name="Google Shape;694;p36"/>
            <p:cNvSpPr/>
            <p:nvPr/>
          </p:nvSpPr>
          <p:spPr>
            <a:xfrm>
              <a:off x="3126663" y="3703100"/>
              <a:ext cx="809100" cy="4572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libB</a:t>
              </a: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695" name="Google Shape;69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09850" y="3467525"/>
              <a:ext cx="1380400" cy="1229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36"/>
            <p:cNvSpPr/>
            <p:nvPr/>
          </p:nvSpPr>
          <p:spPr>
            <a:xfrm>
              <a:off x="4272175" y="3607400"/>
              <a:ext cx="1399500" cy="949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1991900" y="4160300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4724875" y="4160300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1569800" y="2905325"/>
              <a:ext cx="1060500" cy="56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4291375" y="2956925"/>
              <a:ext cx="13803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01" name="Google Shape;701;p36"/>
            <p:cNvCxnSpPr/>
            <p:nvPr/>
          </p:nvCxnSpPr>
          <p:spPr>
            <a:xfrm rot="10800000" flipH="1">
              <a:off x="2313750" y="4277600"/>
              <a:ext cx="2306100" cy="2400"/>
            </a:xfrm>
            <a:prstGeom prst="straightConnector1">
              <a:avLst/>
            </a:prstGeom>
            <a:noFill/>
            <a:ln w="28575" cap="flat" cmpd="sng">
              <a:solidFill>
                <a:srgbClr val="70AD4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02" name="Google Shape;702;p36"/>
            <p:cNvSpPr/>
            <p:nvPr/>
          </p:nvSpPr>
          <p:spPr>
            <a:xfrm>
              <a:off x="3039825" y="4277600"/>
              <a:ext cx="9702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paging in</a:t>
              </a:r>
              <a:endParaRPr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703" name="Google Shape;703;p36"/>
          <p:cNvSpPr/>
          <p:nvPr/>
        </p:nvSpPr>
        <p:spPr>
          <a:xfrm>
            <a:off x="1409850" y="4904075"/>
            <a:ext cx="44040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La referencia para </a:t>
            </a: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libB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se actualiza.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4" name="Google Shape;704;p36"/>
          <p:cNvSpPr/>
          <p:nvPr/>
        </p:nvSpPr>
        <p:spPr>
          <a:xfrm>
            <a:off x="9439174" y="5340175"/>
            <a:ext cx="617100" cy="266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libB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9953974" y="2048775"/>
            <a:ext cx="1530882" cy="3467207"/>
          </a:xfrm>
          <a:custGeom>
            <a:avLst/>
            <a:gdLst/>
            <a:ahLst/>
            <a:cxnLst/>
            <a:rect l="l" t="t" r="r" b="b"/>
            <a:pathLst>
              <a:path w="66315" h="99568" extrusionOk="0">
                <a:moveTo>
                  <a:pt x="50800" y="0"/>
                </a:moveTo>
                <a:cubicBezTo>
                  <a:pt x="51985" y="1101"/>
                  <a:pt x="55795" y="3725"/>
                  <a:pt x="57912" y="6604"/>
                </a:cubicBezTo>
                <a:cubicBezTo>
                  <a:pt x="60029" y="9483"/>
                  <a:pt x="62145" y="12785"/>
                  <a:pt x="63500" y="17272"/>
                </a:cubicBezTo>
                <a:cubicBezTo>
                  <a:pt x="64855" y="21759"/>
                  <a:pt x="65701" y="27940"/>
                  <a:pt x="66040" y="33528"/>
                </a:cubicBezTo>
                <a:cubicBezTo>
                  <a:pt x="66379" y="39116"/>
                  <a:pt x="66463" y="45551"/>
                  <a:pt x="65532" y="50800"/>
                </a:cubicBezTo>
                <a:cubicBezTo>
                  <a:pt x="64601" y="56049"/>
                  <a:pt x="63246" y="59690"/>
                  <a:pt x="60452" y="65024"/>
                </a:cubicBezTo>
                <a:cubicBezTo>
                  <a:pt x="57658" y="70358"/>
                  <a:pt x="52917" y="78486"/>
                  <a:pt x="48768" y="82804"/>
                </a:cubicBezTo>
                <a:cubicBezTo>
                  <a:pt x="44619" y="87122"/>
                  <a:pt x="40386" y="88731"/>
                  <a:pt x="35560" y="90932"/>
                </a:cubicBezTo>
                <a:cubicBezTo>
                  <a:pt x="30734" y="93133"/>
                  <a:pt x="25739" y="94573"/>
                  <a:pt x="19812" y="96012"/>
                </a:cubicBezTo>
                <a:cubicBezTo>
                  <a:pt x="13885" y="97451"/>
                  <a:pt x="3302" y="98975"/>
                  <a:pt x="0" y="99568"/>
                </a:cubicBezTo>
              </a:path>
            </a:pathLst>
          </a:cu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06" name="Google Shape;706;p36"/>
          <p:cNvSpPr/>
          <p:nvPr/>
        </p:nvSpPr>
        <p:spPr>
          <a:xfrm rot="128118">
            <a:off x="10722889" y="5359160"/>
            <a:ext cx="1030616" cy="6370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Se copia (o mueve) a RAM</a:t>
            </a:r>
            <a:endParaRPr sz="1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12" name="Google Shape;712;p37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Problema de los grandes espacios de direccionamiento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13" name="Google Shape;713;p37"/>
          <p:cNvSpPr txBox="1">
            <a:spLocks noGrp="1"/>
          </p:cNvSpPr>
          <p:nvPr>
            <p:ph type="body" idx="1"/>
          </p:nvPr>
        </p:nvSpPr>
        <p:spPr>
          <a:xfrm>
            <a:off x="916650" y="1581425"/>
            <a:ext cx="104511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accent2"/>
                </a:solidFill>
                <a:latin typeface="+mn-lt"/>
              </a:rPr>
              <a:t>Escenario</a:t>
            </a:r>
            <a:r>
              <a:rPr lang="es-ES" sz="2400">
                <a:solidFill>
                  <a:schemeClr val="accent2"/>
                </a:solidFill>
                <a:latin typeface="+mn-lt"/>
              </a:rPr>
              <a:t>: </a:t>
            </a:r>
            <a:r>
              <a:rPr lang="es-ES" sz="2400">
                <a:latin typeface="+mn-lt"/>
              </a:rPr>
              <a:t>Veamos un caso real:</a:t>
            </a:r>
            <a:endParaRPr sz="2400">
              <a:latin typeface="+mn-lt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</p:txBody>
      </p:sp>
      <p:grpSp>
        <p:nvGrpSpPr>
          <p:cNvPr id="714" name="Google Shape;714;p37"/>
          <p:cNvGrpSpPr/>
          <p:nvPr/>
        </p:nvGrpSpPr>
        <p:grpSpPr>
          <a:xfrm>
            <a:off x="1012325" y="2710400"/>
            <a:ext cx="3334500" cy="3499125"/>
            <a:chOff x="1016375" y="2278950"/>
            <a:chExt cx="3334500" cy="3499125"/>
          </a:xfrm>
        </p:grpSpPr>
        <p:sp>
          <p:nvSpPr>
            <p:cNvPr id="715" name="Google Shape;715;p37"/>
            <p:cNvSpPr/>
            <p:nvPr/>
          </p:nvSpPr>
          <p:spPr>
            <a:xfrm>
              <a:off x="2219675" y="2671125"/>
              <a:ext cx="2131200" cy="29529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2219675" y="227895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1016375" y="2517950"/>
              <a:ext cx="833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1016375" y="5469975"/>
              <a:ext cx="833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19" name="Google Shape;719;p37"/>
            <p:cNvCxnSpPr/>
            <p:nvPr/>
          </p:nvCxnSpPr>
          <p:spPr>
            <a:xfrm>
              <a:off x="1849475" y="2672000"/>
              <a:ext cx="32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0" name="Google Shape;720;p37"/>
            <p:cNvCxnSpPr/>
            <p:nvPr/>
          </p:nvCxnSpPr>
          <p:spPr>
            <a:xfrm>
              <a:off x="1849475" y="5624025"/>
              <a:ext cx="32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721" name="Google Shape;721;p37"/>
          <p:cNvGraphicFramePr/>
          <p:nvPr>
            <p:extLst>
              <p:ext uri="{D42A27DB-BD31-4B8C-83A1-F6EECF244321}">
                <p14:modId xmlns:p14="http://schemas.microsoft.com/office/powerpoint/2010/main" val="2082617177"/>
              </p:ext>
            </p:extLst>
          </p:nvPr>
        </p:nvGraphicFramePr>
        <p:xfrm>
          <a:off x="5004200" y="2710388"/>
          <a:ext cx="6484625" cy="137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Bits de Mem. virtual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Tamaño de la Mem. virtual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4*(2^30) = 4 GB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64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16*(2^60) = 1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6 EB </a:t>
                      </a:r>
                      <a:r>
                        <a:rPr lang="es-ES" sz="1800" b="1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(Valor muy grande)</a:t>
                      </a:r>
                      <a:endParaRPr sz="1800" b="1" dirty="0">
                        <a:solidFill>
                          <a:srgbClr val="FF0000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2" name="Google Shape;722;p37"/>
          <p:cNvSpPr txBox="1"/>
          <p:nvPr/>
        </p:nvSpPr>
        <p:spPr>
          <a:xfrm>
            <a:off x="5004263" y="4305300"/>
            <a:ext cx="6484500" cy="1882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E46C0A"/>
                </a:solidFill>
                <a:ea typeface="Roboto"/>
                <a:cs typeface="Roboto"/>
                <a:sym typeface="Roboto"/>
              </a:rPr>
              <a:t>Conclusiones</a:t>
            </a:r>
            <a:r>
              <a:rPr lang="es-ES" sz="220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endParaRPr sz="220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espacio de memoria virtual es muy grande, pudiendo incluso superar el tamaño de la memoria física (real).</a:t>
            </a:r>
            <a:endParaRPr sz="20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Bajo estas condiciones, puede que ni siquiera quepa un proceso (y mucho menos varios).</a:t>
            </a:r>
            <a:endParaRPr sz="20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28" name="Google Shape;728;p38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/>
              <a:t>Problema de los grandes espacios de direccionamiento</a:t>
            </a:r>
            <a:endParaRPr sz="2800" b="1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729" name="Google Shape;729;p38"/>
          <p:cNvGrpSpPr/>
          <p:nvPr/>
        </p:nvGrpSpPr>
        <p:grpSpPr>
          <a:xfrm>
            <a:off x="1635475" y="1624375"/>
            <a:ext cx="10325200" cy="4419475"/>
            <a:chOff x="1635475" y="1624375"/>
            <a:chExt cx="10325200" cy="4419475"/>
          </a:xfrm>
        </p:grpSpPr>
        <p:sp>
          <p:nvSpPr>
            <p:cNvPr id="730" name="Google Shape;730;p38"/>
            <p:cNvSpPr/>
            <p:nvPr/>
          </p:nvSpPr>
          <p:spPr>
            <a:xfrm>
              <a:off x="4670775" y="2508250"/>
              <a:ext cx="3594100" cy="1121725"/>
            </a:xfrm>
            <a:prstGeom prst="flowChartDecision">
              <a:avLst/>
            </a:prstGeom>
            <a:solidFill>
              <a:srgbClr val="EFEFE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Hay suficiente memoria física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31" name="Google Shape;731;p38"/>
            <p:cNvCxnSpPr>
              <a:endCxn id="730" idx="0"/>
            </p:cNvCxnSpPr>
            <p:nvPr/>
          </p:nvCxnSpPr>
          <p:spPr>
            <a:xfrm flipH="1">
              <a:off x="6467825" y="1991650"/>
              <a:ext cx="6300" cy="51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32" name="Google Shape;732;p38"/>
            <p:cNvSpPr/>
            <p:nvPr/>
          </p:nvSpPr>
          <p:spPr>
            <a:xfrm>
              <a:off x="5178775" y="1624375"/>
              <a:ext cx="2591100" cy="42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Memoria virtual</a:t>
              </a:r>
              <a:endParaRPr sz="20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33" name="Google Shape;733;p38"/>
            <p:cNvCxnSpPr/>
            <p:nvPr/>
          </p:nvCxnSpPr>
          <p:spPr>
            <a:xfrm flipH="1">
              <a:off x="2803775" y="3062763"/>
              <a:ext cx="1854300" cy="929100"/>
            </a:xfrm>
            <a:prstGeom prst="bentConnector3">
              <a:avLst>
                <a:gd name="adj1" fmla="val 10035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4" name="Google Shape;734;p38"/>
            <p:cNvCxnSpPr/>
            <p:nvPr/>
          </p:nvCxnSpPr>
          <p:spPr>
            <a:xfrm>
              <a:off x="8264866" y="3062763"/>
              <a:ext cx="1854300" cy="929100"/>
            </a:xfrm>
            <a:prstGeom prst="bentConnector3">
              <a:avLst>
                <a:gd name="adj1" fmla="val 10035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35" name="Google Shape;735;p38"/>
            <p:cNvSpPr/>
            <p:nvPr/>
          </p:nvSpPr>
          <p:spPr>
            <a:xfrm>
              <a:off x="3245125" y="2337075"/>
              <a:ext cx="965100" cy="42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8725425" y="2337075"/>
              <a:ext cx="965100" cy="42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2797275" y="2670375"/>
              <a:ext cx="19176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size(AS) &lt; size(PM)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8236475" y="2670375"/>
              <a:ext cx="19176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size(AS) &gt; size(PM)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1635475" y="4020375"/>
              <a:ext cx="2349600" cy="516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Hay memoria física suficiente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0" name="Google Shape;740;p38"/>
            <p:cNvSpPr/>
            <p:nvPr/>
          </p:nvSpPr>
          <p:spPr>
            <a:xfrm>
              <a:off x="8959950" y="4020375"/>
              <a:ext cx="2349600" cy="84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latin typeface="Consolas"/>
                  <a:ea typeface="Consolas"/>
                  <a:cs typeface="Consolas"/>
                  <a:sym typeface="Consolas"/>
                </a:rPr>
                <a:t>Es necesario gestionar la memoria para resolver este problema</a:t>
              </a:r>
              <a:endParaRPr sz="14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741" name="Google Shape;741;p38"/>
            <p:cNvGrpSpPr/>
            <p:nvPr/>
          </p:nvGrpSpPr>
          <p:grpSpPr>
            <a:xfrm>
              <a:off x="8893350" y="4861875"/>
              <a:ext cx="2474750" cy="665375"/>
              <a:chOff x="8893350" y="4861875"/>
              <a:chExt cx="2474750" cy="665375"/>
            </a:xfrm>
          </p:grpSpPr>
          <p:cxnSp>
            <p:nvCxnSpPr>
              <p:cNvPr id="742" name="Google Shape;742;p38"/>
              <p:cNvCxnSpPr>
                <a:stCxn id="740" idx="2"/>
              </p:cNvCxnSpPr>
              <p:nvPr/>
            </p:nvCxnSpPr>
            <p:spPr>
              <a:xfrm flipH="1">
                <a:off x="10126050" y="4861875"/>
                <a:ext cx="8700" cy="31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3" name="Google Shape;743;p38"/>
              <p:cNvCxnSpPr/>
              <p:nvPr/>
            </p:nvCxnSpPr>
            <p:spPr>
              <a:xfrm>
                <a:off x="10126700" y="5181050"/>
                <a:ext cx="1241400" cy="346200"/>
              </a:xfrm>
              <a:prstGeom prst="bentConnector3">
                <a:avLst>
                  <a:gd name="adj1" fmla="val 99746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44" name="Google Shape;744;p38"/>
              <p:cNvCxnSpPr/>
              <p:nvPr/>
            </p:nvCxnSpPr>
            <p:spPr>
              <a:xfrm flipH="1">
                <a:off x="8893350" y="5181050"/>
                <a:ext cx="1241400" cy="346200"/>
              </a:xfrm>
              <a:prstGeom prst="bentConnector3">
                <a:avLst>
                  <a:gd name="adj1" fmla="val 99746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745" name="Google Shape;745;p38"/>
            <p:cNvSpPr/>
            <p:nvPr/>
          </p:nvSpPr>
          <p:spPr>
            <a:xfrm>
              <a:off x="8264875" y="5527250"/>
              <a:ext cx="1295400" cy="516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Memory overlay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6" name="Google Shape;746;p38"/>
            <p:cNvSpPr/>
            <p:nvPr/>
          </p:nvSpPr>
          <p:spPr>
            <a:xfrm>
              <a:off x="10792175" y="5527250"/>
              <a:ext cx="1168500" cy="516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Espacio Swap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52" name="Google Shape;752;p39"/>
          <p:cNvSpPr txBox="1">
            <a:spLocks noGrp="1"/>
          </p:cNvSpPr>
          <p:nvPr>
            <p:ph type="body" idx="1"/>
          </p:nvPr>
        </p:nvSpPr>
        <p:spPr>
          <a:xfrm>
            <a:off x="899550" y="847250"/>
            <a:ext cx="108324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Memory overlay (Manual)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53" name="Google Shape;753;p39"/>
          <p:cNvSpPr txBox="1">
            <a:spLocks noGrp="1"/>
          </p:cNvSpPr>
          <p:nvPr>
            <p:ph type="body" idx="1"/>
          </p:nvPr>
        </p:nvSpPr>
        <p:spPr>
          <a:xfrm>
            <a:off x="988450" y="1456850"/>
            <a:ext cx="10832400" cy="410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Escenario</a:t>
            </a:r>
            <a:r>
              <a:rPr lang="es-ES" sz="2400" dirty="0">
                <a:solidFill>
                  <a:srgbClr val="E06666"/>
                </a:solidFill>
                <a:latin typeface="+mn-lt"/>
              </a:rPr>
              <a:t>: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 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El programa tiene mayor tamaño (memoria virtual) que la memoria física disponible lo cual hace que el programa no pueda ser cargado.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size(AS) &gt; size(PM)</a:t>
            </a:r>
            <a:endParaRPr sz="2200" b="1" dirty="0">
              <a:solidFill>
                <a:srgbClr val="FF0000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B6937"/>
                </a:solidFill>
                <a:latin typeface="+mn-lt"/>
              </a:rPr>
              <a:t>Posibles soluciones</a:t>
            </a:r>
            <a:r>
              <a:rPr lang="es-ES" sz="2400" dirty="0">
                <a:solidFill>
                  <a:srgbClr val="0B6937"/>
                </a:solidFill>
                <a:latin typeface="+mn-lt"/>
              </a:rPr>
              <a:t>:</a:t>
            </a:r>
            <a:endParaRPr sz="2400" dirty="0">
              <a:solidFill>
                <a:srgbClr val="0B6937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b="1" dirty="0">
                <a:latin typeface="+mn-lt"/>
              </a:rPr>
              <a:t>Aumentar la memoria</a:t>
            </a:r>
            <a:r>
              <a:rPr lang="es-ES" sz="2000" dirty="0">
                <a:latin typeface="+mn-lt"/>
              </a:rPr>
              <a:t> (Costoso)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b="1" dirty="0">
                <a:latin typeface="+mn-lt"/>
              </a:rPr>
              <a:t>Memory overlay - superposición de memoria</a:t>
            </a:r>
            <a:r>
              <a:rPr lang="es-ES" sz="2000" dirty="0">
                <a:latin typeface="+mn-lt"/>
              </a:rPr>
              <a:t> (Aproximación usada en los sistemas operativos viejos)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59" name="Google Shape;759;p40"/>
          <p:cNvSpPr txBox="1">
            <a:spLocks noGrp="1"/>
          </p:cNvSpPr>
          <p:nvPr>
            <p:ph type="body" idx="1"/>
          </p:nvPr>
        </p:nvSpPr>
        <p:spPr>
          <a:xfrm>
            <a:off x="916650" y="847250"/>
            <a:ext cx="108324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Memory overlay (Manual)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60" name="Google Shape;760;p40"/>
          <p:cNvSpPr txBox="1">
            <a:spLocks noGrp="1"/>
          </p:cNvSpPr>
          <p:nvPr>
            <p:ph type="body" idx="1"/>
          </p:nvPr>
        </p:nvSpPr>
        <p:spPr>
          <a:xfrm>
            <a:off x="988450" y="1343300"/>
            <a:ext cx="10832400" cy="133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El programador divide el programa en un número de secciones lógicas: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Código residente</a:t>
            </a:r>
            <a:r>
              <a:rPr lang="es-ES" sz="2200" dirty="0">
                <a:latin typeface="+mn-lt"/>
              </a:rPr>
              <a:t>: Sección lógica que permanece siempre memoria.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Overlay area</a:t>
            </a:r>
            <a:r>
              <a:rPr lang="es-ES" sz="2200" dirty="0">
                <a:latin typeface="+mn-lt"/>
              </a:rPr>
              <a:t>: Secciones del programa que solo se cargan cuando son requeridas.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61" name="Google Shape;761;p40"/>
          <p:cNvGraphicFramePr/>
          <p:nvPr/>
        </p:nvGraphicFramePr>
        <p:xfrm>
          <a:off x="1921088" y="3113100"/>
          <a:ext cx="1846425" cy="34746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Resident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must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remain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memory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duration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program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execution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Overlay area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2" name="Google Shape;762;p40"/>
          <p:cNvSpPr txBox="1"/>
          <p:nvPr/>
        </p:nvSpPr>
        <p:spPr>
          <a:xfrm>
            <a:off x="1783800" y="2678300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memory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63" name="Google Shape;763;p40"/>
          <p:cNvGraphicFramePr/>
          <p:nvPr/>
        </p:nvGraphicFramePr>
        <p:xfrm>
          <a:off x="4246775" y="4393200"/>
          <a:ext cx="1846425" cy="12774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4" name="Google Shape;764;p40"/>
          <p:cNvGraphicFramePr/>
          <p:nvPr/>
        </p:nvGraphicFramePr>
        <p:xfrm>
          <a:off x="6572463" y="4393200"/>
          <a:ext cx="1846425" cy="1601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5" name="Google Shape;765;p40"/>
          <p:cNvGraphicFramePr/>
          <p:nvPr/>
        </p:nvGraphicFramePr>
        <p:xfrm>
          <a:off x="8898138" y="4405350"/>
          <a:ext cx="1846425" cy="8901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6" name="Google Shape;766;p40"/>
          <p:cNvCxnSpPr/>
          <p:nvPr/>
        </p:nvCxnSpPr>
        <p:spPr>
          <a:xfrm rot="10800000">
            <a:off x="3768838" y="4455475"/>
            <a:ext cx="5130900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7" name="Google Shape;767;p40"/>
          <p:cNvCxnSpPr/>
          <p:nvPr/>
        </p:nvCxnSpPr>
        <p:spPr>
          <a:xfrm rot="10800000">
            <a:off x="3772888" y="4620675"/>
            <a:ext cx="2794200" cy="12600"/>
          </a:xfrm>
          <a:prstGeom prst="straightConnector1">
            <a:avLst/>
          </a:prstGeom>
          <a:noFill/>
          <a:ln w="28575" cap="flat" cmpd="sng">
            <a:solidFill>
              <a:srgbClr val="741B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8" name="Google Shape;768;p40"/>
          <p:cNvCxnSpPr/>
          <p:nvPr/>
        </p:nvCxnSpPr>
        <p:spPr>
          <a:xfrm rot="10800000">
            <a:off x="3773113" y="4798550"/>
            <a:ext cx="468600" cy="15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9" name="Google Shape;769;p40"/>
          <p:cNvSpPr txBox="1"/>
          <p:nvPr/>
        </p:nvSpPr>
        <p:spPr>
          <a:xfrm>
            <a:off x="41094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1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0" name="Google Shape;770;p40"/>
          <p:cNvSpPr txBox="1"/>
          <p:nvPr/>
        </p:nvSpPr>
        <p:spPr>
          <a:xfrm>
            <a:off x="64351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2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1" name="Google Shape;771;p40"/>
          <p:cNvSpPr txBox="1"/>
          <p:nvPr/>
        </p:nvSpPr>
        <p:spPr>
          <a:xfrm>
            <a:off x="87608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3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2" name="Google Shape;772;p40"/>
          <p:cNvSpPr txBox="1"/>
          <p:nvPr/>
        </p:nvSpPr>
        <p:spPr>
          <a:xfrm>
            <a:off x="4429338" y="3113100"/>
            <a:ext cx="594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are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overlay area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1"/>
          <p:cNvSpPr txBox="1">
            <a:spLocks noGrp="1"/>
          </p:cNvSpPr>
          <p:nvPr>
            <p:ph type="title"/>
          </p:nvPr>
        </p:nvSpPr>
        <p:spPr>
          <a:xfrm>
            <a:off x="441500" y="96038"/>
            <a:ext cx="87791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78" name="Google Shape;778;p41"/>
          <p:cNvSpPr txBox="1">
            <a:spLocks noGrp="1"/>
          </p:cNvSpPr>
          <p:nvPr>
            <p:ph type="body" idx="1"/>
          </p:nvPr>
        </p:nvSpPr>
        <p:spPr>
          <a:xfrm>
            <a:off x="441500" y="783750"/>
            <a:ext cx="113090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Memory overlay (Manual)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79" name="Google Shape;779;p41"/>
          <p:cNvSpPr txBox="1">
            <a:spLocks noGrp="1"/>
          </p:cNvSpPr>
          <p:nvPr>
            <p:ph type="body" idx="1"/>
          </p:nvPr>
        </p:nvSpPr>
        <p:spPr>
          <a:xfrm>
            <a:off x="441500" y="1343300"/>
            <a:ext cx="11366650" cy="133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El uso de memoria corre por cuenta del programador y no del sistema operativo: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00"/>
              <a:buChar char="●"/>
            </a:pPr>
            <a:r>
              <a:rPr lang="es-ES" sz="1900" dirty="0">
                <a:latin typeface="+mn-lt"/>
              </a:rPr>
              <a:t>El programador es quien mueve los fragmentos de código (</a:t>
            </a:r>
            <a:r>
              <a:rPr lang="es-ES" sz="1900" dirty="0" err="1">
                <a:latin typeface="+mn-lt"/>
              </a:rPr>
              <a:t>overlays</a:t>
            </a:r>
            <a:r>
              <a:rPr lang="es-ES" sz="1900" dirty="0">
                <a:latin typeface="+mn-lt"/>
              </a:rPr>
              <a:t>) dentro y fuera de memoria según sea necesario. Ejemplo: Llamado a una función (</a:t>
            </a:r>
            <a:r>
              <a:rPr lang="es-ES" sz="1900" b="1" dirty="0">
                <a:latin typeface="+mn-lt"/>
                <a:ea typeface="Consolas"/>
                <a:cs typeface="Consolas"/>
                <a:sym typeface="Consolas"/>
              </a:rPr>
              <a:t>Overlay area ← </a:t>
            </a:r>
            <a:r>
              <a:rPr lang="es-ES" sz="1900" b="1" dirty="0" err="1">
                <a:latin typeface="+mn-lt"/>
                <a:ea typeface="Consolas"/>
                <a:cs typeface="Consolas"/>
                <a:sym typeface="Consolas"/>
              </a:rPr>
              <a:t>code</a:t>
            </a:r>
            <a:r>
              <a:rPr lang="es-ES" sz="1900" b="1" dirty="0">
                <a:latin typeface="+mn-lt"/>
                <a:ea typeface="Consolas"/>
                <a:cs typeface="Consolas"/>
                <a:sym typeface="Consolas"/>
              </a:rPr>
              <a:t> + data</a:t>
            </a:r>
            <a:r>
              <a:rPr lang="es-ES" sz="1900" dirty="0">
                <a:latin typeface="+mn-lt"/>
              </a:rPr>
              <a:t>)</a:t>
            </a: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80" name="Google Shape;780;p41"/>
          <p:cNvGraphicFramePr/>
          <p:nvPr/>
        </p:nvGraphicFramePr>
        <p:xfrm>
          <a:off x="1921088" y="3113100"/>
          <a:ext cx="1846425" cy="34746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Resident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must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remain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memory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duration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program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execution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Overlay area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1" name="Google Shape;781;p41"/>
          <p:cNvSpPr txBox="1"/>
          <p:nvPr/>
        </p:nvSpPr>
        <p:spPr>
          <a:xfrm>
            <a:off x="1783800" y="2678300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memory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82" name="Google Shape;782;p41"/>
          <p:cNvGraphicFramePr/>
          <p:nvPr/>
        </p:nvGraphicFramePr>
        <p:xfrm>
          <a:off x="4246775" y="4393200"/>
          <a:ext cx="1846425" cy="12774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3" name="Google Shape;783;p41"/>
          <p:cNvGraphicFramePr/>
          <p:nvPr/>
        </p:nvGraphicFramePr>
        <p:xfrm>
          <a:off x="6572463" y="4393200"/>
          <a:ext cx="1846425" cy="1601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4" name="Google Shape;784;p41"/>
          <p:cNvGraphicFramePr/>
          <p:nvPr/>
        </p:nvGraphicFramePr>
        <p:xfrm>
          <a:off x="8898138" y="4405350"/>
          <a:ext cx="1846425" cy="8901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85" name="Google Shape;785;p41"/>
          <p:cNvCxnSpPr/>
          <p:nvPr/>
        </p:nvCxnSpPr>
        <p:spPr>
          <a:xfrm rot="10800000">
            <a:off x="3768838" y="4455475"/>
            <a:ext cx="5130900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6" name="Google Shape;786;p41"/>
          <p:cNvCxnSpPr/>
          <p:nvPr/>
        </p:nvCxnSpPr>
        <p:spPr>
          <a:xfrm rot="10800000">
            <a:off x="3772888" y="4620675"/>
            <a:ext cx="2794200" cy="12600"/>
          </a:xfrm>
          <a:prstGeom prst="straightConnector1">
            <a:avLst/>
          </a:prstGeom>
          <a:noFill/>
          <a:ln w="28575" cap="flat" cmpd="sng">
            <a:solidFill>
              <a:srgbClr val="741B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7" name="Google Shape;787;p41"/>
          <p:cNvCxnSpPr/>
          <p:nvPr/>
        </p:nvCxnSpPr>
        <p:spPr>
          <a:xfrm rot="10800000">
            <a:off x="3773113" y="4798550"/>
            <a:ext cx="468600" cy="15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8" name="Google Shape;788;p41"/>
          <p:cNvSpPr txBox="1"/>
          <p:nvPr/>
        </p:nvSpPr>
        <p:spPr>
          <a:xfrm>
            <a:off x="41094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1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9" name="Google Shape;789;p41"/>
          <p:cNvSpPr txBox="1"/>
          <p:nvPr/>
        </p:nvSpPr>
        <p:spPr>
          <a:xfrm>
            <a:off x="64351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2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0" name="Google Shape;790;p41"/>
          <p:cNvSpPr txBox="1"/>
          <p:nvPr/>
        </p:nvSpPr>
        <p:spPr>
          <a:xfrm>
            <a:off x="87608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3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41"/>
          <p:cNvSpPr txBox="1"/>
          <p:nvPr/>
        </p:nvSpPr>
        <p:spPr>
          <a:xfrm>
            <a:off x="4429338" y="3113100"/>
            <a:ext cx="594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are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overlay area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>
            <a:spLocks noGrp="1"/>
          </p:cNvSpPr>
          <p:nvPr>
            <p:ph type="title"/>
          </p:nvPr>
        </p:nvSpPr>
        <p:spPr>
          <a:xfrm>
            <a:off x="533192" y="188076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</a:rPr>
              <a:t>Más allá de la memoria física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97" name="Google Shape;797;p42"/>
          <p:cNvSpPr txBox="1">
            <a:spLocks noGrp="1"/>
          </p:cNvSpPr>
          <p:nvPr>
            <p:ph type="body" idx="1"/>
          </p:nvPr>
        </p:nvSpPr>
        <p:spPr>
          <a:xfrm>
            <a:off x="533192" y="1209899"/>
            <a:ext cx="4982705" cy="508399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Espacio swap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Con la llegada de la </a:t>
            </a:r>
            <a:r>
              <a:rPr lang="es-ES" sz="2200" b="1" dirty="0">
                <a:latin typeface="+mn-lt"/>
              </a:rPr>
              <a:t>multiprogramación</a:t>
            </a:r>
            <a:r>
              <a:rPr lang="es-ES" sz="2200" dirty="0">
                <a:latin typeface="+mn-lt"/>
              </a:rPr>
              <a:t>, se llegó a la necesidad de soportar más memoria física de la que se tenía disponible.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La adición de un espacio swap (espacio de intercambio) le permite al sistema operativo soportar la ilusión de una </a:t>
            </a:r>
            <a:r>
              <a:rPr lang="es-ES" sz="2200" b="1" dirty="0">
                <a:solidFill>
                  <a:srgbClr val="70AD47"/>
                </a:solidFill>
                <a:latin typeface="+mn-lt"/>
              </a:rPr>
              <a:t>memoria virtual muy grande</a:t>
            </a:r>
            <a:r>
              <a:rPr lang="es-ES" sz="2200" dirty="0">
                <a:latin typeface="+mn-lt"/>
              </a:rPr>
              <a:t> para procesos concurrentes.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</a:t>
            </a:r>
            <a:r>
              <a:rPr lang="es-ES" sz="2200" b="1" dirty="0">
                <a:solidFill>
                  <a:schemeClr val="accent2"/>
                </a:solidFill>
                <a:latin typeface="+mn-lt"/>
              </a:rPr>
              <a:t>espacio swap</a:t>
            </a:r>
            <a:r>
              <a:rPr lang="es-ES" sz="2200" dirty="0">
                <a:latin typeface="+mn-lt"/>
              </a:rPr>
              <a:t> es una región del disco duro empleada para almacenar páginas de memoria.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798" name="Google Shape;79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034" y="1811951"/>
            <a:ext cx="5920774" cy="414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3"/>
          <p:cNvSpPr txBox="1">
            <a:spLocks noGrp="1"/>
          </p:cNvSpPr>
          <p:nvPr>
            <p:ph type="title"/>
          </p:nvPr>
        </p:nvSpPr>
        <p:spPr>
          <a:xfrm>
            <a:off x="522514" y="96038"/>
            <a:ext cx="86981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</a:rPr>
              <a:t>Más allá de la memoria física</a:t>
            </a:r>
          </a:p>
        </p:txBody>
      </p:sp>
      <p:sp>
        <p:nvSpPr>
          <p:cNvPr id="804" name="Google Shape;804;p43"/>
          <p:cNvSpPr txBox="1">
            <a:spLocks noGrp="1"/>
          </p:cNvSpPr>
          <p:nvPr>
            <p:ph type="body" idx="1"/>
          </p:nvPr>
        </p:nvSpPr>
        <p:spPr>
          <a:xfrm>
            <a:off x="522514" y="898050"/>
            <a:ext cx="11336336" cy="431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Espacio swap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Pregunta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: </a:t>
            </a:r>
            <a:endParaRPr sz="2400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¿Cómo el sistema operativo identifica la localización de cada página en el espacio de direcciones?</a:t>
            </a: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B6937"/>
                </a:solidFill>
                <a:latin typeface="+mn-lt"/>
              </a:rPr>
              <a:t>Respuesta</a:t>
            </a:r>
            <a:r>
              <a:rPr lang="es-ES" sz="2400" dirty="0">
                <a:solidFill>
                  <a:srgbClr val="0B6937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Cada página del espacio de direcciones tiene tres posibilidades de mapeo: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Memoria física (V = 1, P = 1)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AutoNum type="arabicPeriod"/>
            </a:pPr>
            <a:r>
              <a:rPr lang="es-ES" sz="2200" dirty="0">
                <a:solidFill>
                  <a:schemeClr val="accent2"/>
                </a:solidFill>
                <a:latin typeface="+mn-lt"/>
              </a:rPr>
              <a:t>Memoria secundaria (V = 1, P = 0)</a:t>
            </a:r>
            <a:endParaRPr sz="2200" dirty="0">
              <a:solidFill>
                <a:schemeClr val="accent2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No se mapea - free (V = 0)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5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Espacio swap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16" name="Google Shape;816;p45"/>
          <p:cNvSpPr txBox="1">
            <a:spLocks noGrp="1"/>
          </p:cNvSpPr>
          <p:nvPr>
            <p:ph type="body" idx="1"/>
          </p:nvPr>
        </p:nvSpPr>
        <p:spPr>
          <a:xfrm>
            <a:off x="696686" y="1045550"/>
            <a:ext cx="5104314" cy="517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Introducción</a:t>
            </a: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Espacio reservado en el disco duro  para almacenar páginas: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SO divide el espacio swap en páginas.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tamaño del espacio swap determina el número de páginas que el sistema puede utilizar en un momento dado.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Operaciones de transferencia entre páginas: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>
                <a:latin typeface="+mn-lt"/>
              </a:rPr>
              <a:t>Swap out </a:t>
            </a:r>
            <a:r>
              <a:rPr lang="es-ES" dirty="0">
                <a:latin typeface="+mn-lt"/>
              </a:rPr>
              <a:t>-</a:t>
            </a:r>
            <a:r>
              <a:rPr lang="es-ES" b="1" dirty="0">
                <a:latin typeface="+mn-lt"/>
              </a:rPr>
              <a:t> Page out</a:t>
            </a:r>
            <a:endParaRPr b="1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b="1" dirty="0">
                <a:latin typeface="+mn-lt"/>
              </a:rPr>
              <a:t>Swap in </a:t>
            </a:r>
            <a:r>
              <a:rPr lang="es-ES" dirty="0">
                <a:latin typeface="+mn-lt"/>
              </a:rPr>
              <a:t>-</a:t>
            </a:r>
            <a:r>
              <a:rPr lang="es-ES" b="1" dirty="0">
                <a:latin typeface="+mn-lt"/>
              </a:rPr>
              <a:t> Page in</a:t>
            </a:r>
            <a:endParaRPr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17" name="Google Shape;81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4508" y="1365475"/>
            <a:ext cx="5920666" cy="49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6"/>
          <p:cNvSpPr txBox="1">
            <a:spLocks noGrp="1"/>
          </p:cNvSpPr>
          <p:nvPr>
            <p:ph type="title"/>
          </p:nvPr>
        </p:nvSpPr>
        <p:spPr>
          <a:xfrm>
            <a:off x="543450" y="96038"/>
            <a:ext cx="86772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Espacio swap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23" name="Google Shape;823;p46"/>
          <p:cNvSpPr txBox="1">
            <a:spLocks noGrp="1"/>
          </p:cNvSpPr>
          <p:nvPr>
            <p:ph type="body" idx="1"/>
          </p:nvPr>
        </p:nvSpPr>
        <p:spPr>
          <a:xfrm>
            <a:off x="711200" y="882900"/>
            <a:ext cx="10937350" cy="137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Notación</a:t>
            </a:r>
            <a:endParaRPr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Bloque (block)</a:t>
            </a:r>
            <a:r>
              <a:rPr lang="es-ES" sz="2200" dirty="0">
                <a:latin typeface="+mn-lt"/>
              </a:rPr>
              <a:t>: Espacio de memoria (página) en espacio swap.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Frame (frame)</a:t>
            </a:r>
            <a:r>
              <a:rPr lang="es-ES" sz="2200" dirty="0">
                <a:latin typeface="+mn-lt"/>
              </a:rPr>
              <a:t>: Espacio de memoria (página) en memoria física.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824" name="Google Shape;824;p46"/>
          <p:cNvGraphicFramePr/>
          <p:nvPr/>
        </p:nvGraphicFramePr>
        <p:xfrm>
          <a:off x="4096850" y="2863760"/>
          <a:ext cx="4586875" cy="8838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 - 1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5" name="Google Shape;825;p46"/>
          <p:cNvGraphicFramePr/>
          <p:nvPr/>
        </p:nvGraphicFramePr>
        <p:xfrm>
          <a:off x="3343400" y="4390310"/>
          <a:ext cx="5340325" cy="8838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 - 1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6" name="Google Shape;826;p46"/>
          <p:cNvSpPr/>
          <p:nvPr/>
        </p:nvSpPr>
        <p:spPr>
          <a:xfrm>
            <a:off x="2012463" y="4323800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Swap Space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7" name="Google Shape;827;p46"/>
          <p:cNvSpPr/>
          <p:nvPr/>
        </p:nvSpPr>
        <p:spPr>
          <a:xfrm>
            <a:off x="1692663" y="31308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28" name="Google Shape;828;p46"/>
          <p:cNvGrpSpPr/>
          <p:nvPr/>
        </p:nvGrpSpPr>
        <p:grpSpPr>
          <a:xfrm>
            <a:off x="10500138" y="3165275"/>
            <a:ext cx="1119600" cy="626400"/>
            <a:chOff x="8394800" y="3115800"/>
            <a:chExt cx="1119600" cy="626400"/>
          </a:xfrm>
        </p:grpSpPr>
        <p:sp>
          <p:nvSpPr>
            <p:cNvPr id="829" name="Google Shape;829;p46"/>
            <p:cNvSpPr/>
            <p:nvPr/>
          </p:nvSpPr>
          <p:spPr>
            <a:xfrm>
              <a:off x="8394800" y="3115800"/>
              <a:ext cx="1119600" cy="626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8579825" y="3308100"/>
              <a:ext cx="216300" cy="2418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9076425" y="3308100"/>
              <a:ext cx="216300" cy="241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2" name="Google Shape;832;p46"/>
          <p:cNvGrpSpPr/>
          <p:nvPr/>
        </p:nvGrpSpPr>
        <p:grpSpPr>
          <a:xfrm>
            <a:off x="10369738" y="4056775"/>
            <a:ext cx="1380400" cy="1229250"/>
            <a:chOff x="8242400" y="4329675"/>
            <a:chExt cx="1380400" cy="1229250"/>
          </a:xfrm>
        </p:grpSpPr>
        <p:pic>
          <p:nvPicPr>
            <p:cNvPr id="833" name="Google Shape;833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42400" y="4329675"/>
              <a:ext cx="1380400" cy="1229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4" name="Google Shape;834;p46"/>
            <p:cNvSpPr/>
            <p:nvPr/>
          </p:nvSpPr>
          <p:spPr>
            <a:xfrm>
              <a:off x="9062800" y="4949150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8542050" y="4949150"/>
              <a:ext cx="216300" cy="241800"/>
            </a:xfrm>
            <a:prstGeom prst="rect">
              <a:avLst/>
            </a:prstGeom>
            <a:noFill/>
            <a:ln w="19050" cap="flat" cmpd="sng">
              <a:solidFill>
                <a:srgbClr val="3C78D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6" name="Google Shape;836;p46"/>
          <p:cNvSpPr/>
          <p:nvPr/>
        </p:nvSpPr>
        <p:spPr>
          <a:xfrm>
            <a:off x="10372896" y="3526750"/>
            <a:ext cx="437100" cy="1231900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837" name="Google Shape;837;p46"/>
          <p:cNvSpPr/>
          <p:nvPr/>
        </p:nvSpPr>
        <p:spPr>
          <a:xfrm rot="10800000">
            <a:off x="11313046" y="3526750"/>
            <a:ext cx="437100" cy="1231900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838" name="Google Shape;838;p46"/>
          <p:cNvSpPr/>
          <p:nvPr/>
        </p:nvSpPr>
        <p:spPr>
          <a:xfrm rot="10800000" flipH="1">
            <a:off x="4176789" y="3500667"/>
            <a:ext cx="437100" cy="1231900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39" name="Google Shape;839;p46"/>
          <p:cNvSpPr/>
          <p:nvPr/>
        </p:nvSpPr>
        <p:spPr>
          <a:xfrm flipH="1">
            <a:off x="5889443" y="3500665"/>
            <a:ext cx="437100" cy="1231900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" name="Google Shape;840;p46"/>
          <p:cNvSpPr/>
          <p:nvPr/>
        </p:nvSpPr>
        <p:spPr>
          <a:xfrm rot="5400000">
            <a:off x="5099725" y="2468075"/>
            <a:ext cx="190800" cy="7179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46"/>
          <p:cNvSpPr/>
          <p:nvPr/>
        </p:nvSpPr>
        <p:spPr>
          <a:xfrm rot="5400000" flipH="1">
            <a:off x="5099725" y="5010625"/>
            <a:ext cx="190800" cy="7179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46"/>
          <p:cNvSpPr txBox="1"/>
          <p:nvPr/>
        </p:nvSpPr>
        <p:spPr>
          <a:xfrm>
            <a:off x="4769725" y="2260800"/>
            <a:ext cx="85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Frame</a:t>
            </a:r>
            <a:endParaRPr sz="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3" name="Google Shape;843;p46"/>
          <p:cNvSpPr txBox="1"/>
          <p:nvPr/>
        </p:nvSpPr>
        <p:spPr>
          <a:xfrm>
            <a:off x="4769725" y="5524700"/>
            <a:ext cx="85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Block</a:t>
            </a:r>
            <a:endParaRPr sz="8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4" name="Google Shape;844;p46"/>
          <p:cNvSpPr/>
          <p:nvPr/>
        </p:nvSpPr>
        <p:spPr>
          <a:xfrm>
            <a:off x="916650" y="5648000"/>
            <a:ext cx="3625800" cy="10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Donde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Número de frames.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Número de bloques.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5" name="Google Shape;845;p46"/>
          <p:cNvSpPr txBox="1"/>
          <p:nvPr/>
        </p:nvSpPr>
        <p:spPr>
          <a:xfrm>
            <a:off x="9020300" y="3855013"/>
            <a:ext cx="1060500" cy="52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&gt; 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46" name="Google Shape;846;p46"/>
          <p:cNvSpPr txBox="1"/>
          <p:nvPr/>
        </p:nvSpPr>
        <p:spPr>
          <a:xfrm>
            <a:off x="3347650" y="3897013"/>
            <a:ext cx="8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Page in</a:t>
            </a:r>
            <a:endParaRPr sz="4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7" name="Google Shape;847;p46"/>
          <p:cNvSpPr txBox="1"/>
          <p:nvPr/>
        </p:nvSpPr>
        <p:spPr>
          <a:xfrm>
            <a:off x="6238100" y="3855175"/>
            <a:ext cx="100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out</a:t>
            </a:r>
            <a:endParaRPr sz="4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7"/>
          <p:cNvSpPr txBox="1">
            <a:spLocks noGrp="1"/>
          </p:cNvSpPr>
          <p:nvPr>
            <p:ph type="title"/>
          </p:nvPr>
        </p:nvSpPr>
        <p:spPr>
          <a:xfrm>
            <a:off x="609600" y="96038"/>
            <a:ext cx="86110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Espacio swap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53" name="Google Shape;853;p47"/>
          <p:cNvSpPr txBox="1">
            <a:spLocks noGrp="1"/>
          </p:cNvSpPr>
          <p:nvPr>
            <p:ph type="body" idx="1"/>
          </p:nvPr>
        </p:nvSpPr>
        <p:spPr>
          <a:xfrm>
            <a:off x="609600" y="788975"/>
            <a:ext cx="11315550" cy="26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Ejemplo</a:t>
            </a:r>
            <a:endParaRPr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4 páginas (frames).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swap de 8 páginas (blocks).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Cuatro procesos: 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P0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P1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P2</a:t>
            </a:r>
            <a:r>
              <a:rPr lang="es-ES" sz="2000" dirty="0">
                <a:latin typeface="+mn-lt"/>
              </a:rPr>
              <a:t> y 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P3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Las siguientes tablas detallan el mapeo para cada una de las entradas de la tabla de página cuyo bit de validez (V) es 1.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854" name="Google Shape;854;p47"/>
          <p:cNvGraphicFramePr/>
          <p:nvPr>
            <p:extLst>
              <p:ext uri="{D42A27DB-BD31-4B8C-83A1-F6EECF244321}">
                <p14:modId xmlns:p14="http://schemas.microsoft.com/office/powerpoint/2010/main" val="1837423033"/>
              </p:ext>
            </p:extLst>
          </p:nvPr>
        </p:nvGraphicFramePr>
        <p:xfrm>
          <a:off x="742478" y="4037343"/>
          <a:ext cx="2532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VPN1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VPN2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5" name="Google Shape;855;p47"/>
          <p:cNvSpPr txBox="1"/>
          <p:nvPr/>
        </p:nvSpPr>
        <p:spPr>
          <a:xfrm>
            <a:off x="774253" y="3452075"/>
            <a:ext cx="250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P0 (Proc 0)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56" name="Google Shape;856;p47"/>
          <p:cNvGraphicFramePr/>
          <p:nvPr>
            <p:extLst>
              <p:ext uri="{D42A27DB-BD31-4B8C-83A1-F6EECF244321}">
                <p14:modId xmlns:p14="http://schemas.microsoft.com/office/powerpoint/2010/main" val="3526479593"/>
              </p:ext>
            </p:extLst>
          </p:nvPr>
        </p:nvGraphicFramePr>
        <p:xfrm>
          <a:off x="3573678" y="4037343"/>
          <a:ext cx="2532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VPN1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Block4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VPN2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VPN3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7" name="Google Shape;857;p47"/>
          <p:cNvSpPr txBox="1"/>
          <p:nvPr/>
        </p:nvSpPr>
        <p:spPr>
          <a:xfrm>
            <a:off x="3573678" y="3452075"/>
            <a:ext cx="253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 (Proc 1)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58" name="Google Shape;858;p47"/>
          <p:cNvGraphicFramePr/>
          <p:nvPr>
            <p:extLst>
              <p:ext uri="{D42A27DB-BD31-4B8C-83A1-F6EECF244321}">
                <p14:modId xmlns:p14="http://schemas.microsoft.com/office/powerpoint/2010/main" val="1809690195"/>
              </p:ext>
            </p:extLst>
          </p:nvPr>
        </p:nvGraphicFramePr>
        <p:xfrm>
          <a:off x="6395878" y="4037343"/>
          <a:ext cx="2532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VPN1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Block6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9" name="Google Shape;859;p47"/>
          <p:cNvSpPr txBox="1"/>
          <p:nvPr/>
        </p:nvSpPr>
        <p:spPr>
          <a:xfrm>
            <a:off x="6395728" y="3452075"/>
            <a:ext cx="253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(Proc 2)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60" name="Google Shape;860;p47"/>
          <p:cNvGraphicFramePr/>
          <p:nvPr>
            <p:extLst>
              <p:ext uri="{D42A27DB-BD31-4B8C-83A1-F6EECF244321}">
                <p14:modId xmlns:p14="http://schemas.microsoft.com/office/powerpoint/2010/main" val="1608497765"/>
              </p:ext>
            </p:extLst>
          </p:nvPr>
        </p:nvGraphicFramePr>
        <p:xfrm>
          <a:off x="9218228" y="4037343"/>
          <a:ext cx="2532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Block5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VPN1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Block7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1" name="Google Shape;861;p47"/>
          <p:cNvSpPr txBox="1"/>
          <p:nvPr/>
        </p:nvSpPr>
        <p:spPr>
          <a:xfrm>
            <a:off x="9218078" y="3452075"/>
            <a:ext cx="253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(Proc 3)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8"/>
          <p:cNvSpPr txBox="1">
            <a:spLocks noGrp="1"/>
          </p:cNvSpPr>
          <p:nvPr>
            <p:ph type="title"/>
          </p:nvPr>
        </p:nvSpPr>
        <p:spPr>
          <a:xfrm>
            <a:off x="551543" y="96038"/>
            <a:ext cx="866910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Espacio swap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67" name="Google Shape;867;p48"/>
          <p:cNvSpPr txBox="1">
            <a:spLocks noGrp="1"/>
          </p:cNvSpPr>
          <p:nvPr>
            <p:ph type="body" idx="1"/>
          </p:nvPr>
        </p:nvSpPr>
        <p:spPr>
          <a:xfrm>
            <a:off x="551543" y="788975"/>
            <a:ext cx="11201107" cy="6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Ejemplo - Representación</a:t>
            </a: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2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68" name="Google Shape;8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900" y="1958443"/>
            <a:ext cx="8304001" cy="166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88" y="4289450"/>
            <a:ext cx="11229624" cy="1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1775" y="5915300"/>
            <a:ext cx="4708876" cy="4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9"/>
          <p:cNvSpPr txBox="1">
            <a:spLocks noGrp="1"/>
          </p:cNvSpPr>
          <p:nvPr>
            <p:ph type="title"/>
          </p:nvPr>
        </p:nvSpPr>
        <p:spPr>
          <a:xfrm>
            <a:off x="638629" y="96038"/>
            <a:ext cx="858202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Espacio swap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76" name="Google Shape;876;p49"/>
          <p:cNvSpPr txBox="1">
            <a:spLocks noGrp="1"/>
          </p:cNvSpPr>
          <p:nvPr>
            <p:ph type="body" idx="1"/>
          </p:nvPr>
        </p:nvSpPr>
        <p:spPr>
          <a:xfrm>
            <a:off x="638629" y="877875"/>
            <a:ext cx="11114021" cy="554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Ejemplo - observaciones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P0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P1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P2</a:t>
            </a:r>
            <a:r>
              <a:rPr lang="es-ES" sz="2000" dirty="0">
                <a:latin typeface="+mn-lt"/>
              </a:rPr>
              <a:t> y </a:t>
            </a: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P3</a:t>
            </a:r>
            <a:r>
              <a:rPr lang="es-ES" sz="2000" dirty="0">
                <a:latin typeface="+mn-lt"/>
              </a:rPr>
              <a:t> están compartiendo activamente memoria.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De las páginas válidas de estos procesos, sólo algunas están en memoria; el resto se encuentra en espacio swap en el disco.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Todas las páginas del proceso </a:t>
            </a: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P3</a:t>
            </a:r>
            <a:r>
              <a:rPr lang="es-ES" sz="2000" dirty="0">
                <a:latin typeface="+mn-lt"/>
              </a:rPr>
              <a:t> han sido 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swap out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)</a:t>
            </a:r>
            <a:r>
              <a:rPr lang="es-ES" sz="2000" dirty="0">
                <a:latin typeface="+mn-lt"/>
              </a:rPr>
              <a:t> sacadas de memoria física y llevadas al disco (Por lo que este proceso no se encuentra actualmente en ejecución).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Un bloque de memoria swap (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Block 2</a:t>
            </a:r>
            <a:r>
              <a:rPr lang="es-ES" sz="2000" dirty="0">
                <a:latin typeface="+mn-lt"/>
              </a:rPr>
              <a:t>) permanece libre.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77" name="Google Shape;87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475" y="3477576"/>
            <a:ext cx="8119075" cy="301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889" name="Google Shape;889;p51"/>
          <p:cNvSpPr txBox="1">
            <a:spLocks noGrp="1"/>
          </p:cNvSpPr>
          <p:nvPr>
            <p:ph type="body" idx="1"/>
          </p:nvPr>
        </p:nvSpPr>
        <p:spPr>
          <a:xfrm>
            <a:off x="858325" y="928675"/>
            <a:ext cx="5970300" cy="349818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Se requiere un mecanismo para soportar el i</a:t>
            </a:r>
            <a:r>
              <a:rPr lang="es-ES" sz="2400" b="1" dirty="0"/>
              <a:t>ntercambio de páginas</a:t>
            </a:r>
            <a:r>
              <a:rPr lang="es-ES" sz="2400" dirty="0"/>
              <a:t> desde </a:t>
            </a:r>
            <a:r>
              <a:rPr lang="es-ES" sz="2400" dirty="0">
                <a:solidFill>
                  <a:schemeClr val="accent5"/>
                </a:solidFill>
              </a:rPr>
              <a:t>(</a:t>
            </a:r>
            <a:r>
              <a:rPr lang="es-ES" sz="2400" b="1" dirty="0">
                <a:solidFill>
                  <a:schemeClr val="accent5"/>
                </a:solidFill>
              </a:rPr>
              <a:t>page in</a:t>
            </a:r>
            <a:r>
              <a:rPr lang="es-ES" sz="2400" dirty="0">
                <a:solidFill>
                  <a:schemeClr val="accent5"/>
                </a:solidFill>
              </a:rPr>
              <a:t>)</a:t>
            </a:r>
            <a:r>
              <a:rPr lang="es-ES" sz="2400" dirty="0"/>
              <a:t> y hacía </a:t>
            </a:r>
            <a:r>
              <a:rPr lang="es-ES" sz="2400" dirty="0">
                <a:solidFill>
                  <a:srgbClr val="FF0000"/>
                </a:solidFill>
              </a:rPr>
              <a:t>(</a:t>
            </a:r>
            <a:r>
              <a:rPr lang="es-ES" sz="2400" b="1" dirty="0">
                <a:solidFill>
                  <a:srgbClr val="FF0000"/>
                </a:solidFill>
              </a:rPr>
              <a:t>page out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  <a:r>
              <a:rPr lang="es-ES" sz="2400" dirty="0"/>
              <a:t> el disco duro.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Cuando el hardware analiza el </a:t>
            </a:r>
            <a:r>
              <a:rPr lang="es-ES" sz="2400" b="1" dirty="0">
                <a:ea typeface="Consolas"/>
                <a:cs typeface="Consolas"/>
                <a:sym typeface="Consolas"/>
              </a:rPr>
              <a:t>PTE</a:t>
            </a:r>
            <a:r>
              <a:rPr lang="es-ES" sz="2400" dirty="0"/>
              <a:t>, puede suceder que la pagina requerida no este presente en memoria (a pesar de ser una </a:t>
            </a:r>
            <a:r>
              <a:rPr lang="es-ES" sz="2400" b="1" dirty="0">
                <a:solidFill>
                  <a:schemeClr val="accent6"/>
                </a:solidFill>
              </a:rPr>
              <a:t>acceso legal</a:t>
            </a:r>
            <a:r>
              <a:rPr lang="es-ES" sz="2400" dirty="0"/>
              <a:t>).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El </a:t>
            </a:r>
            <a:r>
              <a:rPr lang="es-ES" sz="2400" b="1" dirty="0">
                <a:solidFill>
                  <a:schemeClr val="accent6"/>
                </a:solidFill>
              </a:rPr>
              <a:t>bit de presencia (P)</a:t>
            </a:r>
            <a:r>
              <a:rPr lang="es-ES" sz="2400" dirty="0"/>
              <a:t> permite conocer dónde se encuentra la página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890" name="Google Shape;890;p51"/>
          <p:cNvGraphicFramePr/>
          <p:nvPr/>
        </p:nvGraphicFramePr>
        <p:xfrm>
          <a:off x="1372605" y="5048127"/>
          <a:ext cx="10269750" cy="128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9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Significado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 página requerida está presente en la memoria física.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 página requerida no está presente en la memoria física, pero sí en el disco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1" name="Google Shape;891;p51"/>
          <p:cNvGraphicFramePr/>
          <p:nvPr/>
        </p:nvGraphicFramePr>
        <p:xfrm>
          <a:off x="7229850" y="1638525"/>
          <a:ext cx="4450275" cy="4876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6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2" name="Google Shape;892;p51"/>
          <p:cNvGraphicFramePr/>
          <p:nvPr/>
        </p:nvGraphicFramePr>
        <p:xfrm>
          <a:off x="7229838" y="2719143"/>
          <a:ext cx="445030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Significado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La página está en la memoria física.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La página se encuentra en el espacio de intercambio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2"/>
          <p:cNvSpPr txBox="1">
            <a:spLocks noGrp="1"/>
          </p:cNvSpPr>
          <p:nvPr>
            <p:ph type="title"/>
          </p:nvPr>
        </p:nvSpPr>
        <p:spPr>
          <a:xfrm>
            <a:off x="844588" y="96038"/>
            <a:ext cx="837606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898" name="Google Shape;898;p52"/>
          <p:cNvSpPr txBox="1">
            <a:spLocks noGrp="1"/>
          </p:cNvSpPr>
          <p:nvPr>
            <p:ph type="body" idx="1"/>
          </p:nvPr>
        </p:nvSpPr>
        <p:spPr>
          <a:xfrm>
            <a:off x="844600" y="798200"/>
            <a:ext cx="11164800" cy="106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Ejemplo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Suponga que se tiene el siguiente escenario de mapeo.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899" name="Google Shape;899;p52"/>
          <p:cNvGraphicFramePr/>
          <p:nvPr/>
        </p:nvGraphicFramePr>
        <p:xfrm>
          <a:off x="6056400" y="1864693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00" name="Google Shape;900;p52"/>
          <p:cNvGrpSpPr/>
          <p:nvPr/>
        </p:nvGrpSpPr>
        <p:grpSpPr>
          <a:xfrm>
            <a:off x="6132597" y="2436200"/>
            <a:ext cx="171600" cy="3884150"/>
            <a:chOff x="7021597" y="2436200"/>
            <a:chExt cx="171600" cy="3884150"/>
          </a:xfrm>
        </p:grpSpPr>
        <p:sp>
          <p:nvSpPr>
            <p:cNvPr id="901" name="Google Shape;901;p52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2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2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2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" name="Google Shape;905;p52"/>
          <p:cNvGrpSpPr/>
          <p:nvPr/>
        </p:nvGrpSpPr>
        <p:grpSpPr>
          <a:xfrm>
            <a:off x="2232375" y="2321875"/>
            <a:ext cx="2202550" cy="1650125"/>
            <a:chOff x="2054575" y="2157650"/>
            <a:chExt cx="2202550" cy="1650125"/>
          </a:xfrm>
        </p:grpSpPr>
        <p:pic>
          <p:nvPicPr>
            <p:cNvPr id="906" name="Google Shape;906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52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2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" name="Google Shape;909;p52"/>
          <p:cNvGrpSpPr/>
          <p:nvPr/>
        </p:nvGrpSpPr>
        <p:grpSpPr>
          <a:xfrm>
            <a:off x="2368550" y="4823600"/>
            <a:ext cx="1930200" cy="949500"/>
            <a:chOff x="2181650" y="4315050"/>
            <a:chExt cx="1930200" cy="949500"/>
          </a:xfrm>
        </p:grpSpPr>
        <p:sp>
          <p:nvSpPr>
            <p:cNvPr id="910" name="Google Shape;910;p52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2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2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13" name="Google Shape;913;p52"/>
          <p:cNvCxnSpPr/>
          <p:nvPr/>
        </p:nvCxnSpPr>
        <p:spPr>
          <a:xfrm flipH="1">
            <a:off x="3464475" y="2537775"/>
            <a:ext cx="2539800" cy="25401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4" name="Google Shape;914;p52"/>
          <p:cNvCxnSpPr/>
          <p:nvPr/>
        </p:nvCxnSpPr>
        <p:spPr>
          <a:xfrm rot="10800000">
            <a:off x="3959375" y="5306475"/>
            <a:ext cx="1994100" cy="9270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5" name="Google Shape;915;p52"/>
          <p:cNvCxnSpPr/>
          <p:nvPr/>
        </p:nvCxnSpPr>
        <p:spPr>
          <a:xfrm rot="10800000">
            <a:off x="3959475" y="3274175"/>
            <a:ext cx="2044800" cy="165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6" name="Google Shape;916;p52"/>
          <p:cNvCxnSpPr/>
          <p:nvPr/>
        </p:nvCxnSpPr>
        <p:spPr>
          <a:xfrm rot="10800000">
            <a:off x="3349875" y="3465075"/>
            <a:ext cx="2616300" cy="2273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7" name="Google Shape;917;p52"/>
          <p:cNvSpPr/>
          <p:nvPr/>
        </p:nvSpPr>
        <p:spPr>
          <a:xfrm>
            <a:off x="1062788" y="28337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8" name="Google Shape;918;p52"/>
          <p:cNvSpPr/>
          <p:nvPr/>
        </p:nvSpPr>
        <p:spPr>
          <a:xfrm>
            <a:off x="844588" y="49215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3"/>
          <p:cNvSpPr txBox="1">
            <a:spLocks noGrp="1"/>
          </p:cNvSpPr>
          <p:nvPr>
            <p:ph type="title"/>
          </p:nvPr>
        </p:nvSpPr>
        <p:spPr>
          <a:xfrm>
            <a:off x="377371" y="51276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924" name="Google Shape;924;p53"/>
          <p:cNvSpPr txBox="1">
            <a:spLocks noGrp="1"/>
          </p:cNvSpPr>
          <p:nvPr>
            <p:ph type="body" idx="1"/>
          </p:nvPr>
        </p:nvSpPr>
        <p:spPr>
          <a:xfrm>
            <a:off x="377371" y="899875"/>
            <a:ext cx="11632017" cy="106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Escenarios con el bit present (P)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Fallo de página </a:t>
            </a:r>
            <a:endParaRPr dirty="0">
              <a:solidFill>
                <a:srgbClr val="E0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Se da cuando se accede a una página que no se encuentra en memoria física.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25" name="Google Shape;925;p53"/>
          <p:cNvGraphicFramePr/>
          <p:nvPr/>
        </p:nvGraphicFramePr>
        <p:xfrm>
          <a:off x="5470713" y="1864693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26" name="Google Shape;926;p53"/>
          <p:cNvGrpSpPr/>
          <p:nvPr/>
        </p:nvGrpSpPr>
        <p:grpSpPr>
          <a:xfrm>
            <a:off x="5546910" y="2436200"/>
            <a:ext cx="171600" cy="3884150"/>
            <a:chOff x="7021597" y="2436200"/>
            <a:chExt cx="171600" cy="3884150"/>
          </a:xfrm>
        </p:grpSpPr>
        <p:sp>
          <p:nvSpPr>
            <p:cNvPr id="927" name="Google Shape;927;p53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3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3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3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53"/>
          <p:cNvGrpSpPr/>
          <p:nvPr/>
        </p:nvGrpSpPr>
        <p:grpSpPr>
          <a:xfrm>
            <a:off x="2232375" y="2321875"/>
            <a:ext cx="2202550" cy="1650125"/>
            <a:chOff x="2054575" y="2157650"/>
            <a:chExt cx="2202550" cy="1650125"/>
          </a:xfrm>
        </p:grpSpPr>
        <p:pic>
          <p:nvPicPr>
            <p:cNvPr id="932" name="Google Shape;932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53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3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53"/>
          <p:cNvGrpSpPr/>
          <p:nvPr/>
        </p:nvGrpSpPr>
        <p:grpSpPr>
          <a:xfrm>
            <a:off x="2368550" y="4823600"/>
            <a:ext cx="1930200" cy="949500"/>
            <a:chOff x="2181650" y="4315050"/>
            <a:chExt cx="1930200" cy="949500"/>
          </a:xfrm>
        </p:grpSpPr>
        <p:sp>
          <p:nvSpPr>
            <p:cNvPr id="936" name="Google Shape;936;p53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3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3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39" name="Google Shape;939;p53"/>
          <p:cNvCxnSpPr/>
          <p:nvPr/>
        </p:nvCxnSpPr>
        <p:spPr>
          <a:xfrm flipH="1">
            <a:off x="3388188" y="2537775"/>
            <a:ext cx="2030400" cy="25782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0" name="Google Shape;940;p53"/>
          <p:cNvCxnSpPr/>
          <p:nvPr/>
        </p:nvCxnSpPr>
        <p:spPr>
          <a:xfrm rot="10800000">
            <a:off x="3807188" y="5471475"/>
            <a:ext cx="1560600" cy="7620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1" name="Google Shape;941;p53"/>
          <p:cNvCxnSpPr>
            <a:endCxn id="934" idx="3"/>
          </p:cNvCxnSpPr>
          <p:nvPr/>
        </p:nvCxnSpPr>
        <p:spPr>
          <a:xfrm rot="10800000">
            <a:off x="3840397" y="3254100"/>
            <a:ext cx="1578300" cy="185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2" name="Google Shape;942;p53"/>
          <p:cNvCxnSpPr/>
          <p:nvPr/>
        </p:nvCxnSpPr>
        <p:spPr>
          <a:xfrm rot="10800000">
            <a:off x="3451488" y="3490275"/>
            <a:ext cx="1929000" cy="2247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3" name="Google Shape;943;p53"/>
          <p:cNvSpPr/>
          <p:nvPr/>
        </p:nvSpPr>
        <p:spPr>
          <a:xfrm>
            <a:off x="1062788" y="28337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4" name="Google Shape;944;p53"/>
          <p:cNvSpPr/>
          <p:nvPr/>
        </p:nvSpPr>
        <p:spPr>
          <a:xfrm>
            <a:off x="844588" y="49215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53"/>
          <p:cNvSpPr txBox="1"/>
          <p:nvPr/>
        </p:nvSpPr>
        <p:spPr>
          <a:xfrm>
            <a:off x="10677525" y="5523850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6" name="Google Shape;946;p53"/>
          <p:cNvCxnSpPr>
            <a:stCxn id="945" idx="1"/>
          </p:cNvCxnSpPr>
          <p:nvPr/>
        </p:nvCxnSpPr>
        <p:spPr>
          <a:xfrm flipH="1">
            <a:off x="10182225" y="5770150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" name="Google Shape;947;p53"/>
          <p:cNvSpPr/>
          <p:nvPr/>
        </p:nvSpPr>
        <p:spPr>
          <a:xfrm>
            <a:off x="9952132" y="3935475"/>
            <a:ext cx="1928988" cy="1357506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Fault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8" name="Google Shape;948;p53"/>
          <p:cNvSpPr txBox="1"/>
          <p:nvPr/>
        </p:nvSpPr>
        <p:spPr>
          <a:xfrm>
            <a:off x="10049025" y="2561538"/>
            <a:ext cx="1735200" cy="677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Page-fault handler</a:t>
            </a:r>
            <a:endParaRPr sz="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9" name="Google Shape;949;p53"/>
          <p:cNvCxnSpPr/>
          <p:nvPr/>
        </p:nvCxnSpPr>
        <p:spPr>
          <a:xfrm rot="5400000" flipH="1">
            <a:off x="10668975" y="3686238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4"/>
          <p:cNvSpPr txBox="1">
            <a:spLocks noGrp="1"/>
          </p:cNvSpPr>
          <p:nvPr>
            <p:ph type="title"/>
          </p:nvPr>
        </p:nvSpPr>
        <p:spPr>
          <a:xfrm>
            <a:off x="493486" y="96038"/>
            <a:ext cx="87271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955" name="Google Shape;955;p54"/>
          <p:cNvSpPr txBox="1">
            <a:spLocks noGrp="1"/>
          </p:cNvSpPr>
          <p:nvPr>
            <p:ph type="body" idx="1"/>
          </p:nvPr>
        </p:nvSpPr>
        <p:spPr>
          <a:xfrm>
            <a:off x="493486" y="798200"/>
            <a:ext cx="11515914" cy="106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Escenarios con el bit present (P)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Fallo de página </a:t>
            </a:r>
            <a:endParaRPr dirty="0">
              <a:solidFill>
                <a:srgbClr val="E0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Se da cuando se accede a una página que no se encuentra en memoria física.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56" name="Google Shape;956;p54"/>
          <p:cNvGraphicFramePr/>
          <p:nvPr/>
        </p:nvGraphicFramePr>
        <p:xfrm>
          <a:off x="5470713" y="1864693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57" name="Google Shape;957;p54"/>
          <p:cNvGrpSpPr/>
          <p:nvPr/>
        </p:nvGrpSpPr>
        <p:grpSpPr>
          <a:xfrm>
            <a:off x="5546910" y="2436200"/>
            <a:ext cx="171600" cy="3884150"/>
            <a:chOff x="7021597" y="2436200"/>
            <a:chExt cx="171600" cy="3884150"/>
          </a:xfrm>
        </p:grpSpPr>
        <p:sp>
          <p:nvSpPr>
            <p:cNvPr id="958" name="Google Shape;958;p54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54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4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54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54"/>
          <p:cNvGrpSpPr/>
          <p:nvPr/>
        </p:nvGrpSpPr>
        <p:grpSpPr>
          <a:xfrm>
            <a:off x="2232375" y="2321875"/>
            <a:ext cx="2202550" cy="1650125"/>
            <a:chOff x="2054575" y="2157650"/>
            <a:chExt cx="2202550" cy="1650125"/>
          </a:xfrm>
        </p:grpSpPr>
        <p:pic>
          <p:nvPicPr>
            <p:cNvPr id="963" name="Google Shape;963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54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54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6" name="Google Shape;966;p54"/>
          <p:cNvGrpSpPr/>
          <p:nvPr/>
        </p:nvGrpSpPr>
        <p:grpSpPr>
          <a:xfrm>
            <a:off x="2368550" y="4836300"/>
            <a:ext cx="1930200" cy="949500"/>
            <a:chOff x="2181650" y="4315050"/>
            <a:chExt cx="1930200" cy="949500"/>
          </a:xfrm>
        </p:grpSpPr>
        <p:sp>
          <p:nvSpPr>
            <p:cNvPr id="967" name="Google Shape;967;p54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54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54"/>
            <p:cNvSpPr/>
            <p:nvPr/>
          </p:nvSpPr>
          <p:spPr>
            <a:xfrm>
              <a:off x="33893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0" name="Google Shape;970;p54"/>
          <p:cNvCxnSpPr/>
          <p:nvPr/>
        </p:nvCxnSpPr>
        <p:spPr>
          <a:xfrm flipH="1">
            <a:off x="3388188" y="2537775"/>
            <a:ext cx="2030400" cy="25782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1" name="Google Shape;971;p54"/>
          <p:cNvCxnSpPr/>
          <p:nvPr/>
        </p:nvCxnSpPr>
        <p:spPr>
          <a:xfrm rot="10800000">
            <a:off x="3730988" y="5522175"/>
            <a:ext cx="1636800" cy="7113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2" name="Google Shape;972;p54"/>
          <p:cNvCxnSpPr>
            <a:endCxn id="965" idx="3"/>
          </p:cNvCxnSpPr>
          <p:nvPr/>
        </p:nvCxnSpPr>
        <p:spPr>
          <a:xfrm rot="10800000">
            <a:off x="3840397" y="3254100"/>
            <a:ext cx="1578300" cy="185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3" name="Google Shape;973;p54"/>
          <p:cNvCxnSpPr/>
          <p:nvPr/>
        </p:nvCxnSpPr>
        <p:spPr>
          <a:xfrm rot="10800000">
            <a:off x="4188288" y="5344575"/>
            <a:ext cx="1192200" cy="3936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4" name="Google Shape;974;p54"/>
          <p:cNvSpPr/>
          <p:nvPr/>
        </p:nvSpPr>
        <p:spPr>
          <a:xfrm>
            <a:off x="1062788" y="28337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5" name="Google Shape;975;p54"/>
          <p:cNvSpPr/>
          <p:nvPr/>
        </p:nvSpPr>
        <p:spPr>
          <a:xfrm>
            <a:off x="844588" y="49215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6" name="Google Shape;976;p54"/>
          <p:cNvSpPr txBox="1"/>
          <p:nvPr/>
        </p:nvSpPr>
        <p:spPr>
          <a:xfrm>
            <a:off x="10677525" y="5523850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77" name="Google Shape;977;p54"/>
          <p:cNvCxnSpPr>
            <a:stCxn id="976" idx="1"/>
          </p:cNvCxnSpPr>
          <p:nvPr/>
        </p:nvCxnSpPr>
        <p:spPr>
          <a:xfrm flipH="1">
            <a:off x="10182225" y="5770150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8" name="Google Shape;978;p54"/>
          <p:cNvSpPr txBox="1"/>
          <p:nvPr/>
        </p:nvSpPr>
        <p:spPr>
          <a:xfrm>
            <a:off x="10089825" y="3478863"/>
            <a:ext cx="1735200" cy="677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Page-fault handler</a:t>
            </a:r>
            <a:endParaRPr sz="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9" name="Google Shape;979;p54"/>
          <p:cNvSpPr/>
          <p:nvPr/>
        </p:nvSpPr>
        <p:spPr>
          <a:xfrm>
            <a:off x="3895547" y="5221725"/>
            <a:ext cx="171600" cy="1947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5"/>
          <p:cNvSpPr txBox="1">
            <a:spLocks noGrp="1"/>
          </p:cNvSpPr>
          <p:nvPr>
            <p:ph type="title"/>
          </p:nvPr>
        </p:nvSpPr>
        <p:spPr>
          <a:xfrm>
            <a:off x="377370" y="96038"/>
            <a:ext cx="88432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985" name="Google Shape;985;p55"/>
          <p:cNvSpPr txBox="1">
            <a:spLocks noGrp="1"/>
          </p:cNvSpPr>
          <p:nvPr>
            <p:ph type="body" idx="1"/>
          </p:nvPr>
        </p:nvSpPr>
        <p:spPr>
          <a:xfrm>
            <a:off x="377370" y="798200"/>
            <a:ext cx="11632030" cy="131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Escenarios con el bit present (P)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dirty="0">
              <a:solidFill>
                <a:srgbClr val="E06666"/>
              </a:solidFill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/>
              <a:t>El sistema operativo retira las páginas de memoria </a:t>
            </a:r>
            <a:r>
              <a:rPr lang="es-ES" sz="2100" dirty="0" err="1"/>
              <a:t>fisica</a:t>
            </a:r>
            <a:r>
              <a:rPr lang="es-ES" sz="2100" dirty="0"/>
              <a:t> (</a:t>
            </a:r>
            <a:r>
              <a:rPr lang="es-ES" sz="2100" b="1" dirty="0"/>
              <a:t>page out</a:t>
            </a:r>
            <a:r>
              <a:rPr lang="es-ES" sz="2100" dirty="0"/>
              <a:t>) para hacer espacio para las nuevas páginas de memoria requerida usando una </a:t>
            </a:r>
            <a:r>
              <a:rPr lang="es-ES" sz="2100" b="1" dirty="0"/>
              <a:t>page-</a:t>
            </a:r>
            <a:r>
              <a:rPr lang="es-ES" sz="2100" b="1" dirty="0" err="1"/>
              <a:t>replacement</a:t>
            </a:r>
            <a:r>
              <a:rPr lang="es-ES" sz="2100" b="1" dirty="0"/>
              <a:t> </a:t>
            </a:r>
            <a:r>
              <a:rPr lang="es-ES" sz="2100" b="1" dirty="0" err="1"/>
              <a:t>policy</a:t>
            </a:r>
            <a:r>
              <a:rPr lang="es-ES" sz="2100" dirty="0"/>
              <a:t>.</a:t>
            </a:r>
            <a:endParaRPr sz="21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6" name="Google Shape;986;p55"/>
          <p:cNvGraphicFramePr/>
          <p:nvPr/>
        </p:nvGraphicFramePr>
        <p:xfrm>
          <a:off x="6056400" y="2111293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87" name="Google Shape;987;p55"/>
          <p:cNvGrpSpPr/>
          <p:nvPr/>
        </p:nvGrpSpPr>
        <p:grpSpPr>
          <a:xfrm>
            <a:off x="6132597" y="2682800"/>
            <a:ext cx="171600" cy="3884150"/>
            <a:chOff x="7021597" y="2436200"/>
            <a:chExt cx="171600" cy="3884150"/>
          </a:xfrm>
        </p:grpSpPr>
        <p:sp>
          <p:nvSpPr>
            <p:cNvPr id="988" name="Google Shape;988;p55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55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55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55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2" name="Google Shape;992;p55"/>
          <p:cNvGrpSpPr/>
          <p:nvPr/>
        </p:nvGrpSpPr>
        <p:grpSpPr>
          <a:xfrm>
            <a:off x="2232375" y="2568475"/>
            <a:ext cx="2202550" cy="1650125"/>
            <a:chOff x="2054575" y="2157650"/>
            <a:chExt cx="2202550" cy="1650125"/>
          </a:xfrm>
        </p:grpSpPr>
        <p:pic>
          <p:nvPicPr>
            <p:cNvPr id="993" name="Google Shape;993;p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4" name="Google Shape;994;p55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55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" name="Google Shape;996;p55"/>
          <p:cNvGrpSpPr/>
          <p:nvPr/>
        </p:nvGrpSpPr>
        <p:grpSpPr>
          <a:xfrm>
            <a:off x="2368550" y="5070200"/>
            <a:ext cx="1930200" cy="949500"/>
            <a:chOff x="2181650" y="4315050"/>
            <a:chExt cx="1930200" cy="949500"/>
          </a:xfrm>
        </p:grpSpPr>
        <p:sp>
          <p:nvSpPr>
            <p:cNvPr id="997" name="Google Shape;997;p55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55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55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00" name="Google Shape;1000;p55"/>
          <p:cNvCxnSpPr/>
          <p:nvPr/>
        </p:nvCxnSpPr>
        <p:spPr>
          <a:xfrm flipH="1">
            <a:off x="3464475" y="2784375"/>
            <a:ext cx="2539800" cy="25401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1" name="Google Shape;1001;p55"/>
          <p:cNvCxnSpPr/>
          <p:nvPr/>
        </p:nvCxnSpPr>
        <p:spPr>
          <a:xfrm rot="10800000">
            <a:off x="3959375" y="5553075"/>
            <a:ext cx="1994100" cy="9270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2" name="Google Shape;1002;p55"/>
          <p:cNvCxnSpPr/>
          <p:nvPr/>
        </p:nvCxnSpPr>
        <p:spPr>
          <a:xfrm rot="10800000">
            <a:off x="3959475" y="3520775"/>
            <a:ext cx="2044800" cy="165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3" name="Google Shape;1003;p55"/>
          <p:cNvCxnSpPr/>
          <p:nvPr/>
        </p:nvCxnSpPr>
        <p:spPr>
          <a:xfrm rot="10800000">
            <a:off x="3349875" y="3711675"/>
            <a:ext cx="2616300" cy="2273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4" name="Google Shape;1004;p55"/>
          <p:cNvSpPr/>
          <p:nvPr/>
        </p:nvSpPr>
        <p:spPr>
          <a:xfrm>
            <a:off x="1062788" y="30803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5" name="Google Shape;1005;p55"/>
          <p:cNvSpPr/>
          <p:nvPr/>
        </p:nvSpPr>
        <p:spPr>
          <a:xfrm>
            <a:off x="844588" y="51681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2394375" y="53699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6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8814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1012" name="Google Shape;1012;p56"/>
          <p:cNvSpPr txBox="1">
            <a:spLocks noGrp="1"/>
          </p:cNvSpPr>
          <p:nvPr>
            <p:ph type="body" idx="1"/>
          </p:nvPr>
        </p:nvSpPr>
        <p:spPr>
          <a:xfrm>
            <a:off x="406400" y="798200"/>
            <a:ext cx="11603000" cy="72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Escenarios con el bit present (P)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dirty="0">
              <a:solidFill>
                <a:srgbClr val="E0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13" name="Google Shape;1013;p56"/>
          <p:cNvGraphicFramePr/>
          <p:nvPr/>
        </p:nvGraphicFramePr>
        <p:xfrm>
          <a:off x="5573800" y="1654092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14" name="Google Shape;1014;p56"/>
          <p:cNvGrpSpPr/>
          <p:nvPr/>
        </p:nvGrpSpPr>
        <p:grpSpPr>
          <a:xfrm>
            <a:off x="5573797" y="2200200"/>
            <a:ext cx="171600" cy="3884150"/>
            <a:chOff x="7021597" y="2436200"/>
            <a:chExt cx="171600" cy="3884150"/>
          </a:xfrm>
        </p:grpSpPr>
        <p:sp>
          <p:nvSpPr>
            <p:cNvPr id="1015" name="Google Shape;1015;p56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56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56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56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9" name="Google Shape;1019;p56"/>
          <p:cNvGrpSpPr/>
          <p:nvPr/>
        </p:nvGrpSpPr>
        <p:grpSpPr>
          <a:xfrm>
            <a:off x="2232375" y="2111275"/>
            <a:ext cx="2202550" cy="1650125"/>
            <a:chOff x="2054575" y="2157650"/>
            <a:chExt cx="2202550" cy="1650125"/>
          </a:xfrm>
        </p:grpSpPr>
        <p:pic>
          <p:nvPicPr>
            <p:cNvPr id="1020" name="Google Shape;1020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56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56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56"/>
          <p:cNvGrpSpPr/>
          <p:nvPr/>
        </p:nvGrpSpPr>
        <p:grpSpPr>
          <a:xfrm>
            <a:off x="2368550" y="4613000"/>
            <a:ext cx="1930200" cy="949500"/>
            <a:chOff x="2181650" y="4315050"/>
            <a:chExt cx="1930200" cy="949500"/>
          </a:xfrm>
        </p:grpSpPr>
        <p:sp>
          <p:nvSpPr>
            <p:cNvPr id="1024" name="Google Shape;1024;p56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56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56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7" name="Google Shape;1027;p56"/>
          <p:cNvCxnSpPr/>
          <p:nvPr/>
        </p:nvCxnSpPr>
        <p:spPr>
          <a:xfrm flipH="1">
            <a:off x="3464475" y="2296475"/>
            <a:ext cx="1968300" cy="25707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8" name="Google Shape;1028;p56"/>
          <p:cNvCxnSpPr/>
          <p:nvPr/>
        </p:nvCxnSpPr>
        <p:spPr>
          <a:xfrm rot="10800000">
            <a:off x="3959475" y="5095875"/>
            <a:ext cx="1435200" cy="8709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9" name="Google Shape;1029;p56"/>
          <p:cNvCxnSpPr/>
          <p:nvPr/>
        </p:nvCxnSpPr>
        <p:spPr>
          <a:xfrm rot="10800000">
            <a:off x="3959375" y="3063575"/>
            <a:ext cx="1460700" cy="10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0" name="Google Shape;1030;p56"/>
          <p:cNvCxnSpPr/>
          <p:nvPr/>
        </p:nvCxnSpPr>
        <p:spPr>
          <a:xfrm rot="10800000">
            <a:off x="3349775" y="3254575"/>
            <a:ext cx="2070300" cy="2229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1" name="Google Shape;1031;p56"/>
          <p:cNvSpPr/>
          <p:nvPr/>
        </p:nvSpPr>
        <p:spPr>
          <a:xfrm>
            <a:off x="1062788" y="26231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2" name="Google Shape;1032;p56"/>
          <p:cNvSpPr/>
          <p:nvPr/>
        </p:nvSpPr>
        <p:spPr>
          <a:xfrm>
            <a:off x="844588" y="47109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3" name="Google Shape;1033;p56"/>
          <p:cNvSpPr/>
          <p:nvPr/>
        </p:nvSpPr>
        <p:spPr>
          <a:xfrm>
            <a:off x="2394375" y="49127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56"/>
          <p:cNvSpPr txBox="1"/>
          <p:nvPr/>
        </p:nvSpPr>
        <p:spPr>
          <a:xfrm>
            <a:off x="10805800" y="5262800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5" name="Google Shape;1035;p56"/>
          <p:cNvCxnSpPr>
            <a:stCxn id="1034" idx="1"/>
          </p:cNvCxnSpPr>
          <p:nvPr/>
        </p:nvCxnSpPr>
        <p:spPr>
          <a:xfrm flipH="1">
            <a:off x="10310500" y="5509100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7"/>
          <p:cNvSpPr txBox="1">
            <a:spLocks noGrp="1"/>
          </p:cNvSpPr>
          <p:nvPr>
            <p:ph type="title"/>
          </p:nvPr>
        </p:nvSpPr>
        <p:spPr>
          <a:xfrm>
            <a:off x="333829" y="96038"/>
            <a:ext cx="88868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1041" name="Google Shape;1041;p57"/>
          <p:cNvSpPr txBox="1">
            <a:spLocks noGrp="1"/>
          </p:cNvSpPr>
          <p:nvPr>
            <p:ph type="body" idx="1"/>
          </p:nvPr>
        </p:nvSpPr>
        <p:spPr>
          <a:xfrm>
            <a:off x="333829" y="798200"/>
            <a:ext cx="11675571" cy="62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Escenarios con el bit present (P)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42" name="Google Shape;1042;p57"/>
          <p:cNvGraphicFramePr/>
          <p:nvPr/>
        </p:nvGraphicFramePr>
        <p:xfrm>
          <a:off x="5404550" y="1539792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43" name="Google Shape;1043;p57"/>
          <p:cNvGrpSpPr/>
          <p:nvPr/>
        </p:nvGrpSpPr>
        <p:grpSpPr>
          <a:xfrm>
            <a:off x="5480747" y="2136700"/>
            <a:ext cx="171600" cy="3884150"/>
            <a:chOff x="7021597" y="2436200"/>
            <a:chExt cx="171600" cy="3884150"/>
          </a:xfrm>
        </p:grpSpPr>
        <p:sp>
          <p:nvSpPr>
            <p:cNvPr id="1044" name="Google Shape;1044;p57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57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57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57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57"/>
          <p:cNvGrpSpPr/>
          <p:nvPr/>
        </p:nvGrpSpPr>
        <p:grpSpPr>
          <a:xfrm>
            <a:off x="2304425" y="1996975"/>
            <a:ext cx="2202550" cy="1650125"/>
            <a:chOff x="2054575" y="2157650"/>
            <a:chExt cx="2202550" cy="1650125"/>
          </a:xfrm>
        </p:grpSpPr>
        <p:pic>
          <p:nvPicPr>
            <p:cNvPr id="1049" name="Google Shape;1049;p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57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7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57"/>
          <p:cNvGrpSpPr/>
          <p:nvPr/>
        </p:nvGrpSpPr>
        <p:grpSpPr>
          <a:xfrm>
            <a:off x="2440600" y="4498700"/>
            <a:ext cx="1930200" cy="949500"/>
            <a:chOff x="2181650" y="4315050"/>
            <a:chExt cx="1930200" cy="949500"/>
          </a:xfrm>
        </p:grpSpPr>
        <p:sp>
          <p:nvSpPr>
            <p:cNvPr id="1053" name="Google Shape;1053;p57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57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57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56" name="Google Shape;1056;p57"/>
          <p:cNvCxnSpPr/>
          <p:nvPr/>
        </p:nvCxnSpPr>
        <p:spPr>
          <a:xfrm flipH="1">
            <a:off x="3451675" y="2245675"/>
            <a:ext cx="1917600" cy="25527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7" name="Google Shape;1057;p57"/>
          <p:cNvCxnSpPr/>
          <p:nvPr/>
        </p:nvCxnSpPr>
        <p:spPr>
          <a:xfrm rot="10800000">
            <a:off x="3858075" y="5204675"/>
            <a:ext cx="1422300" cy="6732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8" name="Google Shape;1058;p57"/>
          <p:cNvCxnSpPr/>
          <p:nvPr/>
        </p:nvCxnSpPr>
        <p:spPr>
          <a:xfrm rot="10800000">
            <a:off x="4022975" y="2931575"/>
            <a:ext cx="1320900" cy="165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9" name="Google Shape;1059;p57"/>
          <p:cNvCxnSpPr/>
          <p:nvPr/>
        </p:nvCxnSpPr>
        <p:spPr>
          <a:xfrm rot="10800000">
            <a:off x="3464275" y="3109375"/>
            <a:ext cx="1828800" cy="2298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0" name="Google Shape;1060;p57"/>
          <p:cNvSpPr/>
          <p:nvPr/>
        </p:nvSpPr>
        <p:spPr>
          <a:xfrm>
            <a:off x="1134838" y="25088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1" name="Google Shape;1061;p57"/>
          <p:cNvSpPr/>
          <p:nvPr/>
        </p:nvSpPr>
        <p:spPr>
          <a:xfrm>
            <a:off x="916638" y="45966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2" name="Google Shape;1062;p57"/>
          <p:cNvSpPr/>
          <p:nvPr/>
        </p:nvSpPr>
        <p:spPr>
          <a:xfrm>
            <a:off x="2466425" y="47984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3" name="Google Shape;1063;p57"/>
          <p:cNvSpPr txBox="1"/>
          <p:nvPr/>
        </p:nvSpPr>
        <p:spPr>
          <a:xfrm>
            <a:off x="10588625" y="5224175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64" name="Google Shape;1064;p57"/>
          <p:cNvCxnSpPr>
            <a:stCxn id="1063" idx="1"/>
          </p:cNvCxnSpPr>
          <p:nvPr/>
        </p:nvCxnSpPr>
        <p:spPr>
          <a:xfrm flipH="1">
            <a:off x="10093325" y="54704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5" name="Google Shape;1065;p57"/>
          <p:cNvCxnSpPr/>
          <p:nvPr/>
        </p:nvCxnSpPr>
        <p:spPr>
          <a:xfrm flipH="1">
            <a:off x="10061750" y="22456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6" name="Google Shape;1066;p57"/>
          <p:cNvSpPr txBox="1"/>
          <p:nvPr/>
        </p:nvSpPr>
        <p:spPr>
          <a:xfrm>
            <a:off x="10598325" y="1996975"/>
            <a:ext cx="1320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Desalojo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(evict)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8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852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1072" name="Google Shape;1072;p58"/>
          <p:cNvSpPr txBox="1">
            <a:spLocks noGrp="1"/>
          </p:cNvSpPr>
          <p:nvPr>
            <p:ph type="body" idx="1"/>
          </p:nvPr>
        </p:nvSpPr>
        <p:spPr>
          <a:xfrm>
            <a:off x="435429" y="798200"/>
            <a:ext cx="11573971" cy="62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Escenarios con el bit present (P)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73" name="Google Shape;1073;p58"/>
          <p:cNvGraphicFramePr/>
          <p:nvPr/>
        </p:nvGraphicFramePr>
        <p:xfrm>
          <a:off x="5404550" y="1539792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74" name="Google Shape;1074;p58"/>
          <p:cNvGrpSpPr/>
          <p:nvPr/>
        </p:nvGrpSpPr>
        <p:grpSpPr>
          <a:xfrm>
            <a:off x="5480747" y="2136700"/>
            <a:ext cx="171600" cy="3884150"/>
            <a:chOff x="7021597" y="2436200"/>
            <a:chExt cx="171600" cy="3884150"/>
          </a:xfrm>
        </p:grpSpPr>
        <p:sp>
          <p:nvSpPr>
            <p:cNvPr id="1075" name="Google Shape;1075;p58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58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58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58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9" name="Google Shape;1079;p58"/>
          <p:cNvGrpSpPr/>
          <p:nvPr/>
        </p:nvGrpSpPr>
        <p:grpSpPr>
          <a:xfrm>
            <a:off x="2304425" y="1996975"/>
            <a:ext cx="2202550" cy="1650125"/>
            <a:chOff x="2054575" y="2157650"/>
            <a:chExt cx="2202550" cy="1650125"/>
          </a:xfrm>
        </p:grpSpPr>
        <p:pic>
          <p:nvPicPr>
            <p:cNvPr id="1080" name="Google Shape;1080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1" name="Google Shape;1081;p58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58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3" name="Google Shape;1083;p58"/>
          <p:cNvGrpSpPr/>
          <p:nvPr/>
        </p:nvGrpSpPr>
        <p:grpSpPr>
          <a:xfrm>
            <a:off x="2440600" y="4498700"/>
            <a:ext cx="1930200" cy="949500"/>
            <a:chOff x="2181650" y="4315050"/>
            <a:chExt cx="1930200" cy="949500"/>
          </a:xfrm>
        </p:grpSpPr>
        <p:sp>
          <p:nvSpPr>
            <p:cNvPr id="1084" name="Google Shape;1084;p58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58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86" name="Google Shape;1086;p58"/>
          <p:cNvCxnSpPr/>
          <p:nvPr/>
        </p:nvCxnSpPr>
        <p:spPr>
          <a:xfrm flipH="1">
            <a:off x="3172300" y="2245675"/>
            <a:ext cx="2196900" cy="520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7" name="Google Shape;1087;p58"/>
          <p:cNvCxnSpPr/>
          <p:nvPr/>
        </p:nvCxnSpPr>
        <p:spPr>
          <a:xfrm rot="10800000">
            <a:off x="3858075" y="5204675"/>
            <a:ext cx="1422300" cy="6732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8" name="Google Shape;1088;p58"/>
          <p:cNvCxnSpPr/>
          <p:nvPr/>
        </p:nvCxnSpPr>
        <p:spPr>
          <a:xfrm rot="10800000">
            <a:off x="4022975" y="2931575"/>
            <a:ext cx="1320900" cy="165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9" name="Google Shape;1089;p58"/>
          <p:cNvCxnSpPr/>
          <p:nvPr/>
        </p:nvCxnSpPr>
        <p:spPr>
          <a:xfrm rot="10800000">
            <a:off x="3464275" y="3109375"/>
            <a:ext cx="1828800" cy="2298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0" name="Google Shape;1090;p58"/>
          <p:cNvSpPr/>
          <p:nvPr/>
        </p:nvSpPr>
        <p:spPr>
          <a:xfrm>
            <a:off x="1134838" y="25088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58"/>
          <p:cNvSpPr/>
          <p:nvPr/>
        </p:nvSpPr>
        <p:spPr>
          <a:xfrm>
            <a:off x="916638" y="45966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2" name="Google Shape;1092;p58"/>
          <p:cNvSpPr/>
          <p:nvPr/>
        </p:nvSpPr>
        <p:spPr>
          <a:xfrm>
            <a:off x="2466425" y="47984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3" name="Google Shape;1093;p58"/>
          <p:cNvSpPr txBox="1"/>
          <p:nvPr/>
        </p:nvSpPr>
        <p:spPr>
          <a:xfrm>
            <a:off x="10588625" y="5224175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94" name="Google Shape;1094;p58"/>
          <p:cNvCxnSpPr>
            <a:stCxn id="1093" idx="1"/>
          </p:cNvCxnSpPr>
          <p:nvPr/>
        </p:nvCxnSpPr>
        <p:spPr>
          <a:xfrm flipH="1">
            <a:off x="10093325" y="54704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5" name="Google Shape;1095;p58"/>
          <p:cNvCxnSpPr/>
          <p:nvPr/>
        </p:nvCxnSpPr>
        <p:spPr>
          <a:xfrm flipH="1">
            <a:off x="10061750" y="22456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6" name="Google Shape;1096;p58"/>
          <p:cNvSpPr txBox="1"/>
          <p:nvPr/>
        </p:nvSpPr>
        <p:spPr>
          <a:xfrm>
            <a:off x="10598325" y="1996975"/>
            <a:ext cx="1320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Desalojo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(evict)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7" name="Google Shape;1097;p58"/>
          <p:cNvSpPr txBox="1"/>
          <p:nvPr/>
        </p:nvSpPr>
        <p:spPr>
          <a:xfrm>
            <a:off x="916650" y="5716775"/>
            <a:ext cx="3648300" cy="86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Proceso de </a:t>
            </a:r>
            <a:r>
              <a:rPr lang="es-ES" sz="2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swapping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  <a:r>
              <a:rPr lang="es-E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s-ES" sz="2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paging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” out</a:t>
            </a:r>
            <a:endParaRPr sz="2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8" name="Google Shape;1098;p58"/>
          <p:cNvSpPr/>
          <p:nvPr/>
        </p:nvSpPr>
        <p:spPr>
          <a:xfrm>
            <a:off x="2914597" y="2824625"/>
            <a:ext cx="171600" cy="1947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59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1104" name="Google Shape;1104;p59"/>
          <p:cNvSpPr txBox="1">
            <a:spLocks noGrp="1"/>
          </p:cNvSpPr>
          <p:nvPr>
            <p:ph type="body" idx="1"/>
          </p:nvPr>
        </p:nvSpPr>
        <p:spPr>
          <a:xfrm>
            <a:off x="420914" y="798200"/>
            <a:ext cx="11588486" cy="62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Escenarios con el bit present (P)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05" name="Google Shape;1105;p59"/>
          <p:cNvGraphicFramePr/>
          <p:nvPr/>
        </p:nvGraphicFramePr>
        <p:xfrm>
          <a:off x="5404550" y="1539792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106" name="Google Shape;1106;p59"/>
          <p:cNvGrpSpPr/>
          <p:nvPr/>
        </p:nvGrpSpPr>
        <p:grpSpPr>
          <a:xfrm>
            <a:off x="5480747" y="2136700"/>
            <a:ext cx="171600" cy="3884150"/>
            <a:chOff x="7021597" y="2436200"/>
            <a:chExt cx="171600" cy="3884150"/>
          </a:xfrm>
        </p:grpSpPr>
        <p:sp>
          <p:nvSpPr>
            <p:cNvPr id="1107" name="Google Shape;1107;p59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9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9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9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1" name="Google Shape;1111;p59"/>
          <p:cNvGrpSpPr/>
          <p:nvPr/>
        </p:nvGrpSpPr>
        <p:grpSpPr>
          <a:xfrm>
            <a:off x="2304425" y="1996975"/>
            <a:ext cx="2202550" cy="1650125"/>
            <a:chOff x="2054575" y="2157650"/>
            <a:chExt cx="2202550" cy="1650125"/>
          </a:xfrm>
        </p:grpSpPr>
        <p:pic>
          <p:nvPicPr>
            <p:cNvPr id="1112" name="Google Shape;1112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59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4" name="Google Shape;1114;p59"/>
          <p:cNvGrpSpPr/>
          <p:nvPr/>
        </p:nvGrpSpPr>
        <p:grpSpPr>
          <a:xfrm>
            <a:off x="2440600" y="4498700"/>
            <a:ext cx="1930200" cy="949500"/>
            <a:chOff x="2181650" y="4315050"/>
            <a:chExt cx="1930200" cy="949500"/>
          </a:xfrm>
        </p:grpSpPr>
        <p:sp>
          <p:nvSpPr>
            <p:cNvPr id="1115" name="Google Shape;1115;p59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9"/>
            <p:cNvSpPr/>
            <p:nvPr/>
          </p:nvSpPr>
          <p:spPr>
            <a:xfrm>
              <a:off x="331534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17" name="Google Shape;1117;p59"/>
          <p:cNvCxnSpPr/>
          <p:nvPr/>
        </p:nvCxnSpPr>
        <p:spPr>
          <a:xfrm flipH="1">
            <a:off x="3642100" y="2245675"/>
            <a:ext cx="1727100" cy="520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8" name="Google Shape;1118;p59"/>
          <p:cNvCxnSpPr/>
          <p:nvPr/>
        </p:nvCxnSpPr>
        <p:spPr>
          <a:xfrm rot="10800000">
            <a:off x="3781875" y="5115875"/>
            <a:ext cx="1498500" cy="7620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9" name="Google Shape;1119;p59"/>
          <p:cNvCxnSpPr/>
          <p:nvPr/>
        </p:nvCxnSpPr>
        <p:spPr>
          <a:xfrm rot="10800000">
            <a:off x="4022975" y="2931575"/>
            <a:ext cx="1320900" cy="165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0" name="Google Shape;1120;p59"/>
          <p:cNvCxnSpPr/>
          <p:nvPr/>
        </p:nvCxnSpPr>
        <p:spPr>
          <a:xfrm rot="10800000">
            <a:off x="4213697" y="4976150"/>
            <a:ext cx="1079400" cy="4317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1" name="Google Shape;1121;p59"/>
          <p:cNvSpPr/>
          <p:nvPr/>
        </p:nvSpPr>
        <p:spPr>
          <a:xfrm>
            <a:off x="1134838" y="25088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2" name="Google Shape;1122;p59"/>
          <p:cNvSpPr/>
          <p:nvPr/>
        </p:nvSpPr>
        <p:spPr>
          <a:xfrm>
            <a:off x="916638" y="45966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3" name="Google Shape;1123;p59"/>
          <p:cNvSpPr/>
          <p:nvPr/>
        </p:nvSpPr>
        <p:spPr>
          <a:xfrm>
            <a:off x="2466425" y="47984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4" name="Google Shape;1124;p59"/>
          <p:cNvSpPr txBox="1"/>
          <p:nvPr/>
        </p:nvSpPr>
        <p:spPr>
          <a:xfrm>
            <a:off x="10588625" y="5224175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25" name="Google Shape;1125;p59"/>
          <p:cNvCxnSpPr>
            <a:stCxn id="1124" idx="1"/>
          </p:cNvCxnSpPr>
          <p:nvPr/>
        </p:nvCxnSpPr>
        <p:spPr>
          <a:xfrm flipH="1">
            <a:off x="10093325" y="54704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6" name="Google Shape;1126;p59"/>
          <p:cNvCxnSpPr/>
          <p:nvPr/>
        </p:nvCxnSpPr>
        <p:spPr>
          <a:xfrm flipH="1">
            <a:off x="10061750" y="22456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7" name="Google Shape;1127;p59"/>
          <p:cNvSpPr txBox="1"/>
          <p:nvPr/>
        </p:nvSpPr>
        <p:spPr>
          <a:xfrm>
            <a:off x="10598325" y="1996975"/>
            <a:ext cx="1320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Desalojo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(evict)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8" name="Google Shape;1128;p59"/>
          <p:cNvSpPr txBox="1"/>
          <p:nvPr/>
        </p:nvSpPr>
        <p:spPr>
          <a:xfrm>
            <a:off x="916650" y="5716775"/>
            <a:ext cx="3648300" cy="86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Proceso de </a:t>
            </a:r>
            <a:r>
              <a:rPr lang="es-ES" sz="2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swapping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  <a:r>
              <a:rPr lang="es-E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s-ES" sz="2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paging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” out</a:t>
            </a:r>
            <a:endParaRPr sz="2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9" name="Google Shape;1129;p59"/>
          <p:cNvSpPr/>
          <p:nvPr/>
        </p:nvSpPr>
        <p:spPr>
          <a:xfrm>
            <a:off x="3409897" y="2824625"/>
            <a:ext cx="171600" cy="1947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59"/>
          <p:cNvSpPr/>
          <p:nvPr/>
        </p:nvSpPr>
        <p:spPr>
          <a:xfrm>
            <a:off x="3942197" y="4876100"/>
            <a:ext cx="171600" cy="1947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61"/>
          <p:cNvSpPr txBox="1">
            <a:spLocks noGrp="1"/>
          </p:cNvSpPr>
          <p:nvPr>
            <p:ph type="title"/>
          </p:nvPr>
        </p:nvSpPr>
        <p:spPr>
          <a:xfrm>
            <a:off x="403697" y="235738"/>
            <a:ext cx="880425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5" name="Google Shape;1145;p61"/>
          <p:cNvSpPr txBox="1">
            <a:spLocks noGrp="1"/>
          </p:cNvSpPr>
          <p:nvPr>
            <p:ph type="body" idx="1"/>
          </p:nvPr>
        </p:nvSpPr>
        <p:spPr>
          <a:xfrm>
            <a:off x="403696" y="1063131"/>
            <a:ext cx="11384607" cy="64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Rol de los bits V (Valid) y P (Present)</a:t>
            </a: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46" name="Google Shape;1146;p61"/>
          <p:cNvGraphicFramePr/>
          <p:nvPr>
            <p:extLst>
              <p:ext uri="{D42A27DB-BD31-4B8C-83A1-F6EECF244321}">
                <p14:modId xmlns:p14="http://schemas.microsoft.com/office/powerpoint/2010/main" val="22355757"/>
              </p:ext>
            </p:extLst>
          </p:nvPr>
        </p:nvGraphicFramePr>
        <p:xfrm>
          <a:off x="556309" y="3431618"/>
          <a:ext cx="5070700" cy="137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1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ASID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47" name="Google Shape;1147;p61"/>
          <p:cNvGraphicFramePr/>
          <p:nvPr>
            <p:extLst>
              <p:ext uri="{D42A27DB-BD31-4B8C-83A1-F6EECF244321}">
                <p14:modId xmlns:p14="http://schemas.microsoft.com/office/powerpoint/2010/main" val="505169884"/>
              </p:ext>
            </p:extLst>
          </p:nvPr>
        </p:nvGraphicFramePr>
        <p:xfrm>
          <a:off x="6428166" y="4800714"/>
          <a:ext cx="51434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7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48" name="Google Shape;1148;p61"/>
          <p:cNvSpPr/>
          <p:nvPr/>
        </p:nvSpPr>
        <p:spPr>
          <a:xfrm>
            <a:off x="403696" y="1957025"/>
            <a:ext cx="5505300" cy="12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TLB Entry</a:t>
            </a:r>
            <a:r>
              <a:rPr lang="es-E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Valid (V)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: Dice si la entrada es una traducción válida o no.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9" name="Google Shape;1149;p61"/>
          <p:cNvSpPr/>
          <p:nvPr/>
        </p:nvSpPr>
        <p:spPr>
          <a:xfrm>
            <a:off x="6364091" y="1954621"/>
            <a:ext cx="5271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 Entry</a:t>
            </a:r>
            <a:r>
              <a:rPr lang="es-E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Valid (V)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El proceso asignó la pagina.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La página no ha sido asignada por el proceso.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Present (P):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La página se encuentra en memoria física.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La página se encuentra en el disco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62"/>
          <p:cNvSpPr txBox="1">
            <a:spLocks noGrp="1"/>
          </p:cNvSpPr>
          <p:nvPr>
            <p:ph type="title"/>
          </p:nvPr>
        </p:nvSpPr>
        <p:spPr>
          <a:xfrm>
            <a:off x="188686" y="96038"/>
            <a:ext cx="90319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1155" name="Google Shape;1155;p62"/>
          <p:cNvGrpSpPr/>
          <p:nvPr/>
        </p:nvGrpSpPr>
        <p:grpSpPr>
          <a:xfrm>
            <a:off x="702125" y="1242375"/>
            <a:ext cx="10741850" cy="5492047"/>
            <a:chOff x="702125" y="1242375"/>
            <a:chExt cx="10741850" cy="5492047"/>
          </a:xfrm>
        </p:grpSpPr>
        <p:sp>
          <p:nvSpPr>
            <p:cNvPr id="1156" name="Google Shape;1156;p62"/>
            <p:cNvSpPr/>
            <p:nvPr/>
          </p:nvSpPr>
          <p:spPr>
            <a:xfrm>
              <a:off x="4658075" y="1242375"/>
              <a:ext cx="2197200" cy="330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Extraer el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del </a:t>
              </a:r>
              <a:r>
                <a:rPr lang="es-ES" sz="12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7" name="Google Shape;1157;p62"/>
            <p:cNvSpPr/>
            <p:nvPr/>
          </p:nvSpPr>
          <p:spPr>
            <a:xfrm>
              <a:off x="4658075" y="1881713"/>
              <a:ext cx="2197200" cy="855025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Verificar el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en la 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TLB</a:t>
              </a:r>
              <a:endParaRPr sz="12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8" name="Google Shape;1158;p62"/>
            <p:cNvSpPr/>
            <p:nvPr/>
          </p:nvSpPr>
          <p:spPr>
            <a:xfrm>
              <a:off x="7023450" y="2736750"/>
              <a:ext cx="2197200" cy="4572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Formar la </a:t>
              </a: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a partir del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y el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9" name="Google Shape;1159;p62"/>
            <p:cNvSpPr/>
            <p:nvPr/>
          </p:nvSpPr>
          <p:spPr>
            <a:xfrm>
              <a:off x="7023450" y="3502938"/>
              <a:ext cx="2197200" cy="45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Obtener la </a:t>
              </a: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de memoria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0" name="Google Shape;1160;p62"/>
            <p:cNvSpPr/>
            <p:nvPr/>
          </p:nvSpPr>
          <p:spPr>
            <a:xfrm>
              <a:off x="2514950" y="2736750"/>
              <a:ext cx="2197200" cy="4572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Obtener la </a:t>
              </a:r>
              <a:r>
                <a:rPr lang="es-ES" sz="1200" b="1">
                  <a:solidFill>
                    <a:srgbClr val="351C75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de la 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PT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1" name="Google Shape;1161;p62"/>
            <p:cNvSpPr/>
            <p:nvPr/>
          </p:nvSpPr>
          <p:spPr>
            <a:xfrm>
              <a:off x="2553050" y="3502938"/>
              <a:ext cx="2197200" cy="855025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200" b="1">
                  <a:solidFill>
                    <a:srgbClr val="351C75"/>
                  </a:solidFill>
                  <a:latin typeface="Consolas"/>
                  <a:ea typeface="Consolas"/>
                  <a:cs typeface="Consolas"/>
                  <a:sym typeface="Consolas"/>
                </a:rPr>
                <a:t>PTE.V 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== 1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2" name="Google Shape;1162;p62"/>
            <p:cNvSpPr/>
            <p:nvPr/>
          </p:nvSpPr>
          <p:spPr>
            <a:xfrm>
              <a:off x="4658075" y="4358025"/>
              <a:ext cx="2197200" cy="855025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351C75"/>
                  </a:solidFill>
                  <a:latin typeface="Consolas"/>
                  <a:ea typeface="Consolas"/>
                  <a:cs typeface="Consolas"/>
                  <a:sym typeface="Consolas"/>
                </a:rPr>
                <a:t>PTE.P 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== 1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3" name="Google Shape;1163;p62"/>
            <p:cNvSpPr/>
            <p:nvPr/>
          </p:nvSpPr>
          <p:spPr>
            <a:xfrm>
              <a:off x="7023450" y="5213050"/>
              <a:ext cx="2197200" cy="4572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Extraer </a:t>
              </a:r>
              <a:r>
                <a:rPr lang="es-ES" sz="1200" b="1">
                  <a:solidFill>
                    <a:srgbClr val="FF00FF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de la </a:t>
              </a:r>
              <a:r>
                <a:rPr lang="es-ES" sz="1200" b="1">
                  <a:solidFill>
                    <a:srgbClr val="351C75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4" name="Google Shape;1164;p62"/>
            <p:cNvSpPr/>
            <p:nvPr/>
          </p:nvSpPr>
          <p:spPr>
            <a:xfrm>
              <a:off x="7023450" y="6013350"/>
              <a:ext cx="2197200" cy="4572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Insertar </a:t>
              </a:r>
              <a:r>
                <a:rPr lang="es-ES" sz="1200" b="1">
                  <a:solidFill>
                    <a:srgbClr val="FF00FF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en la 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TLB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65" name="Google Shape;1165;p62"/>
            <p:cNvCxnSpPr>
              <a:stCxn id="1156" idx="2"/>
              <a:endCxn id="1157" idx="0"/>
            </p:cNvCxnSpPr>
            <p:nvPr/>
          </p:nvCxnSpPr>
          <p:spPr>
            <a:xfrm>
              <a:off x="5756675" y="1572675"/>
              <a:ext cx="0" cy="30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6" name="Google Shape;1166;p62"/>
            <p:cNvCxnSpPr/>
            <p:nvPr/>
          </p:nvCxnSpPr>
          <p:spPr>
            <a:xfrm>
              <a:off x="8122050" y="3193938"/>
              <a:ext cx="0" cy="30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7" name="Google Shape;1167;p62"/>
            <p:cNvCxnSpPr/>
            <p:nvPr/>
          </p:nvCxnSpPr>
          <p:spPr>
            <a:xfrm>
              <a:off x="3651650" y="3193938"/>
              <a:ext cx="0" cy="30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68" name="Google Shape;1168;p62"/>
            <p:cNvSpPr/>
            <p:nvPr/>
          </p:nvSpPr>
          <p:spPr>
            <a:xfrm>
              <a:off x="2588150" y="5280850"/>
              <a:ext cx="3168612" cy="1453572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Exception [Page fault o Page Miss]</a:t>
              </a:r>
              <a:endParaRPr sz="1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9" name="Google Shape;1169;p62"/>
            <p:cNvSpPr/>
            <p:nvPr/>
          </p:nvSpPr>
          <p:spPr>
            <a:xfrm>
              <a:off x="702125" y="4343238"/>
              <a:ext cx="2949534" cy="1074384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Exception [</a:t>
              </a:r>
              <a:r>
                <a:rPr lang="es-ES" sz="1200" b="1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Seg</a:t>
              </a:r>
              <a:r>
                <a:rPr lang="es-ES" sz="12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 fault]</a:t>
              </a:r>
              <a:endParaRPr sz="1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70" name="Google Shape;1170;p62"/>
            <p:cNvCxnSpPr>
              <a:stCxn id="1161" idx="3"/>
              <a:endCxn id="1162" idx="0"/>
            </p:cNvCxnSpPr>
            <p:nvPr/>
          </p:nvCxnSpPr>
          <p:spPr>
            <a:xfrm>
              <a:off x="4750250" y="3930450"/>
              <a:ext cx="1006500" cy="4275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1" name="Google Shape;1171;p62"/>
            <p:cNvCxnSpPr>
              <a:stCxn id="1161" idx="1"/>
            </p:cNvCxnSpPr>
            <p:nvPr/>
          </p:nvCxnSpPr>
          <p:spPr>
            <a:xfrm flipH="1">
              <a:off x="1572050" y="3930450"/>
              <a:ext cx="981000" cy="412800"/>
            </a:xfrm>
            <a:prstGeom prst="bentConnector3">
              <a:avLst>
                <a:gd name="adj1" fmla="val 100008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2" name="Google Shape;1172;p62"/>
            <p:cNvCxnSpPr>
              <a:stCxn id="1162" idx="1"/>
            </p:cNvCxnSpPr>
            <p:nvPr/>
          </p:nvCxnSpPr>
          <p:spPr>
            <a:xfrm flipH="1">
              <a:off x="4162775" y="4785538"/>
              <a:ext cx="495300" cy="495300"/>
            </a:xfrm>
            <a:prstGeom prst="bentConnector3">
              <a:avLst>
                <a:gd name="adj1" fmla="val 10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3" name="Google Shape;1173;p62"/>
            <p:cNvSpPr/>
            <p:nvPr/>
          </p:nvSpPr>
          <p:spPr>
            <a:xfrm>
              <a:off x="10462975" y="3829875"/>
              <a:ext cx="98100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Retry</a:t>
              </a:r>
              <a:endParaRPr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74" name="Google Shape;1174;p62"/>
            <p:cNvCxnSpPr>
              <a:stCxn id="1157" idx="3"/>
              <a:endCxn id="1158" idx="0"/>
            </p:cNvCxnSpPr>
            <p:nvPr/>
          </p:nvCxnSpPr>
          <p:spPr>
            <a:xfrm>
              <a:off x="6855275" y="2309225"/>
              <a:ext cx="1266900" cy="4275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5" name="Google Shape;1175;p62"/>
            <p:cNvCxnSpPr>
              <a:stCxn id="1157" idx="1"/>
              <a:endCxn id="1160" idx="0"/>
            </p:cNvCxnSpPr>
            <p:nvPr/>
          </p:nvCxnSpPr>
          <p:spPr>
            <a:xfrm flipH="1">
              <a:off x="3613475" y="2309225"/>
              <a:ext cx="1044600" cy="4275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6" name="Google Shape;1176;p62"/>
            <p:cNvCxnSpPr>
              <a:stCxn id="1162" idx="3"/>
              <a:endCxn id="1163" idx="0"/>
            </p:cNvCxnSpPr>
            <p:nvPr/>
          </p:nvCxnSpPr>
          <p:spPr>
            <a:xfrm>
              <a:off x="6855275" y="4785538"/>
              <a:ext cx="1266900" cy="4275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7" name="Google Shape;1177;p62"/>
            <p:cNvCxnSpPr/>
            <p:nvPr/>
          </p:nvCxnSpPr>
          <p:spPr>
            <a:xfrm>
              <a:off x="8122050" y="5704338"/>
              <a:ext cx="0" cy="30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178" name="Google Shape;1178;p62"/>
            <p:cNvGrpSpPr/>
            <p:nvPr/>
          </p:nvGrpSpPr>
          <p:grpSpPr>
            <a:xfrm>
              <a:off x="5756675" y="1242375"/>
              <a:ext cx="4664575" cy="5403075"/>
              <a:chOff x="5756675" y="1242375"/>
              <a:chExt cx="4664575" cy="5403075"/>
            </a:xfrm>
          </p:grpSpPr>
          <p:cxnSp>
            <p:nvCxnSpPr>
              <p:cNvPr id="1179" name="Google Shape;1179;p62"/>
              <p:cNvCxnSpPr>
                <a:endCxn id="1156" idx="0"/>
              </p:cNvCxnSpPr>
              <p:nvPr/>
            </p:nvCxnSpPr>
            <p:spPr>
              <a:xfrm rot="5400000" flipH="1">
                <a:off x="5385125" y="1613925"/>
                <a:ext cx="5397600" cy="4654500"/>
              </a:xfrm>
              <a:prstGeom prst="bentConnector3">
                <a:avLst>
                  <a:gd name="adj1" fmla="val 104412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80" name="Google Shape;1180;p62"/>
              <p:cNvCxnSpPr>
                <a:stCxn id="1164" idx="2"/>
              </p:cNvCxnSpPr>
              <p:nvPr/>
            </p:nvCxnSpPr>
            <p:spPr>
              <a:xfrm rot="-5400000" flipH="1">
                <a:off x="9184200" y="5408400"/>
                <a:ext cx="174900" cy="2299200"/>
              </a:xfrm>
              <a:prstGeom prst="bentConnector2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81" name="Google Shape;1181;p62"/>
            <p:cNvSpPr/>
            <p:nvPr/>
          </p:nvSpPr>
          <p:spPr>
            <a:xfrm>
              <a:off x="7080725" y="1919750"/>
              <a:ext cx="1162850" cy="292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TLB hit</a:t>
              </a:r>
              <a:endParaRPr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2" name="Google Shape;1182;p62"/>
            <p:cNvSpPr/>
            <p:nvPr/>
          </p:nvSpPr>
          <p:spPr>
            <a:xfrm>
              <a:off x="3391175" y="1919750"/>
              <a:ext cx="1312950" cy="292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TLB Miss</a:t>
              </a:r>
              <a:endParaRPr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3" name="Google Shape;1183;p62"/>
            <p:cNvSpPr/>
            <p:nvPr/>
          </p:nvSpPr>
          <p:spPr>
            <a:xfrm>
              <a:off x="1692450" y="3376050"/>
              <a:ext cx="11367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Invalid PTE</a:t>
              </a:r>
              <a:endParaRPr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4" name="Google Shape;1184;p62"/>
            <p:cNvSpPr/>
            <p:nvPr/>
          </p:nvSpPr>
          <p:spPr>
            <a:xfrm>
              <a:off x="4769200" y="3435075"/>
              <a:ext cx="816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Valid PTE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5" name="Google Shape;1185;p62"/>
            <p:cNvSpPr/>
            <p:nvPr/>
          </p:nvSpPr>
          <p:spPr>
            <a:xfrm>
              <a:off x="7080725" y="4192950"/>
              <a:ext cx="1162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Present PTE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6" name="Google Shape;1186;p62"/>
            <p:cNvSpPr/>
            <p:nvPr/>
          </p:nvSpPr>
          <p:spPr>
            <a:xfrm>
              <a:off x="3888113" y="4290250"/>
              <a:ext cx="10446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Fault</a:t>
              </a:r>
              <a:endParaRPr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1192" name="Google Shape;1192;p63"/>
          <p:cNvGrpSpPr/>
          <p:nvPr/>
        </p:nvGrpSpPr>
        <p:grpSpPr>
          <a:xfrm>
            <a:off x="980524" y="834600"/>
            <a:ext cx="9519788" cy="5602800"/>
            <a:chOff x="1255750" y="1531700"/>
            <a:chExt cx="9424600" cy="5602800"/>
          </a:xfrm>
        </p:grpSpPr>
        <p:sp>
          <p:nvSpPr>
            <p:cNvPr id="1193" name="Google Shape;1193;p63"/>
            <p:cNvSpPr txBox="1"/>
            <p:nvPr/>
          </p:nvSpPr>
          <p:spPr>
            <a:xfrm>
              <a:off x="1982750" y="1531700"/>
              <a:ext cx="8697600" cy="5602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 =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&amp; VPN_MASK) &gt;&gt; SHIFT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TlbEntry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TLB_Lookup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(VPN)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True)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TLB Hit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TlbEntry.ProtectBits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== True)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Offset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&amp; OFFSET_MASK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TlbEntry.PFN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&lt;&lt; SHIFT) | Offset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Register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AccessMemory(</a:t>
              </a:r>
              <a:r>
                <a:rPr lang="es-ES" sz="16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PROTECTION_FAULT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TLB Miss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PTEAddr = PTBR + (VPN *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(PTE))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PTE = 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AccessMemory(PTEAddr)</a:t>
              </a:r>
              <a:endParaRPr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PTE.Valid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False)     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SEGMENTATION_FAULT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endParaRPr sz="1600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== False)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PROTECTION_FAULT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PTE.Present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True)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assuming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hardware-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managed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TLB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TLB_Insert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(VPN, PTE.PFN,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RetryInstruction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PTE.Present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False)     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PAGE_FAULT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94" name="Google Shape;1194;p63"/>
            <p:cNvSpPr txBox="1"/>
            <p:nvPr/>
          </p:nvSpPr>
          <p:spPr>
            <a:xfrm>
              <a:off x="1255750" y="1531700"/>
              <a:ext cx="641700" cy="56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195" name="Google Shape;1195;p63"/>
          <p:cNvSpPr txBox="1"/>
          <p:nvPr/>
        </p:nvSpPr>
        <p:spPr>
          <a:xfrm>
            <a:off x="4412050" y="6437400"/>
            <a:ext cx="435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Roboto"/>
                <a:ea typeface="Roboto"/>
                <a:cs typeface="Roboto"/>
                <a:sym typeface="Roboto"/>
              </a:rPr>
              <a:t>Page-Fault Control Flow Algorithm (Hardware) </a:t>
            </a:r>
            <a:endParaRPr sz="12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64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89303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01" name="Google Shape;1201;p64"/>
          <p:cNvSpPr txBox="1">
            <a:spLocks noGrp="1"/>
          </p:cNvSpPr>
          <p:nvPr>
            <p:ph type="body" idx="1"/>
          </p:nvPr>
        </p:nvSpPr>
        <p:spPr>
          <a:xfrm>
            <a:off x="439301" y="810375"/>
            <a:ext cx="5691974" cy="189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Fallo de página</a:t>
            </a: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Cuando ocurre un fallo de página:</a:t>
            </a:r>
            <a:endParaRPr sz="2200" dirty="0">
              <a:latin typeface="+mn-lt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ES" sz="2000" dirty="0">
                <a:latin typeface="+mn-lt"/>
              </a:rPr>
              <a:t>El SO accede a la PTE.</a:t>
            </a:r>
            <a:endParaRPr sz="2000" dirty="0">
              <a:latin typeface="+mn-l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dirty="0">
                <a:latin typeface="+mn-lt"/>
              </a:rPr>
              <a:t>Obtiene la dirección de la página (en el disco).</a:t>
            </a:r>
            <a:endParaRPr sz="2000" dirty="0">
              <a:latin typeface="+mn-l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dirty="0">
                <a:latin typeface="+mn-lt"/>
              </a:rPr>
              <a:t>Lanza el requerimiento al disco</a:t>
            </a: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1202" name="Google Shape;120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275" y="1593575"/>
            <a:ext cx="5621424" cy="4688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3" name="Google Shape;1203;p64"/>
          <p:cNvGrpSpPr/>
          <p:nvPr/>
        </p:nvGrpSpPr>
        <p:grpSpPr>
          <a:xfrm>
            <a:off x="701225" y="2867475"/>
            <a:ext cx="5239550" cy="3832925"/>
            <a:chOff x="701225" y="2867475"/>
            <a:chExt cx="5239550" cy="3832925"/>
          </a:xfrm>
        </p:grpSpPr>
        <p:pic>
          <p:nvPicPr>
            <p:cNvPr id="1204" name="Google Shape;1204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1225" y="3883132"/>
              <a:ext cx="1426175" cy="142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5" name="Google Shape;1205;p64"/>
            <p:cNvSpPr/>
            <p:nvPr/>
          </p:nvSpPr>
          <p:spPr>
            <a:xfrm>
              <a:off x="2441975" y="2867475"/>
              <a:ext cx="2527200" cy="330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= ObtenerPaginaLibre(</a:t>
              </a:r>
              <a:r>
                <a:rPr lang="es-ES" sz="12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6" name="Google Shape;1206;p64"/>
            <p:cNvSpPr/>
            <p:nvPr/>
          </p:nvSpPr>
          <p:spPr>
            <a:xfrm>
              <a:off x="2714975" y="3423175"/>
              <a:ext cx="1981200" cy="605250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== -1</a:t>
              </a:r>
              <a:endParaRPr sz="12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7" name="Google Shape;1207;p64"/>
            <p:cNvSpPr/>
            <p:nvPr/>
          </p:nvSpPr>
          <p:spPr>
            <a:xfrm>
              <a:off x="4029475" y="4112788"/>
              <a:ext cx="1911300" cy="330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= SacarPagina(</a:t>
              </a:r>
              <a:r>
                <a:rPr lang="es-ES" sz="12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8" name="Google Shape;1208;p64"/>
            <p:cNvSpPr/>
            <p:nvPr/>
          </p:nvSpPr>
          <p:spPr>
            <a:xfrm>
              <a:off x="2342825" y="4749413"/>
              <a:ext cx="2725500" cy="330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LeerDisco(</a:t>
              </a:r>
              <a:r>
                <a:rPr lang="es-ES" sz="1200" b="1">
                  <a:solidFill>
                    <a:srgbClr val="741B47"/>
                  </a:solidFill>
                  <a:latin typeface="Consolas"/>
                  <a:ea typeface="Consolas"/>
                  <a:cs typeface="Consolas"/>
                  <a:sym typeface="Consolas"/>
                </a:rPr>
                <a:t>PTE.DiskAddr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9" name="Google Shape;1209;p64"/>
            <p:cNvSpPr/>
            <p:nvPr/>
          </p:nvSpPr>
          <p:spPr>
            <a:xfrm>
              <a:off x="2749925" y="5305648"/>
              <a:ext cx="1911300" cy="306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741B47"/>
                  </a:solidFill>
                  <a:latin typeface="Consolas"/>
                  <a:ea typeface="Consolas"/>
                  <a:cs typeface="Consolas"/>
                  <a:sym typeface="Consolas"/>
                </a:rPr>
                <a:t>PTE.P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= 1</a:t>
              </a:r>
              <a:endParaRPr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10" name="Google Shape;1210;p64"/>
            <p:cNvSpPr/>
            <p:nvPr/>
          </p:nvSpPr>
          <p:spPr>
            <a:xfrm>
              <a:off x="2749925" y="6370100"/>
              <a:ext cx="1911300" cy="330300"/>
            </a:xfrm>
            <a:prstGeom prst="rect">
              <a:avLst/>
            </a:prstGeom>
            <a:solidFill>
              <a:srgbClr val="CFE2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Retry Instruction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11" name="Google Shape;1211;p64"/>
            <p:cNvCxnSpPr>
              <a:stCxn id="1206" idx="3"/>
              <a:endCxn id="1207" idx="0"/>
            </p:cNvCxnSpPr>
            <p:nvPr/>
          </p:nvCxnSpPr>
          <p:spPr>
            <a:xfrm>
              <a:off x="4696175" y="3725800"/>
              <a:ext cx="288900" cy="3870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2" name="Google Shape;1212;p64"/>
            <p:cNvCxnSpPr>
              <a:stCxn id="1205" idx="2"/>
              <a:endCxn id="1206" idx="0"/>
            </p:cNvCxnSpPr>
            <p:nvPr/>
          </p:nvCxnSpPr>
          <p:spPr>
            <a:xfrm>
              <a:off x="3705575" y="3197775"/>
              <a:ext cx="0" cy="225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3" name="Google Shape;1213;p64"/>
            <p:cNvCxnSpPr>
              <a:stCxn id="1207" idx="2"/>
              <a:endCxn id="1208" idx="0"/>
            </p:cNvCxnSpPr>
            <p:nvPr/>
          </p:nvCxnSpPr>
          <p:spPr>
            <a:xfrm rot="5400000">
              <a:off x="4192225" y="3956488"/>
              <a:ext cx="306300" cy="1279500"/>
            </a:xfrm>
            <a:prstGeom prst="bentConnector3">
              <a:avLst>
                <a:gd name="adj1" fmla="val 28922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14" name="Google Shape;1214;p64"/>
            <p:cNvSpPr/>
            <p:nvPr/>
          </p:nvSpPr>
          <p:spPr>
            <a:xfrm>
              <a:off x="2749925" y="5837875"/>
              <a:ext cx="1911300" cy="306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741B47"/>
                  </a:solidFill>
                  <a:latin typeface="Consolas"/>
                  <a:ea typeface="Consolas"/>
                  <a:cs typeface="Consolas"/>
                  <a:sym typeface="Consolas"/>
                </a:rPr>
                <a:t>PTE.PFN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PFN</a:t>
              </a:r>
              <a:endParaRPr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15" name="Google Shape;1215;p64"/>
            <p:cNvCxnSpPr>
              <a:stCxn id="1208" idx="2"/>
              <a:endCxn id="1209" idx="0"/>
            </p:cNvCxnSpPr>
            <p:nvPr/>
          </p:nvCxnSpPr>
          <p:spPr>
            <a:xfrm>
              <a:off x="3705575" y="5079713"/>
              <a:ext cx="0" cy="225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6" name="Google Shape;1216;p64"/>
            <p:cNvCxnSpPr>
              <a:stCxn id="1209" idx="2"/>
              <a:endCxn id="1214" idx="0"/>
            </p:cNvCxnSpPr>
            <p:nvPr/>
          </p:nvCxnSpPr>
          <p:spPr>
            <a:xfrm>
              <a:off x="3705575" y="5611948"/>
              <a:ext cx="0" cy="225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7" name="Google Shape;1217;p64"/>
            <p:cNvCxnSpPr>
              <a:stCxn id="1214" idx="2"/>
              <a:endCxn id="1210" idx="0"/>
            </p:cNvCxnSpPr>
            <p:nvPr/>
          </p:nvCxnSpPr>
          <p:spPr>
            <a:xfrm>
              <a:off x="3705575" y="6144175"/>
              <a:ext cx="0" cy="225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18" name="Google Shape;1218;p64"/>
            <p:cNvSpPr/>
            <p:nvPr/>
          </p:nvSpPr>
          <p:spPr>
            <a:xfrm>
              <a:off x="701225" y="5289150"/>
              <a:ext cx="13803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Page fault </a:t>
              </a:r>
              <a:r>
                <a:rPr lang="es-ES" sz="1800" b="1" dirty="0" err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Handler</a:t>
              </a:r>
              <a:endParaRPr sz="18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1219" name="Google Shape;1219;p64"/>
          <p:cNvCxnSpPr>
            <a:stCxn id="1206" idx="1"/>
          </p:cNvCxnSpPr>
          <p:nvPr/>
        </p:nvCxnSpPr>
        <p:spPr>
          <a:xfrm>
            <a:off x="2714975" y="3725800"/>
            <a:ext cx="990600" cy="805800"/>
          </a:xfrm>
          <a:prstGeom prst="bentConnector3">
            <a:avLst>
              <a:gd name="adj1" fmla="val -4615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65"/>
          <p:cNvSpPr txBox="1">
            <a:spLocks noGrp="1"/>
          </p:cNvSpPr>
          <p:nvPr>
            <p:ph type="title"/>
          </p:nvPr>
        </p:nvSpPr>
        <p:spPr>
          <a:xfrm>
            <a:off x="551543" y="96038"/>
            <a:ext cx="86691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1225" name="Google Shape;1225;p65"/>
          <p:cNvGrpSpPr/>
          <p:nvPr/>
        </p:nvGrpSpPr>
        <p:grpSpPr>
          <a:xfrm>
            <a:off x="3359899" y="3703750"/>
            <a:ext cx="8355554" cy="2277900"/>
            <a:chOff x="980524" y="987000"/>
            <a:chExt cx="8355554" cy="2277900"/>
          </a:xfrm>
        </p:grpSpPr>
        <p:grpSp>
          <p:nvGrpSpPr>
            <p:cNvPr id="1226" name="Google Shape;1226;p65"/>
            <p:cNvGrpSpPr/>
            <p:nvPr/>
          </p:nvGrpSpPr>
          <p:grpSpPr>
            <a:xfrm>
              <a:off x="980524" y="987000"/>
              <a:ext cx="8355554" cy="1908600"/>
              <a:chOff x="1255750" y="1531700"/>
              <a:chExt cx="8272007" cy="1908600"/>
            </a:xfrm>
          </p:grpSpPr>
          <p:sp>
            <p:nvSpPr>
              <p:cNvPr id="1227" name="Google Shape;1227;p65"/>
              <p:cNvSpPr txBox="1"/>
              <p:nvPr/>
            </p:nvSpPr>
            <p:spPr>
              <a:xfrm>
                <a:off x="1982757" y="1531700"/>
                <a:ext cx="7545000" cy="19086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PFN = </a:t>
                </a:r>
                <a:r>
                  <a:rPr lang="es-ES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FindFreePhysicalPage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()</a:t>
                </a:r>
                <a:endParaRPr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 err="1">
                    <a:solidFill>
                      <a:srgbClr val="E46C0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if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(PFN == -1)             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no free page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found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PFN = </a:t>
                </a:r>
                <a:r>
                  <a:rPr lang="es-ES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EvictPage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()        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run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replacement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algorithm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b="1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DiskRead</a:t>
                </a: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</a:t>
                </a:r>
                <a:r>
                  <a:rPr lang="es-ES" sz="1600" b="1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PTE.DiskAddr</a:t>
                </a: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 PFN)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sleep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waiting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for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I/O)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PTE.present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=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True            //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update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page table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with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present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PTE.PFN = PFN              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bit and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translation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(PFN)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RetryInstruction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()         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retry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instruction</a:t>
                </a:r>
                <a:endParaRPr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228" name="Google Shape;1228;p65"/>
              <p:cNvSpPr txBox="1"/>
              <p:nvPr/>
            </p:nvSpPr>
            <p:spPr>
              <a:xfrm>
                <a:off x="1255750" y="1531700"/>
                <a:ext cx="641700" cy="190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4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5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6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7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229" name="Google Shape;1229;p65"/>
            <p:cNvSpPr txBox="1"/>
            <p:nvPr/>
          </p:nvSpPr>
          <p:spPr>
            <a:xfrm>
              <a:off x="3969750" y="2895600"/>
              <a:ext cx="431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Roboto"/>
                  <a:ea typeface="Roboto"/>
                  <a:cs typeface="Roboto"/>
                  <a:sym typeface="Roboto"/>
                </a:rPr>
                <a:t>Page-Fault Control Flow Algorithm (Software)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0" name="Google Shape;1230;p65"/>
          <p:cNvGrpSpPr/>
          <p:nvPr/>
        </p:nvGrpSpPr>
        <p:grpSpPr>
          <a:xfrm>
            <a:off x="1095925" y="3762307"/>
            <a:ext cx="2264100" cy="1904018"/>
            <a:chOff x="251450" y="3883132"/>
            <a:chExt cx="2264100" cy="1904018"/>
          </a:xfrm>
        </p:grpSpPr>
        <p:pic>
          <p:nvPicPr>
            <p:cNvPr id="1231" name="Google Shape;1231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1225" y="3883132"/>
              <a:ext cx="1426175" cy="142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65"/>
            <p:cNvSpPr/>
            <p:nvPr/>
          </p:nvSpPr>
          <p:spPr>
            <a:xfrm>
              <a:off x="251450" y="5289150"/>
              <a:ext cx="22641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Page fault </a:t>
              </a:r>
              <a:r>
                <a:rPr lang="es-ES" sz="1800" b="1" dirty="0" err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Handler</a:t>
              </a:r>
              <a:endParaRPr sz="18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233" name="Google Shape;1233;p65"/>
          <p:cNvSpPr txBox="1">
            <a:spLocks noGrp="1"/>
          </p:cNvSpPr>
          <p:nvPr>
            <p:ph type="body" idx="1"/>
          </p:nvPr>
        </p:nvSpPr>
        <p:spPr>
          <a:xfrm>
            <a:off x="551543" y="1045550"/>
            <a:ext cx="11279582" cy="227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Cuando hay un fallo de página</a:t>
            </a:r>
            <a:endParaRPr sz="2400" dirty="0">
              <a:latin typeface="+mn-lt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sistema operativo debe encontrar el frame (dentro de la memoria física) que será asociado a la página que generó el fallo.</a:t>
            </a:r>
            <a:endParaRPr sz="2200" dirty="0">
              <a:latin typeface="+mn-lt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Si no se encuentra la página en memoria física (frame), es necesario esperar a que se ejecute el algoritmo de reemplazo con el fin de liberar espacio en memoria física sacando algunas páginas de esta.</a:t>
            </a: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7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88432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45" name="Google Shape;1245;p67"/>
          <p:cNvSpPr txBox="1">
            <a:spLocks noGrp="1"/>
          </p:cNvSpPr>
          <p:nvPr>
            <p:ph type="body" idx="1"/>
          </p:nvPr>
        </p:nvSpPr>
        <p:spPr>
          <a:xfrm>
            <a:off x="377371" y="880150"/>
            <a:ext cx="11151329" cy="133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¿Cual página sacar?</a:t>
            </a:r>
            <a:r>
              <a:rPr lang="es-ES" sz="2400" dirty="0">
                <a:latin typeface="+mn-lt"/>
              </a:rPr>
              <a:t> →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Política de reemplazo (page-</a:t>
            </a:r>
            <a:r>
              <a:rPr lang="es-ES" sz="2400" b="1" dirty="0" err="1">
                <a:solidFill>
                  <a:srgbClr val="70AD47"/>
                </a:solidFill>
                <a:latin typeface="+mn-lt"/>
              </a:rPr>
              <a:t>replacement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 </a:t>
            </a:r>
            <a:r>
              <a:rPr lang="es-ES" sz="2400" b="1" dirty="0" err="1">
                <a:solidFill>
                  <a:srgbClr val="70AD47"/>
                </a:solidFill>
                <a:latin typeface="+mn-lt"/>
              </a:rPr>
              <a:t>policy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)</a:t>
            </a:r>
            <a:endParaRPr sz="2400" b="1" dirty="0">
              <a:solidFill>
                <a:srgbClr val="70AD47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La política de reemplazo es el proceso de selección de una pagina para ser retirada de memoria física.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246" name="Google Shape;1246;p67"/>
          <p:cNvGrpSpPr/>
          <p:nvPr/>
        </p:nvGrpSpPr>
        <p:grpSpPr>
          <a:xfrm>
            <a:off x="377371" y="2440306"/>
            <a:ext cx="10518807" cy="1908600"/>
            <a:chOff x="1255750" y="1531700"/>
            <a:chExt cx="8272007" cy="1908600"/>
          </a:xfrm>
        </p:grpSpPr>
        <p:sp>
          <p:nvSpPr>
            <p:cNvPr id="1247" name="Google Shape;1247;p67"/>
            <p:cNvSpPr txBox="1"/>
            <p:nvPr/>
          </p:nvSpPr>
          <p:spPr>
            <a:xfrm>
              <a:off x="1982757" y="1531700"/>
              <a:ext cx="7545000" cy="1908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FindFreePhysicalPage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(PFN == -1)               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no free page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found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PFN =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EvictPage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()             </a:t>
              </a:r>
              <a:r>
                <a:rPr lang="es-ES" sz="1600" dirty="0">
                  <a:solidFill>
                    <a:srgbClr val="00B0F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// run </a:t>
              </a:r>
              <a:r>
                <a:rPr lang="es-ES" sz="1600" dirty="0" err="1">
                  <a:solidFill>
                    <a:srgbClr val="00B0F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replacement</a:t>
              </a:r>
              <a:r>
                <a:rPr lang="es-ES" sz="1600" dirty="0">
                  <a:solidFill>
                    <a:srgbClr val="00B0F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00B0F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algorithm</a:t>
              </a:r>
              <a:endParaRPr sz="160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DiskRead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PTE.DiskAddr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PFN)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sleep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waiting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I/O)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PTE.present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True            //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update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page table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with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present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PTE.PFN = PFN              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bit and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translation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(PFN)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RetryInstruction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        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retry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instruction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48" name="Google Shape;1248;p67"/>
            <p:cNvSpPr txBox="1"/>
            <p:nvPr/>
          </p:nvSpPr>
          <p:spPr>
            <a:xfrm>
              <a:off x="1255750" y="1531700"/>
              <a:ext cx="6417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249" name="Google Shape;124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5173" y="5110863"/>
            <a:ext cx="1380400" cy="12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67"/>
          <p:cNvSpPr/>
          <p:nvPr/>
        </p:nvSpPr>
        <p:spPr>
          <a:xfrm>
            <a:off x="4389923" y="5279550"/>
            <a:ext cx="1399500" cy="94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67"/>
          <p:cNvSpPr/>
          <p:nvPr/>
        </p:nvSpPr>
        <p:spPr>
          <a:xfrm>
            <a:off x="7177223" y="580363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67"/>
          <p:cNvSpPr/>
          <p:nvPr/>
        </p:nvSpPr>
        <p:spPr>
          <a:xfrm>
            <a:off x="4842623" y="5807000"/>
            <a:ext cx="216300" cy="241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67"/>
          <p:cNvSpPr/>
          <p:nvPr/>
        </p:nvSpPr>
        <p:spPr>
          <a:xfrm>
            <a:off x="6755123" y="4548663"/>
            <a:ext cx="10605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4" name="Google Shape;1254;p67"/>
          <p:cNvSpPr/>
          <p:nvPr/>
        </p:nvSpPr>
        <p:spPr>
          <a:xfrm>
            <a:off x="4409123" y="4629075"/>
            <a:ext cx="1380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55" name="Google Shape;1255;p67"/>
          <p:cNvCxnSpPr/>
          <p:nvPr/>
        </p:nvCxnSpPr>
        <p:spPr>
          <a:xfrm>
            <a:off x="5180348" y="5930425"/>
            <a:ext cx="19134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6" name="Google Shape;1256;p67"/>
          <p:cNvSpPr/>
          <p:nvPr/>
        </p:nvSpPr>
        <p:spPr>
          <a:xfrm>
            <a:off x="5820436" y="5544438"/>
            <a:ext cx="8103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paging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out</a:t>
            </a:r>
            <a:endParaRPr sz="12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68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62" name="Google Shape;1262;p68"/>
          <p:cNvSpPr txBox="1">
            <a:spLocks noGrp="1"/>
          </p:cNvSpPr>
          <p:nvPr>
            <p:ph type="body" idx="1"/>
          </p:nvPr>
        </p:nvSpPr>
        <p:spPr>
          <a:xfrm>
            <a:off x="508000" y="822850"/>
            <a:ext cx="10791950" cy="16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Proceso inicial (el que habíamos dicho al principio)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Cuando la memoria está llena, el sistema operativo retira (page out) páginas de memoria (frames) para hacer espacio para nuevas páginas. Sin embargo, esta aproximación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no es realista</a:t>
            </a:r>
            <a:r>
              <a:rPr lang="es-ES" sz="22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63" name="Google Shape;1263;p68"/>
          <p:cNvSpPr/>
          <p:nvPr/>
        </p:nvSpPr>
        <p:spPr>
          <a:xfrm>
            <a:off x="4799100" y="2523788"/>
            <a:ext cx="2949534" cy="1074384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Exception [page fault]</a:t>
            </a:r>
            <a:endParaRPr sz="1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64" name="Google Shape;1264;p68"/>
          <p:cNvGrpSpPr/>
          <p:nvPr/>
        </p:nvGrpSpPr>
        <p:grpSpPr>
          <a:xfrm>
            <a:off x="3419500" y="3649313"/>
            <a:ext cx="5665350" cy="1285213"/>
            <a:chOff x="3419500" y="3649313"/>
            <a:chExt cx="5665350" cy="1285213"/>
          </a:xfrm>
        </p:grpSpPr>
        <p:sp>
          <p:nvSpPr>
            <p:cNvPr id="1265" name="Google Shape;1265;p68"/>
            <p:cNvSpPr/>
            <p:nvPr/>
          </p:nvSpPr>
          <p:spPr>
            <a:xfrm>
              <a:off x="5167000" y="4044713"/>
              <a:ext cx="2197200" cy="855025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is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PM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full?</a:t>
              </a:r>
              <a:endParaRPr sz="12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66" name="Google Shape;1266;p68"/>
            <p:cNvCxnSpPr>
              <a:endCxn id="1265" idx="0"/>
            </p:cNvCxnSpPr>
            <p:nvPr/>
          </p:nvCxnSpPr>
          <p:spPr>
            <a:xfrm flipH="1">
              <a:off x="6265600" y="3649313"/>
              <a:ext cx="4200" cy="39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67" name="Google Shape;1267;p68"/>
            <p:cNvCxnSpPr>
              <a:stCxn id="1265" idx="1"/>
            </p:cNvCxnSpPr>
            <p:nvPr/>
          </p:nvCxnSpPr>
          <p:spPr>
            <a:xfrm flipH="1">
              <a:off x="3419500" y="4472225"/>
              <a:ext cx="1747500" cy="462300"/>
            </a:xfrm>
            <a:prstGeom prst="bentConnector3">
              <a:avLst>
                <a:gd name="adj1" fmla="val 9999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68" name="Google Shape;1268;p68"/>
            <p:cNvSpPr/>
            <p:nvPr/>
          </p:nvSpPr>
          <p:spPr>
            <a:xfrm>
              <a:off x="7771500" y="4082750"/>
              <a:ext cx="98100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9" name="Google Shape;1269;p68"/>
            <p:cNvSpPr/>
            <p:nvPr/>
          </p:nvSpPr>
          <p:spPr>
            <a:xfrm>
              <a:off x="3885500" y="4082750"/>
              <a:ext cx="113670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70" name="Google Shape;1270;p68"/>
            <p:cNvCxnSpPr/>
            <p:nvPr/>
          </p:nvCxnSpPr>
          <p:spPr>
            <a:xfrm>
              <a:off x="7337350" y="4472225"/>
              <a:ext cx="1747500" cy="462300"/>
            </a:xfrm>
            <a:prstGeom prst="bentConnector3">
              <a:avLst>
                <a:gd name="adj1" fmla="val 9999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1271" name="Google Shape;127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000" y="5382126"/>
            <a:ext cx="1380400" cy="1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68"/>
          <p:cNvSpPr/>
          <p:nvPr/>
        </p:nvSpPr>
        <p:spPr>
          <a:xfrm>
            <a:off x="1365950" y="5703200"/>
            <a:ext cx="1399500" cy="94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68"/>
          <p:cNvSpPr/>
          <p:nvPr/>
        </p:nvSpPr>
        <p:spPr>
          <a:xfrm>
            <a:off x="1818650" y="6330200"/>
            <a:ext cx="216300" cy="241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68"/>
          <p:cNvSpPr/>
          <p:nvPr/>
        </p:nvSpPr>
        <p:spPr>
          <a:xfrm>
            <a:off x="3905900" y="5076425"/>
            <a:ext cx="1320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5" name="Google Shape;1275;p68"/>
          <p:cNvSpPr/>
          <p:nvPr/>
        </p:nvSpPr>
        <p:spPr>
          <a:xfrm>
            <a:off x="1375550" y="5103900"/>
            <a:ext cx="1380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6" name="Google Shape;1276;p68"/>
          <p:cNvSpPr/>
          <p:nvPr/>
        </p:nvSpPr>
        <p:spPr>
          <a:xfrm>
            <a:off x="2863225" y="6177800"/>
            <a:ext cx="10605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paging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out</a:t>
            </a:r>
            <a:endParaRPr sz="12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7" name="Google Shape;12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7725" y="5382127"/>
            <a:ext cx="1380400" cy="1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68"/>
          <p:cNvSpPr/>
          <p:nvPr/>
        </p:nvSpPr>
        <p:spPr>
          <a:xfrm>
            <a:off x="7192475" y="5703200"/>
            <a:ext cx="1399500" cy="94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68"/>
          <p:cNvSpPr/>
          <p:nvPr/>
        </p:nvSpPr>
        <p:spPr>
          <a:xfrm>
            <a:off x="9979775" y="6078250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68"/>
          <p:cNvSpPr/>
          <p:nvPr/>
        </p:nvSpPr>
        <p:spPr>
          <a:xfrm>
            <a:off x="9477725" y="5020025"/>
            <a:ext cx="1220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1" name="Google Shape;1281;p68"/>
          <p:cNvSpPr/>
          <p:nvPr/>
        </p:nvSpPr>
        <p:spPr>
          <a:xfrm>
            <a:off x="7202075" y="5076413"/>
            <a:ext cx="1380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2" name="Google Shape;1282;p68"/>
          <p:cNvSpPr/>
          <p:nvPr/>
        </p:nvSpPr>
        <p:spPr>
          <a:xfrm>
            <a:off x="8622988" y="5815688"/>
            <a:ext cx="8103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paging in</a:t>
            </a:r>
            <a:endParaRPr sz="12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83" name="Google Shape;1283;p68"/>
          <p:cNvCxnSpPr/>
          <p:nvPr/>
        </p:nvCxnSpPr>
        <p:spPr>
          <a:xfrm rot="10800000">
            <a:off x="8007875" y="6199150"/>
            <a:ext cx="1913400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4" name="Google Shape;1284;p68"/>
          <p:cNvSpPr/>
          <p:nvPr/>
        </p:nvSpPr>
        <p:spPr>
          <a:xfrm>
            <a:off x="7733075" y="623063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68"/>
          <p:cNvSpPr/>
          <p:nvPr/>
        </p:nvSpPr>
        <p:spPr>
          <a:xfrm>
            <a:off x="10778125" y="412778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68"/>
          <p:cNvSpPr/>
          <p:nvPr/>
        </p:nvSpPr>
        <p:spPr>
          <a:xfrm>
            <a:off x="4458050" y="600823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68"/>
          <p:cNvSpPr/>
          <p:nvPr/>
        </p:nvSpPr>
        <p:spPr>
          <a:xfrm>
            <a:off x="4458050" y="6320038"/>
            <a:ext cx="216300" cy="241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68"/>
          <p:cNvSpPr/>
          <p:nvPr/>
        </p:nvSpPr>
        <p:spPr>
          <a:xfrm>
            <a:off x="1818650" y="596808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89" name="Google Shape;1289;p68"/>
          <p:cNvCxnSpPr/>
          <p:nvPr/>
        </p:nvCxnSpPr>
        <p:spPr>
          <a:xfrm flipH="1">
            <a:off x="2147300" y="6107575"/>
            <a:ext cx="2208300" cy="231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0" name="Google Shape;1290;p68"/>
          <p:cNvSpPr/>
          <p:nvPr/>
        </p:nvSpPr>
        <p:spPr>
          <a:xfrm>
            <a:off x="2863229" y="5767863"/>
            <a:ext cx="10605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paging in</a:t>
            </a:r>
            <a:endParaRPr sz="12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91" name="Google Shape;1291;p68"/>
          <p:cNvCxnSpPr/>
          <p:nvPr/>
        </p:nvCxnSpPr>
        <p:spPr>
          <a:xfrm rot="10800000" flipH="1">
            <a:off x="2147250" y="6486900"/>
            <a:ext cx="2214000" cy="12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2" name="Google Shape;1292;p68"/>
          <p:cNvSpPr/>
          <p:nvPr/>
        </p:nvSpPr>
        <p:spPr>
          <a:xfrm>
            <a:off x="9339300" y="3993400"/>
            <a:ext cx="13206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Insertar página</a:t>
            </a:r>
            <a:endParaRPr sz="16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69"/>
          <p:cNvSpPr txBox="1">
            <a:spLocks noGrp="1"/>
          </p:cNvSpPr>
          <p:nvPr>
            <p:ph type="title"/>
          </p:nvPr>
        </p:nvSpPr>
        <p:spPr>
          <a:xfrm>
            <a:off x="551543" y="96038"/>
            <a:ext cx="86691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98" name="Google Shape;12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050" y="1273188"/>
            <a:ext cx="6816176" cy="4311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69"/>
          <p:cNvSpPr txBox="1">
            <a:spLocks noGrp="1"/>
          </p:cNvSpPr>
          <p:nvPr>
            <p:ph type="body" idx="1"/>
          </p:nvPr>
        </p:nvSpPr>
        <p:spPr>
          <a:xfrm>
            <a:off x="551543" y="944125"/>
            <a:ext cx="5413807" cy="524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Proceso real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sistema operativo busca mantener una pequeña porción de memoria libre.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Se manejan dos umbrales: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n-lt"/>
              </a:rPr>
              <a:t>HW (High </a:t>
            </a:r>
            <a:r>
              <a:rPr lang="es-ES" dirty="0" err="1">
                <a:latin typeface="+mn-lt"/>
              </a:rPr>
              <a:t>watermark</a:t>
            </a:r>
            <a:r>
              <a:rPr lang="es-ES" dirty="0">
                <a:latin typeface="+mn-lt"/>
              </a:rPr>
              <a:t>). </a:t>
            </a:r>
            <a:endParaRPr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n-lt"/>
              </a:rPr>
              <a:t>LW (Low </a:t>
            </a:r>
            <a:r>
              <a:rPr lang="es-ES" dirty="0" err="1">
                <a:latin typeface="+mn-lt"/>
              </a:rPr>
              <a:t>watermark</a:t>
            </a:r>
            <a:r>
              <a:rPr lang="es-ES" dirty="0">
                <a:latin typeface="+mn-lt"/>
              </a:rPr>
              <a:t>). </a:t>
            </a:r>
            <a:endParaRPr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Un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background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thread</a:t>
            </a:r>
            <a:r>
              <a:rPr lang="es-ES" sz="2400" dirty="0">
                <a:latin typeface="+mn-lt"/>
              </a:rPr>
              <a:t> llamado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swap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daemon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 (page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daemon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)</a:t>
            </a:r>
            <a:r>
              <a:rPr lang="es-ES" sz="2400" dirty="0">
                <a:latin typeface="+mn-lt"/>
              </a:rPr>
              <a:t> es responsable de liberar memoria.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70"/>
          <p:cNvSpPr txBox="1">
            <a:spLocks noGrp="1"/>
          </p:cNvSpPr>
          <p:nvPr>
            <p:ph type="title"/>
          </p:nvPr>
        </p:nvSpPr>
        <p:spPr>
          <a:xfrm>
            <a:off x="464457" y="96038"/>
            <a:ext cx="87561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05" name="Google Shape;1305;p70"/>
          <p:cNvSpPr txBox="1">
            <a:spLocks noGrp="1"/>
          </p:cNvSpPr>
          <p:nvPr>
            <p:ph type="body" idx="1"/>
          </p:nvPr>
        </p:nvSpPr>
        <p:spPr>
          <a:xfrm>
            <a:off x="612000" y="822850"/>
            <a:ext cx="4424457" cy="51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Proceso real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06" name="Google Shape;1306;p70"/>
          <p:cNvSpPr/>
          <p:nvPr/>
        </p:nvSpPr>
        <p:spPr>
          <a:xfrm>
            <a:off x="6128225" y="822838"/>
            <a:ext cx="2949534" cy="1074384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Exception [page fault]</a:t>
            </a:r>
            <a:endParaRPr sz="1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7" name="Google Shape;1307;p70"/>
          <p:cNvSpPr/>
          <p:nvPr/>
        </p:nvSpPr>
        <p:spPr>
          <a:xfrm>
            <a:off x="6006350" y="2292625"/>
            <a:ext cx="3058725" cy="855025"/>
          </a:xfrm>
          <a:prstGeom prst="flowChartDecision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freepages 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&lt; </a:t>
            </a: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LW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8" name="Google Shape;1308;p70"/>
          <p:cNvCxnSpPr>
            <a:endCxn id="1307" idx="0"/>
          </p:cNvCxnSpPr>
          <p:nvPr/>
        </p:nvCxnSpPr>
        <p:spPr>
          <a:xfrm>
            <a:off x="7533313" y="1881025"/>
            <a:ext cx="2400" cy="41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9" name="Google Shape;1309;p70"/>
          <p:cNvCxnSpPr>
            <a:endCxn id="1310" idx="0"/>
          </p:cNvCxnSpPr>
          <p:nvPr/>
        </p:nvCxnSpPr>
        <p:spPr>
          <a:xfrm flipH="1">
            <a:off x="4070788" y="2723288"/>
            <a:ext cx="1985700" cy="5196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1" name="Google Shape;1311;p70"/>
          <p:cNvSpPr/>
          <p:nvPr/>
        </p:nvSpPr>
        <p:spPr>
          <a:xfrm>
            <a:off x="4453625" y="2349163"/>
            <a:ext cx="9810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2" name="Google Shape;1312;p70"/>
          <p:cNvSpPr/>
          <p:nvPr/>
        </p:nvSpPr>
        <p:spPr>
          <a:xfrm>
            <a:off x="9220650" y="2311138"/>
            <a:ext cx="11367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yes</a:t>
            </a:r>
            <a:endParaRPr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13" name="Google Shape;1313;p70"/>
          <p:cNvCxnSpPr/>
          <p:nvPr/>
        </p:nvCxnSpPr>
        <p:spPr>
          <a:xfrm>
            <a:off x="9077750" y="2718900"/>
            <a:ext cx="1238100" cy="803100"/>
          </a:xfrm>
          <a:prstGeom prst="bentConnector3">
            <a:avLst>
              <a:gd name="adj1" fmla="val 9999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14" name="Google Shape;131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9325" y="4794427"/>
            <a:ext cx="1380400" cy="1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70"/>
          <p:cNvSpPr/>
          <p:nvPr/>
        </p:nvSpPr>
        <p:spPr>
          <a:xfrm>
            <a:off x="8603325" y="5115500"/>
            <a:ext cx="1399500" cy="94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70"/>
          <p:cNvSpPr/>
          <p:nvPr/>
        </p:nvSpPr>
        <p:spPr>
          <a:xfrm>
            <a:off x="11163025" y="5530675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70"/>
          <p:cNvSpPr/>
          <p:nvPr/>
        </p:nvSpPr>
        <p:spPr>
          <a:xfrm>
            <a:off x="10589325" y="4562975"/>
            <a:ext cx="1220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8" name="Google Shape;1318;p70"/>
          <p:cNvSpPr/>
          <p:nvPr/>
        </p:nvSpPr>
        <p:spPr>
          <a:xfrm>
            <a:off x="8603325" y="4488713"/>
            <a:ext cx="1380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9" name="Google Shape;1319;p70"/>
          <p:cNvSpPr/>
          <p:nvPr/>
        </p:nvSpPr>
        <p:spPr>
          <a:xfrm>
            <a:off x="10047822" y="5276725"/>
            <a:ext cx="6261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out</a:t>
            </a:r>
            <a:endParaRPr sz="12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20" name="Google Shape;1320;p70"/>
          <p:cNvCxnSpPr/>
          <p:nvPr/>
        </p:nvCxnSpPr>
        <p:spPr>
          <a:xfrm>
            <a:off x="9732700" y="5638825"/>
            <a:ext cx="1248000" cy="25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1" name="Google Shape;1321;p70"/>
          <p:cNvSpPr/>
          <p:nvPr/>
        </p:nvSpPr>
        <p:spPr>
          <a:xfrm>
            <a:off x="9334075" y="553268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2" name="Google Shape;1322;p70"/>
          <p:cNvGrpSpPr/>
          <p:nvPr/>
        </p:nvGrpSpPr>
        <p:grpSpPr>
          <a:xfrm>
            <a:off x="2978175" y="4985025"/>
            <a:ext cx="1380400" cy="1689376"/>
            <a:chOff x="3876000" y="5140800"/>
            <a:chExt cx="1380400" cy="1689376"/>
          </a:xfrm>
        </p:grpSpPr>
        <p:pic>
          <p:nvPicPr>
            <p:cNvPr id="1323" name="Google Shape;1323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6000" y="5458326"/>
              <a:ext cx="1380400" cy="137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70"/>
            <p:cNvSpPr/>
            <p:nvPr/>
          </p:nvSpPr>
          <p:spPr>
            <a:xfrm>
              <a:off x="3905900" y="5140800"/>
              <a:ext cx="13206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5" name="Google Shape;1325;p70"/>
            <p:cNvSpPr/>
            <p:nvPr/>
          </p:nvSpPr>
          <p:spPr>
            <a:xfrm>
              <a:off x="4458050" y="6114463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6" name="Google Shape;1326;p70"/>
          <p:cNvGrpSpPr/>
          <p:nvPr/>
        </p:nvGrpSpPr>
        <p:grpSpPr>
          <a:xfrm>
            <a:off x="851150" y="4985025"/>
            <a:ext cx="1399500" cy="1548800"/>
            <a:chOff x="1365950" y="5103900"/>
            <a:chExt cx="1399500" cy="1548800"/>
          </a:xfrm>
        </p:grpSpPr>
        <p:sp>
          <p:nvSpPr>
            <p:cNvPr id="1327" name="Google Shape;1327;p70"/>
            <p:cNvSpPr/>
            <p:nvPr/>
          </p:nvSpPr>
          <p:spPr>
            <a:xfrm>
              <a:off x="1365950" y="5703200"/>
              <a:ext cx="1399500" cy="949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70"/>
            <p:cNvSpPr/>
            <p:nvPr/>
          </p:nvSpPr>
          <p:spPr>
            <a:xfrm>
              <a:off x="1365950" y="5103900"/>
              <a:ext cx="13803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9" name="Google Shape;1329;p70"/>
            <p:cNvSpPr/>
            <p:nvPr/>
          </p:nvSpPr>
          <p:spPr>
            <a:xfrm>
              <a:off x="1947950" y="6057038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0" name="Google Shape;1310;p70"/>
          <p:cNvSpPr/>
          <p:nvPr/>
        </p:nvSpPr>
        <p:spPr>
          <a:xfrm>
            <a:off x="2541425" y="3242888"/>
            <a:ext cx="3058725" cy="855025"/>
          </a:xfrm>
          <a:prstGeom prst="flowChartDecision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freepages 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HW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p70"/>
          <p:cNvSpPr/>
          <p:nvPr/>
        </p:nvSpPr>
        <p:spPr>
          <a:xfrm>
            <a:off x="8841075" y="3614175"/>
            <a:ext cx="29496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Swap daemon 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empieza a sacar (evict) páginas.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1" name="Google Shape;1331;p70"/>
          <p:cNvCxnSpPr/>
          <p:nvPr/>
        </p:nvCxnSpPr>
        <p:spPr>
          <a:xfrm>
            <a:off x="5604675" y="3669925"/>
            <a:ext cx="1238100" cy="803100"/>
          </a:xfrm>
          <a:prstGeom prst="bentConnector3">
            <a:avLst>
              <a:gd name="adj1" fmla="val 9999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2" name="Google Shape;1332;p70"/>
          <p:cNvCxnSpPr>
            <a:stCxn id="1310" idx="1"/>
            <a:endCxn id="1333" idx="0"/>
          </p:cNvCxnSpPr>
          <p:nvPr/>
        </p:nvCxnSpPr>
        <p:spPr>
          <a:xfrm flipH="1">
            <a:off x="1997825" y="3670400"/>
            <a:ext cx="543600" cy="3795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4" name="Google Shape;1334;p70"/>
          <p:cNvSpPr/>
          <p:nvPr/>
        </p:nvSpPr>
        <p:spPr>
          <a:xfrm>
            <a:off x="5706075" y="3339613"/>
            <a:ext cx="11367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yes</a:t>
            </a:r>
            <a:endParaRPr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35" name="Google Shape;133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825" y="5159078"/>
            <a:ext cx="980999" cy="98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0096899" y="5805150"/>
            <a:ext cx="519601" cy="51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70"/>
          <p:cNvSpPr/>
          <p:nvPr/>
        </p:nvSpPr>
        <p:spPr>
          <a:xfrm>
            <a:off x="5371525" y="4488725"/>
            <a:ext cx="29496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Swap daemon 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va a dormir.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3" name="Google Shape;1333;p70"/>
          <p:cNvSpPr/>
          <p:nvPr/>
        </p:nvSpPr>
        <p:spPr>
          <a:xfrm>
            <a:off x="892050" y="4049900"/>
            <a:ext cx="22113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La memoria está siendo asignada </a:t>
            </a:r>
            <a:r>
              <a:rPr lang="es-ES" sz="16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normalmente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8" name="Google Shape;1338;p70"/>
          <p:cNvCxnSpPr/>
          <p:nvPr/>
        </p:nvCxnSpPr>
        <p:spPr>
          <a:xfrm rot="10800000">
            <a:off x="1706250" y="6064950"/>
            <a:ext cx="1762200" cy="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9" name="Google Shape;1339;p70"/>
          <p:cNvSpPr/>
          <p:nvPr/>
        </p:nvSpPr>
        <p:spPr>
          <a:xfrm>
            <a:off x="2250650" y="5553625"/>
            <a:ext cx="78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page </a:t>
            </a:r>
            <a:endParaRPr sz="12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endParaRPr sz="12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71"/>
          <p:cNvSpPr txBox="1">
            <a:spLocks noGrp="1"/>
          </p:cNvSpPr>
          <p:nvPr>
            <p:ph type="title"/>
          </p:nvPr>
        </p:nvSpPr>
        <p:spPr>
          <a:xfrm>
            <a:off x="522514" y="96038"/>
            <a:ext cx="86981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Referencias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45" name="Google Shape;1345;p71"/>
          <p:cNvSpPr txBox="1">
            <a:spLocks noGrp="1"/>
          </p:cNvSpPr>
          <p:nvPr>
            <p:ph type="body" idx="1"/>
          </p:nvPr>
        </p:nvSpPr>
        <p:spPr>
          <a:xfrm>
            <a:off x="522514" y="974150"/>
            <a:ext cx="11416686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 sz="2000" b="1" dirty="0">
                <a:latin typeface="+mn-lt"/>
              </a:rPr>
              <a:t>Operating Systems Three Easy Pieces </a:t>
            </a:r>
            <a:r>
              <a:rPr lang="en-US" sz="2000" dirty="0">
                <a:latin typeface="+mn-lt"/>
              </a:rPr>
              <a:t>(</a:t>
            </a:r>
            <a:r>
              <a:rPr lang="en-US" sz="2000" u="sng" dirty="0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n-US" sz="2000" dirty="0">
                <a:latin typeface="+mn-lt"/>
              </a:rPr>
              <a:t>: </a:t>
            </a:r>
            <a:r>
              <a:rPr lang="en-US" sz="2000" dirty="0" err="1">
                <a:latin typeface="+mn-lt"/>
              </a:rPr>
              <a:t>Capítulo</a:t>
            </a:r>
            <a:r>
              <a:rPr lang="en-US" sz="2000" dirty="0">
                <a:latin typeface="+mn-lt"/>
              </a:rPr>
              <a:t> </a:t>
            </a:r>
            <a:r>
              <a:rPr lang="en-US" sz="2000" u="sng" dirty="0">
                <a:solidFill>
                  <a:schemeClr val="hlink"/>
                </a:solidFill>
                <a:latin typeface="+mn-lt"/>
                <a:hlinkClick r:id="rId4"/>
              </a:rPr>
              <a:t>21</a:t>
            </a:r>
            <a:r>
              <a:rPr lang="en-US" sz="2000" dirty="0">
                <a:latin typeface="+mn-lt"/>
              </a:rPr>
              <a:t>)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5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http://web.eecs.utk.edu/~mbeck/classes/cs560/560/oldtests/t2/2003/Answers.html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http://pages.cs.wisc.edu/~bart/537/lecturenotes/titlepage.html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https://www.scs.stanford.edu/22wi-cs212/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72"/>
          <p:cNvSpPr txBox="1">
            <a:spLocks noGrp="1"/>
          </p:cNvSpPr>
          <p:nvPr>
            <p:ph type="title"/>
          </p:nvPr>
        </p:nvSpPr>
        <p:spPr>
          <a:xfrm>
            <a:off x="580571" y="96038"/>
            <a:ext cx="86400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Referencias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51" name="Google Shape;1351;p72"/>
          <p:cNvSpPr txBox="1">
            <a:spLocks noGrp="1"/>
          </p:cNvSpPr>
          <p:nvPr>
            <p:ph type="body" idx="1"/>
          </p:nvPr>
        </p:nvSpPr>
        <p:spPr>
          <a:xfrm>
            <a:off x="420914" y="885250"/>
            <a:ext cx="11518286" cy="37752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https://flint.cs.yale.edu/cs421/papers/x86-asm/asm.html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https://github.com/Aniruddha-Tapas/Operating-Systems-Notes/blob/master/5-Memory-Management.md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https://applied-programming.github.io/Operating-Systems-Notes/5-Memory-Management/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https://csapp.cs.cmu.edu/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https://applied-programming.github.io/Operating-Systems-Notes/5-Memory-Management/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http://www.cs.cmu.edu/~213/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https://web.eecs.umich.edu/~akamil/teaching/sp04/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https://courses.engr.illinois.edu/cs241/sp2014/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https://emeryberger.com/teaching/grad-systems/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https://oslab.kaist.ac.kr/courseware/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https://oslab.kaist.ac.kr/ee488-fall-2020/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4992</Words>
  <Application>Microsoft Office PowerPoint</Application>
  <PresentationFormat>Panorámica</PresentationFormat>
  <Paragraphs>1780</Paragraphs>
  <Slides>59</Slides>
  <Notes>59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59</vt:i4>
      </vt:variant>
    </vt:vector>
  </HeadingPairs>
  <TitlesOfParts>
    <vt:vector size="68" baseType="lpstr">
      <vt:lpstr>Calibri</vt:lpstr>
      <vt:lpstr>Courier New</vt:lpstr>
      <vt:lpstr>Arial</vt:lpstr>
      <vt:lpstr>Calibri Light</vt:lpstr>
      <vt:lpstr>Times New Roman</vt:lpstr>
      <vt:lpstr>Roboto Slab</vt:lpstr>
      <vt:lpstr>Consolas</vt:lpstr>
      <vt:lpstr>Roboto</vt:lpstr>
      <vt:lpstr>Tema de Office</vt:lpstr>
      <vt:lpstr>Apuntes – Clase 12</vt:lpstr>
      <vt:lpstr>Dynamic Relocation (base &amp; bounds)</vt:lpstr>
      <vt:lpstr>Dynamic Relocation (base &amp; bounds)</vt:lpstr>
      <vt:lpstr>Segmentación</vt:lpstr>
      <vt:lpstr>Segmentación</vt:lpstr>
      <vt:lpstr>Segmentación</vt:lpstr>
      <vt:lpstr>Paginación</vt:lpstr>
      <vt:lpstr>Paginación</vt:lpstr>
      <vt:lpstr>Paginación</vt:lpstr>
      <vt:lpstr>TLB</vt:lpstr>
      <vt:lpstr>TLB</vt:lpstr>
      <vt:lpstr>Problemas debido a los métodos de traducción de direcciones</vt:lpstr>
      <vt:lpstr>Swapping - Contextualización</vt:lpstr>
      <vt:lpstr>Swapping - Contextualización</vt:lpstr>
      <vt:lpstr>Swapping - Contextualización</vt:lpstr>
      <vt:lpstr>Swapping - Contextualización</vt:lpstr>
      <vt:lpstr>Jerarquía de memoria</vt:lpstr>
      <vt:lpstr>Jerarquía de memoria</vt:lpstr>
      <vt:lpstr>Jerarquía de memoria</vt:lpstr>
      <vt:lpstr>Jerarquía de memoria</vt:lpstr>
      <vt:lpstr>Jerarquía de memoria</vt:lpstr>
      <vt:lpstr>Jerarquía de memoria</vt:lpstr>
      <vt:lpstr>Swapping - Introducción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Espacio swap</vt:lpstr>
      <vt:lpstr>Espacio swap</vt:lpstr>
      <vt:lpstr>Espacio swap</vt:lpstr>
      <vt:lpstr>Espacio swap</vt:lpstr>
      <vt:lpstr>Espacio swap</vt:lpstr>
      <vt:lpstr>Bit present</vt:lpstr>
      <vt:lpstr>Bit present</vt:lpstr>
      <vt:lpstr>Bit present</vt:lpstr>
      <vt:lpstr>Bit present</vt:lpstr>
      <vt:lpstr>Bit present</vt:lpstr>
      <vt:lpstr>Bit present</vt:lpstr>
      <vt:lpstr>Bit present</vt:lpstr>
      <vt:lpstr>Bit present</vt:lpstr>
      <vt:lpstr>Bit present</vt:lpstr>
      <vt:lpstr>Traducción de direcciones </vt:lpstr>
      <vt:lpstr>Traducción de direcciones</vt:lpstr>
      <vt:lpstr>Traducción de direcciones</vt:lpstr>
      <vt:lpstr>Traducción de direcciones</vt:lpstr>
      <vt:lpstr>Traducción de direcciones</vt:lpstr>
      <vt:lpstr>Reemplazo</vt:lpstr>
      <vt:lpstr>Reemplazo</vt:lpstr>
      <vt:lpstr>Reemplazo</vt:lpstr>
      <vt:lpstr>Reemplazo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dc:creator>Usuario</dc:creator>
  <cp:lastModifiedBy>HENRY ALBERTO ARCILA RAMIREZ</cp:lastModifiedBy>
  <cp:revision>27</cp:revision>
  <dcterms:modified xsi:type="dcterms:W3CDTF">2026-10-01T01:34:26Z</dcterms:modified>
</cp:coreProperties>
</file>