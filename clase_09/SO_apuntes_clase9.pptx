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4" r:id="rId1"/>
  </p:sldMasterIdLst>
  <p:notesMasterIdLst>
    <p:notesMasterId r:id="rId51"/>
  </p:notesMasterIdLst>
  <p:sldIdLst>
    <p:sldId id="256" r:id="rId2"/>
    <p:sldId id="259" r:id="rId3"/>
    <p:sldId id="260" r:id="rId4"/>
    <p:sldId id="261" r:id="rId5"/>
    <p:sldId id="262" r:id="rId6"/>
    <p:sldId id="263" r:id="rId7"/>
    <p:sldId id="264" r:id="rId8"/>
    <p:sldId id="265" r:id="rId9"/>
    <p:sldId id="266" r:id="rId10"/>
    <p:sldId id="267" r:id="rId11"/>
    <p:sldId id="268" r:id="rId12"/>
    <p:sldId id="269" r:id="rId13"/>
    <p:sldId id="270" r:id="rId14"/>
    <p:sldId id="272" r:id="rId15"/>
    <p:sldId id="273" r:id="rId16"/>
    <p:sldId id="275" r:id="rId17"/>
    <p:sldId id="276" r:id="rId18"/>
    <p:sldId id="277" r:id="rId19"/>
    <p:sldId id="279" r:id="rId20"/>
    <p:sldId id="280" r:id="rId21"/>
    <p:sldId id="281" r:id="rId22"/>
    <p:sldId id="282" r:id="rId23"/>
    <p:sldId id="283" r:id="rId24"/>
    <p:sldId id="284" r:id="rId25"/>
    <p:sldId id="285" r:id="rId26"/>
    <p:sldId id="287" r:id="rId27"/>
    <p:sldId id="288" r:id="rId28"/>
    <p:sldId id="289" r:id="rId29"/>
    <p:sldId id="290" r:id="rId30"/>
    <p:sldId id="291" r:id="rId31"/>
    <p:sldId id="292" r:id="rId32"/>
    <p:sldId id="293" r:id="rId33"/>
    <p:sldId id="294" r:id="rId34"/>
    <p:sldId id="296" r:id="rId35"/>
    <p:sldId id="297" r:id="rId36"/>
    <p:sldId id="298" r:id="rId37"/>
    <p:sldId id="299" r:id="rId38"/>
    <p:sldId id="300" r:id="rId39"/>
    <p:sldId id="301" r:id="rId40"/>
    <p:sldId id="302" r:id="rId41"/>
    <p:sldId id="303" r:id="rId42"/>
    <p:sldId id="305" r:id="rId43"/>
    <p:sldId id="306" r:id="rId44"/>
    <p:sldId id="307" r:id="rId45"/>
    <p:sldId id="309" r:id="rId46"/>
    <p:sldId id="311" r:id="rId47"/>
    <p:sldId id="313" r:id="rId48"/>
    <p:sldId id="315" r:id="rId49"/>
    <p:sldId id="316" r:id="rId50"/>
  </p:sldIdLst>
  <p:sldSz cx="12192000" cy="6858000"/>
  <p:notesSz cx="6858000" cy="9144000"/>
  <p:embeddedFontLst>
    <p:embeddedFont>
      <p:font typeface="Calibri" panose="020F0502020204030204" pitchFamily="34" charset="0"/>
      <p:regular r:id="rId52"/>
      <p:bold r:id="rId53"/>
      <p:italic r:id="rId54"/>
      <p:boldItalic r:id="rId55"/>
    </p:embeddedFont>
    <p:embeddedFont>
      <p:font typeface="Calibri Light" panose="020F0302020204030204" pitchFamily="34" charset="0"/>
      <p:regular r:id="rId56"/>
      <p:italic r:id="rId57"/>
    </p:embeddedFont>
    <p:embeddedFont>
      <p:font typeface="Consolas" panose="020B0609020204030204" pitchFamily="49" charset="0"/>
      <p:regular r:id="rId58"/>
      <p:bold r:id="rId59"/>
      <p:italic r:id="rId60"/>
      <p:boldItalic r:id="rId61"/>
    </p:embeddedFont>
    <p:embeddedFont>
      <p:font typeface="Roboto" panose="02000000000000000000" pitchFamily="2" charset="0"/>
      <p:regular r:id="rId62"/>
      <p:bold r:id="rId63"/>
      <p:italic r:id="rId64"/>
      <p:boldItalic r:id="rId65"/>
    </p:embeddedFont>
    <p:embeddedFont>
      <p:font typeface="Roboto Slab" panose="020B0604020202020204" charset="0"/>
      <p:regular r:id="rId66"/>
      <p:bold r:id="rId67"/>
    </p:embeddedFont>
  </p:embeddedFontLst>
  <p:defaultTextStyle>
    <a:defPPr>
      <a:defRPr lang="es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CA5C7703-E2AC-41A6-8DEA-2D5C455BA520}">
  <a:tblStyle styleId="{CA5C7703-E2AC-41A6-8DEA-2D5C455BA52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5" d="100"/>
          <a:sy n="65" d="100"/>
        </p:scale>
        <p:origin x="83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font" Target="fonts/font12.fntdata"/><Relationship Id="rId68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font" Target="fonts/font2.fntdata"/><Relationship Id="rId58" Type="http://schemas.openxmlformats.org/officeDocument/2006/relationships/font" Target="fonts/font7.fntdata"/><Relationship Id="rId66" Type="http://schemas.openxmlformats.org/officeDocument/2006/relationships/font" Target="fonts/font15.fntdata"/><Relationship Id="rId5" Type="http://schemas.openxmlformats.org/officeDocument/2006/relationships/slide" Target="slides/slide4.xml"/><Relationship Id="rId61" Type="http://schemas.openxmlformats.org/officeDocument/2006/relationships/font" Target="fonts/font10.fntdata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font" Target="fonts/font5.fntdata"/><Relationship Id="rId64" Type="http://schemas.openxmlformats.org/officeDocument/2006/relationships/font" Target="fonts/font13.fntdata"/><Relationship Id="rId69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font" Target="fonts/font8.fntdata"/><Relationship Id="rId67" Type="http://schemas.openxmlformats.org/officeDocument/2006/relationships/font" Target="fonts/font16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font" Target="fonts/font3.fntdata"/><Relationship Id="rId62" Type="http://schemas.openxmlformats.org/officeDocument/2006/relationships/font" Target="fonts/font11.fntdata"/><Relationship Id="rId7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font" Target="fonts/font6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font" Target="fonts/font1.fntdata"/><Relationship Id="rId60" Type="http://schemas.openxmlformats.org/officeDocument/2006/relationships/font" Target="fonts/font9.fntdata"/><Relationship Id="rId65" Type="http://schemas.openxmlformats.org/officeDocument/2006/relationships/font" Target="fonts/font1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e.iitb.ac.in/~mythili/os/anno_slides/lecture1.pdf" TargetMode="External"/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e.iitb.ac.in/~mythili/os/anno_slides/lecture1.pdf" TargetMode="External"/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e.iitb.ac.in/~mythili/os/anno_slides/lecture1.pdf" TargetMode="External"/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e.iitb.ac.in/~mythili/os/anno_slides/lecture1.pdf" TargetMode="External"/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e.iitb.ac.in/~mythili/os/anno_slides/lecture1.pdf" TargetMode="External"/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e.iitb.ac.in/~mythili/os/anno_slides/lecture1.pdf" TargetMode="External"/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e.iitb.ac.in/~mythili/os/anno_slides/lecture1.pdf" TargetMode="External"/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e.iitb.ac.in/~mythili/os/anno_slides/lecture1.pdf" TargetMode="External"/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e.iitb.ac.in/~mythili/os/anno_slides/lecture1.pdf" TargetMode="External"/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e.iitb.ac.in/~mythili/os/anno_slides/lecture1.pdf" TargetMode="External"/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e.iitb.ac.in/~mythili/os/anno_slides/lecture1.pdf" TargetMode="External"/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e.iitb.ac.in/~mythili/os/anno_slides/lecture1.pdf" TargetMode="External"/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e.iitb.ac.in/~mythili/os/anno_slides/lecture1.pdf" TargetMode="External"/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e.iitb.ac.in/~mythili/os/anno_slides/lecture1.pdf" TargetMode="External"/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e.iitb.ac.in/~mythili/os/anno_slides/lecture1.pdf" TargetMode="External"/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e.iitb.ac.in/~mythili/os/anno_slides/lecture1.pdf" TargetMode="External"/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e.iitb.ac.in/~mythili/os/anno_slides/lecture1.pdf" TargetMode="External"/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e.iitb.ac.in/~mythili/os/anno_slides/lecture1.pdf" TargetMode="External"/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e.iitb.ac.in/~mythili/os/anno_slides/lecture1.pdf" TargetMode="External"/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e.iitb.ac.in/~mythili/os/anno_slides/lecture1.pdf" TargetMode="External"/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78358aba08_0_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" name="Google Shape;137;g78358aba08_0_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91542c71bb_0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5" name="Google Shape;155;g91542c71bb_0_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u="sng">
                <a:solidFill>
                  <a:schemeClr val="hlink"/>
                </a:solidFill>
                <a:hlinkClick r:id="rId3"/>
              </a:rPr>
              <a:t>https://www.cse.iitb.ac.in/~mythili/os/anno_slides/lecture1.pdf</a:t>
            </a:r>
            <a:endParaRPr sz="240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10b0d603767_0_5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8" name="Google Shape;218;g10b0d603767_0_5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u="sng">
                <a:solidFill>
                  <a:schemeClr val="hlink"/>
                </a:solidFill>
                <a:hlinkClick r:id="rId3"/>
              </a:rPr>
              <a:t>https://www.cse.iitb.ac.in/~mythili/os/anno_slides/lecture1.pdf</a:t>
            </a:r>
            <a:endParaRPr sz="240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g10e4de43856_0_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4" name="Google Shape;264;g10e4de43856_0_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u="sng">
                <a:solidFill>
                  <a:schemeClr val="hlink"/>
                </a:solidFill>
                <a:hlinkClick r:id="rId3"/>
              </a:rPr>
              <a:t>https://www.cse.iitb.ac.in/~mythili/os/anno_slides/lecture1.pdf</a:t>
            </a:r>
            <a:endParaRPr sz="240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10e4de43856_0_1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3" name="Google Shape;293;g10e4de43856_0_1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u="sng">
                <a:solidFill>
                  <a:schemeClr val="hlink"/>
                </a:solidFill>
                <a:hlinkClick r:id="rId3"/>
              </a:rPr>
              <a:t>https://www.cse.iitb.ac.in/~mythili/os/anno_slides/lecture1.pdf</a:t>
            </a:r>
            <a:endParaRPr sz="240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10e4de43856_0_2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10e4de43856_0_2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u="sng">
                <a:solidFill>
                  <a:schemeClr val="hlink"/>
                </a:solidFill>
                <a:hlinkClick r:id="rId3"/>
              </a:rPr>
              <a:t>https://www.cse.iitb.ac.in/~mythili/os/anno_slides/lecture1.pdf</a:t>
            </a:r>
            <a:endParaRPr sz="240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g10e4de43856_0_2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5" name="Google Shape;345;g10e4de43856_0_2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u="sng">
                <a:solidFill>
                  <a:schemeClr val="hlink"/>
                </a:solidFill>
                <a:hlinkClick r:id="rId3"/>
              </a:rPr>
              <a:t>https://www.cse.iitb.ac.in/~mythili/os/anno_slides/lecture1.pdf</a:t>
            </a:r>
            <a:endParaRPr sz="240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10e4de43856_0_2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8" name="Google Shape;398;g10e4de43856_0_2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u="sng">
                <a:solidFill>
                  <a:schemeClr val="hlink"/>
                </a:solidFill>
                <a:hlinkClick r:id="rId3"/>
              </a:rPr>
              <a:t>https://www.cse.iitb.ac.in/~mythili/os/anno_slides/lecture1.pdf</a:t>
            </a:r>
            <a:endParaRPr sz="240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g10e4de43856_0_3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4" name="Google Shape;404;g10e4de43856_0_3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u="sng">
                <a:solidFill>
                  <a:schemeClr val="hlink"/>
                </a:solidFill>
                <a:hlinkClick r:id="rId3"/>
              </a:rPr>
              <a:t>https://www.cse.iitb.ac.in/~mythili/os/anno_slides/lecture1.pdf</a:t>
            </a:r>
            <a:endParaRPr sz="240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Google Shape;453;g10e4de43856_0_3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4" name="Google Shape;454;g10e4de43856_0_3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u="sng">
                <a:solidFill>
                  <a:schemeClr val="hlink"/>
                </a:solidFill>
                <a:hlinkClick r:id="rId3"/>
              </a:rPr>
              <a:t>https://www.cse.iitb.ac.in/~mythili/os/anno_slides/lecture1.pdf</a:t>
            </a:r>
            <a:endParaRPr sz="240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g10e4de43856_0_4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5" name="Google Shape;495;g10e4de43856_0_4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u="sng">
                <a:solidFill>
                  <a:schemeClr val="hlink"/>
                </a:solidFill>
                <a:hlinkClick r:id="rId3"/>
              </a:rPr>
              <a:t>https://www.cse.iitb.ac.in/~mythili/os/anno_slides/lecture1.pdf</a:t>
            </a:r>
            <a:endParaRPr sz="240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g10e4de43856_0_5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6" name="Google Shape;536;g10e4de43856_0_5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u="sng">
                <a:solidFill>
                  <a:schemeClr val="hlink"/>
                </a:solidFill>
                <a:hlinkClick r:id="rId3"/>
              </a:rPr>
              <a:t>https://www.cse.iitb.ac.in/~mythili/os/anno_slides/lecture1.pdf</a:t>
            </a:r>
            <a:endParaRPr sz="240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8" name="Google Shape;588;g10e4de43856_0_6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9" name="Google Shape;589;g10e4de43856_0_6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u="sng">
                <a:solidFill>
                  <a:schemeClr val="hlink"/>
                </a:solidFill>
                <a:hlinkClick r:id="rId3"/>
              </a:rPr>
              <a:t>https://www.cse.iitb.ac.in/~mythili/os/anno_slides/lecture1.pdf</a:t>
            </a:r>
            <a:endParaRPr sz="240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10411c0b8ff_0_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20" name="Google Shape;620;g10411c0b8ff_0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Google Shape;688;g10e655267c9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89" name="Google Shape;689;g10e655267c9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5" name="Google Shape;725;g10411c0b8ff_0_1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6" name="Google Shape;726;g10411c0b8ff_0_1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10e4de43856_0_8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10e4de43856_0_8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g10e4de43856_0_8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8" name="Google Shape;778;g10e4de43856_0_8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7" name="Google Shape;817;g10e4de43856_0_9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Cuda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OpenCL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OpenACC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X10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Chapel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UPC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818" name="Google Shape;818;g10e4de43856_0_9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3" name="Google Shape;833;g10e4de43856_0_9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Cuda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OpenCL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OpenACC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X10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Chapel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UPC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834" name="Google Shape;834;g10e4de43856_0_9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1" name="Google Shape;851;g10e4de43856_0_9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Cuda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OpenCL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OpenACC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X10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Chapel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UPC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852" name="Google Shape;852;g10e4de43856_0_9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8" name="Google Shape;868;g10e4de43856_0_99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Cuda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OpenCL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OpenACC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X10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Chapel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UPC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869" name="Google Shape;869;g10e4de43856_0_9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5" name="Google Shape;885;g10e4de43856_0_10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Cuda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OpenCL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OpenACC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X10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Chapel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UPC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886" name="Google Shape;886;g10e4de43856_0_10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6" name="Google Shape;906;g10e4de43856_0_10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Cuda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OpenCL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OpenACC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X10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Chapel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UPC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907" name="Google Shape;907;g10e4de43856_0_10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g10e4de43856_0_10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Cuda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OpenCL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OpenACC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X10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Chapel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UPC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917" name="Google Shape;917;g10e4de43856_0_10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1" name="Google Shape;941;g10e4de43856_0_10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2" name="Google Shape;942;g10e4de43856_0_10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u="sng">
                <a:solidFill>
                  <a:schemeClr val="hlink"/>
                </a:solidFill>
                <a:hlinkClick r:id="rId3"/>
              </a:rPr>
              <a:t>https://www.cse.iitb.ac.in/~mythili/os/anno_slides/lecture1.pdf</a:t>
            </a:r>
            <a:endParaRPr sz="2400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4" name="Google Shape;954;g10e4de43856_0_11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5" name="Google Shape;955;g10e4de43856_0_11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u="sng">
                <a:solidFill>
                  <a:schemeClr val="hlink"/>
                </a:solidFill>
                <a:hlinkClick r:id="rId3"/>
              </a:rPr>
              <a:t>https://www.cse.iitb.ac.in/~mythili/os/anno_slides/lecture1.pdf</a:t>
            </a:r>
            <a:endParaRPr sz="2400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8" name="Google Shape;968;g10eab4ff599_0_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9" name="Google Shape;969;g10eab4ff599_0_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u="sng">
                <a:solidFill>
                  <a:schemeClr val="hlink"/>
                </a:solidFill>
                <a:hlinkClick r:id="rId3"/>
              </a:rPr>
              <a:t>https://www.cse.iitb.ac.in/~mythili/os/anno_slides/lecture1.pdf</a:t>
            </a:r>
            <a:endParaRPr sz="2400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1" name="Google Shape;981;g10eab4ff599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2" name="Google Shape;982;g10eab4ff599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u="sng">
                <a:solidFill>
                  <a:schemeClr val="hlink"/>
                </a:solidFill>
                <a:hlinkClick r:id="rId3"/>
              </a:rPr>
              <a:t>https://www.cse.iitb.ac.in/~mythili/os/anno_slides/lecture1.pdf</a:t>
            </a:r>
            <a:endParaRPr sz="2400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9" name="Google Shape;1019;g10eab4ff599_0_1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0" name="Google Shape;1020;g10eab4ff599_0_1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u="sng">
                <a:solidFill>
                  <a:schemeClr val="hlink"/>
                </a:solidFill>
                <a:hlinkClick r:id="rId3"/>
              </a:rPr>
              <a:t>https://www.cse.iitb.ac.in/~mythili/os/anno_slides/lecture1.pdf</a:t>
            </a:r>
            <a:endParaRPr sz="2400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Google Shape;1028;g10eab4ff599_0_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9" name="Google Shape;1029;g10eab4ff599_0_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u="sng">
                <a:solidFill>
                  <a:schemeClr val="hlink"/>
                </a:solidFill>
                <a:hlinkClick r:id="rId3"/>
              </a:rPr>
              <a:t>https://www.cse.iitb.ac.in/~mythili/os/anno_slides/lecture1.pdf</a:t>
            </a:r>
            <a:endParaRPr sz="2400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5" name="Google Shape;1065;g10eab4ff599_0_1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6" name="Google Shape;1066;g10eab4ff599_0_1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u="sng">
                <a:solidFill>
                  <a:schemeClr val="hlink"/>
                </a:solidFill>
                <a:hlinkClick r:id="rId3"/>
              </a:rPr>
              <a:t>https://www.cse.iitb.ac.in/~mythili/os/anno_slides/lecture1.pdf</a:t>
            </a:r>
            <a:endParaRPr sz="2400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7" name="Google Shape;1127;g10f18a32a9d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8" name="Google Shape;1128;g10f18a32a9d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u="sng">
                <a:solidFill>
                  <a:schemeClr val="hlink"/>
                </a:solidFill>
                <a:hlinkClick r:id="rId3"/>
              </a:rPr>
              <a:t>https://www.cse.iitb.ac.in/~mythili/os/anno_slides/lecture1.pdf</a:t>
            </a:r>
            <a:endParaRPr sz="2400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4" name="Google Shape;1144;g10e655267c9_0_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5" name="Google Shape;1145;g10e655267c9_0_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2" name="Google Shape;1152;g10eab4ff599_0_2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53" name="Google Shape;1153;g10eab4ff599_0_2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1" name="Google Shape;1161;g10e65526bf7_0_2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62" name="Google Shape;1162;g10e65526bf7_0_2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9" name="Google Shape;1169;g10eab4ff599_0_2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70" name="Google Shape;1170;g10eab4ff599_0_2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5" name="Google Shape;1185;g10eab4ff599_0_2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86" name="Google Shape;1186;g10eab4ff599_0_2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1" name="Google Shape;1201;g10eab4ff599_0_26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02" name="Google Shape;1202;g10eab4ff599_0_2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9" name="Google Shape;1239;g10eab4ff599_0_3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40" name="Google Shape;1240;g10eab4ff599_0_3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8" name="Google Shape;1278;g10eab4ff599_0_36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79" name="Google Shape;1279;g10eab4ff599_0_3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9" name="Google Shape;1349;g10e4de43856_0_9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0" name="Google Shape;1350;g10e4de43856_0_9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0" name="Google Shape;1400;g10eab4ff599_0_4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1" name="Google Shape;1401;g10eab4ff599_0_4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6" name="Google Shape;1446;g10eab4ff599_0_5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7" name="Google Shape;1447;g10eab4ff599_0_5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9" name="Google Shape;1499;g10eab4ff599_0_6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Cuda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OpenCL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OpenACC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X10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Chapel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UPC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500" name="Google Shape;1500;g10eab4ff599_0_6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9" name="Google Shape;1549;g10f18a32a9d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50" name="Google Shape;1550;g10f18a32a9d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8" name="Google Shape;1568;g10e65526bf7_0_1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69" name="Google Shape;1569;g10e65526bf7_0_1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2" name="Google Shape;1582;g10e65526bf7_0_2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3" name="Google Shape;1583;g10e65526bf7_0_2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5" name="Google Shape;1595;g10e834b4827_0_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Cuda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OpenCL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OpenACC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X10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Chapel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UPC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596" name="Google Shape;1596;g10e834b4827_0_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411C467-E5B3-4D78-8F66-EE67905601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C73C799-5794-45CA-AF2E-33897DFC8D1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22AED8C-0FB6-458A-B8C3-BC55940A17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5539152-6A63-470D-9186-4C60E10FF8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0CD89AE-DC2B-4430-8DCD-D3EABA7E3E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074205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5159475-5E5B-4EDB-8437-83453B3FEA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68EC2D0-6CC5-4CD3-A1BD-565E16861D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53A557E-E367-4C6D-8365-8DB8C47E4D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6B33BC1-90AC-4F06-9CAC-F3ABD00231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9707619-C9C2-449B-8756-9216ADDCED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76619937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1F7302E-18EF-405D-8EB1-1C8603AE16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82D598C-DA1E-4F84-8E07-9A294C43E8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4FAF2F5-EEB9-4C18-9A4A-594536D13B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EB37971-3E41-445F-91AB-4252512DB1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665E6B2-BCB3-4430-8ADD-F1BCE84F80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232941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E0742F3-2430-4DBA-933A-2F1F83868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27E26BA-F9EA-4BB4-9172-AB4374BE569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714EEAEC-0978-46C5-986F-3434A782A2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E2F0C5A-C724-4F31-91F6-999DEAABEA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02880D55-9A3C-46B2-A0DB-B221DEFDFA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B941B772-77ED-4270-829B-E045F36BED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602196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1ABECC0-43EE-4959-B9D3-58FA7812BD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B4A22FA1-12E6-418B-8A3D-2472B772D5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0ED20B6B-1CAA-4552-879F-870761379E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676B406C-6B11-4C27-8CF2-B8530C22940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B136E1C3-04B9-41A0-AF7F-740C194B461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D0F61458-C1C6-4A44-8752-D9938FBF6E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3053F62D-F752-4915-AB70-4AEBD66F4C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4EBDC451-123A-46AB-BE6A-E262E1D77D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537742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C4A1F34-E852-40EE-98C1-5A367DB0D9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FB522490-93F0-4EE7-ABA8-72B84EDB14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04667B6B-1B2D-4D70-BA00-470886C65C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C738DAA6-B61A-4761-985E-07098EAA59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441747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4ADBD293-F60F-4C16-8D1F-A98E6DF70E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D342E0B8-2C73-4E96-832E-F4B9F64728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1AB8D91-CEFE-45EF-AE75-916708D0B1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303064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85C03EC-8076-4E70-9F43-1F6D8BECE3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4E618DF-E6DD-40BB-81C7-3F8CCC4CB4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4B278C3F-1FDA-4E1B-A8CE-61298C0F0B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BCC91F2-A7BB-4E8A-B0BF-B2760EAEB6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AB66137C-6AF9-4F0E-B626-B6E9CF4946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678A92ED-DF99-464C-8227-018BB5A217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464508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C6D2B69-1A20-4CEC-B4CF-AA92BAB866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941CBA46-1A92-4574-AC3A-8F983F7CF49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E4C82C1C-DD72-42D3-A2AB-C556049C83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E0C525B4-60BB-4174-9C2A-797FE72957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90F7B6A-5D39-4447-9706-ECEE0FC164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363993CC-2594-41EC-9336-4040B83CB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457192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4A6E8FD-84AD-4BA5-9AC2-EFAC601736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ADCBBC6E-E1DB-4B75-9C95-163CD02FE9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2AB4373-D40F-456B-B92A-1357032073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0AC070D-19FE-425E-98C3-8E4DB224CA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C70C2D6-0E37-45B1-BEB7-34FB13F6A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045288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55D8D6DD-F0E1-4AFD-8132-843C82BDAA1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A92DFE0A-F6E0-4010-8FDF-BCC2C80FCB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BF54809-6890-4E9C-AAB8-79EFF9A5D7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94EED50-E1AE-4ADF-BFD2-9B908BAA9D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C09A790-4801-4CFA-9DC9-5CB8EB1BA3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2814819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UdeA-Nueva 1 1">
  <p:cSld name="UdeA-Nueva 1 1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4"/>
          <p:cNvSpPr txBox="1">
            <a:spLocks noGrp="1"/>
          </p:cNvSpPr>
          <p:nvPr>
            <p:ph type="title"/>
          </p:nvPr>
        </p:nvSpPr>
        <p:spPr>
          <a:xfrm>
            <a:off x="916650" y="96038"/>
            <a:ext cx="8304000" cy="9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rgbClr val="8CC63E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4"/>
          <p:cNvSpPr txBox="1">
            <a:spLocks noGrp="1"/>
          </p:cNvSpPr>
          <p:nvPr>
            <p:ph type="body" idx="1"/>
          </p:nvPr>
        </p:nvSpPr>
        <p:spPr>
          <a:xfrm>
            <a:off x="838200" y="1318001"/>
            <a:ext cx="10515600" cy="485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39" name="Google Shape;39;p4"/>
          <p:cNvSpPr txBox="1">
            <a:spLocks noGrp="1"/>
          </p:cNvSpPr>
          <p:nvPr>
            <p:ph type="dt" idx="10"/>
          </p:nvPr>
        </p:nvSpPr>
        <p:spPr>
          <a:xfrm>
            <a:off x="1264600" y="62801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4"/>
          <p:cNvSpPr txBox="1">
            <a:spLocks noGrp="1"/>
          </p:cNvSpPr>
          <p:nvPr>
            <p:ph type="ftr" idx="11"/>
          </p:nvPr>
        </p:nvSpPr>
        <p:spPr>
          <a:xfrm>
            <a:off x="4755775" y="62801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4"/>
          <p:cNvSpPr txBox="1">
            <a:spLocks noGrp="1"/>
          </p:cNvSpPr>
          <p:nvPr>
            <p:ph type="sldNum" idx="12"/>
          </p:nvPr>
        </p:nvSpPr>
        <p:spPr>
          <a:xfrm>
            <a:off x="9144000" y="62801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2867608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UdeA-Nueva 1">
  <p:cSld name="UdeA-Nueva 1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3"/>
          <p:cNvSpPr txBox="1">
            <a:spLocks noGrp="1"/>
          </p:cNvSpPr>
          <p:nvPr>
            <p:ph type="title"/>
          </p:nvPr>
        </p:nvSpPr>
        <p:spPr>
          <a:xfrm>
            <a:off x="916650" y="96038"/>
            <a:ext cx="8304000" cy="9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rgbClr val="F8A02B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body" idx="1"/>
          </p:nvPr>
        </p:nvSpPr>
        <p:spPr>
          <a:xfrm>
            <a:off x="838200" y="1318001"/>
            <a:ext cx="10515600" cy="485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dt" idx="10"/>
          </p:nvPr>
        </p:nvSpPr>
        <p:spPr>
          <a:xfrm>
            <a:off x="1204075" y="62974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3"/>
          <p:cNvSpPr txBox="1">
            <a:spLocks noGrp="1"/>
          </p:cNvSpPr>
          <p:nvPr>
            <p:ph type="ftr" idx="11"/>
          </p:nvPr>
        </p:nvSpPr>
        <p:spPr>
          <a:xfrm>
            <a:off x="4861675" y="62801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3"/>
          <p:cNvSpPr txBox="1">
            <a:spLocks noGrp="1"/>
          </p:cNvSpPr>
          <p:nvPr>
            <p:ph type="sldNum" idx="12"/>
          </p:nvPr>
        </p:nvSpPr>
        <p:spPr>
          <a:xfrm>
            <a:off x="9144000" y="62801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26632715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UdeA-Nueva 1 1 1">
  <p:cSld name="UdeA-Nueva 1 1 1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5"/>
          <p:cNvSpPr txBox="1">
            <a:spLocks noGrp="1"/>
          </p:cNvSpPr>
          <p:nvPr>
            <p:ph type="title"/>
          </p:nvPr>
        </p:nvSpPr>
        <p:spPr>
          <a:xfrm>
            <a:off x="916650" y="96038"/>
            <a:ext cx="8304000" cy="9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rgbClr val="701E5C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5"/>
          <p:cNvSpPr txBox="1">
            <a:spLocks noGrp="1"/>
          </p:cNvSpPr>
          <p:nvPr>
            <p:ph type="body" idx="1"/>
          </p:nvPr>
        </p:nvSpPr>
        <p:spPr>
          <a:xfrm>
            <a:off x="838200" y="1318001"/>
            <a:ext cx="10515600" cy="485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51" name="Google Shape;51;p5"/>
          <p:cNvSpPr txBox="1">
            <a:spLocks noGrp="1"/>
          </p:cNvSpPr>
          <p:nvPr>
            <p:ph type="dt" idx="10"/>
          </p:nvPr>
        </p:nvSpPr>
        <p:spPr>
          <a:xfrm>
            <a:off x="1264600" y="62801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5"/>
          <p:cNvSpPr txBox="1">
            <a:spLocks noGrp="1"/>
          </p:cNvSpPr>
          <p:nvPr>
            <p:ph type="ftr" idx="11"/>
          </p:nvPr>
        </p:nvSpPr>
        <p:spPr>
          <a:xfrm>
            <a:off x="4755775" y="62801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5"/>
          <p:cNvSpPr txBox="1">
            <a:spLocks noGrp="1"/>
          </p:cNvSpPr>
          <p:nvPr>
            <p:ph type="sldNum" idx="12"/>
          </p:nvPr>
        </p:nvSpPr>
        <p:spPr>
          <a:xfrm>
            <a:off x="9144000" y="62801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527755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A21BE253-63B4-4592-9836-5EE7878877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B161CC22-284D-4852-88A6-42FAE879EC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AFF3DB4-8DB5-4128-80EC-44D189CB522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3C8284F-694B-4884-99C3-8C7EF2C15C9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01EE26D-5BEE-4136-B76E-FB6BB99F602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812597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  <p:sldLayoutId id="2147483666" r:id="rId2"/>
    <p:sldLayoutId id="2147483667" r:id="rId3"/>
    <p:sldLayoutId id="2147483668" r:id="rId4"/>
    <p:sldLayoutId id="2147483669" r:id="rId5"/>
    <p:sldLayoutId id="2147483670" r:id="rId6"/>
    <p:sldLayoutId id="2147483671" r:id="rId7"/>
    <p:sldLayoutId id="2147483672" r:id="rId8"/>
    <p:sldLayoutId id="2147483673" r:id="rId9"/>
    <p:sldLayoutId id="2147483674" r:id="rId10"/>
    <p:sldLayoutId id="2147483675" r:id="rId11"/>
    <p:sldLayoutId id="2147483676" r:id="rId12"/>
    <p:sldLayoutId id="2147483677" r:id="rId13"/>
    <p:sldLayoutId id="2147483678" r:id="rId14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3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4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1.png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os-book.com/OS10/index.html" TargetMode="External"/><Relationship Id="rId13" Type="http://schemas.openxmlformats.org/officeDocument/2006/relationships/hyperlink" Target="https://www.technologyuk.net/computing/computer-software/operating-systems/operating-system-utilities.shtml" TargetMode="External"/><Relationship Id="rId3" Type="http://schemas.openxmlformats.org/officeDocument/2006/relationships/hyperlink" Target="http://pages.cs.wisc.edu/~remzi/OSTEP/" TargetMode="External"/><Relationship Id="rId7" Type="http://schemas.openxmlformats.org/officeDocument/2006/relationships/hyperlink" Target="http://pages.cs.wisc.edu/~remzi/" TargetMode="External"/><Relationship Id="rId12" Type="http://schemas.openxmlformats.org/officeDocument/2006/relationships/hyperlink" Target="https://myaut.github.io/dtrace-stap-book/index.html" TargetMode="External"/><Relationship Id="rId2" Type="http://schemas.openxmlformats.org/officeDocument/2006/relationships/notesSlide" Target="../notesSlides/notesSlide49.xml"/><Relationship Id="rId16" Type="http://schemas.openxmlformats.org/officeDocument/2006/relationships/hyperlink" Target="http://csl.snu.ac.kr/courses/4190.307/2020-1/" TargetMode="External"/><Relationship Id="rId1" Type="http://schemas.openxmlformats.org/officeDocument/2006/relationships/slideLayout" Target="../slideLayouts/slideLayout14.xml"/><Relationship Id="rId6" Type="http://schemas.openxmlformats.org/officeDocument/2006/relationships/hyperlink" Target="https://www.youtube.com/playlist?list=PLlTZ99qnw3zKBiKz7pZ_ErH3AR3rpaaKT" TargetMode="External"/><Relationship Id="rId11" Type="http://schemas.openxmlformats.org/officeDocument/2006/relationships/hyperlink" Target="https://myaut.github.io/dtrace-stap-book/kernel/proc.html" TargetMode="External"/><Relationship Id="rId5" Type="http://schemas.openxmlformats.org/officeDocument/2006/relationships/hyperlink" Target="http://pages.cs.wisc.edu/~remzi/OSTEP/intro.pdf" TargetMode="External"/><Relationship Id="rId15" Type="http://schemas.openxmlformats.org/officeDocument/2006/relationships/hyperlink" Target="https://courses.cs.duke.edu/spring19/compsci590.1/slides/" TargetMode="External"/><Relationship Id="rId10" Type="http://schemas.openxmlformats.org/officeDocument/2006/relationships/hyperlink" Target="https://github.com/Aniruddha-Tapas/Operating-Systems-Notes/blob/master/1-Overview.md" TargetMode="External"/><Relationship Id="rId4" Type="http://schemas.openxmlformats.org/officeDocument/2006/relationships/hyperlink" Target="http://pages.cs.wisc.edu/~remzi/OSTEP/dialogue-threeeasy.pdf" TargetMode="External"/><Relationship Id="rId9" Type="http://schemas.openxmlformats.org/officeDocument/2006/relationships/hyperlink" Target="https://applied-programming.github.io/Operating-Systems-Notes/" TargetMode="External"/><Relationship Id="rId14" Type="http://schemas.openxmlformats.org/officeDocument/2006/relationships/hyperlink" Target="http://www.it.uu.se/education/course/homepage/os/vt18/module-4/simple-threads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17"/>
          <p:cNvSpPr txBox="1">
            <a:spLocks noGrp="1"/>
          </p:cNvSpPr>
          <p:nvPr>
            <p:ph type="ctrTitle"/>
          </p:nvPr>
        </p:nvSpPr>
        <p:spPr>
          <a:xfrm>
            <a:off x="408725" y="2964875"/>
            <a:ext cx="11050772" cy="922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Roboto Slab"/>
              <a:buNone/>
            </a:pPr>
            <a:r>
              <a:rPr lang="es-ES" b="1" dirty="0"/>
              <a:t>Sistemas Operativos</a:t>
            </a:r>
            <a:endParaRPr sz="3200" dirty="0"/>
          </a:p>
        </p:txBody>
      </p:sp>
      <p:sp>
        <p:nvSpPr>
          <p:cNvPr id="140" name="Google Shape;140;p17"/>
          <p:cNvSpPr txBox="1">
            <a:spLocks noGrp="1"/>
          </p:cNvSpPr>
          <p:nvPr>
            <p:ph type="subTitle" idx="1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s-ES" sz="3200" b="1" dirty="0"/>
              <a:t>Segmentación</a:t>
            </a:r>
          </a:p>
          <a:p>
            <a:pPr marL="0" lvl="0" indent="0" algn="ctr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s-ES" dirty="0">
                <a:ea typeface="Roboto"/>
                <a:cs typeface="Roboto"/>
                <a:sym typeface="Roboto"/>
              </a:rPr>
              <a:t>19/03/2026</a:t>
            </a:r>
            <a:endParaRPr dirty="0"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Memoria Física – Memoria Virtual</a:t>
            </a:r>
            <a:endParaRPr dirty="0"/>
          </a:p>
        </p:txBody>
      </p:sp>
      <p:grpSp>
        <p:nvGrpSpPr>
          <p:cNvPr id="159" name="Google Shape;159;p20"/>
          <p:cNvGrpSpPr/>
          <p:nvPr/>
        </p:nvGrpSpPr>
        <p:grpSpPr>
          <a:xfrm>
            <a:off x="4834054" y="2812868"/>
            <a:ext cx="806322" cy="1163511"/>
            <a:chOff x="1775100" y="4022850"/>
            <a:chExt cx="1076100" cy="1739700"/>
          </a:xfrm>
        </p:grpSpPr>
        <p:sp>
          <p:nvSpPr>
            <p:cNvPr id="160" name="Google Shape;160;p20"/>
            <p:cNvSpPr/>
            <p:nvPr/>
          </p:nvSpPr>
          <p:spPr>
            <a:xfrm>
              <a:off x="1775100" y="4022850"/>
              <a:ext cx="1076100" cy="1739700"/>
            </a:xfrm>
            <a:prstGeom prst="rect">
              <a:avLst/>
            </a:prstGeom>
            <a:solidFill>
              <a:srgbClr val="EFEFEF"/>
            </a:solidFill>
            <a:ln w="19050" cap="flat" cmpd="sng">
              <a:solidFill>
                <a:srgbClr val="22222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61" name="Google Shape;161;p20"/>
            <p:cNvGrpSpPr/>
            <p:nvPr/>
          </p:nvGrpSpPr>
          <p:grpSpPr>
            <a:xfrm>
              <a:off x="1775100" y="4022850"/>
              <a:ext cx="1076100" cy="1739675"/>
              <a:chOff x="7948250" y="2813125"/>
              <a:chExt cx="1076100" cy="1739675"/>
            </a:xfrm>
          </p:grpSpPr>
          <p:sp>
            <p:nvSpPr>
              <p:cNvPr id="162" name="Google Shape;162;p20"/>
              <p:cNvSpPr/>
              <p:nvPr/>
            </p:nvSpPr>
            <p:spPr>
              <a:xfrm>
                <a:off x="7948250" y="2813125"/>
                <a:ext cx="1076100" cy="284400"/>
              </a:xfrm>
              <a:prstGeom prst="rect">
                <a:avLst/>
              </a:prstGeom>
              <a:solidFill>
                <a:srgbClr val="F4CCCC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800" b="1" dirty="0">
                    <a:latin typeface="Courier New"/>
                    <a:ea typeface="Courier New"/>
                    <a:cs typeface="Courier New"/>
                    <a:sym typeface="Courier New"/>
                  </a:rPr>
                  <a:t>Code</a:t>
                </a:r>
                <a:endParaRPr sz="800" b="1" dirty="0"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  <p:sp>
            <p:nvSpPr>
              <p:cNvPr id="163" name="Google Shape;163;p20"/>
              <p:cNvSpPr/>
              <p:nvPr/>
            </p:nvSpPr>
            <p:spPr>
              <a:xfrm>
                <a:off x="7950650" y="3085775"/>
                <a:ext cx="1073100" cy="370800"/>
              </a:xfrm>
              <a:prstGeom prst="rect">
                <a:avLst/>
              </a:prstGeom>
              <a:solidFill>
                <a:srgbClr val="FFE599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800" b="1">
                    <a:latin typeface="Courier New"/>
                    <a:ea typeface="Courier New"/>
                    <a:cs typeface="Courier New"/>
                    <a:sym typeface="Courier New"/>
                  </a:rPr>
                  <a:t>Data</a:t>
                </a:r>
                <a:endParaRPr/>
              </a:p>
            </p:txBody>
          </p:sp>
          <p:sp>
            <p:nvSpPr>
              <p:cNvPr id="164" name="Google Shape;164;p20"/>
              <p:cNvSpPr/>
              <p:nvPr/>
            </p:nvSpPr>
            <p:spPr>
              <a:xfrm>
                <a:off x="7948250" y="3406050"/>
                <a:ext cx="1076100" cy="284400"/>
              </a:xfrm>
              <a:prstGeom prst="rect">
                <a:avLst/>
              </a:prstGeom>
              <a:solidFill>
                <a:srgbClr val="CFE2F3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800" b="1" dirty="0">
                    <a:latin typeface="Courier New"/>
                    <a:ea typeface="Courier New"/>
                    <a:cs typeface="Courier New"/>
                    <a:sym typeface="Courier New"/>
                  </a:rPr>
                  <a:t>heap</a:t>
                </a:r>
                <a:endParaRPr dirty="0"/>
              </a:p>
            </p:txBody>
          </p:sp>
          <p:sp>
            <p:nvSpPr>
              <p:cNvPr id="165" name="Google Shape;165;p20"/>
              <p:cNvSpPr/>
              <p:nvPr/>
            </p:nvSpPr>
            <p:spPr>
              <a:xfrm>
                <a:off x="7948250" y="4268400"/>
                <a:ext cx="1076100" cy="284400"/>
              </a:xfrm>
              <a:prstGeom prst="rect">
                <a:avLst/>
              </a:prstGeom>
              <a:solidFill>
                <a:srgbClr val="CFE2F3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800" b="1" dirty="0">
                    <a:latin typeface="Courier New"/>
                    <a:ea typeface="Courier New"/>
                    <a:cs typeface="Courier New"/>
                    <a:sym typeface="Courier New"/>
                  </a:rPr>
                  <a:t>stack</a:t>
                </a:r>
                <a:endParaRPr dirty="0"/>
              </a:p>
            </p:txBody>
          </p:sp>
          <p:cxnSp>
            <p:nvCxnSpPr>
              <p:cNvPr id="166" name="Google Shape;166;p20"/>
              <p:cNvCxnSpPr>
                <a:stCxn id="164" idx="2"/>
              </p:cNvCxnSpPr>
              <p:nvPr/>
            </p:nvCxnSpPr>
            <p:spPr>
              <a:xfrm>
                <a:off x="8486300" y="3690450"/>
                <a:ext cx="6900" cy="2613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67" name="Google Shape;167;p20"/>
              <p:cNvCxnSpPr>
                <a:stCxn id="165" idx="0"/>
              </p:cNvCxnSpPr>
              <p:nvPr/>
            </p:nvCxnSpPr>
            <p:spPr>
              <a:xfrm rot="10800000" flipH="1">
                <a:off x="8486300" y="4035600"/>
                <a:ext cx="4200" cy="2328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</p:grpSp>
      </p:grpSp>
      <p:grpSp>
        <p:nvGrpSpPr>
          <p:cNvPr id="168" name="Google Shape;168;p20"/>
          <p:cNvGrpSpPr/>
          <p:nvPr/>
        </p:nvGrpSpPr>
        <p:grpSpPr>
          <a:xfrm>
            <a:off x="4834042" y="4419243"/>
            <a:ext cx="806322" cy="1163511"/>
            <a:chOff x="1775100" y="4022850"/>
            <a:chExt cx="1076100" cy="1739700"/>
          </a:xfrm>
        </p:grpSpPr>
        <p:sp>
          <p:nvSpPr>
            <p:cNvPr id="169" name="Google Shape;169;p20"/>
            <p:cNvSpPr/>
            <p:nvPr/>
          </p:nvSpPr>
          <p:spPr>
            <a:xfrm>
              <a:off x="1775100" y="4022850"/>
              <a:ext cx="1076100" cy="1739700"/>
            </a:xfrm>
            <a:prstGeom prst="rect">
              <a:avLst/>
            </a:prstGeom>
            <a:solidFill>
              <a:srgbClr val="EFEFEF"/>
            </a:solidFill>
            <a:ln w="19050" cap="flat" cmpd="sng">
              <a:solidFill>
                <a:srgbClr val="22222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70" name="Google Shape;170;p20"/>
            <p:cNvGrpSpPr/>
            <p:nvPr/>
          </p:nvGrpSpPr>
          <p:grpSpPr>
            <a:xfrm>
              <a:off x="1775100" y="4022850"/>
              <a:ext cx="1076100" cy="1739675"/>
              <a:chOff x="7948250" y="2813125"/>
              <a:chExt cx="1076100" cy="1739675"/>
            </a:xfrm>
          </p:grpSpPr>
          <p:sp>
            <p:nvSpPr>
              <p:cNvPr id="171" name="Google Shape;171;p20"/>
              <p:cNvSpPr/>
              <p:nvPr/>
            </p:nvSpPr>
            <p:spPr>
              <a:xfrm>
                <a:off x="7948250" y="2813125"/>
                <a:ext cx="1076100" cy="284400"/>
              </a:xfrm>
              <a:prstGeom prst="rect">
                <a:avLst/>
              </a:prstGeom>
              <a:solidFill>
                <a:srgbClr val="F4CCCC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800" b="1" dirty="0">
                    <a:latin typeface="Courier New"/>
                    <a:ea typeface="Courier New"/>
                    <a:cs typeface="Courier New"/>
                    <a:sym typeface="Courier New"/>
                  </a:rPr>
                  <a:t>Code</a:t>
                </a:r>
                <a:endParaRPr sz="800" b="1" dirty="0"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  <p:sp>
            <p:nvSpPr>
              <p:cNvPr id="172" name="Google Shape;172;p20"/>
              <p:cNvSpPr/>
              <p:nvPr/>
            </p:nvSpPr>
            <p:spPr>
              <a:xfrm>
                <a:off x="7950650" y="3085775"/>
                <a:ext cx="1073100" cy="370800"/>
              </a:xfrm>
              <a:prstGeom prst="rect">
                <a:avLst/>
              </a:prstGeom>
              <a:solidFill>
                <a:srgbClr val="FFE599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800" b="1">
                    <a:latin typeface="Courier New"/>
                    <a:ea typeface="Courier New"/>
                    <a:cs typeface="Courier New"/>
                    <a:sym typeface="Courier New"/>
                  </a:rPr>
                  <a:t>Data</a:t>
                </a:r>
                <a:endParaRPr/>
              </a:p>
            </p:txBody>
          </p:sp>
          <p:sp>
            <p:nvSpPr>
              <p:cNvPr id="173" name="Google Shape;173;p20"/>
              <p:cNvSpPr/>
              <p:nvPr/>
            </p:nvSpPr>
            <p:spPr>
              <a:xfrm>
                <a:off x="7948250" y="3406050"/>
                <a:ext cx="1076100" cy="284400"/>
              </a:xfrm>
              <a:prstGeom prst="rect">
                <a:avLst/>
              </a:prstGeom>
              <a:solidFill>
                <a:srgbClr val="CFE2F3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800" b="1" dirty="0">
                    <a:latin typeface="Courier New"/>
                    <a:ea typeface="Courier New"/>
                    <a:cs typeface="Courier New"/>
                    <a:sym typeface="Courier New"/>
                  </a:rPr>
                  <a:t>heap</a:t>
                </a:r>
                <a:endParaRPr dirty="0"/>
              </a:p>
            </p:txBody>
          </p:sp>
          <p:sp>
            <p:nvSpPr>
              <p:cNvPr id="174" name="Google Shape;174;p20"/>
              <p:cNvSpPr/>
              <p:nvPr/>
            </p:nvSpPr>
            <p:spPr>
              <a:xfrm>
                <a:off x="7948250" y="4268400"/>
                <a:ext cx="1076100" cy="284400"/>
              </a:xfrm>
              <a:prstGeom prst="rect">
                <a:avLst/>
              </a:prstGeom>
              <a:solidFill>
                <a:srgbClr val="CFE2F3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800" b="1" dirty="0">
                    <a:latin typeface="Courier New"/>
                    <a:ea typeface="Courier New"/>
                    <a:cs typeface="Courier New"/>
                    <a:sym typeface="Courier New"/>
                  </a:rPr>
                  <a:t>stack</a:t>
                </a:r>
                <a:endParaRPr dirty="0"/>
              </a:p>
            </p:txBody>
          </p:sp>
          <p:cxnSp>
            <p:nvCxnSpPr>
              <p:cNvPr id="175" name="Google Shape;175;p20"/>
              <p:cNvCxnSpPr>
                <a:stCxn id="173" idx="2"/>
              </p:cNvCxnSpPr>
              <p:nvPr/>
            </p:nvCxnSpPr>
            <p:spPr>
              <a:xfrm>
                <a:off x="8486300" y="3690450"/>
                <a:ext cx="6900" cy="2613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76" name="Google Shape;176;p20"/>
              <p:cNvCxnSpPr>
                <a:stCxn id="174" idx="0"/>
              </p:cNvCxnSpPr>
              <p:nvPr/>
            </p:nvCxnSpPr>
            <p:spPr>
              <a:xfrm rot="10800000" flipH="1">
                <a:off x="8486300" y="4035600"/>
                <a:ext cx="4200" cy="2328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</p:grpSp>
      </p:grpSp>
      <p:grpSp>
        <p:nvGrpSpPr>
          <p:cNvPr id="177" name="Google Shape;177;p20"/>
          <p:cNvGrpSpPr/>
          <p:nvPr/>
        </p:nvGrpSpPr>
        <p:grpSpPr>
          <a:xfrm>
            <a:off x="7779525" y="1761450"/>
            <a:ext cx="822300" cy="4218300"/>
            <a:chOff x="6401200" y="2198400"/>
            <a:chExt cx="822300" cy="4218300"/>
          </a:xfrm>
        </p:grpSpPr>
        <p:sp>
          <p:nvSpPr>
            <p:cNvPr id="178" name="Google Shape;178;p20"/>
            <p:cNvSpPr/>
            <p:nvPr/>
          </p:nvSpPr>
          <p:spPr>
            <a:xfrm>
              <a:off x="6401200" y="2198400"/>
              <a:ext cx="822300" cy="4218300"/>
            </a:xfrm>
            <a:prstGeom prst="rect">
              <a:avLst/>
            </a:prstGeom>
            <a:solidFill>
              <a:srgbClr val="F3F3F3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79" name="Google Shape;179;p20"/>
            <p:cNvGrpSpPr/>
            <p:nvPr/>
          </p:nvGrpSpPr>
          <p:grpSpPr>
            <a:xfrm>
              <a:off x="6409192" y="3112418"/>
              <a:ext cx="806322" cy="1163511"/>
              <a:chOff x="1775100" y="4022850"/>
              <a:chExt cx="1076100" cy="1739700"/>
            </a:xfrm>
          </p:grpSpPr>
          <p:sp>
            <p:nvSpPr>
              <p:cNvPr id="180" name="Google Shape;180;p20"/>
              <p:cNvSpPr/>
              <p:nvPr/>
            </p:nvSpPr>
            <p:spPr>
              <a:xfrm>
                <a:off x="1775100" y="4022850"/>
                <a:ext cx="1076100" cy="1739700"/>
              </a:xfrm>
              <a:prstGeom prst="rect">
                <a:avLst/>
              </a:prstGeom>
              <a:solidFill>
                <a:srgbClr val="EFEFEF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81" name="Google Shape;181;p20"/>
              <p:cNvGrpSpPr/>
              <p:nvPr/>
            </p:nvGrpSpPr>
            <p:grpSpPr>
              <a:xfrm>
                <a:off x="1775100" y="4022850"/>
                <a:ext cx="1076100" cy="1739675"/>
                <a:chOff x="7948250" y="2813125"/>
                <a:chExt cx="1076100" cy="1739675"/>
              </a:xfrm>
            </p:grpSpPr>
            <p:sp>
              <p:nvSpPr>
                <p:cNvPr id="182" name="Google Shape;182;p20"/>
                <p:cNvSpPr/>
                <p:nvPr/>
              </p:nvSpPr>
              <p:spPr>
                <a:xfrm>
                  <a:off x="7948250" y="2813125"/>
                  <a:ext cx="1076100" cy="284400"/>
                </a:xfrm>
                <a:prstGeom prst="rect">
                  <a:avLst/>
                </a:prstGeom>
                <a:solidFill>
                  <a:srgbClr val="F4CCCC"/>
                </a:solidFill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800" b="1" dirty="0">
                      <a:latin typeface="Courier New"/>
                      <a:ea typeface="Courier New"/>
                      <a:cs typeface="Courier New"/>
                      <a:sym typeface="Courier New"/>
                    </a:rPr>
                    <a:t>Code</a:t>
                  </a:r>
                  <a:endParaRPr sz="800" b="1" dirty="0">
                    <a:latin typeface="Courier New"/>
                    <a:ea typeface="Courier New"/>
                    <a:cs typeface="Courier New"/>
                    <a:sym typeface="Courier New"/>
                  </a:endParaRPr>
                </a:p>
              </p:txBody>
            </p:sp>
            <p:sp>
              <p:nvSpPr>
                <p:cNvPr id="183" name="Google Shape;183;p20"/>
                <p:cNvSpPr/>
                <p:nvPr/>
              </p:nvSpPr>
              <p:spPr>
                <a:xfrm>
                  <a:off x="7950650" y="3085775"/>
                  <a:ext cx="1073100" cy="370800"/>
                </a:xfrm>
                <a:prstGeom prst="rect">
                  <a:avLst/>
                </a:prstGeom>
                <a:solidFill>
                  <a:srgbClr val="FFE599"/>
                </a:solidFill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800" b="1">
                      <a:latin typeface="Courier New"/>
                      <a:ea typeface="Courier New"/>
                      <a:cs typeface="Courier New"/>
                      <a:sym typeface="Courier New"/>
                    </a:rPr>
                    <a:t>Data</a:t>
                  </a:r>
                  <a:endParaRPr/>
                </a:p>
              </p:txBody>
            </p:sp>
            <p:sp>
              <p:nvSpPr>
                <p:cNvPr id="184" name="Google Shape;184;p20"/>
                <p:cNvSpPr/>
                <p:nvPr/>
              </p:nvSpPr>
              <p:spPr>
                <a:xfrm>
                  <a:off x="7948250" y="3406050"/>
                  <a:ext cx="1076100" cy="284400"/>
                </a:xfrm>
                <a:prstGeom prst="rect">
                  <a:avLst/>
                </a:prstGeom>
                <a:solidFill>
                  <a:srgbClr val="CFE2F3"/>
                </a:solidFill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800" b="1" dirty="0">
                      <a:latin typeface="Courier New"/>
                      <a:ea typeface="Courier New"/>
                      <a:cs typeface="Courier New"/>
                      <a:sym typeface="Courier New"/>
                    </a:rPr>
                    <a:t>heap</a:t>
                  </a:r>
                  <a:endParaRPr dirty="0"/>
                </a:p>
              </p:txBody>
            </p:sp>
            <p:sp>
              <p:nvSpPr>
                <p:cNvPr id="185" name="Google Shape;185;p20"/>
                <p:cNvSpPr/>
                <p:nvPr/>
              </p:nvSpPr>
              <p:spPr>
                <a:xfrm>
                  <a:off x="7948250" y="4268400"/>
                  <a:ext cx="1076100" cy="284400"/>
                </a:xfrm>
                <a:prstGeom prst="rect">
                  <a:avLst/>
                </a:prstGeom>
                <a:solidFill>
                  <a:srgbClr val="CFE2F3"/>
                </a:solidFill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800" b="1" dirty="0">
                      <a:latin typeface="Courier New"/>
                      <a:ea typeface="Courier New"/>
                      <a:cs typeface="Courier New"/>
                      <a:sym typeface="Courier New"/>
                    </a:rPr>
                    <a:t>stack</a:t>
                  </a:r>
                  <a:endParaRPr dirty="0"/>
                </a:p>
              </p:txBody>
            </p:sp>
            <p:cxnSp>
              <p:nvCxnSpPr>
                <p:cNvPr id="186" name="Google Shape;186;p20"/>
                <p:cNvCxnSpPr>
                  <a:stCxn id="184" idx="2"/>
                </p:cNvCxnSpPr>
                <p:nvPr/>
              </p:nvCxnSpPr>
              <p:spPr>
                <a:xfrm>
                  <a:off x="8486300" y="3690450"/>
                  <a:ext cx="6900" cy="2613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  <p:cxnSp>
              <p:nvCxnSpPr>
                <p:cNvPr id="187" name="Google Shape;187;p20"/>
                <p:cNvCxnSpPr>
                  <a:stCxn id="185" idx="0"/>
                </p:cNvCxnSpPr>
                <p:nvPr/>
              </p:nvCxnSpPr>
              <p:spPr>
                <a:xfrm rot="10800000" flipH="1">
                  <a:off x="8486300" y="4035600"/>
                  <a:ext cx="4200" cy="2328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</p:grpSp>
        </p:grpSp>
        <p:grpSp>
          <p:nvGrpSpPr>
            <p:cNvPr id="188" name="Google Shape;188;p20"/>
            <p:cNvGrpSpPr/>
            <p:nvPr/>
          </p:nvGrpSpPr>
          <p:grpSpPr>
            <a:xfrm>
              <a:off x="6409192" y="4826918"/>
              <a:ext cx="806322" cy="1163511"/>
              <a:chOff x="1775100" y="4022850"/>
              <a:chExt cx="1076100" cy="1739700"/>
            </a:xfrm>
          </p:grpSpPr>
          <p:sp>
            <p:nvSpPr>
              <p:cNvPr id="189" name="Google Shape;189;p20"/>
              <p:cNvSpPr/>
              <p:nvPr/>
            </p:nvSpPr>
            <p:spPr>
              <a:xfrm>
                <a:off x="1775100" y="4022850"/>
                <a:ext cx="1076100" cy="1739700"/>
              </a:xfrm>
              <a:prstGeom prst="rect">
                <a:avLst/>
              </a:prstGeom>
              <a:solidFill>
                <a:srgbClr val="EFEFEF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90" name="Google Shape;190;p20"/>
              <p:cNvGrpSpPr/>
              <p:nvPr/>
            </p:nvGrpSpPr>
            <p:grpSpPr>
              <a:xfrm>
                <a:off x="1775100" y="4022850"/>
                <a:ext cx="1076100" cy="1739675"/>
                <a:chOff x="7948250" y="2813125"/>
                <a:chExt cx="1076100" cy="1739675"/>
              </a:xfrm>
            </p:grpSpPr>
            <p:sp>
              <p:nvSpPr>
                <p:cNvPr id="191" name="Google Shape;191;p20"/>
                <p:cNvSpPr/>
                <p:nvPr/>
              </p:nvSpPr>
              <p:spPr>
                <a:xfrm>
                  <a:off x="7948250" y="2813125"/>
                  <a:ext cx="1076100" cy="284400"/>
                </a:xfrm>
                <a:prstGeom prst="rect">
                  <a:avLst/>
                </a:prstGeom>
                <a:solidFill>
                  <a:srgbClr val="F4CCCC"/>
                </a:solidFill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800" b="1" dirty="0">
                      <a:latin typeface="Courier New"/>
                      <a:ea typeface="Courier New"/>
                      <a:cs typeface="Courier New"/>
                      <a:sym typeface="Courier New"/>
                    </a:rPr>
                    <a:t>Code</a:t>
                  </a:r>
                  <a:endParaRPr sz="800" b="1" dirty="0">
                    <a:latin typeface="Courier New"/>
                    <a:ea typeface="Courier New"/>
                    <a:cs typeface="Courier New"/>
                    <a:sym typeface="Courier New"/>
                  </a:endParaRPr>
                </a:p>
              </p:txBody>
            </p:sp>
            <p:sp>
              <p:nvSpPr>
                <p:cNvPr id="192" name="Google Shape;192;p20"/>
                <p:cNvSpPr/>
                <p:nvPr/>
              </p:nvSpPr>
              <p:spPr>
                <a:xfrm>
                  <a:off x="7950650" y="3085775"/>
                  <a:ext cx="1073100" cy="370800"/>
                </a:xfrm>
                <a:prstGeom prst="rect">
                  <a:avLst/>
                </a:prstGeom>
                <a:solidFill>
                  <a:srgbClr val="FFE599"/>
                </a:solidFill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800" b="1">
                      <a:latin typeface="Courier New"/>
                      <a:ea typeface="Courier New"/>
                      <a:cs typeface="Courier New"/>
                      <a:sym typeface="Courier New"/>
                    </a:rPr>
                    <a:t>Data</a:t>
                  </a:r>
                  <a:endParaRPr/>
                </a:p>
              </p:txBody>
            </p:sp>
            <p:sp>
              <p:nvSpPr>
                <p:cNvPr id="193" name="Google Shape;193;p20"/>
                <p:cNvSpPr/>
                <p:nvPr/>
              </p:nvSpPr>
              <p:spPr>
                <a:xfrm>
                  <a:off x="7948250" y="3406050"/>
                  <a:ext cx="1076100" cy="284400"/>
                </a:xfrm>
                <a:prstGeom prst="rect">
                  <a:avLst/>
                </a:prstGeom>
                <a:solidFill>
                  <a:srgbClr val="CFE2F3"/>
                </a:solidFill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800" b="1" dirty="0">
                      <a:latin typeface="Courier New"/>
                      <a:ea typeface="Courier New"/>
                      <a:cs typeface="Courier New"/>
                      <a:sym typeface="Courier New"/>
                    </a:rPr>
                    <a:t>heap</a:t>
                  </a:r>
                  <a:endParaRPr dirty="0"/>
                </a:p>
              </p:txBody>
            </p:sp>
            <p:sp>
              <p:nvSpPr>
                <p:cNvPr id="194" name="Google Shape;194;p20"/>
                <p:cNvSpPr/>
                <p:nvPr/>
              </p:nvSpPr>
              <p:spPr>
                <a:xfrm>
                  <a:off x="7948250" y="4268400"/>
                  <a:ext cx="1076100" cy="284400"/>
                </a:xfrm>
                <a:prstGeom prst="rect">
                  <a:avLst/>
                </a:prstGeom>
                <a:solidFill>
                  <a:srgbClr val="CFE2F3"/>
                </a:solidFill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800" b="1" dirty="0">
                      <a:latin typeface="Courier New"/>
                      <a:ea typeface="Courier New"/>
                      <a:cs typeface="Courier New"/>
                      <a:sym typeface="Courier New"/>
                    </a:rPr>
                    <a:t>stack</a:t>
                  </a:r>
                  <a:endParaRPr dirty="0"/>
                </a:p>
              </p:txBody>
            </p:sp>
            <p:cxnSp>
              <p:nvCxnSpPr>
                <p:cNvPr id="195" name="Google Shape;195;p20"/>
                <p:cNvCxnSpPr>
                  <a:stCxn id="193" idx="2"/>
                </p:cNvCxnSpPr>
                <p:nvPr/>
              </p:nvCxnSpPr>
              <p:spPr>
                <a:xfrm>
                  <a:off x="8486300" y="3690450"/>
                  <a:ext cx="6900" cy="2613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  <p:cxnSp>
              <p:nvCxnSpPr>
                <p:cNvPr id="196" name="Google Shape;196;p20"/>
                <p:cNvCxnSpPr>
                  <a:stCxn id="194" idx="0"/>
                </p:cNvCxnSpPr>
                <p:nvPr/>
              </p:nvCxnSpPr>
              <p:spPr>
                <a:xfrm rot="10800000" flipH="1">
                  <a:off x="8486300" y="4035600"/>
                  <a:ext cx="4200" cy="2328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</p:grpSp>
        </p:grpSp>
      </p:grpSp>
      <p:sp>
        <p:nvSpPr>
          <p:cNvPr id="197" name="Google Shape;197;p20"/>
          <p:cNvSpPr/>
          <p:nvPr/>
        </p:nvSpPr>
        <p:spPr>
          <a:xfrm>
            <a:off x="3108625" y="2909900"/>
            <a:ext cx="731100" cy="731100"/>
          </a:xfrm>
          <a:prstGeom prst="ellipse">
            <a:avLst/>
          </a:prstGeom>
          <a:solidFill>
            <a:srgbClr val="C9DAF8"/>
          </a:solidFill>
          <a:ln w="19050" cap="flat" cmpd="sng">
            <a:solidFill>
              <a:srgbClr val="22222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latin typeface="Courier New"/>
                <a:ea typeface="Courier New"/>
                <a:cs typeface="Courier New"/>
                <a:sym typeface="Courier New"/>
              </a:rPr>
              <a:t>P1</a:t>
            </a:r>
            <a:endParaRPr sz="180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98" name="Google Shape;198;p20"/>
          <p:cNvSpPr/>
          <p:nvPr/>
        </p:nvSpPr>
        <p:spPr>
          <a:xfrm>
            <a:off x="3102813" y="4536225"/>
            <a:ext cx="731100" cy="731100"/>
          </a:xfrm>
          <a:prstGeom prst="ellipse">
            <a:avLst/>
          </a:prstGeom>
          <a:solidFill>
            <a:srgbClr val="F4CCCC"/>
          </a:solidFill>
          <a:ln w="19050" cap="flat" cmpd="sng">
            <a:solidFill>
              <a:srgbClr val="22222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latin typeface="Courier New"/>
                <a:ea typeface="Courier New"/>
                <a:cs typeface="Courier New"/>
                <a:sym typeface="Courier New"/>
              </a:rPr>
              <a:t>P2</a:t>
            </a:r>
            <a:endParaRPr sz="1800">
              <a:latin typeface="Courier New"/>
              <a:ea typeface="Courier New"/>
              <a:cs typeface="Courier New"/>
              <a:sym typeface="Courier New"/>
            </a:endParaRPr>
          </a:p>
        </p:txBody>
      </p:sp>
      <p:cxnSp>
        <p:nvCxnSpPr>
          <p:cNvPr id="199" name="Google Shape;199;p20"/>
          <p:cNvCxnSpPr/>
          <p:nvPr/>
        </p:nvCxnSpPr>
        <p:spPr>
          <a:xfrm rot="10800000" flipH="1">
            <a:off x="5650175" y="2670425"/>
            <a:ext cx="2125500" cy="137100"/>
          </a:xfrm>
          <a:prstGeom prst="straightConnector1">
            <a:avLst/>
          </a:prstGeom>
          <a:noFill/>
          <a:ln w="19050" cap="flat" cmpd="sng">
            <a:solidFill>
              <a:srgbClr val="FF9900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0" name="Google Shape;200;p20"/>
          <p:cNvCxnSpPr/>
          <p:nvPr/>
        </p:nvCxnSpPr>
        <p:spPr>
          <a:xfrm rot="10800000" flipH="1">
            <a:off x="5650175" y="3843475"/>
            <a:ext cx="2128500" cy="140100"/>
          </a:xfrm>
          <a:prstGeom prst="straightConnector1">
            <a:avLst/>
          </a:prstGeom>
          <a:noFill/>
          <a:ln w="19050" cap="flat" cmpd="sng">
            <a:solidFill>
              <a:srgbClr val="FF9900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1" name="Google Shape;201;p20"/>
          <p:cNvCxnSpPr/>
          <p:nvPr/>
        </p:nvCxnSpPr>
        <p:spPr>
          <a:xfrm rot="10800000" flipH="1">
            <a:off x="5650175" y="4388725"/>
            <a:ext cx="2128500" cy="26400"/>
          </a:xfrm>
          <a:prstGeom prst="straightConnector1">
            <a:avLst/>
          </a:prstGeom>
          <a:noFill/>
          <a:ln w="19050" cap="flat" cmpd="sng">
            <a:solidFill>
              <a:srgbClr val="FF9900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2" name="Google Shape;202;p20"/>
          <p:cNvCxnSpPr/>
          <p:nvPr/>
        </p:nvCxnSpPr>
        <p:spPr>
          <a:xfrm rot="10800000" flipH="1">
            <a:off x="5644350" y="5562000"/>
            <a:ext cx="2134500" cy="24300"/>
          </a:xfrm>
          <a:prstGeom prst="straightConnector1">
            <a:avLst/>
          </a:prstGeom>
          <a:noFill/>
          <a:ln w="19050" cap="flat" cmpd="sng">
            <a:solidFill>
              <a:srgbClr val="FF9900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03" name="Google Shape;203;p20"/>
          <p:cNvSpPr txBox="1"/>
          <p:nvPr/>
        </p:nvSpPr>
        <p:spPr>
          <a:xfrm>
            <a:off x="3803325" y="3154775"/>
            <a:ext cx="7311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800">
                <a:solidFill>
                  <a:srgbClr val="FF0000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0x200000</a:t>
            </a:r>
            <a:endParaRPr sz="800">
              <a:solidFill>
                <a:srgbClr val="FF0000"/>
              </a:solidFill>
              <a:highlight>
                <a:schemeClr val="lt1"/>
              </a:highlight>
            </a:endParaRPr>
          </a:p>
        </p:txBody>
      </p:sp>
      <p:sp>
        <p:nvSpPr>
          <p:cNvPr id="204" name="Google Shape;204;p20"/>
          <p:cNvSpPr txBox="1"/>
          <p:nvPr/>
        </p:nvSpPr>
        <p:spPr>
          <a:xfrm>
            <a:off x="3791600" y="4743350"/>
            <a:ext cx="7311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800">
                <a:solidFill>
                  <a:srgbClr val="FF0000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0x200000</a:t>
            </a:r>
            <a:endParaRPr sz="800">
              <a:solidFill>
                <a:srgbClr val="FF0000"/>
              </a:solidFill>
              <a:highlight>
                <a:schemeClr val="lt1"/>
              </a:highlight>
            </a:endParaRPr>
          </a:p>
        </p:txBody>
      </p:sp>
      <p:cxnSp>
        <p:nvCxnSpPr>
          <p:cNvPr id="205" name="Google Shape;205;p20"/>
          <p:cNvCxnSpPr/>
          <p:nvPr/>
        </p:nvCxnSpPr>
        <p:spPr>
          <a:xfrm rot="10800000" flipH="1">
            <a:off x="4470275" y="4900400"/>
            <a:ext cx="352200" cy="2700"/>
          </a:xfrm>
          <a:prstGeom prst="straightConnector1">
            <a:avLst/>
          </a:prstGeom>
          <a:noFill/>
          <a:ln w="19050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06" name="Google Shape;206;p20"/>
          <p:cNvCxnSpPr/>
          <p:nvPr/>
        </p:nvCxnSpPr>
        <p:spPr>
          <a:xfrm rot="10800000" flipH="1">
            <a:off x="4481925" y="3307300"/>
            <a:ext cx="352200" cy="2700"/>
          </a:xfrm>
          <a:prstGeom prst="straightConnector1">
            <a:avLst/>
          </a:prstGeom>
          <a:noFill/>
          <a:ln w="19050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07" name="Google Shape;207;p20"/>
          <p:cNvCxnSpPr>
            <a:stCxn id="164" idx="3"/>
            <a:endCxn id="184" idx="1"/>
          </p:cNvCxnSpPr>
          <p:nvPr/>
        </p:nvCxnSpPr>
        <p:spPr>
          <a:xfrm rot="10800000" flipH="1">
            <a:off x="5640376" y="3167120"/>
            <a:ext cx="2147100" cy="137400"/>
          </a:xfrm>
          <a:prstGeom prst="bentConnector3">
            <a:avLst>
              <a:gd name="adj1" fmla="val 50001"/>
            </a:avLst>
          </a:prstGeom>
          <a:noFill/>
          <a:ln w="19050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08" name="Google Shape;208;p20"/>
          <p:cNvCxnSpPr>
            <a:stCxn id="173" idx="3"/>
            <a:endCxn id="193" idx="1"/>
          </p:cNvCxnSpPr>
          <p:nvPr/>
        </p:nvCxnSpPr>
        <p:spPr>
          <a:xfrm rot="10800000" flipH="1">
            <a:off x="5640363" y="4881495"/>
            <a:ext cx="2147100" cy="29400"/>
          </a:xfrm>
          <a:prstGeom prst="bentConnector3">
            <a:avLst>
              <a:gd name="adj1" fmla="val 50001"/>
            </a:avLst>
          </a:prstGeom>
          <a:noFill/>
          <a:ln w="19050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209" name="Google Shape;209;p20"/>
          <p:cNvGrpSpPr/>
          <p:nvPr/>
        </p:nvGrpSpPr>
        <p:grpSpPr>
          <a:xfrm>
            <a:off x="4534425" y="5996325"/>
            <a:ext cx="4426050" cy="615600"/>
            <a:chOff x="7439250" y="5328100"/>
            <a:chExt cx="4426050" cy="615600"/>
          </a:xfrm>
        </p:grpSpPr>
        <p:sp>
          <p:nvSpPr>
            <p:cNvPr id="210" name="Google Shape;210;p20"/>
            <p:cNvSpPr txBox="1"/>
            <p:nvPr/>
          </p:nvSpPr>
          <p:spPr>
            <a:xfrm>
              <a:off x="7439250" y="5328100"/>
              <a:ext cx="1539600" cy="615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b="1">
                  <a:solidFill>
                    <a:srgbClr val="70AD47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Memoria Virtual</a:t>
              </a:r>
              <a:endParaRPr b="1">
                <a:solidFill>
                  <a:srgbClr val="70AD47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211" name="Google Shape;211;p20"/>
            <p:cNvSpPr txBox="1"/>
            <p:nvPr/>
          </p:nvSpPr>
          <p:spPr>
            <a:xfrm>
              <a:off x="10325700" y="5328100"/>
              <a:ext cx="1539600" cy="615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b="1">
                  <a:solidFill>
                    <a:schemeClr val="accent6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Memoria Física</a:t>
              </a:r>
              <a:endParaRPr b="1">
                <a:solidFill>
                  <a:schemeClr val="accent6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grpSp>
          <p:nvGrpSpPr>
            <p:cNvPr id="212" name="Google Shape;212;p20"/>
            <p:cNvGrpSpPr/>
            <p:nvPr/>
          </p:nvGrpSpPr>
          <p:grpSpPr>
            <a:xfrm>
              <a:off x="9023475" y="5328100"/>
              <a:ext cx="1353000" cy="615600"/>
              <a:chOff x="9023475" y="5328100"/>
              <a:chExt cx="1353000" cy="615600"/>
            </a:xfrm>
          </p:grpSpPr>
          <p:sp>
            <p:nvSpPr>
              <p:cNvPr id="213" name="Google Shape;213;p20"/>
              <p:cNvSpPr/>
              <p:nvPr/>
            </p:nvSpPr>
            <p:spPr>
              <a:xfrm>
                <a:off x="9023475" y="5328100"/>
                <a:ext cx="1353000" cy="615600"/>
              </a:xfrm>
              <a:prstGeom prst="rightArrow">
                <a:avLst>
                  <a:gd name="adj1" fmla="val 50000"/>
                  <a:gd name="adj2" fmla="val 50000"/>
                </a:avLst>
              </a:prstGeom>
              <a:solidFill>
                <a:srgbClr val="EA9999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" name="Google Shape;214;p20"/>
              <p:cNvSpPr txBox="1"/>
              <p:nvPr/>
            </p:nvSpPr>
            <p:spPr>
              <a:xfrm>
                <a:off x="9170324" y="5404300"/>
                <a:ext cx="963900" cy="44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700" b="1">
                    <a:solidFill>
                      <a:schemeClr val="lt1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Mapeo</a:t>
                </a:r>
                <a:endParaRPr sz="1700" b="1">
                  <a:solidFill>
                    <a:schemeClr val="lt1"/>
                  </a:solidFill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</p:grpSp>
      </p:grpSp>
      <p:sp>
        <p:nvSpPr>
          <p:cNvPr id="215" name="Google Shape;215;p20"/>
          <p:cNvSpPr/>
          <p:nvPr/>
        </p:nvSpPr>
        <p:spPr>
          <a:xfrm>
            <a:off x="7780000" y="1772550"/>
            <a:ext cx="822300" cy="5541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900" b="1">
                <a:latin typeface="Courier New"/>
                <a:ea typeface="Courier New"/>
                <a:cs typeface="Courier New"/>
                <a:sym typeface="Courier New"/>
              </a:rPr>
              <a:t>Operating system</a:t>
            </a:r>
            <a:endParaRPr sz="900" b="1"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2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Address translation - Mapeo</a:t>
            </a:r>
            <a:endParaRPr dirty="0"/>
          </a:p>
        </p:txBody>
      </p:sp>
      <p:grpSp>
        <p:nvGrpSpPr>
          <p:cNvPr id="222" name="Google Shape;222;p21"/>
          <p:cNvGrpSpPr/>
          <p:nvPr/>
        </p:nvGrpSpPr>
        <p:grpSpPr>
          <a:xfrm>
            <a:off x="1707350" y="5436125"/>
            <a:ext cx="9378375" cy="1156800"/>
            <a:chOff x="1094825" y="3951525"/>
            <a:chExt cx="9378375" cy="1156800"/>
          </a:xfrm>
        </p:grpSpPr>
        <p:grpSp>
          <p:nvGrpSpPr>
            <p:cNvPr id="223" name="Google Shape;223;p21"/>
            <p:cNvGrpSpPr/>
            <p:nvPr/>
          </p:nvGrpSpPr>
          <p:grpSpPr>
            <a:xfrm>
              <a:off x="3591725" y="3951525"/>
              <a:ext cx="4103700" cy="1156800"/>
              <a:chOff x="3401900" y="3904875"/>
              <a:chExt cx="4103700" cy="1156800"/>
            </a:xfrm>
          </p:grpSpPr>
          <p:sp>
            <p:nvSpPr>
              <p:cNvPr id="224" name="Google Shape;224;p21"/>
              <p:cNvSpPr/>
              <p:nvPr/>
            </p:nvSpPr>
            <p:spPr>
              <a:xfrm>
                <a:off x="4883000" y="3904875"/>
                <a:ext cx="1141500" cy="1156800"/>
              </a:xfrm>
              <a:prstGeom prst="rect">
                <a:avLst/>
              </a:prstGeom>
              <a:solidFill>
                <a:srgbClr val="F4CCCC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500" b="1">
                    <a:latin typeface="Consolas"/>
                    <a:ea typeface="Consolas"/>
                    <a:cs typeface="Consolas"/>
                    <a:sym typeface="Consolas"/>
                  </a:rPr>
                  <a:t>AT</a:t>
                </a:r>
                <a:endParaRPr sz="2500" b="1">
                  <a:latin typeface="Consolas"/>
                  <a:ea typeface="Consolas"/>
                  <a:cs typeface="Consolas"/>
                  <a:sym typeface="Consolas"/>
                </a:endParaRPr>
              </a:p>
            </p:txBody>
          </p:sp>
          <p:cxnSp>
            <p:nvCxnSpPr>
              <p:cNvPr id="225" name="Google Shape;225;p21"/>
              <p:cNvCxnSpPr/>
              <p:nvPr/>
            </p:nvCxnSpPr>
            <p:spPr>
              <a:xfrm>
                <a:off x="3401900" y="4483275"/>
                <a:ext cx="14811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226" name="Google Shape;226;p21"/>
              <p:cNvCxnSpPr/>
              <p:nvPr/>
            </p:nvCxnSpPr>
            <p:spPr>
              <a:xfrm>
                <a:off x="6024500" y="4483275"/>
                <a:ext cx="14811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</p:grpSp>
        <p:sp>
          <p:nvSpPr>
            <p:cNvPr id="227" name="Google Shape;227;p21"/>
            <p:cNvSpPr txBox="1"/>
            <p:nvPr/>
          </p:nvSpPr>
          <p:spPr>
            <a:xfrm>
              <a:off x="1094825" y="4129725"/>
              <a:ext cx="2496900" cy="800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dirty="0">
                  <a:latin typeface="Consolas"/>
                  <a:ea typeface="Consolas"/>
                  <a:cs typeface="Consolas"/>
                  <a:sym typeface="Consolas"/>
                </a:rPr>
                <a:t>Virtual Address</a:t>
              </a:r>
              <a:endParaRPr sz="2000" dirty="0"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dirty="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VA</a:t>
              </a:r>
              <a:endParaRPr sz="2000" dirty="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228" name="Google Shape;228;p21"/>
            <p:cNvSpPr txBox="1"/>
            <p:nvPr/>
          </p:nvSpPr>
          <p:spPr>
            <a:xfrm>
              <a:off x="7793900" y="4129725"/>
              <a:ext cx="2679300" cy="800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dirty="0">
                  <a:latin typeface="Consolas"/>
                  <a:ea typeface="Consolas"/>
                  <a:cs typeface="Consolas"/>
                  <a:sym typeface="Consolas"/>
                </a:rPr>
                <a:t>Physical Address</a:t>
              </a:r>
              <a:endParaRPr sz="2000" dirty="0"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dirty="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PA</a:t>
              </a:r>
              <a:endParaRPr sz="2000" dirty="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  <p:grpSp>
        <p:nvGrpSpPr>
          <p:cNvPr id="229" name="Google Shape;229;p21"/>
          <p:cNvGrpSpPr/>
          <p:nvPr/>
        </p:nvGrpSpPr>
        <p:grpSpPr>
          <a:xfrm>
            <a:off x="1753088" y="3053189"/>
            <a:ext cx="2514286" cy="1890706"/>
            <a:chOff x="1378950" y="2483639"/>
            <a:chExt cx="2514286" cy="1890706"/>
          </a:xfrm>
        </p:grpSpPr>
        <p:grpSp>
          <p:nvGrpSpPr>
            <p:cNvPr id="230" name="Google Shape;230;p21"/>
            <p:cNvGrpSpPr/>
            <p:nvPr/>
          </p:nvGrpSpPr>
          <p:grpSpPr>
            <a:xfrm>
              <a:off x="2957029" y="2483639"/>
              <a:ext cx="936207" cy="1890706"/>
              <a:chOff x="1775100" y="4022850"/>
              <a:chExt cx="1076100" cy="1739700"/>
            </a:xfrm>
          </p:grpSpPr>
          <p:sp>
            <p:nvSpPr>
              <p:cNvPr id="231" name="Google Shape;231;p21"/>
              <p:cNvSpPr/>
              <p:nvPr/>
            </p:nvSpPr>
            <p:spPr>
              <a:xfrm>
                <a:off x="1775100" y="4022850"/>
                <a:ext cx="1076100" cy="1739700"/>
              </a:xfrm>
              <a:prstGeom prst="rect">
                <a:avLst/>
              </a:prstGeom>
              <a:solidFill>
                <a:srgbClr val="EFEFEF"/>
              </a:solidFill>
              <a:ln w="19050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232" name="Google Shape;232;p21"/>
              <p:cNvGrpSpPr/>
              <p:nvPr/>
            </p:nvGrpSpPr>
            <p:grpSpPr>
              <a:xfrm>
                <a:off x="1775100" y="4022850"/>
                <a:ext cx="1076100" cy="1739675"/>
                <a:chOff x="7948250" y="2813125"/>
                <a:chExt cx="1076100" cy="1739675"/>
              </a:xfrm>
            </p:grpSpPr>
            <p:sp>
              <p:nvSpPr>
                <p:cNvPr id="233" name="Google Shape;233;p21"/>
                <p:cNvSpPr/>
                <p:nvPr/>
              </p:nvSpPr>
              <p:spPr>
                <a:xfrm>
                  <a:off x="7948250" y="2813125"/>
                  <a:ext cx="1076100" cy="284400"/>
                </a:xfrm>
                <a:prstGeom prst="rect">
                  <a:avLst/>
                </a:prstGeom>
                <a:solidFill>
                  <a:srgbClr val="F4CCCC"/>
                </a:solidFill>
                <a:ln w="9525" cap="flat" cmpd="sng">
                  <a:solidFill>
                    <a:srgbClr val="22222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b="1" dirty="0">
                      <a:latin typeface="Courier New"/>
                      <a:ea typeface="Courier New"/>
                      <a:cs typeface="Courier New"/>
                      <a:sym typeface="Courier New"/>
                    </a:rPr>
                    <a:t>Code</a:t>
                  </a:r>
                  <a:endParaRPr b="1" dirty="0">
                    <a:latin typeface="Courier New"/>
                    <a:ea typeface="Courier New"/>
                    <a:cs typeface="Courier New"/>
                    <a:sym typeface="Courier New"/>
                  </a:endParaRPr>
                </a:p>
              </p:txBody>
            </p:sp>
            <p:sp>
              <p:nvSpPr>
                <p:cNvPr id="234" name="Google Shape;234;p21"/>
                <p:cNvSpPr/>
                <p:nvPr/>
              </p:nvSpPr>
              <p:spPr>
                <a:xfrm>
                  <a:off x="7950650" y="3085775"/>
                  <a:ext cx="1073100" cy="370800"/>
                </a:xfrm>
                <a:prstGeom prst="rect">
                  <a:avLst/>
                </a:prstGeom>
                <a:solidFill>
                  <a:srgbClr val="FFE599"/>
                </a:solidFill>
                <a:ln w="9525" cap="flat" cmpd="sng">
                  <a:solidFill>
                    <a:srgbClr val="22222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b="1">
                      <a:latin typeface="Courier New"/>
                      <a:ea typeface="Courier New"/>
                      <a:cs typeface="Courier New"/>
                      <a:sym typeface="Courier New"/>
                    </a:rPr>
                    <a:t>Data</a:t>
                  </a:r>
                  <a:endParaRPr/>
                </a:p>
              </p:txBody>
            </p:sp>
            <p:sp>
              <p:nvSpPr>
                <p:cNvPr id="235" name="Google Shape;235;p21"/>
                <p:cNvSpPr/>
                <p:nvPr/>
              </p:nvSpPr>
              <p:spPr>
                <a:xfrm>
                  <a:off x="7948250" y="3406050"/>
                  <a:ext cx="1076100" cy="284400"/>
                </a:xfrm>
                <a:prstGeom prst="rect">
                  <a:avLst/>
                </a:prstGeom>
                <a:solidFill>
                  <a:srgbClr val="CFE2F3"/>
                </a:solidFill>
                <a:ln w="9525" cap="flat" cmpd="sng">
                  <a:solidFill>
                    <a:srgbClr val="22222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b="1" dirty="0">
                      <a:latin typeface="Courier New"/>
                      <a:ea typeface="Courier New"/>
                      <a:cs typeface="Courier New"/>
                      <a:sym typeface="Courier New"/>
                    </a:rPr>
                    <a:t>heap</a:t>
                  </a:r>
                  <a:endParaRPr dirty="0"/>
                </a:p>
              </p:txBody>
            </p:sp>
            <p:sp>
              <p:nvSpPr>
                <p:cNvPr id="236" name="Google Shape;236;p21"/>
                <p:cNvSpPr/>
                <p:nvPr/>
              </p:nvSpPr>
              <p:spPr>
                <a:xfrm>
                  <a:off x="7948250" y="4268400"/>
                  <a:ext cx="1076100" cy="284400"/>
                </a:xfrm>
                <a:prstGeom prst="rect">
                  <a:avLst/>
                </a:prstGeom>
                <a:solidFill>
                  <a:srgbClr val="CFE2F3"/>
                </a:solidFill>
                <a:ln w="9525" cap="flat" cmpd="sng">
                  <a:solidFill>
                    <a:srgbClr val="22222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b="1" dirty="0">
                      <a:latin typeface="Courier New"/>
                      <a:ea typeface="Courier New"/>
                      <a:cs typeface="Courier New"/>
                      <a:sym typeface="Courier New"/>
                    </a:rPr>
                    <a:t>stack</a:t>
                  </a:r>
                  <a:endParaRPr dirty="0"/>
                </a:p>
              </p:txBody>
            </p:sp>
            <p:cxnSp>
              <p:nvCxnSpPr>
                <p:cNvPr id="237" name="Google Shape;237;p21"/>
                <p:cNvCxnSpPr>
                  <a:stCxn id="235" idx="2"/>
                </p:cNvCxnSpPr>
                <p:nvPr/>
              </p:nvCxnSpPr>
              <p:spPr>
                <a:xfrm>
                  <a:off x="8486300" y="3690450"/>
                  <a:ext cx="6900" cy="2613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  <p:cxnSp>
              <p:nvCxnSpPr>
                <p:cNvPr id="238" name="Google Shape;238;p21"/>
                <p:cNvCxnSpPr>
                  <a:stCxn id="236" idx="0"/>
                </p:cNvCxnSpPr>
                <p:nvPr/>
              </p:nvCxnSpPr>
              <p:spPr>
                <a:xfrm rot="10800000" flipH="1">
                  <a:off x="8486300" y="4035600"/>
                  <a:ext cx="4200" cy="2328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</p:grpSp>
        </p:grpSp>
        <p:sp>
          <p:nvSpPr>
            <p:cNvPr id="239" name="Google Shape;239;p21"/>
            <p:cNvSpPr/>
            <p:nvPr/>
          </p:nvSpPr>
          <p:spPr>
            <a:xfrm>
              <a:off x="1378950" y="3063450"/>
              <a:ext cx="731100" cy="731100"/>
            </a:xfrm>
            <a:prstGeom prst="ellipse">
              <a:avLst/>
            </a:prstGeom>
            <a:solidFill>
              <a:srgbClr val="C9DAF8"/>
            </a:solidFill>
            <a:ln w="19050" cap="flat" cmpd="sng">
              <a:solidFill>
                <a:srgbClr val="22222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800">
                  <a:latin typeface="Courier New"/>
                  <a:ea typeface="Courier New"/>
                  <a:cs typeface="Courier New"/>
                  <a:sym typeface="Courier New"/>
                </a:rPr>
                <a:t>P</a:t>
              </a:r>
              <a:endParaRPr sz="180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cxnSp>
          <p:nvCxnSpPr>
            <p:cNvPr id="240" name="Google Shape;240;p21"/>
            <p:cNvCxnSpPr/>
            <p:nvPr/>
          </p:nvCxnSpPr>
          <p:spPr>
            <a:xfrm rot="10800000" flipH="1">
              <a:off x="1781475" y="2484825"/>
              <a:ext cx="1145100" cy="5334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241" name="Google Shape;241;p21"/>
            <p:cNvCxnSpPr/>
            <p:nvPr/>
          </p:nvCxnSpPr>
          <p:spPr>
            <a:xfrm>
              <a:off x="1779250" y="3833075"/>
              <a:ext cx="1138500" cy="5358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dash"/>
              <a:round/>
              <a:headEnd type="none" w="med" len="med"/>
              <a:tailEnd type="none" w="med" len="med"/>
            </a:ln>
          </p:spPr>
        </p:cxnSp>
      </p:grpSp>
      <p:sp>
        <p:nvSpPr>
          <p:cNvPr id="242" name="Google Shape;242;p21"/>
          <p:cNvSpPr txBox="1"/>
          <p:nvPr/>
        </p:nvSpPr>
        <p:spPr>
          <a:xfrm>
            <a:off x="2236625" y="2473675"/>
            <a:ext cx="19758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>
                <a:latin typeface="Consolas"/>
                <a:ea typeface="Consolas"/>
                <a:cs typeface="Consolas"/>
                <a:sym typeface="Consolas"/>
              </a:rPr>
              <a:t>Mapa de memoria</a:t>
            </a:r>
            <a:endParaRPr sz="1600">
              <a:latin typeface="Consolas"/>
              <a:ea typeface="Consolas"/>
              <a:cs typeface="Consolas"/>
              <a:sym typeface="Consolas"/>
            </a:endParaRPr>
          </a:p>
        </p:txBody>
      </p:sp>
      <p:grpSp>
        <p:nvGrpSpPr>
          <p:cNvPr id="243" name="Google Shape;243;p21"/>
          <p:cNvGrpSpPr/>
          <p:nvPr/>
        </p:nvGrpSpPr>
        <p:grpSpPr>
          <a:xfrm>
            <a:off x="9377638" y="2554025"/>
            <a:ext cx="822300" cy="2750411"/>
            <a:chOff x="8636788" y="1783150"/>
            <a:chExt cx="822300" cy="2750411"/>
          </a:xfrm>
        </p:grpSpPr>
        <p:sp>
          <p:nvSpPr>
            <p:cNvPr id="244" name="Google Shape;244;p21"/>
            <p:cNvSpPr/>
            <p:nvPr/>
          </p:nvSpPr>
          <p:spPr>
            <a:xfrm>
              <a:off x="8636788" y="1783161"/>
              <a:ext cx="822300" cy="2750400"/>
            </a:xfrm>
            <a:prstGeom prst="rect">
              <a:avLst/>
            </a:prstGeom>
            <a:solidFill>
              <a:srgbClr val="F3F3F3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45" name="Google Shape;245;p21"/>
            <p:cNvGrpSpPr/>
            <p:nvPr/>
          </p:nvGrpSpPr>
          <p:grpSpPr>
            <a:xfrm>
              <a:off x="8644770" y="2674080"/>
              <a:ext cx="806322" cy="1056346"/>
              <a:chOff x="1775100" y="4022850"/>
              <a:chExt cx="1076100" cy="1739700"/>
            </a:xfrm>
          </p:grpSpPr>
          <p:sp>
            <p:nvSpPr>
              <p:cNvPr id="246" name="Google Shape;246;p21"/>
              <p:cNvSpPr/>
              <p:nvPr/>
            </p:nvSpPr>
            <p:spPr>
              <a:xfrm>
                <a:off x="1775100" y="4022850"/>
                <a:ext cx="1076100" cy="1739700"/>
              </a:xfrm>
              <a:prstGeom prst="rect">
                <a:avLst/>
              </a:prstGeom>
              <a:solidFill>
                <a:srgbClr val="EFEFEF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247" name="Google Shape;247;p21"/>
              <p:cNvGrpSpPr/>
              <p:nvPr/>
            </p:nvGrpSpPr>
            <p:grpSpPr>
              <a:xfrm>
                <a:off x="1775100" y="4022850"/>
                <a:ext cx="1076100" cy="1739675"/>
                <a:chOff x="7948250" y="2813125"/>
                <a:chExt cx="1076100" cy="1739675"/>
              </a:xfrm>
            </p:grpSpPr>
            <p:sp>
              <p:nvSpPr>
                <p:cNvPr id="248" name="Google Shape;248;p21"/>
                <p:cNvSpPr/>
                <p:nvPr/>
              </p:nvSpPr>
              <p:spPr>
                <a:xfrm>
                  <a:off x="7948250" y="2813125"/>
                  <a:ext cx="1076100" cy="284400"/>
                </a:xfrm>
                <a:prstGeom prst="rect">
                  <a:avLst/>
                </a:prstGeom>
                <a:solidFill>
                  <a:srgbClr val="F4CCCC"/>
                </a:solidFill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1000" b="1" dirty="0">
                      <a:latin typeface="Courier New"/>
                      <a:ea typeface="Courier New"/>
                      <a:cs typeface="Courier New"/>
                      <a:sym typeface="Courier New"/>
                    </a:rPr>
                    <a:t>Code</a:t>
                  </a:r>
                  <a:endParaRPr sz="1000" b="1" dirty="0">
                    <a:latin typeface="Courier New"/>
                    <a:ea typeface="Courier New"/>
                    <a:cs typeface="Courier New"/>
                    <a:sym typeface="Courier New"/>
                  </a:endParaRPr>
                </a:p>
              </p:txBody>
            </p:sp>
            <p:sp>
              <p:nvSpPr>
                <p:cNvPr id="249" name="Google Shape;249;p21"/>
                <p:cNvSpPr/>
                <p:nvPr/>
              </p:nvSpPr>
              <p:spPr>
                <a:xfrm>
                  <a:off x="7950650" y="3085775"/>
                  <a:ext cx="1073100" cy="370800"/>
                </a:xfrm>
                <a:prstGeom prst="rect">
                  <a:avLst/>
                </a:prstGeom>
                <a:solidFill>
                  <a:srgbClr val="FFE599"/>
                </a:solidFill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1000" b="1">
                      <a:latin typeface="Courier New"/>
                      <a:ea typeface="Courier New"/>
                      <a:cs typeface="Courier New"/>
                      <a:sym typeface="Courier New"/>
                    </a:rPr>
                    <a:t>Data</a:t>
                  </a:r>
                  <a:endParaRPr sz="1600"/>
                </a:p>
              </p:txBody>
            </p:sp>
            <p:sp>
              <p:nvSpPr>
                <p:cNvPr id="250" name="Google Shape;250;p21"/>
                <p:cNvSpPr/>
                <p:nvPr/>
              </p:nvSpPr>
              <p:spPr>
                <a:xfrm>
                  <a:off x="7948250" y="3406050"/>
                  <a:ext cx="1076100" cy="284400"/>
                </a:xfrm>
                <a:prstGeom prst="rect">
                  <a:avLst/>
                </a:prstGeom>
                <a:solidFill>
                  <a:srgbClr val="CFE2F3"/>
                </a:solidFill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1000" b="1" dirty="0">
                      <a:latin typeface="Courier New"/>
                      <a:ea typeface="Courier New"/>
                      <a:cs typeface="Courier New"/>
                      <a:sym typeface="Courier New"/>
                    </a:rPr>
                    <a:t>heap</a:t>
                  </a:r>
                  <a:endParaRPr sz="1600" dirty="0"/>
                </a:p>
              </p:txBody>
            </p:sp>
            <p:sp>
              <p:nvSpPr>
                <p:cNvPr id="251" name="Google Shape;251;p21"/>
                <p:cNvSpPr/>
                <p:nvPr/>
              </p:nvSpPr>
              <p:spPr>
                <a:xfrm>
                  <a:off x="7948250" y="4268400"/>
                  <a:ext cx="1076100" cy="284400"/>
                </a:xfrm>
                <a:prstGeom prst="rect">
                  <a:avLst/>
                </a:prstGeom>
                <a:solidFill>
                  <a:srgbClr val="CFE2F3"/>
                </a:solidFill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1000" b="1" dirty="0">
                      <a:latin typeface="Courier New"/>
                      <a:ea typeface="Courier New"/>
                      <a:cs typeface="Courier New"/>
                      <a:sym typeface="Courier New"/>
                    </a:rPr>
                    <a:t>stack</a:t>
                  </a:r>
                  <a:endParaRPr sz="1600" dirty="0"/>
                </a:p>
              </p:txBody>
            </p:sp>
            <p:cxnSp>
              <p:nvCxnSpPr>
                <p:cNvPr id="252" name="Google Shape;252;p21"/>
                <p:cNvCxnSpPr>
                  <a:stCxn id="250" idx="2"/>
                </p:cNvCxnSpPr>
                <p:nvPr/>
              </p:nvCxnSpPr>
              <p:spPr>
                <a:xfrm>
                  <a:off x="8486300" y="3690450"/>
                  <a:ext cx="6900" cy="2613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  <p:cxnSp>
              <p:nvCxnSpPr>
                <p:cNvPr id="253" name="Google Shape;253;p21"/>
                <p:cNvCxnSpPr>
                  <a:stCxn id="251" idx="0"/>
                </p:cNvCxnSpPr>
                <p:nvPr/>
              </p:nvCxnSpPr>
              <p:spPr>
                <a:xfrm rot="10800000" flipH="1">
                  <a:off x="8486300" y="4035600"/>
                  <a:ext cx="4200" cy="2328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</p:grpSp>
        </p:grpSp>
        <p:sp>
          <p:nvSpPr>
            <p:cNvPr id="254" name="Google Shape;254;p21"/>
            <p:cNvSpPr/>
            <p:nvPr/>
          </p:nvSpPr>
          <p:spPr>
            <a:xfrm>
              <a:off x="8636788" y="1783150"/>
              <a:ext cx="822300" cy="554100"/>
            </a:xfrm>
            <a:prstGeom prst="rect">
              <a:avLst/>
            </a:prstGeom>
            <a:solidFill>
              <a:srgbClr val="D9EAD3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 b="1">
                  <a:solidFill>
                    <a:schemeClr val="dk1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OS</a:t>
              </a:r>
              <a:endParaRPr sz="1200" b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</p:grpSp>
      <p:cxnSp>
        <p:nvCxnSpPr>
          <p:cNvPr id="255" name="Google Shape;255;p21"/>
          <p:cNvCxnSpPr/>
          <p:nvPr/>
        </p:nvCxnSpPr>
        <p:spPr>
          <a:xfrm>
            <a:off x="4339525" y="3059300"/>
            <a:ext cx="4982700" cy="375000"/>
          </a:xfrm>
          <a:prstGeom prst="straightConnector1">
            <a:avLst/>
          </a:prstGeom>
          <a:noFill/>
          <a:ln w="19050" cap="flat" cmpd="sng">
            <a:solidFill>
              <a:schemeClr val="accent1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56" name="Google Shape;256;p21"/>
          <p:cNvCxnSpPr/>
          <p:nvPr/>
        </p:nvCxnSpPr>
        <p:spPr>
          <a:xfrm rot="10800000" flipH="1">
            <a:off x="4339525" y="4505925"/>
            <a:ext cx="4982700" cy="455400"/>
          </a:xfrm>
          <a:prstGeom prst="straightConnector1">
            <a:avLst/>
          </a:prstGeom>
          <a:noFill/>
          <a:ln w="19050" cap="flat" cmpd="sng">
            <a:solidFill>
              <a:schemeClr val="accent1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57" name="Google Shape;257;p21"/>
          <p:cNvSpPr txBox="1"/>
          <p:nvPr/>
        </p:nvSpPr>
        <p:spPr>
          <a:xfrm>
            <a:off x="2761150" y="3398600"/>
            <a:ext cx="3441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800">
                <a:solidFill>
                  <a:srgbClr val="FF0000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VA</a:t>
            </a:r>
            <a:endParaRPr sz="800">
              <a:solidFill>
                <a:srgbClr val="FF0000"/>
              </a:solidFill>
              <a:highlight>
                <a:schemeClr val="lt1"/>
              </a:highlight>
            </a:endParaRPr>
          </a:p>
        </p:txBody>
      </p:sp>
      <p:cxnSp>
        <p:nvCxnSpPr>
          <p:cNvPr id="258" name="Google Shape;258;p21"/>
          <p:cNvCxnSpPr>
            <a:stCxn id="234" idx="1"/>
          </p:cNvCxnSpPr>
          <p:nvPr/>
        </p:nvCxnSpPr>
        <p:spPr>
          <a:xfrm flipH="1">
            <a:off x="3105255" y="3550997"/>
            <a:ext cx="228000" cy="3000"/>
          </a:xfrm>
          <a:prstGeom prst="straightConnector1">
            <a:avLst/>
          </a:prstGeom>
          <a:noFill/>
          <a:ln w="19050" cap="flat" cmpd="sng">
            <a:solidFill>
              <a:srgbClr val="FF0000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259" name="Google Shape;259;p21"/>
          <p:cNvSpPr txBox="1"/>
          <p:nvPr/>
        </p:nvSpPr>
        <p:spPr>
          <a:xfrm>
            <a:off x="8805550" y="3551000"/>
            <a:ext cx="3441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800">
                <a:solidFill>
                  <a:schemeClr val="accent6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PA</a:t>
            </a:r>
            <a:endParaRPr sz="800">
              <a:solidFill>
                <a:schemeClr val="accent6"/>
              </a:solidFill>
              <a:highlight>
                <a:schemeClr val="lt1"/>
              </a:highlight>
            </a:endParaRPr>
          </a:p>
        </p:txBody>
      </p:sp>
      <p:cxnSp>
        <p:nvCxnSpPr>
          <p:cNvPr id="260" name="Google Shape;260;p21"/>
          <p:cNvCxnSpPr/>
          <p:nvPr/>
        </p:nvCxnSpPr>
        <p:spPr>
          <a:xfrm flipH="1">
            <a:off x="9149655" y="3703397"/>
            <a:ext cx="228000" cy="3000"/>
          </a:xfrm>
          <a:prstGeom prst="straightConnector1">
            <a:avLst/>
          </a:prstGeom>
          <a:noFill/>
          <a:ln w="19050" cap="flat" cmpd="sng">
            <a:solidFill>
              <a:schemeClr val="accent6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261" name="Google Shape;261;p21"/>
          <p:cNvCxnSpPr/>
          <p:nvPr/>
        </p:nvCxnSpPr>
        <p:spPr>
          <a:xfrm>
            <a:off x="4267375" y="3560825"/>
            <a:ext cx="4538700" cy="153900"/>
          </a:xfrm>
          <a:prstGeom prst="bentConnector3">
            <a:avLst>
              <a:gd name="adj1" fmla="val 50000"/>
            </a:avLst>
          </a:prstGeom>
          <a:noFill/>
          <a:ln w="19050" cap="flat" cmpd="sng">
            <a:solidFill>
              <a:srgbClr val="D9D9D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665C113-5C72-4321-B9C6-1D5F0794F3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29228"/>
            <a:ext cx="10515600" cy="522414"/>
          </a:xfrm>
        </p:spPr>
        <p:txBody>
          <a:bodyPr/>
          <a:lstStyle/>
          <a:p>
            <a:pPr marL="0" indent="0">
              <a:buNone/>
            </a:pPr>
            <a:r>
              <a:rPr lang="es-MX" sz="2800" dirty="0"/>
              <a:t>Asociación entre direcciones virtuales y físicas</a:t>
            </a:r>
          </a:p>
          <a:p>
            <a:endParaRPr lang="es-CO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2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Dynamic Relocation (base &amp; bounds)</a:t>
            </a:r>
            <a:endParaRPr dirty="0"/>
          </a:p>
        </p:txBody>
      </p:sp>
      <p:grpSp>
        <p:nvGrpSpPr>
          <p:cNvPr id="268" name="Google Shape;268;p22"/>
          <p:cNvGrpSpPr/>
          <p:nvPr/>
        </p:nvGrpSpPr>
        <p:grpSpPr>
          <a:xfrm>
            <a:off x="2764822" y="4342825"/>
            <a:ext cx="3303251" cy="837000"/>
            <a:chOff x="3888184" y="3951525"/>
            <a:chExt cx="3303251" cy="837000"/>
          </a:xfrm>
        </p:grpSpPr>
        <p:grpSp>
          <p:nvGrpSpPr>
            <p:cNvPr id="269" name="Google Shape;269;p22"/>
            <p:cNvGrpSpPr/>
            <p:nvPr/>
          </p:nvGrpSpPr>
          <p:grpSpPr>
            <a:xfrm>
              <a:off x="4480388" y="3951525"/>
              <a:ext cx="2082238" cy="837000"/>
              <a:chOff x="4290563" y="3904875"/>
              <a:chExt cx="2082238" cy="837000"/>
            </a:xfrm>
          </p:grpSpPr>
          <p:sp>
            <p:nvSpPr>
              <p:cNvPr id="270" name="Google Shape;270;p22"/>
              <p:cNvSpPr/>
              <p:nvPr/>
            </p:nvSpPr>
            <p:spPr>
              <a:xfrm>
                <a:off x="4883000" y="3904875"/>
                <a:ext cx="806400" cy="837000"/>
              </a:xfrm>
              <a:prstGeom prst="rect">
                <a:avLst/>
              </a:prstGeom>
              <a:solidFill>
                <a:srgbClr val="F4CCCC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500" b="1">
                    <a:latin typeface="Consolas"/>
                    <a:ea typeface="Consolas"/>
                    <a:cs typeface="Consolas"/>
                    <a:sym typeface="Consolas"/>
                  </a:rPr>
                  <a:t>AT</a:t>
                </a:r>
                <a:endParaRPr sz="2500" b="1">
                  <a:latin typeface="Consolas"/>
                  <a:ea typeface="Consolas"/>
                  <a:cs typeface="Consolas"/>
                  <a:sym typeface="Consolas"/>
                </a:endParaRPr>
              </a:p>
            </p:txBody>
          </p:sp>
          <p:cxnSp>
            <p:nvCxnSpPr>
              <p:cNvPr id="271" name="Google Shape;271;p22"/>
              <p:cNvCxnSpPr/>
              <p:nvPr/>
            </p:nvCxnSpPr>
            <p:spPr>
              <a:xfrm rot="10800000" flipH="1">
                <a:off x="4290563" y="4323325"/>
                <a:ext cx="592200" cy="780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272" name="Google Shape;272;p22"/>
              <p:cNvCxnSpPr/>
              <p:nvPr/>
            </p:nvCxnSpPr>
            <p:spPr>
              <a:xfrm>
                <a:off x="5689400" y="4323375"/>
                <a:ext cx="683400" cy="1680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</p:grpSp>
        <p:sp>
          <p:nvSpPr>
            <p:cNvPr id="273" name="Google Shape;273;p22"/>
            <p:cNvSpPr txBox="1"/>
            <p:nvPr/>
          </p:nvSpPr>
          <p:spPr>
            <a:xfrm>
              <a:off x="3888184" y="4129725"/>
              <a:ext cx="5922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VA</a:t>
              </a:r>
              <a:endParaRPr sz="200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274" name="Google Shape;274;p22"/>
            <p:cNvSpPr txBox="1"/>
            <p:nvPr/>
          </p:nvSpPr>
          <p:spPr>
            <a:xfrm>
              <a:off x="6562635" y="4129725"/>
              <a:ext cx="6288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PA</a:t>
              </a:r>
              <a:endParaRPr sz="200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  <p:grpSp>
        <p:nvGrpSpPr>
          <p:cNvPr id="275" name="Google Shape;275;p22"/>
          <p:cNvGrpSpPr/>
          <p:nvPr/>
        </p:nvGrpSpPr>
        <p:grpSpPr>
          <a:xfrm>
            <a:off x="7188716" y="3266970"/>
            <a:ext cx="2340362" cy="3256628"/>
            <a:chOff x="8005450" y="1566825"/>
            <a:chExt cx="3308400" cy="4491900"/>
          </a:xfrm>
        </p:grpSpPr>
        <p:sp>
          <p:nvSpPr>
            <p:cNvPr id="276" name="Google Shape;276;p22"/>
            <p:cNvSpPr/>
            <p:nvPr/>
          </p:nvSpPr>
          <p:spPr>
            <a:xfrm>
              <a:off x="8005450" y="1566825"/>
              <a:ext cx="3308400" cy="4491900"/>
            </a:xfrm>
            <a:prstGeom prst="rect">
              <a:avLst/>
            </a:prstGeom>
            <a:solidFill>
              <a:srgbClr val="FFE599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3000" b="1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277" name="Google Shape;277;p22"/>
            <p:cNvSpPr txBox="1"/>
            <p:nvPr/>
          </p:nvSpPr>
          <p:spPr>
            <a:xfrm>
              <a:off x="8597250" y="1637048"/>
              <a:ext cx="2103000" cy="679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b="1">
                  <a:latin typeface="Consolas"/>
                  <a:ea typeface="Consolas"/>
                  <a:cs typeface="Consolas"/>
                  <a:sym typeface="Consolas"/>
                </a:rPr>
                <a:t>Chip CPU</a:t>
              </a:r>
              <a:endParaRPr sz="2000" b="1"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grpSp>
          <p:nvGrpSpPr>
            <p:cNvPr id="278" name="Google Shape;278;p22"/>
            <p:cNvGrpSpPr/>
            <p:nvPr/>
          </p:nvGrpSpPr>
          <p:grpSpPr>
            <a:xfrm>
              <a:off x="8483375" y="2266040"/>
              <a:ext cx="2216875" cy="3163135"/>
              <a:chOff x="8483375" y="2266040"/>
              <a:chExt cx="2216875" cy="3163135"/>
            </a:xfrm>
          </p:grpSpPr>
          <p:sp>
            <p:nvSpPr>
              <p:cNvPr id="279" name="Google Shape;279;p22"/>
              <p:cNvSpPr/>
              <p:nvPr/>
            </p:nvSpPr>
            <p:spPr>
              <a:xfrm>
                <a:off x="9154350" y="2266040"/>
                <a:ext cx="988800" cy="995400"/>
              </a:xfrm>
              <a:prstGeom prst="ellipse">
                <a:avLst/>
              </a:prstGeom>
              <a:solidFill>
                <a:srgbClr val="EA9999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b="1">
                    <a:latin typeface="Consolas"/>
                    <a:ea typeface="Consolas"/>
                    <a:cs typeface="Consolas"/>
                    <a:sym typeface="Consolas"/>
                  </a:rPr>
                  <a:t>CPU</a:t>
                </a:r>
                <a:endParaRPr b="1">
                  <a:latin typeface="Consolas"/>
                  <a:ea typeface="Consolas"/>
                  <a:cs typeface="Consolas"/>
                  <a:sym typeface="Consolas"/>
                </a:endParaRPr>
              </a:p>
            </p:txBody>
          </p:sp>
          <p:cxnSp>
            <p:nvCxnSpPr>
              <p:cNvPr id="280" name="Google Shape;280;p22"/>
              <p:cNvCxnSpPr>
                <a:stCxn id="279" idx="4"/>
                <a:endCxn id="281" idx="0"/>
              </p:cNvCxnSpPr>
              <p:nvPr/>
            </p:nvCxnSpPr>
            <p:spPr>
              <a:xfrm>
                <a:off x="9648750" y="3261440"/>
                <a:ext cx="0" cy="4566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grpSp>
            <p:nvGrpSpPr>
              <p:cNvPr id="282" name="Google Shape;282;p22"/>
              <p:cNvGrpSpPr/>
              <p:nvPr/>
            </p:nvGrpSpPr>
            <p:grpSpPr>
              <a:xfrm>
                <a:off x="8483375" y="3717975"/>
                <a:ext cx="2216875" cy="1711200"/>
                <a:chOff x="8483375" y="3717975"/>
                <a:chExt cx="2216875" cy="1711200"/>
              </a:xfrm>
            </p:grpSpPr>
            <p:grpSp>
              <p:nvGrpSpPr>
                <p:cNvPr id="283" name="Google Shape;283;p22"/>
                <p:cNvGrpSpPr/>
                <p:nvPr/>
              </p:nvGrpSpPr>
              <p:grpSpPr>
                <a:xfrm>
                  <a:off x="8597250" y="3717975"/>
                  <a:ext cx="2103000" cy="1711200"/>
                  <a:chOff x="8597250" y="3717975"/>
                  <a:chExt cx="2103000" cy="1711200"/>
                </a:xfrm>
              </p:grpSpPr>
              <p:sp>
                <p:nvSpPr>
                  <p:cNvPr id="281" name="Google Shape;281;p22"/>
                  <p:cNvSpPr/>
                  <p:nvPr/>
                </p:nvSpPr>
                <p:spPr>
                  <a:xfrm>
                    <a:off x="8597250" y="3717975"/>
                    <a:ext cx="2103000" cy="1711200"/>
                  </a:xfrm>
                  <a:prstGeom prst="rect">
                    <a:avLst/>
                  </a:prstGeom>
                  <a:solidFill>
                    <a:srgbClr val="B6D7A8"/>
                  </a:solidFill>
                  <a:ln w="9525" cap="flat" cmpd="sng">
                    <a:solidFill>
                      <a:schemeClr val="dk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b="1">
                      <a:latin typeface="Consolas"/>
                      <a:ea typeface="Consolas"/>
                      <a:cs typeface="Consolas"/>
                      <a:sym typeface="Consolas"/>
                    </a:endParaRPr>
                  </a:p>
                </p:txBody>
              </p:sp>
              <p:sp>
                <p:nvSpPr>
                  <p:cNvPr id="284" name="Google Shape;284;p22"/>
                  <p:cNvSpPr txBox="1"/>
                  <p:nvPr/>
                </p:nvSpPr>
                <p:spPr>
                  <a:xfrm>
                    <a:off x="9216100" y="3718050"/>
                    <a:ext cx="887100" cy="552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91425" tIns="91425" rIns="91425" bIns="91425" anchor="t" anchorCtr="0">
                    <a:spAutoFit/>
                  </a:bodyPr>
                  <a:lstStyle/>
                  <a:p>
                    <a:pPr marL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es-ES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rPr>
                      <a:t>MMU</a:t>
                    </a:r>
                    <a:endParaRPr sz="800" b="1">
                      <a:solidFill>
                        <a:schemeClr val="dk1"/>
                      </a:solidFill>
                      <a:latin typeface="Consolas"/>
                      <a:ea typeface="Consolas"/>
                      <a:cs typeface="Consolas"/>
                      <a:sym typeface="Consolas"/>
                    </a:endParaRPr>
                  </a:p>
                </p:txBody>
              </p:sp>
            </p:grpSp>
            <p:grpSp>
              <p:nvGrpSpPr>
                <p:cNvPr id="285" name="Google Shape;285;p22"/>
                <p:cNvGrpSpPr/>
                <p:nvPr/>
              </p:nvGrpSpPr>
              <p:grpSpPr>
                <a:xfrm>
                  <a:off x="8638450" y="4265550"/>
                  <a:ext cx="1901250" cy="509400"/>
                  <a:chOff x="8638450" y="4265550"/>
                  <a:chExt cx="1901250" cy="509400"/>
                </a:xfrm>
              </p:grpSpPr>
              <p:sp>
                <p:nvSpPr>
                  <p:cNvPr id="286" name="Google Shape;286;p22"/>
                  <p:cNvSpPr/>
                  <p:nvPr/>
                </p:nvSpPr>
                <p:spPr>
                  <a:xfrm>
                    <a:off x="9550900" y="4344300"/>
                    <a:ext cx="988800" cy="308100"/>
                  </a:xfrm>
                  <a:prstGeom prst="rect">
                    <a:avLst/>
                  </a:prstGeom>
                  <a:solidFill>
                    <a:schemeClr val="lt2"/>
                  </a:solidFill>
                  <a:ln w="9525" cap="flat" cmpd="sng">
                    <a:solidFill>
                      <a:schemeClr val="dk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87" name="Google Shape;287;p22"/>
                  <p:cNvSpPr txBox="1"/>
                  <p:nvPr/>
                </p:nvSpPr>
                <p:spPr>
                  <a:xfrm>
                    <a:off x="8638450" y="4265550"/>
                    <a:ext cx="887100" cy="5094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91425" tIns="91425" rIns="91425" bIns="91425" anchor="t" anchorCtr="0">
                    <a:spAutoFit/>
                  </a:bodyPr>
                  <a:lstStyle/>
                  <a:p>
                    <a:pPr marL="0" lvl="0" indent="0" algn="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es-ES" sz="12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rPr>
                      <a:t>base</a:t>
                    </a:r>
                    <a:endParaRPr sz="600" b="1">
                      <a:solidFill>
                        <a:schemeClr val="dk1"/>
                      </a:solidFill>
                      <a:latin typeface="Consolas"/>
                      <a:ea typeface="Consolas"/>
                      <a:cs typeface="Consolas"/>
                      <a:sym typeface="Consolas"/>
                    </a:endParaRPr>
                  </a:p>
                </p:txBody>
              </p:sp>
            </p:grpSp>
            <p:grpSp>
              <p:nvGrpSpPr>
                <p:cNvPr id="288" name="Google Shape;288;p22"/>
                <p:cNvGrpSpPr/>
                <p:nvPr/>
              </p:nvGrpSpPr>
              <p:grpSpPr>
                <a:xfrm>
                  <a:off x="8483375" y="4782162"/>
                  <a:ext cx="2056325" cy="509400"/>
                  <a:chOff x="8483375" y="4782162"/>
                  <a:chExt cx="2056325" cy="509400"/>
                </a:xfrm>
              </p:grpSpPr>
              <p:sp>
                <p:nvSpPr>
                  <p:cNvPr id="289" name="Google Shape;289;p22"/>
                  <p:cNvSpPr/>
                  <p:nvPr/>
                </p:nvSpPr>
                <p:spPr>
                  <a:xfrm>
                    <a:off x="9550900" y="4858350"/>
                    <a:ext cx="988800" cy="308100"/>
                  </a:xfrm>
                  <a:prstGeom prst="rect">
                    <a:avLst/>
                  </a:prstGeom>
                  <a:solidFill>
                    <a:schemeClr val="lt2"/>
                  </a:solidFill>
                  <a:ln w="9525" cap="flat" cmpd="sng">
                    <a:solidFill>
                      <a:schemeClr val="dk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90" name="Google Shape;290;p22"/>
                  <p:cNvSpPr txBox="1"/>
                  <p:nvPr/>
                </p:nvSpPr>
                <p:spPr>
                  <a:xfrm>
                    <a:off x="8483375" y="4782162"/>
                    <a:ext cx="1092900" cy="5094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91425" tIns="91425" rIns="91425" bIns="91425" anchor="t" anchorCtr="0">
                    <a:spAutoFit/>
                  </a:bodyPr>
                  <a:lstStyle/>
                  <a:p>
                    <a:pPr marL="0" lvl="0" indent="0" algn="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es-ES" sz="1200" b="1" dirty="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rPr>
                      <a:t>bounds</a:t>
                    </a:r>
                    <a:endParaRPr sz="600" b="1" dirty="0">
                      <a:solidFill>
                        <a:schemeClr val="dk1"/>
                      </a:solidFill>
                      <a:latin typeface="Consolas"/>
                      <a:ea typeface="Consolas"/>
                      <a:cs typeface="Consolas"/>
                      <a:sym typeface="Consolas"/>
                    </a:endParaRPr>
                  </a:p>
                </p:txBody>
              </p:sp>
            </p:grpSp>
          </p:grpSp>
        </p:grpSp>
      </p:grp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42AAF24-C3BD-4870-B3CC-BB4443177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0110" y="1353987"/>
            <a:ext cx="10515600" cy="1773420"/>
          </a:xfrm>
        </p:spPr>
        <p:txBody>
          <a:bodyPr/>
          <a:lstStyle/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s-MX" sz="2800" dirty="0"/>
              <a:t>Registros asociados:</a:t>
            </a:r>
          </a:p>
          <a:p>
            <a:pPr marL="457200" lvl="0" indent="-381000" algn="l" rtl="0">
              <a:spcBef>
                <a:spcPts val="1000"/>
              </a:spcBef>
              <a:spcAft>
                <a:spcPts val="0"/>
              </a:spcAft>
              <a:buSzPts val="2400"/>
              <a:buChar char="●"/>
            </a:pPr>
            <a:r>
              <a:rPr lang="es-MX" sz="2800" b="1" dirty="0">
                <a:solidFill>
                  <a:schemeClr val="accent2"/>
                </a:solidFill>
              </a:rPr>
              <a:t>base</a:t>
            </a:r>
            <a:r>
              <a:rPr lang="es-MX" sz="2800" dirty="0">
                <a:solidFill>
                  <a:schemeClr val="accent2"/>
                </a:solidFill>
              </a:rPr>
              <a:t>:</a:t>
            </a:r>
            <a:r>
              <a:rPr lang="es-MX" sz="2800" dirty="0"/>
              <a:t> Almacena la dirección física </a:t>
            </a:r>
            <a:r>
              <a:rPr lang="es-MX" sz="2800" dirty="0">
                <a:solidFill>
                  <a:srgbClr val="FF0000"/>
                </a:solidFill>
              </a:rPr>
              <a:t>(</a:t>
            </a:r>
            <a:r>
              <a:rPr lang="es-MX" sz="2800" b="1" dirty="0">
                <a:solidFill>
                  <a:srgbClr val="FF0000"/>
                </a:solidFill>
              </a:rPr>
              <a:t>offset</a:t>
            </a:r>
            <a:r>
              <a:rPr lang="es-MX" sz="2800" dirty="0">
                <a:solidFill>
                  <a:srgbClr val="FF0000"/>
                </a:solidFill>
              </a:rPr>
              <a:t>)</a:t>
            </a:r>
            <a:r>
              <a:rPr lang="es-MX" sz="2800" dirty="0"/>
              <a:t> a partir de la cual el address space de un proceso será mapeado.</a:t>
            </a:r>
          </a:p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s-MX" sz="2800" b="1" dirty="0">
                <a:solidFill>
                  <a:schemeClr val="accent2"/>
                </a:solidFill>
              </a:rPr>
              <a:t>bounds</a:t>
            </a:r>
            <a:r>
              <a:rPr lang="es-MX" sz="2800" dirty="0">
                <a:solidFill>
                  <a:schemeClr val="accent2"/>
                </a:solidFill>
              </a:rPr>
              <a:t>:</a:t>
            </a:r>
            <a:r>
              <a:rPr lang="es-MX" sz="2800" dirty="0"/>
              <a:t> Almacena el tamaño del address space.</a:t>
            </a: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lang="es-MX" sz="2800" dirty="0"/>
          </a:p>
          <a:p>
            <a:endParaRPr lang="es-CO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23"/>
          <p:cNvSpPr txBox="1">
            <a:spLocks noGrp="1"/>
          </p:cNvSpPr>
          <p:nvPr>
            <p:ph type="title"/>
          </p:nvPr>
        </p:nvSpPr>
        <p:spPr>
          <a:xfrm>
            <a:off x="487800" y="365125"/>
            <a:ext cx="11216400" cy="1325563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4000" dirty="0"/>
              <a:t>Traducción de direcciones usando Dynamic Relocation</a:t>
            </a:r>
            <a:endParaRPr sz="4000" dirty="0"/>
          </a:p>
        </p:txBody>
      </p:sp>
      <p:grpSp>
        <p:nvGrpSpPr>
          <p:cNvPr id="297" name="Google Shape;297;p23"/>
          <p:cNvGrpSpPr/>
          <p:nvPr/>
        </p:nvGrpSpPr>
        <p:grpSpPr>
          <a:xfrm>
            <a:off x="1696666" y="2470420"/>
            <a:ext cx="2340362" cy="3256628"/>
            <a:chOff x="8005450" y="1566825"/>
            <a:chExt cx="3308400" cy="4491900"/>
          </a:xfrm>
        </p:grpSpPr>
        <p:sp>
          <p:nvSpPr>
            <p:cNvPr id="298" name="Google Shape;298;p23"/>
            <p:cNvSpPr/>
            <p:nvPr/>
          </p:nvSpPr>
          <p:spPr>
            <a:xfrm>
              <a:off x="8005450" y="1566825"/>
              <a:ext cx="3308400" cy="4491900"/>
            </a:xfrm>
            <a:prstGeom prst="rect">
              <a:avLst/>
            </a:prstGeom>
            <a:solidFill>
              <a:srgbClr val="FFE599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3000" b="1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299" name="Google Shape;299;p23"/>
            <p:cNvSpPr txBox="1"/>
            <p:nvPr/>
          </p:nvSpPr>
          <p:spPr>
            <a:xfrm>
              <a:off x="8597250" y="1637048"/>
              <a:ext cx="2103000" cy="679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b="1">
                  <a:latin typeface="Consolas"/>
                  <a:ea typeface="Consolas"/>
                  <a:cs typeface="Consolas"/>
                  <a:sym typeface="Consolas"/>
                </a:rPr>
                <a:t>Chip CPU</a:t>
              </a:r>
              <a:endParaRPr sz="2000" b="1"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grpSp>
          <p:nvGrpSpPr>
            <p:cNvPr id="300" name="Google Shape;300;p23"/>
            <p:cNvGrpSpPr/>
            <p:nvPr/>
          </p:nvGrpSpPr>
          <p:grpSpPr>
            <a:xfrm>
              <a:off x="8483375" y="2266040"/>
              <a:ext cx="2216875" cy="3163135"/>
              <a:chOff x="8483375" y="2266040"/>
              <a:chExt cx="2216875" cy="3163135"/>
            </a:xfrm>
          </p:grpSpPr>
          <p:sp>
            <p:nvSpPr>
              <p:cNvPr id="301" name="Google Shape;301;p23"/>
              <p:cNvSpPr/>
              <p:nvPr/>
            </p:nvSpPr>
            <p:spPr>
              <a:xfrm>
                <a:off x="9154350" y="2266040"/>
                <a:ext cx="988800" cy="995400"/>
              </a:xfrm>
              <a:prstGeom prst="ellipse">
                <a:avLst/>
              </a:prstGeom>
              <a:solidFill>
                <a:srgbClr val="EA9999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b="1">
                    <a:latin typeface="Consolas"/>
                    <a:ea typeface="Consolas"/>
                    <a:cs typeface="Consolas"/>
                    <a:sym typeface="Consolas"/>
                  </a:rPr>
                  <a:t>CPU</a:t>
                </a:r>
                <a:endParaRPr b="1">
                  <a:latin typeface="Consolas"/>
                  <a:ea typeface="Consolas"/>
                  <a:cs typeface="Consolas"/>
                  <a:sym typeface="Consolas"/>
                </a:endParaRPr>
              </a:p>
            </p:txBody>
          </p:sp>
          <p:cxnSp>
            <p:nvCxnSpPr>
              <p:cNvPr id="302" name="Google Shape;302;p23"/>
              <p:cNvCxnSpPr>
                <a:stCxn id="301" idx="4"/>
                <a:endCxn id="303" idx="0"/>
              </p:cNvCxnSpPr>
              <p:nvPr/>
            </p:nvCxnSpPr>
            <p:spPr>
              <a:xfrm>
                <a:off x="9648750" y="3261440"/>
                <a:ext cx="0" cy="4566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grpSp>
            <p:nvGrpSpPr>
              <p:cNvPr id="304" name="Google Shape;304;p23"/>
              <p:cNvGrpSpPr/>
              <p:nvPr/>
            </p:nvGrpSpPr>
            <p:grpSpPr>
              <a:xfrm>
                <a:off x="8483375" y="3717975"/>
                <a:ext cx="2216875" cy="1711200"/>
                <a:chOff x="8483375" y="3717975"/>
                <a:chExt cx="2216875" cy="1711200"/>
              </a:xfrm>
            </p:grpSpPr>
            <p:grpSp>
              <p:nvGrpSpPr>
                <p:cNvPr id="305" name="Google Shape;305;p23"/>
                <p:cNvGrpSpPr/>
                <p:nvPr/>
              </p:nvGrpSpPr>
              <p:grpSpPr>
                <a:xfrm>
                  <a:off x="8597250" y="3717975"/>
                  <a:ext cx="2103000" cy="1711200"/>
                  <a:chOff x="8597250" y="3717975"/>
                  <a:chExt cx="2103000" cy="1711200"/>
                </a:xfrm>
              </p:grpSpPr>
              <p:sp>
                <p:nvSpPr>
                  <p:cNvPr id="303" name="Google Shape;303;p23"/>
                  <p:cNvSpPr/>
                  <p:nvPr/>
                </p:nvSpPr>
                <p:spPr>
                  <a:xfrm>
                    <a:off x="8597250" y="3717975"/>
                    <a:ext cx="2103000" cy="1711200"/>
                  </a:xfrm>
                  <a:prstGeom prst="rect">
                    <a:avLst/>
                  </a:prstGeom>
                  <a:solidFill>
                    <a:srgbClr val="B6D7A8"/>
                  </a:solidFill>
                  <a:ln w="9525" cap="flat" cmpd="sng">
                    <a:solidFill>
                      <a:schemeClr val="dk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b="1">
                      <a:latin typeface="Consolas"/>
                      <a:ea typeface="Consolas"/>
                      <a:cs typeface="Consolas"/>
                      <a:sym typeface="Consolas"/>
                    </a:endParaRPr>
                  </a:p>
                </p:txBody>
              </p:sp>
              <p:sp>
                <p:nvSpPr>
                  <p:cNvPr id="306" name="Google Shape;306;p23"/>
                  <p:cNvSpPr txBox="1"/>
                  <p:nvPr/>
                </p:nvSpPr>
                <p:spPr>
                  <a:xfrm>
                    <a:off x="9216100" y="3718050"/>
                    <a:ext cx="887100" cy="552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91425" tIns="91425" rIns="91425" bIns="91425" anchor="t" anchorCtr="0">
                    <a:spAutoFit/>
                  </a:bodyPr>
                  <a:lstStyle/>
                  <a:p>
                    <a:pPr marL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es-ES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rPr>
                      <a:t>MMU</a:t>
                    </a:r>
                    <a:endParaRPr sz="800" b="1">
                      <a:solidFill>
                        <a:schemeClr val="dk1"/>
                      </a:solidFill>
                      <a:latin typeface="Consolas"/>
                      <a:ea typeface="Consolas"/>
                      <a:cs typeface="Consolas"/>
                      <a:sym typeface="Consolas"/>
                    </a:endParaRPr>
                  </a:p>
                </p:txBody>
              </p:sp>
            </p:grpSp>
            <p:grpSp>
              <p:nvGrpSpPr>
                <p:cNvPr id="307" name="Google Shape;307;p23"/>
                <p:cNvGrpSpPr/>
                <p:nvPr/>
              </p:nvGrpSpPr>
              <p:grpSpPr>
                <a:xfrm>
                  <a:off x="8638450" y="4265550"/>
                  <a:ext cx="1901250" cy="509400"/>
                  <a:chOff x="8638450" y="4265550"/>
                  <a:chExt cx="1901250" cy="509400"/>
                </a:xfrm>
              </p:grpSpPr>
              <p:sp>
                <p:nvSpPr>
                  <p:cNvPr id="308" name="Google Shape;308;p23"/>
                  <p:cNvSpPr/>
                  <p:nvPr/>
                </p:nvSpPr>
                <p:spPr>
                  <a:xfrm>
                    <a:off x="9550900" y="4344300"/>
                    <a:ext cx="988800" cy="308100"/>
                  </a:xfrm>
                  <a:prstGeom prst="rect">
                    <a:avLst/>
                  </a:prstGeom>
                  <a:solidFill>
                    <a:schemeClr val="lt2"/>
                  </a:solidFill>
                  <a:ln w="9525" cap="flat" cmpd="sng">
                    <a:solidFill>
                      <a:schemeClr val="dk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09" name="Google Shape;309;p23"/>
                  <p:cNvSpPr txBox="1"/>
                  <p:nvPr/>
                </p:nvSpPr>
                <p:spPr>
                  <a:xfrm>
                    <a:off x="8638450" y="4265550"/>
                    <a:ext cx="887100" cy="5094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91425" tIns="91425" rIns="91425" bIns="91425" anchor="t" anchorCtr="0">
                    <a:spAutoFit/>
                  </a:bodyPr>
                  <a:lstStyle/>
                  <a:p>
                    <a:pPr marL="0" lvl="0" indent="0" algn="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es-ES" sz="12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rPr>
                      <a:t>base</a:t>
                    </a:r>
                    <a:endParaRPr sz="600" b="1">
                      <a:solidFill>
                        <a:schemeClr val="dk1"/>
                      </a:solidFill>
                      <a:latin typeface="Consolas"/>
                      <a:ea typeface="Consolas"/>
                      <a:cs typeface="Consolas"/>
                      <a:sym typeface="Consolas"/>
                    </a:endParaRPr>
                  </a:p>
                </p:txBody>
              </p:sp>
            </p:grpSp>
            <p:grpSp>
              <p:nvGrpSpPr>
                <p:cNvPr id="310" name="Google Shape;310;p23"/>
                <p:cNvGrpSpPr/>
                <p:nvPr/>
              </p:nvGrpSpPr>
              <p:grpSpPr>
                <a:xfrm>
                  <a:off x="8483375" y="4782162"/>
                  <a:ext cx="2056325" cy="509400"/>
                  <a:chOff x="8483375" y="4782162"/>
                  <a:chExt cx="2056325" cy="509400"/>
                </a:xfrm>
              </p:grpSpPr>
              <p:sp>
                <p:nvSpPr>
                  <p:cNvPr id="311" name="Google Shape;311;p23"/>
                  <p:cNvSpPr/>
                  <p:nvPr/>
                </p:nvSpPr>
                <p:spPr>
                  <a:xfrm>
                    <a:off x="9550900" y="4858350"/>
                    <a:ext cx="988800" cy="308100"/>
                  </a:xfrm>
                  <a:prstGeom prst="rect">
                    <a:avLst/>
                  </a:prstGeom>
                  <a:solidFill>
                    <a:schemeClr val="lt2"/>
                  </a:solidFill>
                  <a:ln w="9525" cap="flat" cmpd="sng">
                    <a:solidFill>
                      <a:schemeClr val="dk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12" name="Google Shape;312;p23"/>
                  <p:cNvSpPr txBox="1"/>
                  <p:nvPr/>
                </p:nvSpPr>
                <p:spPr>
                  <a:xfrm>
                    <a:off x="8483375" y="4782162"/>
                    <a:ext cx="1092900" cy="5094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91425" tIns="91425" rIns="91425" bIns="91425" anchor="t" anchorCtr="0">
                    <a:spAutoFit/>
                  </a:bodyPr>
                  <a:lstStyle/>
                  <a:p>
                    <a:pPr marL="0" lvl="0" indent="0" algn="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es-ES" sz="1200" b="1" dirty="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rPr>
                      <a:t>bounds</a:t>
                    </a:r>
                    <a:endParaRPr sz="600" b="1" dirty="0">
                      <a:solidFill>
                        <a:schemeClr val="dk1"/>
                      </a:solidFill>
                      <a:latin typeface="Consolas"/>
                      <a:ea typeface="Consolas"/>
                      <a:cs typeface="Consolas"/>
                      <a:sym typeface="Consolas"/>
                    </a:endParaRPr>
                  </a:p>
                </p:txBody>
              </p:sp>
            </p:grpSp>
          </p:grpSp>
        </p:grpSp>
      </p:grpSp>
      <p:grpSp>
        <p:nvGrpSpPr>
          <p:cNvPr id="313" name="Google Shape;313;p23"/>
          <p:cNvGrpSpPr/>
          <p:nvPr/>
        </p:nvGrpSpPr>
        <p:grpSpPr>
          <a:xfrm>
            <a:off x="5039685" y="3970175"/>
            <a:ext cx="5468492" cy="2566425"/>
            <a:chOff x="4905735" y="3809425"/>
            <a:chExt cx="5468492" cy="2566425"/>
          </a:xfrm>
        </p:grpSpPr>
        <p:sp>
          <p:nvSpPr>
            <p:cNvPr id="314" name="Google Shape;314;p23"/>
            <p:cNvSpPr txBox="1"/>
            <p:nvPr/>
          </p:nvSpPr>
          <p:spPr>
            <a:xfrm>
              <a:off x="4905735" y="4836550"/>
              <a:ext cx="6699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b="1">
                  <a:solidFill>
                    <a:srgbClr val="FF0000"/>
                  </a:solidFill>
                  <a:highlight>
                    <a:schemeClr val="lt1"/>
                  </a:highlight>
                  <a:latin typeface="Consolas"/>
                  <a:ea typeface="Consolas"/>
                  <a:cs typeface="Consolas"/>
                  <a:sym typeface="Consolas"/>
                </a:rPr>
                <a:t>VA</a:t>
              </a:r>
              <a:endParaRPr sz="2000" b="1">
                <a:solidFill>
                  <a:srgbClr val="FF0000"/>
                </a:solidFill>
                <a:highlight>
                  <a:schemeClr val="lt1"/>
                </a:highlight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315" name="Google Shape;315;p23"/>
            <p:cNvSpPr/>
            <p:nvPr/>
          </p:nvSpPr>
          <p:spPr>
            <a:xfrm>
              <a:off x="7914675" y="3809425"/>
              <a:ext cx="1460100" cy="375000"/>
            </a:xfrm>
            <a:prstGeom prst="rect">
              <a:avLst/>
            </a:prstGeom>
            <a:solidFill>
              <a:srgbClr val="F4CCCC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b="1">
                  <a:latin typeface="Consolas"/>
                  <a:ea typeface="Consolas"/>
                  <a:cs typeface="Consolas"/>
                  <a:sym typeface="Consolas"/>
                </a:rPr>
                <a:t>base</a:t>
              </a:r>
              <a:endParaRPr sz="2000" b="1"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316" name="Google Shape;316;p23"/>
            <p:cNvSpPr/>
            <p:nvPr/>
          </p:nvSpPr>
          <p:spPr>
            <a:xfrm>
              <a:off x="6068975" y="3809425"/>
              <a:ext cx="1460100" cy="375000"/>
            </a:xfrm>
            <a:prstGeom prst="rect">
              <a:avLst/>
            </a:prstGeom>
            <a:solidFill>
              <a:srgbClr val="F4CCCC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b="1" dirty="0">
                  <a:latin typeface="Consolas"/>
                  <a:ea typeface="Consolas"/>
                  <a:cs typeface="Consolas"/>
                  <a:sym typeface="Consolas"/>
                </a:rPr>
                <a:t>bounds</a:t>
              </a:r>
              <a:endParaRPr sz="2000" b="1" dirty="0"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317" name="Google Shape;317;p23"/>
            <p:cNvSpPr/>
            <p:nvPr/>
          </p:nvSpPr>
          <p:spPr>
            <a:xfrm>
              <a:off x="6336900" y="4802600"/>
              <a:ext cx="924225" cy="562575"/>
            </a:xfrm>
            <a:prstGeom prst="flowChartDecision">
              <a:avLst/>
            </a:prstGeom>
            <a:solidFill>
              <a:schemeClr val="lt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>
                  <a:latin typeface="Consolas"/>
                  <a:ea typeface="Consolas"/>
                  <a:cs typeface="Consolas"/>
                  <a:sym typeface="Consolas"/>
                </a:rPr>
                <a:t>&lt;</a:t>
              </a:r>
              <a:endParaRPr sz="2000"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318" name="Google Shape;318;p23"/>
            <p:cNvSpPr/>
            <p:nvPr/>
          </p:nvSpPr>
          <p:spPr>
            <a:xfrm>
              <a:off x="8396925" y="4821538"/>
              <a:ext cx="495600" cy="524700"/>
            </a:xfrm>
            <a:prstGeom prst="ellipse">
              <a:avLst/>
            </a:prstGeom>
            <a:solidFill>
              <a:schemeClr val="lt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>
                  <a:latin typeface="Consolas"/>
                  <a:ea typeface="Consolas"/>
                  <a:cs typeface="Consolas"/>
                  <a:sym typeface="Consolas"/>
                </a:rPr>
                <a:t>+</a:t>
              </a:r>
              <a:endParaRPr/>
            </a:p>
          </p:txBody>
        </p:sp>
        <p:cxnSp>
          <p:nvCxnSpPr>
            <p:cNvPr id="319" name="Google Shape;319;p23"/>
            <p:cNvCxnSpPr>
              <a:stCxn id="314" idx="3"/>
              <a:endCxn id="317" idx="1"/>
            </p:cNvCxnSpPr>
            <p:nvPr/>
          </p:nvCxnSpPr>
          <p:spPr>
            <a:xfrm>
              <a:off x="5575635" y="5082850"/>
              <a:ext cx="761400" cy="9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320" name="Google Shape;320;p23"/>
            <p:cNvCxnSpPr>
              <a:stCxn id="316" idx="2"/>
              <a:endCxn id="317" idx="0"/>
            </p:cNvCxnSpPr>
            <p:nvPr/>
          </p:nvCxnSpPr>
          <p:spPr>
            <a:xfrm>
              <a:off x="6799025" y="4184425"/>
              <a:ext cx="0" cy="6183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321" name="Google Shape;321;p23"/>
            <p:cNvCxnSpPr>
              <a:stCxn id="315" idx="2"/>
              <a:endCxn id="318" idx="0"/>
            </p:cNvCxnSpPr>
            <p:nvPr/>
          </p:nvCxnSpPr>
          <p:spPr>
            <a:xfrm>
              <a:off x="8644725" y="4184425"/>
              <a:ext cx="0" cy="6372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322" name="Google Shape;322;p23"/>
            <p:cNvCxnSpPr>
              <a:stCxn id="317" idx="3"/>
              <a:endCxn id="318" idx="2"/>
            </p:cNvCxnSpPr>
            <p:nvPr/>
          </p:nvCxnSpPr>
          <p:spPr>
            <a:xfrm>
              <a:off x="7261125" y="5083888"/>
              <a:ext cx="11358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323" name="Google Shape;323;p23"/>
            <p:cNvCxnSpPr/>
            <p:nvPr/>
          </p:nvCxnSpPr>
          <p:spPr>
            <a:xfrm>
              <a:off x="6799025" y="5365163"/>
              <a:ext cx="2400" cy="9087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324" name="Google Shape;324;p23"/>
            <p:cNvSpPr txBox="1"/>
            <p:nvPr/>
          </p:nvSpPr>
          <p:spPr>
            <a:xfrm>
              <a:off x="6652638" y="5268025"/>
              <a:ext cx="7272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b="1">
                  <a:solidFill>
                    <a:schemeClr val="dk1"/>
                  </a:solidFill>
                  <a:highlight>
                    <a:schemeClr val="lt1"/>
                  </a:highlight>
                  <a:latin typeface="Consolas"/>
                  <a:ea typeface="Consolas"/>
                  <a:cs typeface="Consolas"/>
                  <a:sym typeface="Consolas"/>
                </a:rPr>
                <a:t>No</a:t>
              </a:r>
              <a:endParaRPr sz="2000" b="1">
                <a:solidFill>
                  <a:schemeClr val="dk1"/>
                </a:solidFill>
                <a:highlight>
                  <a:schemeClr val="lt1"/>
                </a:highlight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325" name="Google Shape;325;p23"/>
            <p:cNvSpPr txBox="1"/>
            <p:nvPr/>
          </p:nvSpPr>
          <p:spPr>
            <a:xfrm>
              <a:off x="7165313" y="4667500"/>
              <a:ext cx="7272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b="1">
                  <a:solidFill>
                    <a:schemeClr val="dk1"/>
                  </a:solidFill>
                  <a:highlight>
                    <a:schemeClr val="lt1"/>
                  </a:highlight>
                  <a:latin typeface="Consolas"/>
                  <a:ea typeface="Consolas"/>
                  <a:cs typeface="Consolas"/>
                  <a:sym typeface="Consolas"/>
                </a:rPr>
                <a:t>Yes</a:t>
              </a:r>
              <a:endParaRPr sz="2000" b="1">
                <a:solidFill>
                  <a:schemeClr val="dk1"/>
                </a:solidFill>
                <a:highlight>
                  <a:schemeClr val="lt1"/>
                </a:highlight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cxnSp>
          <p:nvCxnSpPr>
            <p:cNvPr id="326" name="Google Shape;326;p23"/>
            <p:cNvCxnSpPr/>
            <p:nvPr/>
          </p:nvCxnSpPr>
          <p:spPr>
            <a:xfrm rot="10800000" flipH="1">
              <a:off x="8892525" y="5080888"/>
              <a:ext cx="720300" cy="30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327" name="Google Shape;327;p23"/>
            <p:cNvSpPr txBox="1"/>
            <p:nvPr/>
          </p:nvSpPr>
          <p:spPr>
            <a:xfrm>
              <a:off x="9612827" y="4836100"/>
              <a:ext cx="7614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b="1">
                  <a:solidFill>
                    <a:srgbClr val="0B6937"/>
                  </a:solidFill>
                  <a:highlight>
                    <a:schemeClr val="lt1"/>
                  </a:highlight>
                  <a:latin typeface="Consolas"/>
                  <a:ea typeface="Consolas"/>
                  <a:cs typeface="Consolas"/>
                  <a:sym typeface="Consolas"/>
                </a:rPr>
                <a:t>PA</a:t>
              </a:r>
              <a:endParaRPr sz="2000" b="1">
                <a:solidFill>
                  <a:srgbClr val="0B6937"/>
                </a:solidFill>
                <a:highlight>
                  <a:schemeClr val="lt1"/>
                </a:highlight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328" name="Google Shape;328;p23"/>
            <p:cNvSpPr txBox="1"/>
            <p:nvPr/>
          </p:nvSpPr>
          <p:spPr>
            <a:xfrm>
              <a:off x="6799025" y="5944750"/>
              <a:ext cx="20133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 dirty="0">
                  <a:solidFill>
                    <a:srgbClr val="FF0000"/>
                  </a:solidFill>
                  <a:highlight>
                    <a:schemeClr val="lt1"/>
                  </a:highlight>
                  <a:latin typeface="Consolas"/>
                  <a:ea typeface="Consolas"/>
                  <a:cs typeface="Consolas"/>
                  <a:sym typeface="Consolas"/>
                </a:rPr>
                <a:t>Protection fault</a:t>
              </a:r>
              <a:endParaRPr sz="1600" b="1" dirty="0">
                <a:solidFill>
                  <a:srgbClr val="FF0000"/>
                </a:solidFill>
                <a:highlight>
                  <a:schemeClr val="lt1"/>
                </a:highlight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  <p:grpSp>
        <p:nvGrpSpPr>
          <p:cNvPr id="329" name="Google Shape;329;p23"/>
          <p:cNvGrpSpPr/>
          <p:nvPr/>
        </p:nvGrpSpPr>
        <p:grpSpPr>
          <a:xfrm>
            <a:off x="6364884" y="2664950"/>
            <a:ext cx="3132600" cy="637200"/>
            <a:chOff x="6652650" y="1665575"/>
            <a:chExt cx="3132600" cy="637200"/>
          </a:xfrm>
        </p:grpSpPr>
        <p:sp>
          <p:nvSpPr>
            <p:cNvPr id="330" name="Google Shape;330;p23"/>
            <p:cNvSpPr/>
            <p:nvPr/>
          </p:nvSpPr>
          <p:spPr>
            <a:xfrm>
              <a:off x="6652650" y="1665575"/>
              <a:ext cx="3132600" cy="637200"/>
            </a:xfrm>
            <a:prstGeom prst="rect">
              <a:avLst/>
            </a:prstGeom>
            <a:solidFill>
              <a:srgbClr val="FFF2CC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" name="Google Shape;331;p23"/>
            <p:cNvSpPr txBox="1"/>
            <p:nvPr/>
          </p:nvSpPr>
          <p:spPr>
            <a:xfrm>
              <a:off x="6935575" y="1707125"/>
              <a:ext cx="26856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400" b="1">
                  <a:latin typeface="Consolas"/>
                  <a:ea typeface="Consolas"/>
                  <a:cs typeface="Consolas"/>
                  <a:sym typeface="Consolas"/>
                </a:rPr>
                <a:t>PA = VA + base</a:t>
              </a:r>
              <a:endParaRPr sz="2400" b="1"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  <p:grpSp>
        <p:nvGrpSpPr>
          <p:cNvPr id="332" name="Google Shape;332;p23"/>
          <p:cNvGrpSpPr/>
          <p:nvPr/>
        </p:nvGrpSpPr>
        <p:grpSpPr>
          <a:xfrm>
            <a:off x="6364884" y="1687025"/>
            <a:ext cx="3132600" cy="637200"/>
            <a:chOff x="6652650" y="2614950"/>
            <a:chExt cx="3132600" cy="637200"/>
          </a:xfrm>
        </p:grpSpPr>
        <p:sp>
          <p:nvSpPr>
            <p:cNvPr id="333" name="Google Shape;333;p23"/>
            <p:cNvSpPr/>
            <p:nvPr/>
          </p:nvSpPr>
          <p:spPr>
            <a:xfrm>
              <a:off x="6652650" y="2614950"/>
              <a:ext cx="3132600" cy="637200"/>
            </a:xfrm>
            <a:prstGeom prst="rect">
              <a:avLst/>
            </a:prstGeom>
            <a:solidFill>
              <a:srgbClr val="FFF2CC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" name="Google Shape;334;p23"/>
            <p:cNvSpPr txBox="1"/>
            <p:nvPr/>
          </p:nvSpPr>
          <p:spPr>
            <a:xfrm>
              <a:off x="6712050" y="2663775"/>
              <a:ext cx="30138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400" b="1" dirty="0">
                  <a:latin typeface="Consolas"/>
                  <a:ea typeface="Consolas"/>
                  <a:cs typeface="Consolas"/>
                  <a:sym typeface="Consolas"/>
                </a:rPr>
                <a:t>0 &lt;= VA &lt; bounds</a:t>
              </a:r>
              <a:endParaRPr sz="2400" b="1" dirty="0"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  <p:sp>
        <p:nvSpPr>
          <p:cNvPr id="4" name="Elipse 3">
            <a:extLst>
              <a:ext uri="{FF2B5EF4-FFF2-40B4-BE49-F238E27FC236}">
                <a16:creationId xmlns:a16="http://schemas.microsoft.com/office/drawing/2014/main" id="{95ACF30B-1FDE-4C6B-8B7C-11A998741DFE}"/>
              </a:ext>
            </a:extLst>
          </p:cNvPr>
          <p:cNvSpPr/>
          <p:nvPr/>
        </p:nvSpPr>
        <p:spPr>
          <a:xfrm>
            <a:off x="5716071" y="1782070"/>
            <a:ext cx="484738" cy="46166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b="1" dirty="0"/>
              <a:t>1</a:t>
            </a:r>
          </a:p>
        </p:txBody>
      </p:sp>
      <p:sp>
        <p:nvSpPr>
          <p:cNvPr id="45" name="Elipse 44">
            <a:extLst>
              <a:ext uri="{FF2B5EF4-FFF2-40B4-BE49-F238E27FC236}">
                <a16:creationId xmlns:a16="http://schemas.microsoft.com/office/drawing/2014/main" id="{86FD9B5E-1B69-4094-B5A5-ED4CB2179C58}"/>
              </a:ext>
            </a:extLst>
          </p:cNvPr>
          <p:cNvSpPr/>
          <p:nvPr/>
        </p:nvSpPr>
        <p:spPr>
          <a:xfrm>
            <a:off x="5716071" y="2754632"/>
            <a:ext cx="484738" cy="46166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b="1" dirty="0"/>
              <a:t>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24"/>
          <p:cNvSpPr txBox="1">
            <a:spLocks noGrp="1"/>
          </p:cNvSpPr>
          <p:nvPr>
            <p:ph type="title"/>
          </p:nvPr>
        </p:nvSpPr>
        <p:spPr>
          <a:xfrm>
            <a:off x="524065" y="72362"/>
            <a:ext cx="10829735" cy="1325563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Ejemplo 1  - Clase anterior</a:t>
            </a:r>
            <a:endParaRPr dirty="0"/>
          </a:p>
        </p:txBody>
      </p:sp>
      <p:graphicFrame>
        <p:nvGraphicFramePr>
          <p:cNvPr id="341" name="Google Shape;341;p24"/>
          <p:cNvGraphicFramePr/>
          <p:nvPr>
            <p:extLst>
              <p:ext uri="{D42A27DB-BD31-4B8C-83A1-F6EECF244321}">
                <p14:modId xmlns:p14="http://schemas.microsoft.com/office/powerpoint/2010/main" val="1195261380"/>
              </p:ext>
            </p:extLst>
          </p:nvPr>
        </p:nvGraphicFramePr>
        <p:xfrm>
          <a:off x="524065" y="4021853"/>
          <a:ext cx="10719575" cy="2438250"/>
        </p:xfrm>
        <a:graphic>
          <a:graphicData uri="http://schemas.openxmlformats.org/drawingml/2006/table">
            <a:tbl>
              <a:tblPr>
                <a:noFill/>
                <a:tableStyleId>{CA5C7703-E2AC-41A6-8DEA-2D5C455BA520}</a:tableStyleId>
              </a:tblPr>
              <a:tblGrid>
                <a:gridCol w="3017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339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67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 b="1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Virtual Address (VA)</a:t>
                      </a:r>
                      <a:endParaRPr sz="2000" b="1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 b="1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 &lt;= VA &lt; 4KB </a:t>
                      </a:r>
                      <a:endParaRPr sz="2000" b="1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 b="1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PA = VA + 16KB</a:t>
                      </a:r>
                      <a:endParaRPr sz="2000" b="1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20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OK</a:t>
                      </a:r>
                      <a:endParaRPr sz="20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 + 16KB = 16KB</a:t>
                      </a:r>
                      <a:endParaRPr sz="20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 KB</a:t>
                      </a:r>
                      <a:endParaRPr sz="20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OK</a:t>
                      </a:r>
                      <a:endParaRPr sz="20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1+ 16KB = 17KB</a:t>
                      </a:r>
                      <a:endParaRPr sz="20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3300</a:t>
                      </a:r>
                      <a:endParaRPr sz="20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OK</a:t>
                      </a:r>
                      <a:endParaRPr sz="20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3300 + 16KB = 3300 + 16(1024)=19684</a:t>
                      </a:r>
                      <a:endParaRPr sz="20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4400</a:t>
                      </a:r>
                      <a:endParaRPr sz="20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Error</a:t>
                      </a:r>
                      <a:endParaRPr sz="2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 dirty="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Dirección fuera de rango</a:t>
                      </a:r>
                      <a:endParaRPr sz="2000" dirty="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42" name="Google Shape;342;p24"/>
          <p:cNvSpPr txBox="1"/>
          <p:nvPr/>
        </p:nvSpPr>
        <p:spPr>
          <a:xfrm>
            <a:off x="524065" y="2620763"/>
            <a:ext cx="2504700" cy="113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b="1" dirty="0">
                <a:solidFill>
                  <a:schemeClr val="accent2"/>
                </a:solidFill>
              </a:rPr>
              <a:t>Datos</a:t>
            </a:r>
            <a:r>
              <a:rPr lang="es-ES" sz="2200" dirty="0">
                <a:solidFill>
                  <a:schemeClr val="accent2"/>
                </a:solidFill>
              </a:rPr>
              <a:t>:</a:t>
            </a:r>
            <a:endParaRPr sz="2200" dirty="0">
              <a:solidFill>
                <a:schemeClr val="accent2"/>
              </a:solidFill>
            </a:endParaRPr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Font typeface="Consolas"/>
              <a:buChar char="●"/>
            </a:pPr>
            <a:r>
              <a:rPr lang="es-ES" sz="2000" b="1" dirty="0">
                <a:latin typeface="Consolas"/>
                <a:ea typeface="Consolas"/>
                <a:cs typeface="Consolas"/>
                <a:sym typeface="Consolas"/>
              </a:rPr>
              <a:t>base = 16 KB</a:t>
            </a:r>
            <a:endParaRPr sz="2000" b="1" dirty="0"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Font typeface="Consolas"/>
              <a:buChar char="●"/>
            </a:pPr>
            <a:r>
              <a:rPr lang="es-ES" sz="2000" b="1" dirty="0">
                <a:latin typeface="Consolas"/>
                <a:ea typeface="Consolas"/>
                <a:cs typeface="Consolas"/>
                <a:sym typeface="Consolas"/>
              </a:rPr>
              <a:t>bounds = 4KB</a:t>
            </a:r>
            <a:endParaRPr sz="20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Marcador de contenido 4">
            <a:extLst>
              <a:ext uri="{FF2B5EF4-FFF2-40B4-BE49-F238E27FC236}">
                <a16:creationId xmlns:a16="http://schemas.microsoft.com/office/drawing/2014/main" id="{A340761C-EBCD-43B1-A971-1221EB43AF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4065" y="1253331"/>
            <a:ext cx="10829735" cy="1325563"/>
          </a:xfrm>
        </p:spPr>
        <p:txBody>
          <a:bodyPr>
            <a:normAutofit fontScale="92500"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MX" sz="2800" dirty="0"/>
              <a:t>Un proceso con un espacio de direccionamiento de 4KB fue asignado a una memoria física de 16KB. Teniendo en cuenta lo anterior, realizar la traducción de direcciones virtuales a físicas mostradas en la siguiente tabla:</a:t>
            </a: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lang="es-MX" sz="28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lang="es-MX" sz="2800" dirty="0"/>
          </a:p>
          <a:p>
            <a:endParaRPr lang="es-CO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p2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Ejemplo 1 - Clase anterior</a:t>
            </a:r>
            <a:endParaRPr dirty="0"/>
          </a:p>
        </p:txBody>
      </p:sp>
      <p:graphicFrame>
        <p:nvGraphicFramePr>
          <p:cNvPr id="349" name="Google Shape;349;p25"/>
          <p:cNvGraphicFramePr/>
          <p:nvPr/>
        </p:nvGraphicFramePr>
        <p:xfrm>
          <a:off x="1114725" y="3103688"/>
          <a:ext cx="3803425" cy="2834525"/>
        </p:xfrm>
        <a:graphic>
          <a:graphicData uri="http://schemas.openxmlformats.org/drawingml/2006/table">
            <a:tbl>
              <a:tblPr>
                <a:noFill/>
                <a:tableStyleId>{CA5C7703-E2AC-41A6-8DEA-2D5C455BA520}</a:tableStyleId>
              </a:tblPr>
              <a:tblGrid>
                <a:gridCol w="1845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578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315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Virtual Address (VA)</a:t>
                      </a:r>
                      <a:endParaRPr sz="1800" b="1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Physical Address (PA)</a:t>
                      </a:r>
                      <a:endParaRPr sz="1800" b="1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1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16KB</a:t>
                      </a: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1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 KB</a:t>
                      </a: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17KB</a:t>
                      </a: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1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3300</a:t>
                      </a: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19684</a:t>
                      </a: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15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4400</a:t>
                      </a: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Dirección fuera de rango</a:t>
                      </a:r>
                      <a:endParaRPr sz="18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50" name="Google Shape;350;p25"/>
          <p:cNvSpPr txBox="1"/>
          <p:nvPr/>
        </p:nvSpPr>
        <p:spPr>
          <a:xfrm>
            <a:off x="1107743" y="1506801"/>
            <a:ext cx="2504700" cy="113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b="1" dirty="0">
                <a:solidFill>
                  <a:schemeClr val="accent2"/>
                </a:solidFill>
              </a:rPr>
              <a:t>Datos</a:t>
            </a:r>
            <a:r>
              <a:rPr lang="es-ES" sz="2200" dirty="0">
                <a:solidFill>
                  <a:schemeClr val="accent2"/>
                </a:solidFill>
              </a:rPr>
              <a:t>:</a:t>
            </a:r>
            <a:endParaRPr sz="2200" dirty="0">
              <a:solidFill>
                <a:schemeClr val="accent2"/>
              </a:solidFill>
            </a:endParaRPr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Font typeface="Consolas"/>
              <a:buChar char="●"/>
            </a:pPr>
            <a:r>
              <a:rPr lang="es-ES" sz="2000" b="1" dirty="0">
                <a:latin typeface="Consolas"/>
                <a:ea typeface="Consolas"/>
                <a:cs typeface="Consolas"/>
                <a:sym typeface="Consolas"/>
              </a:rPr>
              <a:t>base = 16 KB</a:t>
            </a:r>
            <a:endParaRPr sz="2000" b="1" dirty="0"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Font typeface="Consolas"/>
              <a:buChar char="●"/>
            </a:pPr>
            <a:r>
              <a:rPr lang="es-ES" sz="2000" b="1" dirty="0">
                <a:latin typeface="Consolas"/>
                <a:ea typeface="Consolas"/>
                <a:cs typeface="Consolas"/>
                <a:sym typeface="Consolas"/>
              </a:rPr>
              <a:t>bounds = 4KB</a:t>
            </a:r>
            <a:endParaRPr sz="20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grpSp>
        <p:nvGrpSpPr>
          <p:cNvPr id="351" name="Google Shape;351;p25"/>
          <p:cNvGrpSpPr/>
          <p:nvPr/>
        </p:nvGrpSpPr>
        <p:grpSpPr>
          <a:xfrm>
            <a:off x="6566512" y="2655163"/>
            <a:ext cx="936207" cy="2406005"/>
            <a:chOff x="1775100" y="4022850"/>
            <a:chExt cx="1076100" cy="1739700"/>
          </a:xfrm>
        </p:grpSpPr>
        <p:sp>
          <p:nvSpPr>
            <p:cNvPr id="352" name="Google Shape;352;p25"/>
            <p:cNvSpPr/>
            <p:nvPr/>
          </p:nvSpPr>
          <p:spPr>
            <a:xfrm>
              <a:off x="1775100" y="4022850"/>
              <a:ext cx="1076100" cy="1739700"/>
            </a:xfrm>
            <a:prstGeom prst="rect">
              <a:avLst/>
            </a:prstGeom>
            <a:solidFill>
              <a:srgbClr val="EFEFEF"/>
            </a:solidFill>
            <a:ln w="19050" cap="flat" cmpd="sng">
              <a:solidFill>
                <a:srgbClr val="22222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53" name="Google Shape;353;p25"/>
            <p:cNvGrpSpPr/>
            <p:nvPr/>
          </p:nvGrpSpPr>
          <p:grpSpPr>
            <a:xfrm>
              <a:off x="1775100" y="4022850"/>
              <a:ext cx="1076100" cy="1739675"/>
              <a:chOff x="7948250" y="2813125"/>
              <a:chExt cx="1076100" cy="1739675"/>
            </a:xfrm>
          </p:grpSpPr>
          <p:sp>
            <p:nvSpPr>
              <p:cNvPr id="354" name="Google Shape;354;p25"/>
              <p:cNvSpPr/>
              <p:nvPr/>
            </p:nvSpPr>
            <p:spPr>
              <a:xfrm>
                <a:off x="7948250" y="2813125"/>
                <a:ext cx="1076100" cy="284400"/>
              </a:xfrm>
              <a:prstGeom prst="rect">
                <a:avLst/>
              </a:prstGeom>
              <a:solidFill>
                <a:srgbClr val="F4CCCC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 b="1" dirty="0">
                    <a:latin typeface="Courier New"/>
                    <a:ea typeface="Courier New"/>
                    <a:cs typeface="Courier New"/>
                    <a:sym typeface="Courier New"/>
                  </a:rPr>
                  <a:t>Code</a:t>
                </a:r>
                <a:endParaRPr sz="1600" b="1" dirty="0"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  <p:sp>
            <p:nvSpPr>
              <p:cNvPr id="355" name="Google Shape;355;p25"/>
              <p:cNvSpPr/>
              <p:nvPr/>
            </p:nvSpPr>
            <p:spPr>
              <a:xfrm>
                <a:off x="7950650" y="3085775"/>
                <a:ext cx="1073100" cy="370800"/>
              </a:xfrm>
              <a:prstGeom prst="rect">
                <a:avLst/>
              </a:prstGeom>
              <a:solidFill>
                <a:srgbClr val="FFE599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 b="1">
                    <a:latin typeface="Courier New"/>
                    <a:ea typeface="Courier New"/>
                    <a:cs typeface="Courier New"/>
                    <a:sym typeface="Courier New"/>
                  </a:rPr>
                  <a:t>Data</a:t>
                </a:r>
                <a:endParaRPr sz="1600"/>
              </a:p>
            </p:txBody>
          </p:sp>
          <p:sp>
            <p:nvSpPr>
              <p:cNvPr id="356" name="Google Shape;356;p25"/>
              <p:cNvSpPr/>
              <p:nvPr/>
            </p:nvSpPr>
            <p:spPr>
              <a:xfrm>
                <a:off x="7948250" y="3406050"/>
                <a:ext cx="1076100" cy="284400"/>
              </a:xfrm>
              <a:prstGeom prst="rect">
                <a:avLst/>
              </a:prstGeom>
              <a:solidFill>
                <a:srgbClr val="CFE2F3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 b="1" dirty="0">
                    <a:latin typeface="Courier New"/>
                    <a:ea typeface="Courier New"/>
                    <a:cs typeface="Courier New"/>
                    <a:sym typeface="Courier New"/>
                  </a:rPr>
                  <a:t>heap</a:t>
                </a:r>
                <a:endParaRPr sz="1600" dirty="0"/>
              </a:p>
            </p:txBody>
          </p:sp>
          <p:sp>
            <p:nvSpPr>
              <p:cNvPr id="357" name="Google Shape;357;p25"/>
              <p:cNvSpPr/>
              <p:nvPr/>
            </p:nvSpPr>
            <p:spPr>
              <a:xfrm>
                <a:off x="7948250" y="4268400"/>
                <a:ext cx="1076100" cy="284400"/>
              </a:xfrm>
              <a:prstGeom prst="rect">
                <a:avLst/>
              </a:prstGeom>
              <a:solidFill>
                <a:srgbClr val="CFE2F3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 b="1" dirty="0">
                    <a:latin typeface="Courier New"/>
                    <a:ea typeface="Courier New"/>
                    <a:cs typeface="Courier New"/>
                    <a:sym typeface="Courier New"/>
                  </a:rPr>
                  <a:t>stack</a:t>
                </a:r>
                <a:endParaRPr sz="1600" dirty="0"/>
              </a:p>
            </p:txBody>
          </p:sp>
          <p:cxnSp>
            <p:nvCxnSpPr>
              <p:cNvPr id="358" name="Google Shape;358;p25"/>
              <p:cNvCxnSpPr>
                <a:stCxn id="356" idx="2"/>
              </p:cNvCxnSpPr>
              <p:nvPr/>
            </p:nvCxnSpPr>
            <p:spPr>
              <a:xfrm>
                <a:off x="8486300" y="3690450"/>
                <a:ext cx="6900" cy="2613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359" name="Google Shape;359;p25"/>
              <p:cNvCxnSpPr>
                <a:stCxn id="357" idx="0"/>
              </p:cNvCxnSpPr>
              <p:nvPr/>
            </p:nvCxnSpPr>
            <p:spPr>
              <a:xfrm rot="10800000" flipH="1">
                <a:off x="8486300" y="4035600"/>
                <a:ext cx="4200" cy="2328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</p:grpSp>
      </p:grpSp>
      <p:cxnSp>
        <p:nvCxnSpPr>
          <p:cNvPr id="360" name="Google Shape;360;p25"/>
          <p:cNvCxnSpPr/>
          <p:nvPr/>
        </p:nvCxnSpPr>
        <p:spPr>
          <a:xfrm rot="10800000" flipH="1">
            <a:off x="7502725" y="2620975"/>
            <a:ext cx="1911300" cy="3420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361" name="Google Shape;361;p25"/>
          <p:cNvCxnSpPr/>
          <p:nvPr/>
        </p:nvCxnSpPr>
        <p:spPr>
          <a:xfrm rot="10800000" flipH="1">
            <a:off x="7545625" y="5040875"/>
            <a:ext cx="1839600" cy="30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362" name="Google Shape;362;p25"/>
          <p:cNvSpPr/>
          <p:nvPr/>
        </p:nvSpPr>
        <p:spPr>
          <a:xfrm>
            <a:off x="9438675" y="1464475"/>
            <a:ext cx="933000" cy="44469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63" name="Google Shape;363;p25"/>
          <p:cNvGrpSpPr/>
          <p:nvPr/>
        </p:nvGrpSpPr>
        <p:grpSpPr>
          <a:xfrm>
            <a:off x="9438687" y="2613363"/>
            <a:ext cx="936207" cy="2406005"/>
            <a:chOff x="1775100" y="4022850"/>
            <a:chExt cx="1076100" cy="1739700"/>
          </a:xfrm>
        </p:grpSpPr>
        <p:sp>
          <p:nvSpPr>
            <p:cNvPr id="364" name="Google Shape;364;p25"/>
            <p:cNvSpPr/>
            <p:nvPr/>
          </p:nvSpPr>
          <p:spPr>
            <a:xfrm>
              <a:off x="1775100" y="4022850"/>
              <a:ext cx="1076100" cy="1739700"/>
            </a:xfrm>
            <a:prstGeom prst="rect">
              <a:avLst/>
            </a:prstGeom>
            <a:solidFill>
              <a:srgbClr val="EFEFEF"/>
            </a:solidFill>
            <a:ln w="19050" cap="flat" cmpd="sng">
              <a:solidFill>
                <a:srgbClr val="22222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65" name="Google Shape;365;p25"/>
            <p:cNvGrpSpPr/>
            <p:nvPr/>
          </p:nvGrpSpPr>
          <p:grpSpPr>
            <a:xfrm>
              <a:off x="1775100" y="4022850"/>
              <a:ext cx="1076100" cy="1739675"/>
              <a:chOff x="7948250" y="2813125"/>
              <a:chExt cx="1076100" cy="1739675"/>
            </a:xfrm>
          </p:grpSpPr>
          <p:sp>
            <p:nvSpPr>
              <p:cNvPr id="366" name="Google Shape;366;p25"/>
              <p:cNvSpPr/>
              <p:nvPr/>
            </p:nvSpPr>
            <p:spPr>
              <a:xfrm>
                <a:off x="7948250" y="2813125"/>
                <a:ext cx="1076100" cy="284400"/>
              </a:xfrm>
              <a:prstGeom prst="rect">
                <a:avLst/>
              </a:prstGeom>
              <a:solidFill>
                <a:srgbClr val="F4CCCC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 b="1" dirty="0">
                    <a:latin typeface="Courier New"/>
                    <a:ea typeface="Courier New"/>
                    <a:cs typeface="Courier New"/>
                    <a:sym typeface="Courier New"/>
                  </a:rPr>
                  <a:t>Code</a:t>
                </a:r>
                <a:endParaRPr sz="1600" b="1" dirty="0"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  <p:sp>
            <p:nvSpPr>
              <p:cNvPr id="367" name="Google Shape;367;p25"/>
              <p:cNvSpPr/>
              <p:nvPr/>
            </p:nvSpPr>
            <p:spPr>
              <a:xfrm>
                <a:off x="7950650" y="3085775"/>
                <a:ext cx="1073100" cy="370800"/>
              </a:xfrm>
              <a:prstGeom prst="rect">
                <a:avLst/>
              </a:prstGeom>
              <a:solidFill>
                <a:srgbClr val="FFE599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 b="1">
                    <a:latin typeface="Courier New"/>
                    <a:ea typeface="Courier New"/>
                    <a:cs typeface="Courier New"/>
                    <a:sym typeface="Courier New"/>
                  </a:rPr>
                  <a:t>Data</a:t>
                </a:r>
                <a:endParaRPr sz="1600"/>
              </a:p>
            </p:txBody>
          </p:sp>
          <p:sp>
            <p:nvSpPr>
              <p:cNvPr id="368" name="Google Shape;368;p25"/>
              <p:cNvSpPr/>
              <p:nvPr/>
            </p:nvSpPr>
            <p:spPr>
              <a:xfrm>
                <a:off x="7948250" y="3406050"/>
                <a:ext cx="1076100" cy="284400"/>
              </a:xfrm>
              <a:prstGeom prst="rect">
                <a:avLst/>
              </a:prstGeom>
              <a:solidFill>
                <a:srgbClr val="CFE2F3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 b="1" dirty="0">
                    <a:latin typeface="Courier New"/>
                    <a:ea typeface="Courier New"/>
                    <a:cs typeface="Courier New"/>
                    <a:sym typeface="Courier New"/>
                  </a:rPr>
                  <a:t>heap</a:t>
                </a:r>
                <a:endParaRPr sz="1600" dirty="0"/>
              </a:p>
            </p:txBody>
          </p:sp>
          <p:sp>
            <p:nvSpPr>
              <p:cNvPr id="369" name="Google Shape;369;p25"/>
              <p:cNvSpPr/>
              <p:nvPr/>
            </p:nvSpPr>
            <p:spPr>
              <a:xfrm>
                <a:off x="7948250" y="4268400"/>
                <a:ext cx="1076100" cy="284400"/>
              </a:xfrm>
              <a:prstGeom prst="rect">
                <a:avLst/>
              </a:prstGeom>
              <a:solidFill>
                <a:srgbClr val="CFE2F3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 b="1" dirty="0">
                    <a:latin typeface="Courier New"/>
                    <a:ea typeface="Courier New"/>
                    <a:cs typeface="Courier New"/>
                    <a:sym typeface="Courier New"/>
                  </a:rPr>
                  <a:t>stack</a:t>
                </a:r>
                <a:endParaRPr sz="1600" dirty="0"/>
              </a:p>
            </p:txBody>
          </p:sp>
          <p:cxnSp>
            <p:nvCxnSpPr>
              <p:cNvPr id="370" name="Google Shape;370;p25"/>
              <p:cNvCxnSpPr>
                <a:stCxn id="368" idx="2"/>
              </p:cNvCxnSpPr>
              <p:nvPr/>
            </p:nvCxnSpPr>
            <p:spPr>
              <a:xfrm>
                <a:off x="8486300" y="3690450"/>
                <a:ext cx="6900" cy="2613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371" name="Google Shape;371;p25"/>
              <p:cNvCxnSpPr>
                <a:stCxn id="369" idx="0"/>
              </p:cNvCxnSpPr>
              <p:nvPr/>
            </p:nvCxnSpPr>
            <p:spPr>
              <a:xfrm rot="10800000" flipH="1">
                <a:off x="8486300" y="4035600"/>
                <a:ext cx="4200" cy="2328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</p:grpSp>
      </p:grpSp>
      <p:cxnSp>
        <p:nvCxnSpPr>
          <p:cNvPr id="372" name="Google Shape;372;p25"/>
          <p:cNvCxnSpPr/>
          <p:nvPr/>
        </p:nvCxnSpPr>
        <p:spPr>
          <a:xfrm>
            <a:off x="6061050" y="2655175"/>
            <a:ext cx="341700" cy="0"/>
          </a:xfrm>
          <a:prstGeom prst="straightConnector1">
            <a:avLst/>
          </a:prstGeom>
          <a:noFill/>
          <a:ln w="9525" cap="flat" cmpd="sng">
            <a:solidFill>
              <a:srgbClr val="38761D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373" name="Google Shape;373;p25"/>
          <p:cNvCxnSpPr/>
          <p:nvPr/>
        </p:nvCxnSpPr>
        <p:spPr>
          <a:xfrm>
            <a:off x="6061050" y="3103700"/>
            <a:ext cx="341700" cy="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374" name="Google Shape;374;p25"/>
          <p:cNvCxnSpPr/>
          <p:nvPr/>
        </p:nvCxnSpPr>
        <p:spPr>
          <a:xfrm>
            <a:off x="6061050" y="4386500"/>
            <a:ext cx="341700" cy="0"/>
          </a:xfrm>
          <a:prstGeom prst="straightConnector1">
            <a:avLst/>
          </a:prstGeom>
          <a:noFill/>
          <a:ln w="9525" cap="flat" cmpd="sng">
            <a:solidFill>
              <a:srgbClr val="888888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375" name="Google Shape;375;p25"/>
          <p:cNvCxnSpPr/>
          <p:nvPr/>
        </p:nvCxnSpPr>
        <p:spPr>
          <a:xfrm>
            <a:off x="6061050" y="5478425"/>
            <a:ext cx="341700" cy="0"/>
          </a:xfrm>
          <a:prstGeom prst="straightConnector1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376" name="Google Shape;376;p25"/>
          <p:cNvCxnSpPr/>
          <p:nvPr/>
        </p:nvCxnSpPr>
        <p:spPr>
          <a:xfrm>
            <a:off x="9039700" y="2613375"/>
            <a:ext cx="341700" cy="0"/>
          </a:xfrm>
          <a:prstGeom prst="straightConnector1">
            <a:avLst/>
          </a:prstGeom>
          <a:noFill/>
          <a:ln w="9525" cap="flat" cmpd="sng">
            <a:solidFill>
              <a:srgbClr val="38761D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377" name="Google Shape;377;p25"/>
          <p:cNvCxnSpPr/>
          <p:nvPr/>
        </p:nvCxnSpPr>
        <p:spPr>
          <a:xfrm>
            <a:off x="9039700" y="3103700"/>
            <a:ext cx="341700" cy="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378" name="Google Shape;378;p25"/>
          <p:cNvCxnSpPr/>
          <p:nvPr/>
        </p:nvCxnSpPr>
        <p:spPr>
          <a:xfrm>
            <a:off x="9004575" y="4386500"/>
            <a:ext cx="341700" cy="0"/>
          </a:xfrm>
          <a:prstGeom prst="straightConnector1">
            <a:avLst/>
          </a:prstGeom>
          <a:noFill/>
          <a:ln w="9525" cap="flat" cmpd="sng">
            <a:solidFill>
              <a:srgbClr val="888888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79" name="Google Shape;379;p25"/>
          <p:cNvSpPr txBox="1"/>
          <p:nvPr/>
        </p:nvSpPr>
        <p:spPr>
          <a:xfrm>
            <a:off x="5594250" y="2485825"/>
            <a:ext cx="4668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00" b="1">
                <a:solidFill>
                  <a:srgbClr val="38761D"/>
                </a:solidFill>
                <a:latin typeface="Consolas"/>
                <a:ea typeface="Consolas"/>
                <a:cs typeface="Consolas"/>
                <a:sym typeface="Consolas"/>
              </a:rPr>
              <a:t>0 KB</a:t>
            </a:r>
            <a:endParaRPr sz="1000" b="1">
              <a:solidFill>
                <a:srgbClr val="38761D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0" name="Google Shape;380;p25"/>
          <p:cNvSpPr txBox="1"/>
          <p:nvPr/>
        </p:nvSpPr>
        <p:spPr>
          <a:xfrm>
            <a:off x="8476500" y="2444025"/>
            <a:ext cx="5631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00" b="1">
                <a:solidFill>
                  <a:srgbClr val="38761D"/>
                </a:solidFill>
                <a:latin typeface="Consolas"/>
                <a:ea typeface="Consolas"/>
                <a:cs typeface="Consolas"/>
                <a:sym typeface="Consolas"/>
              </a:rPr>
              <a:t>16 KB</a:t>
            </a:r>
            <a:endParaRPr sz="1000" b="1">
              <a:solidFill>
                <a:srgbClr val="38761D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1" name="Google Shape;381;p25"/>
          <p:cNvSpPr txBox="1"/>
          <p:nvPr/>
        </p:nvSpPr>
        <p:spPr>
          <a:xfrm>
            <a:off x="5594250" y="2934350"/>
            <a:ext cx="4668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00" b="1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1 KB</a:t>
            </a:r>
            <a:endParaRPr sz="1000" b="1"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2" name="Google Shape;382;p25"/>
          <p:cNvSpPr txBox="1"/>
          <p:nvPr/>
        </p:nvSpPr>
        <p:spPr>
          <a:xfrm>
            <a:off x="8476600" y="2934350"/>
            <a:ext cx="5631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00" b="1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17 KB</a:t>
            </a:r>
            <a:endParaRPr sz="1000" b="1"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3" name="Google Shape;383;p25"/>
          <p:cNvSpPr txBox="1"/>
          <p:nvPr/>
        </p:nvSpPr>
        <p:spPr>
          <a:xfrm>
            <a:off x="5594250" y="4217150"/>
            <a:ext cx="4668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00" b="1">
                <a:solidFill>
                  <a:srgbClr val="888888"/>
                </a:solidFill>
                <a:latin typeface="Consolas"/>
                <a:ea typeface="Consolas"/>
                <a:cs typeface="Consolas"/>
                <a:sym typeface="Consolas"/>
              </a:rPr>
              <a:t>3300</a:t>
            </a:r>
            <a:endParaRPr sz="1000" b="1">
              <a:solidFill>
                <a:srgbClr val="888888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4" name="Google Shape;384;p25"/>
          <p:cNvSpPr txBox="1"/>
          <p:nvPr/>
        </p:nvSpPr>
        <p:spPr>
          <a:xfrm>
            <a:off x="8428350" y="4217150"/>
            <a:ext cx="5631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00" b="1">
                <a:solidFill>
                  <a:srgbClr val="888888"/>
                </a:solidFill>
                <a:latin typeface="Consolas"/>
                <a:ea typeface="Consolas"/>
                <a:cs typeface="Consolas"/>
                <a:sym typeface="Consolas"/>
              </a:rPr>
              <a:t>19684</a:t>
            </a:r>
            <a:endParaRPr sz="1000" b="1">
              <a:solidFill>
                <a:srgbClr val="888888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5" name="Google Shape;385;p25"/>
          <p:cNvSpPr txBox="1"/>
          <p:nvPr/>
        </p:nvSpPr>
        <p:spPr>
          <a:xfrm>
            <a:off x="5594250" y="5309075"/>
            <a:ext cx="4668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00" b="1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4400</a:t>
            </a:r>
            <a:endParaRPr sz="1000" b="1">
              <a:solidFill>
                <a:srgbClr val="FF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86" name="Google Shape;386;p25"/>
          <p:cNvCxnSpPr/>
          <p:nvPr/>
        </p:nvCxnSpPr>
        <p:spPr>
          <a:xfrm>
            <a:off x="6126925" y="5061175"/>
            <a:ext cx="341700" cy="0"/>
          </a:xfrm>
          <a:prstGeom prst="straightConnector1">
            <a:avLst/>
          </a:prstGeom>
          <a:noFill/>
          <a:ln w="9525" cap="flat" cmpd="sng">
            <a:solidFill>
              <a:srgbClr val="38761D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87" name="Google Shape;387;p25"/>
          <p:cNvSpPr/>
          <p:nvPr/>
        </p:nvSpPr>
        <p:spPr>
          <a:xfrm>
            <a:off x="5557800" y="4967425"/>
            <a:ext cx="539700" cy="1875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>
                <a:latin typeface="Consolas"/>
                <a:ea typeface="Consolas"/>
                <a:cs typeface="Consolas"/>
                <a:sym typeface="Consolas"/>
              </a:rPr>
              <a:t>4 KB</a:t>
            </a:r>
            <a:endParaRPr sz="12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8" name="Google Shape;388;p25"/>
          <p:cNvSpPr/>
          <p:nvPr/>
        </p:nvSpPr>
        <p:spPr>
          <a:xfrm>
            <a:off x="5487300" y="4754050"/>
            <a:ext cx="703200" cy="1875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>
                <a:latin typeface="Consolas"/>
                <a:ea typeface="Consolas"/>
                <a:cs typeface="Consolas"/>
                <a:sym typeface="Consolas"/>
              </a:rPr>
              <a:t>bounds</a:t>
            </a:r>
            <a:endParaRPr sz="12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9" name="Google Shape;389;p25"/>
          <p:cNvSpPr/>
          <p:nvPr/>
        </p:nvSpPr>
        <p:spPr>
          <a:xfrm>
            <a:off x="10773325" y="4917675"/>
            <a:ext cx="661200" cy="1875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>
                <a:latin typeface="Consolas"/>
                <a:ea typeface="Consolas"/>
                <a:cs typeface="Consolas"/>
                <a:sym typeface="Consolas"/>
              </a:rPr>
              <a:t>20 KB</a:t>
            </a:r>
            <a:endParaRPr sz="12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0" name="Google Shape;390;p25"/>
          <p:cNvSpPr/>
          <p:nvPr/>
        </p:nvSpPr>
        <p:spPr>
          <a:xfrm>
            <a:off x="10815500" y="2519625"/>
            <a:ext cx="661200" cy="1875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>
                <a:latin typeface="Consolas"/>
                <a:ea typeface="Consolas"/>
                <a:cs typeface="Consolas"/>
                <a:sym typeface="Consolas"/>
              </a:rPr>
              <a:t>16 KB</a:t>
            </a:r>
            <a:endParaRPr sz="12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1" name="Google Shape;391;p25"/>
          <p:cNvSpPr/>
          <p:nvPr/>
        </p:nvSpPr>
        <p:spPr>
          <a:xfrm>
            <a:off x="10794500" y="2298325"/>
            <a:ext cx="703200" cy="1875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>
                <a:latin typeface="Consolas"/>
                <a:ea typeface="Consolas"/>
                <a:cs typeface="Consolas"/>
                <a:sym typeface="Consolas"/>
              </a:rPr>
              <a:t>base</a:t>
            </a:r>
            <a:endParaRPr sz="12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2" name="Google Shape;392;p25"/>
          <p:cNvSpPr/>
          <p:nvPr/>
        </p:nvSpPr>
        <p:spPr>
          <a:xfrm>
            <a:off x="10604000" y="4687625"/>
            <a:ext cx="1339500" cy="1875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>
                <a:latin typeface="Consolas"/>
                <a:ea typeface="Consolas"/>
                <a:cs typeface="Consolas"/>
                <a:sym typeface="Consolas"/>
              </a:rPr>
              <a:t>base + bounds</a:t>
            </a:r>
            <a:endParaRPr sz="12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93" name="Google Shape;393;p25"/>
          <p:cNvCxnSpPr/>
          <p:nvPr/>
        </p:nvCxnSpPr>
        <p:spPr>
          <a:xfrm>
            <a:off x="10422738" y="2613375"/>
            <a:ext cx="3417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394" name="Google Shape;394;p25"/>
          <p:cNvCxnSpPr/>
          <p:nvPr/>
        </p:nvCxnSpPr>
        <p:spPr>
          <a:xfrm>
            <a:off x="10401638" y="5011425"/>
            <a:ext cx="3417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triangle" w="med" len="med"/>
            <a:tailEnd type="none" w="med" len="med"/>
          </a:ln>
        </p:spPr>
      </p:cxnSp>
      <p:pic>
        <p:nvPicPr>
          <p:cNvPr id="395" name="Google Shape;395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66500" y="5306900"/>
            <a:ext cx="364950" cy="343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26"/>
          <p:cNvSpPr txBox="1">
            <a:spLocks noGrp="1"/>
          </p:cNvSpPr>
          <p:nvPr>
            <p:ph type="title"/>
          </p:nvPr>
        </p:nvSpPr>
        <p:spPr>
          <a:xfrm>
            <a:off x="705465" y="276635"/>
            <a:ext cx="10515600" cy="1325563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Ejemplo 2</a:t>
            </a:r>
            <a:endParaRPr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67270B6-AB8E-4ECE-BFAC-DD206D820D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5465" y="1473251"/>
            <a:ext cx="10515600" cy="3911498"/>
          </a:xfrm>
        </p:spPr>
        <p:txBody>
          <a:bodyPr>
            <a:normAutofit fontScale="92500"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MX" sz="2800" dirty="0"/>
              <a:t>Suponga que se tienen dos procesos con un espacio de direcciones (Address Space) de 1KB. Estos procesos se mapean en memoria física (Physical Address) a partir de las direcciones 1 KB y 4KB respectivamente. </a:t>
            </a:r>
          </a:p>
          <a:p>
            <a:pPr marL="457200" lvl="0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400"/>
              <a:buChar char="●"/>
            </a:pPr>
            <a:r>
              <a:rPr lang="es-MX" sz="2800" dirty="0"/>
              <a:t>Dibuje un bosquejo de cómo queda la memoria física.</a:t>
            </a: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s-MX" sz="2800" dirty="0"/>
              <a:t>Si el proceso P1 ejecuta la instrucción </a:t>
            </a:r>
            <a:r>
              <a:rPr lang="es-MX" sz="2800" b="1" dirty="0">
                <a:latin typeface="Consolas"/>
                <a:ea typeface="Consolas"/>
                <a:cs typeface="Consolas"/>
                <a:sym typeface="Consolas"/>
              </a:rPr>
              <a:t>load 100, R</a:t>
            </a:r>
            <a:r>
              <a:rPr lang="es-MX" sz="2800" dirty="0"/>
              <a:t> ¿A que dirección de memoria accediendo para obtener el valor que será llevado a R?</a:t>
            </a: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s-MX" sz="2800" dirty="0"/>
              <a:t>Si el proceso P2 ejecuta la instrucción </a:t>
            </a:r>
            <a:r>
              <a:rPr lang="es-MX" sz="2800" b="1" dirty="0">
                <a:latin typeface="Consolas"/>
                <a:ea typeface="Consolas"/>
                <a:cs typeface="Consolas"/>
                <a:sym typeface="Consolas"/>
              </a:rPr>
              <a:t>load 100, R</a:t>
            </a:r>
            <a:r>
              <a:rPr lang="es-MX" sz="2800" dirty="0"/>
              <a:t> ¿A que dirección de memoria accediendo para obtener el valor que será llevado a R?</a:t>
            </a: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s-MX" sz="2800" dirty="0"/>
              <a:t>Analice la ejecución </a:t>
            </a:r>
            <a:r>
              <a:rPr lang="es-MX" sz="2800" b="1" dirty="0">
                <a:latin typeface="Consolas"/>
                <a:ea typeface="Consolas"/>
                <a:cs typeface="Consolas"/>
                <a:sym typeface="Consolas"/>
              </a:rPr>
              <a:t>load 100, R </a:t>
            </a:r>
            <a:r>
              <a:rPr lang="es-MX" sz="2800" dirty="0"/>
              <a:t>para el proceso 1</a:t>
            </a:r>
          </a:p>
          <a:p>
            <a:endParaRPr lang="es-CO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p27"/>
          <p:cNvSpPr txBox="1">
            <a:spLocks noGrp="1"/>
          </p:cNvSpPr>
          <p:nvPr>
            <p:ph type="title"/>
          </p:nvPr>
        </p:nvSpPr>
        <p:spPr>
          <a:xfrm>
            <a:off x="407575" y="204343"/>
            <a:ext cx="10515600" cy="1325563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Ejemplo 2</a:t>
            </a:r>
            <a:endParaRPr dirty="0"/>
          </a:p>
        </p:txBody>
      </p:sp>
      <p:sp>
        <p:nvSpPr>
          <p:cNvPr id="408" name="Google Shape;408;p27"/>
          <p:cNvSpPr txBox="1"/>
          <p:nvPr/>
        </p:nvSpPr>
        <p:spPr>
          <a:xfrm>
            <a:off x="534613" y="1759725"/>
            <a:ext cx="3281700" cy="175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b="1" dirty="0">
                <a:solidFill>
                  <a:schemeClr val="accent2"/>
                </a:solidFill>
              </a:rPr>
              <a:t>Datos</a:t>
            </a:r>
            <a:r>
              <a:rPr lang="es-ES" sz="2200" dirty="0">
                <a:solidFill>
                  <a:schemeClr val="accent2"/>
                </a:solidFill>
              </a:rPr>
              <a:t>:</a:t>
            </a:r>
            <a:endParaRPr sz="2200" dirty="0">
              <a:solidFill>
                <a:schemeClr val="accent2"/>
              </a:solidFill>
            </a:endParaRPr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Font typeface="Consolas"/>
              <a:buChar char="●"/>
            </a:pPr>
            <a:r>
              <a:rPr lang="es-ES" sz="2000" b="1" dirty="0">
                <a:latin typeface="Consolas"/>
                <a:ea typeface="Consolas"/>
                <a:cs typeface="Consolas"/>
                <a:sym typeface="Consolas"/>
              </a:rPr>
              <a:t>base(P1) = 1 KB</a:t>
            </a:r>
            <a:endParaRPr sz="2000" b="1" dirty="0"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Font typeface="Consolas"/>
              <a:buChar char="●"/>
            </a:pPr>
            <a:r>
              <a:rPr lang="es-ES" sz="2000" b="1" dirty="0">
                <a:latin typeface="Consolas"/>
                <a:ea typeface="Consolas"/>
                <a:cs typeface="Consolas"/>
                <a:sym typeface="Consolas"/>
              </a:rPr>
              <a:t>bounds(P1) = 1 KB</a:t>
            </a:r>
            <a:endParaRPr sz="2000" b="1" dirty="0"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onsolas"/>
              <a:buChar char="●"/>
            </a:pPr>
            <a:r>
              <a:rPr lang="es-ES" sz="20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base(P2) = 4 KB</a:t>
            </a:r>
            <a:endParaRPr sz="2000" b="1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onsolas"/>
              <a:buChar char="●"/>
            </a:pPr>
            <a:r>
              <a:rPr lang="es-ES" sz="20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bounds(P2) = 1 KB</a:t>
            </a:r>
            <a:endParaRPr sz="20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grpSp>
        <p:nvGrpSpPr>
          <p:cNvPr id="409" name="Google Shape;409;p27"/>
          <p:cNvGrpSpPr/>
          <p:nvPr/>
        </p:nvGrpSpPr>
        <p:grpSpPr>
          <a:xfrm>
            <a:off x="8054300" y="1616375"/>
            <a:ext cx="3789100" cy="4446900"/>
            <a:chOff x="6987500" y="1616375"/>
            <a:chExt cx="3789100" cy="4446900"/>
          </a:xfrm>
        </p:grpSpPr>
        <p:grpSp>
          <p:nvGrpSpPr>
            <p:cNvPr id="410" name="Google Shape;410;p27"/>
            <p:cNvGrpSpPr/>
            <p:nvPr/>
          </p:nvGrpSpPr>
          <p:grpSpPr>
            <a:xfrm>
              <a:off x="6987500" y="1616375"/>
              <a:ext cx="1200900" cy="4446900"/>
              <a:chOff x="6799975" y="1750300"/>
              <a:chExt cx="1200900" cy="4446900"/>
            </a:xfrm>
          </p:grpSpPr>
          <p:sp>
            <p:nvSpPr>
              <p:cNvPr id="411" name="Google Shape;411;p27"/>
              <p:cNvSpPr/>
              <p:nvPr/>
            </p:nvSpPr>
            <p:spPr>
              <a:xfrm>
                <a:off x="6799975" y="1750300"/>
                <a:ext cx="1200900" cy="4446900"/>
              </a:xfrm>
              <a:prstGeom prst="rect">
                <a:avLst/>
              </a:prstGeom>
              <a:solidFill>
                <a:schemeClr val="lt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2" name="Google Shape;412;p27"/>
              <p:cNvSpPr/>
              <p:nvPr/>
            </p:nvSpPr>
            <p:spPr>
              <a:xfrm>
                <a:off x="6799975" y="2657000"/>
                <a:ext cx="1200900" cy="754800"/>
              </a:xfrm>
              <a:prstGeom prst="rect">
                <a:avLst/>
              </a:prstGeom>
              <a:solidFill>
                <a:srgbClr val="CFE2F3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 b="1">
                    <a:latin typeface="Courier New"/>
                    <a:ea typeface="Courier New"/>
                    <a:cs typeface="Courier New"/>
                    <a:sym typeface="Courier New"/>
                  </a:rPr>
                  <a:t>P1</a:t>
                </a:r>
                <a:endParaRPr sz="1600"/>
              </a:p>
            </p:txBody>
          </p:sp>
          <p:sp>
            <p:nvSpPr>
              <p:cNvPr id="413" name="Google Shape;413;p27"/>
              <p:cNvSpPr/>
              <p:nvPr/>
            </p:nvSpPr>
            <p:spPr>
              <a:xfrm>
                <a:off x="6799975" y="4542200"/>
                <a:ext cx="1200900" cy="754800"/>
              </a:xfrm>
              <a:prstGeom prst="rect">
                <a:avLst/>
              </a:prstGeom>
              <a:solidFill>
                <a:srgbClr val="F4CCCC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 b="1">
                    <a:latin typeface="Courier New"/>
                    <a:ea typeface="Courier New"/>
                    <a:cs typeface="Courier New"/>
                    <a:sym typeface="Courier New"/>
                  </a:rPr>
                  <a:t>P2</a:t>
                </a:r>
                <a:endParaRPr sz="1600" b="1"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</p:grpSp>
        <p:grpSp>
          <p:nvGrpSpPr>
            <p:cNvPr id="414" name="Google Shape;414;p27"/>
            <p:cNvGrpSpPr/>
            <p:nvPr/>
          </p:nvGrpSpPr>
          <p:grpSpPr>
            <a:xfrm>
              <a:off x="8266188" y="2188975"/>
              <a:ext cx="1224163" cy="437775"/>
              <a:chOff x="8266188" y="2188975"/>
              <a:chExt cx="1224163" cy="437775"/>
            </a:xfrm>
          </p:grpSpPr>
          <p:grpSp>
            <p:nvGrpSpPr>
              <p:cNvPr id="415" name="Google Shape;415;p27"/>
              <p:cNvGrpSpPr/>
              <p:nvPr/>
            </p:nvGrpSpPr>
            <p:grpSpPr>
              <a:xfrm>
                <a:off x="8461950" y="2188975"/>
                <a:ext cx="1028400" cy="437775"/>
                <a:chOff x="8461950" y="2188975"/>
                <a:chExt cx="1028400" cy="437775"/>
              </a:xfrm>
            </p:grpSpPr>
            <p:sp>
              <p:nvSpPr>
                <p:cNvPr id="416" name="Google Shape;416;p27"/>
                <p:cNvSpPr/>
                <p:nvPr/>
              </p:nvSpPr>
              <p:spPr>
                <a:xfrm>
                  <a:off x="8658950" y="2439250"/>
                  <a:ext cx="661200" cy="187500"/>
                </a:xfrm>
                <a:prstGeom prst="rect">
                  <a:avLst/>
                </a:prstGeom>
                <a:solidFill>
                  <a:srgbClr val="C9DAF8"/>
                </a:solidFill>
                <a:ln w="9525" cap="flat" cmpd="sng">
                  <a:solidFill>
                    <a:schemeClr val="dk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1200" b="1">
                      <a:latin typeface="Consolas"/>
                      <a:ea typeface="Consolas"/>
                      <a:cs typeface="Consolas"/>
                      <a:sym typeface="Consolas"/>
                    </a:rPr>
                    <a:t>1 KB</a:t>
                  </a:r>
                  <a:endParaRPr sz="1200" b="1">
                    <a:latin typeface="Consolas"/>
                    <a:ea typeface="Consolas"/>
                    <a:cs typeface="Consolas"/>
                    <a:sym typeface="Consolas"/>
                  </a:endParaRPr>
                </a:p>
              </p:txBody>
            </p:sp>
            <p:sp>
              <p:nvSpPr>
                <p:cNvPr id="417" name="Google Shape;417;p27"/>
                <p:cNvSpPr/>
                <p:nvPr/>
              </p:nvSpPr>
              <p:spPr>
                <a:xfrm>
                  <a:off x="8461950" y="2188975"/>
                  <a:ext cx="1028400" cy="187500"/>
                </a:xfrm>
                <a:prstGeom prst="rect">
                  <a:avLst/>
                </a:prstGeom>
                <a:solidFill>
                  <a:schemeClr val="lt1"/>
                </a:solidFill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1200" b="1">
                      <a:latin typeface="Consolas"/>
                      <a:ea typeface="Consolas"/>
                      <a:cs typeface="Consolas"/>
                      <a:sym typeface="Consolas"/>
                    </a:rPr>
                    <a:t>base(P1)</a:t>
                  </a:r>
                  <a:endParaRPr sz="1200" b="1">
                    <a:latin typeface="Consolas"/>
                    <a:ea typeface="Consolas"/>
                    <a:cs typeface="Consolas"/>
                    <a:sym typeface="Consolas"/>
                  </a:endParaRPr>
                </a:p>
              </p:txBody>
            </p:sp>
          </p:grpSp>
          <p:cxnSp>
            <p:nvCxnSpPr>
              <p:cNvPr id="418" name="Google Shape;418;p27"/>
              <p:cNvCxnSpPr/>
              <p:nvPr/>
            </p:nvCxnSpPr>
            <p:spPr>
              <a:xfrm>
                <a:off x="8266188" y="2533000"/>
                <a:ext cx="341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triangle" w="med" len="med"/>
                <a:tailEnd type="none" w="med" len="med"/>
              </a:ln>
            </p:spPr>
          </p:cxnSp>
        </p:grpSp>
        <p:grpSp>
          <p:nvGrpSpPr>
            <p:cNvPr id="419" name="Google Shape;419;p27"/>
            <p:cNvGrpSpPr/>
            <p:nvPr/>
          </p:nvGrpSpPr>
          <p:grpSpPr>
            <a:xfrm>
              <a:off x="8266188" y="2913125"/>
              <a:ext cx="2510413" cy="441975"/>
              <a:chOff x="8266188" y="2913125"/>
              <a:chExt cx="2510413" cy="441975"/>
            </a:xfrm>
          </p:grpSpPr>
          <p:grpSp>
            <p:nvGrpSpPr>
              <p:cNvPr id="420" name="Google Shape;420;p27"/>
              <p:cNvGrpSpPr/>
              <p:nvPr/>
            </p:nvGrpSpPr>
            <p:grpSpPr>
              <a:xfrm>
                <a:off x="8607900" y="2913125"/>
                <a:ext cx="2168700" cy="441975"/>
                <a:chOff x="8607900" y="2913125"/>
                <a:chExt cx="2168700" cy="441975"/>
              </a:xfrm>
            </p:grpSpPr>
            <p:sp>
              <p:nvSpPr>
                <p:cNvPr id="421" name="Google Shape;421;p27"/>
                <p:cNvSpPr/>
                <p:nvPr/>
              </p:nvSpPr>
              <p:spPr>
                <a:xfrm>
                  <a:off x="8658950" y="3167600"/>
                  <a:ext cx="661200" cy="187500"/>
                </a:xfrm>
                <a:prstGeom prst="rect">
                  <a:avLst/>
                </a:prstGeom>
                <a:solidFill>
                  <a:srgbClr val="C9DAF8"/>
                </a:solidFill>
                <a:ln w="9525" cap="flat" cmpd="sng">
                  <a:solidFill>
                    <a:schemeClr val="dk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1200" b="1">
                      <a:latin typeface="Consolas"/>
                      <a:ea typeface="Consolas"/>
                      <a:cs typeface="Consolas"/>
                      <a:sym typeface="Consolas"/>
                    </a:rPr>
                    <a:t>2 KB</a:t>
                  </a:r>
                  <a:endParaRPr sz="1200" b="1">
                    <a:latin typeface="Consolas"/>
                    <a:ea typeface="Consolas"/>
                    <a:cs typeface="Consolas"/>
                    <a:sym typeface="Consolas"/>
                  </a:endParaRPr>
                </a:p>
              </p:txBody>
            </p:sp>
            <p:sp>
              <p:nvSpPr>
                <p:cNvPr id="422" name="Google Shape;422;p27"/>
                <p:cNvSpPr/>
                <p:nvPr/>
              </p:nvSpPr>
              <p:spPr>
                <a:xfrm>
                  <a:off x="8607900" y="2913125"/>
                  <a:ext cx="2168700" cy="187500"/>
                </a:xfrm>
                <a:prstGeom prst="rect">
                  <a:avLst/>
                </a:prstGeom>
                <a:solidFill>
                  <a:schemeClr val="lt1"/>
                </a:solidFill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1200" b="1" dirty="0">
                      <a:latin typeface="Consolas"/>
                      <a:ea typeface="Consolas"/>
                      <a:cs typeface="Consolas"/>
                      <a:sym typeface="Consolas"/>
                    </a:rPr>
                    <a:t>base(P1) + bounds (P1)</a:t>
                  </a:r>
                  <a:endParaRPr sz="1200" b="1" dirty="0">
                    <a:latin typeface="Consolas"/>
                    <a:ea typeface="Consolas"/>
                    <a:cs typeface="Consolas"/>
                    <a:sym typeface="Consolas"/>
                  </a:endParaRPr>
                </a:p>
              </p:txBody>
            </p:sp>
          </p:grpSp>
          <p:cxnSp>
            <p:nvCxnSpPr>
              <p:cNvPr id="423" name="Google Shape;423;p27"/>
              <p:cNvCxnSpPr/>
              <p:nvPr/>
            </p:nvCxnSpPr>
            <p:spPr>
              <a:xfrm>
                <a:off x="8266188" y="3261350"/>
                <a:ext cx="341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triangle" w="med" len="med"/>
                <a:tailEnd type="none" w="med" len="med"/>
              </a:ln>
            </p:spPr>
          </p:cxnSp>
        </p:grpSp>
        <p:grpSp>
          <p:nvGrpSpPr>
            <p:cNvPr id="424" name="Google Shape;424;p27"/>
            <p:cNvGrpSpPr/>
            <p:nvPr/>
          </p:nvGrpSpPr>
          <p:grpSpPr>
            <a:xfrm>
              <a:off x="8266188" y="4082650"/>
              <a:ext cx="1224163" cy="437775"/>
              <a:chOff x="8266188" y="4082650"/>
              <a:chExt cx="1224163" cy="437775"/>
            </a:xfrm>
          </p:grpSpPr>
          <p:grpSp>
            <p:nvGrpSpPr>
              <p:cNvPr id="425" name="Google Shape;425;p27"/>
              <p:cNvGrpSpPr/>
              <p:nvPr/>
            </p:nvGrpSpPr>
            <p:grpSpPr>
              <a:xfrm>
                <a:off x="8461950" y="4082650"/>
                <a:ext cx="1028400" cy="437775"/>
                <a:chOff x="8461950" y="4082650"/>
                <a:chExt cx="1028400" cy="437775"/>
              </a:xfrm>
            </p:grpSpPr>
            <p:sp>
              <p:nvSpPr>
                <p:cNvPr id="426" name="Google Shape;426;p27"/>
                <p:cNvSpPr/>
                <p:nvPr/>
              </p:nvSpPr>
              <p:spPr>
                <a:xfrm>
                  <a:off x="8658950" y="4332925"/>
                  <a:ext cx="661200" cy="187500"/>
                </a:xfrm>
                <a:prstGeom prst="rect">
                  <a:avLst/>
                </a:prstGeom>
                <a:solidFill>
                  <a:srgbClr val="F4CCCC"/>
                </a:solidFill>
                <a:ln w="9525" cap="flat" cmpd="sng">
                  <a:solidFill>
                    <a:schemeClr val="dk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1200" b="1">
                      <a:latin typeface="Consolas"/>
                      <a:ea typeface="Consolas"/>
                      <a:cs typeface="Consolas"/>
                      <a:sym typeface="Consolas"/>
                    </a:rPr>
                    <a:t>4 KB</a:t>
                  </a:r>
                  <a:endParaRPr sz="1200" b="1">
                    <a:latin typeface="Consolas"/>
                    <a:ea typeface="Consolas"/>
                    <a:cs typeface="Consolas"/>
                    <a:sym typeface="Consolas"/>
                  </a:endParaRPr>
                </a:p>
              </p:txBody>
            </p:sp>
            <p:sp>
              <p:nvSpPr>
                <p:cNvPr id="427" name="Google Shape;427;p27"/>
                <p:cNvSpPr/>
                <p:nvPr/>
              </p:nvSpPr>
              <p:spPr>
                <a:xfrm>
                  <a:off x="8461950" y="4082650"/>
                  <a:ext cx="1028400" cy="187500"/>
                </a:xfrm>
                <a:prstGeom prst="rect">
                  <a:avLst/>
                </a:prstGeom>
                <a:solidFill>
                  <a:schemeClr val="lt1"/>
                </a:solidFill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1200" b="1">
                      <a:latin typeface="Consolas"/>
                      <a:ea typeface="Consolas"/>
                      <a:cs typeface="Consolas"/>
                      <a:sym typeface="Consolas"/>
                    </a:rPr>
                    <a:t>base(P2)</a:t>
                  </a:r>
                  <a:endParaRPr sz="1200" b="1">
                    <a:latin typeface="Consolas"/>
                    <a:ea typeface="Consolas"/>
                    <a:cs typeface="Consolas"/>
                    <a:sym typeface="Consolas"/>
                  </a:endParaRPr>
                </a:p>
              </p:txBody>
            </p:sp>
          </p:grpSp>
          <p:cxnSp>
            <p:nvCxnSpPr>
              <p:cNvPr id="428" name="Google Shape;428;p27"/>
              <p:cNvCxnSpPr/>
              <p:nvPr/>
            </p:nvCxnSpPr>
            <p:spPr>
              <a:xfrm>
                <a:off x="8266188" y="4426675"/>
                <a:ext cx="341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triangle" w="med" len="med"/>
                <a:tailEnd type="none" w="med" len="med"/>
              </a:ln>
            </p:spPr>
          </p:cxnSp>
        </p:grpSp>
        <p:grpSp>
          <p:nvGrpSpPr>
            <p:cNvPr id="429" name="Google Shape;429;p27"/>
            <p:cNvGrpSpPr/>
            <p:nvPr/>
          </p:nvGrpSpPr>
          <p:grpSpPr>
            <a:xfrm>
              <a:off x="8266188" y="4820200"/>
              <a:ext cx="2510413" cy="441975"/>
              <a:chOff x="8266188" y="4820200"/>
              <a:chExt cx="2510413" cy="441975"/>
            </a:xfrm>
          </p:grpSpPr>
          <p:grpSp>
            <p:nvGrpSpPr>
              <p:cNvPr id="430" name="Google Shape;430;p27"/>
              <p:cNvGrpSpPr/>
              <p:nvPr/>
            </p:nvGrpSpPr>
            <p:grpSpPr>
              <a:xfrm>
                <a:off x="8607900" y="4820200"/>
                <a:ext cx="2168700" cy="441975"/>
                <a:chOff x="8607900" y="4820200"/>
                <a:chExt cx="2168700" cy="441975"/>
              </a:xfrm>
            </p:grpSpPr>
            <p:sp>
              <p:nvSpPr>
                <p:cNvPr id="431" name="Google Shape;431;p27"/>
                <p:cNvSpPr/>
                <p:nvPr/>
              </p:nvSpPr>
              <p:spPr>
                <a:xfrm>
                  <a:off x="8658950" y="5074675"/>
                  <a:ext cx="661200" cy="187500"/>
                </a:xfrm>
                <a:prstGeom prst="rect">
                  <a:avLst/>
                </a:prstGeom>
                <a:solidFill>
                  <a:srgbClr val="F4CCCC"/>
                </a:solidFill>
                <a:ln w="9525" cap="flat" cmpd="sng">
                  <a:solidFill>
                    <a:schemeClr val="dk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1200" b="1">
                      <a:latin typeface="Consolas"/>
                      <a:ea typeface="Consolas"/>
                      <a:cs typeface="Consolas"/>
                      <a:sym typeface="Consolas"/>
                    </a:rPr>
                    <a:t>5 KB</a:t>
                  </a:r>
                  <a:endParaRPr sz="1200" b="1">
                    <a:latin typeface="Consolas"/>
                    <a:ea typeface="Consolas"/>
                    <a:cs typeface="Consolas"/>
                    <a:sym typeface="Consolas"/>
                  </a:endParaRPr>
                </a:p>
              </p:txBody>
            </p:sp>
            <p:sp>
              <p:nvSpPr>
                <p:cNvPr id="432" name="Google Shape;432;p27"/>
                <p:cNvSpPr/>
                <p:nvPr/>
              </p:nvSpPr>
              <p:spPr>
                <a:xfrm>
                  <a:off x="8607900" y="4820200"/>
                  <a:ext cx="2168700" cy="187500"/>
                </a:xfrm>
                <a:prstGeom prst="rect">
                  <a:avLst/>
                </a:prstGeom>
                <a:solidFill>
                  <a:schemeClr val="lt1"/>
                </a:solidFill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1200" b="1" dirty="0">
                      <a:latin typeface="Consolas"/>
                      <a:ea typeface="Consolas"/>
                      <a:cs typeface="Consolas"/>
                      <a:sym typeface="Consolas"/>
                    </a:rPr>
                    <a:t>base(P2) + bounds (P2)</a:t>
                  </a:r>
                  <a:endParaRPr sz="1200" b="1" dirty="0">
                    <a:latin typeface="Consolas"/>
                    <a:ea typeface="Consolas"/>
                    <a:cs typeface="Consolas"/>
                    <a:sym typeface="Consolas"/>
                  </a:endParaRPr>
                </a:p>
              </p:txBody>
            </p:sp>
          </p:grpSp>
          <p:cxnSp>
            <p:nvCxnSpPr>
              <p:cNvPr id="433" name="Google Shape;433;p27"/>
              <p:cNvCxnSpPr/>
              <p:nvPr/>
            </p:nvCxnSpPr>
            <p:spPr>
              <a:xfrm>
                <a:off x="8266188" y="5168425"/>
                <a:ext cx="341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triangle" w="med" len="med"/>
                <a:tailEnd type="none" w="med" len="med"/>
              </a:ln>
            </p:spPr>
          </p:cxnSp>
        </p:grpSp>
      </p:grpSp>
      <p:grpSp>
        <p:nvGrpSpPr>
          <p:cNvPr id="434" name="Google Shape;434;p27"/>
          <p:cNvGrpSpPr/>
          <p:nvPr/>
        </p:nvGrpSpPr>
        <p:grpSpPr>
          <a:xfrm>
            <a:off x="4543675" y="4185625"/>
            <a:ext cx="2734200" cy="821775"/>
            <a:chOff x="4342750" y="4024900"/>
            <a:chExt cx="2734200" cy="821775"/>
          </a:xfrm>
        </p:grpSpPr>
        <p:sp>
          <p:nvSpPr>
            <p:cNvPr id="435" name="Google Shape;435;p27"/>
            <p:cNvSpPr/>
            <p:nvPr/>
          </p:nvSpPr>
          <p:spPr>
            <a:xfrm>
              <a:off x="5876050" y="4024900"/>
              <a:ext cx="1200900" cy="754800"/>
            </a:xfrm>
            <a:prstGeom prst="rect">
              <a:avLst/>
            </a:prstGeom>
            <a:solidFill>
              <a:srgbClr val="F4CCCC"/>
            </a:solidFill>
            <a:ln w="9525" cap="flat" cmpd="sng">
              <a:solidFill>
                <a:srgbClr val="22222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>
                  <a:latin typeface="Courier New"/>
                  <a:ea typeface="Courier New"/>
                  <a:cs typeface="Courier New"/>
                  <a:sym typeface="Courier New"/>
                </a:rPr>
                <a:t>P2</a:t>
              </a:r>
              <a:endParaRPr sz="1600" b="1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grpSp>
          <p:nvGrpSpPr>
            <p:cNvPr id="436" name="Google Shape;436;p27"/>
            <p:cNvGrpSpPr/>
            <p:nvPr/>
          </p:nvGrpSpPr>
          <p:grpSpPr>
            <a:xfrm>
              <a:off x="4342750" y="4404700"/>
              <a:ext cx="1446488" cy="441975"/>
              <a:chOff x="4342750" y="4404700"/>
              <a:chExt cx="1446488" cy="441975"/>
            </a:xfrm>
          </p:grpSpPr>
          <p:grpSp>
            <p:nvGrpSpPr>
              <p:cNvPr id="437" name="Google Shape;437;p27"/>
              <p:cNvGrpSpPr/>
              <p:nvPr/>
            </p:nvGrpSpPr>
            <p:grpSpPr>
              <a:xfrm>
                <a:off x="4342750" y="4404700"/>
                <a:ext cx="1121700" cy="441975"/>
                <a:chOff x="4342750" y="4404700"/>
                <a:chExt cx="1121700" cy="441975"/>
              </a:xfrm>
            </p:grpSpPr>
            <p:sp>
              <p:nvSpPr>
                <p:cNvPr id="438" name="Google Shape;438;p27"/>
                <p:cNvSpPr/>
                <p:nvPr/>
              </p:nvSpPr>
              <p:spPr>
                <a:xfrm>
                  <a:off x="4699550" y="4659175"/>
                  <a:ext cx="661200" cy="187500"/>
                </a:xfrm>
                <a:prstGeom prst="rect">
                  <a:avLst/>
                </a:prstGeom>
                <a:solidFill>
                  <a:srgbClr val="F4CCCC"/>
                </a:solidFill>
                <a:ln w="9525" cap="flat" cmpd="sng">
                  <a:solidFill>
                    <a:schemeClr val="dk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1200" b="1">
                      <a:latin typeface="Consolas"/>
                      <a:ea typeface="Consolas"/>
                      <a:cs typeface="Consolas"/>
                      <a:sym typeface="Consolas"/>
                    </a:rPr>
                    <a:t>1 KB</a:t>
                  </a:r>
                  <a:endParaRPr sz="1200" b="1">
                    <a:latin typeface="Consolas"/>
                    <a:ea typeface="Consolas"/>
                    <a:cs typeface="Consolas"/>
                    <a:sym typeface="Consolas"/>
                  </a:endParaRPr>
                </a:p>
              </p:txBody>
            </p:sp>
            <p:sp>
              <p:nvSpPr>
                <p:cNvPr id="439" name="Google Shape;439;p27"/>
                <p:cNvSpPr/>
                <p:nvPr/>
              </p:nvSpPr>
              <p:spPr>
                <a:xfrm>
                  <a:off x="4342750" y="4404700"/>
                  <a:ext cx="1121700" cy="187500"/>
                </a:xfrm>
                <a:prstGeom prst="rect">
                  <a:avLst/>
                </a:prstGeom>
                <a:solidFill>
                  <a:schemeClr val="lt1"/>
                </a:solidFill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1200" b="1" dirty="0">
                      <a:latin typeface="Consolas"/>
                      <a:ea typeface="Consolas"/>
                      <a:cs typeface="Consolas"/>
                      <a:sym typeface="Consolas"/>
                    </a:rPr>
                    <a:t>bounds (P2)</a:t>
                  </a:r>
                  <a:endParaRPr sz="1200" b="1" dirty="0">
                    <a:latin typeface="Consolas"/>
                    <a:ea typeface="Consolas"/>
                    <a:cs typeface="Consolas"/>
                    <a:sym typeface="Consolas"/>
                  </a:endParaRPr>
                </a:p>
              </p:txBody>
            </p:sp>
          </p:grpSp>
          <p:cxnSp>
            <p:nvCxnSpPr>
              <p:cNvPr id="440" name="Google Shape;440;p27"/>
              <p:cNvCxnSpPr/>
              <p:nvPr/>
            </p:nvCxnSpPr>
            <p:spPr>
              <a:xfrm>
                <a:off x="5447538" y="4752925"/>
                <a:ext cx="341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</p:grpSp>
      </p:grpSp>
      <p:grpSp>
        <p:nvGrpSpPr>
          <p:cNvPr id="441" name="Google Shape;441;p27"/>
          <p:cNvGrpSpPr/>
          <p:nvPr/>
        </p:nvGrpSpPr>
        <p:grpSpPr>
          <a:xfrm>
            <a:off x="4543675" y="2756925"/>
            <a:ext cx="2734200" cy="822325"/>
            <a:chOff x="4342750" y="3051600"/>
            <a:chExt cx="2734200" cy="822325"/>
          </a:xfrm>
        </p:grpSpPr>
        <p:sp>
          <p:nvSpPr>
            <p:cNvPr id="442" name="Google Shape;442;p27"/>
            <p:cNvSpPr/>
            <p:nvPr/>
          </p:nvSpPr>
          <p:spPr>
            <a:xfrm>
              <a:off x="5876050" y="3051600"/>
              <a:ext cx="1200900" cy="754800"/>
            </a:xfrm>
            <a:prstGeom prst="rect">
              <a:avLst/>
            </a:prstGeom>
            <a:solidFill>
              <a:srgbClr val="CFE2F3"/>
            </a:solidFill>
            <a:ln w="9525" cap="flat" cmpd="sng">
              <a:solidFill>
                <a:srgbClr val="22222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>
                  <a:latin typeface="Courier New"/>
                  <a:ea typeface="Courier New"/>
                  <a:cs typeface="Courier New"/>
                  <a:sym typeface="Courier New"/>
                </a:rPr>
                <a:t>P1</a:t>
              </a:r>
              <a:endParaRPr sz="1600"/>
            </a:p>
          </p:txBody>
        </p:sp>
        <p:grpSp>
          <p:nvGrpSpPr>
            <p:cNvPr id="443" name="Google Shape;443;p27"/>
            <p:cNvGrpSpPr/>
            <p:nvPr/>
          </p:nvGrpSpPr>
          <p:grpSpPr>
            <a:xfrm>
              <a:off x="4342750" y="3431950"/>
              <a:ext cx="1464938" cy="441975"/>
              <a:chOff x="4342750" y="3431950"/>
              <a:chExt cx="1464938" cy="441975"/>
            </a:xfrm>
          </p:grpSpPr>
          <p:cxnSp>
            <p:nvCxnSpPr>
              <p:cNvPr id="444" name="Google Shape;444;p27"/>
              <p:cNvCxnSpPr/>
              <p:nvPr/>
            </p:nvCxnSpPr>
            <p:spPr>
              <a:xfrm>
                <a:off x="5465988" y="3806975"/>
                <a:ext cx="341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grpSp>
            <p:nvGrpSpPr>
              <p:cNvPr id="445" name="Google Shape;445;p27"/>
              <p:cNvGrpSpPr/>
              <p:nvPr/>
            </p:nvGrpSpPr>
            <p:grpSpPr>
              <a:xfrm>
                <a:off x="4342750" y="3431950"/>
                <a:ext cx="1121700" cy="441975"/>
                <a:chOff x="4342750" y="3431950"/>
                <a:chExt cx="1121700" cy="441975"/>
              </a:xfrm>
            </p:grpSpPr>
            <p:sp>
              <p:nvSpPr>
                <p:cNvPr id="446" name="Google Shape;446;p27"/>
                <p:cNvSpPr/>
                <p:nvPr/>
              </p:nvSpPr>
              <p:spPr>
                <a:xfrm>
                  <a:off x="4718025" y="3686425"/>
                  <a:ext cx="661200" cy="187500"/>
                </a:xfrm>
                <a:prstGeom prst="rect">
                  <a:avLst/>
                </a:prstGeom>
                <a:solidFill>
                  <a:srgbClr val="C9DAF8"/>
                </a:solidFill>
                <a:ln w="9525" cap="flat" cmpd="sng">
                  <a:solidFill>
                    <a:schemeClr val="dk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1200" b="1">
                      <a:latin typeface="Consolas"/>
                      <a:ea typeface="Consolas"/>
                      <a:cs typeface="Consolas"/>
                      <a:sym typeface="Consolas"/>
                    </a:rPr>
                    <a:t>1 KB</a:t>
                  </a:r>
                  <a:endParaRPr sz="1200" b="1">
                    <a:latin typeface="Consolas"/>
                    <a:ea typeface="Consolas"/>
                    <a:cs typeface="Consolas"/>
                    <a:sym typeface="Consolas"/>
                  </a:endParaRPr>
                </a:p>
              </p:txBody>
            </p:sp>
            <p:sp>
              <p:nvSpPr>
                <p:cNvPr id="447" name="Google Shape;447;p27"/>
                <p:cNvSpPr/>
                <p:nvPr/>
              </p:nvSpPr>
              <p:spPr>
                <a:xfrm>
                  <a:off x="4342750" y="3431950"/>
                  <a:ext cx="1121700" cy="187500"/>
                </a:xfrm>
                <a:prstGeom prst="rect">
                  <a:avLst/>
                </a:prstGeom>
                <a:solidFill>
                  <a:schemeClr val="lt1"/>
                </a:solidFill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1200" b="1" dirty="0">
                      <a:latin typeface="Consolas"/>
                      <a:ea typeface="Consolas"/>
                      <a:cs typeface="Consolas"/>
                      <a:sym typeface="Consolas"/>
                    </a:rPr>
                    <a:t>bounds (P1)</a:t>
                  </a:r>
                  <a:endParaRPr sz="1200" b="1" dirty="0">
                    <a:latin typeface="Consolas"/>
                    <a:ea typeface="Consolas"/>
                    <a:cs typeface="Consolas"/>
                    <a:sym typeface="Consolas"/>
                  </a:endParaRPr>
                </a:p>
              </p:txBody>
            </p:sp>
          </p:grpSp>
        </p:grpSp>
      </p:grpSp>
      <p:cxnSp>
        <p:nvCxnSpPr>
          <p:cNvPr id="448" name="Google Shape;448;p27"/>
          <p:cNvCxnSpPr/>
          <p:nvPr/>
        </p:nvCxnSpPr>
        <p:spPr>
          <a:xfrm>
            <a:off x="7308950" y="4947050"/>
            <a:ext cx="696600" cy="2010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449" name="Google Shape;449;p27"/>
          <p:cNvCxnSpPr/>
          <p:nvPr/>
        </p:nvCxnSpPr>
        <p:spPr>
          <a:xfrm>
            <a:off x="7317788" y="4185625"/>
            <a:ext cx="696600" cy="2010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450" name="Google Shape;450;p27"/>
          <p:cNvCxnSpPr/>
          <p:nvPr/>
        </p:nvCxnSpPr>
        <p:spPr>
          <a:xfrm rot="10800000" flipH="1">
            <a:off x="7317775" y="3286000"/>
            <a:ext cx="687600" cy="2190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451" name="Google Shape;451;p27"/>
          <p:cNvCxnSpPr/>
          <p:nvPr/>
        </p:nvCxnSpPr>
        <p:spPr>
          <a:xfrm rot="10800000" flipH="1">
            <a:off x="7309450" y="2527575"/>
            <a:ext cx="687600" cy="2190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28"/>
          <p:cNvSpPr txBox="1">
            <a:spLocks noGrp="1"/>
          </p:cNvSpPr>
          <p:nvPr>
            <p:ph type="title"/>
          </p:nvPr>
        </p:nvSpPr>
        <p:spPr>
          <a:xfrm>
            <a:off x="734250" y="217957"/>
            <a:ext cx="10515600" cy="1325563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Ejemplo 2</a:t>
            </a:r>
            <a:endParaRPr dirty="0"/>
          </a:p>
        </p:txBody>
      </p:sp>
      <p:sp>
        <p:nvSpPr>
          <p:cNvPr id="458" name="Google Shape;458;p28"/>
          <p:cNvSpPr txBox="1"/>
          <p:nvPr/>
        </p:nvSpPr>
        <p:spPr>
          <a:xfrm>
            <a:off x="1022937" y="1607892"/>
            <a:ext cx="3281700" cy="175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b="1" dirty="0">
                <a:solidFill>
                  <a:schemeClr val="accent2"/>
                </a:solidFill>
              </a:rPr>
              <a:t>Datos</a:t>
            </a:r>
            <a:r>
              <a:rPr lang="es-ES" sz="2200" dirty="0">
                <a:solidFill>
                  <a:schemeClr val="accent2"/>
                </a:solidFill>
              </a:rPr>
              <a:t>:</a:t>
            </a:r>
            <a:endParaRPr sz="2200" dirty="0">
              <a:solidFill>
                <a:schemeClr val="accent2"/>
              </a:solidFill>
            </a:endParaRPr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Font typeface="Consolas"/>
              <a:buChar char="●"/>
            </a:pPr>
            <a:r>
              <a:rPr lang="es-ES" sz="2000" b="1" dirty="0">
                <a:latin typeface="Consolas"/>
                <a:ea typeface="Consolas"/>
                <a:cs typeface="Consolas"/>
                <a:sym typeface="Consolas"/>
              </a:rPr>
              <a:t>base(P1) = 1 KB</a:t>
            </a:r>
            <a:endParaRPr sz="2000" b="1" dirty="0"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Font typeface="Consolas"/>
              <a:buChar char="●"/>
            </a:pPr>
            <a:r>
              <a:rPr lang="es-ES" sz="2000" b="1" dirty="0">
                <a:latin typeface="Consolas"/>
                <a:ea typeface="Consolas"/>
                <a:cs typeface="Consolas"/>
                <a:sym typeface="Consolas"/>
              </a:rPr>
              <a:t>bounds(P1) = 1 KB</a:t>
            </a:r>
            <a:endParaRPr sz="2000" b="1" dirty="0"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Font typeface="Consolas"/>
              <a:buChar char="●"/>
            </a:pPr>
            <a:r>
              <a:rPr lang="es-ES" sz="2000" b="1" dirty="0">
                <a:latin typeface="Consolas"/>
                <a:ea typeface="Consolas"/>
                <a:cs typeface="Consolas"/>
                <a:sym typeface="Consolas"/>
              </a:rPr>
              <a:t>VA = 100</a:t>
            </a:r>
            <a:endParaRPr sz="2000" b="1" dirty="0"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Font typeface="Consolas"/>
              <a:buChar char="●"/>
            </a:pPr>
            <a:r>
              <a:rPr lang="es-ES" sz="2000" b="1" dirty="0">
                <a:latin typeface="Consolas"/>
                <a:ea typeface="Consolas"/>
                <a:cs typeface="Consolas"/>
                <a:sym typeface="Consolas"/>
              </a:rPr>
              <a:t>PA(VA=100) = ?</a:t>
            </a:r>
            <a:endParaRPr sz="20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grpSp>
        <p:nvGrpSpPr>
          <p:cNvPr id="459" name="Google Shape;459;p28"/>
          <p:cNvGrpSpPr/>
          <p:nvPr/>
        </p:nvGrpSpPr>
        <p:grpSpPr>
          <a:xfrm>
            <a:off x="1223538" y="3772900"/>
            <a:ext cx="7255875" cy="2848500"/>
            <a:chOff x="2643363" y="3772900"/>
            <a:chExt cx="7255875" cy="2848500"/>
          </a:xfrm>
        </p:grpSpPr>
        <p:sp>
          <p:nvSpPr>
            <p:cNvPr id="460" name="Google Shape;460;p28"/>
            <p:cNvSpPr/>
            <p:nvPr/>
          </p:nvSpPr>
          <p:spPr>
            <a:xfrm>
              <a:off x="4148200" y="4913450"/>
              <a:ext cx="1200900" cy="1198800"/>
            </a:xfrm>
            <a:prstGeom prst="rect">
              <a:avLst/>
            </a:prstGeom>
            <a:solidFill>
              <a:srgbClr val="CFE2F3"/>
            </a:solidFill>
            <a:ln w="9525" cap="flat" cmpd="sng">
              <a:solidFill>
                <a:srgbClr val="22222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>
                  <a:latin typeface="Courier New"/>
                  <a:ea typeface="Courier New"/>
                  <a:cs typeface="Courier New"/>
                  <a:sym typeface="Courier New"/>
                </a:rPr>
                <a:t>P1</a:t>
              </a:r>
              <a:endParaRPr sz="1600"/>
            </a:p>
          </p:txBody>
        </p:sp>
        <p:grpSp>
          <p:nvGrpSpPr>
            <p:cNvPr id="461" name="Google Shape;461;p28"/>
            <p:cNvGrpSpPr/>
            <p:nvPr/>
          </p:nvGrpSpPr>
          <p:grpSpPr>
            <a:xfrm>
              <a:off x="2643363" y="5725925"/>
              <a:ext cx="1464938" cy="441975"/>
              <a:chOff x="4342750" y="3431950"/>
              <a:chExt cx="1464938" cy="441975"/>
            </a:xfrm>
          </p:grpSpPr>
          <p:cxnSp>
            <p:nvCxnSpPr>
              <p:cNvPr id="462" name="Google Shape;462;p28"/>
              <p:cNvCxnSpPr/>
              <p:nvPr/>
            </p:nvCxnSpPr>
            <p:spPr>
              <a:xfrm>
                <a:off x="5465988" y="3806975"/>
                <a:ext cx="341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grpSp>
            <p:nvGrpSpPr>
              <p:cNvPr id="463" name="Google Shape;463;p28"/>
              <p:cNvGrpSpPr/>
              <p:nvPr/>
            </p:nvGrpSpPr>
            <p:grpSpPr>
              <a:xfrm>
                <a:off x="4342750" y="3431950"/>
                <a:ext cx="1121700" cy="441975"/>
                <a:chOff x="4342750" y="3431950"/>
                <a:chExt cx="1121700" cy="441975"/>
              </a:xfrm>
            </p:grpSpPr>
            <p:sp>
              <p:nvSpPr>
                <p:cNvPr id="464" name="Google Shape;464;p28"/>
                <p:cNvSpPr/>
                <p:nvPr/>
              </p:nvSpPr>
              <p:spPr>
                <a:xfrm>
                  <a:off x="4718025" y="3686425"/>
                  <a:ext cx="661200" cy="187500"/>
                </a:xfrm>
                <a:prstGeom prst="rect">
                  <a:avLst/>
                </a:prstGeom>
                <a:solidFill>
                  <a:srgbClr val="C9DAF8"/>
                </a:solidFill>
                <a:ln w="9525" cap="flat" cmpd="sng">
                  <a:solidFill>
                    <a:schemeClr val="dk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1200" b="1">
                      <a:latin typeface="Consolas"/>
                      <a:ea typeface="Consolas"/>
                      <a:cs typeface="Consolas"/>
                      <a:sym typeface="Consolas"/>
                    </a:rPr>
                    <a:t>1 KB</a:t>
                  </a:r>
                  <a:endParaRPr sz="1200" b="1">
                    <a:latin typeface="Consolas"/>
                    <a:ea typeface="Consolas"/>
                    <a:cs typeface="Consolas"/>
                    <a:sym typeface="Consolas"/>
                  </a:endParaRPr>
                </a:p>
              </p:txBody>
            </p:sp>
            <p:sp>
              <p:nvSpPr>
                <p:cNvPr id="465" name="Google Shape;465;p28"/>
                <p:cNvSpPr/>
                <p:nvPr/>
              </p:nvSpPr>
              <p:spPr>
                <a:xfrm>
                  <a:off x="4342750" y="3431950"/>
                  <a:ext cx="1121700" cy="187500"/>
                </a:xfrm>
                <a:prstGeom prst="rect">
                  <a:avLst/>
                </a:prstGeom>
                <a:solidFill>
                  <a:schemeClr val="lt1"/>
                </a:solidFill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1200" b="1" dirty="0">
                      <a:latin typeface="Consolas"/>
                      <a:ea typeface="Consolas"/>
                      <a:cs typeface="Consolas"/>
                      <a:sym typeface="Consolas"/>
                    </a:rPr>
                    <a:t>bounds (P1)</a:t>
                  </a:r>
                  <a:endParaRPr sz="1200" b="1" dirty="0">
                    <a:latin typeface="Consolas"/>
                    <a:ea typeface="Consolas"/>
                    <a:cs typeface="Consolas"/>
                    <a:sym typeface="Consolas"/>
                  </a:endParaRPr>
                </a:p>
              </p:txBody>
            </p:sp>
          </p:grpSp>
        </p:grpSp>
        <p:cxnSp>
          <p:nvCxnSpPr>
            <p:cNvPr id="466" name="Google Shape;466;p28"/>
            <p:cNvCxnSpPr/>
            <p:nvPr/>
          </p:nvCxnSpPr>
          <p:spPr>
            <a:xfrm>
              <a:off x="5433725" y="6098975"/>
              <a:ext cx="629400" cy="2679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467" name="Google Shape;467;p28"/>
            <p:cNvCxnSpPr/>
            <p:nvPr/>
          </p:nvCxnSpPr>
          <p:spPr>
            <a:xfrm rot="10800000" flipH="1">
              <a:off x="5380663" y="4684100"/>
              <a:ext cx="687600" cy="2190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grpSp>
          <p:nvGrpSpPr>
            <p:cNvPr id="468" name="Google Shape;468;p28"/>
            <p:cNvGrpSpPr/>
            <p:nvPr/>
          </p:nvGrpSpPr>
          <p:grpSpPr>
            <a:xfrm>
              <a:off x="6125513" y="3772900"/>
              <a:ext cx="1200913" cy="2848500"/>
              <a:chOff x="6799975" y="1750300"/>
              <a:chExt cx="1200913" cy="2848500"/>
            </a:xfrm>
          </p:grpSpPr>
          <p:sp>
            <p:nvSpPr>
              <p:cNvPr id="469" name="Google Shape;469;p28"/>
              <p:cNvSpPr/>
              <p:nvPr/>
            </p:nvSpPr>
            <p:spPr>
              <a:xfrm>
                <a:off x="6799975" y="1750300"/>
                <a:ext cx="1200900" cy="2848500"/>
              </a:xfrm>
              <a:prstGeom prst="rect">
                <a:avLst/>
              </a:prstGeom>
              <a:solidFill>
                <a:schemeClr val="lt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0" name="Google Shape;470;p28"/>
              <p:cNvSpPr/>
              <p:nvPr/>
            </p:nvSpPr>
            <p:spPr>
              <a:xfrm>
                <a:off x="6799988" y="2657000"/>
                <a:ext cx="1200900" cy="1713900"/>
              </a:xfrm>
              <a:prstGeom prst="rect">
                <a:avLst/>
              </a:prstGeom>
              <a:solidFill>
                <a:srgbClr val="CFE2F3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 b="1">
                    <a:latin typeface="Courier New"/>
                    <a:ea typeface="Courier New"/>
                    <a:cs typeface="Courier New"/>
                    <a:sym typeface="Courier New"/>
                  </a:rPr>
                  <a:t>P1</a:t>
                </a:r>
                <a:endParaRPr sz="1600"/>
              </a:p>
            </p:txBody>
          </p:sp>
        </p:grpSp>
        <p:grpSp>
          <p:nvGrpSpPr>
            <p:cNvPr id="471" name="Google Shape;471;p28"/>
            <p:cNvGrpSpPr/>
            <p:nvPr/>
          </p:nvGrpSpPr>
          <p:grpSpPr>
            <a:xfrm>
              <a:off x="7404200" y="4345500"/>
              <a:ext cx="1224163" cy="437775"/>
              <a:chOff x="8266188" y="2188975"/>
              <a:chExt cx="1224163" cy="437775"/>
            </a:xfrm>
          </p:grpSpPr>
          <p:grpSp>
            <p:nvGrpSpPr>
              <p:cNvPr id="472" name="Google Shape;472;p28"/>
              <p:cNvGrpSpPr/>
              <p:nvPr/>
            </p:nvGrpSpPr>
            <p:grpSpPr>
              <a:xfrm>
                <a:off x="8461950" y="2188975"/>
                <a:ext cx="1028400" cy="437775"/>
                <a:chOff x="8461950" y="2188975"/>
                <a:chExt cx="1028400" cy="437775"/>
              </a:xfrm>
            </p:grpSpPr>
            <p:sp>
              <p:nvSpPr>
                <p:cNvPr id="473" name="Google Shape;473;p28"/>
                <p:cNvSpPr/>
                <p:nvPr/>
              </p:nvSpPr>
              <p:spPr>
                <a:xfrm>
                  <a:off x="8658950" y="2439250"/>
                  <a:ext cx="661200" cy="187500"/>
                </a:xfrm>
                <a:prstGeom prst="rect">
                  <a:avLst/>
                </a:prstGeom>
                <a:solidFill>
                  <a:srgbClr val="C9DAF8"/>
                </a:solidFill>
                <a:ln w="9525" cap="flat" cmpd="sng">
                  <a:solidFill>
                    <a:schemeClr val="dk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1200" b="1">
                      <a:latin typeface="Consolas"/>
                      <a:ea typeface="Consolas"/>
                      <a:cs typeface="Consolas"/>
                      <a:sym typeface="Consolas"/>
                    </a:rPr>
                    <a:t>1 KB</a:t>
                  </a:r>
                  <a:endParaRPr sz="1200" b="1">
                    <a:latin typeface="Consolas"/>
                    <a:ea typeface="Consolas"/>
                    <a:cs typeface="Consolas"/>
                    <a:sym typeface="Consolas"/>
                  </a:endParaRPr>
                </a:p>
              </p:txBody>
            </p:sp>
            <p:sp>
              <p:nvSpPr>
                <p:cNvPr id="474" name="Google Shape;474;p28"/>
                <p:cNvSpPr/>
                <p:nvPr/>
              </p:nvSpPr>
              <p:spPr>
                <a:xfrm>
                  <a:off x="8461950" y="2188975"/>
                  <a:ext cx="1028400" cy="187500"/>
                </a:xfrm>
                <a:prstGeom prst="rect">
                  <a:avLst/>
                </a:prstGeom>
                <a:solidFill>
                  <a:schemeClr val="lt1"/>
                </a:solidFill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1200" b="1">
                      <a:latin typeface="Consolas"/>
                      <a:ea typeface="Consolas"/>
                      <a:cs typeface="Consolas"/>
                      <a:sym typeface="Consolas"/>
                    </a:rPr>
                    <a:t>base(P1)</a:t>
                  </a:r>
                  <a:endParaRPr sz="1200" b="1">
                    <a:latin typeface="Consolas"/>
                    <a:ea typeface="Consolas"/>
                    <a:cs typeface="Consolas"/>
                    <a:sym typeface="Consolas"/>
                  </a:endParaRPr>
                </a:p>
              </p:txBody>
            </p:sp>
          </p:grpSp>
          <p:cxnSp>
            <p:nvCxnSpPr>
              <p:cNvPr id="475" name="Google Shape;475;p28"/>
              <p:cNvCxnSpPr/>
              <p:nvPr/>
            </p:nvCxnSpPr>
            <p:spPr>
              <a:xfrm>
                <a:off x="8266188" y="2533000"/>
                <a:ext cx="341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triangle" w="med" len="med"/>
                <a:tailEnd type="none" w="med" len="med"/>
              </a:ln>
            </p:spPr>
          </p:cxnSp>
        </p:grpSp>
        <p:grpSp>
          <p:nvGrpSpPr>
            <p:cNvPr id="476" name="Google Shape;476;p28"/>
            <p:cNvGrpSpPr/>
            <p:nvPr/>
          </p:nvGrpSpPr>
          <p:grpSpPr>
            <a:xfrm>
              <a:off x="7388825" y="6011925"/>
              <a:ext cx="2510413" cy="441975"/>
              <a:chOff x="8266188" y="2913125"/>
              <a:chExt cx="2510413" cy="441975"/>
            </a:xfrm>
          </p:grpSpPr>
          <p:grpSp>
            <p:nvGrpSpPr>
              <p:cNvPr id="477" name="Google Shape;477;p28"/>
              <p:cNvGrpSpPr/>
              <p:nvPr/>
            </p:nvGrpSpPr>
            <p:grpSpPr>
              <a:xfrm>
                <a:off x="8607900" y="2913125"/>
                <a:ext cx="2168700" cy="441975"/>
                <a:chOff x="8607900" y="2913125"/>
                <a:chExt cx="2168700" cy="441975"/>
              </a:xfrm>
            </p:grpSpPr>
            <p:sp>
              <p:nvSpPr>
                <p:cNvPr id="478" name="Google Shape;478;p28"/>
                <p:cNvSpPr/>
                <p:nvPr/>
              </p:nvSpPr>
              <p:spPr>
                <a:xfrm>
                  <a:off x="8658950" y="3167600"/>
                  <a:ext cx="661200" cy="187500"/>
                </a:xfrm>
                <a:prstGeom prst="rect">
                  <a:avLst/>
                </a:prstGeom>
                <a:solidFill>
                  <a:srgbClr val="C9DAF8"/>
                </a:solidFill>
                <a:ln w="9525" cap="flat" cmpd="sng">
                  <a:solidFill>
                    <a:schemeClr val="dk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1200" b="1">
                      <a:latin typeface="Consolas"/>
                      <a:ea typeface="Consolas"/>
                      <a:cs typeface="Consolas"/>
                      <a:sym typeface="Consolas"/>
                    </a:rPr>
                    <a:t>2 KB</a:t>
                  </a:r>
                  <a:endParaRPr sz="1200" b="1">
                    <a:latin typeface="Consolas"/>
                    <a:ea typeface="Consolas"/>
                    <a:cs typeface="Consolas"/>
                    <a:sym typeface="Consolas"/>
                  </a:endParaRPr>
                </a:p>
              </p:txBody>
            </p:sp>
            <p:sp>
              <p:nvSpPr>
                <p:cNvPr id="479" name="Google Shape;479;p28"/>
                <p:cNvSpPr/>
                <p:nvPr/>
              </p:nvSpPr>
              <p:spPr>
                <a:xfrm>
                  <a:off x="8607900" y="2913125"/>
                  <a:ext cx="2168700" cy="187500"/>
                </a:xfrm>
                <a:prstGeom prst="rect">
                  <a:avLst/>
                </a:prstGeom>
                <a:solidFill>
                  <a:schemeClr val="lt1"/>
                </a:solidFill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1200" b="1" dirty="0">
                      <a:latin typeface="Consolas"/>
                      <a:ea typeface="Consolas"/>
                      <a:cs typeface="Consolas"/>
                      <a:sym typeface="Consolas"/>
                    </a:rPr>
                    <a:t>base(P1) + bounds (P1)</a:t>
                  </a:r>
                  <a:endParaRPr sz="1200" b="1" dirty="0">
                    <a:latin typeface="Consolas"/>
                    <a:ea typeface="Consolas"/>
                    <a:cs typeface="Consolas"/>
                    <a:sym typeface="Consolas"/>
                  </a:endParaRPr>
                </a:p>
              </p:txBody>
            </p:sp>
          </p:grpSp>
          <p:cxnSp>
            <p:nvCxnSpPr>
              <p:cNvPr id="480" name="Google Shape;480;p28"/>
              <p:cNvCxnSpPr/>
              <p:nvPr/>
            </p:nvCxnSpPr>
            <p:spPr>
              <a:xfrm>
                <a:off x="8266188" y="3261350"/>
                <a:ext cx="341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triangle" w="med" len="med"/>
                <a:tailEnd type="none" w="med" len="med"/>
              </a:ln>
            </p:spPr>
          </p:cxnSp>
        </p:grpSp>
        <p:sp>
          <p:nvSpPr>
            <p:cNvPr id="481" name="Google Shape;481;p28"/>
            <p:cNvSpPr txBox="1"/>
            <p:nvPr/>
          </p:nvSpPr>
          <p:spPr>
            <a:xfrm>
              <a:off x="4148200" y="4903100"/>
              <a:ext cx="14601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latin typeface="Consolas"/>
                  <a:ea typeface="Consolas"/>
                  <a:cs typeface="Consolas"/>
                  <a:sym typeface="Consolas"/>
                </a:rPr>
                <a:t>load 100, R</a:t>
              </a:r>
              <a:endParaRPr sz="1200"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482" name="Google Shape;482;p28"/>
            <p:cNvSpPr txBox="1"/>
            <p:nvPr/>
          </p:nvSpPr>
          <p:spPr>
            <a:xfrm>
              <a:off x="3420700" y="5213113"/>
              <a:ext cx="687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100</a:t>
              </a:r>
              <a:endParaRPr>
                <a:solidFill>
                  <a:srgbClr val="FF0000"/>
                </a:solidFill>
              </a:endParaRPr>
            </a:p>
          </p:txBody>
        </p:sp>
        <p:sp>
          <p:nvSpPr>
            <p:cNvPr id="483" name="Google Shape;483;p28"/>
            <p:cNvSpPr txBox="1"/>
            <p:nvPr/>
          </p:nvSpPr>
          <p:spPr>
            <a:xfrm>
              <a:off x="5437913" y="4903100"/>
              <a:ext cx="687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1124</a:t>
              </a:r>
              <a:endParaRPr>
                <a:solidFill>
                  <a:srgbClr val="FF0000"/>
                </a:solidFill>
              </a:endParaRPr>
            </a:p>
          </p:txBody>
        </p:sp>
        <p:sp>
          <p:nvSpPr>
            <p:cNvPr id="484" name="Google Shape;484;p28"/>
            <p:cNvSpPr txBox="1"/>
            <p:nvPr/>
          </p:nvSpPr>
          <p:spPr>
            <a:xfrm>
              <a:off x="6068275" y="4607900"/>
              <a:ext cx="14601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latin typeface="Consolas"/>
                  <a:ea typeface="Consolas"/>
                  <a:cs typeface="Consolas"/>
                  <a:sym typeface="Consolas"/>
                </a:rPr>
                <a:t>load 100, R</a:t>
              </a:r>
              <a:endParaRPr sz="1200"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  <p:grpSp>
        <p:nvGrpSpPr>
          <p:cNvPr id="485" name="Google Shape;485;p28"/>
          <p:cNvGrpSpPr/>
          <p:nvPr/>
        </p:nvGrpSpPr>
        <p:grpSpPr>
          <a:xfrm>
            <a:off x="8638375" y="5088725"/>
            <a:ext cx="3132600" cy="637200"/>
            <a:chOff x="6652650" y="1665575"/>
            <a:chExt cx="3132600" cy="637200"/>
          </a:xfrm>
        </p:grpSpPr>
        <p:sp>
          <p:nvSpPr>
            <p:cNvPr id="486" name="Google Shape;486;p28"/>
            <p:cNvSpPr/>
            <p:nvPr/>
          </p:nvSpPr>
          <p:spPr>
            <a:xfrm>
              <a:off x="6652650" y="1665575"/>
              <a:ext cx="3132600" cy="637200"/>
            </a:xfrm>
            <a:prstGeom prst="rect">
              <a:avLst/>
            </a:prstGeom>
            <a:solidFill>
              <a:srgbClr val="FFF2CC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" name="Google Shape;487;p28"/>
            <p:cNvSpPr txBox="1"/>
            <p:nvPr/>
          </p:nvSpPr>
          <p:spPr>
            <a:xfrm>
              <a:off x="6935575" y="1707125"/>
              <a:ext cx="26856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400" b="1">
                  <a:latin typeface="Consolas"/>
                  <a:ea typeface="Consolas"/>
                  <a:cs typeface="Consolas"/>
                  <a:sym typeface="Consolas"/>
                </a:rPr>
                <a:t>PA = VA + base</a:t>
              </a:r>
              <a:endParaRPr sz="2400" b="1"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  <p:grpSp>
        <p:nvGrpSpPr>
          <p:cNvPr id="488" name="Google Shape;488;p28"/>
          <p:cNvGrpSpPr/>
          <p:nvPr/>
        </p:nvGrpSpPr>
        <p:grpSpPr>
          <a:xfrm>
            <a:off x="8638375" y="4042400"/>
            <a:ext cx="3132600" cy="637200"/>
            <a:chOff x="6652650" y="2614950"/>
            <a:chExt cx="3132600" cy="637200"/>
          </a:xfrm>
        </p:grpSpPr>
        <p:sp>
          <p:nvSpPr>
            <p:cNvPr id="489" name="Google Shape;489;p28"/>
            <p:cNvSpPr/>
            <p:nvPr/>
          </p:nvSpPr>
          <p:spPr>
            <a:xfrm>
              <a:off x="6652650" y="2614950"/>
              <a:ext cx="3132600" cy="637200"/>
            </a:xfrm>
            <a:prstGeom prst="rect">
              <a:avLst/>
            </a:prstGeom>
            <a:solidFill>
              <a:srgbClr val="FFF2CC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0" name="Google Shape;490;p28"/>
            <p:cNvSpPr txBox="1"/>
            <p:nvPr/>
          </p:nvSpPr>
          <p:spPr>
            <a:xfrm>
              <a:off x="6712050" y="2663775"/>
              <a:ext cx="30138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400" b="1" dirty="0">
                  <a:latin typeface="Consolas"/>
                  <a:ea typeface="Consolas"/>
                  <a:cs typeface="Consolas"/>
                  <a:sym typeface="Consolas"/>
                </a:rPr>
                <a:t>0 &lt;= VA &lt; bounds</a:t>
              </a:r>
              <a:endParaRPr sz="2400" b="1" dirty="0"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  <p:sp>
        <p:nvSpPr>
          <p:cNvPr id="491" name="Google Shape;491;p28"/>
          <p:cNvSpPr txBox="1"/>
          <p:nvPr/>
        </p:nvSpPr>
        <p:spPr>
          <a:xfrm>
            <a:off x="5992050" y="1656525"/>
            <a:ext cx="53394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b="1" dirty="0">
                <a:solidFill>
                  <a:schemeClr val="accent2"/>
                </a:solidFill>
              </a:rPr>
              <a:t>Instrucción</a:t>
            </a:r>
            <a:r>
              <a:rPr lang="es-ES" sz="2200" dirty="0">
                <a:solidFill>
                  <a:schemeClr val="accent2"/>
                </a:solidFill>
              </a:rPr>
              <a:t>: </a:t>
            </a:r>
            <a:r>
              <a:rPr lang="es-ES" sz="20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load 100, R</a:t>
            </a:r>
            <a:endParaRPr sz="20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2" name="Google Shape;492;p28"/>
          <p:cNvSpPr txBox="1"/>
          <p:nvPr/>
        </p:nvSpPr>
        <p:spPr>
          <a:xfrm>
            <a:off x="5992050" y="2357638"/>
            <a:ext cx="56208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>
                <a:latin typeface="Consolas"/>
                <a:ea typeface="Consolas"/>
                <a:cs typeface="Consolas"/>
                <a:sym typeface="Consolas"/>
              </a:rPr>
              <a:t>PA(P1) = VA + base(P1)</a:t>
            </a:r>
            <a:endParaRPr sz="2000" b="1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>
                <a:latin typeface="Consolas"/>
                <a:ea typeface="Consolas"/>
                <a:cs typeface="Consolas"/>
                <a:sym typeface="Consolas"/>
              </a:rPr>
              <a:t>PA(P1) = 100 + 1K = 100 + 1024 = </a:t>
            </a:r>
            <a:r>
              <a:rPr lang="es-ES" sz="2000" b="1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1124</a:t>
            </a:r>
            <a:endParaRPr sz="2000" b="1">
              <a:solidFill>
                <a:srgbClr val="FF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Google Shape;497;p29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Ejemplo 2</a:t>
            </a:r>
            <a:endParaRPr dirty="0"/>
          </a:p>
        </p:txBody>
      </p:sp>
      <p:sp>
        <p:nvSpPr>
          <p:cNvPr id="499" name="Google Shape;499;p29"/>
          <p:cNvSpPr txBox="1"/>
          <p:nvPr/>
        </p:nvSpPr>
        <p:spPr>
          <a:xfrm>
            <a:off x="1026925" y="1656525"/>
            <a:ext cx="3281700" cy="175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b="1" dirty="0">
                <a:solidFill>
                  <a:schemeClr val="accent2"/>
                </a:solidFill>
              </a:rPr>
              <a:t>Datos</a:t>
            </a:r>
            <a:r>
              <a:rPr lang="es-ES" sz="2200" dirty="0">
                <a:solidFill>
                  <a:schemeClr val="accent2"/>
                </a:solidFill>
              </a:rPr>
              <a:t>:</a:t>
            </a:r>
            <a:endParaRPr sz="2200" dirty="0">
              <a:solidFill>
                <a:schemeClr val="accent2"/>
              </a:solidFill>
            </a:endParaRPr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Font typeface="Consolas"/>
              <a:buChar char="●"/>
            </a:pPr>
            <a:r>
              <a:rPr lang="es-ES" sz="2000" b="1" dirty="0">
                <a:latin typeface="Consolas"/>
                <a:ea typeface="Consolas"/>
                <a:cs typeface="Consolas"/>
                <a:sym typeface="Consolas"/>
              </a:rPr>
              <a:t>base(P2) = 4 KB</a:t>
            </a:r>
            <a:endParaRPr sz="2000" b="1" dirty="0"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Font typeface="Consolas"/>
              <a:buChar char="●"/>
            </a:pPr>
            <a:r>
              <a:rPr lang="es-ES" sz="2000" b="1" dirty="0">
                <a:latin typeface="Consolas"/>
                <a:ea typeface="Consolas"/>
                <a:cs typeface="Consolas"/>
                <a:sym typeface="Consolas"/>
              </a:rPr>
              <a:t>bounds(P2) = 1 KB</a:t>
            </a:r>
            <a:endParaRPr sz="2000" b="1" dirty="0"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Font typeface="Consolas"/>
              <a:buChar char="●"/>
            </a:pPr>
            <a:r>
              <a:rPr lang="es-ES" sz="2000" b="1" dirty="0">
                <a:latin typeface="Consolas"/>
                <a:ea typeface="Consolas"/>
                <a:cs typeface="Consolas"/>
                <a:sym typeface="Consolas"/>
              </a:rPr>
              <a:t>VA = 100</a:t>
            </a:r>
            <a:endParaRPr sz="2000" b="1" dirty="0"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Font typeface="Consolas"/>
              <a:buChar char="●"/>
            </a:pPr>
            <a:r>
              <a:rPr lang="es-ES" sz="2000" b="1" dirty="0">
                <a:latin typeface="Consolas"/>
                <a:ea typeface="Consolas"/>
                <a:cs typeface="Consolas"/>
                <a:sym typeface="Consolas"/>
              </a:rPr>
              <a:t>PA(VA=100) = ?</a:t>
            </a:r>
            <a:endParaRPr sz="20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grpSp>
        <p:nvGrpSpPr>
          <p:cNvPr id="500" name="Google Shape;500;p29"/>
          <p:cNvGrpSpPr/>
          <p:nvPr/>
        </p:nvGrpSpPr>
        <p:grpSpPr>
          <a:xfrm>
            <a:off x="1223538" y="3772900"/>
            <a:ext cx="7255875" cy="2848500"/>
            <a:chOff x="2643363" y="3772900"/>
            <a:chExt cx="7255875" cy="2848500"/>
          </a:xfrm>
        </p:grpSpPr>
        <p:sp>
          <p:nvSpPr>
            <p:cNvPr id="501" name="Google Shape;501;p29"/>
            <p:cNvSpPr/>
            <p:nvPr/>
          </p:nvSpPr>
          <p:spPr>
            <a:xfrm>
              <a:off x="4148200" y="4913450"/>
              <a:ext cx="1200900" cy="1198800"/>
            </a:xfrm>
            <a:prstGeom prst="rect">
              <a:avLst/>
            </a:prstGeom>
            <a:solidFill>
              <a:srgbClr val="F4CCCC"/>
            </a:solidFill>
            <a:ln w="9525" cap="flat" cmpd="sng">
              <a:solidFill>
                <a:srgbClr val="22222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>
                  <a:latin typeface="Courier New"/>
                  <a:ea typeface="Courier New"/>
                  <a:cs typeface="Courier New"/>
                  <a:sym typeface="Courier New"/>
                </a:rPr>
                <a:t>P1</a:t>
              </a:r>
              <a:endParaRPr sz="1600"/>
            </a:p>
          </p:txBody>
        </p:sp>
        <p:grpSp>
          <p:nvGrpSpPr>
            <p:cNvPr id="502" name="Google Shape;502;p29"/>
            <p:cNvGrpSpPr/>
            <p:nvPr/>
          </p:nvGrpSpPr>
          <p:grpSpPr>
            <a:xfrm>
              <a:off x="2643363" y="5725925"/>
              <a:ext cx="1464938" cy="441975"/>
              <a:chOff x="4342750" y="3431950"/>
              <a:chExt cx="1464938" cy="441975"/>
            </a:xfrm>
          </p:grpSpPr>
          <p:cxnSp>
            <p:nvCxnSpPr>
              <p:cNvPr id="503" name="Google Shape;503;p29"/>
              <p:cNvCxnSpPr/>
              <p:nvPr/>
            </p:nvCxnSpPr>
            <p:spPr>
              <a:xfrm>
                <a:off x="5465988" y="3806975"/>
                <a:ext cx="341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grpSp>
            <p:nvGrpSpPr>
              <p:cNvPr id="504" name="Google Shape;504;p29"/>
              <p:cNvGrpSpPr/>
              <p:nvPr/>
            </p:nvGrpSpPr>
            <p:grpSpPr>
              <a:xfrm>
                <a:off x="4342750" y="3431950"/>
                <a:ext cx="1121700" cy="441975"/>
                <a:chOff x="4342750" y="3431950"/>
                <a:chExt cx="1121700" cy="441975"/>
              </a:xfrm>
            </p:grpSpPr>
            <p:sp>
              <p:nvSpPr>
                <p:cNvPr id="505" name="Google Shape;505;p29"/>
                <p:cNvSpPr/>
                <p:nvPr/>
              </p:nvSpPr>
              <p:spPr>
                <a:xfrm>
                  <a:off x="4718025" y="3686425"/>
                  <a:ext cx="661200" cy="187500"/>
                </a:xfrm>
                <a:prstGeom prst="rect">
                  <a:avLst/>
                </a:prstGeom>
                <a:solidFill>
                  <a:srgbClr val="F4CCCC"/>
                </a:solidFill>
                <a:ln w="9525" cap="flat" cmpd="sng">
                  <a:solidFill>
                    <a:schemeClr val="dk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1200" b="1">
                      <a:latin typeface="Consolas"/>
                      <a:ea typeface="Consolas"/>
                      <a:cs typeface="Consolas"/>
                      <a:sym typeface="Consolas"/>
                    </a:rPr>
                    <a:t>1 KB</a:t>
                  </a:r>
                  <a:endParaRPr sz="1200" b="1">
                    <a:latin typeface="Consolas"/>
                    <a:ea typeface="Consolas"/>
                    <a:cs typeface="Consolas"/>
                    <a:sym typeface="Consolas"/>
                  </a:endParaRPr>
                </a:p>
              </p:txBody>
            </p:sp>
            <p:sp>
              <p:nvSpPr>
                <p:cNvPr id="506" name="Google Shape;506;p29"/>
                <p:cNvSpPr/>
                <p:nvPr/>
              </p:nvSpPr>
              <p:spPr>
                <a:xfrm>
                  <a:off x="4342750" y="3431950"/>
                  <a:ext cx="1121700" cy="187500"/>
                </a:xfrm>
                <a:prstGeom prst="rect">
                  <a:avLst/>
                </a:prstGeom>
                <a:solidFill>
                  <a:schemeClr val="lt1"/>
                </a:solidFill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1200" b="1" dirty="0">
                      <a:latin typeface="Consolas"/>
                      <a:ea typeface="Consolas"/>
                      <a:cs typeface="Consolas"/>
                      <a:sym typeface="Consolas"/>
                    </a:rPr>
                    <a:t>bounds (P2)</a:t>
                  </a:r>
                  <a:endParaRPr sz="1200" b="1" dirty="0">
                    <a:latin typeface="Consolas"/>
                    <a:ea typeface="Consolas"/>
                    <a:cs typeface="Consolas"/>
                    <a:sym typeface="Consolas"/>
                  </a:endParaRPr>
                </a:p>
              </p:txBody>
            </p:sp>
          </p:grpSp>
        </p:grpSp>
        <p:cxnSp>
          <p:nvCxnSpPr>
            <p:cNvPr id="507" name="Google Shape;507;p29"/>
            <p:cNvCxnSpPr/>
            <p:nvPr/>
          </p:nvCxnSpPr>
          <p:spPr>
            <a:xfrm>
              <a:off x="5433725" y="6098975"/>
              <a:ext cx="629400" cy="2679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508" name="Google Shape;508;p29"/>
            <p:cNvCxnSpPr/>
            <p:nvPr/>
          </p:nvCxnSpPr>
          <p:spPr>
            <a:xfrm rot="10800000" flipH="1">
              <a:off x="5380663" y="4684100"/>
              <a:ext cx="687600" cy="2190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grpSp>
          <p:nvGrpSpPr>
            <p:cNvPr id="509" name="Google Shape;509;p29"/>
            <p:cNvGrpSpPr/>
            <p:nvPr/>
          </p:nvGrpSpPr>
          <p:grpSpPr>
            <a:xfrm>
              <a:off x="6125513" y="3772900"/>
              <a:ext cx="1200913" cy="2848500"/>
              <a:chOff x="6799975" y="1750300"/>
              <a:chExt cx="1200913" cy="2848500"/>
            </a:xfrm>
          </p:grpSpPr>
          <p:sp>
            <p:nvSpPr>
              <p:cNvPr id="510" name="Google Shape;510;p29"/>
              <p:cNvSpPr/>
              <p:nvPr/>
            </p:nvSpPr>
            <p:spPr>
              <a:xfrm>
                <a:off x="6799975" y="1750300"/>
                <a:ext cx="1200900" cy="2848500"/>
              </a:xfrm>
              <a:prstGeom prst="rect">
                <a:avLst/>
              </a:prstGeom>
              <a:solidFill>
                <a:schemeClr val="lt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1" name="Google Shape;511;p29"/>
              <p:cNvSpPr/>
              <p:nvPr/>
            </p:nvSpPr>
            <p:spPr>
              <a:xfrm>
                <a:off x="6799988" y="2657000"/>
                <a:ext cx="1200900" cy="1713900"/>
              </a:xfrm>
              <a:prstGeom prst="rect">
                <a:avLst/>
              </a:prstGeom>
              <a:solidFill>
                <a:srgbClr val="F4CCCC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 b="1">
                    <a:latin typeface="Courier New"/>
                    <a:ea typeface="Courier New"/>
                    <a:cs typeface="Courier New"/>
                    <a:sym typeface="Courier New"/>
                  </a:rPr>
                  <a:t>P2</a:t>
                </a:r>
                <a:endParaRPr sz="1600"/>
              </a:p>
            </p:txBody>
          </p:sp>
        </p:grpSp>
        <p:grpSp>
          <p:nvGrpSpPr>
            <p:cNvPr id="512" name="Google Shape;512;p29"/>
            <p:cNvGrpSpPr/>
            <p:nvPr/>
          </p:nvGrpSpPr>
          <p:grpSpPr>
            <a:xfrm>
              <a:off x="7404200" y="4345500"/>
              <a:ext cx="1224163" cy="437775"/>
              <a:chOff x="8266188" y="2188975"/>
              <a:chExt cx="1224163" cy="437775"/>
            </a:xfrm>
          </p:grpSpPr>
          <p:grpSp>
            <p:nvGrpSpPr>
              <p:cNvPr id="513" name="Google Shape;513;p29"/>
              <p:cNvGrpSpPr/>
              <p:nvPr/>
            </p:nvGrpSpPr>
            <p:grpSpPr>
              <a:xfrm>
                <a:off x="8461950" y="2188975"/>
                <a:ext cx="1028400" cy="437775"/>
                <a:chOff x="8461950" y="2188975"/>
                <a:chExt cx="1028400" cy="437775"/>
              </a:xfrm>
            </p:grpSpPr>
            <p:sp>
              <p:nvSpPr>
                <p:cNvPr id="514" name="Google Shape;514;p29"/>
                <p:cNvSpPr/>
                <p:nvPr/>
              </p:nvSpPr>
              <p:spPr>
                <a:xfrm>
                  <a:off x="8658950" y="2439250"/>
                  <a:ext cx="661200" cy="187500"/>
                </a:xfrm>
                <a:prstGeom prst="rect">
                  <a:avLst/>
                </a:prstGeom>
                <a:solidFill>
                  <a:srgbClr val="F4CCCC"/>
                </a:solidFill>
                <a:ln w="9525" cap="flat" cmpd="sng">
                  <a:solidFill>
                    <a:schemeClr val="dk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1200" b="1">
                      <a:latin typeface="Consolas"/>
                      <a:ea typeface="Consolas"/>
                      <a:cs typeface="Consolas"/>
                      <a:sym typeface="Consolas"/>
                    </a:rPr>
                    <a:t>4 KB</a:t>
                  </a:r>
                  <a:endParaRPr sz="1200" b="1">
                    <a:latin typeface="Consolas"/>
                    <a:ea typeface="Consolas"/>
                    <a:cs typeface="Consolas"/>
                    <a:sym typeface="Consolas"/>
                  </a:endParaRPr>
                </a:p>
              </p:txBody>
            </p:sp>
            <p:sp>
              <p:nvSpPr>
                <p:cNvPr id="515" name="Google Shape;515;p29"/>
                <p:cNvSpPr/>
                <p:nvPr/>
              </p:nvSpPr>
              <p:spPr>
                <a:xfrm>
                  <a:off x="8461950" y="2188975"/>
                  <a:ext cx="1028400" cy="187500"/>
                </a:xfrm>
                <a:prstGeom prst="rect">
                  <a:avLst/>
                </a:prstGeom>
                <a:solidFill>
                  <a:schemeClr val="lt1"/>
                </a:solidFill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1200" b="1">
                      <a:latin typeface="Consolas"/>
                      <a:ea typeface="Consolas"/>
                      <a:cs typeface="Consolas"/>
                      <a:sym typeface="Consolas"/>
                    </a:rPr>
                    <a:t>base(P2)</a:t>
                  </a:r>
                  <a:endParaRPr sz="1200" b="1">
                    <a:latin typeface="Consolas"/>
                    <a:ea typeface="Consolas"/>
                    <a:cs typeface="Consolas"/>
                    <a:sym typeface="Consolas"/>
                  </a:endParaRPr>
                </a:p>
              </p:txBody>
            </p:sp>
          </p:grpSp>
          <p:cxnSp>
            <p:nvCxnSpPr>
              <p:cNvPr id="516" name="Google Shape;516;p29"/>
              <p:cNvCxnSpPr/>
              <p:nvPr/>
            </p:nvCxnSpPr>
            <p:spPr>
              <a:xfrm>
                <a:off x="8266188" y="2533000"/>
                <a:ext cx="341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triangle" w="med" len="med"/>
                <a:tailEnd type="none" w="med" len="med"/>
              </a:ln>
            </p:spPr>
          </p:cxnSp>
        </p:grpSp>
        <p:grpSp>
          <p:nvGrpSpPr>
            <p:cNvPr id="517" name="Google Shape;517;p29"/>
            <p:cNvGrpSpPr/>
            <p:nvPr/>
          </p:nvGrpSpPr>
          <p:grpSpPr>
            <a:xfrm>
              <a:off x="7388825" y="6011925"/>
              <a:ext cx="2510413" cy="441975"/>
              <a:chOff x="8266188" y="2913125"/>
              <a:chExt cx="2510413" cy="441975"/>
            </a:xfrm>
          </p:grpSpPr>
          <p:grpSp>
            <p:nvGrpSpPr>
              <p:cNvPr id="518" name="Google Shape;518;p29"/>
              <p:cNvGrpSpPr/>
              <p:nvPr/>
            </p:nvGrpSpPr>
            <p:grpSpPr>
              <a:xfrm>
                <a:off x="8607900" y="2913125"/>
                <a:ext cx="2168700" cy="441975"/>
                <a:chOff x="8607900" y="2913125"/>
                <a:chExt cx="2168700" cy="441975"/>
              </a:xfrm>
            </p:grpSpPr>
            <p:sp>
              <p:nvSpPr>
                <p:cNvPr id="519" name="Google Shape;519;p29"/>
                <p:cNvSpPr/>
                <p:nvPr/>
              </p:nvSpPr>
              <p:spPr>
                <a:xfrm>
                  <a:off x="8658950" y="3167600"/>
                  <a:ext cx="661200" cy="187500"/>
                </a:xfrm>
                <a:prstGeom prst="rect">
                  <a:avLst/>
                </a:prstGeom>
                <a:solidFill>
                  <a:srgbClr val="F4CCCC"/>
                </a:solidFill>
                <a:ln w="9525" cap="flat" cmpd="sng">
                  <a:solidFill>
                    <a:schemeClr val="dk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1200" b="1">
                      <a:latin typeface="Consolas"/>
                      <a:ea typeface="Consolas"/>
                      <a:cs typeface="Consolas"/>
                      <a:sym typeface="Consolas"/>
                    </a:rPr>
                    <a:t>5 KB</a:t>
                  </a:r>
                  <a:endParaRPr sz="1200" b="1">
                    <a:latin typeface="Consolas"/>
                    <a:ea typeface="Consolas"/>
                    <a:cs typeface="Consolas"/>
                    <a:sym typeface="Consolas"/>
                  </a:endParaRPr>
                </a:p>
              </p:txBody>
            </p:sp>
            <p:sp>
              <p:nvSpPr>
                <p:cNvPr id="520" name="Google Shape;520;p29"/>
                <p:cNvSpPr/>
                <p:nvPr/>
              </p:nvSpPr>
              <p:spPr>
                <a:xfrm>
                  <a:off x="8607900" y="2913125"/>
                  <a:ext cx="2168700" cy="187500"/>
                </a:xfrm>
                <a:prstGeom prst="rect">
                  <a:avLst/>
                </a:prstGeom>
                <a:solidFill>
                  <a:schemeClr val="lt1"/>
                </a:solidFill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1200" b="1" dirty="0">
                      <a:latin typeface="Consolas"/>
                      <a:ea typeface="Consolas"/>
                      <a:cs typeface="Consolas"/>
                      <a:sym typeface="Consolas"/>
                    </a:rPr>
                    <a:t>base(P2) + bounds (P2)</a:t>
                  </a:r>
                  <a:endParaRPr sz="1200" b="1" dirty="0">
                    <a:latin typeface="Consolas"/>
                    <a:ea typeface="Consolas"/>
                    <a:cs typeface="Consolas"/>
                    <a:sym typeface="Consolas"/>
                  </a:endParaRPr>
                </a:p>
              </p:txBody>
            </p:sp>
          </p:grpSp>
          <p:cxnSp>
            <p:nvCxnSpPr>
              <p:cNvPr id="521" name="Google Shape;521;p29"/>
              <p:cNvCxnSpPr/>
              <p:nvPr/>
            </p:nvCxnSpPr>
            <p:spPr>
              <a:xfrm>
                <a:off x="8266188" y="3261350"/>
                <a:ext cx="341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triangle" w="med" len="med"/>
                <a:tailEnd type="none" w="med" len="med"/>
              </a:ln>
            </p:spPr>
          </p:cxnSp>
        </p:grpSp>
        <p:sp>
          <p:nvSpPr>
            <p:cNvPr id="522" name="Google Shape;522;p29"/>
            <p:cNvSpPr txBox="1"/>
            <p:nvPr/>
          </p:nvSpPr>
          <p:spPr>
            <a:xfrm>
              <a:off x="4148200" y="4903100"/>
              <a:ext cx="14601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latin typeface="Consolas"/>
                  <a:ea typeface="Consolas"/>
                  <a:cs typeface="Consolas"/>
                  <a:sym typeface="Consolas"/>
                </a:rPr>
                <a:t>load 100, R</a:t>
              </a:r>
              <a:endParaRPr sz="1200"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523" name="Google Shape;523;p29"/>
            <p:cNvSpPr txBox="1"/>
            <p:nvPr/>
          </p:nvSpPr>
          <p:spPr>
            <a:xfrm>
              <a:off x="3420700" y="5213113"/>
              <a:ext cx="687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100</a:t>
              </a:r>
              <a:endParaRPr>
                <a:solidFill>
                  <a:srgbClr val="FF0000"/>
                </a:solidFill>
              </a:endParaRPr>
            </a:p>
          </p:txBody>
        </p:sp>
        <p:sp>
          <p:nvSpPr>
            <p:cNvPr id="524" name="Google Shape;524;p29"/>
            <p:cNvSpPr txBox="1"/>
            <p:nvPr/>
          </p:nvSpPr>
          <p:spPr>
            <a:xfrm>
              <a:off x="5437913" y="4903100"/>
              <a:ext cx="687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4196</a:t>
              </a:r>
              <a:endParaRPr>
                <a:solidFill>
                  <a:srgbClr val="FF0000"/>
                </a:solidFill>
              </a:endParaRPr>
            </a:p>
          </p:txBody>
        </p:sp>
        <p:sp>
          <p:nvSpPr>
            <p:cNvPr id="525" name="Google Shape;525;p29"/>
            <p:cNvSpPr txBox="1"/>
            <p:nvPr/>
          </p:nvSpPr>
          <p:spPr>
            <a:xfrm>
              <a:off x="6068275" y="4607900"/>
              <a:ext cx="14601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latin typeface="Consolas"/>
                  <a:ea typeface="Consolas"/>
                  <a:cs typeface="Consolas"/>
                  <a:sym typeface="Consolas"/>
                </a:rPr>
                <a:t>load 100, R</a:t>
              </a:r>
              <a:endParaRPr sz="1200"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  <p:grpSp>
        <p:nvGrpSpPr>
          <p:cNvPr id="526" name="Google Shape;526;p29"/>
          <p:cNvGrpSpPr/>
          <p:nvPr/>
        </p:nvGrpSpPr>
        <p:grpSpPr>
          <a:xfrm>
            <a:off x="8577200" y="4349475"/>
            <a:ext cx="3132600" cy="637200"/>
            <a:chOff x="6652650" y="1665575"/>
            <a:chExt cx="3132600" cy="637200"/>
          </a:xfrm>
        </p:grpSpPr>
        <p:sp>
          <p:nvSpPr>
            <p:cNvPr id="527" name="Google Shape;527;p29"/>
            <p:cNvSpPr/>
            <p:nvPr/>
          </p:nvSpPr>
          <p:spPr>
            <a:xfrm>
              <a:off x="6652650" y="1665575"/>
              <a:ext cx="3132600" cy="637200"/>
            </a:xfrm>
            <a:prstGeom prst="rect">
              <a:avLst/>
            </a:prstGeom>
            <a:solidFill>
              <a:srgbClr val="FFF2CC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" name="Google Shape;528;p29"/>
            <p:cNvSpPr txBox="1"/>
            <p:nvPr/>
          </p:nvSpPr>
          <p:spPr>
            <a:xfrm>
              <a:off x="6935575" y="1707125"/>
              <a:ext cx="26856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400" b="1">
                  <a:latin typeface="Consolas"/>
                  <a:ea typeface="Consolas"/>
                  <a:cs typeface="Consolas"/>
                  <a:sym typeface="Consolas"/>
                </a:rPr>
                <a:t>PA = VA + base</a:t>
              </a:r>
              <a:endParaRPr sz="2400" b="1"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  <p:grpSp>
        <p:nvGrpSpPr>
          <p:cNvPr id="529" name="Google Shape;529;p29"/>
          <p:cNvGrpSpPr/>
          <p:nvPr/>
        </p:nvGrpSpPr>
        <p:grpSpPr>
          <a:xfrm>
            <a:off x="8577200" y="5407625"/>
            <a:ext cx="3132600" cy="637200"/>
            <a:chOff x="6652650" y="2614950"/>
            <a:chExt cx="3132600" cy="637200"/>
          </a:xfrm>
        </p:grpSpPr>
        <p:sp>
          <p:nvSpPr>
            <p:cNvPr id="530" name="Google Shape;530;p29"/>
            <p:cNvSpPr/>
            <p:nvPr/>
          </p:nvSpPr>
          <p:spPr>
            <a:xfrm>
              <a:off x="6652650" y="2614950"/>
              <a:ext cx="3132600" cy="637200"/>
            </a:xfrm>
            <a:prstGeom prst="rect">
              <a:avLst/>
            </a:prstGeom>
            <a:solidFill>
              <a:srgbClr val="FFF2CC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" name="Google Shape;531;p29"/>
            <p:cNvSpPr txBox="1"/>
            <p:nvPr/>
          </p:nvSpPr>
          <p:spPr>
            <a:xfrm>
              <a:off x="6712050" y="2663775"/>
              <a:ext cx="30138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400" b="1" dirty="0">
                  <a:latin typeface="Consolas"/>
                  <a:ea typeface="Consolas"/>
                  <a:cs typeface="Consolas"/>
                  <a:sym typeface="Consolas"/>
                </a:rPr>
                <a:t>0 &lt;= VA &lt; bounds</a:t>
              </a:r>
              <a:endParaRPr sz="2400" b="1" dirty="0"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  <p:sp>
        <p:nvSpPr>
          <p:cNvPr id="532" name="Google Shape;532;p29"/>
          <p:cNvSpPr txBox="1"/>
          <p:nvPr/>
        </p:nvSpPr>
        <p:spPr>
          <a:xfrm>
            <a:off x="5992050" y="1656525"/>
            <a:ext cx="53394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b="1">
                <a:solidFill>
                  <a:schemeClr val="accent2"/>
                </a:solidFill>
              </a:rPr>
              <a:t>Instrucción</a:t>
            </a:r>
            <a:r>
              <a:rPr lang="es-ES" sz="2200">
                <a:solidFill>
                  <a:schemeClr val="accent2"/>
                </a:solidFill>
              </a:rPr>
              <a:t>: </a:t>
            </a:r>
            <a:r>
              <a:rPr lang="es-ES" sz="2000" b="1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load 100, R</a:t>
            </a:r>
            <a:endParaRPr sz="20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3" name="Google Shape;533;p29"/>
          <p:cNvSpPr txBox="1"/>
          <p:nvPr/>
        </p:nvSpPr>
        <p:spPr>
          <a:xfrm>
            <a:off x="5992050" y="2357638"/>
            <a:ext cx="56208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>
                <a:latin typeface="Consolas"/>
                <a:ea typeface="Consolas"/>
                <a:cs typeface="Consolas"/>
                <a:sym typeface="Consolas"/>
              </a:rPr>
              <a:t>PA(P2) = VA + base(P2)</a:t>
            </a:r>
            <a:endParaRPr sz="2000" b="1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>
                <a:latin typeface="Consolas"/>
                <a:ea typeface="Consolas"/>
                <a:cs typeface="Consolas"/>
                <a:sym typeface="Consolas"/>
              </a:rPr>
              <a:t>PA(P2) = 100 + 1K = 100 + 4096 = </a:t>
            </a:r>
            <a:r>
              <a:rPr lang="es-ES" sz="2000" b="1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4196</a:t>
            </a:r>
            <a:endParaRPr sz="2000" b="1">
              <a:solidFill>
                <a:srgbClr val="FF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30"/>
          <p:cNvSpPr txBox="1">
            <a:spLocks noGrp="1"/>
          </p:cNvSpPr>
          <p:nvPr>
            <p:ph type="title"/>
          </p:nvPr>
        </p:nvSpPr>
        <p:spPr>
          <a:xfrm>
            <a:off x="838200" y="156843"/>
            <a:ext cx="10515600" cy="1325563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Ejemplo 3</a:t>
            </a:r>
            <a:endParaRPr dirty="0"/>
          </a:p>
        </p:txBody>
      </p:sp>
      <p:sp>
        <p:nvSpPr>
          <p:cNvPr id="540" name="Google Shape;540;p30"/>
          <p:cNvSpPr txBox="1"/>
          <p:nvPr/>
        </p:nvSpPr>
        <p:spPr>
          <a:xfrm>
            <a:off x="4031050" y="4425213"/>
            <a:ext cx="6876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100</a:t>
            </a:r>
            <a:endParaRPr sz="1800">
              <a:solidFill>
                <a:srgbClr val="FF0000"/>
              </a:solidFill>
            </a:endParaRPr>
          </a:p>
        </p:txBody>
      </p:sp>
      <p:sp>
        <p:nvSpPr>
          <p:cNvPr id="541" name="Google Shape;541;p30"/>
          <p:cNvSpPr txBox="1"/>
          <p:nvPr/>
        </p:nvSpPr>
        <p:spPr>
          <a:xfrm>
            <a:off x="7394050" y="4425213"/>
            <a:ext cx="6876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1124</a:t>
            </a:r>
            <a:endParaRPr sz="1800">
              <a:solidFill>
                <a:srgbClr val="FF0000"/>
              </a:solidFill>
            </a:endParaRPr>
          </a:p>
        </p:txBody>
      </p:sp>
      <p:grpSp>
        <p:nvGrpSpPr>
          <p:cNvPr id="542" name="Google Shape;542;p30"/>
          <p:cNvGrpSpPr/>
          <p:nvPr/>
        </p:nvGrpSpPr>
        <p:grpSpPr>
          <a:xfrm>
            <a:off x="1742150" y="3075675"/>
            <a:ext cx="10094188" cy="3130200"/>
            <a:chOff x="2011075" y="3008700"/>
            <a:chExt cx="10094188" cy="3130200"/>
          </a:xfrm>
        </p:grpSpPr>
        <p:grpSp>
          <p:nvGrpSpPr>
            <p:cNvPr id="543" name="Google Shape;543;p30"/>
            <p:cNvGrpSpPr/>
            <p:nvPr/>
          </p:nvGrpSpPr>
          <p:grpSpPr>
            <a:xfrm>
              <a:off x="8274325" y="3290400"/>
              <a:ext cx="3830938" cy="2848500"/>
              <a:chOff x="8274325" y="3290400"/>
              <a:chExt cx="3830938" cy="2848500"/>
            </a:xfrm>
          </p:grpSpPr>
          <p:grpSp>
            <p:nvGrpSpPr>
              <p:cNvPr id="544" name="Google Shape;544;p30"/>
              <p:cNvGrpSpPr/>
              <p:nvPr/>
            </p:nvGrpSpPr>
            <p:grpSpPr>
              <a:xfrm>
                <a:off x="8331563" y="3290400"/>
                <a:ext cx="1200913" cy="2848500"/>
                <a:chOff x="6799975" y="1750300"/>
                <a:chExt cx="1200913" cy="2848500"/>
              </a:xfrm>
            </p:grpSpPr>
            <p:sp>
              <p:nvSpPr>
                <p:cNvPr id="545" name="Google Shape;545;p30"/>
                <p:cNvSpPr/>
                <p:nvPr/>
              </p:nvSpPr>
              <p:spPr>
                <a:xfrm>
                  <a:off x="6799975" y="1750300"/>
                  <a:ext cx="1200900" cy="2848500"/>
                </a:xfrm>
                <a:prstGeom prst="rect">
                  <a:avLst/>
                </a:prstGeom>
                <a:solidFill>
                  <a:schemeClr val="lt2"/>
                </a:solidFill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46" name="Google Shape;546;p30"/>
                <p:cNvSpPr/>
                <p:nvPr/>
              </p:nvSpPr>
              <p:spPr>
                <a:xfrm>
                  <a:off x="6799988" y="2657000"/>
                  <a:ext cx="1200900" cy="1713900"/>
                </a:xfrm>
                <a:prstGeom prst="rect">
                  <a:avLst/>
                </a:prstGeom>
                <a:solidFill>
                  <a:srgbClr val="CFE2F3"/>
                </a:solidFill>
                <a:ln w="9525" cap="flat" cmpd="sng">
                  <a:solidFill>
                    <a:srgbClr val="22222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1600" b="1">
                      <a:latin typeface="Courier New"/>
                      <a:ea typeface="Courier New"/>
                      <a:cs typeface="Courier New"/>
                      <a:sym typeface="Courier New"/>
                    </a:rPr>
                    <a:t>P1</a:t>
                  </a:r>
                  <a:endParaRPr sz="1600"/>
                </a:p>
              </p:txBody>
            </p:sp>
          </p:grpSp>
          <p:grpSp>
            <p:nvGrpSpPr>
              <p:cNvPr id="547" name="Google Shape;547;p30"/>
              <p:cNvGrpSpPr/>
              <p:nvPr/>
            </p:nvGrpSpPr>
            <p:grpSpPr>
              <a:xfrm>
                <a:off x="9610250" y="3863000"/>
                <a:ext cx="1224163" cy="437775"/>
                <a:chOff x="8266188" y="2188975"/>
                <a:chExt cx="1224163" cy="437775"/>
              </a:xfrm>
            </p:grpSpPr>
            <p:grpSp>
              <p:nvGrpSpPr>
                <p:cNvPr id="548" name="Google Shape;548;p30"/>
                <p:cNvGrpSpPr/>
                <p:nvPr/>
              </p:nvGrpSpPr>
              <p:grpSpPr>
                <a:xfrm>
                  <a:off x="8461950" y="2188975"/>
                  <a:ext cx="1028400" cy="437775"/>
                  <a:chOff x="8461950" y="2188975"/>
                  <a:chExt cx="1028400" cy="437775"/>
                </a:xfrm>
              </p:grpSpPr>
              <p:sp>
                <p:nvSpPr>
                  <p:cNvPr id="549" name="Google Shape;549;p30"/>
                  <p:cNvSpPr/>
                  <p:nvPr/>
                </p:nvSpPr>
                <p:spPr>
                  <a:xfrm>
                    <a:off x="8658950" y="2439250"/>
                    <a:ext cx="661200" cy="187500"/>
                  </a:xfrm>
                  <a:prstGeom prst="rect">
                    <a:avLst/>
                  </a:prstGeom>
                  <a:solidFill>
                    <a:srgbClr val="C9DAF8"/>
                  </a:solidFill>
                  <a:ln w="9525" cap="flat" cmpd="sng">
                    <a:solidFill>
                      <a:schemeClr val="dk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es-ES" sz="1200" b="1">
                        <a:latin typeface="Consolas"/>
                        <a:ea typeface="Consolas"/>
                        <a:cs typeface="Consolas"/>
                        <a:sym typeface="Consolas"/>
                      </a:rPr>
                      <a:t>1 KB</a:t>
                    </a:r>
                    <a:endParaRPr sz="1200" b="1">
                      <a:latin typeface="Consolas"/>
                      <a:ea typeface="Consolas"/>
                      <a:cs typeface="Consolas"/>
                      <a:sym typeface="Consolas"/>
                    </a:endParaRPr>
                  </a:p>
                </p:txBody>
              </p:sp>
              <p:sp>
                <p:nvSpPr>
                  <p:cNvPr id="550" name="Google Shape;550;p30"/>
                  <p:cNvSpPr/>
                  <p:nvPr/>
                </p:nvSpPr>
                <p:spPr>
                  <a:xfrm>
                    <a:off x="8461950" y="2188975"/>
                    <a:ext cx="1028400" cy="187500"/>
                  </a:xfrm>
                  <a:prstGeom prst="rect">
                    <a:avLst/>
                  </a:prstGeom>
                  <a:solidFill>
                    <a:schemeClr val="lt1"/>
                  </a:solidFill>
                  <a:ln w="9525" cap="flat" cmpd="sng">
                    <a:solidFill>
                      <a:schemeClr val="l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es-ES" sz="1200" b="1">
                        <a:latin typeface="Consolas"/>
                        <a:ea typeface="Consolas"/>
                        <a:cs typeface="Consolas"/>
                        <a:sym typeface="Consolas"/>
                      </a:rPr>
                      <a:t>base(P1)</a:t>
                    </a:r>
                    <a:endParaRPr sz="1200" b="1">
                      <a:latin typeface="Consolas"/>
                      <a:ea typeface="Consolas"/>
                      <a:cs typeface="Consolas"/>
                      <a:sym typeface="Consolas"/>
                    </a:endParaRPr>
                  </a:p>
                </p:txBody>
              </p:sp>
            </p:grpSp>
            <p:cxnSp>
              <p:nvCxnSpPr>
                <p:cNvPr id="551" name="Google Shape;551;p30"/>
                <p:cNvCxnSpPr/>
                <p:nvPr/>
              </p:nvCxnSpPr>
              <p:spPr>
                <a:xfrm>
                  <a:off x="8266188" y="2533000"/>
                  <a:ext cx="341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triangle" w="med" len="med"/>
                  <a:tailEnd type="none" w="med" len="med"/>
                </a:ln>
              </p:spPr>
            </p:cxnSp>
          </p:grpSp>
          <p:grpSp>
            <p:nvGrpSpPr>
              <p:cNvPr id="552" name="Google Shape;552;p30"/>
              <p:cNvGrpSpPr/>
              <p:nvPr/>
            </p:nvGrpSpPr>
            <p:grpSpPr>
              <a:xfrm>
                <a:off x="9594875" y="5529425"/>
                <a:ext cx="2510388" cy="441975"/>
                <a:chOff x="8266188" y="2913125"/>
                <a:chExt cx="2510388" cy="441975"/>
              </a:xfrm>
            </p:grpSpPr>
            <p:grpSp>
              <p:nvGrpSpPr>
                <p:cNvPr id="553" name="Google Shape;553;p30"/>
                <p:cNvGrpSpPr/>
                <p:nvPr/>
              </p:nvGrpSpPr>
              <p:grpSpPr>
                <a:xfrm>
                  <a:off x="8607875" y="2913125"/>
                  <a:ext cx="2168700" cy="441975"/>
                  <a:chOff x="8607875" y="2913125"/>
                  <a:chExt cx="2168700" cy="441975"/>
                </a:xfrm>
              </p:grpSpPr>
              <p:sp>
                <p:nvSpPr>
                  <p:cNvPr id="554" name="Google Shape;554;p30"/>
                  <p:cNvSpPr/>
                  <p:nvPr/>
                </p:nvSpPr>
                <p:spPr>
                  <a:xfrm>
                    <a:off x="8658950" y="3167600"/>
                    <a:ext cx="661200" cy="187500"/>
                  </a:xfrm>
                  <a:prstGeom prst="rect">
                    <a:avLst/>
                  </a:prstGeom>
                  <a:solidFill>
                    <a:srgbClr val="C9DAF8"/>
                  </a:solidFill>
                  <a:ln w="9525" cap="flat" cmpd="sng">
                    <a:solidFill>
                      <a:schemeClr val="dk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es-ES" sz="1200" b="1">
                        <a:latin typeface="Consolas"/>
                        <a:ea typeface="Consolas"/>
                        <a:cs typeface="Consolas"/>
                        <a:sym typeface="Consolas"/>
                      </a:rPr>
                      <a:t>2 KB</a:t>
                    </a:r>
                    <a:endParaRPr sz="1200" b="1">
                      <a:latin typeface="Consolas"/>
                      <a:ea typeface="Consolas"/>
                      <a:cs typeface="Consolas"/>
                      <a:sym typeface="Consolas"/>
                    </a:endParaRPr>
                  </a:p>
                </p:txBody>
              </p:sp>
              <p:sp>
                <p:nvSpPr>
                  <p:cNvPr id="555" name="Google Shape;555;p30"/>
                  <p:cNvSpPr/>
                  <p:nvPr/>
                </p:nvSpPr>
                <p:spPr>
                  <a:xfrm>
                    <a:off x="8607875" y="2913125"/>
                    <a:ext cx="2168700" cy="187500"/>
                  </a:xfrm>
                  <a:prstGeom prst="rect">
                    <a:avLst/>
                  </a:prstGeom>
                  <a:solidFill>
                    <a:schemeClr val="lt1"/>
                  </a:solidFill>
                  <a:ln w="9525" cap="flat" cmpd="sng">
                    <a:solidFill>
                      <a:schemeClr val="l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es-ES" sz="1200" b="1" dirty="0">
                        <a:latin typeface="Consolas"/>
                        <a:ea typeface="Consolas"/>
                        <a:cs typeface="Consolas"/>
                        <a:sym typeface="Consolas"/>
                      </a:rPr>
                      <a:t>base(P1) + bounds (P1)</a:t>
                    </a:r>
                    <a:endParaRPr sz="1200" b="1" dirty="0">
                      <a:latin typeface="Consolas"/>
                      <a:ea typeface="Consolas"/>
                      <a:cs typeface="Consolas"/>
                      <a:sym typeface="Consolas"/>
                    </a:endParaRPr>
                  </a:p>
                </p:txBody>
              </p:sp>
            </p:grpSp>
            <p:cxnSp>
              <p:nvCxnSpPr>
                <p:cNvPr id="556" name="Google Shape;556;p30"/>
                <p:cNvCxnSpPr/>
                <p:nvPr/>
              </p:nvCxnSpPr>
              <p:spPr>
                <a:xfrm>
                  <a:off x="8266188" y="3261350"/>
                  <a:ext cx="341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triangle" w="med" len="med"/>
                  <a:tailEnd type="none" w="med" len="med"/>
                </a:ln>
              </p:spPr>
            </p:cxnSp>
          </p:grpSp>
          <p:sp>
            <p:nvSpPr>
              <p:cNvPr id="557" name="Google Shape;557;p30"/>
              <p:cNvSpPr txBox="1"/>
              <p:nvPr/>
            </p:nvSpPr>
            <p:spPr>
              <a:xfrm>
                <a:off x="8274325" y="4125400"/>
                <a:ext cx="1460100" cy="369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200">
                    <a:latin typeface="Consolas"/>
                    <a:ea typeface="Consolas"/>
                    <a:cs typeface="Consolas"/>
                    <a:sym typeface="Consolas"/>
                  </a:rPr>
                  <a:t>load 100, R</a:t>
                </a:r>
                <a:endParaRPr sz="1200">
                  <a:latin typeface="Consolas"/>
                  <a:ea typeface="Consolas"/>
                  <a:cs typeface="Consolas"/>
                  <a:sym typeface="Consolas"/>
                </a:endParaRPr>
              </a:p>
            </p:txBody>
          </p:sp>
        </p:grpSp>
        <p:grpSp>
          <p:nvGrpSpPr>
            <p:cNvPr id="558" name="Google Shape;558;p30"/>
            <p:cNvGrpSpPr/>
            <p:nvPr/>
          </p:nvGrpSpPr>
          <p:grpSpPr>
            <a:xfrm>
              <a:off x="2011075" y="3749663"/>
              <a:ext cx="2158500" cy="2007900"/>
              <a:chOff x="1817200" y="3963500"/>
              <a:chExt cx="2158500" cy="2007900"/>
            </a:xfrm>
          </p:grpSpPr>
          <p:sp>
            <p:nvSpPr>
              <p:cNvPr id="559" name="Google Shape;559;p30"/>
              <p:cNvSpPr/>
              <p:nvPr/>
            </p:nvSpPr>
            <p:spPr>
              <a:xfrm>
                <a:off x="1817200" y="3963500"/>
                <a:ext cx="2158500" cy="2007900"/>
              </a:xfrm>
              <a:prstGeom prst="rect">
                <a:avLst/>
              </a:prstGeom>
              <a:solidFill>
                <a:srgbClr val="D9EAD3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/>
              </a:p>
            </p:txBody>
          </p:sp>
          <p:grpSp>
            <p:nvGrpSpPr>
              <p:cNvPr id="560" name="Google Shape;560;p30"/>
              <p:cNvGrpSpPr/>
              <p:nvPr/>
            </p:nvGrpSpPr>
            <p:grpSpPr>
              <a:xfrm>
                <a:off x="1970525" y="4751900"/>
                <a:ext cx="1824001" cy="431100"/>
                <a:chOff x="1970525" y="4751900"/>
                <a:chExt cx="1824001" cy="431100"/>
              </a:xfrm>
            </p:grpSpPr>
            <p:sp>
              <p:nvSpPr>
                <p:cNvPr id="561" name="Google Shape;561;p30"/>
                <p:cNvSpPr txBox="1"/>
                <p:nvPr/>
              </p:nvSpPr>
              <p:spPr>
                <a:xfrm>
                  <a:off x="1970525" y="4751900"/>
                  <a:ext cx="468900" cy="431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t" anchorCtr="0">
                  <a:spAutoFit/>
                </a:bodyPr>
                <a:lstStyle/>
                <a:p>
                  <a:pPr marL="0" lvl="0" indent="0" algn="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1600">
                      <a:latin typeface="Consolas"/>
                      <a:ea typeface="Consolas"/>
                      <a:cs typeface="Consolas"/>
                      <a:sym typeface="Consolas"/>
                    </a:rPr>
                    <a:t>IR</a:t>
                  </a:r>
                  <a:endParaRPr sz="1600">
                    <a:latin typeface="Consolas"/>
                    <a:ea typeface="Consolas"/>
                    <a:cs typeface="Consolas"/>
                    <a:sym typeface="Consolas"/>
                  </a:endParaRPr>
                </a:p>
              </p:txBody>
            </p:sp>
            <p:sp>
              <p:nvSpPr>
                <p:cNvPr id="562" name="Google Shape;562;p30"/>
                <p:cNvSpPr txBox="1"/>
                <p:nvPr/>
              </p:nvSpPr>
              <p:spPr>
                <a:xfrm>
                  <a:off x="2439426" y="4767350"/>
                  <a:ext cx="1355100" cy="400079"/>
                </a:xfrm>
                <a:prstGeom prst="rect">
                  <a:avLst/>
                </a:prstGeom>
                <a:solidFill>
                  <a:srgbClr val="FFF2CC"/>
                </a:solidFill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t" anchorCtr="0">
                  <a:sp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1400" dirty="0">
                      <a:latin typeface="Consolas"/>
                      <a:ea typeface="Consolas"/>
                      <a:cs typeface="Consolas"/>
                      <a:sym typeface="Consolas"/>
                    </a:rPr>
                    <a:t>load 100, R</a:t>
                  </a:r>
                  <a:endParaRPr sz="1400" dirty="0">
                    <a:latin typeface="Consolas"/>
                    <a:ea typeface="Consolas"/>
                    <a:cs typeface="Consolas"/>
                    <a:sym typeface="Consolas"/>
                  </a:endParaRPr>
                </a:p>
              </p:txBody>
            </p:sp>
          </p:grpSp>
          <p:grpSp>
            <p:nvGrpSpPr>
              <p:cNvPr id="563" name="Google Shape;563;p30"/>
              <p:cNvGrpSpPr/>
              <p:nvPr/>
            </p:nvGrpSpPr>
            <p:grpSpPr>
              <a:xfrm>
                <a:off x="1970525" y="5243750"/>
                <a:ext cx="1824001" cy="437850"/>
                <a:chOff x="1970525" y="5243750"/>
                <a:chExt cx="1824001" cy="437850"/>
              </a:xfrm>
            </p:grpSpPr>
            <p:sp>
              <p:nvSpPr>
                <p:cNvPr id="564" name="Google Shape;564;p30"/>
                <p:cNvSpPr txBox="1"/>
                <p:nvPr/>
              </p:nvSpPr>
              <p:spPr>
                <a:xfrm>
                  <a:off x="1970525" y="5243750"/>
                  <a:ext cx="468900" cy="431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t" anchorCtr="0">
                  <a:spAutoFit/>
                </a:bodyPr>
                <a:lstStyle/>
                <a:p>
                  <a:pPr marL="0" lvl="0" indent="0" algn="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1600">
                      <a:latin typeface="Consolas"/>
                      <a:ea typeface="Consolas"/>
                      <a:cs typeface="Consolas"/>
                      <a:sym typeface="Consolas"/>
                    </a:rPr>
                    <a:t>R</a:t>
                  </a:r>
                  <a:endParaRPr sz="1600">
                    <a:latin typeface="Consolas"/>
                    <a:ea typeface="Consolas"/>
                    <a:cs typeface="Consolas"/>
                    <a:sym typeface="Consolas"/>
                  </a:endParaRPr>
                </a:p>
              </p:txBody>
            </p:sp>
            <p:sp>
              <p:nvSpPr>
                <p:cNvPr id="565" name="Google Shape;565;p30"/>
                <p:cNvSpPr txBox="1"/>
                <p:nvPr/>
              </p:nvSpPr>
              <p:spPr>
                <a:xfrm>
                  <a:off x="2439426" y="5281400"/>
                  <a:ext cx="1355100" cy="400200"/>
                </a:xfrm>
                <a:prstGeom prst="rect">
                  <a:avLst/>
                </a:prstGeom>
                <a:solidFill>
                  <a:srgbClr val="FFF2CC"/>
                </a:solidFill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t" anchorCtr="0">
                  <a:sp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Consolas"/>
                    <a:ea typeface="Consolas"/>
                    <a:cs typeface="Consolas"/>
                    <a:sym typeface="Consolas"/>
                  </a:endParaRPr>
                </a:p>
              </p:txBody>
            </p:sp>
          </p:grpSp>
          <p:sp>
            <p:nvSpPr>
              <p:cNvPr id="566" name="Google Shape;566;p30"/>
              <p:cNvSpPr txBox="1"/>
              <p:nvPr/>
            </p:nvSpPr>
            <p:spPr>
              <a:xfrm>
                <a:off x="2461650" y="4079200"/>
                <a:ext cx="9768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800" b="1">
                    <a:latin typeface="Consolas"/>
                    <a:ea typeface="Consolas"/>
                    <a:cs typeface="Consolas"/>
                    <a:sym typeface="Consolas"/>
                  </a:rPr>
                  <a:t>CPU</a:t>
                </a:r>
                <a:endParaRPr sz="1800" b="1">
                  <a:latin typeface="Consolas"/>
                  <a:ea typeface="Consolas"/>
                  <a:cs typeface="Consolas"/>
                  <a:sym typeface="Consolas"/>
                </a:endParaRPr>
              </a:p>
            </p:txBody>
          </p:sp>
        </p:grpSp>
        <p:grpSp>
          <p:nvGrpSpPr>
            <p:cNvPr id="567" name="Google Shape;567;p30"/>
            <p:cNvGrpSpPr/>
            <p:nvPr/>
          </p:nvGrpSpPr>
          <p:grpSpPr>
            <a:xfrm>
              <a:off x="4231850" y="3008700"/>
              <a:ext cx="4037325" cy="3028125"/>
              <a:chOff x="4231850" y="3008700"/>
              <a:chExt cx="4037325" cy="3028125"/>
            </a:xfrm>
          </p:grpSpPr>
          <p:grpSp>
            <p:nvGrpSpPr>
              <p:cNvPr id="568" name="Google Shape;568;p30"/>
              <p:cNvGrpSpPr/>
              <p:nvPr/>
            </p:nvGrpSpPr>
            <p:grpSpPr>
              <a:xfrm>
                <a:off x="4231850" y="3470400"/>
                <a:ext cx="4037325" cy="2566425"/>
                <a:chOff x="5575500" y="3809425"/>
                <a:chExt cx="4037325" cy="2566425"/>
              </a:xfrm>
            </p:grpSpPr>
            <p:sp>
              <p:nvSpPr>
                <p:cNvPr id="569" name="Google Shape;569;p30"/>
                <p:cNvSpPr/>
                <p:nvPr/>
              </p:nvSpPr>
              <p:spPr>
                <a:xfrm>
                  <a:off x="7914675" y="3809425"/>
                  <a:ext cx="1460100" cy="375000"/>
                </a:xfrm>
                <a:prstGeom prst="rect">
                  <a:avLst/>
                </a:prstGeom>
                <a:solidFill>
                  <a:srgbClr val="F4CCCC"/>
                </a:solidFill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1800" b="1">
                      <a:latin typeface="Consolas"/>
                      <a:ea typeface="Consolas"/>
                      <a:cs typeface="Consolas"/>
                      <a:sym typeface="Consolas"/>
                    </a:rPr>
                    <a:t>1024</a:t>
                  </a:r>
                  <a:endParaRPr sz="1800" b="1">
                    <a:latin typeface="Consolas"/>
                    <a:ea typeface="Consolas"/>
                    <a:cs typeface="Consolas"/>
                    <a:sym typeface="Consolas"/>
                  </a:endParaRPr>
                </a:p>
              </p:txBody>
            </p:sp>
            <p:sp>
              <p:nvSpPr>
                <p:cNvPr id="570" name="Google Shape;570;p30"/>
                <p:cNvSpPr/>
                <p:nvPr/>
              </p:nvSpPr>
              <p:spPr>
                <a:xfrm>
                  <a:off x="6068975" y="3809425"/>
                  <a:ext cx="1460100" cy="375000"/>
                </a:xfrm>
                <a:prstGeom prst="rect">
                  <a:avLst/>
                </a:prstGeom>
                <a:solidFill>
                  <a:srgbClr val="F4CCCC"/>
                </a:solidFill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1800" b="1">
                      <a:latin typeface="Consolas"/>
                      <a:ea typeface="Consolas"/>
                      <a:cs typeface="Consolas"/>
                      <a:sym typeface="Consolas"/>
                    </a:rPr>
                    <a:t>1024</a:t>
                  </a:r>
                  <a:endParaRPr sz="1800" b="1">
                    <a:latin typeface="Consolas"/>
                    <a:ea typeface="Consolas"/>
                    <a:cs typeface="Consolas"/>
                    <a:sym typeface="Consolas"/>
                  </a:endParaRPr>
                </a:p>
              </p:txBody>
            </p:sp>
            <p:sp>
              <p:nvSpPr>
                <p:cNvPr id="571" name="Google Shape;571;p30"/>
                <p:cNvSpPr/>
                <p:nvPr/>
              </p:nvSpPr>
              <p:spPr>
                <a:xfrm>
                  <a:off x="6336900" y="4802600"/>
                  <a:ext cx="924225" cy="562575"/>
                </a:xfrm>
                <a:prstGeom prst="flowChartDecision">
                  <a:avLst/>
                </a:prstGeom>
                <a:solidFill>
                  <a:schemeClr val="lt2"/>
                </a:solidFill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2000">
                      <a:latin typeface="Consolas"/>
                      <a:ea typeface="Consolas"/>
                      <a:cs typeface="Consolas"/>
                      <a:sym typeface="Consolas"/>
                    </a:rPr>
                    <a:t>&lt;</a:t>
                  </a:r>
                  <a:endParaRPr sz="2000">
                    <a:latin typeface="Consolas"/>
                    <a:ea typeface="Consolas"/>
                    <a:cs typeface="Consolas"/>
                    <a:sym typeface="Consolas"/>
                  </a:endParaRPr>
                </a:p>
              </p:txBody>
            </p:sp>
            <p:sp>
              <p:nvSpPr>
                <p:cNvPr id="572" name="Google Shape;572;p30"/>
                <p:cNvSpPr/>
                <p:nvPr/>
              </p:nvSpPr>
              <p:spPr>
                <a:xfrm>
                  <a:off x="8396925" y="4821538"/>
                  <a:ext cx="495600" cy="524700"/>
                </a:xfrm>
                <a:prstGeom prst="ellipse">
                  <a:avLst/>
                </a:prstGeom>
                <a:solidFill>
                  <a:schemeClr val="lt2"/>
                </a:solidFill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2000">
                      <a:latin typeface="Consolas"/>
                      <a:ea typeface="Consolas"/>
                      <a:cs typeface="Consolas"/>
                      <a:sym typeface="Consolas"/>
                    </a:rPr>
                    <a:t>+</a:t>
                  </a:r>
                  <a:endParaRPr/>
                </a:p>
              </p:txBody>
            </p:sp>
            <p:cxnSp>
              <p:nvCxnSpPr>
                <p:cNvPr id="573" name="Google Shape;573;p30"/>
                <p:cNvCxnSpPr>
                  <a:stCxn id="574" idx="3"/>
                  <a:endCxn id="571" idx="1"/>
                </p:cNvCxnSpPr>
                <p:nvPr/>
              </p:nvCxnSpPr>
              <p:spPr>
                <a:xfrm>
                  <a:off x="5575500" y="5082988"/>
                  <a:ext cx="761400" cy="9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  <p:cxnSp>
              <p:nvCxnSpPr>
                <p:cNvPr id="575" name="Google Shape;575;p30"/>
                <p:cNvCxnSpPr>
                  <a:stCxn id="570" idx="2"/>
                  <a:endCxn id="571" idx="0"/>
                </p:cNvCxnSpPr>
                <p:nvPr/>
              </p:nvCxnSpPr>
              <p:spPr>
                <a:xfrm>
                  <a:off x="6799025" y="4184425"/>
                  <a:ext cx="0" cy="6183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  <p:cxnSp>
              <p:nvCxnSpPr>
                <p:cNvPr id="576" name="Google Shape;576;p30"/>
                <p:cNvCxnSpPr>
                  <a:stCxn id="569" idx="2"/>
                  <a:endCxn id="572" idx="0"/>
                </p:cNvCxnSpPr>
                <p:nvPr/>
              </p:nvCxnSpPr>
              <p:spPr>
                <a:xfrm>
                  <a:off x="8644725" y="4184425"/>
                  <a:ext cx="0" cy="637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  <p:cxnSp>
              <p:nvCxnSpPr>
                <p:cNvPr id="577" name="Google Shape;577;p30"/>
                <p:cNvCxnSpPr>
                  <a:stCxn id="571" idx="3"/>
                  <a:endCxn id="572" idx="2"/>
                </p:cNvCxnSpPr>
                <p:nvPr/>
              </p:nvCxnSpPr>
              <p:spPr>
                <a:xfrm>
                  <a:off x="7261125" y="5083888"/>
                  <a:ext cx="11358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  <p:cxnSp>
              <p:nvCxnSpPr>
                <p:cNvPr id="578" name="Google Shape;578;p30"/>
                <p:cNvCxnSpPr/>
                <p:nvPr/>
              </p:nvCxnSpPr>
              <p:spPr>
                <a:xfrm>
                  <a:off x="6799025" y="5365163"/>
                  <a:ext cx="2400" cy="908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  <p:sp>
              <p:nvSpPr>
                <p:cNvPr id="579" name="Google Shape;579;p30"/>
                <p:cNvSpPr txBox="1"/>
                <p:nvPr/>
              </p:nvSpPr>
              <p:spPr>
                <a:xfrm>
                  <a:off x="6652638" y="5268025"/>
                  <a:ext cx="727200" cy="4926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t" anchorCtr="0">
                  <a:sp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2000" b="1">
                      <a:solidFill>
                        <a:schemeClr val="dk1"/>
                      </a:solidFill>
                      <a:highlight>
                        <a:schemeClr val="lt1"/>
                      </a:highlight>
                      <a:latin typeface="Consolas"/>
                      <a:ea typeface="Consolas"/>
                      <a:cs typeface="Consolas"/>
                      <a:sym typeface="Consolas"/>
                    </a:rPr>
                    <a:t>No</a:t>
                  </a:r>
                  <a:endParaRPr sz="2000" b="1">
                    <a:solidFill>
                      <a:schemeClr val="dk1"/>
                    </a:solidFill>
                    <a:highlight>
                      <a:schemeClr val="lt1"/>
                    </a:highlight>
                    <a:latin typeface="Consolas"/>
                    <a:ea typeface="Consolas"/>
                    <a:cs typeface="Consolas"/>
                    <a:sym typeface="Consolas"/>
                  </a:endParaRPr>
                </a:p>
              </p:txBody>
            </p:sp>
            <p:sp>
              <p:nvSpPr>
                <p:cNvPr id="580" name="Google Shape;580;p30"/>
                <p:cNvSpPr txBox="1"/>
                <p:nvPr/>
              </p:nvSpPr>
              <p:spPr>
                <a:xfrm>
                  <a:off x="7165313" y="4667500"/>
                  <a:ext cx="727200" cy="4926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t" anchorCtr="0">
                  <a:sp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2000" b="1">
                      <a:solidFill>
                        <a:schemeClr val="dk1"/>
                      </a:solidFill>
                      <a:highlight>
                        <a:schemeClr val="lt1"/>
                      </a:highlight>
                      <a:latin typeface="Consolas"/>
                      <a:ea typeface="Consolas"/>
                      <a:cs typeface="Consolas"/>
                      <a:sym typeface="Consolas"/>
                    </a:rPr>
                    <a:t>Yes</a:t>
                  </a:r>
                  <a:endParaRPr sz="2000" b="1">
                    <a:solidFill>
                      <a:schemeClr val="dk1"/>
                    </a:solidFill>
                    <a:highlight>
                      <a:schemeClr val="lt1"/>
                    </a:highlight>
                    <a:latin typeface="Consolas"/>
                    <a:ea typeface="Consolas"/>
                    <a:cs typeface="Consolas"/>
                    <a:sym typeface="Consolas"/>
                  </a:endParaRPr>
                </a:p>
              </p:txBody>
            </p:sp>
            <p:cxnSp>
              <p:nvCxnSpPr>
                <p:cNvPr id="581" name="Google Shape;581;p30"/>
                <p:cNvCxnSpPr/>
                <p:nvPr/>
              </p:nvCxnSpPr>
              <p:spPr>
                <a:xfrm rot="10800000" flipH="1">
                  <a:off x="8892525" y="5080888"/>
                  <a:ext cx="720300" cy="30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2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  <p:sp>
              <p:nvSpPr>
                <p:cNvPr id="582" name="Google Shape;582;p30"/>
                <p:cNvSpPr txBox="1"/>
                <p:nvPr/>
              </p:nvSpPr>
              <p:spPr>
                <a:xfrm>
                  <a:off x="6799025" y="5944750"/>
                  <a:ext cx="2013300" cy="431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t" anchorCtr="0">
                  <a:sp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1600" b="1" dirty="0">
                      <a:solidFill>
                        <a:srgbClr val="FF0000"/>
                      </a:solidFill>
                      <a:highlight>
                        <a:schemeClr val="lt1"/>
                      </a:highlight>
                      <a:latin typeface="Consolas"/>
                      <a:ea typeface="Consolas"/>
                      <a:cs typeface="Consolas"/>
                      <a:sym typeface="Consolas"/>
                    </a:rPr>
                    <a:t>Protection fault</a:t>
                  </a:r>
                  <a:endParaRPr sz="1600" b="1" dirty="0">
                    <a:solidFill>
                      <a:srgbClr val="FF0000"/>
                    </a:solidFill>
                    <a:highlight>
                      <a:schemeClr val="lt1"/>
                    </a:highlight>
                    <a:latin typeface="Consolas"/>
                    <a:ea typeface="Consolas"/>
                    <a:cs typeface="Consolas"/>
                    <a:sym typeface="Consolas"/>
                  </a:endParaRPr>
                </a:p>
              </p:txBody>
            </p:sp>
          </p:grpSp>
          <p:sp>
            <p:nvSpPr>
              <p:cNvPr id="583" name="Google Shape;583;p30"/>
              <p:cNvSpPr txBox="1"/>
              <p:nvPr/>
            </p:nvSpPr>
            <p:spPr>
              <a:xfrm>
                <a:off x="4919575" y="3008700"/>
                <a:ext cx="9768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800" b="1" dirty="0">
                    <a:latin typeface="Consolas"/>
                    <a:ea typeface="Consolas"/>
                    <a:cs typeface="Consolas"/>
                    <a:sym typeface="Consolas"/>
                  </a:rPr>
                  <a:t>bounds</a:t>
                </a:r>
                <a:endParaRPr sz="1800" b="1" dirty="0">
                  <a:latin typeface="Consolas"/>
                  <a:ea typeface="Consolas"/>
                  <a:cs typeface="Consolas"/>
                  <a:sym typeface="Consolas"/>
                </a:endParaRPr>
              </a:p>
            </p:txBody>
          </p:sp>
          <p:sp>
            <p:nvSpPr>
              <p:cNvPr id="584" name="Google Shape;584;p30"/>
              <p:cNvSpPr txBox="1"/>
              <p:nvPr/>
            </p:nvSpPr>
            <p:spPr>
              <a:xfrm>
                <a:off x="6813275" y="3008700"/>
                <a:ext cx="9768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800" b="1">
                    <a:latin typeface="Consolas"/>
                    <a:ea typeface="Consolas"/>
                    <a:cs typeface="Consolas"/>
                    <a:sym typeface="Consolas"/>
                  </a:rPr>
                  <a:t>base</a:t>
                </a:r>
                <a:endParaRPr sz="1800" b="1">
                  <a:latin typeface="Consolas"/>
                  <a:ea typeface="Consolas"/>
                  <a:cs typeface="Consolas"/>
                  <a:sym typeface="Consolas"/>
                </a:endParaRPr>
              </a:p>
            </p:txBody>
          </p:sp>
        </p:grpSp>
      </p:grpSp>
      <p:sp>
        <p:nvSpPr>
          <p:cNvPr id="585" name="Google Shape;585;p30"/>
          <p:cNvSpPr/>
          <p:nvPr/>
        </p:nvSpPr>
        <p:spPr>
          <a:xfrm>
            <a:off x="8145151" y="4547025"/>
            <a:ext cx="985500" cy="187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86" name="Google Shape;586;p30"/>
          <p:cNvSpPr/>
          <p:nvPr/>
        </p:nvSpPr>
        <p:spPr>
          <a:xfrm>
            <a:off x="3277200" y="4665750"/>
            <a:ext cx="5036559" cy="1613500"/>
          </a:xfrm>
          <a:custGeom>
            <a:avLst/>
            <a:gdLst/>
            <a:ahLst/>
            <a:cxnLst/>
            <a:rect l="l" t="t" r="r" b="b"/>
            <a:pathLst>
              <a:path w="189131" h="64540" extrusionOk="0">
                <a:moveTo>
                  <a:pt x="189131" y="0"/>
                </a:moveTo>
                <a:cubicBezTo>
                  <a:pt x="188685" y="2768"/>
                  <a:pt x="187881" y="11252"/>
                  <a:pt x="186452" y="16610"/>
                </a:cubicBezTo>
                <a:cubicBezTo>
                  <a:pt x="185023" y="21968"/>
                  <a:pt x="183594" y="27325"/>
                  <a:pt x="180558" y="32147"/>
                </a:cubicBezTo>
                <a:cubicBezTo>
                  <a:pt x="177522" y="36969"/>
                  <a:pt x="173950" y="40988"/>
                  <a:pt x="168235" y="45542"/>
                </a:cubicBezTo>
                <a:cubicBezTo>
                  <a:pt x="162520" y="50096"/>
                  <a:pt x="153590" y="56436"/>
                  <a:pt x="146268" y="59472"/>
                </a:cubicBezTo>
                <a:cubicBezTo>
                  <a:pt x="138946" y="62508"/>
                  <a:pt x="132159" y="62954"/>
                  <a:pt x="124301" y="63758"/>
                </a:cubicBezTo>
                <a:cubicBezTo>
                  <a:pt x="116443" y="64562"/>
                  <a:pt x="108227" y="64651"/>
                  <a:pt x="99119" y="64294"/>
                </a:cubicBezTo>
                <a:cubicBezTo>
                  <a:pt x="90011" y="63937"/>
                  <a:pt x="77420" y="63044"/>
                  <a:pt x="69651" y="61615"/>
                </a:cubicBezTo>
                <a:cubicBezTo>
                  <a:pt x="61882" y="60186"/>
                  <a:pt x="58221" y="58222"/>
                  <a:pt x="52506" y="55722"/>
                </a:cubicBezTo>
                <a:cubicBezTo>
                  <a:pt x="46791" y="53222"/>
                  <a:pt x="40362" y="49471"/>
                  <a:pt x="35361" y="46613"/>
                </a:cubicBezTo>
                <a:cubicBezTo>
                  <a:pt x="30361" y="43756"/>
                  <a:pt x="27504" y="42060"/>
                  <a:pt x="22503" y="38577"/>
                </a:cubicBezTo>
                <a:cubicBezTo>
                  <a:pt x="17503" y="35095"/>
                  <a:pt x="9109" y="28486"/>
                  <a:pt x="5358" y="25718"/>
                </a:cubicBezTo>
                <a:cubicBezTo>
                  <a:pt x="1608" y="22950"/>
                  <a:pt x="893" y="22592"/>
                  <a:pt x="0" y="21967"/>
                </a:cubicBezTo>
              </a:path>
            </a:pathLst>
          </a:custGeom>
          <a:noFill/>
          <a:ln w="19050" cap="flat" cmpd="sng">
            <a:solidFill>
              <a:srgbClr val="70AD47"/>
            </a:solidFill>
            <a:prstDash val="solid"/>
            <a:round/>
            <a:headEnd type="none" w="med" len="med"/>
            <a:tailEnd type="triangle" w="med" len="med"/>
          </a:ln>
        </p:spPr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933CA8E-A208-4AB0-BCF3-D5505F3FA6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0941" y="1371082"/>
            <a:ext cx="11305395" cy="1649543"/>
          </a:xfrm>
        </p:spPr>
        <p:txBody>
          <a:bodyPr>
            <a:normAutofit fontScale="92500" lnSpcReduction="1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MX" sz="2800" dirty="0"/>
              <a:t>Análisis de la ejecución de la instrucción </a:t>
            </a:r>
            <a:r>
              <a:rPr lang="es-MX" sz="2800" b="1" dirty="0">
                <a:latin typeface="Consolas"/>
                <a:ea typeface="Consolas"/>
                <a:cs typeface="Consolas"/>
                <a:sym typeface="Consolas"/>
              </a:rPr>
              <a:t>load 100, R</a:t>
            </a:r>
            <a:r>
              <a:rPr lang="es-MX" sz="2800" dirty="0"/>
              <a:t> para el proceso </a:t>
            </a:r>
            <a:r>
              <a:rPr lang="es-MX" sz="2800" b="1" dirty="0"/>
              <a:t>P1</a:t>
            </a:r>
          </a:p>
          <a:p>
            <a:pPr marL="457200" lvl="0" indent="-3683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200"/>
              <a:buAutoNum type="arabicPeriod"/>
            </a:pPr>
            <a:r>
              <a:rPr lang="es-MX" sz="2800" dirty="0"/>
              <a:t>Conversión de dirección lógica a física para </a:t>
            </a:r>
            <a:r>
              <a:rPr lang="es-MX" sz="2800" b="1" dirty="0"/>
              <a:t>P1</a:t>
            </a:r>
            <a:r>
              <a:rPr lang="es-MX" sz="2800" dirty="0"/>
              <a:t>: </a:t>
            </a:r>
            <a:r>
              <a:rPr lang="es-MX" sz="2800" b="1" dirty="0">
                <a:latin typeface="Consolas"/>
                <a:ea typeface="Consolas"/>
                <a:cs typeface="Consolas"/>
                <a:sym typeface="Consolas"/>
              </a:rPr>
              <a:t>PA(VA = 100) = 1124</a:t>
            </a:r>
            <a:endParaRPr lang="es-MX" sz="2800" dirty="0"/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AutoNum type="arabicPeriod"/>
            </a:pPr>
            <a:r>
              <a:rPr lang="es-MX" sz="2800" dirty="0"/>
              <a:t>Se lanza el load a </a:t>
            </a:r>
            <a:r>
              <a:rPr lang="es-MX" sz="2800" b="1" dirty="0">
                <a:latin typeface="Consolas"/>
                <a:ea typeface="Consolas"/>
                <a:cs typeface="Consolas"/>
                <a:sym typeface="Consolas"/>
              </a:rPr>
              <a:t>PA = 1124</a:t>
            </a:r>
            <a:endParaRPr lang="es-MX" sz="2800" dirty="0"/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AutoNum type="arabicPeriod"/>
            </a:pPr>
            <a:r>
              <a:rPr lang="es-MX" sz="2800" dirty="0"/>
              <a:t>Se pone el resultado en </a:t>
            </a:r>
            <a:r>
              <a:rPr lang="es-MX" sz="2800" b="1" dirty="0">
                <a:latin typeface="Consolas"/>
                <a:ea typeface="Consolas"/>
                <a:cs typeface="Consolas"/>
                <a:sym typeface="Consolas"/>
              </a:rPr>
              <a:t>R</a:t>
            </a:r>
            <a:r>
              <a:rPr lang="es-MX" sz="2800" dirty="0"/>
              <a:t>.</a:t>
            </a: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lang="es-MX" sz="2800" dirty="0"/>
          </a:p>
          <a:p>
            <a:endParaRPr lang="es-CO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1" name="Google Shape;591;p31"/>
          <p:cNvSpPr txBox="1">
            <a:spLocks noGrp="1"/>
          </p:cNvSpPr>
          <p:nvPr>
            <p:ph type="title"/>
          </p:nvPr>
        </p:nvSpPr>
        <p:spPr>
          <a:xfrm>
            <a:off x="434100" y="98878"/>
            <a:ext cx="10919700" cy="1325563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Acciones del sistema operativo</a:t>
            </a:r>
            <a:endParaRPr dirty="0"/>
          </a:p>
        </p:txBody>
      </p:sp>
      <p:pic>
        <p:nvPicPr>
          <p:cNvPr id="593" name="Google Shape;593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61876" y="2773400"/>
            <a:ext cx="2172475" cy="2187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94" name="Google Shape;594;p3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124600" y="2773400"/>
            <a:ext cx="2210685" cy="2187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95" name="Google Shape;595;p3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032700" y="2412776"/>
            <a:ext cx="5062500" cy="263278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596" name="Google Shape;596;p31"/>
          <p:cNvCxnSpPr/>
          <p:nvPr/>
        </p:nvCxnSpPr>
        <p:spPr>
          <a:xfrm>
            <a:off x="3812975" y="1665375"/>
            <a:ext cx="13500" cy="476850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597" name="Google Shape;597;p31"/>
          <p:cNvCxnSpPr/>
          <p:nvPr/>
        </p:nvCxnSpPr>
        <p:spPr>
          <a:xfrm>
            <a:off x="6925550" y="1746775"/>
            <a:ext cx="8400" cy="463350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598" name="Google Shape;598;p31"/>
          <p:cNvSpPr/>
          <p:nvPr/>
        </p:nvSpPr>
        <p:spPr>
          <a:xfrm>
            <a:off x="4182675" y="5456875"/>
            <a:ext cx="537300" cy="541800"/>
          </a:xfrm>
          <a:prstGeom prst="ellipse">
            <a:avLst/>
          </a:prstGeom>
          <a:solidFill>
            <a:srgbClr val="F4CCCC"/>
          </a:solidFill>
          <a:ln w="19050" cap="flat" cmpd="sng">
            <a:solidFill>
              <a:srgbClr val="22222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latin typeface="Courier New"/>
                <a:ea typeface="Courier New"/>
                <a:cs typeface="Courier New"/>
                <a:sym typeface="Courier New"/>
              </a:rPr>
              <a:t>A</a:t>
            </a:r>
            <a:endParaRPr sz="180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599" name="Google Shape;599;p31"/>
          <p:cNvSpPr/>
          <p:nvPr/>
        </p:nvSpPr>
        <p:spPr>
          <a:xfrm>
            <a:off x="5828175" y="5456875"/>
            <a:ext cx="537300" cy="541800"/>
          </a:xfrm>
          <a:prstGeom prst="ellipse">
            <a:avLst/>
          </a:prstGeom>
          <a:solidFill>
            <a:schemeClr val="lt1"/>
          </a:solidFill>
          <a:ln w="28575" cap="flat" cmpd="sng">
            <a:solidFill>
              <a:srgbClr val="D9D9D9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solidFill>
                  <a:srgbClr val="D9D9D9"/>
                </a:solidFill>
                <a:latin typeface="Courier New"/>
                <a:ea typeface="Courier New"/>
                <a:cs typeface="Courier New"/>
                <a:sym typeface="Courier New"/>
              </a:rPr>
              <a:t>A</a:t>
            </a:r>
            <a:endParaRPr sz="1800">
              <a:solidFill>
                <a:srgbClr val="D9D9D9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pic>
        <p:nvPicPr>
          <p:cNvPr id="600" name="Google Shape;600;p31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507325" y="5229875"/>
            <a:ext cx="364950" cy="343050"/>
          </a:xfrm>
          <a:prstGeom prst="rect">
            <a:avLst/>
          </a:prstGeom>
          <a:noFill/>
          <a:ln>
            <a:noFill/>
          </a:ln>
        </p:spPr>
      </p:pic>
      <p:sp>
        <p:nvSpPr>
          <p:cNvPr id="601" name="Google Shape;601;p31"/>
          <p:cNvSpPr/>
          <p:nvPr/>
        </p:nvSpPr>
        <p:spPr>
          <a:xfrm>
            <a:off x="2647375" y="5456875"/>
            <a:ext cx="537300" cy="541800"/>
          </a:xfrm>
          <a:prstGeom prst="ellipse">
            <a:avLst/>
          </a:prstGeom>
          <a:solidFill>
            <a:srgbClr val="F4CCCC"/>
          </a:solidFill>
          <a:ln w="19050" cap="flat" cmpd="sng">
            <a:solidFill>
              <a:srgbClr val="22222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latin typeface="Courier New"/>
                <a:ea typeface="Courier New"/>
                <a:cs typeface="Courier New"/>
                <a:sym typeface="Courier New"/>
              </a:rPr>
              <a:t>A</a:t>
            </a:r>
            <a:endParaRPr sz="180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602" name="Google Shape;602;p31"/>
          <p:cNvSpPr/>
          <p:nvPr/>
        </p:nvSpPr>
        <p:spPr>
          <a:xfrm>
            <a:off x="7702175" y="5456875"/>
            <a:ext cx="537300" cy="541800"/>
          </a:xfrm>
          <a:prstGeom prst="ellipse">
            <a:avLst/>
          </a:prstGeom>
          <a:solidFill>
            <a:srgbClr val="F4CCCC"/>
          </a:solidFill>
          <a:ln w="19050" cap="flat" cmpd="sng">
            <a:solidFill>
              <a:srgbClr val="22222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latin typeface="Courier New"/>
                <a:ea typeface="Courier New"/>
                <a:cs typeface="Courier New"/>
                <a:sym typeface="Courier New"/>
              </a:rPr>
              <a:t>A</a:t>
            </a:r>
            <a:endParaRPr sz="180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603" name="Google Shape;603;p31"/>
          <p:cNvSpPr/>
          <p:nvPr/>
        </p:nvSpPr>
        <p:spPr>
          <a:xfrm>
            <a:off x="10093925" y="5456875"/>
            <a:ext cx="537300" cy="541800"/>
          </a:xfrm>
          <a:prstGeom prst="ellipse">
            <a:avLst/>
          </a:prstGeom>
          <a:solidFill>
            <a:srgbClr val="C9DAF8"/>
          </a:solidFill>
          <a:ln w="19050" cap="flat" cmpd="sng">
            <a:solidFill>
              <a:srgbClr val="22222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latin typeface="Courier New"/>
                <a:ea typeface="Courier New"/>
                <a:cs typeface="Courier New"/>
                <a:sym typeface="Courier New"/>
              </a:rPr>
              <a:t>B</a:t>
            </a:r>
            <a:endParaRPr sz="1800">
              <a:latin typeface="Courier New"/>
              <a:ea typeface="Courier New"/>
              <a:cs typeface="Courier New"/>
              <a:sym typeface="Courier New"/>
            </a:endParaRPr>
          </a:p>
        </p:txBody>
      </p:sp>
      <p:cxnSp>
        <p:nvCxnSpPr>
          <p:cNvPr id="604" name="Google Shape;604;p31"/>
          <p:cNvCxnSpPr/>
          <p:nvPr/>
        </p:nvCxnSpPr>
        <p:spPr>
          <a:xfrm>
            <a:off x="8390300" y="5725825"/>
            <a:ext cx="1552800" cy="3900"/>
          </a:xfrm>
          <a:prstGeom prst="straightConnector1">
            <a:avLst/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05" name="Google Shape;605;p31"/>
          <p:cNvCxnSpPr/>
          <p:nvPr/>
        </p:nvCxnSpPr>
        <p:spPr>
          <a:xfrm>
            <a:off x="4837863" y="5721925"/>
            <a:ext cx="872400" cy="11700"/>
          </a:xfrm>
          <a:prstGeom prst="straightConnector1">
            <a:avLst/>
          </a:prstGeom>
          <a:noFill/>
          <a:ln w="19050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606" name="Google Shape;606;p31"/>
          <p:cNvSpPr txBox="1"/>
          <p:nvPr/>
        </p:nvSpPr>
        <p:spPr>
          <a:xfrm>
            <a:off x="1174250" y="1665375"/>
            <a:ext cx="2360100" cy="8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s-ES" sz="2200" b="1">
                <a:solidFill>
                  <a:srgbClr val="70AD47"/>
                </a:solidFill>
                <a:latin typeface="Roboto"/>
                <a:ea typeface="Roboto"/>
                <a:cs typeface="Roboto"/>
                <a:sym typeface="Roboto"/>
              </a:rPr>
              <a:t>Creación de un proceso</a:t>
            </a:r>
            <a:endParaRPr sz="2200" b="1">
              <a:solidFill>
                <a:srgbClr val="70AD4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7" name="Google Shape;607;p31"/>
          <p:cNvSpPr txBox="1"/>
          <p:nvPr/>
        </p:nvSpPr>
        <p:spPr>
          <a:xfrm>
            <a:off x="4195963" y="1746775"/>
            <a:ext cx="2360100" cy="8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s-ES" sz="2200" b="1">
                <a:solidFill>
                  <a:srgbClr val="70AD47"/>
                </a:solidFill>
                <a:latin typeface="Roboto"/>
                <a:ea typeface="Roboto"/>
                <a:cs typeface="Roboto"/>
                <a:sym typeface="Roboto"/>
              </a:rPr>
              <a:t>Terminación de un proceso</a:t>
            </a:r>
            <a:endParaRPr sz="2200" b="1">
              <a:solidFill>
                <a:srgbClr val="70AD4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8" name="Google Shape;608;p31"/>
          <p:cNvSpPr txBox="1"/>
          <p:nvPr/>
        </p:nvSpPr>
        <p:spPr>
          <a:xfrm>
            <a:off x="8085438" y="1746775"/>
            <a:ext cx="2360100" cy="8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s-ES" sz="2200" b="1">
                <a:solidFill>
                  <a:srgbClr val="70AD47"/>
                </a:solidFill>
                <a:latin typeface="Roboto"/>
                <a:ea typeface="Roboto"/>
                <a:cs typeface="Roboto"/>
                <a:sym typeface="Roboto"/>
              </a:rPr>
              <a:t>Cambio de contexto</a:t>
            </a:r>
            <a:endParaRPr sz="2200" b="1">
              <a:solidFill>
                <a:srgbClr val="70AD4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2" name="Google Shape;622;p33"/>
          <p:cNvSpPr txBox="1">
            <a:spLocks noGrp="1"/>
          </p:cNvSpPr>
          <p:nvPr>
            <p:ph type="title"/>
          </p:nvPr>
        </p:nvSpPr>
        <p:spPr>
          <a:xfrm>
            <a:off x="191729" y="96037"/>
            <a:ext cx="11617921" cy="1142337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latin typeface="+mj-lt"/>
              </a:rPr>
              <a:t>Ventajas y desventajas de la reasignación dinámica (base &amp; bound)</a:t>
            </a:r>
            <a:endParaRPr dirty="0">
              <a:latin typeface="+mj-lt"/>
            </a:endParaRPr>
          </a:p>
        </p:txBody>
      </p:sp>
      <p:graphicFrame>
        <p:nvGraphicFramePr>
          <p:cNvPr id="624" name="Google Shape;624;p33"/>
          <p:cNvGraphicFramePr/>
          <p:nvPr>
            <p:extLst>
              <p:ext uri="{D42A27DB-BD31-4B8C-83A1-F6EECF244321}">
                <p14:modId xmlns:p14="http://schemas.microsoft.com/office/powerpoint/2010/main" val="1906064627"/>
              </p:ext>
            </p:extLst>
          </p:nvPr>
        </p:nvGraphicFramePr>
        <p:xfrm>
          <a:off x="671411" y="1452208"/>
          <a:ext cx="11042550" cy="4998660"/>
        </p:xfrm>
        <a:graphic>
          <a:graphicData uri="http://schemas.openxmlformats.org/drawingml/2006/table">
            <a:tbl>
              <a:tblPr>
                <a:noFill/>
                <a:tableStyleId>{CA5C7703-E2AC-41A6-8DEA-2D5C455BA520}</a:tableStyleId>
              </a:tblPr>
              <a:tblGrid>
                <a:gridCol w="55212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21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486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400" b="1"/>
                        <a:t>Ventajas</a:t>
                      </a:r>
                      <a:endParaRPr sz="2400" b="1"/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400" b="1"/>
                        <a:t>Desventajas</a:t>
                      </a:r>
                      <a:endParaRPr sz="2400" b="1"/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457200" lvl="0" indent="-35560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2000"/>
                        <a:buChar char="●"/>
                      </a:pPr>
                      <a:r>
                        <a:rPr lang="es-ES" sz="2000"/>
                        <a:t>Rápida y simple.</a:t>
                      </a:r>
                      <a:endParaRPr sz="2000"/>
                    </a:p>
                    <a:p>
                      <a:pPr marL="457200" lvl="0" indent="-35560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2000"/>
                        <a:buChar char="●"/>
                      </a:pPr>
                      <a:r>
                        <a:rPr lang="es-ES" sz="2000"/>
                        <a:t>Ofrece protección</a:t>
                      </a:r>
                      <a:endParaRPr sz="2000"/>
                    </a:p>
                    <a:p>
                      <a:pPr marL="457200" lvl="0" indent="-35560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2000"/>
                        <a:buChar char="●"/>
                      </a:pPr>
                      <a:r>
                        <a:rPr lang="es-ES" sz="2000"/>
                        <a:t>Poco overhead (2 registros por proceso)</a:t>
                      </a:r>
                      <a:endParaRPr sz="2000"/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457200" lvl="0" indent="-35560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2000"/>
                        <a:buChar char="●"/>
                      </a:pPr>
                      <a:r>
                        <a:rPr lang="es-ES" sz="2000" dirty="0"/>
                        <a:t>No es flexible.</a:t>
                      </a:r>
                      <a:endParaRPr sz="2000" dirty="0"/>
                    </a:p>
                    <a:p>
                      <a:pPr marL="457200" lvl="0" indent="-35560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2000"/>
                        <a:buChar char="●"/>
                      </a:pPr>
                      <a:r>
                        <a:rPr lang="es-ES" sz="2000" dirty="0"/>
                        <a:t>Gasto de memoria (sobre todo para espacios de direccionamiento grandes) → Fragmentación interna.</a:t>
                      </a:r>
                      <a:endParaRPr sz="2000" dirty="0"/>
                    </a:p>
                    <a:p>
                      <a:pPr marL="45720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0" dirty="0"/>
                    </a:p>
                    <a:p>
                      <a:pPr marL="45720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0" dirty="0"/>
                    </a:p>
                    <a:p>
                      <a:pPr marL="45720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0" dirty="0"/>
                    </a:p>
                    <a:p>
                      <a:pPr marL="45720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0" dirty="0"/>
                    </a:p>
                    <a:p>
                      <a:pPr marL="45720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0" dirty="0"/>
                    </a:p>
                    <a:p>
                      <a:pPr marL="45720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0" dirty="0"/>
                    </a:p>
                    <a:p>
                      <a:pPr marL="45720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0" dirty="0"/>
                    </a:p>
                    <a:p>
                      <a:pPr marL="45720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0" dirty="0"/>
                    </a:p>
                    <a:p>
                      <a:pPr marL="45720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0" dirty="0"/>
                    </a:p>
                    <a:p>
                      <a:pPr marL="45720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0" dirty="0"/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pSp>
        <p:nvGrpSpPr>
          <p:cNvPr id="625" name="Google Shape;625;p33"/>
          <p:cNvGrpSpPr/>
          <p:nvPr/>
        </p:nvGrpSpPr>
        <p:grpSpPr>
          <a:xfrm>
            <a:off x="7151304" y="4393443"/>
            <a:ext cx="806322" cy="1163511"/>
            <a:chOff x="1775100" y="4022850"/>
            <a:chExt cx="1076100" cy="1739700"/>
          </a:xfrm>
        </p:grpSpPr>
        <p:sp>
          <p:nvSpPr>
            <p:cNvPr id="626" name="Google Shape;626;p33"/>
            <p:cNvSpPr/>
            <p:nvPr/>
          </p:nvSpPr>
          <p:spPr>
            <a:xfrm>
              <a:off x="1775100" y="4022850"/>
              <a:ext cx="1076100" cy="1739700"/>
            </a:xfrm>
            <a:prstGeom prst="rect">
              <a:avLst/>
            </a:prstGeom>
            <a:solidFill>
              <a:srgbClr val="EFEFEF"/>
            </a:solidFill>
            <a:ln w="19050" cap="flat" cmpd="sng">
              <a:solidFill>
                <a:srgbClr val="22222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27" name="Google Shape;627;p33"/>
            <p:cNvGrpSpPr/>
            <p:nvPr/>
          </p:nvGrpSpPr>
          <p:grpSpPr>
            <a:xfrm>
              <a:off x="1775100" y="4022850"/>
              <a:ext cx="1076100" cy="1739675"/>
              <a:chOff x="7948250" y="2813125"/>
              <a:chExt cx="1076100" cy="1739675"/>
            </a:xfrm>
          </p:grpSpPr>
          <p:sp>
            <p:nvSpPr>
              <p:cNvPr id="628" name="Google Shape;628;p33"/>
              <p:cNvSpPr/>
              <p:nvPr/>
            </p:nvSpPr>
            <p:spPr>
              <a:xfrm>
                <a:off x="7948250" y="2813125"/>
                <a:ext cx="1076100" cy="284400"/>
              </a:xfrm>
              <a:prstGeom prst="rect">
                <a:avLst/>
              </a:prstGeom>
              <a:solidFill>
                <a:srgbClr val="F4CCCC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800" b="1" dirty="0">
                    <a:latin typeface="Courier New"/>
                    <a:ea typeface="Courier New"/>
                    <a:cs typeface="Courier New"/>
                    <a:sym typeface="Courier New"/>
                  </a:rPr>
                  <a:t>Code</a:t>
                </a:r>
                <a:endParaRPr sz="800" b="1" dirty="0"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  <p:sp>
            <p:nvSpPr>
              <p:cNvPr id="629" name="Google Shape;629;p33"/>
              <p:cNvSpPr/>
              <p:nvPr/>
            </p:nvSpPr>
            <p:spPr>
              <a:xfrm>
                <a:off x="7950650" y="3085775"/>
                <a:ext cx="1073100" cy="370800"/>
              </a:xfrm>
              <a:prstGeom prst="rect">
                <a:avLst/>
              </a:prstGeom>
              <a:solidFill>
                <a:srgbClr val="FFE599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800" b="1">
                    <a:latin typeface="Courier New"/>
                    <a:ea typeface="Courier New"/>
                    <a:cs typeface="Courier New"/>
                    <a:sym typeface="Courier New"/>
                  </a:rPr>
                  <a:t>Data</a:t>
                </a:r>
                <a:endParaRPr/>
              </a:p>
            </p:txBody>
          </p:sp>
          <p:sp>
            <p:nvSpPr>
              <p:cNvPr id="630" name="Google Shape;630;p33"/>
              <p:cNvSpPr/>
              <p:nvPr/>
            </p:nvSpPr>
            <p:spPr>
              <a:xfrm>
                <a:off x="7948250" y="3406050"/>
                <a:ext cx="1076100" cy="284400"/>
              </a:xfrm>
              <a:prstGeom prst="rect">
                <a:avLst/>
              </a:prstGeom>
              <a:solidFill>
                <a:srgbClr val="CFE2F3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800" b="1" dirty="0">
                    <a:latin typeface="Courier New"/>
                    <a:ea typeface="Courier New"/>
                    <a:cs typeface="Courier New"/>
                    <a:sym typeface="Courier New"/>
                  </a:rPr>
                  <a:t>heap</a:t>
                </a:r>
                <a:endParaRPr dirty="0"/>
              </a:p>
            </p:txBody>
          </p:sp>
          <p:sp>
            <p:nvSpPr>
              <p:cNvPr id="631" name="Google Shape;631;p33"/>
              <p:cNvSpPr/>
              <p:nvPr/>
            </p:nvSpPr>
            <p:spPr>
              <a:xfrm>
                <a:off x="7948250" y="4268400"/>
                <a:ext cx="1076100" cy="284400"/>
              </a:xfrm>
              <a:prstGeom prst="rect">
                <a:avLst/>
              </a:prstGeom>
              <a:solidFill>
                <a:srgbClr val="CFE2F3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800" b="1" dirty="0">
                    <a:latin typeface="Courier New"/>
                    <a:ea typeface="Courier New"/>
                    <a:cs typeface="Courier New"/>
                    <a:sym typeface="Courier New"/>
                  </a:rPr>
                  <a:t>stack</a:t>
                </a:r>
                <a:endParaRPr dirty="0"/>
              </a:p>
            </p:txBody>
          </p:sp>
          <p:cxnSp>
            <p:nvCxnSpPr>
              <p:cNvPr id="632" name="Google Shape;632;p33"/>
              <p:cNvCxnSpPr>
                <a:stCxn id="630" idx="2"/>
              </p:cNvCxnSpPr>
              <p:nvPr/>
            </p:nvCxnSpPr>
            <p:spPr>
              <a:xfrm>
                <a:off x="8486300" y="3690450"/>
                <a:ext cx="6900" cy="2613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633" name="Google Shape;633;p33"/>
              <p:cNvCxnSpPr>
                <a:stCxn id="631" idx="0"/>
              </p:cNvCxnSpPr>
              <p:nvPr/>
            </p:nvCxnSpPr>
            <p:spPr>
              <a:xfrm rot="10800000" flipH="1">
                <a:off x="8486300" y="4035600"/>
                <a:ext cx="4200" cy="2328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</p:grpSp>
      </p:grpSp>
      <p:grpSp>
        <p:nvGrpSpPr>
          <p:cNvPr id="634" name="Google Shape;634;p33"/>
          <p:cNvGrpSpPr/>
          <p:nvPr/>
        </p:nvGrpSpPr>
        <p:grpSpPr>
          <a:xfrm>
            <a:off x="8803975" y="3923700"/>
            <a:ext cx="822300" cy="2103000"/>
            <a:chOff x="9574400" y="2884300"/>
            <a:chExt cx="822300" cy="2103000"/>
          </a:xfrm>
        </p:grpSpPr>
        <p:sp>
          <p:nvSpPr>
            <p:cNvPr id="635" name="Google Shape;635;p33"/>
            <p:cNvSpPr/>
            <p:nvPr/>
          </p:nvSpPr>
          <p:spPr>
            <a:xfrm>
              <a:off x="9574400" y="2884300"/>
              <a:ext cx="822300" cy="2103000"/>
            </a:xfrm>
            <a:prstGeom prst="rect">
              <a:avLst/>
            </a:prstGeom>
            <a:solidFill>
              <a:srgbClr val="F3F3F3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36" name="Google Shape;636;p33"/>
            <p:cNvGrpSpPr/>
            <p:nvPr/>
          </p:nvGrpSpPr>
          <p:grpSpPr>
            <a:xfrm>
              <a:off x="9582392" y="3376118"/>
              <a:ext cx="806322" cy="1163511"/>
              <a:chOff x="1775100" y="4022850"/>
              <a:chExt cx="1076100" cy="1739700"/>
            </a:xfrm>
          </p:grpSpPr>
          <p:sp>
            <p:nvSpPr>
              <p:cNvPr id="637" name="Google Shape;637;p33"/>
              <p:cNvSpPr/>
              <p:nvPr/>
            </p:nvSpPr>
            <p:spPr>
              <a:xfrm>
                <a:off x="1775100" y="4022850"/>
                <a:ext cx="1076100" cy="1739700"/>
              </a:xfrm>
              <a:prstGeom prst="rect">
                <a:avLst/>
              </a:prstGeom>
              <a:solidFill>
                <a:srgbClr val="EFEFEF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638" name="Google Shape;638;p33"/>
              <p:cNvGrpSpPr/>
              <p:nvPr/>
            </p:nvGrpSpPr>
            <p:grpSpPr>
              <a:xfrm>
                <a:off x="1775100" y="4022850"/>
                <a:ext cx="1076100" cy="1739675"/>
                <a:chOff x="7948250" y="2813125"/>
                <a:chExt cx="1076100" cy="1739675"/>
              </a:xfrm>
            </p:grpSpPr>
            <p:sp>
              <p:nvSpPr>
                <p:cNvPr id="639" name="Google Shape;639;p33"/>
                <p:cNvSpPr/>
                <p:nvPr/>
              </p:nvSpPr>
              <p:spPr>
                <a:xfrm>
                  <a:off x="7948250" y="2813125"/>
                  <a:ext cx="1076100" cy="284400"/>
                </a:xfrm>
                <a:prstGeom prst="rect">
                  <a:avLst/>
                </a:prstGeom>
                <a:solidFill>
                  <a:srgbClr val="F4CCCC"/>
                </a:solidFill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800" b="1" dirty="0">
                      <a:latin typeface="Courier New"/>
                      <a:ea typeface="Courier New"/>
                      <a:cs typeface="Courier New"/>
                      <a:sym typeface="Courier New"/>
                    </a:rPr>
                    <a:t>Code</a:t>
                  </a:r>
                  <a:endParaRPr sz="800" b="1" dirty="0">
                    <a:latin typeface="Courier New"/>
                    <a:ea typeface="Courier New"/>
                    <a:cs typeface="Courier New"/>
                    <a:sym typeface="Courier New"/>
                  </a:endParaRPr>
                </a:p>
              </p:txBody>
            </p:sp>
            <p:sp>
              <p:nvSpPr>
                <p:cNvPr id="640" name="Google Shape;640;p33"/>
                <p:cNvSpPr/>
                <p:nvPr/>
              </p:nvSpPr>
              <p:spPr>
                <a:xfrm>
                  <a:off x="7950650" y="3085775"/>
                  <a:ext cx="1073100" cy="370800"/>
                </a:xfrm>
                <a:prstGeom prst="rect">
                  <a:avLst/>
                </a:prstGeom>
                <a:solidFill>
                  <a:srgbClr val="FFE599"/>
                </a:solidFill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800" b="1">
                      <a:latin typeface="Courier New"/>
                      <a:ea typeface="Courier New"/>
                      <a:cs typeface="Courier New"/>
                      <a:sym typeface="Courier New"/>
                    </a:rPr>
                    <a:t>Data</a:t>
                  </a:r>
                  <a:endParaRPr/>
                </a:p>
              </p:txBody>
            </p:sp>
            <p:sp>
              <p:nvSpPr>
                <p:cNvPr id="641" name="Google Shape;641;p33"/>
                <p:cNvSpPr/>
                <p:nvPr/>
              </p:nvSpPr>
              <p:spPr>
                <a:xfrm>
                  <a:off x="7948250" y="3406050"/>
                  <a:ext cx="1076100" cy="284400"/>
                </a:xfrm>
                <a:prstGeom prst="rect">
                  <a:avLst/>
                </a:prstGeom>
                <a:solidFill>
                  <a:srgbClr val="CFE2F3"/>
                </a:solidFill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800" b="1" dirty="0">
                      <a:latin typeface="Courier New"/>
                      <a:ea typeface="Courier New"/>
                      <a:cs typeface="Courier New"/>
                      <a:sym typeface="Courier New"/>
                    </a:rPr>
                    <a:t>heap</a:t>
                  </a:r>
                  <a:endParaRPr dirty="0"/>
                </a:p>
              </p:txBody>
            </p:sp>
            <p:sp>
              <p:nvSpPr>
                <p:cNvPr id="642" name="Google Shape;642;p33"/>
                <p:cNvSpPr/>
                <p:nvPr/>
              </p:nvSpPr>
              <p:spPr>
                <a:xfrm>
                  <a:off x="7948250" y="4268400"/>
                  <a:ext cx="1076100" cy="284400"/>
                </a:xfrm>
                <a:prstGeom prst="rect">
                  <a:avLst/>
                </a:prstGeom>
                <a:solidFill>
                  <a:srgbClr val="CFE2F3"/>
                </a:solidFill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800" b="1" dirty="0">
                      <a:latin typeface="Courier New"/>
                      <a:ea typeface="Courier New"/>
                      <a:cs typeface="Courier New"/>
                      <a:sym typeface="Courier New"/>
                    </a:rPr>
                    <a:t>stack</a:t>
                  </a:r>
                  <a:endParaRPr dirty="0"/>
                </a:p>
              </p:txBody>
            </p:sp>
            <p:cxnSp>
              <p:nvCxnSpPr>
                <p:cNvPr id="643" name="Google Shape;643;p33"/>
                <p:cNvCxnSpPr>
                  <a:stCxn id="641" idx="2"/>
                </p:cNvCxnSpPr>
                <p:nvPr/>
              </p:nvCxnSpPr>
              <p:spPr>
                <a:xfrm>
                  <a:off x="8486300" y="3690450"/>
                  <a:ext cx="6900" cy="2613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  <p:cxnSp>
              <p:nvCxnSpPr>
                <p:cNvPr id="644" name="Google Shape;644;p33"/>
                <p:cNvCxnSpPr>
                  <a:stCxn id="642" idx="0"/>
                </p:cNvCxnSpPr>
                <p:nvPr/>
              </p:nvCxnSpPr>
              <p:spPr>
                <a:xfrm rot="10800000" flipH="1">
                  <a:off x="8486300" y="4035600"/>
                  <a:ext cx="4200" cy="2328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</p:grpSp>
        </p:grpSp>
      </p:grpSp>
      <p:cxnSp>
        <p:nvCxnSpPr>
          <p:cNvPr id="645" name="Google Shape;645;p33"/>
          <p:cNvCxnSpPr/>
          <p:nvPr/>
        </p:nvCxnSpPr>
        <p:spPr>
          <a:xfrm>
            <a:off x="8032788" y="4393450"/>
            <a:ext cx="696000" cy="45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</p:cxnSp>
      <p:grpSp>
        <p:nvGrpSpPr>
          <p:cNvPr id="646" name="Google Shape;646;p33"/>
          <p:cNvGrpSpPr/>
          <p:nvPr/>
        </p:nvGrpSpPr>
        <p:grpSpPr>
          <a:xfrm>
            <a:off x="952504" y="3463442"/>
            <a:ext cx="2340362" cy="3023498"/>
            <a:chOff x="8005450" y="1566825"/>
            <a:chExt cx="3308400" cy="4491900"/>
          </a:xfrm>
        </p:grpSpPr>
        <p:sp>
          <p:nvSpPr>
            <p:cNvPr id="647" name="Google Shape;647;p33"/>
            <p:cNvSpPr/>
            <p:nvPr/>
          </p:nvSpPr>
          <p:spPr>
            <a:xfrm>
              <a:off x="8005450" y="1566825"/>
              <a:ext cx="3308400" cy="4491900"/>
            </a:xfrm>
            <a:prstGeom prst="rect">
              <a:avLst/>
            </a:prstGeom>
            <a:solidFill>
              <a:srgbClr val="FFE599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3000" b="1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648" name="Google Shape;648;p33"/>
            <p:cNvSpPr txBox="1"/>
            <p:nvPr/>
          </p:nvSpPr>
          <p:spPr>
            <a:xfrm>
              <a:off x="8597250" y="1637048"/>
              <a:ext cx="2103000" cy="73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b="1">
                  <a:latin typeface="Consolas"/>
                  <a:ea typeface="Consolas"/>
                  <a:cs typeface="Consolas"/>
                  <a:sym typeface="Consolas"/>
                </a:rPr>
                <a:t>Chip CPU</a:t>
              </a:r>
              <a:endParaRPr sz="2000" b="1"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grpSp>
          <p:nvGrpSpPr>
            <p:cNvPr id="649" name="Google Shape;649;p33"/>
            <p:cNvGrpSpPr/>
            <p:nvPr/>
          </p:nvGrpSpPr>
          <p:grpSpPr>
            <a:xfrm>
              <a:off x="8483375" y="2266040"/>
              <a:ext cx="2216875" cy="3163135"/>
              <a:chOff x="8483375" y="2266040"/>
              <a:chExt cx="2216875" cy="3163135"/>
            </a:xfrm>
          </p:grpSpPr>
          <p:sp>
            <p:nvSpPr>
              <p:cNvPr id="650" name="Google Shape;650;p33"/>
              <p:cNvSpPr/>
              <p:nvPr/>
            </p:nvSpPr>
            <p:spPr>
              <a:xfrm>
                <a:off x="9154350" y="2266040"/>
                <a:ext cx="988800" cy="995400"/>
              </a:xfrm>
              <a:prstGeom prst="ellipse">
                <a:avLst/>
              </a:prstGeom>
              <a:solidFill>
                <a:srgbClr val="EA9999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 b="1">
                    <a:latin typeface="Consolas"/>
                    <a:ea typeface="Consolas"/>
                    <a:cs typeface="Consolas"/>
                    <a:sym typeface="Consolas"/>
                  </a:rPr>
                  <a:t>CPU</a:t>
                </a:r>
                <a:endParaRPr sz="1600" b="1">
                  <a:latin typeface="Consolas"/>
                  <a:ea typeface="Consolas"/>
                  <a:cs typeface="Consolas"/>
                  <a:sym typeface="Consolas"/>
                </a:endParaRPr>
              </a:p>
            </p:txBody>
          </p:sp>
          <p:cxnSp>
            <p:nvCxnSpPr>
              <p:cNvPr id="651" name="Google Shape;651;p33"/>
              <p:cNvCxnSpPr>
                <a:stCxn id="650" idx="4"/>
                <a:endCxn id="652" idx="0"/>
              </p:cNvCxnSpPr>
              <p:nvPr/>
            </p:nvCxnSpPr>
            <p:spPr>
              <a:xfrm>
                <a:off x="9648750" y="3261440"/>
                <a:ext cx="0" cy="4566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grpSp>
            <p:nvGrpSpPr>
              <p:cNvPr id="653" name="Google Shape;653;p33"/>
              <p:cNvGrpSpPr/>
              <p:nvPr/>
            </p:nvGrpSpPr>
            <p:grpSpPr>
              <a:xfrm>
                <a:off x="8483375" y="3717975"/>
                <a:ext cx="2216875" cy="1711200"/>
                <a:chOff x="8483375" y="3717975"/>
                <a:chExt cx="2216875" cy="1711200"/>
              </a:xfrm>
            </p:grpSpPr>
            <p:grpSp>
              <p:nvGrpSpPr>
                <p:cNvPr id="654" name="Google Shape;654;p33"/>
                <p:cNvGrpSpPr/>
                <p:nvPr/>
              </p:nvGrpSpPr>
              <p:grpSpPr>
                <a:xfrm>
                  <a:off x="8597250" y="3717975"/>
                  <a:ext cx="2103000" cy="1711200"/>
                  <a:chOff x="8597250" y="3717975"/>
                  <a:chExt cx="2103000" cy="1711200"/>
                </a:xfrm>
              </p:grpSpPr>
              <p:sp>
                <p:nvSpPr>
                  <p:cNvPr id="652" name="Google Shape;652;p33"/>
                  <p:cNvSpPr/>
                  <p:nvPr/>
                </p:nvSpPr>
                <p:spPr>
                  <a:xfrm>
                    <a:off x="8597250" y="3717975"/>
                    <a:ext cx="2103000" cy="1711200"/>
                  </a:xfrm>
                  <a:prstGeom prst="rect">
                    <a:avLst/>
                  </a:prstGeom>
                  <a:solidFill>
                    <a:srgbClr val="B6D7A8"/>
                  </a:solidFill>
                  <a:ln w="9525" cap="flat" cmpd="sng">
                    <a:solidFill>
                      <a:schemeClr val="dk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b="1">
                      <a:latin typeface="Consolas"/>
                      <a:ea typeface="Consolas"/>
                      <a:cs typeface="Consolas"/>
                      <a:sym typeface="Consolas"/>
                    </a:endParaRPr>
                  </a:p>
                </p:txBody>
              </p:sp>
              <p:sp>
                <p:nvSpPr>
                  <p:cNvPr id="655" name="Google Shape;655;p33"/>
                  <p:cNvSpPr txBox="1"/>
                  <p:nvPr/>
                </p:nvSpPr>
                <p:spPr>
                  <a:xfrm>
                    <a:off x="9216100" y="3718050"/>
                    <a:ext cx="887100" cy="5946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91425" tIns="91425" rIns="91425" bIns="91425" anchor="t" anchorCtr="0">
                    <a:spAutoFit/>
                  </a:bodyPr>
                  <a:lstStyle/>
                  <a:p>
                    <a:pPr marL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es-ES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rPr>
                      <a:t>MMU</a:t>
                    </a:r>
                    <a:endParaRPr sz="800" b="1">
                      <a:solidFill>
                        <a:schemeClr val="dk1"/>
                      </a:solidFill>
                      <a:latin typeface="Consolas"/>
                      <a:ea typeface="Consolas"/>
                      <a:cs typeface="Consolas"/>
                      <a:sym typeface="Consolas"/>
                    </a:endParaRPr>
                  </a:p>
                </p:txBody>
              </p:sp>
            </p:grpSp>
            <p:grpSp>
              <p:nvGrpSpPr>
                <p:cNvPr id="656" name="Google Shape;656;p33"/>
                <p:cNvGrpSpPr/>
                <p:nvPr/>
              </p:nvGrpSpPr>
              <p:grpSpPr>
                <a:xfrm>
                  <a:off x="8638450" y="4265550"/>
                  <a:ext cx="1901250" cy="548700"/>
                  <a:chOff x="8638450" y="4265550"/>
                  <a:chExt cx="1901250" cy="548700"/>
                </a:xfrm>
              </p:grpSpPr>
              <p:sp>
                <p:nvSpPr>
                  <p:cNvPr id="657" name="Google Shape;657;p33"/>
                  <p:cNvSpPr/>
                  <p:nvPr/>
                </p:nvSpPr>
                <p:spPr>
                  <a:xfrm>
                    <a:off x="9550900" y="4344300"/>
                    <a:ext cx="988800" cy="308100"/>
                  </a:xfrm>
                  <a:prstGeom prst="rect">
                    <a:avLst/>
                  </a:prstGeom>
                  <a:solidFill>
                    <a:schemeClr val="lt2"/>
                  </a:solidFill>
                  <a:ln w="9525" cap="flat" cmpd="sng">
                    <a:solidFill>
                      <a:schemeClr val="dk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658" name="Google Shape;658;p33"/>
                  <p:cNvSpPr txBox="1"/>
                  <p:nvPr/>
                </p:nvSpPr>
                <p:spPr>
                  <a:xfrm>
                    <a:off x="8638450" y="4265550"/>
                    <a:ext cx="887100" cy="5487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91425" tIns="91425" rIns="91425" bIns="91425" anchor="t" anchorCtr="0">
                    <a:spAutoFit/>
                  </a:bodyPr>
                  <a:lstStyle/>
                  <a:p>
                    <a:pPr marL="0" lvl="0" indent="0" algn="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es-ES" sz="12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rPr>
                      <a:t>base</a:t>
                    </a:r>
                    <a:endParaRPr sz="600" b="1">
                      <a:solidFill>
                        <a:schemeClr val="dk1"/>
                      </a:solidFill>
                      <a:latin typeface="Consolas"/>
                      <a:ea typeface="Consolas"/>
                      <a:cs typeface="Consolas"/>
                      <a:sym typeface="Consolas"/>
                    </a:endParaRPr>
                  </a:p>
                </p:txBody>
              </p:sp>
            </p:grpSp>
            <p:grpSp>
              <p:nvGrpSpPr>
                <p:cNvPr id="659" name="Google Shape;659;p33"/>
                <p:cNvGrpSpPr/>
                <p:nvPr/>
              </p:nvGrpSpPr>
              <p:grpSpPr>
                <a:xfrm>
                  <a:off x="8483375" y="4782162"/>
                  <a:ext cx="2056325" cy="548700"/>
                  <a:chOff x="8483375" y="4782162"/>
                  <a:chExt cx="2056325" cy="548700"/>
                </a:xfrm>
              </p:grpSpPr>
              <p:sp>
                <p:nvSpPr>
                  <p:cNvPr id="660" name="Google Shape;660;p33"/>
                  <p:cNvSpPr/>
                  <p:nvPr/>
                </p:nvSpPr>
                <p:spPr>
                  <a:xfrm>
                    <a:off x="9550900" y="4858350"/>
                    <a:ext cx="988800" cy="308100"/>
                  </a:xfrm>
                  <a:prstGeom prst="rect">
                    <a:avLst/>
                  </a:prstGeom>
                  <a:solidFill>
                    <a:schemeClr val="lt2"/>
                  </a:solidFill>
                  <a:ln w="9525" cap="flat" cmpd="sng">
                    <a:solidFill>
                      <a:schemeClr val="dk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661" name="Google Shape;661;p33"/>
                  <p:cNvSpPr txBox="1"/>
                  <p:nvPr/>
                </p:nvSpPr>
                <p:spPr>
                  <a:xfrm>
                    <a:off x="8483375" y="4782162"/>
                    <a:ext cx="1092900" cy="5487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91425" tIns="91425" rIns="91425" bIns="91425" anchor="t" anchorCtr="0">
                    <a:spAutoFit/>
                  </a:bodyPr>
                  <a:lstStyle/>
                  <a:p>
                    <a:pPr marL="0" lvl="0" indent="0" algn="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es-ES" sz="1200" b="1" dirty="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rPr>
                      <a:t>bounds</a:t>
                    </a:r>
                    <a:endParaRPr sz="600" b="1" dirty="0">
                      <a:solidFill>
                        <a:schemeClr val="dk1"/>
                      </a:solidFill>
                      <a:latin typeface="Consolas"/>
                      <a:ea typeface="Consolas"/>
                      <a:cs typeface="Consolas"/>
                      <a:sym typeface="Consolas"/>
                    </a:endParaRPr>
                  </a:p>
                </p:txBody>
              </p:sp>
            </p:grpSp>
          </p:grpSp>
        </p:grpSp>
      </p:grpSp>
      <p:sp>
        <p:nvSpPr>
          <p:cNvPr id="662" name="Google Shape;662;p33"/>
          <p:cNvSpPr/>
          <p:nvPr/>
        </p:nvSpPr>
        <p:spPr>
          <a:xfrm>
            <a:off x="3700550" y="3752250"/>
            <a:ext cx="602700" cy="648300"/>
          </a:xfrm>
          <a:prstGeom prst="ellipse">
            <a:avLst/>
          </a:prstGeom>
          <a:solidFill>
            <a:srgbClr val="C9DAF8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>
                <a:latin typeface="Consolas"/>
                <a:ea typeface="Consolas"/>
                <a:cs typeface="Consolas"/>
                <a:sym typeface="Consolas"/>
              </a:rPr>
              <a:t>P1</a:t>
            </a:r>
            <a:endParaRPr sz="16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63" name="Google Shape;663;p33"/>
          <p:cNvSpPr/>
          <p:nvPr/>
        </p:nvSpPr>
        <p:spPr>
          <a:xfrm>
            <a:off x="3700550" y="5431975"/>
            <a:ext cx="602700" cy="648300"/>
          </a:xfrm>
          <a:prstGeom prst="ellipse">
            <a:avLst/>
          </a:prstGeom>
          <a:solidFill>
            <a:srgbClr val="F4CCCC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 dirty="0">
                <a:latin typeface="Consolas"/>
                <a:ea typeface="Consolas"/>
                <a:cs typeface="Consolas"/>
                <a:sym typeface="Consolas"/>
              </a:rPr>
              <a:t>P2</a:t>
            </a:r>
            <a:endParaRPr sz="16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grpSp>
        <p:nvGrpSpPr>
          <p:cNvPr id="664" name="Google Shape;664;p33"/>
          <p:cNvGrpSpPr/>
          <p:nvPr/>
        </p:nvGrpSpPr>
        <p:grpSpPr>
          <a:xfrm>
            <a:off x="4710925" y="3301750"/>
            <a:ext cx="1191600" cy="1270250"/>
            <a:chOff x="4710925" y="3301750"/>
            <a:chExt cx="1191600" cy="1270250"/>
          </a:xfrm>
        </p:grpSpPr>
        <p:grpSp>
          <p:nvGrpSpPr>
            <p:cNvPr id="665" name="Google Shape;665;p33"/>
            <p:cNvGrpSpPr/>
            <p:nvPr/>
          </p:nvGrpSpPr>
          <p:grpSpPr>
            <a:xfrm>
              <a:off x="4710925" y="3580800"/>
              <a:ext cx="1191600" cy="991200"/>
              <a:chOff x="4710925" y="3580800"/>
              <a:chExt cx="1191600" cy="991200"/>
            </a:xfrm>
          </p:grpSpPr>
          <p:sp>
            <p:nvSpPr>
              <p:cNvPr id="666" name="Google Shape;666;p33"/>
              <p:cNvSpPr/>
              <p:nvPr/>
            </p:nvSpPr>
            <p:spPr>
              <a:xfrm>
                <a:off x="4710925" y="3580800"/>
                <a:ext cx="1191600" cy="991200"/>
              </a:xfrm>
              <a:prstGeom prst="roundRect">
                <a:avLst>
                  <a:gd name="adj" fmla="val 16667"/>
                </a:avLst>
              </a:prstGeom>
              <a:solidFill>
                <a:srgbClr val="C9DAF8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667" name="Google Shape;667;p33"/>
              <p:cNvGrpSpPr/>
              <p:nvPr/>
            </p:nvGrpSpPr>
            <p:grpSpPr>
              <a:xfrm>
                <a:off x="4820975" y="3752250"/>
                <a:ext cx="1014598" cy="338700"/>
                <a:chOff x="4820975" y="3752250"/>
                <a:chExt cx="1014598" cy="338700"/>
              </a:xfrm>
            </p:grpSpPr>
            <p:sp>
              <p:nvSpPr>
                <p:cNvPr id="668" name="Google Shape;668;p33"/>
                <p:cNvSpPr txBox="1"/>
                <p:nvPr/>
              </p:nvSpPr>
              <p:spPr>
                <a:xfrm>
                  <a:off x="4820975" y="3752250"/>
                  <a:ext cx="478800" cy="338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t" anchorCtr="0">
                  <a:spAutoFit/>
                </a:bodyPr>
                <a:lstStyle/>
                <a:p>
                  <a:pPr marL="0" lvl="0" indent="0" algn="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1000" b="1">
                      <a:solidFill>
                        <a:schemeClr val="dk1"/>
                      </a:solidFill>
                      <a:latin typeface="Consolas"/>
                      <a:ea typeface="Consolas"/>
                      <a:cs typeface="Consolas"/>
                      <a:sym typeface="Consolas"/>
                    </a:rPr>
                    <a:t>base</a:t>
                  </a:r>
                  <a:endParaRPr sz="400" b="1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endParaRPr>
                </a:p>
              </p:txBody>
            </p:sp>
            <p:sp>
              <p:nvSpPr>
                <p:cNvPr id="669" name="Google Shape;669;p33"/>
                <p:cNvSpPr/>
                <p:nvPr/>
              </p:nvSpPr>
              <p:spPr>
                <a:xfrm>
                  <a:off x="5299773" y="3817950"/>
                  <a:ext cx="535800" cy="207300"/>
                </a:xfrm>
                <a:prstGeom prst="rect">
                  <a:avLst/>
                </a:prstGeom>
                <a:solidFill>
                  <a:srgbClr val="FFF2CC"/>
                </a:solidFill>
                <a:ln w="9525" cap="flat" cmpd="sng">
                  <a:solidFill>
                    <a:schemeClr val="dk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670" name="Google Shape;670;p33"/>
              <p:cNvGrpSpPr/>
              <p:nvPr/>
            </p:nvGrpSpPr>
            <p:grpSpPr>
              <a:xfrm>
                <a:off x="4710926" y="4090950"/>
                <a:ext cx="1124648" cy="338700"/>
                <a:chOff x="4710926" y="4090950"/>
                <a:chExt cx="1124648" cy="338700"/>
              </a:xfrm>
            </p:grpSpPr>
            <p:sp>
              <p:nvSpPr>
                <p:cNvPr id="671" name="Google Shape;671;p33"/>
                <p:cNvSpPr txBox="1"/>
                <p:nvPr/>
              </p:nvSpPr>
              <p:spPr>
                <a:xfrm>
                  <a:off x="4710926" y="4090950"/>
                  <a:ext cx="602700" cy="338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t" anchorCtr="0">
                  <a:spAutoFit/>
                </a:bodyPr>
                <a:lstStyle/>
                <a:p>
                  <a:pPr marL="0" lvl="0" indent="0" algn="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1000" b="1" dirty="0">
                      <a:solidFill>
                        <a:schemeClr val="dk1"/>
                      </a:solidFill>
                      <a:latin typeface="Consolas"/>
                      <a:ea typeface="Consolas"/>
                      <a:cs typeface="Consolas"/>
                      <a:sym typeface="Consolas"/>
                    </a:rPr>
                    <a:t>bounds</a:t>
                  </a:r>
                  <a:endParaRPr sz="400" b="1" dirty="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endParaRPr>
                </a:p>
              </p:txBody>
            </p:sp>
            <p:sp>
              <p:nvSpPr>
                <p:cNvPr id="672" name="Google Shape;672;p33"/>
                <p:cNvSpPr/>
                <p:nvPr/>
              </p:nvSpPr>
              <p:spPr>
                <a:xfrm>
                  <a:off x="5299773" y="4156650"/>
                  <a:ext cx="535800" cy="207300"/>
                </a:xfrm>
                <a:prstGeom prst="rect">
                  <a:avLst/>
                </a:prstGeom>
                <a:solidFill>
                  <a:srgbClr val="FFF2CC"/>
                </a:solidFill>
                <a:ln w="9525" cap="flat" cmpd="sng">
                  <a:solidFill>
                    <a:schemeClr val="dk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sp>
          <p:nvSpPr>
            <p:cNvPr id="673" name="Google Shape;673;p33"/>
            <p:cNvSpPr txBox="1"/>
            <p:nvPr/>
          </p:nvSpPr>
          <p:spPr>
            <a:xfrm>
              <a:off x="4918225" y="3301750"/>
              <a:ext cx="777000" cy="338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000" b="1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PCB(P1)</a:t>
              </a:r>
              <a:endParaRPr sz="400" b="1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  <p:grpSp>
        <p:nvGrpSpPr>
          <p:cNvPr id="674" name="Google Shape;674;p33"/>
          <p:cNvGrpSpPr/>
          <p:nvPr/>
        </p:nvGrpSpPr>
        <p:grpSpPr>
          <a:xfrm>
            <a:off x="4710925" y="5034725"/>
            <a:ext cx="1191600" cy="1266575"/>
            <a:chOff x="4710925" y="4760125"/>
            <a:chExt cx="1191600" cy="1266575"/>
          </a:xfrm>
        </p:grpSpPr>
        <p:grpSp>
          <p:nvGrpSpPr>
            <p:cNvPr id="675" name="Google Shape;675;p33"/>
            <p:cNvGrpSpPr/>
            <p:nvPr/>
          </p:nvGrpSpPr>
          <p:grpSpPr>
            <a:xfrm>
              <a:off x="4710925" y="5035500"/>
              <a:ext cx="1191600" cy="991200"/>
              <a:chOff x="4710925" y="3580800"/>
              <a:chExt cx="1191600" cy="991200"/>
            </a:xfrm>
          </p:grpSpPr>
          <p:sp>
            <p:nvSpPr>
              <p:cNvPr id="676" name="Google Shape;676;p33"/>
              <p:cNvSpPr/>
              <p:nvPr/>
            </p:nvSpPr>
            <p:spPr>
              <a:xfrm>
                <a:off x="4710925" y="3580800"/>
                <a:ext cx="1191600" cy="991200"/>
              </a:xfrm>
              <a:prstGeom prst="roundRect">
                <a:avLst>
                  <a:gd name="adj" fmla="val 16667"/>
                </a:avLst>
              </a:prstGeom>
              <a:solidFill>
                <a:srgbClr val="F4CCCC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677" name="Google Shape;677;p33"/>
              <p:cNvGrpSpPr/>
              <p:nvPr/>
            </p:nvGrpSpPr>
            <p:grpSpPr>
              <a:xfrm>
                <a:off x="4820975" y="3752250"/>
                <a:ext cx="1014598" cy="338700"/>
                <a:chOff x="4820975" y="3752250"/>
                <a:chExt cx="1014598" cy="338700"/>
              </a:xfrm>
            </p:grpSpPr>
            <p:sp>
              <p:nvSpPr>
                <p:cNvPr id="678" name="Google Shape;678;p33"/>
                <p:cNvSpPr txBox="1"/>
                <p:nvPr/>
              </p:nvSpPr>
              <p:spPr>
                <a:xfrm>
                  <a:off x="4820975" y="3752250"/>
                  <a:ext cx="478800" cy="338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t" anchorCtr="0">
                  <a:spAutoFit/>
                </a:bodyPr>
                <a:lstStyle/>
                <a:p>
                  <a:pPr marL="0" lvl="0" indent="0" algn="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1000" b="1">
                      <a:solidFill>
                        <a:schemeClr val="dk1"/>
                      </a:solidFill>
                      <a:latin typeface="Consolas"/>
                      <a:ea typeface="Consolas"/>
                      <a:cs typeface="Consolas"/>
                      <a:sym typeface="Consolas"/>
                    </a:rPr>
                    <a:t>base</a:t>
                  </a:r>
                  <a:endParaRPr sz="400" b="1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endParaRPr>
                </a:p>
              </p:txBody>
            </p:sp>
            <p:sp>
              <p:nvSpPr>
                <p:cNvPr id="679" name="Google Shape;679;p33"/>
                <p:cNvSpPr/>
                <p:nvPr/>
              </p:nvSpPr>
              <p:spPr>
                <a:xfrm>
                  <a:off x="5299773" y="3817950"/>
                  <a:ext cx="535800" cy="207300"/>
                </a:xfrm>
                <a:prstGeom prst="rect">
                  <a:avLst/>
                </a:prstGeom>
                <a:solidFill>
                  <a:srgbClr val="FFF2CC"/>
                </a:solidFill>
                <a:ln w="9525" cap="flat" cmpd="sng">
                  <a:solidFill>
                    <a:schemeClr val="dk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680" name="Google Shape;680;p33"/>
              <p:cNvGrpSpPr/>
              <p:nvPr/>
            </p:nvGrpSpPr>
            <p:grpSpPr>
              <a:xfrm>
                <a:off x="4710926" y="4090950"/>
                <a:ext cx="1124648" cy="338700"/>
                <a:chOff x="4710926" y="4090950"/>
                <a:chExt cx="1124648" cy="338700"/>
              </a:xfrm>
            </p:grpSpPr>
            <p:sp>
              <p:nvSpPr>
                <p:cNvPr id="681" name="Google Shape;681;p33"/>
                <p:cNvSpPr txBox="1"/>
                <p:nvPr/>
              </p:nvSpPr>
              <p:spPr>
                <a:xfrm>
                  <a:off x="4710926" y="4090950"/>
                  <a:ext cx="602700" cy="338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t" anchorCtr="0">
                  <a:spAutoFit/>
                </a:bodyPr>
                <a:lstStyle/>
                <a:p>
                  <a:pPr marL="0" lvl="0" indent="0" algn="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1000" b="1" dirty="0">
                      <a:solidFill>
                        <a:schemeClr val="dk1"/>
                      </a:solidFill>
                      <a:latin typeface="Consolas"/>
                      <a:ea typeface="Consolas"/>
                      <a:cs typeface="Consolas"/>
                      <a:sym typeface="Consolas"/>
                    </a:rPr>
                    <a:t>bounds</a:t>
                  </a:r>
                  <a:endParaRPr sz="400" b="1" dirty="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endParaRPr>
                </a:p>
              </p:txBody>
            </p:sp>
            <p:sp>
              <p:nvSpPr>
                <p:cNvPr id="682" name="Google Shape;682;p33"/>
                <p:cNvSpPr/>
                <p:nvPr/>
              </p:nvSpPr>
              <p:spPr>
                <a:xfrm>
                  <a:off x="5299773" y="4156650"/>
                  <a:ext cx="535800" cy="207300"/>
                </a:xfrm>
                <a:prstGeom prst="rect">
                  <a:avLst/>
                </a:prstGeom>
                <a:solidFill>
                  <a:srgbClr val="FFF2CC"/>
                </a:solidFill>
                <a:ln w="9525" cap="flat" cmpd="sng">
                  <a:solidFill>
                    <a:schemeClr val="dk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sp>
          <p:nvSpPr>
            <p:cNvPr id="683" name="Google Shape;683;p33"/>
            <p:cNvSpPr txBox="1"/>
            <p:nvPr/>
          </p:nvSpPr>
          <p:spPr>
            <a:xfrm>
              <a:off x="4896500" y="4760125"/>
              <a:ext cx="777000" cy="338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000" b="1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PCB(P2)</a:t>
              </a:r>
              <a:endParaRPr sz="400" b="1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  <p:sp>
        <p:nvSpPr>
          <p:cNvPr id="684" name="Google Shape;684;p33"/>
          <p:cNvSpPr/>
          <p:nvPr/>
        </p:nvSpPr>
        <p:spPr>
          <a:xfrm>
            <a:off x="9706575" y="5014025"/>
            <a:ext cx="134100" cy="348300"/>
          </a:xfrm>
          <a:prstGeom prst="rightBrace">
            <a:avLst>
              <a:gd name="adj1" fmla="val 50000"/>
              <a:gd name="adj2" fmla="val 50000"/>
            </a:avLst>
          </a:prstGeom>
          <a:noFill/>
          <a:ln w="190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685" name="Google Shape;685;p33"/>
          <p:cNvCxnSpPr/>
          <p:nvPr/>
        </p:nvCxnSpPr>
        <p:spPr>
          <a:xfrm>
            <a:off x="8032788" y="5556950"/>
            <a:ext cx="696000" cy="45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686" name="Google Shape;686;p33"/>
          <p:cNvSpPr txBox="1"/>
          <p:nvPr/>
        </p:nvSpPr>
        <p:spPr>
          <a:xfrm>
            <a:off x="9920975" y="4849625"/>
            <a:ext cx="1830900" cy="6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Fragmentación interna</a:t>
            </a:r>
            <a:endParaRPr sz="1000">
              <a:solidFill>
                <a:srgbClr val="FF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Google Shape;691;p3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latin typeface="+mj-lt"/>
              </a:rPr>
              <a:t>Pregunta clave</a:t>
            </a:r>
            <a:endParaRPr dirty="0">
              <a:latin typeface="+mj-lt"/>
            </a:endParaRPr>
          </a:p>
        </p:txBody>
      </p:sp>
      <p:sp>
        <p:nvSpPr>
          <p:cNvPr id="693" name="Google Shape;693;p34"/>
          <p:cNvSpPr txBox="1"/>
          <p:nvPr/>
        </p:nvSpPr>
        <p:spPr>
          <a:xfrm>
            <a:off x="626021" y="1086707"/>
            <a:ext cx="10980959" cy="1323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600" b="1" dirty="0">
                <a:latin typeface="Roboto"/>
                <a:ea typeface="Roboto"/>
                <a:cs typeface="Roboto"/>
                <a:sym typeface="Roboto"/>
              </a:rPr>
              <a:t>¿Como soportar grandes espacio de d</a:t>
            </a:r>
            <a:r>
              <a:rPr lang="es-ES" sz="26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</a:t>
            </a:r>
            <a:r>
              <a:rPr lang="es-ES" sz="2600" b="1" dirty="0">
                <a:latin typeface="Roboto"/>
                <a:ea typeface="Roboto"/>
                <a:cs typeface="Roboto"/>
                <a:sym typeface="Roboto"/>
              </a:rPr>
              <a:t>recciones?</a:t>
            </a:r>
            <a:endParaRPr sz="2600" b="1" dirty="0">
              <a:latin typeface="Roboto"/>
              <a:ea typeface="Roboto"/>
              <a:cs typeface="Roboto"/>
              <a:sym typeface="Roboto"/>
            </a:endParaRPr>
          </a:p>
          <a:p>
            <a:pPr marL="419100" lvl="0" indent="-342900" algn="l" rtl="0">
              <a:spcBef>
                <a:spcPts val="0"/>
              </a:spcBef>
              <a:spcAft>
                <a:spcPts val="0"/>
              </a:spcAft>
              <a:buSzPts val="2400"/>
              <a:buFont typeface="Arial" panose="020B0604020202020204" pitchFamily="34" charset="0"/>
              <a:buChar char="•"/>
            </a:pPr>
            <a:r>
              <a:rPr lang="es-ES" sz="2400" dirty="0">
                <a:latin typeface="Roboto"/>
                <a:ea typeface="Roboto"/>
                <a:cs typeface="Roboto"/>
                <a:sym typeface="Roboto"/>
              </a:rPr>
              <a:t>¿Cómo soportar un espacio de direcciones grande con un (potencial) espacio libre grande  entre el stack y el heap?</a:t>
            </a:r>
            <a:endParaRPr sz="2400" dirty="0"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694" name="Google Shape;694;p34"/>
          <p:cNvGrpSpPr/>
          <p:nvPr/>
        </p:nvGrpSpPr>
        <p:grpSpPr>
          <a:xfrm>
            <a:off x="4284854" y="4018393"/>
            <a:ext cx="806322" cy="1163511"/>
            <a:chOff x="1775100" y="4022850"/>
            <a:chExt cx="1076100" cy="1739700"/>
          </a:xfrm>
        </p:grpSpPr>
        <p:sp>
          <p:nvSpPr>
            <p:cNvPr id="695" name="Google Shape;695;p34"/>
            <p:cNvSpPr/>
            <p:nvPr/>
          </p:nvSpPr>
          <p:spPr>
            <a:xfrm>
              <a:off x="1775100" y="4022850"/>
              <a:ext cx="1076100" cy="1739700"/>
            </a:xfrm>
            <a:prstGeom prst="rect">
              <a:avLst/>
            </a:prstGeom>
            <a:solidFill>
              <a:srgbClr val="EFEFEF"/>
            </a:solidFill>
            <a:ln w="19050" cap="flat" cmpd="sng">
              <a:solidFill>
                <a:srgbClr val="22222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96" name="Google Shape;696;p34"/>
            <p:cNvGrpSpPr/>
            <p:nvPr/>
          </p:nvGrpSpPr>
          <p:grpSpPr>
            <a:xfrm>
              <a:off x="1775100" y="4022850"/>
              <a:ext cx="1076100" cy="1739675"/>
              <a:chOff x="7948250" y="2813125"/>
              <a:chExt cx="1076100" cy="1739675"/>
            </a:xfrm>
          </p:grpSpPr>
          <p:sp>
            <p:nvSpPr>
              <p:cNvPr id="697" name="Google Shape;697;p34"/>
              <p:cNvSpPr/>
              <p:nvPr/>
            </p:nvSpPr>
            <p:spPr>
              <a:xfrm>
                <a:off x="7948250" y="2813125"/>
                <a:ext cx="1076100" cy="284400"/>
              </a:xfrm>
              <a:prstGeom prst="rect">
                <a:avLst/>
              </a:prstGeom>
              <a:solidFill>
                <a:srgbClr val="F4CCCC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800" b="1" dirty="0">
                    <a:latin typeface="Courier New"/>
                    <a:ea typeface="Courier New"/>
                    <a:cs typeface="Courier New"/>
                    <a:sym typeface="Courier New"/>
                  </a:rPr>
                  <a:t>Code</a:t>
                </a:r>
                <a:endParaRPr sz="800" b="1" dirty="0"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  <p:sp>
            <p:nvSpPr>
              <p:cNvPr id="698" name="Google Shape;698;p34"/>
              <p:cNvSpPr/>
              <p:nvPr/>
            </p:nvSpPr>
            <p:spPr>
              <a:xfrm>
                <a:off x="7950650" y="3085775"/>
                <a:ext cx="1073100" cy="370800"/>
              </a:xfrm>
              <a:prstGeom prst="rect">
                <a:avLst/>
              </a:prstGeom>
              <a:solidFill>
                <a:srgbClr val="FFE599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800" b="1">
                    <a:latin typeface="Courier New"/>
                    <a:ea typeface="Courier New"/>
                    <a:cs typeface="Courier New"/>
                    <a:sym typeface="Courier New"/>
                  </a:rPr>
                  <a:t>Data</a:t>
                </a:r>
                <a:endParaRPr/>
              </a:p>
            </p:txBody>
          </p:sp>
          <p:sp>
            <p:nvSpPr>
              <p:cNvPr id="699" name="Google Shape;699;p34"/>
              <p:cNvSpPr/>
              <p:nvPr/>
            </p:nvSpPr>
            <p:spPr>
              <a:xfrm>
                <a:off x="7948250" y="3406050"/>
                <a:ext cx="1076100" cy="284400"/>
              </a:xfrm>
              <a:prstGeom prst="rect">
                <a:avLst/>
              </a:prstGeom>
              <a:solidFill>
                <a:srgbClr val="CFE2F3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800" b="1" dirty="0">
                    <a:latin typeface="Courier New"/>
                    <a:ea typeface="Courier New"/>
                    <a:cs typeface="Courier New"/>
                    <a:sym typeface="Courier New"/>
                  </a:rPr>
                  <a:t>heap</a:t>
                </a:r>
                <a:endParaRPr dirty="0"/>
              </a:p>
            </p:txBody>
          </p:sp>
          <p:sp>
            <p:nvSpPr>
              <p:cNvPr id="700" name="Google Shape;700;p34"/>
              <p:cNvSpPr/>
              <p:nvPr/>
            </p:nvSpPr>
            <p:spPr>
              <a:xfrm>
                <a:off x="7948250" y="4268400"/>
                <a:ext cx="1076100" cy="284400"/>
              </a:xfrm>
              <a:prstGeom prst="rect">
                <a:avLst/>
              </a:prstGeom>
              <a:solidFill>
                <a:srgbClr val="CFE2F3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800" b="1" dirty="0">
                    <a:latin typeface="Courier New"/>
                    <a:ea typeface="Courier New"/>
                    <a:cs typeface="Courier New"/>
                    <a:sym typeface="Courier New"/>
                  </a:rPr>
                  <a:t>stack</a:t>
                </a:r>
                <a:endParaRPr dirty="0"/>
              </a:p>
            </p:txBody>
          </p:sp>
          <p:cxnSp>
            <p:nvCxnSpPr>
              <p:cNvPr id="701" name="Google Shape;701;p34"/>
              <p:cNvCxnSpPr>
                <a:stCxn id="699" idx="2"/>
              </p:cNvCxnSpPr>
              <p:nvPr/>
            </p:nvCxnSpPr>
            <p:spPr>
              <a:xfrm>
                <a:off x="8486300" y="3690450"/>
                <a:ext cx="6900" cy="2613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702" name="Google Shape;702;p34"/>
              <p:cNvCxnSpPr>
                <a:stCxn id="700" idx="0"/>
              </p:cNvCxnSpPr>
              <p:nvPr/>
            </p:nvCxnSpPr>
            <p:spPr>
              <a:xfrm rot="10800000" flipH="1">
                <a:off x="8486300" y="4035600"/>
                <a:ext cx="4200" cy="2328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</p:grpSp>
      </p:grpSp>
      <p:grpSp>
        <p:nvGrpSpPr>
          <p:cNvPr id="703" name="Google Shape;703;p34"/>
          <p:cNvGrpSpPr/>
          <p:nvPr/>
        </p:nvGrpSpPr>
        <p:grpSpPr>
          <a:xfrm>
            <a:off x="5937525" y="3548650"/>
            <a:ext cx="822300" cy="2103000"/>
            <a:chOff x="9574400" y="2884300"/>
            <a:chExt cx="822300" cy="2103000"/>
          </a:xfrm>
        </p:grpSpPr>
        <p:sp>
          <p:nvSpPr>
            <p:cNvPr id="704" name="Google Shape;704;p34"/>
            <p:cNvSpPr/>
            <p:nvPr/>
          </p:nvSpPr>
          <p:spPr>
            <a:xfrm>
              <a:off x="9574400" y="2884300"/>
              <a:ext cx="822300" cy="2103000"/>
            </a:xfrm>
            <a:prstGeom prst="rect">
              <a:avLst/>
            </a:prstGeom>
            <a:solidFill>
              <a:srgbClr val="F3F3F3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705" name="Google Shape;705;p34"/>
            <p:cNvGrpSpPr/>
            <p:nvPr/>
          </p:nvGrpSpPr>
          <p:grpSpPr>
            <a:xfrm>
              <a:off x="9582392" y="3376118"/>
              <a:ext cx="806322" cy="1163511"/>
              <a:chOff x="1775100" y="4022850"/>
              <a:chExt cx="1076100" cy="1739700"/>
            </a:xfrm>
          </p:grpSpPr>
          <p:sp>
            <p:nvSpPr>
              <p:cNvPr id="706" name="Google Shape;706;p34"/>
              <p:cNvSpPr/>
              <p:nvPr/>
            </p:nvSpPr>
            <p:spPr>
              <a:xfrm>
                <a:off x="1775100" y="4022850"/>
                <a:ext cx="1076100" cy="1739700"/>
              </a:xfrm>
              <a:prstGeom prst="rect">
                <a:avLst/>
              </a:prstGeom>
              <a:solidFill>
                <a:srgbClr val="EFEFEF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707" name="Google Shape;707;p34"/>
              <p:cNvGrpSpPr/>
              <p:nvPr/>
            </p:nvGrpSpPr>
            <p:grpSpPr>
              <a:xfrm>
                <a:off x="1775100" y="4022850"/>
                <a:ext cx="1076100" cy="1739675"/>
                <a:chOff x="7948250" y="2813125"/>
                <a:chExt cx="1076100" cy="1739675"/>
              </a:xfrm>
            </p:grpSpPr>
            <p:sp>
              <p:nvSpPr>
                <p:cNvPr id="708" name="Google Shape;708;p34"/>
                <p:cNvSpPr/>
                <p:nvPr/>
              </p:nvSpPr>
              <p:spPr>
                <a:xfrm>
                  <a:off x="7948250" y="2813125"/>
                  <a:ext cx="1076100" cy="284400"/>
                </a:xfrm>
                <a:prstGeom prst="rect">
                  <a:avLst/>
                </a:prstGeom>
                <a:solidFill>
                  <a:srgbClr val="F4CCCC"/>
                </a:solidFill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800" b="1" dirty="0">
                      <a:latin typeface="Courier New"/>
                      <a:ea typeface="Courier New"/>
                      <a:cs typeface="Courier New"/>
                      <a:sym typeface="Courier New"/>
                    </a:rPr>
                    <a:t>Code</a:t>
                  </a:r>
                  <a:endParaRPr sz="800" b="1" dirty="0">
                    <a:latin typeface="Courier New"/>
                    <a:ea typeface="Courier New"/>
                    <a:cs typeface="Courier New"/>
                    <a:sym typeface="Courier New"/>
                  </a:endParaRPr>
                </a:p>
              </p:txBody>
            </p:sp>
            <p:sp>
              <p:nvSpPr>
                <p:cNvPr id="709" name="Google Shape;709;p34"/>
                <p:cNvSpPr/>
                <p:nvPr/>
              </p:nvSpPr>
              <p:spPr>
                <a:xfrm>
                  <a:off x="7950650" y="3085775"/>
                  <a:ext cx="1073100" cy="370800"/>
                </a:xfrm>
                <a:prstGeom prst="rect">
                  <a:avLst/>
                </a:prstGeom>
                <a:solidFill>
                  <a:srgbClr val="FFE599"/>
                </a:solidFill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800" b="1">
                      <a:latin typeface="Courier New"/>
                      <a:ea typeface="Courier New"/>
                      <a:cs typeface="Courier New"/>
                      <a:sym typeface="Courier New"/>
                    </a:rPr>
                    <a:t>Data</a:t>
                  </a:r>
                  <a:endParaRPr/>
                </a:p>
              </p:txBody>
            </p:sp>
            <p:sp>
              <p:nvSpPr>
                <p:cNvPr id="710" name="Google Shape;710;p34"/>
                <p:cNvSpPr/>
                <p:nvPr/>
              </p:nvSpPr>
              <p:spPr>
                <a:xfrm>
                  <a:off x="7948250" y="3406050"/>
                  <a:ext cx="1076100" cy="284400"/>
                </a:xfrm>
                <a:prstGeom prst="rect">
                  <a:avLst/>
                </a:prstGeom>
                <a:solidFill>
                  <a:srgbClr val="CFE2F3"/>
                </a:solidFill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800" b="1" dirty="0">
                      <a:latin typeface="Courier New"/>
                      <a:ea typeface="Courier New"/>
                      <a:cs typeface="Courier New"/>
                      <a:sym typeface="Courier New"/>
                    </a:rPr>
                    <a:t>heap</a:t>
                  </a:r>
                  <a:endParaRPr dirty="0"/>
                </a:p>
              </p:txBody>
            </p:sp>
            <p:sp>
              <p:nvSpPr>
                <p:cNvPr id="711" name="Google Shape;711;p34"/>
                <p:cNvSpPr/>
                <p:nvPr/>
              </p:nvSpPr>
              <p:spPr>
                <a:xfrm>
                  <a:off x="7948250" y="4268400"/>
                  <a:ext cx="1076100" cy="284400"/>
                </a:xfrm>
                <a:prstGeom prst="rect">
                  <a:avLst/>
                </a:prstGeom>
                <a:solidFill>
                  <a:srgbClr val="CFE2F3"/>
                </a:solidFill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800" b="1" dirty="0">
                      <a:latin typeface="Courier New"/>
                      <a:ea typeface="Courier New"/>
                      <a:cs typeface="Courier New"/>
                      <a:sym typeface="Courier New"/>
                    </a:rPr>
                    <a:t>stack</a:t>
                  </a:r>
                  <a:endParaRPr dirty="0"/>
                </a:p>
              </p:txBody>
            </p:sp>
            <p:cxnSp>
              <p:nvCxnSpPr>
                <p:cNvPr id="712" name="Google Shape;712;p34"/>
                <p:cNvCxnSpPr>
                  <a:stCxn id="710" idx="2"/>
                </p:cNvCxnSpPr>
                <p:nvPr/>
              </p:nvCxnSpPr>
              <p:spPr>
                <a:xfrm>
                  <a:off x="8486300" y="3690450"/>
                  <a:ext cx="6900" cy="2613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  <p:cxnSp>
              <p:nvCxnSpPr>
                <p:cNvPr id="713" name="Google Shape;713;p34"/>
                <p:cNvCxnSpPr>
                  <a:stCxn id="711" idx="0"/>
                </p:cNvCxnSpPr>
                <p:nvPr/>
              </p:nvCxnSpPr>
              <p:spPr>
                <a:xfrm rot="10800000" flipH="1">
                  <a:off x="8486300" y="4035600"/>
                  <a:ext cx="4200" cy="2328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</p:grpSp>
        </p:grpSp>
      </p:grpSp>
      <p:cxnSp>
        <p:nvCxnSpPr>
          <p:cNvPr id="714" name="Google Shape;714;p34"/>
          <p:cNvCxnSpPr>
            <a:cxnSpLocks/>
          </p:cNvCxnSpPr>
          <p:nvPr/>
        </p:nvCxnSpPr>
        <p:spPr>
          <a:xfrm>
            <a:off x="5166338" y="4018400"/>
            <a:ext cx="696000" cy="45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715" name="Google Shape;715;p34"/>
          <p:cNvSpPr/>
          <p:nvPr/>
        </p:nvSpPr>
        <p:spPr>
          <a:xfrm>
            <a:off x="6840125" y="4638975"/>
            <a:ext cx="134100" cy="348300"/>
          </a:xfrm>
          <a:prstGeom prst="rightBrace">
            <a:avLst>
              <a:gd name="adj1" fmla="val 50000"/>
              <a:gd name="adj2" fmla="val 50000"/>
            </a:avLst>
          </a:prstGeom>
          <a:noFill/>
          <a:ln w="190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716" name="Google Shape;716;p34"/>
          <p:cNvCxnSpPr>
            <a:cxnSpLocks/>
          </p:cNvCxnSpPr>
          <p:nvPr/>
        </p:nvCxnSpPr>
        <p:spPr>
          <a:xfrm>
            <a:off x="5166338" y="5181900"/>
            <a:ext cx="696000" cy="45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717" name="Google Shape;717;p34"/>
          <p:cNvSpPr txBox="1"/>
          <p:nvPr/>
        </p:nvSpPr>
        <p:spPr>
          <a:xfrm>
            <a:off x="7054525" y="4474575"/>
            <a:ext cx="1830900" cy="6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Fragmentación interna</a:t>
            </a:r>
            <a:endParaRPr sz="1000">
              <a:solidFill>
                <a:srgbClr val="FF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p36"/>
          <p:cNvSpPr txBox="1">
            <a:spLocks noGrp="1"/>
          </p:cNvSpPr>
          <p:nvPr>
            <p:ph type="title"/>
          </p:nvPr>
        </p:nvSpPr>
        <p:spPr>
          <a:xfrm>
            <a:off x="353961" y="96038"/>
            <a:ext cx="11238271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latin typeface="+mj-lt"/>
              </a:rPr>
              <a:t>Segmentación</a:t>
            </a:r>
            <a:endParaRPr dirty="0">
              <a:latin typeface="+mj-lt"/>
            </a:endParaRPr>
          </a:p>
        </p:txBody>
      </p:sp>
      <p:grpSp>
        <p:nvGrpSpPr>
          <p:cNvPr id="730" name="Google Shape;730;p36"/>
          <p:cNvGrpSpPr/>
          <p:nvPr/>
        </p:nvGrpSpPr>
        <p:grpSpPr>
          <a:xfrm>
            <a:off x="1793344" y="3348211"/>
            <a:ext cx="1122049" cy="2086944"/>
            <a:chOff x="1775100" y="4022850"/>
            <a:chExt cx="1076100" cy="1739700"/>
          </a:xfrm>
        </p:grpSpPr>
        <p:sp>
          <p:nvSpPr>
            <p:cNvPr id="731" name="Google Shape;731;p36"/>
            <p:cNvSpPr/>
            <p:nvPr/>
          </p:nvSpPr>
          <p:spPr>
            <a:xfrm>
              <a:off x="1775100" y="4022850"/>
              <a:ext cx="1076100" cy="1739700"/>
            </a:xfrm>
            <a:prstGeom prst="rect">
              <a:avLst/>
            </a:prstGeom>
            <a:solidFill>
              <a:srgbClr val="EFEFEF"/>
            </a:solidFill>
            <a:ln w="19050" cap="flat" cmpd="sng">
              <a:solidFill>
                <a:srgbClr val="22222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732" name="Google Shape;732;p36"/>
            <p:cNvGrpSpPr/>
            <p:nvPr/>
          </p:nvGrpSpPr>
          <p:grpSpPr>
            <a:xfrm>
              <a:off x="1775100" y="4022850"/>
              <a:ext cx="1076100" cy="1739675"/>
              <a:chOff x="7948250" y="2813125"/>
              <a:chExt cx="1076100" cy="1739675"/>
            </a:xfrm>
          </p:grpSpPr>
          <p:sp>
            <p:nvSpPr>
              <p:cNvPr id="733" name="Google Shape;733;p36"/>
              <p:cNvSpPr/>
              <p:nvPr/>
            </p:nvSpPr>
            <p:spPr>
              <a:xfrm>
                <a:off x="7948250" y="2813125"/>
                <a:ext cx="1076100" cy="284400"/>
              </a:xfrm>
              <a:prstGeom prst="rect">
                <a:avLst/>
              </a:prstGeom>
              <a:solidFill>
                <a:srgbClr val="F4CCCC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 b="1" dirty="0">
                    <a:latin typeface="Courier New"/>
                    <a:ea typeface="Courier New"/>
                    <a:cs typeface="Courier New"/>
                    <a:sym typeface="Courier New"/>
                  </a:rPr>
                  <a:t>code</a:t>
                </a:r>
                <a:endParaRPr sz="1600" b="1" dirty="0"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  <p:sp>
            <p:nvSpPr>
              <p:cNvPr id="734" name="Google Shape;734;p36"/>
              <p:cNvSpPr/>
              <p:nvPr/>
            </p:nvSpPr>
            <p:spPr>
              <a:xfrm>
                <a:off x="7950650" y="3085775"/>
                <a:ext cx="1073100" cy="370800"/>
              </a:xfrm>
              <a:prstGeom prst="rect">
                <a:avLst/>
              </a:prstGeom>
              <a:solidFill>
                <a:srgbClr val="FFE599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500" b="1">
                    <a:latin typeface="Courier New"/>
                    <a:ea typeface="Courier New"/>
                    <a:cs typeface="Courier New"/>
                    <a:sym typeface="Courier New"/>
                  </a:rPr>
                  <a:t>data</a:t>
                </a:r>
                <a:endParaRPr sz="2100"/>
              </a:p>
            </p:txBody>
          </p:sp>
          <p:sp>
            <p:nvSpPr>
              <p:cNvPr id="735" name="Google Shape;735;p36"/>
              <p:cNvSpPr/>
              <p:nvPr/>
            </p:nvSpPr>
            <p:spPr>
              <a:xfrm>
                <a:off x="7948250" y="3406050"/>
                <a:ext cx="1076100" cy="284400"/>
              </a:xfrm>
              <a:prstGeom prst="rect">
                <a:avLst/>
              </a:prstGeom>
              <a:solidFill>
                <a:srgbClr val="CFE2F3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 b="1" dirty="0">
                    <a:latin typeface="Courier New"/>
                    <a:ea typeface="Courier New"/>
                    <a:cs typeface="Courier New"/>
                    <a:sym typeface="Courier New"/>
                  </a:rPr>
                  <a:t>heap</a:t>
                </a:r>
                <a:endParaRPr sz="2200" dirty="0"/>
              </a:p>
            </p:txBody>
          </p:sp>
          <p:sp>
            <p:nvSpPr>
              <p:cNvPr id="736" name="Google Shape;736;p36"/>
              <p:cNvSpPr/>
              <p:nvPr/>
            </p:nvSpPr>
            <p:spPr>
              <a:xfrm>
                <a:off x="7948250" y="4268400"/>
                <a:ext cx="1076100" cy="284400"/>
              </a:xfrm>
              <a:prstGeom prst="rect">
                <a:avLst/>
              </a:prstGeom>
              <a:solidFill>
                <a:srgbClr val="CFE2F3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 b="1" dirty="0">
                    <a:latin typeface="Courier New"/>
                    <a:ea typeface="Courier New"/>
                    <a:cs typeface="Courier New"/>
                    <a:sym typeface="Courier New"/>
                  </a:rPr>
                  <a:t>stack</a:t>
                </a:r>
                <a:endParaRPr sz="2200" dirty="0"/>
              </a:p>
            </p:txBody>
          </p:sp>
          <p:cxnSp>
            <p:nvCxnSpPr>
              <p:cNvPr id="737" name="Google Shape;737;p36"/>
              <p:cNvCxnSpPr>
                <a:stCxn id="735" idx="2"/>
              </p:cNvCxnSpPr>
              <p:nvPr/>
            </p:nvCxnSpPr>
            <p:spPr>
              <a:xfrm>
                <a:off x="8486300" y="3690450"/>
                <a:ext cx="6900" cy="2613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738" name="Google Shape;738;p36"/>
              <p:cNvCxnSpPr>
                <a:stCxn id="736" idx="0"/>
              </p:cNvCxnSpPr>
              <p:nvPr/>
            </p:nvCxnSpPr>
            <p:spPr>
              <a:xfrm rot="10800000" flipH="1">
                <a:off x="8486300" y="4035600"/>
                <a:ext cx="4200" cy="2328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</p:grpSp>
      </p:grpSp>
      <p:graphicFrame>
        <p:nvGraphicFramePr>
          <p:cNvPr id="739" name="Google Shape;739;p36"/>
          <p:cNvGraphicFramePr/>
          <p:nvPr/>
        </p:nvGraphicFramePr>
        <p:xfrm>
          <a:off x="8388675" y="3823750"/>
          <a:ext cx="2204750" cy="1859160"/>
        </p:xfrm>
        <a:graphic>
          <a:graphicData uri="http://schemas.openxmlformats.org/drawingml/2006/table">
            <a:tbl>
              <a:tblPr>
                <a:noFill/>
                <a:tableStyleId>{CA5C7703-E2AC-41A6-8DEA-2D5C455BA520}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1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962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 b="1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#</a:t>
                      </a:r>
                      <a:endParaRPr sz="2000" b="1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 b="1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Segment</a:t>
                      </a:r>
                      <a:endParaRPr sz="2000" b="1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2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code</a:t>
                      </a:r>
                      <a:endParaRPr sz="18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2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heap</a:t>
                      </a:r>
                      <a:endParaRPr sz="18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2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stack</a:t>
                      </a:r>
                      <a:endParaRPr sz="18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740" name="Google Shape;740;p36"/>
          <p:cNvGraphicFramePr/>
          <p:nvPr/>
        </p:nvGraphicFramePr>
        <p:xfrm>
          <a:off x="3274475" y="3233513"/>
          <a:ext cx="1948100" cy="2316330"/>
        </p:xfrm>
        <a:graphic>
          <a:graphicData uri="http://schemas.openxmlformats.org/drawingml/2006/table">
            <a:tbl>
              <a:tblPr>
                <a:noFill/>
                <a:tableStyleId>{CA5C7703-E2AC-41A6-8DEA-2D5C455BA520}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5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962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 b="1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#</a:t>
                      </a:r>
                      <a:endParaRPr sz="2000" b="1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24292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24292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 b="1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Segment</a:t>
                      </a:r>
                      <a:endParaRPr sz="2000" b="1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24292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24292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2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24292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24292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Code</a:t>
                      </a:r>
                      <a:endParaRPr sz="18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24292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24292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2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24292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data</a:t>
                      </a: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24292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2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24292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heap</a:t>
                      </a:r>
                      <a:endParaRPr sz="18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24292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62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24292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stack</a:t>
                      </a:r>
                      <a:endParaRPr sz="18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24292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741" name="Google Shape;741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33279" y="2656475"/>
            <a:ext cx="1368644" cy="886625"/>
          </a:xfrm>
          <a:prstGeom prst="rect">
            <a:avLst/>
          </a:prstGeom>
          <a:noFill/>
          <a:ln>
            <a:noFill/>
          </a:ln>
        </p:spPr>
      </p:pic>
      <p:sp>
        <p:nvSpPr>
          <p:cNvPr id="742" name="Google Shape;742;p36"/>
          <p:cNvSpPr/>
          <p:nvPr/>
        </p:nvSpPr>
        <p:spPr>
          <a:xfrm>
            <a:off x="6597525" y="2361900"/>
            <a:ext cx="4180800" cy="3924600"/>
          </a:xfrm>
          <a:prstGeom prst="roundRect">
            <a:avLst>
              <a:gd name="adj" fmla="val 6826"/>
            </a:avLst>
          </a:prstGeom>
          <a:solidFill>
            <a:srgbClr val="000000">
              <a:alpha val="0"/>
            </a:srgbClr>
          </a:solidFill>
          <a:ln w="28575" cap="flat" cmpd="sng">
            <a:solidFill>
              <a:schemeClr val="accent2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743" name="Google Shape;743;p36"/>
          <p:cNvGrpSpPr/>
          <p:nvPr/>
        </p:nvGrpSpPr>
        <p:grpSpPr>
          <a:xfrm>
            <a:off x="6861569" y="3823761"/>
            <a:ext cx="1122056" cy="2086969"/>
            <a:chOff x="1775100" y="4022829"/>
            <a:chExt cx="1076106" cy="1739721"/>
          </a:xfrm>
        </p:grpSpPr>
        <p:sp>
          <p:nvSpPr>
            <p:cNvPr id="744" name="Google Shape;744;p36"/>
            <p:cNvSpPr/>
            <p:nvPr/>
          </p:nvSpPr>
          <p:spPr>
            <a:xfrm>
              <a:off x="1775100" y="4022850"/>
              <a:ext cx="1076100" cy="1739700"/>
            </a:xfrm>
            <a:prstGeom prst="rect">
              <a:avLst/>
            </a:prstGeom>
            <a:solidFill>
              <a:srgbClr val="EFEFEF"/>
            </a:solidFill>
            <a:ln w="19050" cap="flat" cmpd="sng">
              <a:solidFill>
                <a:srgbClr val="22222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745" name="Google Shape;745;p36"/>
            <p:cNvGrpSpPr/>
            <p:nvPr/>
          </p:nvGrpSpPr>
          <p:grpSpPr>
            <a:xfrm>
              <a:off x="1775100" y="4022829"/>
              <a:ext cx="1076106" cy="1739696"/>
              <a:chOff x="7948250" y="2813104"/>
              <a:chExt cx="1076106" cy="1739696"/>
            </a:xfrm>
          </p:grpSpPr>
          <p:sp>
            <p:nvSpPr>
              <p:cNvPr id="746" name="Google Shape;746;p36"/>
              <p:cNvSpPr/>
              <p:nvPr/>
            </p:nvSpPr>
            <p:spPr>
              <a:xfrm>
                <a:off x="7948256" y="2813104"/>
                <a:ext cx="1076100" cy="592800"/>
              </a:xfrm>
              <a:prstGeom prst="rect">
                <a:avLst/>
              </a:prstGeom>
              <a:solidFill>
                <a:srgbClr val="F4CCCC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 b="1" dirty="0">
                    <a:latin typeface="Courier New"/>
                    <a:ea typeface="Courier New"/>
                    <a:cs typeface="Courier New"/>
                    <a:sym typeface="Courier New"/>
                  </a:rPr>
                  <a:t>Code</a:t>
                </a:r>
                <a:endParaRPr sz="1600" b="1" dirty="0"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  <p:sp>
            <p:nvSpPr>
              <p:cNvPr id="747" name="Google Shape;747;p36"/>
              <p:cNvSpPr/>
              <p:nvPr/>
            </p:nvSpPr>
            <p:spPr>
              <a:xfrm>
                <a:off x="7948250" y="3406050"/>
                <a:ext cx="1076100" cy="284400"/>
              </a:xfrm>
              <a:prstGeom prst="rect">
                <a:avLst/>
              </a:prstGeom>
              <a:solidFill>
                <a:srgbClr val="FFE599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 b="1" dirty="0">
                    <a:latin typeface="Courier New"/>
                    <a:ea typeface="Courier New"/>
                    <a:cs typeface="Courier New"/>
                    <a:sym typeface="Courier New"/>
                  </a:rPr>
                  <a:t>heap</a:t>
                </a:r>
                <a:endParaRPr sz="2200" dirty="0"/>
              </a:p>
            </p:txBody>
          </p:sp>
          <p:sp>
            <p:nvSpPr>
              <p:cNvPr id="748" name="Google Shape;748;p36"/>
              <p:cNvSpPr/>
              <p:nvPr/>
            </p:nvSpPr>
            <p:spPr>
              <a:xfrm>
                <a:off x="7948250" y="4268400"/>
                <a:ext cx="1076100" cy="284400"/>
              </a:xfrm>
              <a:prstGeom prst="rect">
                <a:avLst/>
              </a:prstGeom>
              <a:solidFill>
                <a:srgbClr val="CFE2F3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 b="1" dirty="0">
                    <a:latin typeface="Courier New"/>
                    <a:ea typeface="Courier New"/>
                    <a:cs typeface="Courier New"/>
                    <a:sym typeface="Courier New"/>
                  </a:rPr>
                  <a:t>stack</a:t>
                </a:r>
                <a:endParaRPr sz="2200" dirty="0"/>
              </a:p>
            </p:txBody>
          </p:sp>
          <p:cxnSp>
            <p:nvCxnSpPr>
              <p:cNvPr id="749" name="Google Shape;749;p36"/>
              <p:cNvCxnSpPr>
                <a:stCxn id="747" idx="2"/>
              </p:cNvCxnSpPr>
              <p:nvPr/>
            </p:nvCxnSpPr>
            <p:spPr>
              <a:xfrm>
                <a:off x="8486300" y="3690450"/>
                <a:ext cx="6900" cy="2613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750" name="Google Shape;750;p36"/>
              <p:cNvCxnSpPr>
                <a:stCxn id="748" idx="0"/>
              </p:cNvCxnSpPr>
              <p:nvPr/>
            </p:nvCxnSpPr>
            <p:spPr>
              <a:xfrm rot="10800000" flipH="1">
                <a:off x="8486300" y="4035600"/>
                <a:ext cx="4200" cy="2328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</p:grpSp>
      </p:grp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D4E6B4D9-DFD1-4036-8CDF-30C0DDB50F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3736" y="1051600"/>
            <a:ext cx="11238270" cy="896258"/>
          </a:xfrm>
        </p:spPr>
        <p:txBody>
          <a:bodyPr/>
          <a:lstStyle/>
          <a:p>
            <a:r>
              <a:rPr lang="es-MX" sz="2400" b="1" dirty="0">
                <a:latin typeface="+mn-lt"/>
              </a:rPr>
              <a:t>Segmento</a:t>
            </a:r>
            <a:r>
              <a:rPr lang="es-MX" sz="2400" dirty="0">
                <a:latin typeface="+mn-lt"/>
              </a:rPr>
              <a:t>: porción contigua del espacio de direccionamiento (con un tamaño particular).</a:t>
            </a:r>
          </a:p>
          <a:p>
            <a:endParaRPr lang="es-CO" sz="2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37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latin typeface="+mj-lt"/>
              </a:rPr>
              <a:t>Segmentación</a:t>
            </a:r>
            <a:endParaRPr dirty="0">
              <a:latin typeface="+mj-lt"/>
            </a:endParaRPr>
          </a:p>
        </p:txBody>
      </p:sp>
      <p:grpSp>
        <p:nvGrpSpPr>
          <p:cNvPr id="757" name="Google Shape;757;p37"/>
          <p:cNvGrpSpPr/>
          <p:nvPr/>
        </p:nvGrpSpPr>
        <p:grpSpPr>
          <a:xfrm>
            <a:off x="2843219" y="3079699"/>
            <a:ext cx="1122056" cy="2086969"/>
            <a:chOff x="1775100" y="4022829"/>
            <a:chExt cx="1076106" cy="1739721"/>
          </a:xfrm>
        </p:grpSpPr>
        <p:sp>
          <p:nvSpPr>
            <p:cNvPr id="758" name="Google Shape;758;p37"/>
            <p:cNvSpPr/>
            <p:nvPr/>
          </p:nvSpPr>
          <p:spPr>
            <a:xfrm>
              <a:off x="1775100" y="4022850"/>
              <a:ext cx="1076100" cy="1739700"/>
            </a:xfrm>
            <a:prstGeom prst="rect">
              <a:avLst/>
            </a:prstGeom>
            <a:solidFill>
              <a:srgbClr val="EFEFEF"/>
            </a:solidFill>
            <a:ln w="19050" cap="flat" cmpd="sng">
              <a:solidFill>
                <a:srgbClr val="22222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759" name="Google Shape;759;p37"/>
            <p:cNvGrpSpPr/>
            <p:nvPr/>
          </p:nvGrpSpPr>
          <p:grpSpPr>
            <a:xfrm>
              <a:off x="1775100" y="4022829"/>
              <a:ext cx="1076106" cy="1739696"/>
              <a:chOff x="7948250" y="2813104"/>
              <a:chExt cx="1076106" cy="1739696"/>
            </a:xfrm>
          </p:grpSpPr>
          <p:sp>
            <p:nvSpPr>
              <p:cNvPr id="760" name="Google Shape;760;p37"/>
              <p:cNvSpPr/>
              <p:nvPr/>
            </p:nvSpPr>
            <p:spPr>
              <a:xfrm>
                <a:off x="7948256" y="2813104"/>
                <a:ext cx="1076100" cy="592800"/>
              </a:xfrm>
              <a:prstGeom prst="rect">
                <a:avLst/>
              </a:prstGeom>
              <a:solidFill>
                <a:srgbClr val="F4CCCC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 b="1" dirty="0">
                    <a:latin typeface="Courier New"/>
                    <a:ea typeface="Courier New"/>
                    <a:cs typeface="Courier New"/>
                    <a:sym typeface="Courier New"/>
                  </a:rPr>
                  <a:t>Code</a:t>
                </a:r>
                <a:endParaRPr sz="1600" b="1" dirty="0"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  <p:sp>
            <p:nvSpPr>
              <p:cNvPr id="761" name="Google Shape;761;p37"/>
              <p:cNvSpPr/>
              <p:nvPr/>
            </p:nvSpPr>
            <p:spPr>
              <a:xfrm>
                <a:off x="7948250" y="3406050"/>
                <a:ext cx="1076100" cy="284400"/>
              </a:xfrm>
              <a:prstGeom prst="rect">
                <a:avLst/>
              </a:prstGeom>
              <a:solidFill>
                <a:srgbClr val="FFE599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 b="1" dirty="0">
                    <a:latin typeface="Courier New"/>
                    <a:ea typeface="Courier New"/>
                    <a:cs typeface="Courier New"/>
                    <a:sym typeface="Courier New"/>
                  </a:rPr>
                  <a:t>heap</a:t>
                </a:r>
                <a:endParaRPr sz="2200" dirty="0"/>
              </a:p>
            </p:txBody>
          </p:sp>
          <p:sp>
            <p:nvSpPr>
              <p:cNvPr id="762" name="Google Shape;762;p37"/>
              <p:cNvSpPr/>
              <p:nvPr/>
            </p:nvSpPr>
            <p:spPr>
              <a:xfrm>
                <a:off x="7948250" y="4268400"/>
                <a:ext cx="1076100" cy="284400"/>
              </a:xfrm>
              <a:prstGeom prst="rect">
                <a:avLst/>
              </a:prstGeom>
              <a:solidFill>
                <a:srgbClr val="CFE2F3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 b="1" dirty="0">
                    <a:latin typeface="Courier New"/>
                    <a:ea typeface="Courier New"/>
                    <a:cs typeface="Courier New"/>
                    <a:sym typeface="Courier New"/>
                  </a:rPr>
                  <a:t>stack</a:t>
                </a:r>
                <a:endParaRPr sz="2200" dirty="0"/>
              </a:p>
            </p:txBody>
          </p:sp>
          <p:cxnSp>
            <p:nvCxnSpPr>
              <p:cNvPr id="763" name="Google Shape;763;p37"/>
              <p:cNvCxnSpPr>
                <a:stCxn id="761" idx="2"/>
              </p:cNvCxnSpPr>
              <p:nvPr/>
            </p:nvCxnSpPr>
            <p:spPr>
              <a:xfrm>
                <a:off x="8486300" y="3690450"/>
                <a:ext cx="6900" cy="2613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764" name="Google Shape;764;p37"/>
              <p:cNvCxnSpPr>
                <a:stCxn id="762" idx="0"/>
              </p:cNvCxnSpPr>
              <p:nvPr/>
            </p:nvCxnSpPr>
            <p:spPr>
              <a:xfrm rot="10800000" flipH="1">
                <a:off x="8486300" y="4035600"/>
                <a:ext cx="4200" cy="2328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</p:grpSp>
      </p:grpSp>
      <p:grpSp>
        <p:nvGrpSpPr>
          <p:cNvPr id="765" name="Google Shape;765;p37"/>
          <p:cNvGrpSpPr/>
          <p:nvPr/>
        </p:nvGrpSpPr>
        <p:grpSpPr>
          <a:xfrm>
            <a:off x="5286069" y="2398650"/>
            <a:ext cx="1122006" cy="3442200"/>
            <a:chOff x="7643519" y="3004850"/>
            <a:chExt cx="1122006" cy="3442200"/>
          </a:xfrm>
        </p:grpSpPr>
        <p:sp>
          <p:nvSpPr>
            <p:cNvPr id="766" name="Google Shape;766;p37"/>
            <p:cNvSpPr/>
            <p:nvPr/>
          </p:nvSpPr>
          <p:spPr>
            <a:xfrm>
              <a:off x="7643525" y="3004850"/>
              <a:ext cx="1122000" cy="3442200"/>
            </a:xfrm>
            <a:prstGeom prst="rect">
              <a:avLst/>
            </a:prstGeom>
            <a:solidFill>
              <a:srgbClr val="EFEFEF"/>
            </a:solidFill>
            <a:ln w="19050" cap="flat" cmpd="sng">
              <a:solidFill>
                <a:srgbClr val="22222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7" name="Google Shape;767;p37"/>
            <p:cNvSpPr/>
            <p:nvPr/>
          </p:nvSpPr>
          <p:spPr>
            <a:xfrm>
              <a:off x="7643525" y="4220086"/>
              <a:ext cx="1122000" cy="711000"/>
            </a:xfrm>
            <a:prstGeom prst="rect">
              <a:avLst/>
            </a:prstGeom>
            <a:solidFill>
              <a:srgbClr val="F4CCCC"/>
            </a:solidFill>
            <a:ln w="9525" cap="flat" cmpd="sng">
              <a:solidFill>
                <a:srgbClr val="22222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 dirty="0">
                  <a:latin typeface="Courier New"/>
                  <a:ea typeface="Courier New"/>
                  <a:cs typeface="Courier New"/>
                  <a:sym typeface="Courier New"/>
                </a:rPr>
                <a:t>Code</a:t>
              </a:r>
              <a:endParaRPr sz="1600" b="1" dirty="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768" name="Google Shape;768;p37"/>
            <p:cNvSpPr/>
            <p:nvPr/>
          </p:nvSpPr>
          <p:spPr>
            <a:xfrm>
              <a:off x="7643519" y="3675634"/>
              <a:ext cx="1122000" cy="341100"/>
            </a:xfrm>
            <a:prstGeom prst="rect">
              <a:avLst/>
            </a:prstGeom>
            <a:solidFill>
              <a:srgbClr val="CFE2F3"/>
            </a:solidFill>
            <a:ln w="9525" cap="flat" cmpd="sng">
              <a:solidFill>
                <a:srgbClr val="22222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 dirty="0">
                  <a:latin typeface="Courier New"/>
                  <a:ea typeface="Courier New"/>
                  <a:cs typeface="Courier New"/>
                  <a:sym typeface="Courier New"/>
                </a:rPr>
                <a:t>stack</a:t>
              </a:r>
              <a:endParaRPr sz="2200" dirty="0"/>
            </a:p>
          </p:txBody>
        </p:sp>
        <p:sp>
          <p:nvSpPr>
            <p:cNvPr id="769" name="Google Shape;769;p37"/>
            <p:cNvSpPr/>
            <p:nvPr/>
          </p:nvSpPr>
          <p:spPr>
            <a:xfrm>
              <a:off x="7643519" y="5187434"/>
              <a:ext cx="1122000" cy="341100"/>
            </a:xfrm>
            <a:prstGeom prst="rect">
              <a:avLst/>
            </a:prstGeom>
            <a:solidFill>
              <a:srgbClr val="FFE599"/>
            </a:solidFill>
            <a:ln w="9525" cap="flat" cmpd="sng">
              <a:solidFill>
                <a:srgbClr val="22222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 dirty="0">
                  <a:latin typeface="Courier New"/>
                  <a:ea typeface="Courier New"/>
                  <a:cs typeface="Courier New"/>
                  <a:sym typeface="Courier New"/>
                </a:rPr>
                <a:t>heap</a:t>
              </a:r>
              <a:endParaRPr sz="2200" dirty="0"/>
            </a:p>
          </p:txBody>
        </p:sp>
        <p:cxnSp>
          <p:nvCxnSpPr>
            <p:cNvPr id="770" name="Google Shape;770;p37"/>
            <p:cNvCxnSpPr/>
            <p:nvPr/>
          </p:nvCxnSpPr>
          <p:spPr>
            <a:xfrm rot="10800000" flipH="1">
              <a:off x="8202268" y="3396334"/>
              <a:ext cx="4500" cy="279300"/>
            </a:xfrm>
            <a:prstGeom prst="straightConnector1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771" name="Google Shape;771;p37"/>
            <p:cNvCxnSpPr/>
            <p:nvPr/>
          </p:nvCxnSpPr>
          <p:spPr>
            <a:xfrm>
              <a:off x="8200918" y="5528525"/>
              <a:ext cx="7200" cy="313500"/>
            </a:xfrm>
            <a:prstGeom prst="straightConnector1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</p:grpSp>
      <p:cxnSp>
        <p:nvCxnSpPr>
          <p:cNvPr id="772" name="Google Shape;772;p37"/>
          <p:cNvCxnSpPr>
            <a:stCxn id="760" idx="3"/>
            <a:endCxn id="767" idx="1"/>
          </p:cNvCxnSpPr>
          <p:nvPr/>
        </p:nvCxnSpPr>
        <p:spPr>
          <a:xfrm>
            <a:off x="3965274" y="3435260"/>
            <a:ext cx="1320900" cy="534000"/>
          </a:xfrm>
          <a:prstGeom prst="straightConnector1">
            <a:avLst/>
          </a:prstGeom>
          <a:noFill/>
          <a:ln w="19050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73" name="Google Shape;773;p37"/>
          <p:cNvCxnSpPr>
            <a:stCxn id="761" idx="3"/>
            <a:endCxn id="769" idx="1"/>
          </p:cNvCxnSpPr>
          <p:nvPr/>
        </p:nvCxnSpPr>
        <p:spPr>
          <a:xfrm>
            <a:off x="3965268" y="3961580"/>
            <a:ext cx="1320900" cy="7902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74" name="Google Shape;774;p37"/>
          <p:cNvCxnSpPr>
            <a:stCxn id="762" idx="3"/>
            <a:endCxn id="768" idx="1"/>
          </p:cNvCxnSpPr>
          <p:nvPr/>
        </p:nvCxnSpPr>
        <p:spPr>
          <a:xfrm rot="10800000" flipH="1">
            <a:off x="3965268" y="3239855"/>
            <a:ext cx="1320900" cy="1756200"/>
          </a:xfrm>
          <a:prstGeom prst="straightConnector1">
            <a:avLst/>
          </a:prstGeom>
          <a:noFill/>
          <a:ln w="19050" cap="flat" cmpd="sng">
            <a:solidFill>
              <a:schemeClr val="accent5"/>
            </a:solidFill>
            <a:prstDash val="solid"/>
            <a:round/>
            <a:headEnd type="none" w="med" len="med"/>
            <a:tailEnd type="triangle" w="med" len="med"/>
          </a:ln>
        </p:spPr>
      </p:cxnSp>
      <p:graphicFrame>
        <p:nvGraphicFramePr>
          <p:cNvPr id="775" name="Google Shape;775;p37"/>
          <p:cNvGraphicFramePr/>
          <p:nvPr/>
        </p:nvGraphicFramePr>
        <p:xfrm>
          <a:off x="7161425" y="3427098"/>
          <a:ext cx="4028600" cy="1859160"/>
        </p:xfrm>
        <a:graphic>
          <a:graphicData uri="http://schemas.openxmlformats.org/drawingml/2006/table">
            <a:tbl>
              <a:tblPr>
                <a:noFill/>
                <a:tableStyleId>{CA5C7703-E2AC-41A6-8DEA-2D5C455BA520}</a:tableStyleId>
              </a:tblPr>
              <a:tblGrid>
                <a:gridCol w="122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625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428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85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2000" b="1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segment</a:t>
                      </a:r>
                      <a:endParaRPr sz="2000" b="1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20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base</a:t>
                      </a:r>
                      <a:endParaRPr sz="2000" b="1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 b="1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size</a:t>
                      </a:r>
                      <a:endParaRPr sz="2000" b="1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1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code</a:t>
                      </a:r>
                      <a:endParaRPr sz="18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1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heap</a:t>
                      </a:r>
                      <a:endParaRPr sz="18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1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stack</a:t>
                      </a:r>
                      <a:endParaRPr sz="18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6ECBCDEB-2704-4401-A2B1-653CE5C5E3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5668" y="984542"/>
            <a:ext cx="10515600" cy="1023072"/>
          </a:xfrm>
        </p:spPr>
        <p:txBody>
          <a:bodyPr/>
          <a:lstStyle/>
          <a:p>
            <a:r>
              <a:rPr lang="es-MX" sz="2400" b="1" dirty="0">
                <a:latin typeface="+mn-lt"/>
              </a:rPr>
              <a:t>Idea clave</a:t>
            </a:r>
            <a:r>
              <a:rPr lang="es-MX" sz="2400" dirty="0">
                <a:latin typeface="+mn-lt"/>
              </a:rPr>
              <a:t>: Cada segmento puede ser ubicado en una parte diferentes de la memoria física.</a:t>
            </a:r>
          </a:p>
          <a:p>
            <a:endParaRPr lang="es-CO" sz="2400" dirty="0">
              <a:latin typeface="+mn-lt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p38"/>
          <p:cNvSpPr txBox="1">
            <a:spLocks noGrp="1"/>
          </p:cNvSpPr>
          <p:nvPr>
            <p:ph type="title"/>
          </p:nvPr>
        </p:nvSpPr>
        <p:spPr>
          <a:xfrm>
            <a:off x="427703" y="96038"/>
            <a:ext cx="8792947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latin typeface="+mj-lt"/>
              </a:rPr>
              <a:t>Segmentación</a:t>
            </a:r>
            <a:endParaRPr dirty="0">
              <a:latin typeface="+mj-lt"/>
            </a:endParaRPr>
          </a:p>
        </p:txBody>
      </p:sp>
      <p:grpSp>
        <p:nvGrpSpPr>
          <p:cNvPr id="782" name="Google Shape;782;p38"/>
          <p:cNvGrpSpPr/>
          <p:nvPr/>
        </p:nvGrpSpPr>
        <p:grpSpPr>
          <a:xfrm>
            <a:off x="2267294" y="3219350"/>
            <a:ext cx="3564856" cy="3442200"/>
            <a:chOff x="2320844" y="3135350"/>
            <a:chExt cx="3564856" cy="3442200"/>
          </a:xfrm>
        </p:grpSpPr>
        <p:grpSp>
          <p:nvGrpSpPr>
            <p:cNvPr id="783" name="Google Shape;783;p38"/>
            <p:cNvGrpSpPr/>
            <p:nvPr/>
          </p:nvGrpSpPr>
          <p:grpSpPr>
            <a:xfrm>
              <a:off x="2320844" y="3816399"/>
              <a:ext cx="1122056" cy="2086969"/>
              <a:chOff x="1775100" y="4022829"/>
              <a:chExt cx="1076106" cy="1739721"/>
            </a:xfrm>
          </p:grpSpPr>
          <p:sp>
            <p:nvSpPr>
              <p:cNvPr id="784" name="Google Shape;784;p38"/>
              <p:cNvSpPr/>
              <p:nvPr/>
            </p:nvSpPr>
            <p:spPr>
              <a:xfrm>
                <a:off x="1775100" y="4022850"/>
                <a:ext cx="1076100" cy="1739700"/>
              </a:xfrm>
              <a:prstGeom prst="rect">
                <a:avLst/>
              </a:prstGeom>
              <a:solidFill>
                <a:srgbClr val="EFEFEF"/>
              </a:solidFill>
              <a:ln w="19050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785" name="Google Shape;785;p38"/>
              <p:cNvGrpSpPr/>
              <p:nvPr/>
            </p:nvGrpSpPr>
            <p:grpSpPr>
              <a:xfrm>
                <a:off x="1775100" y="4022829"/>
                <a:ext cx="1076106" cy="1739696"/>
                <a:chOff x="7948250" y="2813104"/>
                <a:chExt cx="1076106" cy="1739696"/>
              </a:xfrm>
            </p:grpSpPr>
            <p:sp>
              <p:nvSpPr>
                <p:cNvPr id="786" name="Google Shape;786;p38"/>
                <p:cNvSpPr/>
                <p:nvPr/>
              </p:nvSpPr>
              <p:spPr>
                <a:xfrm>
                  <a:off x="7948256" y="2813104"/>
                  <a:ext cx="1076100" cy="592800"/>
                </a:xfrm>
                <a:prstGeom prst="rect">
                  <a:avLst/>
                </a:prstGeom>
                <a:solidFill>
                  <a:srgbClr val="F4CCCC"/>
                </a:solidFill>
                <a:ln w="9525" cap="flat" cmpd="sng">
                  <a:solidFill>
                    <a:srgbClr val="22222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1600" b="1" dirty="0">
                      <a:latin typeface="Courier New"/>
                      <a:ea typeface="Courier New"/>
                      <a:cs typeface="Courier New"/>
                      <a:sym typeface="Courier New"/>
                    </a:rPr>
                    <a:t>Code</a:t>
                  </a:r>
                  <a:endParaRPr sz="1600" b="1" dirty="0">
                    <a:latin typeface="Courier New"/>
                    <a:ea typeface="Courier New"/>
                    <a:cs typeface="Courier New"/>
                    <a:sym typeface="Courier New"/>
                  </a:endParaRPr>
                </a:p>
              </p:txBody>
            </p:sp>
            <p:sp>
              <p:nvSpPr>
                <p:cNvPr id="787" name="Google Shape;787;p38"/>
                <p:cNvSpPr/>
                <p:nvPr/>
              </p:nvSpPr>
              <p:spPr>
                <a:xfrm>
                  <a:off x="7948250" y="3406050"/>
                  <a:ext cx="1076100" cy="284400"/>
                </a:xfrm>
                <a:prstGeom prst="rect">
                  <a:avLst/>
                </a:prstGeom>
                <a:solidFill>
                  <a:srgbClr val="FFE599"/>
                </a:solidFill>
                <a:ln w="9525" cap="flat" cmpd="sng">
                  <a:solidFill>
                    <a:srgbClr val="22222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1600" b="1" dirty="0">
                      <a:latin typeface="Courier New"/>
                      <a:ea typeface="Courier New"/>
                      <a:cs typeface="Courier New"/>
                      <a:sym typeface="Courier New"/>
                    </a:rPr>
                    <a:t>heap</a:t>
                  </a:r>
                  <a:endParaRPr sz="2200" dirty="0"/>
                </a:p>
              </p:txBody>
            </p:sp>
            <p:sp>
              <p:nvSpPr>
                <p:cNvPr id="788" name="Google Shape;788;p38"/>
                <p:cNvSpPr/>
                <p:nvPr/>
              </p:nvSpPr>
              <p:spPr>
                <a:xfrm>
                  <a:off x="7948250" y="4268400"/>
                  <a:ext cx="1076100" cy="284400"/>
                </a:xfrm>
                <a:prstGeom prst="rect">
                  <a:avLst/>
                </a:prstGeom>
                <a:solidFill>
                  <a:srgbClr val="CFE2F3"/>
                </a:solidFill>
                <a:ln w="9525" cap="flat" cmpd="sng">
                  <a:solidFill>
                    <a:srgbClr val="22222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1600" b="1" dirty="0">
                      <a:latin typeface="Courier New"/>
                      <a:ea typeface="Courier New"/>
                      <a:cs typeface="Courier New"/>
                      <a:sym typeface="Courier New"/>
                    </a:rPr>
                    <a:t>stack</a:t>
                  </a:r>
                  <a:endParaRPr sz="2200" dirty="0"/>
                </a:p>
              </p:txBody>
            </p:sp>
            <p:cxnSp>
              <p:nvCxnSpPr>
                <p:cNvPr id="789" name="Google Shape;789;p38"/>
                <p:cNvCxnSpPr>
                  <a:stCxn id="787" idx="2"/>
                </p:cNvCxnSpPr>
                <p:nvPr/>
              </p:nvCxnSpPr>
              <p:spPr>
                <a:xfrm>
                  <a:off x="8486300" y="3690450"/>
                  <a:ext cx="6900" cy="2613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  <p:cxnSp>
              <p:nvCxnSpPr>
                <p:cNvPr id="790" name="Google Shape;790;p38"/>
                <p:cNvCxnSpPr>
                  <a:stCxn id="788" idx="0"/>
                </p:cNvCxnSpPr>
                <p:nvPr/>
              </p:nvCxnSpPr>
              <p:spPr>
                <a:xfrm rot="10800000" flipH="1">
                  <a:off x="8486300" y="4035600"/>
                  <a:ext cx="4200" cy="2328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</p:grpSp>
        </p:grpSp>
        <p:grpSp>
          <p:nvGrpSpPr>
            <p:cNvPr id="791" name="Google Shape;791;p38"/>
            <p:cNvGrpSpPr/>
            <p:nvPr/>
          </p:nvGrpSpPr>
          <p:grpSpPr>
            <a:xfrm>
              <a:off x="4763694" y="3135350"/>
              <a:ext cx="1122006" cy="3442200"/>
              <a:chOff x="7643519" y="3004850"/>
              <a:chExt cx="1122006" cy="3442200"/>
            </a:xfrm>
          </p:grpSpPr>
          <p:sp>
            <p:nvSpPr>
              <p:cNvPr id="792" name="Google Shape;792;p38"/>
              <p:cNvSpPr/>
              <p:nvPr/>
            </p:nvSpPr>
            <p:spPr>
              <a:xfrm>
                <a:off x="7643525" y="3004850"/>
                <a:ext cx="1122000" cy="3442200"/>
              </a:xfrm>
              <a:prstGeom prst="rect">
                <a:avLst/>
              </a:prstGeom>
              <a:solidFill>
                <a:srgbClr val="EFEFEF"/>
              </a:solidFill>
              <a:ln w="19050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3" name="Google Shape;793;p38"/>
              <p:cNvSpPr/>
              <p:nvPr/>
            </p:nvSpPr>
            <p:spPr>
              <a:xfrm>
                <a:off x="7643525" y="4220086"/>
                <a:ext cx="1122000" cy="711000"/>
              </a:xfrm>
              <a:prstGeom prst="rect">
                <a:avLst/>
              </a:prstGeom>
              <a:solidFill>
                <a:srgbClr val="F4CCCC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 b="1" dirty="0">
                    <a:latin typeface="Courier New"/>
                    <a:ea typeface="Courier New"/>
                    <a:cs typeface="Courier New"/>
                    <a:sym typeface="Courier New"/>
                  </a:rPr>
                  <a:t>Code</a:t>
                </a:r>
                <a:endParaRPr sz="1600" b="1" dirty="0"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  <p:sp>
            <p:nvSpPr>
              <p:cNvPr id="794" name="Google Shape;794;p38"/>
              <p:cNvSpPr/>
              <p:nvPr/>
            </p:nvSpPr>
            <p:spPr>
              <a:xfrm>
                <a:off x="7643519" y="3675634"/>
                <a:ext cx="1122000" cy="341100"/>
              </a:xfrm>
              <a:prstGeom prst="rect">
                <a:avLst/>
              </a:prstGeom>
              <a:solidFill>
                <a:srgbClr val="CFE2F3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 b="1" dirty="0">
                    <a:latin typeface="Courier New"/>
                    <a:ea typeface="Courier New"/>
                    <a:cs typeface="Courier New"/>
                    <a:sym typeface="Courier New"/>
                  </a:rPr>
                  <a:t>stack</a:t>
                </a:r>
                <a:endParaRPr sz="2200" dirty="0"/>
              </a:p>
            </p:txBody>
          </p:sp>
          <p:sp>
            <p:nvSpPr>
              <p:cNvPr id="795" name="Google Shape;795;p38"/>
              <p:cNvSpPr/>
              <p:nvPr/>
            </p:nvSpPr>
            <p:spPr>
              <a:xfrm>
                <a:off x="7643519" y="5187434"/>
                <a:ext cx="1122000" cy="341100"/>
              </a:xfrm>
              <a:prstGeom prst="rect">
                <a:avLst/>
              </a:prstGeom>
              <a:solidFill>
                <a:srgbClr val="FFE599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 b="1" dirty="0">
                    <a:latin typeface="Courier New"/>
                    <a:ea typeface="Courier New"/>
                    <a:cs typeface="Courier New"/>
                    <a:sym typeface="Courier New"/>
                  </a:rPr>
                  <a:t>heap</a:t>
                </a:r>
                <a:endParaRPr sz="2200" dirty="0"/>
              </a:p>
            </p:txBody>
          </p:sp>
          <p:cxnSp>
            <p:nvCxnSpPr>
              <p:cNvPr id="796" name="Google Shape;796;p38"/>
              <p:cNvCxnSpPr/>
              <p:nvPr/>
            </p:nvCxnSpPr>
            <p:spPr>
              <a:xfrm rot="10800000" flipH="1">
                <a:off x="8202268" y="3396334"/>
                <a:ext cx="4500" cy="2793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797" name="Google Shape;797;p38"/>
              <p:cNvCxnSpPr/>
              <p:nvPr/>
            </p:nvCxnSpPr>
            <p:spPr>
              <a:xfrm>
                <a:off x="8200918" y="5528525"/>
                <a:ext cx="7200" cy="3135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</p:grpSp>
        <p:cxnSp>
          <p:nvCxnSpPr>
            <p:cNvPr id="798" name="Google Shape;798;p38"/>
            <p:cNvCxnSpPr>
              <a:stCxn id="786" idx="3"/>
              <a:endCxn id="793" idx="1"/>
            </p:cNvCxnSpPr>
            <p:nvPr/>
          </p:nvCxnSpPr>
          <p:spPr>
            <a:xfrm>
              <a:off x="3442899" y="4171960"/>
              <a:ext cx="1320900" cy="534000"/>
            </a:xfrm>
            <a:prstGeom prst="straightConnector1">
              <a:avLst/>
            </a:prstGeom>
            <a:noFill/>
            <a:ln w="19050" cap="flat" cmpd="sng">
              <a:solidFill>
                <a:srgbClr val="FF0000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799" name="Google Shape;799;p38"/>
            <p:cNvCxnSpPr>
              <a:stCxn id="787" idx="3"/>
              <a:endCxn id="795" idx="1"/>
            </p:cNvCxnSpPr>
            <p:nvPr/>
          </p:nvCxnSpPr>
          <p:spPr>
            <a:xfrm>
              <a:off x="3442893" y="4698280"/>
              <a:ext cx="1320900" cy="7902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800" name="Google Shape;800;p38"/>
            <p:cNvCxnSpPr>
              <a:stCxn id="788" idx="3"/>
              <a:endCxn id="794" idx="1"/>
            </p:cNvCxnSpPr>
            <p:nvPr/>
          </p:nvCxnSpPr>
          <p:spPr>
            <a:xfrm rot="10800000" flipH="1">
              <a:off x="3442893" y="3976555"/>
              <a:ext cx="1320900" cy="1756200"/>
            </a:xfrm>
            <a:prstGeom prst="straightConnector1">
              <a:avLst/>
            </a:prstGeom>
            <a:noFill/>
            <a:ln w="19050" cap="flat" cmpd="sng">
              <a:solidFill>
                <a:schemeClr val="accent5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</p:grpSp>
      <p:grpSp>
        <p:nvGrpSpPr>
          <p:cNvPr id="801" name="Google Shape;801;p38"/>
          <p:cNvGrpSpPr/>
          <p:nvPr/>
        </p:nvGrpSpPr>
        <p:grpSpPr>
          <a:xfrm>
            <a:off x="7224425" y="3135350"/>
            <a:ext cx="4005000" cy="3526200"/>
            <a:chOff x="7148225" y="3135350"/>
            <a:chExt cx="4005000" cy="3526200"/>
          </a:xfrm>
        </p:grpSpPr>
        <p:sp>
          <p:nvSpPr>
            <p:cNvPr id="802" name="Google Shape;802;p38"/>
            <p:cNvSpPr/>
            <p:nvPr/>
          </p:nvSpPr>
          <p:spPr>
            <a:xfrm>
              <a:off x="7148225" y="3135350"/>
              <a:ext cx="4005000" cy="3526200"/>
            </a:xfrm>
            <a:prstGeom prst="rect">
              <a:avLst/>
            </a:prstGeom>
            <a:solidFill>
              <a:srgbClr val="FFE599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3000" b="1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803" name="Google Shape;803;p38"/>
            <p:cNvSpPr txBox="1"/>
            <p:nvPr/>
          </p:nvSpPr>
          <p:spPr>
            <a:xfrm>
              <a:off x="8360056" y="3135357"/>
              <a:ext cx="14877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b="1">
                  <a:latin typeface="Consolas"/>
                  <a:ea typeface="Consolas"/>
                  <a:cs typeface="Consolas"/>
                  <a:sym typeface="Consolas"/>
                </a:rPr>
                <a:t>Chip CPU</a:t>
              </a:r>
              <a:endParaRPr sz="2000" b="1"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804" name="Google Shape;804;p38"/>
            <p:cNvSpPr/>
            <p:nvPr/>
          </p:nvSpPr>
          <p:spPr>
            <a:xfrm>
              <a:off x="8802311" y="3558789"/>
              <a:ext cx="699600" cy="721800"/>
            </a:xfrm>
            <a:prstGeom prst="ellipse">
              <a:avLst/>
            </a:prstGeom>
            <a:solidFill>
              <a:srgbClr val="EA9999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400" b="1">
                  <a:latin typeface="Consolas"/>
                  <a:ea typeface="Consolas"/>
                  <a:cs typeface="Consolas"/>
                  <a:sym typeface="Consolas"/>
                </a:rPr>
                <a:t>CPU</a:t>
              </a:r>
              <a:endParaRPr sz="1400" b="1"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cxnSp>
          <p:nvCxnSpPr>
            <p:cNvPr id="805" name="Google Shape;805;p38"/>
            <p:cNvCxnSpPr>
              <a:stCxn id="804" idx="4"/>
              <a:endCxn id="806" idx="0"/>
            </p:cNvCxnSpPr>
            <p:nvPr/>
          </p:nvCxnSpPr>
          <p:spPr>
            <a:xfrm>
              <a:off x="9152111" y="4280589"/>
              <a:ext cx="0" cy="34530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grpSp>
          <p:nvGrpSpPr>
            <p:cNvPr id="807" name="Google Shape;807;p38"/>
            <p:cNvGrpSpPr/>
            <p:nvPr/>
          </p:nvGrpSpPr>
          <p:grpSpPr>
            <a:xfrm>
              <a:off x="7691895" y="4580223"/>
              <a:ext cx="2920431" cy="1904411"/>
              <a:chOff x="8597231" y="3675891"/>
              <a:chExt cx="4880400" cy="1753278"/>
            </a:xfrm>
          </p:grpSpPr>
          <p:sp>
            <p:nvSpPr>
              <p:cNvPr id="806" name="Google Shape;806;p38"/>
              <p:cNvSpPr/>
              <p:nvPr/>
            </p:nvSpPr>
            <p:spPr>
              <a:xfrm>
                <a:off x="8597231" y="3717969"/>
                <a:ext cx="4880400" cy="1711200"/>
              </a:xfrm>
              <a:prstGeom prst="rect">
                <a:avLst/>
              </a:prstGeom>
              <a:solidFill>
                <a:srgbClr val="B6D7A8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b="1">
                  <a:latin typeface="Consolas"/>
                  <a:ea typeface="Consolas"/>
                  <a:cs typeface="Consolas"/>
                  <a:sym typeface="Consolas"/>
                </a:endParaRPr>
              </a:p>
            </p:txBody>
          </p:sp>
          <p:sp>
            <p:nvSpPr>
              <p:cNvPr id="808" name="Google Shape;808;p38"/>
              <p:cNvSpPr txBox="1"/>
              <p:nvPr/>
            </p:nvSpPr>
            <p:spPr>
              <a:xfrm>
                <a:off x="10593876" y="3675891"/>
                <a:ext cx="887101" cy="39666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 b="1" dirty="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MMU</a:t>
                </a:r>
                <a:endParaRPr sz="700" b="1" dirty="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endParaRPr>
              </a:p>
            </p:txBody>
          </p:sp>
        </p:grpSp>
      </p:grpSp>
      <p:graphicFrame>
        <p:nvGraphicFramePr>
          <p:cNvPr id="809" name="Google Shape;809;p38"/>
          <p:cNvGraphicFramePr/>
          <p:nvPr/>
        </p:nvGraphicFramePr>
        <p:xfrm>
          <a:off x="7988075" y="4959147"/>
          <a:ext cx="2477700" cy="1341000"/>
        </p:xfrm>
        <a:graphic>
          <a:graphicData uri="http://schemas.openxmlformats.org/drawingml/2006/table">
            <a:tbl>
              <a:tblPr>
                <a:noFill/>
                <a:tableStyleId>{CA5C7703-E2AC-41A6-8DEA-2D5C455BA520}</a:tableStyleId>
              </a:tblPr>
              <a:tblGrid>
                <a:gridCol w="827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96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5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88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 b="1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segment</a:t>
                      </a:r>
                      <a:endParaRPr sz="1000" b="1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base</a:t>
                      </a:r>
                      <a:endParaRPr sz="1000" b="1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 b="1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size</a:t>
                      </a:r>
                      <a:endParaRPr sz="1000" b="1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8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code</a:t>
                      </a:r>
                      <a:endParaRPr sz="10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88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heap</a:t>
                      </a:r>
                      <a:endParaRPr sz="10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88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stack</a:t>
                      </a:r>
                      <a:endParaRPr sz="10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FD5353D-D142-4C01-AF81-91D0CE44FE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74343" y="947133"/>
            <a:ext cx="11047385" cy="1842878"/>
          </a:xfrm>
        </p:spPr>
        <p:txBody>
          <a:bodyPr/>
          <a:lstStyle/>
          <a:p>
            <a:pPr marL="457200" lvl="0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400"/>
              <a:buChar char="●"/>
            </a:pPr>
            <a:r>
              <a:rPr lang="es-MX" sz="2800" dirty="0">
                <a:latin typeface="+mn-lt"/>
              </a:rPr>
              <a:t>Cada </a:t>
            </a:r>
            <a:r>
              <a:rPr lang="es-MX" sz="2800" b="1" dirty="0">
                <a:latin typeface="+mn-lt"/>
              </a:rPr>
              <a:t>segmento</a:t>
            </a:r>
            <a:r>
              <a:rPr lang="es-MX" sz="2800" dirty="0">
                <a:latin typeface="+mn-lt"/>
              </a:rPr>
              <a:t> puede ser ubicado en una parte diferentes de la memoria física tiene sus propios registros </a:t>
            </a:r>
            <a:r>
              <a:rPr lang="es-MX" sz="2800" b="1" dirty="0">
                <a:latin typeface="+mn-lt"/>
              </a:rPr>
              <a:t>base &amp; bounds</a:t>
            </a:r>
            <a:r>
              <a:rPr lang="es-MX" sz="2800" dirty="0">
                <a:latin typeface="+mn-lt"/>
              </a:rPr>
              <a:t>.</a:t>
            </a: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s-MX" sz="2800" dirty="0">
                <a:latin typeface="+mn-lt"/>
              </a:rPr>
              <a:t>La MMU tendrá una tabla con tres pares de registros donde cada uno de estos pares estará relacionado a un segmento.</a:t>
            </a:r>
          </a:p>
          <a:p>
            <a:endParaRPr lang="es-CO" dirty="0">
              <a:latin typeface="+mn-lt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0" name="Google Shape;820;p4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1E5C"/>
              </a:buClr>
              <a:buSzPts val="3200"/>
              <a:buFont typeface="Roboto Slab"/>
              <a:buNone/>
            </a:pPr>
            <a:r>
              <a:rPr lang="es-ES" b="0" dirty="0">
                <a:latin typeface="+mn-lt"/>
              </a:rPr>
              <a:t>Traducción de direcciones (I)</a:t>
            </a:r>
            <a:endParaRPr sz="3200" b="0" dirty="0">
              <a:solidFill>
                <a:srgbClr val="701E5C"/>
              </a:solidFill>
              <a:latin typeface="+mn-lt"/>
              <a:sym typeface="Roboto Slab"/>
            </a:endParaRPr>
          </a:p>
        </p:txBody>
      </p:sp>
      <p:sp>
        <p:nvSpPr>
          <p:cNvPr id="821" name="Google Shape;821;p40"/>
          <p:cNvSpPr txBox="1">
            <a:spLocks noGrp="1"/>
          </p:cNvSpPr>
          <p:nvPr>
            <p:ph type="body" idx="1"/>
          </p:nvPr>
        </p:nvSpPr>
        <p:spPr>
          <a:xfrm>
            <a:off x="916650" y="913675"/>
            <a:ext cx="10651800" cy="2087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/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/>
          </a:p>
        </p:txBody>
      </p:sp>
      <p:pic>
        <p:nvPicPr>
          <p:cNvPr id="822" name="Google Shape;822;p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98144" y="1120763"/>
            <a:ext cx="2238831" cy="5567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23" name="Google Shape;823;p4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487900" y="1769500"/>
            <a:ext cx="2362650" cy="426980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824" name="Google Shape;824;p40"/>
          <p:cNvGrpSpPr/>
          <p:nvPr/>
        </p:nvGrpSpPr>
        <p:grpSpPr>
          <a:xfrm>
            <a:off x="4670581" y="2935953"/>
            <a:ext cx="3616864" cy="2546722"/>
            <a:chOff x="8597218" y="3717980"/>
            <a:chExt cx="4880400" cy="2036400"/>
          </a:xfrm>
        </p:grpSpPr>
        <p:sp>
          <p:nvSpPr>
            <p:cNvPr id="825" name="Google Shape;825;p40"/>
            <p:cNvSpPr/>
            <p:nvPr/>
          </p:nvSpPr>
          <p:spPr>
            <a:xfrm>
              <a:off x="8597218" y="3717980"/>
              <a:ext cx="4880400" cy="2036400"/>
            </a:xfrm>
            <a:prstGeom prst="rect">
              <a:avLst/>
            </a:prstGeom>
            <a:solidFill>
              <a:srgbClr val="F4CCCC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b="1"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826" name="Google Shape;826;p40"/>
            <p:cNvSpPr txBox="1"/>
            <p:nvPr/>
          </p:nvSpPr>
          <p:spPr>
            <a:xfrm>
              <a:off x="10593875" y="3778912"/>
              <a:ext cx="887100" cy="443100"/>
            </a:xfrm>
            <a:prstGeom prst="rect">
              <a:avLst/>
            </a:prstGeom>
            <a:solidFill>
              <a:srgbClr val="F4CCCC"/>
            </a:solidFill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400" b="1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AT</a:t>
              </a:r>
              <a:endParaRPr sz="1800" b="1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  <p:graphicFrame>
        <p:nvGraphicFramePr>
          <p:cNvPr id="827" name="Google Shape;827;p40"/>
          <p:cNvGraphicFramePr/>
          <p:nvPr/>
        </p:nvGraphicFramePr>
        <p:xfrm>
          <a:off x="5080513" y="3499148"/>
          <a:ext cx="2796975" cy="1710395"/>
        </p:xfrm>
        <a:graphic>
          <a:graphicData uri="http://schemas.openxmlformats.org/drawingml/2006/table">
            <a:tbl>
              <a:tblPr>
                <a:noFill/>
                <a:tableStyleId>{CA5C7703-E2AC-41A6-8DEA-2D5C455BA520}</a:tableStyleId>
              </a:tblPr>
              <a:tblGrid>
                <a:gridCol w="1011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04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154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03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segment</a:t>
                      </a:r>
                      <a:endParaRPr sz="1600" b="1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base</a:t>
                      </a:r>
                      <a:endParaRPr sz="1600" b="1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size</a:t>
                      </a:r>
                      <a:endParaRPr sz="1600" b="1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8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code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/>
                        <a:t>32K</a:t>
                      </a:r>
                      <a:endParaRPr sz="1600"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2K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8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heap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</a:rPr>
                        <a:t>34K</a:t>
                      </a:r>
                      <a:endParaRPr sz="1600"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2K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38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stack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/>
                        <a:t>28K</a:t>
                      </a:r>
                      <a:endParaRPr sz="1600"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2K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cxnSp>
        <p:nvCxnSpPr>
          <p:cNvPr id="828" name="Google Shape;828;p40"/>
          <p:cNvCxnSpPr>
            <a:endCxn id="825" idx="1"/>
          </p:cNvCxnSpPr>
          <p:nvPr/>
        </p:nvCxnSpPr>
        <p:spPr>
          <a:xfrm>
            <a:off x="3880081" y="4197013"/>
            <a:ext cx="790500" cy="12300"/>
          </a:xfrm>
          <a:prstGeom prst="straightConnector1">
            <a:avLst/>
          </a:prstGeom>
          <a:noFill/>
          <a:ln w="3810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29" name="Google Shape;829;p40"/>
          <p:cNvCxnSpPr/>
          <p:nvPr/>
        </p:nvCxnSpPr>
        <p:spPr>
          <a:xfrm>
            <a:off x="8287456" y="4348188"/>
            <a:ext cx="790500" cy="12300"/>
          </a:xfrm>
          <a:prstGeom prst="straightConnector1">
            <a:avLst/>
          </a:prstGeom>
          <a:noFill/>
          <a:ln w="3810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830" name="Google Shape;830;p40"/>
          <p:cNvSpPr txBox="1"/>
          <p:nvPr/>
        </p:nvSpPr>
        <p:spPr>
          <a:xfrm>
            <a:off x="3303654" y="3941579"/>
            <a:ext cx="6573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b="1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VA</a:t>
            </a:r>
            <a:endParaRPr sz="1600" b="1"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31" name="Google Shape;831;p40"/>
          <p:cNvSpPr txBox="1"/>
          <p:nvPr/>
        </p:nvSpPr>
        <p:spPr>
          <a:xfrm>
            <a:off x="9001754" y="4092754"/>
            <a:ext cx="6573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b="1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PA</a:t>
            </a:r>
            <a:endParaRPr sz="1600" b="1"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6" name="Google Shape;836;p41"/>
          <p:cNvSpPr txBox="1">
            <a:spLocks noGrp="1"/>
          </p:cNvSpPr>
          <p:nvPr>
            <p:ph type="title"/>
          </p:nvPr>
        </p:nvSpPr>
        <p:spPr>
          <a:xfrm>
            <a:off x="324465" y="96038"/>
            <a:ext cx="10530348" cy="9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1E5C"/>
              </a:buClr>
              <a:buSzPts val="3200"/>
              <a:buFont typeface="Roboto Slab"/>
              <a:buNone/>
            </a:pPr>
            <a:r>
              <a:rPr lang="es-ES" b="0" dirty="0">
                <a:latin typeface="+mn-lt"/>
              </a:rPr>
              <a:t>Traducción de direcciones (I)</a:t>
            </a:r>
            <a:endParaRPr b="0" dirty="0">
              <a:latin typeface="+mn-lt"/>
            </a:endParaRPr>
          </a:p>
        </p:txBody>
      </p:sp>
      <p:sp>
        <p:nvSpPr>
          <p:cNvPr id="837" name="Google Shape;837;p41"/>
          <p:cNvSpPr txBox="1">
            <a:spLocks noGrp="1"/>
          </p:cNvSpPr>
          <p:nvPr>
            <p:ph type="body" idx="1"/>
          </p:nvPr>
        </p:nvSpPr>
        <p:spPr>
          <a:xfrm>
            <a:off x="324465" y="833325"/>
            <a:ext cx="11243985" cy="11454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800" b="1" dirty="0">
                <a:solidFill>
                  <a:schemeClr val="accent1"/>
                </a:solidFill>
                <a:latin typeface="+mn-lt"/>
              </a:rPr>
              <a:t>Segmento code</a:t>
            </a:r>
            <a:endParaRPr sz="2800" dirty="0">
              <a:solidFill>
                <a:schemeClr val="accent1"/>
              </a:solidFill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dirty="0">
                <a:latin typeface="+mn-lt"/>
              </a:rPr>
              <a:t>En este segmento se cumple que: </a:t>
            </a:r>
            <a:r>
              <a:rPr lang="es-ES" sz="2000" b="1" dirty="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VA = offset</a:t>
            </a:r>
            <a:endParaRPr sz="2000" b="1" dirty="0">
              <a:solidFill>
                <a:srgbClr val="FF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</p:txBody>
      </p:sp>
      <p:grpSp>
        <p:nvGrpSpPr>
          <p:cNvPr id="838" name="Google Shape;838;p41"/>
          <p:cNvGrpSpPr/>
          <p:nvPr/>
        </p:nvGrpSpPr>
        <p:grpSpPr>
          <a:xfrm>
            <a:off x="1075000" y="2758050"/>
            <a:ext cx="4636464" cy="637200"/>
            <a:chOff x="5127833" y="1665575"/>
            <a:chExt cx="3048300" cy="637200"/>
          </a:xfrm>
        </p:grpSpPr>
        <p:sp>
          <p:nvSpPr>
            <p:cNvPr id="839" name="Google Shape;839;p41"/>
            <p:cNvSpPr/>
            <p:nvPr/>
          </p:nvSpPr>
          <p:spPr>
            <a:xfrm>
              <a:off x="5127833" y="1665575"/>
              <a:ext cx="3048300" cy="637200"/>
            </a:xfrm>
            <a:prstGeom prst="rect">
              <a:avLst/>
            </a:prstGeom>
            <a:solidFill>
              <a:srgbClr val="FFF2CC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0" name="Google Shape;840;p41"/>
            <p:cNvSpPr txBox="1"/>
            <p:nvPr/>
          </p:nvSpPr>
          <p:spPr>
            <a:xfrm>
              <a:off x="5215999" y="1707125"/>
              <a:ext cx="27759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400" b="1" dirty="0">
                  <a:latin typeface="Consolas"/>
                  <a:ea typeface="Consolas"/>
                  <a:cs typeface="Consolas"/>
                  <a:sym typeface="Consolas"/>
                </a:rPr>
                <a:t>PA = </a:t>
              </a:r>
              <a:r>
                <a:rPr lang="es-ES" sz="2400" b="1" dirty="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offset</a:t>
              </a:r>
              <a:r>
                <a:rPr lang="es-ES" sz="2400" b="1" dirty="0">
                  <a:latin typeface="Consolas"/>
                  <a:ea typeface="Consolas"/>
                  <a:cs typeface="Consolas"/>
                  <a:sym typeface="Consolas"/>
                </a:rPr>
                <a:t> + base(code)</a:t>
              </a:r>
              <a:endParaRPr sz="2400" b="1" dirty="0"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  <p:sp>
        <p:nvSpPr>
          <p:cNvPr id="841" name="Google Shape;841;p41"/>
          <p:cNvSpPr txBox="1"/>
          <p:nvPr/>
        </p:nvSpPr>
        <p:spPr>
          <a:xfrm>
            <a:off x="6061450" y="1855950"/>
            <a:ext cx="5656200" cy="153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400" b="1" dirty="0">
                <a:latin typeface="Consolas"/>
                <a:ea typeface="Consolas"/>
                <a:cs typeface="Consolas"/>
                <a:sym typeface="Consolas"/>
              </a:rPr>
              <a:t>Donde:</a:t>
            </a:r>
            <a:endParaRPr sz="2400" b="1" dirty="0"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Font typeface="Consolas"/>
              <a:buChar char="●"/>
            </a:pPr>
            <a:r>
              <a:rPr lang="es-ES" sz="1600" b="1" dirty="0">
                <a:latin typeface="Consolas"/>
                <a:ea typeface="Consolas"/>
                <a:cs typeface="Consolas"/>
                <a:sym typeface="Consolas"/>
              </a:rPr>
              <a:t>offset</a:t>
            </a:r>
            <a:r>
              <a:rPr lang="es-ES" sz="1600" dirty="0">
                <a:latin typeface="Consolas"/>
                <a:ea typeface="Consolas"/>
                <a:cs typeface="Consolas"/>
                <a:sym typeface="Consolas"/>
              </a:rPr>
              <a:t>: offset segmento code.</a:t>
            </a:r>
            <a:endParaRPr sz="1600" dirty="0"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Font typeface="Consolas"/>
              <a:buChar char="●"/>
            </a:pPr>
            <a:r>
              <a:rPr lang="es-ES" sz="1600" b="1" dirty="0">
                <a:latin typeface="Consolas"/>
                <a:ea typeface="Consolas"/>
                <a:cs typeface="Consolas"/>
                <a:sym typeface="Consolas"/>
              </a:rPr>
              <a:t>base</a:t>
            </a:r>
            <a:r>
              <a:rPr lang="es-ES" sz="1600" dirty="0">
                <a:latin typeface="Consolas"/>
                <a:ea typeface="Consolas"/>
                <a:cs typeface="Consolas"/>
                <a:sym typeface="Consolas"/>
              </a:rPr>
              <a:t>: Valor del registro base del segmento code.</a:t>
            </a:r>
            <a:endParaRPr sz="1600" dirty="0"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Font typeface="Consolas"/>
              <a:buChar char="●"/>
            </a:pPr>
            <a:r>
              <a:rPr lang="es-ES" sz="1600" b="1" dirty="0">
                <a:latin typeface="Consolas"/>
                <a:ea typeface="Consolas"/>
                <a:cs typeface="Consolas"/>
                <a:sym typeface="Consolas"/>
              </a:rPr>
              <a:t>PA</a:t>
            </a:r>
            <a:r>
              <a:rPr lang="es-ES" sz="1600" dirty="0">
                <a:latin typeface="Consolas"/>
                <a:ea typeface="Consolas"/>
                <a:cs typeface="Consolas"/>
                <a:sym typeface="Consolas"/>
              </a:rPr>
              <a:t>: Physical Address.</a:t>
            </a:r>
            <a:endParaRPr sz="1600" dirty="0">
              <a:latin typeface="Consolas"/>
              <a:ea typeface="Consolas"/>
              <a:cs typeface="Consolas"/>
              <a:sym typeface="Consolas"/>
            </a:endParaRPr>
          </a:p>
        </p:txBody>
      </p:sp>
      <p:graphicFrame>
        <p:nvGraphicFramePr>
          <p:cNvPr id="842" name="Google Shape;842;p41"/>
          <p:cNvGraphicFramePr/>
          <p:nvPr/>
        </p:nvGraphicFramePr>
        <p:xfrm>
          <a:off x="1709813" y="4619272"/>
          <a:ext cx="2796975" cy="1710395"/>
        </p:xfrm>
        <a:graphic>
          <a:graphicData uri="http://schemas.openxmlformats.org/drawingml/2006/table">
            <a:tbl>
              <a:tblPr>
                <a:noFill/>
                <a:tableStyleId>{CA5C7703-E2AC-41A6-8DEA-2D5C455BA520}</a:tableStyleId>
              </a:tblPr>
              <a:tblGrid>
                <a:gridCol w="1011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04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154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03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segment</a:t>
                      </a:r>
                      <a:endParaRPr sz="1600" b="1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base</a:t>
                      </a:r>
                      <a:endParaRPr sz="1600" b="1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size</a:t>
                      </a:r>
                      <a:endParaRPr sz="1600" b="1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8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code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/>
                        <a:t>32K</a:t>
                      </a:r>
                      <a:endParaRPr sz="1600"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2K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8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heap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</a:rPr>
                        <a:t>34K</a:t>
                      </a:r>
                      <a:endParaRPr sz="1600"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2K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38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stack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/>
                        <a:t>28K</a:t>
                      </a:r>
                      <a:endParaRPr sz="1600"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2K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843" name="Google Shape;843;p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834738" y="3691975"/>
            <a:ext cx="3295650" cy="284797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844" name="Google Shape;844;p41"/>
          <p:cNvGrpSpPr/>
          <p:nvPr/>
        </p:nvGrpSpPr>
        <p:grpSpPr>
          <a:xfrm>
            <a:off x="1074650" y="1978725"/>
            <a:ext cx="4636248" cy="637200"/>
            <a:chOff x="5127836" y="1665575"/>
            <a:chExt cx="3132600" cy="637200"/>
          </a:xfrm>
        </p:grpSpPr>
        <p:sp>
          <p:nvSpPr>
            <p:cNvPr id="845" name="Google Shape;845;p41"/>
            <p:cNvSpPr/>
            <p:nvPr/>
          </p:nvSpPr>
          <p:spPr>
            <a:xfrm>
              <a:off x="5127836" y="1665575"/>
              <a:ext cx="3132600" cy="637200"/>
            </a:xfrm>
            <a:prstGeom prst="rect">
              <a:avLst/>
            </a:prstGeom>
            <a:solidFill>
              <a:srgbClr val="FFF2CC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6" name="Google Shape;846;p41"/>
            <p:cNvSpPr txBox="1"/>
            <p:nvPr/>
          </p:nvSpPr>
          <p:spPr>
            <a:xfrm>
              <a:off x="5410761" y="1707125"/>
              <a:ext cx="26856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400" b="1" dirty="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offset</a:t>
              </a:r>
              <a:r>
                <a:rPr lang="es-ES" sz="2400" b="1" dirty="0">
                  <a:latin typeface="Consolas"/>
                  <a:ea typeface="Consolas"/>
                  <a:cs typeface="Consolas"/>
                  <a:sym typeface="Consolas"/>
                </a:rPr>
                <a:t> = VA</a:t>
              </a:r>
              <a:endParaRPr sz="2400" b="1" dirty="0"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  <p:grpSp>
        <p:nvGrpSpPr>
          <p:cNvPr id="847" name="Google Shape;847;p41"/>
          <p:cNvGrpSpPr/>
          <p:nvPr/>
        </p:nvGrpSpPr>
        <p:grpSpPr>
          <a:xfrm>
            <a:off x="1074538" y="3537363"/>
            <a:ext cx="4636464" cy="637200"/>
            <a:chOff x="5127833" y="1665575"/>
            <a:chExt cx="3048300" cy="637200"/>
          </a:xfrm>
        </p:grpSpPr>
        <p:sp>
          <p:nvSpPr>
            <p:cNvPr id="848" name="Google Shape;848;p41"/>
            <p:cNvSpPr/>
            <p:nvPr/>
          </p:nvSpPr>
          <p:spPr>
            <a:xfrm>
              <a:off x="5127833" y="1665575"/>
              <a:ext cx="3048300" cy="637200"/>
            </a:xfrm>
            <a:prstGeom prst="rect">
              <a:avLst/>
            </a:prstGeom>
            <a:solidFill>
              <a:srgbClr val="D9EAD3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9" name="Google Shape;849;p41"/>
            <p:cNvSpPr txBox="1"/>
            <p:nvPr/>
          </p:nvSpPr>
          <p:spPr>
            <a:xfrm>
              <a:off x="5215999" y="1707125"/>
              <a:ext cx="27759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400" b="1" dirty="0">
                  <a:latin typeface="Consolas"/>
                  <a:ea typeface="Consolas"/>
                  <a:cs typeface="Consolas"/>
                  <a:sym typeface="Consolas"/>
                </a:rPr>
                <a:t>0 &lt;= </a:t>
              </a:r>
              <a:r>
                <a:rPr lang="es-ES" sz="2400" b="1" dirty="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offset</a:t>
              </a:r>
              <a:r>
                <a:rPr lang="es-ES" sz="2400" b="1" dirty="0">
                  <a:latin typeface="Consolas"/>
                  <a:ea typeface="Consolas"/>
                  <a:cs typeface="Consolas"/>
                  <a:sym typeface="Consolas"/>
                </a:rPr>
                <a:t> &lt; size(code)</a:t>
              </a:r>
              <a:endParaRPr sz="2400" b="1" dirty="0"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Google Shape;854;p42"/>
          <p:cNvSpPr txBox="1">
            <a:spLocks noGrp="1"/>
          </p:cNvSpPr>
          <p:nvPr>
            <p:ph type="title"/>
          </p:nvPr>
        </p:nvSpPr>
        <p:spPr>
          <a:xfrm>
            <a:off x="353961" y="96038"/>
            <a:ext cx="8866689" cy="9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1E5C"/>
              </a:buClr>
              <a:buSzPts val="3200"/>
              <a:buFont typeface="Roboto Slab"/>
              <a:buNone/>
            </a:pPr>
            <a:r>
              <a:rPr lang="es-ES" b="0" dirty="0">
                <a:latin typeface="+mn-lt"/>
              </a:rPr>
              <a:t>Traducción de direcciones (I)</a:t>
            </a:r>
            <a:endParaRPr b="0" dirty="0">
              <a:latin typeface="+mn-lt"/>
            </a:endParaRPr>
          </a:p>
        </p:txBody>
      </p:sp>
      <p:sp>
        <p:nvSpPr>
          <p:cNvPr id="855" name="Google Shape;855;p42"/>
          <p:cNvSpPr txBox="1">
            <a:spLocks noGrp="1"/>
          </p:cNvSpPr>
          <p:nvPr>
            <p:ph type="body" idx="1"/>
          </p:nvPr>
        </p:nvSpPr>
        <p:spPr>
          <a:xfrm>
            <a:off x="191729" y="886900"/>
            <a:ext cx="4510971" cy="57114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800" b="1" dirty="0">
                <a:solidFill>
                  <a:schemeClr val="accent1"/>
                </a:solidFill>
                <a:latin typeface="+mn-lt"/>
              </a:rPr>
              <a:t>Segmento code - Ejemplo</a:t>
            </a:r>
            <a:endParaRPr sz="2800" dirty="0">
              <a:solidFill>
                <a:schemeClr val="accent1"/>
              </a:solidFill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200"/>
              <a:buAutoNum type="arabicPeriod"/>
            </a:pPr>
            <a:r>
              <a:rPr lang="es-ES" sz="2200" dirty="0">
                <a:latin typeface="+mn-lt"/>
              </a:rPr>
              <a:t>Chequear límites</a:t>
            </a:r>
          </a:p>
          <a:p>
            <a:pPr marL="457200" lvl="0" indent="-3683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200"/>
              <a:buAutoNum type="arabicPeriod"/>
            </a:pPr>
            <a:endParaRPr lang="es-ES" sz="2200" dirty="0"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200"/>
              <a:buAutoNum type="arabicPeriod"/>
            </a:pPr>
            <a:endParaRPr lang="es-ES" sz="2200" dirty="0"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200"/>
              <a:buAutoNum type="arabicPeriod"/>
            </a:pPr>
            <a:endParaRPr lang="es-ES" sz="2200" dirty="0"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200"/>
              <a:buAutoNum type="arabicPeriod"/>
            </a:pPr>
            <a:endParaRPr lang="es-ES" sz="2200" dirty="0"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200"/>
              <a:buAutoNum type="arabicPeriod"/>
            </a:pPr>
            <a:r>
              <a:rPr lang="es-ES" sz="2200" dirty="0">
                <a:latin typeface="+mn-lt"/>
              </a:rPr>
              <a:t>Obtener la dirección física</a:t>
            </a: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</p:txBody>
      </p:sp>
      <p:grpSp>
        <p:nvGrpSpPr>
          <p:cNvPr id="856" name="Google Shape;856;p42"/>
          <p:cNvGrpSpPr/>
          <p:nvPr/>
        </p:nvGrpSpPr>
        <p:grpSpPr>
          <a:xfrm>
            <a:off x="880489" y="2140612"/>
            <a:ext cx="3646980" cy="492426"/>
            <a:chOff x="1036325" y="2068050"/>
            <a:chExt cx="3071400" cy="497400"/>
          </a:xfrm>
        </p:grpSpPr>
        <p:sp>
          <p:nvSpPr>
            <p:cNvPr id="857" name="Google Shape;857;p42"/>
            <p:cNvSpPr/>
            <p:nvPr/>
          </p:nvSpPr>
          <p:spPr>
            <a:xfrm>
              <a:off x="1036325" y="2068050"/>
              <a:ext cx="3071400" cy="492600"/>
            </a:xfrm>
            <a:prstGeom prst="rect">
              <a:avLst/>
            </a:prstGeom>
            <a:solidFill>
              <a:srgbClr val="FFF2CC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8" name="Google Shape;858;p42"/>
            <p:cNvSpPr txBox="1"/>
            <p:nvPr/>
          </p:nvSpPr>
          <p:spPr>
            <a:xfrm>
              <a:off x="1096548" y="2068050"/>
              <a:ext cx="2983200" cy="497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b="1" dirty="0">
                  <a:latin typeface="Consolas"/>
                  <a:ea typeface="Consolas"/>
                  <a:cs typeface="Consolas"/>
                  <a:sym typeface="Consolas"/>
                </a:rPr>
                <a:t>0 &lt;= </a:t>
              </a:r>
              <a:r>
                <a:rPr lang="es-ES" sz="2000" b="1" dirty="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offset</a:t>
              </a:r>
              <a:r>
                <a:rPr lang="es-ES" sz="2000" b="1" dirty="0">
                  <a:latin typeface="Consolas"/>
                  <a:ea typeface="Consolas"/>
                  <a:cs typeface="Consolas"/>
                  <a:sym typeface="Consolas"/>
                </a:rPr>
                <a:t> &lt; size(code)</a:t>
              </a:r>
              <a:endParaRPr sz="2000" b="1" dirty="0"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  <p:pic>
        <p:nvPicPr>
          <p:cNvPr id="859" name="Google Shape;859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02700" y="3243957"/>
            <a:ext cx="7288147" cy="300936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860" name="Google Shape;860;p42"/>
          <p:cNvGraphicFramePr/>
          <p:nvPr>
            <p:extLst>
              <p:ext uri="{D42A27DB-BD31-4B8C-83A1-F6EECF244321}">
                <p14:modId xmlns:p14="http://schemas.microsoft.com/office/powerpoint/2010/main" val="890270387"/>
              </p:ext>
            </p:extLst>
          </p:nvPr>
        </p:nvGraphicFramePr>
        <p:xfrm>
          <a:off x="5216229" y="2201596"/>
          <a:ext cx="2512416" cy="853380"/>
        </p:xfrm>
        <a:graphic>
          <a:graphicData uri="http://schemas.openxmlformats.org/drawingml/2006/table">
            <a:tbl>
              <a:tblPr>
                <a:noFill/>
                <a:tableStyleId>{CA5C7703-E2AC-41A6-8DEA-2D5C455BA520}</a:tableStyleId>
              </a:tblPr>
              <a:tblGrid>
                <a:gridCol w="10426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7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252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37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segment</a:t>
                      </a:r>
                      <a:endParaRPr sz="1600" b="1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base</a:t>
                      </a:r>
                      <a:endParaRPr sz="1600" b="1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size</a:t>
                      </a:r>
                      <a:endParaRPr sz="1600" b="1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37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code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/>
                        <a:t>32K</a:t>
                      </a:r>
                      <a:endParaRPr sz="1600"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2K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pSp>
        <p:nvGrpSpPr>
          <p:cNvPr id="861" name="Google Shape;861;p42"/>
          <p:cNvGrpSpPr/>
          <p:nvPr/>
        </p:nvGrpSpPr>
        <p:grpSpPr>
          <a:xfrm>
            <a:off x="883310" y="4072223"/>
            <a:ext cx="3647100" cy="492600"/>
            <a:chOff x="1036325" y="2068050"/>
            <a:chExt cx="3647100" cy="492600"/>
          </a:xfrm>
        </p:grpSpPr>
        <p:sp>
          <p:nvSpPr>
            <p:cNvPr id="862" name="Google Shape;862;p42"/>
            <p:cNvSpPr/>
            <p:nvPr/>
          </p:nvSpPr>
          <p:spPr>
            <a:xfrm>
              <a:off x="1036325" y="2068050"/>
              <a:ext cx="3647100" cy="492600"/>
            </a:xfrm>
            <a:prstGeom prst="rect">
              <a:avLst/>
            </a:prstGeom>
            <a:solidFill>
              <a:srgbClr val="FFF2CC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3" name="Google Shape;863;p42"/>
            <p:cNvSpPr txBox="1"/>
            <p:nvPr/>
          </p:nvSpPr>
          <p:spPr>
            <a:xfrm>
              <a:off x="1114600" y="2068050"/>
              <a:ext cx="35688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b="1" dirty="0">
                  <a:latin typeface="Consolas"/>
                  <a:ea typeface="Consolas"/>
                  <a:cs typeface="Consolas"/>
                  <a:sym typeface="Consolas"/>
                </a:rPr>
                <a:t>PA = </a:t>
              </a:r>
              <a:r>
                <a:rPr lang="es-ES" sz="2000" b="1" dirty="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offset </a:t>
              </a:r>
              <a:r>
                <a:rPr lang="es-ES" sz="2000" b="1" dirty="0">
                  <a:latin typeface="Consolas"/>
                  <a:ea typeface="Consolas"/>
                  <a:cs typeface="Consolas"/>
                  <a:sym typeface="Consolas"/>
                </a:rPr>
                <a:t>+ base(code)</a:t>
              </a:r>
              <a:endParaRPr sz="2000" b="1" dirty="0"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  <p:sp>
        <p:nvSpPr>
          <p:cNvPr id="864" name="Google Shape;864;p42"/>
          <p:cNvSpPr txBox="1"/>
          <p:nvPr/>
        </p:nvSpPr>
        <p:spPr>
          <a:xfrm>
            <a:off x="1865300" y="2782256"/>
            <a:ext cx="1908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dirty="0">
                <a:latin typeface="Consolas"/>
                <a:ea typeface="Consolas"/>
                <a:cs typeface="Consolas"/>
                <a:sym typeface="Consolas"/>
              </a:rPr>
              <a:t>0 &lt; 100 &lt; 2K</a:t>
            </a:r>
            <a:endParaRPr sz="1800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65" name="Google Shape;865;p42"/>
          <p:cNvSpPr txBox="1"/>
          <p:nvPr/>
        </p:nvSpPr>
        <p:spPr>
          <a:xfrm>
            <a:off x="4787305" y="886900"/>
            <a:ext cx="7050734" cy="989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200" b="1" dirty="0">
                <a:solidFill>
                  <a:srgbClr val="FF0000"/>
                </a:solidFill>
                <a:ea typeface="Roboto"/>
                <a:cs typeface="Roboto"/>
                <a:sym typeface="Roboto"/>
              </a:rPr>
              <a:t>Pregunta:</a:t>
            </a:r>
            <a:r>
              <a:rPr lang="es-ES" sz="2200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 ¿Cuál es la </a:t>
            </a:r>
            <a:r>
              <a:rPr lang="es-ES" sz="2200" dirty="0">
                <a:solidFill>
                  <a:schemeClr val="dk1"/>
                </a:solidFill>
                <a:ea typeface="Consolas"/>
                <a:cs typeface="Consolas"/>
                <a:sym typeface="Consolas"/>
              </a:rPr>
              <a:t>PA</a:t>
            </a:r>
            <a:r>
              <a:rPr lang="es-ES" sz="2200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 de </a:t>
            </a:r>
            <a:r>
              <a:rPr lang="es-ES" sz="2000" dirty="0">
                <a:solidFill>
                  <a:schemeClr val="dk1"/>
                </a:solidFill>
                <a:latin typeface="Consolas" panose="020B0609020204030204" pitchFamily="49" charset="0"/>
                <a:ea typeface="Consolas"/>
                <a:cs typeface="Consolas"/>
                <a:sym typeface="Consolas"/>
              </a:rPr>
              <a:t>VA = 100</a:t>
            </a:r>
            <a:r>
              <a:rPr lang="es-ES" sz="2200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?</a:t>
            </a:r>
            <a:endParaRPr sz="2200" dirty="0">
              <a:solidFill>
                <a:schemeClr val="dk1"/>
              </a:solidFill>
              <a:ea typeface="Roboto"/>
              <a:cs typeface="Roboto"/>
              <a:sym typeface="Roboto"/>
            </a:endParaRPr>
          </a:p>
          <a:p>
            <a:pPr marL="457200" lvl="0" indent="-3683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Roboto"/>
              <a:buChar char="●"/>
            </a:pPr>
            <a:r>
              <a:rPr lang="es-ES" sz="2200" b="1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VA ubicada en el code</a:t>
            </a:r>
            <a:r>
              <a:rPr lang="es-ES" sz="2200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: </a:t>
            </a:r>
            <a:r>
              <a:rPr lang="es-ES" sz="20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offset = VA = 100</a:t>
            </a:r>
            <a:endParaRPr sz="20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66" name="Google Shape;866;p42"/>
          <p:cNvSpPr txBox="1"/>
          <p:nvPr/>
        </p:nvSpPr>
        <p:spPr>
          <a:xfrm>
            <a:off x="1233410" y="4662983"/>
            <a:ext cx="2946900" cy="101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dirty="0">
                <a:latin typeface="Consolas"/>
                <a:ea typeface="Consolas"/>
                <a:cs typeface="Consolas"/>
                <a:sym typeface="Consolas"/>
              </a:rPr>
              <a:t>PA = 100 + 32K</a:t>
            </a:r>
            <a:endParaRPr sz="1800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PA = 100 + 32(1024)</a:t>
            </a:r>
            <a:endParaRPr sz="18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1800" b="1" dirty="0">
                <a:solidFill>
                  <a:schemeClr val="accent5"/>
                </a:solidFill>
                <a:latin typeface="Consolas"/>
                <a:ea typeface="Consolas"/>
                <a:cs typeface="Consolas"/>
                <a:sym typeface="Consolas"/>
              </a:rPr>
              <a:t>PA = 32868</a:t>
            </a:r>
            <a:endParaRPr sz="1800" b="1" dirty="0">
              <a:solidFill>
                <a:schemeClr val="accent5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1" name="Google Shape;871;p43"/>
          <p:cNvSpPr txBox="1">
            <a:spLocks noGrp="1"/>
          </p:cNvSpPr>
          <p:nvPr>
            <p:ph type="title"/>
          </p:nvPr>
        </p:nvSpPr>
        <p:spPr>
          <a:xfrm>
            <a:off x="309716" y="96038"/>
            <a:ext cx="8910934" cy="9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1E5C"/>
              </a:buClr>
              <a:buSzPts val="3200"/>
              <a:buFont typeface="Roboto Slab"/>
              <a:buNone/>
            </a:pPr>
            <a:r>
              <a:rPr lang="es-ES" b="0" dirty="0">
                <a:latin typeface="+mj-lt"/>
              </a:rPr>
              <a:t>Traducción de direcciones (I)</a:t>
            </a:r>
            <a:endParaRPr b="0" dirty="0">
              <a:latin typeface="+mj-lt"/>
            </a:endParaRPr>
          </a:p>
        </p:txBody>
      </p:sp>
      <p:sp>
        <p:nvSpPr>
          <p:cNvPr id="872" name="Google Shape;872;p43"/>
          <p:cNvSpPr txBox="1">
            <a:spLocks noGrp="1"/>
          </p:cNvSpPr>
          <p:nvPr>
            <p:ph type="body" idx="1"/>
          </p:nvPr>
        </p:nvSpPr>
        <p:spPr>
          <a:xfrm>
            <a:off x="427702" y="819925"/>
            <a:ext cx="11454581" cy="11454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800" b="1" dirty="0">
                <a:solidFill>
                  <a:schemeClr val="accent1"/>
                </a:solidFill>
                <a:latin typeface="+mn-lt"/>
              </a:rPr>
              <a:t>Segmento heap</a:t>
            </a:r>
            <a:endParaRPr sz="2800" dirty="0">
              <a:solidFill>
                <a:schemeClr val="accent1"/>
              </a:solidFill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dirty="0">
                <a:latin typeface="+mn-lt"/>
              </a:rPr>
              <a:t>En este caso </a:t>
            </a:r>
            <a:r>
              <a:rPr lang="es-ES" sz="2400" b="1" dirty="0">
                <a:solidFill>
                  <a:srgbClr val="FF0000"/>
                </a:solidFill>
                <a:latin typeface="Consolas" panose="020B0609020204030204" pitchFamily="49" charset="0"/>
                <a:ea typeface="Consolas"/>
                <a:cs typeface="Consolas"/>
                <a:sym typeface="Consolas"/>
              </a:rPr>
              <a:t>VA + offset</a:t>
            </a:r>
            <a:r>
              <a:rPr lang="es-ES" sz="2400" b="1" dirty="0">
                <a:solidFill>
                  <a:srgbClr val="FF0000"/>
                </a:solidFill>
                <a:latin typeface="+mn-lt"/>
                <a:ea typeface="Consolas"/>
                <a:cs typeface="Consolas"/>
                <a:sym typeface="Consolas"/>
              </a:rPr>
              <a:t> </a:t>
            </a:r>
            <a:r>
              <a:rPr lang="es-ES" sz="2400" dirty="0">
                <a:solidFill>
                  <a:srgbClr val="FF0000"/>
                </a:solidFill>
                <a:latin typeface="+mn-lt"/>
              </a:rPr>
              <a:t>no es la dirección física correcta</a:t>
            </a:r>
            <a:endParaRPr sz="2400" b="1" dirty="0">
              <a:solidFill>
                <a:srgbClr val="FF0000"/>
              </a:solidFill>
              <a:latin typeface="+mn-lt"/>
              <a:ea typeface="Consolas"/>
              <a:cs typeface="Consolas"/>
              <a:sym typeface="Consolas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</p:txBody>
      </p:sp>
      <p:grpSp>
        <p:nvGrpSpPr>
          <p:cNvPr id="873" name="Google Shape;873;p43"/>
          <p:cNvGrpSpPr/>
          <p:nvPr/>
        </p:nvGrpSpPr>
        <p:grpSpPr>
          <a:xfrm>
            <a:off x="1118628" y="2063846"/>
            <a:ext cx="4636561" cy="637200"/>
            <a:chOff x="6050601" y="1607225"/>
            <a:chExt cx="3132600" cy="637200"/>
          </a:xfrm>
        </p:grpSpPr>
        <p:sp>
          <p:nvSpPr>
            <p:cNvPr id="874" name="Google Shape;874;p43"/>
            <p:cNvSpPr/>
            <p:nvPr/>
          </p:nvSpPr>
          <p:spPr>
            <a:xfrm>
              <a:off x="6050601" y="1607225"/>
              <a:ext cx="3132600" cy="637200"/>
            </a:xfrm>
            <a:prstGeom prst="rect">
              <a:avLst/>
            </a:prstGeom>
            <a:solidFill>
              <a:srgbClr val="FFF2CC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5" name="Google Shape;875;p43"/>
            <p:cNvSpPr txBox="1"/>
            <p:nvPr/>
          </p:nvSpPr>
          <p:spPr>
            <a:xfrm>
              <a:off x="6333526" y="1648775"/>
              <a:ext cx="26856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400" b="1" dirty="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offset</a:t>
              </a:r>
              <a:r>
                <a:rPr lang="es-ES" sz="2400" b="1" dirty="0">
                  <a:latin typeface="Consolas"/>
                  <a:ea typeface="Consolas"/>
                  <a:cs typeface="Consolas"/>
                  <a:sym typeface="Consolas"/>
                </a:rPr>
                <a:t> = VA - VA(heap)</a:t>
              </a:r>
              <a:endParaRPr sz="2400" b="1" dirty="0"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  <p:graphicFrame>
        <p:nvGraphicFramePr>
          <p:cNvPr id="876" name="Google Shape;876;p43"/>
          <p:cNvGraphicFramePr/>
          <p:nvPr>
            <p:extLst>
              <p:ext uri="{D42A27DB-BD31-4B8C-83A1-F6EECF244321}">
                <p14:modId xmlns:p14="http://schemas.microsoft.com/office/powerpoint/2010/main" val="1248579365"/>
              </p:ext>
            </p:extLst>
          </p:nvPr>
        </p:nvGraphicFramePr>
        <p:xfrm>
          <a:off x="2126375" y="4609012"/>
          <a:ext cx="2796975" cy="1710395"/>
        </p:xfrm>
        <a:graphic>
          <a:graphicData uri="http://schemas.openxmlformats.org/drawingml/2006/table">
            <a:tbl>
              <a:tblPr>
                <a:noFill/>
                <a:tableStyleId>{CA5C7703-E2AC-41A6-8DEA-2D5C455BA520}</a:tableStyleId>
              </a:tblPr>
              <a:tblGrid>
                <a:gridCol w="1011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04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154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03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segment</a:t>
                      </a:r>
                      <a:endParaRPr sz="1600" b="1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base</a:t>
                      </a:r>
                      <a:endParaRPr sz="1600" b="1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size</a:t>
                      </a:r>
                      <a:endParaRPr sz="1600" b="1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8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code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/>
                        <a:t>32K</a:t>
                      </a:r>
                      <a:endParaRPr sz="1600" dirty="0"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2K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8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heap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</a:rPr>
                        <a:t>34K</a:t>
                      </a:r>
                      <a:endParaRPr sz="1600"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2K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38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stack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/>
                        <a:t>28K</a:t>
                      </a:r>
                      <a:endParaRPr sz="1600"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2K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877" name="Google Shape;877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982048" y="2428362"/>
            <a:ext cx="3495675" cy="332422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878" name="Google Shape;878;p43"/>
          <p:cNvGrpSpPr/>
          <p:nvPr/>
        </p:nvGrpSpPr>
        <p:grpSpPr>
          <a:xfrm>
            <a:off x="1118628" y="2939527"/>
            <a:ext cx="4636561" cy="637200"/>
            <a:chOff x="6050601" y="1443225"/>
            <a:chExt cx="3132600" cy="637200"/>
          </a:xfrm>
        </p:grpSpPr>
        <p:sp>
          <p:nvSpPr>
            <p:cNvPr id="879" name="Google Shape;879;p43"/>
            <p:cNvSpPr/>
            <p:nvPr/>
          </p:nvSpPr>
          <p:spPr>
            <a:xfrm>
              <a:off x="6050601" y="1443225"/>
              <a:ext cx="3132600" cy="637200"/>
            </a:xfrm>
            <a:prstGeom prst="rect">
              <a:avLst/>
            </a:prstGeom>
            <a:solidFill>
              <a:srgbClr val="FFF2CC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0" name="Google Shape;880;p43"/>
            <p:cNvSpPr txBox="1"/>
            <p:nvPr/>
          </p:nvSpPr>
          <p:spPr>
            <a:xfrm>
              <a:off x="6166292" y="1484775"/>
              <a:ext cx="29082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400" b="1" dirty="0">
                  <a:latin typeface="Consolas"/>
                  <a:ea typeface="Consolas"/>
                  <a:cs typeface="Consolas"/>
                  <a:sym typeface="Consolas"/>
                </a:rPr>
                <a:t>PA = </a:t>
              </a:r>
              <a:r>
                <a:rPr lang="es-ES" sz="2400" b="1" dirty="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offset</a:t>
              </a:r>
              <a:r>
                <a:rPr lang="es-ES" sz="2400" b="1" dirty="0">
                  <a:latin typeface="Consolas"/>
                  <a:ea typeface="Consolas"/>
                  <a:cs typeface="Consolas"/>
                  <a:sym typeface="Consolas"/>
                </a:rPr>
                <a:t> + base(heap)</a:t>
              </a:r>
              <a:endParaRPr sz="2400" b="1" dirty="0"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  <p:grpSp>
        <p:nvGrpSpPr>
          <p:cNvPr id="881" name="Google Shape;881;p43"/>
          <p:cNvGrpSpPr/>
          <p:nvPr/>
        </p:nvGrpSpPr>
        <p:grpSpPr>
          <a:xfrm>
            <a:off x="1118628" y="3771875"/>
            <a:ext cx="4636464" cy="637200"/>
            <a:chOff x="5127833" y="1665575"/>
            <a:chExt cx="3048300" cy="637200"/>
          </a:xfrm>
        </p:grpSpPr>
        <p:sp>
          <p:nvSpPr>
            <p:cNvPr id="882" name="Google Shape;882;p43"/>
            <p:cNvSpPr/>
            <p:nvPr/>
          </p:nvSpPr>
          <p:spPr>
            <a:xfrm>
              <a:off x="5127833" y="1665575"/>
              <a:ext cx="3048300" cy="637200"/>
            </a:xfrm>
            <a:prstGeom prst="rect">
              <a:avLst/>
            </a:prstGeom>
            <a:solidFill>
              <a:srgbClr val="D9EAD3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3" name="Google Shape;883;p43"/>
            <p:cNvSpPr txBox="1"/>
            <p:nvPr/>
          </p:nvSpPr>
          <p:spPr>
            <a:xfrm>
              <a:off x="5215999" y="1707125"/>
              <a:ext cx="27759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400" b="1" dirty="0">
                  <a:latin typeface="Consolas"/>
                  <a:ea typeface="Consolas"/>
                  <a:cs typeface="Consolas"/>
                  <a:sym typeface="Consolas"/>
                </a:rPr>
                <a:t>0 &lt;= </a:t>
              </a:r>
              <a:r>
                <a:rPr lang="es-ES" sz="2400" b="1" dirty="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offset</a:t>
              </a:r>
              <a:r>
                <a:rPr lang="es-ES" sz="2400" b="1" dirty="0">
                  <a:latin typeface="Consolas"/>
                  <a:ea typeface="Consolas"/>
                  <a:cs typeface="Consolas"/>
                  <a:sym typeface="Consolas"/>
                </a:rPr>
                <a:t> &lt; size(heap)</a:t>
              </a:r>
              <a:endParaRPr sz="2400" b="1" dirty="0"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8" name="Google Shape;888;p44"/>
          <p:cNvSpPr txBox="1">
            <a:spLocks noGrp="1"/>
          </p:cNvSpPr>
          <p:nvPr>
            <p:ph type="title"/>
          </p:nvPr>
        </p:nvSpPr>
        <p:spPr>
          <a:xfrm>
            <a:off x="575187" y="96038"/>
            <a:ext cx="10804213" cy="9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1E5C"/>
              </a:buClr>
              <a:buSzPts val="3200"/>
              <a:buFont typeface="Roboto Slab"/>
              <a:buNone/>
            </a:pPr>
            <a:r>
              <a:rPr lang="es-ES" b="0" dirty="0">
                <a:latin typeface="+mn-lt"/>
              </a:rPr>
              <a:t>Traducción de direcciones (I)</a:t>
            </a:r>
            <a:endParaRPr b="0" dirty="0">
              <a:latin typeface="+mn-lt"/>
            </a:endParaRPr>
          </a:p>
        </p:txBody>
      </p:sp>
      <p:sp>
        <p:nvSpPr>
          <p:cNvPr id="889" name="Google Shape;889;p44"/>
          <p:cNvSpPr txBox="1">
            <a:spLocks noGrp="1"/>
          </p:cNvSpPr>
          <p:nvPr>
            <p:ph type="body" idx="1"/>
          </p:nvPr>
        </p:nvSpPr>
        <p:spPr>
          <a:xfrm>
            <a:off x="280220" y="979683"/>
            <a:ext cx="4365413" cy="5412477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800" b="1" dirty="0">
                <a:solidFill>
                  <a:schemeClr val="accent1"/>
                </a:solidFill>
                <a:latin typeface="+mn-lt"/>
              </a:rPr>
              <a:t>Segmento heap</a:t>
            </a:r>
            <a:endParaRPr sz="2800" dirty="0">
              <a:solidFill>
                <a:schemeClr val="accent1"/>
              </a:solidFill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200"/>
              <a:buAutoNum type="arabicPeriod"/>
            </a:pPr>
            <a:r>
              <a:rPr lang="es-ES" sz="2200" dirty="0">
                <a:latin typeface="+mn-lt"/>
              </a:rPr>
              <a:t>Obtener offset(heap)</a:t>
            </a:r>
          </a:p>
          <a:p>
            <a:pPr marL="457200" lvl="0" indent="-3683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200"/>
              <a:buAutoNum type="arabicPeriod"/>
            </a:pPr>
            <a:endParaRPr lang="es-ES" sz="2200" dirty="0"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200"/>
              <a:buAutoNum type="arabicPeriod"/>
            </a:pPr>
            <a:endParaRPr lang="es-ES" sz="2200" dirty="0"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200"/>
              <a:buAutoNum type="arabicPeriod"/>
            </a:pPr>
            <a:endParaRPr lang="es-ES" sz="2200" dirty="0"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200"/>
              <a:buAutoNum type="arabicPeriod"/>
            </a:pPr>
            <a:r>
              <a:rPr lang="es-ES" sz="2200" dirty="0">
                <a:latin typeface="+mn-lt"/>
              </a:rPr>
              <a:t>Verificar límites</a:t>
            </a:r>
          </a:p>
          <a:p>
            <a:pPr marL="457200" lvl="0" indent="-3683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200"/>
              <a:buAutoNum type="arabicPeriod"/>
            </a:pPr>
            <a:endParaRPr lang="es-ES" sz="2200" dirty="0"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200"/>
              <a:buAutoNum type="arabicPeriod"/>
            </a:pPr>
            <a:endParaRPr lang="es-ES" sz="2200" dirty="0"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200"/>
              <a:buAutoNum type="arabicPeriod"/>
            </a:pPr>
            <a:r>
              <a:rPr lang="es-ES" sz="2200" dirty="0">
                <a:latin typeface="+mn-lt"/>
              </a:rPr>
              <a:t>Obtener PA</a:t>
            </a: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</p:txBody>
      </p:sp>
      <p:grpSp>
        <p:nvGrpSpPr>
          <p:cNvPr id="890" name="Google Shape;890;p44"/>
          <p:cNvGrpSpPr/>
          <p:nvPr/>
        </p:nvGrpSpPr>
        <p:grpSpPr>
          <a:xfrm>
            <a:off x="779883" y="1956258"/>
            <a:ext cx="3756526" cy="492600"/>
            <a:chOff x="973322" y="3626850"/>
            <a:chExt cx="3729303" cy="492600"/>
          </a:xfrm>
        </p:grpSpPr>
        <p:sp>
          <p:nvSpPr>
            <p:cNvPr id="891" name="Google Shape;891;p44"/>
            <p:cNvSpPr/>
            <p:nvPr/>
          </p:nvSpPr>
          <p:spPr>
            <a:xfrm>
              <a:off x="973325" y="3626850"/>
              <a:ext cx="3729300" cy="492600"/>
            </a:xfrm>
            <a:prstGeom prst="rect">
              <a:avLst/>
            </a:prstGeom>
            <a:solidFill>
              <a:srgbClr val="FFF2CC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2" name="Google Shape;892;p44"/>
            <p:cNvSpPr txBox="1"/>
            <p:nvPr/>
          </p:nvSpPr>
          <p:spPr>
            <a:xfrm>
              <a:off x="973322" y="3626850"/>
              <a:ext cx="34203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800" b="1" dirty="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offset</a:t>
              </a:r>
              <a:r>
                <a:rPr lang="es-ES" sz="1800" b="1" dirty="0">
                  <a:latin typeface="Consolas"/>
                  <a:ea typeface="Consolas"/>
                  <a:cs typeface="Consolas"/>
                  <a:sym typeface="Consolas"/>
                </a:rPr>
                <a:t> = VA - VA(heap)</a:t>
              </a:r>
              <a:endParaRPr sz="1800" b="1" dirty="0"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  <p:sp>
        <p:nvSpPr>
          <p:cNvPr id="893" name="Google Shape;893;p44"/>
          <p:cNvSpPr txBox="1"/>
          <p:nvPr/>
        </p:nvSpPr>
        <p:spPr>
          <a:xfrm>
            <a:off x="766563" y="3974185"/>
            <a:ext cx="26976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dirty="0">
                <a:latin typeface="Consolas"/>
                <a:ea typeface="Consolas"/>
                <a:cs typeface="Consolas"/>
                <a:sym typeface="Consolas"/>
              </a:rPr>
              <a:t>0 &lt; </a:t>
            </a:r>
            <a:r>
              <a:rPr lang="es-ES" sz="1600" dirty="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104</a:t>
            </a:r>
            <a:r>
              <a:rPr lang="es-ES" sz="1600" dirty="0">
                <a:latin typeface="Consolas"/>
                <a:ea typeface="Consolas"/>
                <a:cs typeface="Consolas"/>
                <a:sym typeface="Consolas"/>
              </a:rPr>
              <a:t> &lt; 2K</a:t>
            </a:r>
            <a:endParaRPr sz="1600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94" name="Google Shape;894;p44"/>
          <p:cNvSpPr txBox="1"/>
          <p:nvPr/>
        </p:nvSpPr>
        <p:spPr>
          <a:xfrm>
            <a:off x="5301900" y="1166100"/>
            <a:ext cx="5904900" cy="989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200" b="1" dirty="0">
                <a:solidFill>
                  <a:srgbClr val="FF0000"/>
                </a:solidFill>
                <a:ea typeface="Roboto"/>
                <a:cs typeface="Roboto"/>
                <a:sym typeface="Roboto"/>
              </a:rPr>
              <a:t>Pregunta:</a:t>
            </a:r>
            <a:r>
              <a:rPr lang="es-ES" sz="2200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 ¿Cuál es la </a:t>
            </a:r>
            <a:r>
              <a:rPr lang="es-ES" sz="2000" dirty="0">
                <a:solidFill>
                  <a:schemeClr val="dk1"/>
                </a:solidFill>
                <a:latin typeface="Consolas" panose="020B0609020204030204" pitchFamily="49" charset="0"/>
                <a:ea typeface="Consolas"/>
                <a:cs typeface="Consolas"/>
                <a:sym typeface="Consolas"/>
              </a:rPr>
              <a:t>PA</a:t>
            </a:r>
            <a:r>
              <a:rPr lang="es-ES" sz="2200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 de </a:t>
            </a:r>
            <a:r>
              <a:rPr lang="es-ES" sz="2000" dirty="0">
                <a:solidFill>
                  <a:schemeClr val="dk1"/>
                </a:solidFill>
                <a:latin typeface="Consolas" panose="020B0609020204030204" pitchFamily="49" charset="0"/>
                <a:ea typeface="Consolas"/>
                <a:cs typeface="Consolas"/>
                <a:sym typeface="Consolas"/>
              </a:rPr>
              <a:t>VA = 4200</a:t>
            </a:r>
            <a:r>
              <a:rPr lang="es-ES" sz="2200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?</a:t>
            </a:r>
            <a:endParaRPr sz="2200" dirty="0">
              <a:solidFill>
                <a:schemeClr val="dk1"/>
              </a:solidFill>
              <a:ea typeface="Roboto"/>
              <a:cs typeface="Roboto"/>
              <a:sym typeface="Roboto"/>
            </a:endParaRPr>
          </a:p>
          <a:p>
            <a:pPr marL="457200" lvl="0" indent="-3683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Roboto"/>
              <a:buChar char="●"/>
            </a:pPr>
            <a:r>
              <a:rPr lang="es-ES" sz="2200" b="1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Va ubicada en el heap</a:t>
            </a:r>
            <a:r>
              <a:rPr lang="es-ES" sz="2200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: </a:t>
            </a:r>
            <a:r>
              <a:rPr lang="es-ES" sz="2000" dirty="0">
                <a:solidFill>
                  <a:schemeClr val="dk1"/>
                </a:solidFill>
                <a:latin typeface="Consolas" panose="020B0609020204030204" pitchFamily="49" charset="0"/>
                <a:ea typeface="Consolas"/>
                <a:cs typeface="Consolas"/>
                <a:sym typeface="Consolas"/>
              </a:rPr>
              <a:t>VA = 4200</a:t>
            </a:r>
            <a:endParaRPr sz="2000" dirty="0">
              <a:solidFill>
                <a:schemeClr val="dk1"/>
              </a:solidFill>
              <a:latin typeface="Consolas" panose="020B0609020204030204" pitchFamily="49" charset="0"/>
              <a:ea typeface="Consolas"/>
              <a:cs typeface="Consolas"/>
              <a:sym typeface="Consolas"/>
            </a:endParaRPr>
          </a:p>
        </p:txBody>
      </p:sp>
      <p:sp>
        <p:nvSpPr>
          <p:cNvPr id="895" name="Google Shape;895;p44"/>
          <p:cNvSpPr txBox="1"/>
          <p:nvPr/>
        </p:nvSpPr>
        <p:spPr>
          <a:xfrm>
            <a:off x="772890" y="2364770"/>
            <a:ext cx="3633000" cy="9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dirty="0">
                <a:latin typeface="Consolas"/>
                <a:ea typeface="Consolas"/>
                <a:cs typeface="Consolas"/>
                <a:sym typeface="Consolas"/>
              </a:rPr>
              <a:t>offset = 4200 - 4K</a:t>
            </a:r>
            <a:endParaRPr sz="1600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offset = 4200 - 4(1024)</a:t>
            </a:r>
            <a:endParaRPr sz="16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 dirty="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offset = 104</a:t>
            </a:r>
            <a:endParaRPr sz="1600" b="1" dirty="0">
              <a:solidFill>
                <a:srgbClr val="FF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896" name="Google Shape;896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18679" y="3301491"/>
            <a:ext cx="7184501" cy="3340495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897" name="Google Shape;897;p44"/>
          <p:cNvGraphicFramePr/>
          <p:nvPr>
            <p:extLst>
              <p:ext uri="{D42A27DB-BD31-4B8C-83A1-F6EECF244321}">
                <p14:modId xmlns:p14="http://schemas.microsoft.com/office/powerpoint/2010/main" val="3425675882"/>
              </p:ext>
            </p:extLst>
          </p:nvPr>
        </p:nvGraphicFramePr>
        <p:xfrm>
          <a:off x="4977146" y="2446488"/>
          <a:ext cx="2691747" cy="853380"/>
        </p:xfrm>
        <a:graphic>
          <a:graphicData uri="http://schemas.openxmlformats.org/drawingml/2006/table">
            <a:tbl>
              <a:tblPr>
                <a:noFill/>
                <a:tableStyleId>{CA5C7703-E2AC-41A6-8DEA-2D5C455BA520}</a:tableStyleId>
              </a:tblPr>
              <a:tblGrid>
                <a:gridCol w="1117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9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848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37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segment</a:t>
                      </a:r>
                      <a:endParaRPr sz="1600" b="1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base</a:t>
                      </a:r>
                      <a:endParaRPr sz="1600" b="1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size</a:t>
                      </a:r>
                      <a:endParaRPr sz="1600" b="1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37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heap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/>
                        <a:t>34K</a:t>
                      </a:r>
                      <a:endParaRPr sz="1600"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2K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pSp>
        <p:nvGrpSpPr>
          <p:cNvPr id="898" name="Google Shape;898;p44"/>
          <p:cNvGrpSpPr/>
          <p:nvPr/>
        </p:nvGrpSpPr>
        <p:grpSpPr>
          <a:xfrm>
            <a:off x="746726" y="4791188"/>
            <a:ext cx="3685327" cy="492600"/>
            <a:chOff x="992850" y="4393700"/>
            <a:chExt cx="4195500" cy="492600"/>
          </a:xfrm>
        </p:grpSpPr>
        <p:sp>
          <p:nvSpPr>
            <p:cNvPr id="899" name="Google Shape;899;p44"/>
            <p:cNvSpPr/>
            <p:nvPr/>
          </p:nvSpPr>
          <p:spPr>
            <a:xfrm>
              <a:off x="992850" y="4393700"/>
              <a:ext cx="4195500" cy="492600"/>
            </a:xfrm>
            <a:prstGeom prst="rect">
              <a:avLst/>
            </a:prstGeom>
            <a:solidFill>
              <a:srgbClr val="FFF2CC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0" name="Google Shape;900;p44"/>
            <p:cNvSpPr txBox="1"/>
            <p:nvPr/>
          </p:nvSpPr>
          <p:spPr>
            <a:xfrm>
              <a:off x="1049525" y="4424600"/>
              <a:ext cx="40341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800" b="1" dirty="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PA = </a:t>
              </a:r>
              <a:r>
                <a:rPr lang="es-ES" sz="1800" b="1" dirty="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offset</a:t>
              </a:r>
              <a:r>
                <a:rPr lang="es-ES" sz="1800" b="1" dirty="0">
                  <a:latin typeface="Consolas"/>
                  <a:ea typeface="Consolas"/>
                  <a:cs typeface="Consolas"/>
                  <a:sym typeface="Consolas"/>
                </a:rPr>
                <a:t> + base(heap)</a:t>
              </a:r>
              <a:endParaRPr sz="1800" b="1" dirty="0"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  <p:sp>
        <p:nvSpPr>
          <p:cNvPr id="901" name="Google Shape;901;p44"/>
          <p:cNvSpPr txBox="1"/>
          <p:nvPr/>
        </p:nvSpPr>
        <p:spPr>
          <a:xfrm>
            <a:off x="686016" y="5222460"/>
            <a:ext cx="3633000" cy="116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dirty="0">
                <a:latin typeface="Consolas"/>
                <a:ea typeface="Consolas"/>
                <a:cs typeface="Consolas"/>
                <a:sym typeface="Consolas"/>
              </a:rPr>
              <a:t>PA = offset + base(heap)</a:t>
            </a:r>
            <a:endParaRPr sz="1600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PA = 104 + 34K </a:t>
            </a:r>
            <a:endParaRPr sz="16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PA = 104 + 34(1024)</a:t>
            </a:r>
            <a:endParaRPr sz="16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 dirty="0">
                <a:solidFill>
                  <a:schemeClr val="accent5"/>
                </a:solidFill>
                <a:latin typeface="Consolas"/>
                <a:ea typeface="Consolas"/>
                <a:cs typeface="Consolas"/>
                <a:sym typeface="Consolas"/>
              </a:rPr>
              <a:t>PA = 34920</a:t>
            </a:r>
            <a:r>
              <a:rPr lang="es-ES" sz="1600" dirty="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endParaRPr sz="1600" b="1" dirty="0">
              <a:solidFill>
                <a:srgbClr val="FF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grpSp>
        <p:nvGrpSpPr>
          <p:cNvPr id="902" name="Google Shape;902;p44"/>
          <p:cNvGrpSpPr/>
          <p:nvPr/>
        </p:nvGrpSpPr>
        <p:grpSpPr>
          <a:xfrm>
            <a:off x="779883" y="3554894"/>
            <a:ext cx="3685294" cy="492600"/>
            <a:chOff x="973325" y="3626850"/>
            <a:chExt cx="3729300" cy="492600"/>
          </a:xfrm>
        </p:grpSpPr>
        <p:sp>
          <p:nvSpPr>
            <p:cNvPr id="903" name="Google Shape;903;p44"/>
            <p:cNvSpPr/>
            <p:nvPr/>
          </p:nvSpPr>
          <p:spPr>
            <a:xfrm>
              <a:off x="973325" y="3626850"/>
              <a:ext cx="3729300" cy="492600"/>
            </a:xfrm>
            <a:prstGeom prst="rect">
              <a:avLst/>
            </a:prstGeom>
            <a:solidFill>
              <a:srgbClr val="FFF2CC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4" name="Google Shape;904;p44"/>
            <p:cNvSpPr txBox="1"/>
            <p:nvPr/>
          </p:nvSpPr>
          <p:spPr>
            <a:xfrm>
              <a:off x="973330" y="3626850"/>
              <a:ext cx="36693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800" b="1" dirty="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0 &lt;= </a:t>
              </a:r>
              <a:r>
                <a:rPr lang="es-ES" sz="1800" b="1" dirty="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offset</a:t>
              </a:r>
              <a:r>
                <a:rPr lang="es-ES" sz="1800" b="1" dirty="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800" b="1" dirty="0">
                  <a:latin typeface="Consolas"/>
                  <a:ea typeface="Consolas"/>
                  <a:cs typeface="Consolas"/>
                  <a:sym typeface="Consolas"/>
                </a:rPr>
                <a:t>&lt; size(heap)</a:t>
              </a:r>
              <a:endParaRPr sz="1800" b="1" dirty="0"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9" name="Google Shape;909;p45"/>
          <p:cNvSpPr txBox="1">
            <a:spLocks noGrp="1"/>
          </p:cNvSpPr>
          <p:nvPr>
            <p:ph type="title"/>
          </p:nvPr>
        </p:nvSpPr>
        <p:spPr>
          <a:xfrm>
            <a:off x="457200" y="96038"/>
            <a:ext cx="8763450" cy="9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1E5C"/>
              </a:buClr>
              <a:buSzPts val="3200"/>
              <a:buFont typeface="Roboto Slab"/>
              <a:buNone/>
            </a:pPr>
            <a:r>
              <a:rPr lang="es-ES" b="0" dirty="0">
                <a:latin typeface="+mj-lt"/>
              </a:rPr>
              <a:t>Traducción de direcciones (I)</a:t>
            </a:r>
            <a:endParaRPr sz="3200" b="0" dirty="0">
              <a:solidFill>
                <a:srgbClr val="701E5C"/>
              </a:solidFill>
              <a:latin typeface="+mj-lt"/>
              <a:sym typeface="Roboto Slab"/>
            </a:endParaRPr>
          </a:p>
        </p:txBody>
      </p:sp>
      <p:sp>
        <p:nvSpPr>
          <p:cNvPr id="910" name="Google Shape;910;p45"/>
          <p:cNvSpPr txBox="1">
            <a:spLocks noGrp="1"/>
          </p:cNvSpPr>
          <p:nvPr>
            <p:ph type="body" idx="1"/>
          </p:nvPr>
        </p:nvSpPr>
        <p:spPr>
          <a:xfrm>
            <a:off x="627749" y="858942"/>
            <a:ext cx="10993979" cy="11454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800" b="1" dirty="0">
                <a:solidFill>
                  <a:schemeClr val="accent1"/>
                </a:solidFill>
                <a:latin typeface="+mn-lt"/>
              </a:rPr>
              <a:t>Fallo de segmentación - segmentation fault</a:t>
            </a:r>
            <a:endParaRPr sz="2800" dirty="0">
              <a:solidFill>
                <a:schemeClr val="accent1"/>
              </a:solidFill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dirty="0">
                <a:latin typeface="+mn-lt"/>
              </a:rPr>
              <a:t>Acceso a una </a:t>
            </a:r>
            <a:r>
              <a:rPr lang="es-ES" sz="2400" b="1" dirty="0">
                <a:solidFill>
                  <a:srgbClr val="FF0000"/>
                </a:solidFill>
                <a:latin typeface="+mn-lt"/>
              </a:rPr>
              <a:t>dirección ilegal</a:t>
            </a:r>
            <a:endParaRPr sz="2400" b="1" dirty="0">
              <a:solidFill>
                <a:srgbClr val="FF0000"/>
              </a:solidFill>
              <a:latin typeface="+mn-lt"/>
              <a:ea typeface="Consolas"/>
              <a:cs typeface="Consolas"/>
              <a:sym typeface="Consolas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</p:txBody>
      </p:sp>
      <p:graphicFrame>
        <p:nvGraphicFramePr>
          <p:cNvPr id="911" name="Google Shape;911;p45"/>
          <p:cNvGraphicFramePr/>
          <p:nvPr/>
        </p:nvGraphicFramePr>
        <p:xfrm>
          <a:off x="1946213" y="3039698"/>
          <a:ext cx="2796975" cy="1710395"/>
        </p:xfrm>
        <a:graphic>
          <a:graphicData uri="http://schemas.openxmlformats.org/drawingml/2006/table">
            <a:tbl>
              <a:tblPr>
                <a:noFill/>
                <a:tableStyleId>{CA5C7703-E2AC-41A6-8DEA-2D5C455BA520}</a:tableStyleId>
              </a:tblPr>
              <a:tblGrid>
                <a:gridCol w="1011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04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154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03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segment</a:t>
                      </a:r>
                      <a:endParaRPr sz="1600" b="1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base</a:t>
                      </a:r>
                      <a:endParaRPr sz="1600" b="1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size</a:t>
                      </a:r>
                      <a:endParaRPr sz="1600" b="1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8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code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/>
                        <a:t>32K</a:t>
                      </a:r>
                      <a:endParaRPr sz="1600"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2K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8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heap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</a:rPr>
                        <a:t>34K</a:t>
                      </a:r>
                      <a:endParaRPr sz="1600"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2K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38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stack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/>
                        <a:t>28K</a:t>
                      </a:r>
                      <a:endParaRPr sz="1600"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2K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912" name="Google Shape;912;p45"/>
          <p:cNvGrpSpPr/>
          <p:nvPr/>
        </p:nvGrpSpPr>
        <p:grpSpPr>
          <a:xfrm>
            <a:off x="5588700" y="2028313"/>
            <a:ext cx="3686612" cy="4295775"/>
            <a:chOff x="5588700" y="2028313"/>
            <a:chExt cx="3686612" cy="4295775"/>
          </a:xfrm>
        </p:grpSpPr>
        <p:pic>
          <p:nvPicPr>
            <p:cNvPr id="913" name="Google Shape;913;p45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5779638" y="2028313"/>
              <a:ext cx="3495675" cy="42957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914" name="Google Shape;914;p45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5588700" y="4261650"/>
              <a:ext cx="364950" cy="34305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46"/>
          <p:cNvSpPr txBox="1">
            <a:spLocks noGrp="1"/>
          </p:cNvSpPr>
          <p:nvPr>
            <p:ph type="title"/>
          </p:nvPr>
        </p:nvSpPr>
        <p:spPr>
          <a:xfrm>
            <a:off x="501445" y="96038"/>
            <a:ext cx="10705355" cy="9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1E5C"/>
              </a:buClr>
              <a:buSzPts val="3200"/>
              <a:buFont typeface="Roboto Slab"/>
              <a:buNone/>
            </a:pPr>
            <a:r>
              <a:rPr lang="es-ES" b="0" dirty="0">
                <a:latin typeface="+mn-lt"/>
              </a:rPr>
              <a:t>Traducción de direcciones (I)</a:t>
            </a:r>
            <a:endParaRPr sz="3200" b="0" dirty="0">
              <a:solidFill>
                <a:srgbClr val="701E5C"/>
              </a:solidFill>
              <a:latin typeface="+mn-lt"/>
              <a:sym typeface="Roboto Slab"/>
            </a:endParaRPr>
          </a:p>
        </p:txBody>
      </p:sp>
      <p:sp>
        <p:nvSpPr>
          <p:cNvPr id="920" name="Google Shape;920;p46"/>
          <p:cNvSpPr txBox="1">
            <a:spLocks noGrp="1"/>
          </p:cNvSpPr>
          <p:nvPr>
            <p:ph type="body" idx="1"/>
          </p:nvPr>
        </p:nvSpPr>
        <p:spPr>
          <a:xfrm>
            <a:off x="523156" y="1166100"/>
            <a:ext cx="4128000" cy="9495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800" b="1" dirty="0">
                <a:solidFill>
                  <a:schemeClr val="accent1"/>
                </a:solidFill>
                <a:latin typeface="+mn-lt"/>
              </a:rPr>
              <a:t>Segmento heap</a:t>
            </a:r>
            <a:endParaRPr sz="2800" dirty="0">
              <a:solidFill>
                <a:schemeClr val="accent1"/>
              </a:solidFill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200" dirty="0">
                <a:latin typeface="+mn-lt"/>
              </a:rPr>
              <a:t>Verificar límites</a:t>
            </a: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19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</p:txBody>
      </p:sp>
      <p:sp>
        <p:nvSpPr>
          <p:cNvPr id="921" name="Google Shape;921;p46"/>
          <p:cNvSpPr txBox="1"/>
          <p:nvPr/>
        </p:nvSpPr>
        <p:spPr>
          <a:xfrm>
            <a:off x="821425" y="4055769"/>
            <a:ext cx="26976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0 &lt;= 3K &lt; 2K</a:t>
            </a:r>
            <a:endParaRPr sz="1600">
              <a:solidFill>
                <a:srgbClr val="FF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22" name="Google Shape;922;p46"/>
          <p:cNvSpPr txBox="1"/>
          <p:nvPr/>
        </p:nvSpPr>
        <p:spPr>
          <a:xfrm>
            <a:off x="5301900" y="1166100"/>
            <a:ext cx="5904900" cy="989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200" b="1" dirty="0">
                <a:solidFill>
                  <a:srgbClr val="FF0000"/>
                </a:solidFill>
                <a:ea typeface="Roboto"/>
                <a:cs typeface="Roboto"/>
                <a:sym typeface="Roboto"/>
              </a:rPr>
              <a:t>Pregunta:</a:t>
            </a:r>
            <a:r>
              <a:rPr lang="es-ES" sz="2200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 ¿Cuál es la </a:t>
            </a:r>
            <a:r>
              <a:rPr lang="es-ES" sz="2000" dirty="0">
                <a:solidFill>
                  <a:schemeClr val="dk1"/>
                </a:solidFill>
                <a:latin typeface="Consolas" panose="020B0609020204030204" pitchFamily="49" charset="0"/>
                <a:ea typeface="Consolas"/>
                <a:cs typeface="Consolas"/>
                <a:sym typeface="Consolas"/>
              </a:rPr>
              <a:t>PA</a:t>
            </a:r>
            <a:r>
              <a:rPr lang="es-ES" sz="2200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 de </a:t>
            </a:r>
            <a:r>
              <a:rPr lang="es-ES" sz="2000" dirty="0">
                <a:solidFill>
                  <a:schemeClr val="dk1"/>
                </a:solidFill>
                <a:latin typeface="Consolas" panose="020B0609020204030204" pitchFamily="49" charset="0"/>
                <a:ea typeface="Consolas"/>
                <a:cs typeface="Consolas"/>
                <a:sym typeface="Consolas"/>
              </a:rPr>
              <a:t>VA = 7K</a:t>
            </a:r>
            <a:r>
              <a:rPr lang="es-ES" sz="2200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?</a:t>
            </a:r>
            <a:endParaRPr sz="2200" dirty="0">
              <a:solidFill>
                <a:schemeClr val="dk1"/>
              </a:solidFill>
              <a:ea typeface="Roboto"/>
              <a:cs typeface="Roboto"/>
              <a:sym typeface="Roboto"/>
            </a:endParaRPr>
          </a:p>
          <a:p>
            <a:pPr marL="457200" lvl="0" indent="-3683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Roboto"/>
              <a:buChar char="●"/>
            </a:pPr>
            <a:r>
              <a:rPr lang="es-ES" sz="2200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La dirección se encuentra más allá del </a:t>
            </a:r>
            <a:r>
              <a:rPr lang="es-ES" sz="2200" dirty="0">
                <a:solidFill>
                  <a:schemeClr val="dk1"/>
                </a:solidFill>
                <a:ea typeface="Consolas"/>
                <a:cs typeface="Consolas"/>
                <a:sym typeface="Consolas"/>
              </a:rPr>
              <a:t>heap</a:t>
            </a:r>
            <a:endParaRPr sz="2200" dirty="0">
              <a:solidFill>
                <a:schemeClr val="dk1"/>
              </a:solidFill>
              <a:ea typeface="Consolas"/>
              <a:cs typeface="Consolas"/>
              <a:sym typeface="Consolas"/>
            </a:endParaRPr>
          </a:p>
        </p:txBody>
      </p:sp>
      <p:sp>
        <p:nvSpPr>
          <p:cNvPr id="923" name="Google Shape;923;p46"/>
          <p:cNvSpPr txBox="1"/>
          <p:nvPr/>
        </p:nvSpPr>
        <p:spPr>
          <a:xfrm>
            <a:off x="583175" y="4742401"/>
            <a:ext cx="4304700" cy="1539300"/>
          </a:xfrm>
          <a:prstGeom prst="rect">
            <a:avLst/>
          </a:prstGeom>
          <a:solidFill>
            <a:srgbClr val="F4CCCC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Como la dirección a la que se hace referencia está fuera de los límites, el Sistema Operativo lanza un </a:t>
            </a:r>
            <a:r>
              <a:rPr lang="es-ES" sz="2200" b="1" dirty="0">
                <a:solidFill>
                  <a:srgbClr val="FF0000"/>
                </a:solidFill>
                <a:ea typeface="Roboto"/>
                <a:cs typeface="Roboto"/>
                <a:sym typeface="Roboto"/>
              </a:rPr>
              <a:t>fallo de segmentación</a:t>
            </a:r>
            <a:r>
              <a:rPr lang="es-ES" sz="2200" b="1" dirty="0">
                <a:ea typeface="Roboto"/>
                <a:cs typeface="Roboto"/>
                <a:sym typeface="Roboto"/>
              </a:rPr>
              <a:t> </a:t>
            </a:r>
            <a:endParaRPr sz="2200" b="1" dirty="0">
              <a:ea typeface="Roboto"/>
              <a:cs typeface="Roboto"/>
              <a:sym typeface="Roboto"/>
            </a:endParaRPr>
          </a:p>
        </p:txBody>
      </p:sp>
      <p:grpSp>
        <p:nvGrpSpPr>
          <p:cNvPr id="924" name="Google Shape;924;p46"/>
          <p:cNvGrpSpPr/>
          <p:nvPr/>
        </p:nvGrpSpPr>
        <p:grpSpPr>
          <a:xfrm>
            <a:off x="794243" y="3494181"/>
            <a:ext cx="3383221" cy="492600"/>
            <a:chOff x="973325" y="3626850"/>
            <a:chExt cx="3729300" cy="492600"/>
          </a:xfrm>
        </p:grpSpPr>
        <p:sp>
          <p:nvSpPr>
            <p:cNvPr id="925" name="Google Shape;925;p46"/>
            <p:cNvSpPr/>
            <p:nvPr/>
          </p:nvSpPr>
          <p:spPr>
            <a:xfrm>
              <a:off x="973325" y="3626850"/>
              <a:ext cx="3729300" cy="492600"/>
            </a:xfrm>
            <a:prstGeom prst="rect">
              <a:avLst/>
            </a:prstGeom>
            <a:solidFill>
              <a:srgbClr val="FFF2CC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6" name="Google Shape;926;p46"/>
            <p:cNvSpPr txBox="1"/>
            <p:nvPr/>
          </p:nvSpPr>
          <p:spPr>
            <a:xfrm>
              <a:off x="973330" y="3626850"/>
              <a:ext cx="36693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800" b="1" dirty="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0 &lt;= </a:t>
              </a:r>
              <a:r>
                <a:rPr lang="es-ES" sz="1800" b="1" dirty="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offset</a:t>
              </a:r>
              <a:r>
                <a:rPr lang="es-ES" sz="1800" b="1" dirty="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800" b="1" dirty="0">
                  <a:latin typeface="Consolas"/>
                  <a:ea typeface="Consolas"/>
                  <a:cs typeface="Consolas"/>
                  <a:sym typeface="Consolas"/>
                </a:rPr>
                <a:t>&lt; size(heap)</a:t>
              </a:r>
              <a:endParaRPr sz="1800" b="1" dirty="0"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  <p:pic>
        <p:nvPicPr>
          <p:cNvPr id="927" name="Google Shape;927;p4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73050" y="2362450"/>
            <a:ext cx="3495675" cy="4295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28" name="Google Shape;928;p4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338800" y="4574800"/>
            <a:ext cx="364950" cy="3430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29" name="Google Shape;929;p4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35525" y="4172619"/>
            <a:ext cx="364950" cy="34305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30" name="Google Shape;930;p46"/>
          <p:cNvGrpSpPr/>
          <p:nvPr/>
        </p:nvGrpSpPr>
        <p:grpSpPr>
          <a:xfrm>
            <a:off x="821464" y="2192981"/>
            <a:ext cx="3328773" cy="492600"/>
            <a:chOff x="973325" y="3626850"/>
            <a:chExt cx="3729300" cy="492600"/>
          </a:xfrm>
        </p:grpSpPr>
        <p:sp>
          <p:nvSpPr>
            <p:cNvPr id="931" name="Google Shape;931;p46"/>
            <p:cNvSpPr/>
            <p:nvPr/>
          </p:nvSpPr>
          <p:spPr>
            <a:xfrm>
              <a:off x="973325" y="3626850"/>
              <a:ext cx="3729300" cy="492600"/>
            </a:xfrm>
            <a:prstGeom prst="rect">
              <a:avLst/>
            </a:prstGeom>
            <a:solidFill>
              <a:srgbClr val="FFF2CC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2" name="Google Shape;932;p46"/>
            <p:cNvSpPr txBox="1"/>
            <p:nvPr/>
          </p:nvSpPr>
          <p:spPr>
            <a:xfrm>
              <a:off x="973330" y="3626850"/>
              <a:ext cx="36693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800" b="1" dirty="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offset</a:t>
              </a:r>
              <a:r>
                <a:rPr lang="es-ES" sz="1800" b="1" dirty="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800" b="1" dirty="0">
                  <a:latin typeface="Consolas"/>
                  <a:ea typeface="Consolas"/>
                  <a:cs typeface="Consolas"/>
                  <a:sym typeface="Consolas"/>
                </a:rPr>
                <a:t>= VA - VA(heap)</a:t>
              </a:r>
              <a:endParaRPr sz="1800" b="1" dirty="0"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  <p:sp>
        <p:nvSpPr>
          <p:cNvPr id="933" name="Google Shape;933;p46"/>
          <p:cNvSpPr txBox="1"/>
          <p:nvPr/>
        </p:nvSpPr>
        <p:spPr>
          <a:xfrm>
            <a:off x="821425" y="2751319"/>
            <a:ext cx="2697600" cy="6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offset</a:t>
            </a:r>
            <a:r>
              <a:rPr lang="es-ES" sz="1600">
                <a:latin typeface="Consolas"/>
                <a:ea typeface="Consolas"/>
                <a:cs typeface="Consolas"/>
                <a:sym typeface="Consolas"/>
              </a:rPr>
              <a:t> = 7K - 4K</a:t>
            </a:r>
            <a:endParaRPr sz="160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offset</a:t>
            </a:r>
            <a:r>
              <a:rPr lang="es-ES" sz="16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= 3K</a:t>
            </a:r>
            <a:endParaRPr sz="1600">
              <a:solidFill>
                <a:srgbClr val="FF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4" name="Google Shape;944;p48"/>
          <p:cNvSpPr txBox="1">
            <a:spLocks noGrp="1"/>
          </p:cNvSpPr>
          <p:nvPr>
            <p:ph type="title"/>
          </p:nvPr>
        </p:nvSpPr>
        <p:spPr>
          <a:xfrm>
            <a:off x="550850" y="34349"/>
            <a:ext cx="10515600" cy="1325563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Referenciando un segmento</a:t>
            </a:r>
            <a:endParaRPr dirty="0"/>
          </a:p>
        </p:txBody>
      </p:sp>
      <p:sp>
        <p:nvSpPr>
          <p:cNvPr id="945" name="Google Shape;945;p48"/>
          <p:cNvSpPr txBox="1">
            <a:spLocks noGrp="1"/>
          </p:cNvSpPr>
          <p:nvPr>
            <p:ph idx="1"/>
          </p:nvPr>
        </p:nvSpPr>
        <p:spPr>
          <a:xfrm>
            <a:off x="302150" y="908400"/>
            <a:ext cx="9037150" cy="252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800" b="1" dirty="0">
                <a:solidFill>
                  <a:schemeClr val="accent5"/>
                </a:solidFill>
              </a:rPr>
              <a:t>Ejemplo</a:t>
            </a:r>
            <a:r>
              <a:rPr lang="es-ES" sz="2800" dirty="0">
                <a:solidFill>
                  <a:schemeClr val="accent5"/>
                </a:solidFill>
              </a:rPr>
              <a:t>:</a:t>
            </a:r>
            <a:endParaRPr sz="2800" dirty="0">
              <a:solidFill>
                <a:schemeClr val="accent5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000" dirty="0"/>
              <a:t>Dado el espacio de direcciones mostrado en la siguiente figura ¿Cuántos bits son necesarios para direccionar?</a:t>
            </a:r>
            <a:endParaRPr sz="2000" dirty="0"/>
          </a:p>
          <a:p>
            <a:pPr marL="457200" lvl="0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accent2"/>
              </a:buClr>
              <a:buSzPts val="2400"/>
              <a:buChar char="●"/>
            </a:pPr>
            <a:r>
              <a:rPr lang="es-ES" sz="2000" b="1" dirty="0">
                <a:solidFill>
                  <a:schemeClr val="accent2"/>
                </a:solidFill>
              </a:rPr>
              <a:t>Datos</a:t>
            </a:r>
            <a:r>
              <a:rPr lang="es-ES" sz="2000" dirty="0">
                <a:solidFill>
                  <a:schemeClr val="accent2"/>
                </a:solidFill>
              </a:rPr>
              <a:t>:</a:t>
            </a:r>
            <a:endParaRPr sz="2000" dirty="0">
              <a:solidFill>
                <a:schemeClr val="accent2"/>
              </a:solidFill>
            </a:endParaRPr>
          </a:p>
          <a:p>
            <a:pPr marL="914400" lvl="1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</a:pPr>
            <a:r>
              <a:rPr lang="es-ES" sz="2000" b="1" dirty="0">
                <a:ea typeface="Consolas"/>
                <a:cs typeface="Consolas"/>
                <a:sym typeface="Consolas"/>
              </a:rPr>
              <a:t>size = 16K</a:t>
            </a:r>
            <a:r>
              <a:rPr lang="es-ES" sz="2000" dirty="0"/>
              <a:t> (tamaño de la memoria virtual)</a:t>
            </a:r>
            <a:endParaRPr sz="2000" dirty="0"/>
          </a:p>
          <a:p>
            <a:pPr marL="914400" lvl="1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</a:pPr>
            <a:r>
              <a:rPr lang="es-ES" sz="2000" b="1" dirty="0">
                <a:ea typeface="Consolas"/>
                <a:cs typeface="Consolas"/>
                <a:sym typeface="Consolas"/>
              </a:rPr>
              <a:t>n = ?</a:t>
            </a:r>
            <a:r>
              <a:rPr lang="es-ES" sz="2000" dirty="0"/>
              <a:t> (Número de bits necesarios para direccionar)</a:t>
            </a:r>
            <a:endParaRPr sz="20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946" name="Google Shape;946;p4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651019" y="1201113"/>
            <a:ext cx="2238831" cy="5567275"/>
          </a:xfrm>
          <a:prstGeom prst="rect">
            <a:avLst/>
          </a:prstGeom>
          <a:noFill/>
          <a:ln>
            <a:noFill/>
          </a:ln>
        </p:spPr>
      </p:pic>
      <p:sp>
        <p:nvSpPr>
          <p:cNvPr id="947" name="Google Shape;947;p48"/>
          <p:cNvSpPr txBox="1"/>
          <p:nvPr/>
        </p:nvSpPr>
        <p:spPr>
          <a:xfrm>
            <a:off x="3073925" y="3182105"/>
            <a:ext cx="3817800" cy="1661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dirty="0">
                <a:latin typeface="Consolas"/>
                <a:ea typeface="Consolas"/>
                <a:cs typeface="Consolas"/>
                <a:sym typeface="Consolas"/>
              </a:rPr>
              <a:t>2^n = 16K</a:t>
            </a:r>
            <a:endParaRPr sz="1600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2^n = 16(2^10)</a:t>
            </a:r>
            <a:endParaRPr sz="16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2^n = (2^4)(2^10)</a:t>
            </a:r>
            <a:endParaRPr sz="16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2^n = 2^14</a:t>
            </a:r>
            <a:endParaRPr sz="16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log2(2^n) = log2(2^14)</a:t>
            </a:r>
            <a:endParaRPr sz="16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16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 = 14</a:t>
            </a:r>
            <a:r>
              <a:rPr lang="es-ES" sz="16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endParaRPr sz="16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8" name="Google Shape;948;p48"/>
          <p:cNvSpPr txBox="1"/>
          <p:nvPr/>
        </p:nvSpPr>
        <p:spPr>
          <a:xfrm>
            <a:off x="996050" y="4890100"/>
            <a:ext cx="4812600" cy="6180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solidFill>
                  <a:schemeClr val="accent1"/>
                </a:solidFill>
                <a:ea typeface="Roboto"/>
                <a:cs typeface="Roboto"/>
                <a:sym typeface="Roboto"/>
              </a:rPr>
              <a:t>Solución</a:t>
            </a:r>
            <a:r>
              <a:rPr lang="es-ES" sz="2400" dirty="0">
                <a:solidFill>
                  <a:schemeClr val="accent1"/>
                </a:solidFill>
                <a:ea typeface="Roboto"/>
                <a:cs typeface="Roboto"/>
                <a:sym typeface="Roboto"/>
              </a:rPr>
              <a:t>: </a:t>
            </a:r>
            <a:r>
              <a:rPr lang="es-ES" sz="2400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Se necesitan </a:t>
            </a:r>
            <a:r>
              <a:rPr lang="es-ES" sz="2400" b="1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14 bits</a:t>
            </a:r>
            <a:r>
              <a:rPr lang="es-ES" sz="2400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.</a:t>
            </a:r>
            <a:endParaRPr dirty="0">
              <a:solidFill>
                <a:schemeClr val="dk1"/>
              </a:solidFill>
            </a:endParaRPr>
          </a:p>
        </p:txBody>
      </p:sp>
      <p:graphicFrame>
        <p:nvGraphicFramePr>
          <p:cNvPr id="949" name="Google Shape;949;p48"/>
          <p:cNvGraphicFramePr/>
          <p:nvPr>
            <p:extLst>
              <p:ext uri="{D42A27DB-BD31-4B8C-83A1-F6EECF244321}">
                <p14:modId xmlns:p14="http://schemas.microsoft.com/office/powerpoint/2010/main" val="2759370113"/>
              </p:ext>
            </p:extLst>
          </p:nvPr>
        </p:nvGraphicFramePr>
        <p:xfrm>
          <a:off x="2361250" y="5592000"/>
          <a:ext cx="6032950" cy="457170"/>
        </p:xfrm>
        <a:graphic>
          <a:graphicData uri="http://schemas.openxmlformats.org/drawingml/2006/table">
            <a:tbl>
              <a:tblPr>
                <a:noFill/>
                <a:tableStyleId>{CA5C7703-E2AC-41A6-8DEA-2D5C455BA520}</a:tableStyleId>
              </a:tblPr>
              <a:tblGrid>
                <a:gridCol w="430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950" name="Google Shape;950;p48"/>
          <p:cNvSpPr txBox="1"/>
          <p:nvPr/>
        </p:nvSpPr>
        <p:spPr>
          <a:xfrm>
            <a:off x="1759725" y="5592000"/>
            <a:ext cx="5130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b="1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VA</a:t>
            </a:r>
            <a:endParaRPr sz="1800" b="1"/>
          </a:p>
        </p:txBody>
      </p:sp>
      <p:sp>
        <p:nvSpPr>
          <p:cNvPr id="951" name="Google Shape;951;p48"/>
          <p:cNvSpPr/>
          <p:nvPr/>
        </p:nvSpPr>
        <p:spPr>
          <a:xfrm rot="5400000">
            <a:off x="5237175" y="3232800"/>
            <a:ext cx="281100" cy="6045900"/>
          </a:xfrm>
          <a:prstGeom prst="rightBrace">
            <a:avLst>
              <a:gd name="adj1" fmla="val 50000"/>
              <a:gd name="adj2" fmla="val 49405"/>
            </a:avLst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2" name="Google Shape;952;p48"/>
          <p:cNvSpPr txBox="1"/>
          <p:nvPr/>
        </p:nvSpPr>
        <p:spPr>
          <a:xfrm>
            <a:off x="4766100" y="6396300"/>
            <a:ext cx="1357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14 bits</a:t>
            </a:r>
            <a:endParaRPr sz="180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7" name="Google Shape;957;p49"/>
          <p:cNvSpPr txBox="1">
            <a:spLocks noGrp="1"/>
          </p:cNvSpPr>
          <p:nvPr>
            <p:ph type="title"/>
          </p:nvPr>
        </p:nvSpPr>
        <p:spPr>
          <a:xfrm>
            <a:off x="254834" y="155999"/>
            <a:ext cx="11411140" cy="996572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Referenciando un segmento</a:t>
            </a:r>
            <a:endParaRPr dirty="0"/>
          </a:p>
        </p:txBody>
      </p:sp>
      <p:sp>
        <p:nvSpPr>
          <p:cNvPr id="958" name="Google Shape;958;p49"/>
          <p:cNvSpPr txBox="1">
            <a:spLocks noGrp="1"/>
          </p:cNvSpPr>
          <p:nvPr>
            <p:ph idx="1"/>
          </p:nvPr>
        </p:nvSpPr>
        <p:spPr>
          <a:xfrm>
            <a:off x="254833" y="1037760"/>
            <a:ext cx="6716441" cy="26820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800" b="1" dirty="0">
                <a:solidFill>
                  <a:schemeClr val="accent5"/>
                </a:solidFill>
              </a:rPr>
              <a:t>Ejemplo</a:t>
            </a:r>
            <a:r>
              <a:rPr lang="es-ES" sz="2800" dirty="0">
                <a:solidFill>
                  <a:schemeClr val="accent5"/>
                </a:solidFill>
              </a:rPr>
              <a:t>:</a:t>
            </a:r>
            <a:endParaRPr sz="2800" dirty="0">
              <a:solidFill>
                <a:schemeClr val="accent5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dirty="0"/>
              <a:t>Anteriormente se demostró que con 14 bits se puede direccionar una memoria de 16K. Se tienen 3 segmentos de modo que: </a:t>
            </a:r>
            <a:r>
              <a:rPr lang="es-ES" sz="2400" b="1" dirty="0">
                <a:solidFill>
                  <a:srgbClr val="FF0000"/>
                </a:solidFill>
              </a:rPr>
              <a:t>¿Como sabemos a cuál segmento pertenece una dirección determinada?</a:t>
            </a:r>
            <a:endParaRPr sz="2400" b="1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959" name="Google Shape;959;p4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651019" y="1201113"/>
            <a:ext cx="2238831" cy="5567275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960" name="Google Shape;960;p49"/>
          <p:cNvGraphicFramePr/>
          <p:nvPr/>
        </p:nvGraphicFramePr>
        <p:xfrm>
          <a:off x="2811650" y="4181875"/>
          <a:ext cx="6032950" cy="838170"/>
        </p:xfrm>
        <a:graphic>
          <a:graphicData uri="http://schemas.openxmlformats.org/drawingml/2006/table">
            <a:tbl>
              <a:tblPr>
                <a:noFill/>
                <a:tableStyleId>{CA5C7703-E2AC-41A6-8DEA-2D5C455BA520}</a:tableStyleId>
              </a:tblPr>
              <a:tblGrid>
                <a:gridCol w="430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13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12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11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10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9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8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961" name="Google Shape;961;p49"/>
          <p:cNvSpPr txBox="1"/>
          <p:nvPr/>
        </p:nvSpPr>
        <p:spPr>
          <a:xfrm>
            <a:off x="2241925" y="4578275"/>
            <a:ext cx="5130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b="1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VA</a:t>
            </a:r>
            <a:endParaRPr sz="1800" b="1"/>
          </a:p>
        </p:txBody>
      </p:sp>
      <p:sp>
        <p:nvSpPr>
          <p:cNvPr id="962" name="Google Shape;962;p49"/>
          <p:cNvSpPr/>
          <p:nvPr/>
        </p:nvSpPr>
        <p:spPr>
          <a:xfrm rot="5400000">
            <a:off x="6147175" y="2646875"/>
            <a:ext cx="281100" cy="5190300"/>
          </a:xfrm>
          <a:prstGeom prst="rightBrace">
            <a:avLst>
              <a:gd name="adj1" fmla="val 50000"/>
              <a:gd name="adj2" fmla="val 49405"/>
            </a:avLst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3" name="Google Shape;963;p49"/>
          <p:cNvSpPr txBox="1"/>
          <p:nvPr/>
        </p:nvSpPr>
        <p:spPr>
          <a:xfrm>
            <a:off x="5614075" y="5367350"/>
            <a:ext cx="1357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offset</a:t>
            </a:r>
            <a:endParaRPr sz="1800"/>
          </a:p>
        </p:txBody>
      </p:sp>
      <p:graphicFrame>
        <p:nvGraphicFramePr>
          <p:cNvPr id="964" name="Google Shape;964;p49"/>
          <p:cNvGraphicFramePr/>
          <p:nvPr>
            <p:extLst>
              <p:ext uri="{D42A27DB-BD31-4B8C-83A1-F6EECF244321}">
                <p14:modId xmlns:p14="http://schemas.microsoft.com/office/powerpoint/2010/main" val="474517336"/>
              </p:ext>
            </p:extLst>
          </p:nvPr>
        </p:nvGraphicFramePr>
        <p:xfrm>
          <a:off x="7288056" y="1367603"/>
          <a:ext cx="1959753" cy="2137125"/>
        </p:xfrm>
        <a:graphic>
          <a:graphicData uri="http://schemas.openxmlformats.org/drawingml/2006/table">
            <a:tbl>
              <a:tblPr>
                <a:noFill/>
                <a:tableStyleId>{CA5C7703-E2AC-41A6-8DEA-2D5C455BA520}</a:tableStyleId>
              </a:tblPr>
              <a:tblGrid>
                <a:gridCol w="10953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43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03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segment</a:t>
                      </a:r>
                      <a:endParaRPr sz="1600" b="1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bits</a:t>
                      </a:r>
                      <a:endParaRPr sz="1600" b="1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code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/>
                        <a:t>00</a:t>
                      </a:r>
                      <a:endParaRPr sz="1600"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heap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</a:rPr>
                        <a:t>01</a:t>
                      </a:r>
                      <a:endParaRPr sz="1600"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stack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/>
                        <a:t>11</a:t>
                      </a:r>
                      <a:endParaRPr sz="1600" dirty="0"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---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/>
                        <a:t>10</a:t>
                      </a:r>
                      <a:endParaRPr sz="1600" dirty="0"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65" name="Google Shape;965;p49"/>
          <p:cNvSpPr/>
          <p:nvPr/>
        </p:nvSpPr>
        <p:spPr>
          <a:xfrm rot="5400000">
            <a:off x="3098050" y="4814975"/>
            <a:ext cx="281100" cy="854100"/>
          </a:xfrm>
          <a:prstGeom prst="rightBrace">
            <a:avLst>
              <a:gd name="adj1" fmla="val 50000"/>
              <a:gd name="adj2" fmla="val 49405"/>
            </a:avLst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6" name="Google Shape;966;p49"/>
          <p:cNvSpPr txBox="1"/>
          <p:nvPr/>
        </p:nvSpPr>
        <p:spPr>
          <a:xfrm>
            <a:off x="2560000" y="5367350"/>
            <a:ext cx="1357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segment</a:t>
            </a:r>
            <a:endParaRPr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1" name="Google Shape;971;p50"/>
          <p:cNvSpPr txBox="1">
            <a:spLocks noGrp="1"/>
          </p:cNvSpPr>
          <p:nvPr>
            <p:ph type="title"/>
          </p:nvPr>
        </p:nvSpPr>
        <p:spPr>
          <a:xfrm>
            <a:off x="162100" y="67290"/>
            <a:ext cx="10515600" cy="1325563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Referenciando un segmento</a:t>
            </a:r>
            <a:endParaRPr dirty="0"/>
          </a:p>
        </p:txBody>
      </p:sp>
      <p:sp>
        <p:nvSpPr>
          <p:cNvPr id="972" name="Google Shape;972;p50"/>
          <p:cNvSpPr txBox="1">
            <a:spLocks noGrp="1"/>
          </p:cNvSpPr>
          <p:nvPr>
            <p:ph idx="1"/>
          </p:nvPr>
        </p:nvSpPr>
        <p:spPr>
          <a:xfrm>
            <a:off x="337449" y="1092370"/>
            <a:ext cx="11505506" cy="252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 err="1">
                <a:solidFill>
                  <a:schemeClr val="accent5"/>
                </a:solidFill>
              </a:rPr>
              <a:t>Explicit</a:t>
            </a:r>
            <a:r>
              <a:rPr lang="es-ES" sz="2400" b="1" dirty="0">
                <a:solidFill>
                  <a:schemeClr val="accent5"/>
                </a:solidFill>
              </a:rPr>
              <a:t> </a:t>
            </a:r>
            <a:r>
              <a:rPr lang="es-ES" sz="2400" b="1" dirty="0" err="1">
                <a:solidFill>
                  <a:schemeClr val="accent5"/>
                </a:solidFill>
              </a:rPr>
              <a:t>approach</a:t>
            </a:r>
            <a:r>
              <a:rPr lang="es-ES" sz="2400" dirty="0">
                <a:solidFill>
                  <a:schemeClr val="accent5"/>
                </a:solidFill>
              </a:rPr>
              <a:t>:</a:t>
            </a:r>
            <a:endParaRPr sz="2400" dirty="0">
              <a:solidFill>
                <a:schemeClr val="accent5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000" dirty="0"/>
              <a:t>Divide el espacio de direccionamiento de tal manera que una dirección virtual está compuesta por dos partes </a:t>
            </a:r>
            <a:r>
              <a:rPr lang="es-ES" sz="2000" b="1" dirty="0">
                <a:latin typeface="Consolas" panose="020B0609020204030204" pitchFamily="49" charset="0"/>
              </a:rPr>
              <a:t>[</a:t>
            </a:r>
            <a:r>
              <a:rPr lang="es-ES" sz="2000" b="1" dirty="0">
                <a:solidFill>
                  <a:srgbClr val="92D050"/>
                </a:solidFill>
                <a:latin typeface="Consolas" panose="020B0609020204030204" pitchFamily="49" charset="0"/>
              </a:rPr>
              <a:t>segment</a:t>
            </a:r>
            <a:r>
              <a:rPr lang="es-ES" sz="2000" b="1" dirty="0">
                <a:latin typeface="Consolas" panose="020B0609020204030204" pitchFamily="49" charset="0"/>
              </a:rPr>
              <a:t>|</a:t>
            </a:r>
            <a:r>
              <a:rPr lang="es-ES" sz="2000" b="1" dirty="0">
                <a:solidFill>
                  <a:srgbClr val="C00000"/>
                </a:solidFill>
                <a:latin typeface="Consolas" panose="020B0609020204030204" pitchFamily="49" charset="0"/>
              </a:rPr>
              <a:t>offset</a:t>
            </a:r>
            <a:r>
              <a:rPr lang="es-ES" sz="2000" b="1" dirty="0">
                <a:latin typeface="Consolas" panose="020B0609020204030204" pitchFamily="49" charset="0"/>
              </a:rPr>
              <a:t>]</a:t>
            </a:r>
            <a:endParaRPr sz="2000" b="1" dirty="0">
              <a:latin typeface="Consolas" panose="020B0609020204030204" pitchFamily="49" charset="0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200"/>
              <a:buChar char="●"/>
            </a:pPr>
            <a:r>
              <a:rPr lang="es-ES" sz="2200" b="1" dirty="0">
                <a:solidFill>
                  <a:schemeClr val="accent2"/>
                </a:solidFill>
              </a:rPr>
              <a:t>segment</a:t>
            </a:r>
            <a:r>
              <a:rPr lang="es-ES" sz="2200" dirty="0">
                <a:solidFill>
                  <a:schemeClr val="accent2"/>
                </a:solidFill>
              </a:rPr>
              <a:t>:</a:t>
            </a:r>
            <a:r>
              <a:rPr lang="es-ES" sz="2200" dirty="0"/>
              <a:t> Compuesto por los bits más significativos (top bits) de la dirección lógica.</a:t>
            </a:r>
            <a:endParaRPr sz="2200" dirty="0"/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s-ES" sz="2200" b="1" dirty="0">
                <a:solidFill>
                  <a:schemeClr val="accent2"/>
                </a:solidFill>
              </a:rPr>
              <a:t>Offset dentro del segmento elegido</a:t>
            </a:r>
            <a:r>
              <a:rPr lang="es-ES" sz="2200" dirty="0">
                <a:solidFill>
                  <a:schemeClr val="accent2"/>
                </a:solidFill>
              </a:rPr>
              <a:t>:</a:t>
            </a:r>
            <a:r>
              <a:rPr lang="es-ES" sz="2200" dirty="0"/>
              <a:t> Parte compuesta por los bits menos significativos que hace referencia al  offset respecto al segmento seleccionado.</a:t>
            </a:r>
            <a:endParaRPr sz="22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/>
          </a:p>
        </p:txBody>
      </p:sp>
      <p:graphicFrame>
        <p:nvGraphicFramePr>
          <p:cNvPr id="973" name="Google Shape;973;p50"/>
          <p:cNvGraphicFramePr/>
          <p:nvPr>
            <p:extLst>
              <p:ext uri="{D42A27DB-BD31-4B8C-83A1-F6EECF244321}">
                <p14:modId xmlns:p14="http://schemas.microsoft.com/office/powerpoint/2010/main" val="3700078153"/>
              </p:ext>
            </p:extLst>
          </p:nvPr>
        </p:nvGraphicFramePr>
        <p:xfrm>
          <a:off x="1798741" y="4186997"/>
          <a:ext cx="6032950" cy="838170"/>
        </p:xfrm>
        <a:graphic>
          <a:graphicData uri="http://schemas.openxmlformats.org/drawingml/2006/table">
            <a:tbl>
              <a:tblPr>
                <a:noFill/>
                <a:tableStyleId>{CA5C7703-E2AC-41A6-8DEA-2D5C455BA520}</a:tableStyleId>
              </a:tblPr>
              <a:tblGrid>
                <a:gridCol w="430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13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12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11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10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9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8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974" name="Google Shape;974;p50"/>
          <p:cNvSpPr txBox="1"/>
          <p:nvPr/>
        </p:nvSpPr>
        <p:spPr>
          <a:xfrm>
            <a:off x="1229016" y="4583397"/>
            <a:ext cx="5130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b="1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VA</a:t>
            </a:r>
            <a:endParaRPr sz="1800" b="1"/>
          </a:p>
        </p:txBody>
      </p:sp>
      <p:sp>
        <p:nvSpPr>
          <p:cNvPr id="975" name="Google Shape;975;p50"/>
          <p:cNvSpPr/>
          <p:nvPr/>
        </p:nvSpPr>
        <p:spPr>
          <a:xfrm rot="5400000">
            <a:off x="5134266" y="2651997"/>
            <a:ext cx="281100" cy="5190300"/>
          </a:xfrm>
          <a:prstGeom prst="rightBrace">
            <a:avLst>
              <a:gd name="adj1" fmla="val 50000"/>
              <a:gd name="adj2" fmla="val 49405"/>
            </a:avLst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6" name="Google Shape;976;p50"/>
          <p:cNvSpPr txBox="1"/>
          <p:nvPr/>
        </p:nvSpPr>
        <p:spPr>
          <a:xfrm>
            <a:off x="4601166" y="5372472"/>
            <a:ext cx="1357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offset</a:t>
            </a:r>
            <a:endParaRPr sz="1800"/>
          </a:p>
        </p:txBody>
      </p:sp>
      <p:graphicFrame>
        <p:nvGraphicFramePr>
          <p:cNvPr id="977" name="Google Shape;977;p50"/>
          <p:cNvGraphicFramePr/>
          <p:nvPr>
            <p:extLst>
              <p:ext uri="{D42A27DB-BD31-4B8C-83A1-F6EECF244321}">
                <p14:modId xmlns:p14="http://schemas.microsoft.com/office/powerpoint/2010/main" val="3248789594"/>
              </p:ext>
            </p:extLst>
          </p:nvPr>
        </p:nvGraphicFramePr>
        <p:xfrm>
          <a:off x="9153359" y="3956604"/>
          <a:ext cx="1809625" cy="2137125"/>
        </p:xfrm>
        <a:graphic>
          <a:graphicData uri="http://schemas.openxmlformats.org/drawingml/2006/table">
            <a:tbl>
              <a:tblPr>
                <a:noFill/>
                <a:tableStyleId>{CA5C7703-E2AC-41A6-8DEA-2D5C455BA520}</a:tableStyleId>
              </a:tblPr>
              <a:tblGrid>
                <a:gridCol w="10114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8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03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segment</a:t>
                      </a:r>
                      <a:endParaRPr sz="1600" b="1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bits</a:t>
                      </a:r>
                      <a:endParaRPr sz="1600" b="1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code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/>
                        <a:t>00</a:t>
                      </a:r>
                      <a:endParaRPr sz="1600"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heap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</a:rPr>
                        <a:t>01</a:t>
                      </a:r>
                      <a:endParaRPr sz="1600"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stack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/>
                        <a:t>11</a:t>
                      </a:r>
                      <a:endParaRPr sz="1600"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---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/>
                        <a:t>10</a:t>
                      </a:r>
                      <a:endParaRPr sz="1600" dirty="0"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78" name="Google Shape;978;p50"/>
          <p:cNvSpPr/>
          <p:nvPr/>
        </p:nvSpPr>
        <p:spPr>
          <a:xfrm rot="5400000">
            <a:off x="2085141" y="4820097"/>
            <a:ext cx="281100" cy="854100"/>
          </a:xfrm>
          <a:prstGeom prst="rightBrace">
            <a:avLst>
              <a:gd name="adj1" fmla="val 50000"/>
              <a:gd name="adj2" fmla="val 49405"/>
            </a:avLst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9" name="Google Shape;979;p50"/>
          <p:cNvSpPr txBox="1"/>
          <p:nvPr/>
        </p:nvSpPr>
        <p:spPr>
          <a:xfrm>
            <a:off x="1547091" y="5372472"/>
            <a:ext cx="1357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segment</a:t>
            </a:r>
            <a:endParaRPr sz="1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4" name="Google Shape;984;p51"/>
          <p:cNvSpPr txBox="1">
            <a:spLocks noGrp="1"/>
          </p:cNvSpPr>
          <p:nvPr>
            <p:ph type="title"/>
          </p:nvPr>
        </p:nvSpPr>
        <p:spPr>
          <a:xfrm>
            <a:off x="357675" y="99102"/>
            <a:ext cx="10515600" cy="1325563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Referenciando un segmento</a:t>
            </a:r>
            <a:endParaRPr dirty="0"/>
          </a:p>
        </p:txBody>
      </p:sp>
      <p:sp>
        <p:nvSpPr>
          <p:cNvPr id="985" name="Google Shape;985;p51"/>
          <p:cNvSpPr txBox="1">
            <a:spLocks noGrp="1"/>
          </p:cNvSpPr>
          <p:nvPr>
            <p:ph idx="1"/>
          </p:nvPr>
        </p:nvSpPr>
        <p:spPr>
          <a:xfrm>
            <a:off x="357675" y="1052200"/>
            <a:ext cx="11618015" cy="1004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800" b="1" dirty="0">
                <a:solidFill>
                  <a:schemeClr val="accent5"/>
                </a:solidFill>
              </a:rPr>
              <a:t>Ejemplo</a:t>
            </a:r>
            <a:r>
              <a:rPr lang="es-ES" sz="2800" dirty="0">
                <a:solidFill>
                  <a:schemeClr val="accent5"/>
                </a:solidFill>
              </a:rPr>
              <a:t>:</a:t>
            </a:r>
            <a:endParaRPr sz="2800" dirty="0">
              <a:solidFill>
                <a:schemeClr val="accent5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dirty="0"/>
              <a:t>Dada la dirección virtual </a:t>
            </a:r>
            <a:r>
              <a:rPr lang="es-ES" sz="2400" dirty="0">
                <a:ea typeface="Consolas"/>
                <a:cs typeface="Consolas"/>
                <a:sym typeface="Consolas"/>
              </a:rPr>
              <a:t>VA = 4200</a:t>
            </a:r>
            <a:r>
              <a:rPr lang="es-ES" sz="2400" dirty="0"/>
              <a:t> </a:t>
            </a:r>
            <a:r>
              <a:rPr lang="es-ES" sz="2400" b="1" dirty="0">
                <a:solidFill>
                  <a:srgbClr val="FF0000"/>
                </a:solidFill>
              </a:rPr>
              <a:t>¿Cual es el segmento al que pertenece?</a:t>
            </a:r>
            <a:endParaRPr sz="2400" b="1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/>
          </a:p>
        </p:txBody>
      </p:sp>
      <p:graphicFrame>
        <p:nvGraphicFramePr>
          <p:cNvPr id="986" name="Google Shape;986;p51"/>
          <p:cNvGraphicFramePr/>
          <p:nvPr>
            <p:extLst>
              <p:ext uri="{D42A27DB-BD31-4B8C-83A1-F6EECF244321}">
                <p14:modId xmlns:p14="http://schemas.microsoft.com/office/powerpoint/2010/main" val="190341241"/>
              </p:ext>
            </p:extLst>
          </p:nvPr>
        </p:nvGraphicFramePr>
        <p:xfrm>
          <a:off x="1424250" y="5007475"/>
          <a:ext cx="6032950" cy="807690"/>
        </p:xfrm>
        <a:graphic>
          <a:graphicData uri="http://schemas.openxmlformats.org/drawingml/2006/table">
            <a:tbl>
              <a:tblPr>
                <a:noFill/>
                <a:tableStyleId>{CA5C7703-E2AC-41A6-8DEA-2D5C455BA520}</a:tableStyleId>
              </a:tblPr>
              <a:tblGrid>
                <a:gridCol w="430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13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12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11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10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9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8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sz="1600" b="1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1</a:t>
                      </a:r>
                      <a:endParaRPr sz="1600" b="1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sz="1600" b="1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sz="1600" b="1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sz="1600" b="1" dirty="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sz="1600" b="1" dirty="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sz="1600" b="1" dirty="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1</a:t>
                      </a:r>
                      <a:endParaRPr sz="1600" b="1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1</a:t>
                      </a:r>
                      <a:endParaRPr sz="1600" b="1" dirty="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sz="1600" b="1" dirty="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1</a:t>
                      </a:r>
                      <a:endParaRPr sz="1600" b="1" dirty="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sz="1600" b="1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sz="1600" b="1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sz="1600" b="1" dirty="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987" name="Google Shape;987;p51"/>
          <p:cNvSpPr txBox="1"/>
          <p:nvPr/>
        </p:nvSpPr>
        <p:spPr>
          <a:xfrm>
            <a:off x="854525" y="5388475"/>
            <a:ext cx="5130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b="1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VA</a:t>
            </a:r>
            <a:endParaRPr sz="1800" b="1"/>
          </a:p>
        </p:txBody>
      </p:sp>
      <p:sp>
        <p:nvSpPr>
          <p:cNvPr id="988" name="Google Shape;988;p51"/>
          <p:cNvSpPr/>
          <p:nvPr/>
        </p:nvSpPr>
        <p:spPr>
          <a:xfrm rot="5400000">
            <a:off x="4759775" y="3472475"/>
            <a:ext cx="281100" cy="5190300"/>
          </a:xfrm>
          <a:prstGeom prst="rightBrace">
            <a:avLst>
              <a:gd name="adj1" fmla="val 50000"/>
              <a:gd name="adj2" fmla="val 49405"/>
            </a:avLst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9" name="Google Shape;989;p51"/>
          <p:cNvSpPr txBox="1"/>
          <p:nvPr/>
        </p:nvSpPr>
        <p:spPr>
          <a:xfrm>
            <a:off x="4226675" y="6192950"/>
            <a:ext cx="1357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offset</a:t>
            </a:r>
            <a:endParaRPr sz="1800"/>
          </a:p>
        </p:txBody>
      </p:sp>
      <p:graphicFrame>
        <p:nvGraphicFramePr>
          <p:cNvPr id="990" name="Google Shape;990;p51"/>
          <p:cNvGraphicFramePr/>
          <p:nvPr>
            <p:extLst>
              <p:ext uri="{D42A27DB-BD31-4B8C-83A1-F6EECF244321}">
                <p14:modId xmlns:p14="http://schemas.microsoft.com/office/powerpoint/2010/main" val="1181789592"/>
              </p:ext>
            </p:extLst>
          </p:nvPr>
        </p:nvGraphicFramePr>
        <p:xfrm>
          <a:off x="1309045" y="2767125"/>
          <a:ext cx="3818100" cy="2133500"/>
        </p:xfrm>
        <a:graphic>
          <a:graphicData uri="http://schemas.openxmlformats.org/drawingml/2006/table">
            <a:tbl>
              <a:tblPr>
                <a:noFill/>
                <a:tableStyleId>{CA5C7703-E2AC-41A6-8DEA-2D5C455BA520}</a:tableStyleId>
              </a:tblPr>
              <a:tblGrid>
                <a:gridCol w="1133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9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897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947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bits</a:t>
                      </a:r>
                      <a:endParaRPr sz="1600" b="1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segment</a:t>
                      </a:r>
                      <a:endParaRPr sz="1600" b="1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base</a:t>
                      </a:r>
                      <a:endParaRPr sz="1600" b="1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4292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size</a:t>
                      </a:r>
                      <a:endParaRPr sz="1600" b="1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4292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00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code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32K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4292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2K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4292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01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heap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34K</a:t>
                      </a:r>
                      <a:endParaRPr sz="1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2K</a:t>
                      </a:r>
                      <a:endParaRPr sz="1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11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stack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28K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2K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---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---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---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---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91" name="Google Shape;991;p51"/>
          <p:cNvSpPr/>
          <p:nvPr/>
        </p:nvSpPr>
        <p:spPr>
          <a:xfrm rot="5400000">
            <a:off x="1710650" y="5640575"/>
            <a:ext cx="281100" cy="854100"/>
          </a:xfrm>
          <a:prstGeom prst="rightBrace">
            <a:avLst>
              <a:gd name="adj1" fmla="val 50000"/>
              <a:gd name="adj2" fmla="val 49405"/>
            </a:avLst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2" name="Google Shape;992;p51"/>
          <p:cNvSpPr txBox="1"/>
          <p:nvPr/>
        </p:nvSpPr>
        <p:spPr>
          <a:xfrm>
            <a:off x="1172600" y="6192950"/>
            <a:ext cx="1357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heap</a:t>
            </a:r>
            <a:endParaRPr sz="1800" dirty="0"/>
          </a:p>
        </p:txBody>
      </p:sp>
      <p:sp>
        <p:nvSpPr>
          <p:cNvPr id="993" name="Google Shape;993;p51"/>
          <p:cNvSpPr txBox="1"/>
          <p:nvPr/>
        </p:nvSpPr>
        <p:spPr>
          <a:xfrm>
            <a:off x="1009200" y="2101575"/>
            <a:ext cx="50868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2200" b="1" dirty="0">
                <a:latin typeface="Consolas"/>
                <a:ea typeface="Consolas"/>
                <a:cs typeface="Consolas"/>
                <a:sym typeface="Consolas"/>
              </a:rPr>
              <a:t>VA = 4200 = </a:t>
            </a:r>
            <a:r>
              <a:rPr lang="es-ES" sz="2200" b="1" dirty="0">
                <a:solidFill>
                  <a:srgbClr val="70AD47"/>
                </a:solidFill>
                <a:latin typeface="Consolas"/>
                <a:ea typeface="Consolas"/>
                <a:cs typeface="Consolas"/>
                <a:sym typeface="Consolas"/>
              </a:rPr>
              <a:t>01 </a:t>
            </a:r>
            <a:r>
              <a:rPr lang="es-ES" sz="2200" b="1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0000 0110 1000</a:t>
            </a:r>
            <a:endParaRPr sz="2200" b="1" dirty="0"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grpSp>
        <p:nvGrpSpPr>
          <p:cNvPr id="994" name="Google Shape;994;p51"/>
          <p:cNvGrpSpPr/>
          <p:nvPr/>
        </p:nvGrpSpPr>
        <p:grpSpPr>
          <a:xfrm>
            <a:off x="7407275" y="2190800"/>
            <a:ext cx="4719450" cy="3957700"/>
            <a:chOff x="7407275" y="2114600"/>
            <a:chExt cx="4719450" cy="3957700"/>
          </a:xfrm>
        </p:grpSpPr>
        <p:grpSp>
          <p:nvGrpSpPr>
            <p:cNvPr id="995" name="Google Shape;995;p51"/>
            <p:cNvGrpSpPr/>
            <p:nvPr/>
          </p:nvGrpSpPr>
          <p:grpSpPr>
            <a:xfrm>
              <a:off x="7407275" y="2114600"/>
              <a:ext cx="3298049" cy="3957700"/>
              <a:chOff x="7026275" y="2114600"/>
              <a:chExt cx="3298049" cy="3957700"/>
            </a:xfrm>
          </p:grpSpPr>
          <p:grpSp>
            <p:nvGrpSpPr>
              <p:cNvPr id="996" name="Google Shape;996;p51"/>
              <p:cNvGrpSpPr/>
              <p:nvPr/>
            </p:nvGrpSpPr>
            <p:grpSpPr>
              <a:xfrm>
                <a:off x="9202259" y="2201623"/>
                <a:ext cx="1122065" cy="3842866"/>
                <a:chOff x="1775100" y="4022831"/>
                <a:chExt cx="1076115" cy="1739719"/>
              </a:xfrm>
            </p:grpSpPr>
            <p:sp>
              <p:nvSpPr>
                <p:cNvPr id="997" name="Google Shape;997;p51"/>
                <p:cNvSpPr/>
                <p:nvPr/>
              </p:nvSpPr>
              <p:spPr>
                <a:xfrm>
                  <a:off x="1775100" y="4022850"/>
                  <a:ext cx="1076100" cy="1739700"/>
                </a:xfrm>
                <a:prstGeom prst="rect">
                  <a:avLst/>
                </a:prstGeom>
                <a:solidFill>
                  <a:srgbClr val="EFEFEF"/>
                </a:solidFill>
                <a:ln w="19050" cap="flat" cmpd="sng">
                  <a:solidFill>
                    <a:srgbClr val="22222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grpSp>
              <p:nvGrpSpPr>
                <p:cNvPr id="998" name="Google Shape;998;p51"/>
                <p:cNvGrpSpPr/>
                <p:nvPr/>
              </p:nvGrpSpPr>
              <p:grpSpPr>
                <a:xfrm>
                  <a:off x="1775100" y="4022831"/>
                  <a:ext cx="1076115" cy="1739694"/>
                  <a:chOff x="7948250" y="2813106"/>
                  <a:chExt cx="1076115" cy="1739694"/>
                </a:xfrm>
              </p:grpSpPr>
              <p:sp>
                <p:nvSpPr>
                  <p:cNvPr id="999" name="Google Shape;999;p51"/>
                  <p:cNvSpPr/>
                  <p:nvPr/>
                </p:nvSpPr>
                <p:spPr>
                  <a:xfrm>
                    <a:off x="7948265" y="2813106"/>
                    <a:ext cx="1076100" cy="324600"/>
                  </a:xfrm>
                  <a:prstGeom prst="rect">
                    <a:avLst/>
                  </a:prstGeom>
                  <a:solidFill>
                    <a:srgbClr val="F4CCCC"/>
                  </a:solidFill>
                  <a:ln w="9525" cap="flat" cmpd="sng">
                    <a:solidFill>
                      <a:srgbClr val="22222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es-ES" sz="1600" b="1" dirty="0">
                        <a:latin typeface="Courier New"/>
                        <a:ea typeface="Courier New"/>
                        <a:cs typeface="Courier New"/>
                        <a:sym typeface="Courier New"/>
                      </a:rPr>
                      <a:t>Code</a:t>
                    </a:r>
                    <a:endParaRPr sz="1600" b="1" dirty="0">
                      <a:latin typeface="Courier New"/>
                      <a:ea typeface="Courier New"/>
                      <a:cs typeface="Courier New"/>
                      <a:sym typeface="Courier New"/>
                    </a:endParaRPr>
                  </a:p>
                </p:txBody>
              </p:sp>
              <p:sp>
                <p:nvSpPr>
                  <p:cNvPr id="1000" name="Google Shape;1000;p51"/>
                  <p:cNvSpPr/>
                  <p:nvPr/>
                </p:nvSpPr>
                <p:spPr>
                  <a:xfrm>
                    <a:off x="7948250" y="3406050"/>
                    <a:ext cx="1076100" cy="284400"/>
                  </a:xfrm>
                  <a:prstGeom prst="rect">
                    <a:avLst/>
                  </a:prstGeom>
                  <a:solidFill>
                    <a:srgbClr val="FFE599"/>
                  </a:solidFill>
                  <a:ln w="9525" cap="flat" cmpd="sng">
                    <a:solidFill>
                      <a:srgbClr val="22222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es-ES" sz="1600" b="1" dirty="0">
                        <a:latin typeface="Courier New"/>
                        <a:ea typeface="Courier New"/>
                        <a:cs typeface="Courier New"/>
                        <a:sym typeface="Courier New"/>
                      </a:rPr>
                      <a:t>heap</a:t>
                    </a:r>
                    <a:endParaRPr sz="2200" dirty="0"/>
                  </a:p>
                </p:txBody>
              </p:sp>
              <p:sp>
                <p:nvSpPr>
                  <p:cNvPr id="1001" name="Google Shape;1001;p51"/>
                  <p:cNvSpPr/>
                  <p:nvPr/>
                </p:nvSpPr>
                <p:spPr>
                  <a:xfrm>
                    <a:off x="7948250" y="4268400"/>
                    <a:ext cx="1076100" cy="284400"/>
                  </a:xfrm>
                  <a:prstGeom prst="rect">
                    <a:avLst/>
                  </a:prstGeom>
                  <a:solidFill>
                    <a:srgbClr val="CFE2F3"/>
                  </a:solidFill>
                  <a:ln w="9525" cap="flat" cmpd="sng">
                    <a:solidFill>
                      <a:srgbClr val="22222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es-ES" sz="1600" b="1" dirty="0">
                        <a:latin typeface="Courier New"/>
                        <a:ea typeface="Courier New"/>
                        <a:cs typeface="Courier New"/>
                        <a:sym typeface="Courier New"/>
                      </a:rPr>
                      <a:t>stack</a:t>
                    </a:r>
                    <a:endParaRPr sz="2200" dirty="0"/>
                  </a:p>
                </p:txBody>
              </p:sp>
              <p:cxnSp>
                <p:nvCxnSpPr>
                  <p:cNvPr id="1002" name="Google Shape;1002;p51"/>
                  <p:cNvCxnSpPr>
                    <a:stCxn id="1000" idx="2"/>
                  </p:cNvCxnSpPr>
                  <p:nvPr/>
                </p:nvCxnSpPr>
                <p:spPr>
                  <a:xfrm>
                    <a:off x="8486300" y="3690450"/>
                    <a:ext cx="6900" cy="261300"/>
                  </a:xfrm>
                  <a:prstGeom prst="straightConnector1">
                    <a:avLst/>
                  </a:prstGeom>
                  <a:noFill/>
                  <a:ln w="9525" cap="flat" cmpd="sng">
                    <a:solidFill>
                      <a:srgbClr val="000000"/>
                    </a:solidFill>
                    <a:prstDash val="solid"/>
                    <a:round/>
                    <a:headEnd type="none" w="med" len="med"/>
                    <a:tailEnd type="triangle" w="med" len="med"/>
                  </a:ln>
                </p:spPr>
              </p:cxnSp>
              <p:cxnSp>
                <p:nvCxnSpPr>
                  <p:cNvPr id="1003" name="Google Shape;1003;p51"/>
                  <p:cNvCxnSpPr>
                    <a:stCxn id="1001" idx="0"/>
                  </p:cNvCxnSpPr>
                  <p:nvPr/>
                </p:nvCxnSpPr>
                <p:spPr>
                  <a:xfrm rot="10800000" flipH="1">
                    <a:off x="8486300" y="4035600"/>
                    <a:ext cx="4200" cy="232800"/>
                  </a:xfrm>
                  <a:prstGeom prst="straightConnector1">
                    <a:avLst/>
                  </a:prstGeom>
                  <a:noFill/>
                  <a:ln w="9525" cap="flat" cmpd="sng">
                    <a:solidFill>
                      <a:srgbClr val="000000"/>
                    </a:solidFill>
                    <a:prstDash val="solid"/>
                    <a:round/>
                    <a:headEnd type="none" w="med" len="med"/>
                    <a:tailEnd type="triangle" w="med" len="med"/>
                  </a:ln>
                </p:spPr>
              </p:cxnSp>
            </p:grpSp>
          </p:grpSp>
          <p:sp>
            <p:nvSpPr>
              <p:cNvPr id="1004" name="Google Shape;1004;p51"/>
              <p:cNvSpPr txBox="1"/>
              <p:nvPr/>
            </p:nvSpPr>
            <p:spPr>
              <a:xfrm>
                <a:off x="7608650" y="2114600"/>
                <a:ext cx="1593600" cy="338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000" dirty="0">
                    <a:solidFill>
                      <a:srgbClr val="70AD47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00</a:t>
                </a:r>
                <a:r>
                  <a:rPr lang="es-ES" sz="1000" dirty="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000000000000</a:t>
                </a:r>
                <a:endParaRPr sz="1000" dirty="0"/>
              </a:p>
            </p:txBody>
          </p:sp>
          <p:sp>
            <p:nvSpPr>
              <p:cNvPr id="1005" name="Google Shape;1005;p51"/>
              <p:cNvSpPr txBox="1"/>
              <p:nvPr/>
            </p:nvSpPr>
            <p:spPr>
              <a:xfrm>
                <a:off x="7608650" y="2625100"/>
                <a:ext cx="1593600" cy="338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000">
                    <a:solidFill>
                      <a:srgbClr val="70AD47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00</a:t>
                </a:r>
                <a:r>
                  <a:rPr lang="es-ES" sz="10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111111111111</a:t>
                </a:r>
                <a:endParaRPr sz="200"/>
              </a:p>
            </p:txBody>
          </p:sp>
          <p:sp>
            <p:nvSpPr>
              <p:cNvPr id="1006" name="Google Shape;1006;p51"/>
              <p:cNvSpPr txBox="1"/>
              <p:nvPr/>
            </p:nvSpPr>
            <p:spPr>
              <a:xfrm>
                <a:off x="7608650" y="3418975"/>
                <a:ext cx="1593600" cy="338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000">
                    <a:solidFill>
                      <a:srgbClr val="70AD47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01</a:t>
                </a:r>
                <a:r>
                  <a:rPr lang="es-ES" sz="10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000000000000</a:t>
                </a:r>
                <a:endParaRPr sz="200"/>
              </a:p>
            </p:txBody>
          </p:sp>
          <p:sp>
            <p:nvSpPr>
              <p:cNvPr id="1007" name="Google Shape;1007;p51"/>
              <p:cNvSpPr txBox="1"/>
              <p:nvPr/>
            </p:nvSpPr>
            <p:spPr>
              <a:xfrm>
                <a:off x="7608650" y="3858250"/>
                <a:ext cx="1593600" cy="338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000">
                    <a:solidFill>
                      <a:srgbClr val="70AD47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00</a:t>
                </a:r>
                <a:r>
                  <a:rPr lang="es-ES" sz="10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111111111111</a:t>
                </a:r>
                <a:endParaRPr sz="200"/>
              </a:p>
            </p:txBody>
          </p:sp>
          <p:sp>
            <p:nvSpPr>
              <p:cNvPr id="1008" name="Google Shape;1008;p51"/>
              <p:cNvSpPr txBox="1"/>
              <p:nvPr/>
            </p:nvSpPr>
            <p:spPr>
              <a:xfrm>
                <a:off x="7608650" y="5364300"/>
                <a:ext cx="1593600" cy="338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000">
                    <a:solidFill>
                      <a:srgbClr val="70AD47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11</a:t>
                </a:r>
                <a:r>
                  <a:rPr lang="es-ES" sz="10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000000000000</a:t>
                </a:r>
                <a:endParaRPr sz="200"/>
              </a:p>
            </p:txBody>
          </p:sp>
          <p:sp>
            <p:nvSpPr>
              <p:cNvPr id="1009" name="Google Shape;1009;p51"/>
              <p:cNvSpPr txBox="1"/>
              <p:nvPr/>
            </p:nvSpPr>
            <p:spPr>
              <a:xfrm>
                <a:off x="7608650" y="5733600"/>
                <a:ext cx="1593600" cy="338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000">
                    <a:solidFill>
                      <a:srgbClr val="70AD47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11</a:t>
                </a:r>
                <a:r>
                  <a:rPr lang="es-ES" sz="10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111111111111</a:t>
                </a:r>
                <a:endParaRPr sz="200"/>
              </a:p>
            </p:txBody>
          </p:sp>
          <p:sp>
            <p:nvSpPr>
              <p:cNvPr id="1010" name="Google Shape;1010;p51"/>
              <p:cNvSpPr txBox="1"/>
              <p:nvPr/>
            </p:nvSpPr>
            <p:spPr>
              <a:xfrm>
                <a:off x="7026275" y="3640250"/>
                <a:ext cx="1593600" cy="338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000" dirty="0">
                    <a:solidFill>
                      <a:srgbClr val="70AD47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10</a:t>
                </a:r>
                <a:r>
                  <a:rPr lang="es-ES" sz="1000" dirty="0">
                    <a:solidFill>
                      <a:schemeClr val="accent2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000001101000</a:t>
                </a:r>
                <a:endParaRPr sz="200" dirty="0">
                  <a:solidFill>
                    <a:schemeClr val="accent2"/>
                  </a:solidFill>
                </a:endParaRPr>
              </a:p>
            </p:txBody>
          </p:sp>
          <p:cxnSp>
            <p:nvCxnSpPr>
              <p:cNvPr id="1011" name="Google Shape;1011;p51"/>
              <p:cNvCxnSpPr/>
              <p:nvPr/>
            </p:nvCxnSpPr>
            <p:spPr>
              <a:xfrm>
                <a:off x="8619875" y="3815913"/>
                <a:ext cx="551700" cy="9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</p:grpSp>
        <p:grpSp>
          <p:nvGrpSpPr>
            <p:cNvPr id="1012" name="Google Shape;1012;p51"/>
            <p:cNvGrpSpPr/>
            <p:nvPr/>
          </p:nvGrpSpPr>
          <p:grpSpPr>
            <a:xfrm>
              <a:off x="10780750" y="3496825"/>
              <a:ext cx="1345975" cy="338700"/>
              <a:chOff x="10780750" y="3496825"/>
              <a:chExt cx="1345975" cy="338700"/>
            </a:xfrm>
          </p:grpSpPr>
          <p:cxnSp>
            <p:nvCxnSpPr>
              <p:cNvPr id="1013" name="Google Shape;1013;p51"/>
              <p:cNvCxnSpPr/>
              <p:nvPr/>
            </p:nvCxnSpPr>
            <p:spPr>
              <a:xfrm>
                <a:off x="10780750" y="3514525"/>
                <a:ext cx="4665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grpSp>
            <p:nvGrpSpPr>
              <p:cNvPr id="1014" name="Google Shape;1014;p51"/>
              <p:cNvGrpSpPr/>
              <p:nvPr/>
            </p:nvGrpSpPr>
            <p:grpSpPr>
              <a:xfrm>
                <a:off x="10780750" y="3496825"/>
                <a:ext cx="1345975" cy="338700"/>
                <a:chOff x="10399750" y="3496825"/>
                <a:chExt cx="1345975" cy="338700"/>
              </a:xfrm>
            </p:grpSpPr>
            <p:cxnSp>
              <p:nvCxnSpPr>
                <p:cNvPr id="1015" name="Google Shape;1015;p51"/>
                <p:cNvCxnSpPr/>
                <p:nvPr/>
              </p:nvCxnSpPr>
              <p:spPr>
                <a:xfrm>
                  <a:off x="10399750" y="3793500"/>
                  <a:ext cx="466500" cy="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016" name="Google Shape;1016;p51"/>
                <p:cNvCxnSpPr/>
                <p:nvPr/>
              </p:nvCxnSpPr>
              <p:spPr>
                <a:xfrm>
                  <a:off x="10492275" y="3514525"/>
                  <a:ext cx="0" cy="30330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chemeClr val="accent2"/>
                  </a:solidFill>
                  <a:prstDash val="solid"/>
                  <a:round/>
                  <a:headEnd type="triangle" w="med" len="med"/>
                  <a:tailEnd type="triangle" w="med" len="med"/>
                </a:ln>
              </p:spPr>
            </p:cxnSp>
            <p:sp>
              <p:nvSpPr>
                <p:cNvPr id="1017" name="Google Shape;1017;p51"/>
                <p:cNvSpPr txBox="1"/>
                <p:nvPr/>
              </p:nvSpPr>
              <p:spPr>
                <a:xfrm>
                  <a:off x="10573925" y="3496825"/>
                  <a:ext cx="1171800" cy="338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t" anchorCtr="0">
                  <a:sp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1000" dirty="0">
                      <a:solidFill>
                        <a:schemeClr val="accent2"/>
                      </a:solidFill>
                      <a:latin typeface="Consolas"/>
                      <a:ea typeface="Consolas"/>
                      <a:cs typeface="Consolas"/>
                      <a:sym typeface="Consolas"/>
                    </a:rPr>
                    <a:t>000001101000</a:t>
                  </a:r>
                  <a:endParaRPr sz="200" dirty="0">
                    <a:solidFill>
                      <a:schemeClr val="accent2"/>
                    </a:solidFill>
                  </a:endParaRPr>
                </a:p>
              </p:txBody>
            </p:sp>
          </p:grpSp>
        </p:grp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2" name="Google Shape;1022;p52"/>
          <p:cNvSpPr txBox="1">
            <a:spLocks noGrp="1"/>
          </p:cNvSpPr>
          <p:nvPr>
            <p:ph type="title"/>
          </p:nvPr>
        </p:nvSpPr>
        <p:spPr>
          <a:xfrm>
            <a:off x="368300" y="187270"/>
            <a:ext cx="11188700" cy="1325563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Referenciando un segmento</a:t>
            </a:r>
            <a:endParaRPr dirty="0"/>
          </a:p>
        </p:txBody>
      </p:sp>
      <p:sp>
        <p:nvSpPr>
          <p:cNvPr id="1023" name="Google Shape;1023;p52"/>
          <p:cNvSpPr txBox="1">
            <a:spLocks noGrp="1"/>
          </p:cNvSpPr>
          <p:nvPr>
            <p:ph idx="1"/>
          </p:nvPr>
        </p:nvSpPr>
        <p:spPr>
          <a:xfrm>
            <a:off x="368300" y="1258888"/>
            <a:ext cx="11455400" cy="1985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solidFill>
                  <a:schemeClr val="accent5"/>
                </a:solidFill>
              </a:rPr>
              <a:t>Ejemplo</a:t>
            </a:r>
            <a:r>
              <a:rPr lang="es-ES" sz="2400" dirty="0">
                <a:solidFill>
                  <a:schemeClr val="accent5"/>
                </a:solidFill>
              </a:rPr>
              <a:t>:</a:t>
            </a:r>
            <a:endParaRPr sz="2400" dirty="0">
              <a:solidFill>
                <a:schemeClr val="accent5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000" dirty="0"/>
              <a:t>Si se tiene una memoria física de 64K</a:t>
            </a:r>
            <a:r>
              <a:rPr lang="es-ES" sz="2000" b="1" dirty="0">
                <a:solidFill>
                  <a:srgbClr val="FF0000"/>
                </a:solidFill>
              </a:rPr>
              <a:t> ¿Cuántos bits son necesarios para direccionarla?</a:t>
            </a:r>
            <a:endParaRPr sz="2000" b="1" dirty="0">
              <a:solidFill>
                <a:srgbClr val="FF0000"/>
              </a:solidFill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accent2"/>
              </a:buClr>
              <a:buSzPts val="2400"/>
              <a:buChar char="●"/>
            </a:pPr>
            <a:r>
              <a:rPr lang="es-ES" sz="2000" b="1" dirty="0">
                <a:solidFill>
                  <a:schemeClr val="accent2"/>
                </a:solidFill>
              </a:rPr>
              <a:t>Datos</a:t>
            </a:r>
            <a:r>
              <a:rPr lang="es-ES" sz="2000" dirty="0">
                <a:solidFill>
                  <a:schemeClr val="accent2"/>
                </a:solidFill>
              </a:rPr>
              <a:t>:</a:t>
            </a:r>
            <a:endParaRPr sz="2000" dirty="0">
              <a:solidFill>
                <a:schemeClr val="accent2"/>
              </a:solidFill>
            </a:endParaRPr>
          </a:p>
          <a:p>
            <a:pPr marL="914400" lvl="1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</a:pPr>
            <a:r>
              <a:rPr lang="es-ES" sz="2000" b="1" dirty="0">
                <a:ea typeface="Consolas"/>
                <a:cs typeface="Consolas"/>
                <a:sym typeface="Consolas"/>
              </a:rPr>
              <a:t>size(PM) = 64K</a:t>
            </a:r>
            <a:r>
              <a:rPr lang="es-ES" sz="2000" dirty="0"/>
              <a:t> (tamaño de la memoria física)</a:t>
            </a:r>
            <a:endParaRPr sz="2000" dirty="0"/>
          </a:p>
          <a:p>
            <a:pPr marL="914400" lvl="1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</a:pPr>
            <a:r>
              <a:rPr lang="es-ES" sz="2000" b="1" dirty="0">
                <a:ea typeface="Consolas"/>
                <a:cs typeface="Consolas"/>
                <a:sym typeface="Consolas"/>
              </a:rPr>
              <a:t>n = ?</a:t>
            </a:r>
            <a:r>
              <a:rPr lang="es-ES" sz="2000" dirty="0"/>
              <a:t> (Número de bits necesarios para direccionar la memoria física)</a:t>
            </a:r>
            <a:endParaRPr sz="20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b="1" dirty="0">
              <a:solidFill>
                <a:srgbClr val="FF0000"/>
              </a:solidFill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/>
          </a:p>
        </p:txBody>
      </p:sp>
      <p:graphicFrame>
        <p:nvGraphicFramePr>
          <p:cNvPr id="1024" name="Google Shape;1024;p52"/>
          <p:cNvGraphicFramePr/>
          <p:nvPr>
            <p:extLst>
              <p:ext uri="{D42A27DB-BD31-4B8C-83A1-F6EECF244321}">
                <p14:modId xmlns:p14="http://schemas.microsoft.com/office/powerpoint/2010/main" val="3190441088"/>
              </p:ext>
            </p:extLst>
          </p:nvPr>
        </p:nvGraphicFramePr>
        <p:xfrm>
          <a:off x="795100" y="4292615"/>
          <a:ext cx="7802800" cy="838170"/>
        </p:xfrm>
        <a:graphic>
          <a:graphicData uri="http://schemas.openxmlformats.org/drawingml/2006/table">
            <a:tbl>
              <a:tblPr>
                <a:noFill/>
                <a:tableStyleId>{CA5C7703-E2AC-41A6-8DEA-2D5C455BA520}</a:tableStyleId>
              </a:tblPr>
              <a:tblGrid>
                <a:gridCol w="487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76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76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876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76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876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876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876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876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876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8767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87675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87675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487675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487675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487675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15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14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13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12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11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10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9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8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1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1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1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1" dirty="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025" name="Google Shape;1025;p52"/>
          <p:cNvSpPr txBox="1"/>
          <p:nvPr/>
        </p:nvSpPr>
        <p:spPr>
          <a:xfrm>
            <a:off x="181425" y="4597415"/>
            <a:ext cx="5130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b="1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PA</a:t>
            </a:r>
            <a:endParaRPr sz="1800" b="1"/>
          </a:p>
        </p:txBody>
      </p:sp>
      <p:sp>
        <p:nvSpPr>
          <p:cNvPr id="1026" name="Google Shape;1026;p52"/>
          <p:cNvSpPr txBox="1"/>
          <p:nvPr/>
        </p:nvSpPr>
        <p:spPr>
          <a:xfrm>
            <a:off x="8851000" y="3935465"/>
            <a:ext cx="2972700" cy="184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dirty="0">
                <a:latin typeface="Consolas"/>
                <a:ea typeface="Consolas"/>
                <a:cs typeface="Consolas"/>
                <a:sym typeface="Consolas"/>
              </a:rPr>
              <a:t>2^n = 64K</a:t>
            </a:r>
            <a:endParaRPr sz="1800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2^n = 64(2^10)</a:t>
            </a:r>
            <a:endParaRPr sz="18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2^n = (2^6)(2^10)</a:t>
            </a:r>
            <a:endParaRPr sz="18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2^n = 2^16</a:t>
            </a:r>
            <a:endParaRPr sz="18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log2(2^n) = log2(2^16)</a:t>
            </a:r>
            <a:endParaRPr sz="18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18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 = 16</a:t>
            </a:r>
            <a:r>
              <a:rPr lang="es-ES" sz="16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endParaRPr sz="16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1" name="Google Shape;1031;p53"/>
          <p:cNvSpPr txBox="1">
            <a:spLocks noGrp="1"/>
          </p:cNvSpPr>
          <p:nvPr>
            <p:ph type="title"/>
          </p:nvPr>
        </p:nvSpPr>
        <p:spPr>
          <a:xfrm>
            <a:off x="368300" y="365126"/>
            <a:ext cx="10985500" cy="777412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Referenciando un segmento</a:t>
            </a:r>
            <a:endParaRPr dirty="0"/>
          </a:p>
        </p:txBody>
      </p:sp>
      <p:sp>
        <p:nvSpPr>
          <p:cNvPr id="1032" name="Google Shape;1032;p53"/>
          <p:cNvSpPr txBox="1">
            <a:spLocks noGrp="1"/>
          </p:cNvSpPr>
          <p:nvPr>
            <p:ph idx="1"/>
          </p:nvPr>
        </p:nvSpPr>
        <p:spPr>
          <a:xfrm>
            <a:off x="368300" y="1059619"/>
            <a:ext cx="11455400" cy="100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800" b="1" dirty="0">
                <a:solidFill>
                  <a:schemeClr val="accent5"/>
                </a:solidFill>
              </a:rPr>
              <a:t>Ejemplo</a:t>
            </a:r>
            <a:r>
              <a:rPr lang="es-ES" sz="2800" dirty="0">
                <a:solidFill>
                  <a:schemeClr val="accent5"/>
                </a:solidFill>
              </a:rPr>
              <a:t>:</a:t>
            </a:r>
            <a:endParaRPr sz="2800" dirty="0">
              <a:solidFill>
                <a:schemeClr val="accent5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dirty="0"/>
              <a:t>Teniendo en cuenta lo anterior </a:t>
            </a:r>
            <a:r>
              <a:rPr lang="es-ES" sz="2400" b="1" dirty="0">
                <a:solidFill>
                  <a:srgbClr val="FF0000"/>
                </a:solidFill>
              </a:rPr>
              <a:t>¿Cual la dirección física asociada?</a:t>
            </a:r>
            <a:endParaRPr sz="2400" b="1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/>
          </a:p>
        </p:txBody>
      </p:sp>
      <p:graphicFrame>
        <p:nvGraphicFramePr>
          <p:cNvPr id="1033" name="Google Shape;1033;p53"/>
          <p:cNvGraphicFramePr/>
          <p:nvPr>
            <p:extLst>
              <p:ext uri="{D42A27DB-BD31-4B8C-83A1-F6EECF244321}">
                <p14:modId xmlns:p14="http://schemas.microsoft.com/office/powerpoint/2010/main" val="3396266949"/>
              </p:ext>
            </p:extLst>
          </p:nvPr>
        </p:nvGraphicFramePr>
        <p:xfrm>
          <a:off x="853250" y="2131926"/>
          <a:ext cx="6032950" cy="807690"/>
        </p:xfrm>
        <a:graphic>
          <a:graphicData uri="http://schemas.openxmlformats.org/drawingml/2006/table">
            <a:tbl>
              <a:tblPr>
                <a:noFill/>
                <a:tableStyleId>{CA5C7703-E2AC-41A6-8DEA-2D5C455BA520}</a:tableStyleId>
              </a:tblPr>
              <a:tblGrid>
                <a:gridCol w="430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13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12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11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10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9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8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sz="1600" b="1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1</a:t>
                      </a:r>
                      <a:endParaRPr sz="1600" b="1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sz="1600" b="1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sz="1600" b="1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sz="1600" b="1" dirty="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sz="1600" b="1" dirty="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sz="1600" b="1" dirty="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1</a:t>
                      </a:r>
                      <a:endParaRPr sz="1600" b="1" dirty="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1</a:t>
                      </a:r>
                      <a:endParaRPr sz="1600" b="1" dirty="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sz="1600" b="1" dirty="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1</a:t>
                      </a:r>
                      <a:endParaRPr sz="1600" b="1" dirty="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sz="1600" b="1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sz="1600" b="1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sz="1600" b="1" dirty="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034" name="Google Shape;1034;p53"/>
          <p:cNvSpPr txBox="1"/>
          <p:nvPr/>
        </p:nvSpPr>
        <p:spPr>
          <a:xfrm>
            <a:off x="321175" y="2485076"/>
            <a:ext cx="5130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b="1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VA</a:t>
            </a:r>
            <a:endParaRPr sz="1800" b="1"/>
          </a:p>
        </p:txBody>
      </p:sp>
      <p:sp>
        <p:nvSpPr>
          <p:cNvPr id="1035" name="Google Shape;1035;p53"/>
          <p:cNvSpPr/>
          <p:nvPr/>
        </p:nvSpPr>
        <p:spPr>
          <a:xfrm rot="5400000">
            <a:off x="4161950" y="553676"/>
            <a:ext cx="281100" cy="5190300"/>
          </a:xfrm>
          <a:prstGeom prst="rightBrace">
            <a:avLst>
              <a:gd name="adj1" fmla="val 50000"/>
              <a:gd name="adj2" fmla="val 49405"/>
            </a:avLst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36" name="Google Shape;1036;p53"/>
          <p:cNvSpPr txBox="1"/>
          <p:nvPr/>
        </p:nvSpPr>
        <p:spPr>
          <a:xfrm>
            <a:off x="3623900" y="3274901"/>
            <a:ext cx="1357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offset</a:t>
            </a:r>
            <a:endParaRPr sz="1800"/>
          </a:p>
        </p:txBody>
      </p:sp>
      <p:sp>
        <p:nvSpPr>
          <p:cNvPr id="1037" name="Google Shape;1037;p53"/>
          <p:cNvSpPr/>
          <p:nvPr/>
        </p:nvSpPr>
        <p:spPr>
          <a:xfrm rot="5400000">
            <a:off x="1120663" y="2721776"/>
            <a:ext cx="281100" cy="854100"/>
          </a:xfrm>
          <a:prstGeom prst="rightBrace">
            <a:avLst>
              <a:gd name="adj1" fmla="val 50000"/>
              <a:gd name="adj2" fmla="val 49405"/>
            </a:avLst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38" name="Google Shape;1038;p53"/>
          <p:cNvSpPr txBox="1"/>
          <p:nvPr/>
        </p:nvSpPr>
        <p:spPr>
          <a:xfrm>
            <a:off x="582625" y="3274901"/>
            <a:ext cx="1357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heap</a:t>
            </a:r>
            <a:endParaRPr sz="1800" dirty="0"/>
          </a:p>
        </p:txBody>
      </p:sp>
      <p:grpSp>
        <p:nvGrpSpPr>
          <p:cNvPr id="1039" name="Google Shape;1039;p53"/>
          <p:cNvGrpSpPr/>
          <p:nvPr/>
        </p:nvGrpSpPr>
        <p:grpSpPr>
          <a:xfrm>
            <a:off x="1192225" y="3995125"/>
            <a:ext cx="3579525" cy="2339900"/>
            <a:chOff x="1192225" y="3995125"/>
            <a:chExt cx="3579525" cy="2339900"/>
          </a:xfrm>
        </p:grpSpPr>
        <p:sp>
          <p:nvSpPr>
            <p:cNvPr id="1040" name="Google Shape;1040;p53"/>
            <p:cNvSpPr txBox="1"/>
            <p:nvPr/>
          </p:nvSpPr>
          <p:spPr>
            <a:xfrm>
              <a:off x="1192225" y="4719013"/>
              <a:ext cx="5517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chemeClr val="accent2"/>
                  </a:solidFill>
                  <a:latin typeface="Consolas"/>
                  <a:ea typeface="Consolas"/>
                  <a:cs typeface="Consolas"/>
                  <a:sym typeface="Consolas"/>
                </a:rPr>
                <a:t>4200</a:t>
              </a:r>
              <a:endParaRPr sz="400">
                <a:solidFill>
                  <a:schemeClr val="accent2"/>
                </a:solidFill>
              </a:endParaRPr>
            </a:p>
          </p:txBody>
        </p:sp>
        <p:cxnSp>
          <p:nvCxnSpPr>
            <p:cNvPr id="1041" name="Google Shape;1041;p53"/>
            <p:cNvCxnSpPr/>
            <p:nvPr/>
          </p:nvCxnSpPr>
          <p:spPr>
            <a:xfrm>
              <a:off x="1743925" y="4925638"/>
              <a:ext cx="551700" cy="9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grpSp>
          <p:nvGrpSpPr>
            <p:cNvPr id="1042" name="Google Shape;1042;p53"/>
            <p:cNvGrpSpPr/>
            <p:nvPr/>
          </p:nvGrpSpPr>
          <p:grpSpPr>
            <a:xfrm>
              <a:off x="3478275" y="4599125"/>
              <a:ext cx="1293475" cy="369300"/>
              <a:chOff x="3478275" y="4599125"/>
              <a:chExt cx="1293475" cy="369300"/>
            </a:xfrm>
          </p:grpSpPr>
          <p:cxnSp>
            <p:nvCxnSpPr>
              <p:cNvPr id="1043" name="Google Shape;1043;p53"/>
              <p:cNvCxnSpPr/>
              <p:nvPr/>
            </p:nvCxnSpPr>
            <p:spPr>
              <a:xfrm>
                <a:off x="3493375" y="4633825"/>
                <a:ext cx="4665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grpSp>
            <p:nvGrpSpPr>
              <p:cNvPr id="1044" name="Google Shape;1044;p53"/>
              <p:cNvGrpSpPr/>
              <p:nvPr/>
            </p:nvGrpSpPr>
            <p:grpSpPr>
              <a:xfrm>
                <a:off x="3478275" y="4599125"/>
                <a:ext cx="1293475" cy="369300"/>
                <a:chOff x="10399750" y="3478125"/>
                <a:chExt cx="1293475" cy="369300"/>
              </a:xfrm>
            </p:grpSpPr>
            <p:cxnSp>
              <p:nvCxnSpPr>
                <p:cNvPr id="1045" name="Google Shape;1045;p53"/>
                <p:cNvCxnSpPr/>
                <p:nvPr/>
              </p:nvCxnSpPr>
              <p:spPr>
                <a:xfrm>
                  <a:off x="10399750" y="3808075"/>
                  <a:ext cx="466500" cy="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046" name="Google Shape;1046;p53"/>
                <p:cNvCxnSpPr/>
                <p:nvPr/>
              </p:nvCxnSpPr>
              <p:spPr>
                <a:xfrm>
                  <a:off x="10492275" y="3514525"/>
                  <a:ext cx="0" cy="30330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chemeClr val="accent2"/>
                  </a:solidFill>
                  <a:prstDash val="solid"/>
                  <a:round/>
                  <a:headEnd type="triangle" w="med" len="med"/>
                  <a:tailEnd type="triangle" w="med" len="med"/>
                </a:ln>
              </p:spPr>
            </p:cxnSp>
            <p:sp>
              <p:nvSpPr>
                <p:cNvPr id="1047" name="Google Shape;1047;p53"/>
                <p:cNvSpPr txBox="1"/>
                <p:nvPr/>
              </p:nvSpPr>
              <p:spPr>
                <a:xfrm>
                  <a:off x="10521425" y="3478125"/>
                  <a:ext cx="1171800" cy="3693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t" anchorCtr="0">
                  <a:sp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1200">
                      <a:solidFill>
                        <a:schemeClr val="accent2"/>
                      </a:solidFill>
                      <a:latin typeface="Consolas"/>
                      <a:ea typeface="Consolas"/>
                      <a:cs typeface="Consolas"/>
                      <a:sym typeface="Consolas"/>
                    </a:rPr>
                    <a:t>104</a:t>
                  </a:r>
                  <a:endParaRPr sz="400">
                    <a:solidFill>
                      <a:schemeClr val="accent2"/>
                    </a:solidFill>
                  </a:endParaRPr>
                </a:p>
              </p:txBody>
            </p:sp>
          </p:grpSp>
        </p:grpSp>
        <p:grpSp>
          <p:nvGrpSpPr>
            <p:cNvPr id="1048" name="Google Shape;1048;p53"/>
            <p:cNvGrpSpPr/>
            <p:nvPr/>
          </p:nvGrpSpPr>
          <p:grpSpPr>
            <a:xfrm>
              <a:off x="2285700" y="3995125"/>
              <a:ext cx="1125359" cy="2339900"/>
              <a:chOff x="2625425" y="3871775"/>
              <a:chExt cx="1125359" cy="2339900"/>
            </a:xfrm>
          </p:grpSpPr>
          <p:grpSp>
            <p:nvGrpSpPr>
              <p:cNvPr id="1049" name="Google Shape;1049;p53"/>
              <p:cNvGrpSpPr/>
              <p:nvPr/>
            </p:nvGrpSpPr>
            <p:grpSpPr>
              <a:xfrm>
                <a:off x="2626525" y="4273149"/>
                <a:ext cx="1124259" cy="1619400"/>
                <a:chOff x="2626525" y="4273149"/>
                <a:chExt cx="1124259" cy="1619400"/>
              </a:xfrm>
            </p:grpSpPr>
            <p:sp>
              <p:nvSpPr>
                <p:cNvPr id="1050" name="Google Shape;1050;p53"/>
                <p:cNvSpPr/>
                <p:nvPr/>
              </p:nvSpPr>
              <p:spPr>
                <a:xfrm>
                  <a:off x="2626525" y="4273149"/>
                  <a:ext cx="1122000" cy="1619400"/>
                </a:xfrm>
                <a:prstGeom prst="rect">
                  <a:avLst/>
                </a:prstGeom>
                <a:solidFill>
                  <a:srgbClr val="EFEFEF"/>
                </a:solidFill>
                <a:ln w="19050" cap="flat" cmpd="sng">
                  <a:solidFill>
                    <a:srgbClr val="000000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grpSp>
              <p:nvGrpSpPr>
                <p:cNvPr id="1051" name="Google Shape;1051;p53"/>
                <p:cNvGrpSpPr/>
                <p:nvPr/>
              </p:nvGrpSpPr>
              <p:grpSpPr>
                <a:xfrm>
                  <a:off x="2628734" y="4495878"/>
                  <a:ext cx="1122049" cy="1205397"/>
                  <a:chOff x="7948250" y="3406050"/>
                  <a:chExt cx="1076100" cy="545700"/>
                </a:xfrm>
              </p:grpSpPr>
              <p:sp>
                <p:nvSpPr>
                  <p:cNvPr id="1052" name="Google Shape;1052;p53"/>
                  <p:cNvSpPr/>
                  <p:nvPr/>
                </p:nvSpPr>
                <p:spPr>
                  <a:xfrm>
                    <a:off x="7948250" y="3406050"/>
                    <a:ext cx="1076100" cy="284400"/>
                  </a:xfrm>
                  <a:prstGeom prst="rect">
                    <a:avLst/>
                  </a:prstGeom>
                  <a:solidFill>
                    <a:srgbClr val="FFE599"/>
                  </a:solidFill>
                  <a:ln w="19050" cap="flat" cmpd="sng">
                    <a:solidFill>
                      <a:srgbClr val="000000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es-ES" sz="1600" b="1" dirty="0">
                        <a:latin typeface="Courier New"/>
                        <a:ea typeface="Courier New"/>
                        <a:cs typeface="Courier New"/>
                        <a:sym typeface="Courier New"/>
                      </a:rPr>
                      <a:t>heap</a:t>
                    </a:r>
                    <a:endParaRPr sz="2200" dirty="0"/>
                  </a:p>
                </p:txBody>
              </p:sp>
              <p:cxnSp>
                <p:nvCxnSpPr>
                  <p:cNvPr id="1053" name="Google Shape;1053;p53"/>
                  <p:cNvCxnSpPr>
                    <a:stCxn id="1052" idx="2"/>
                  </p:cNvCxnSpPr>
                  <p:nvPr/>
                </p:nvCxnSpPr>
                <p:spPr>
                  <a:xfrm>
                    <a:off x="8486300" y="3690450"/>
                    <a:ext cx="6900" cy="261300"/>
                  </a:xfrm>
                  <a:prstGeom prst="straightConnector1">
                    <a:avLst/>
                  </a:prstGeom>
                  <a:noFill/>
                  <a:ln w="9525" cap="flat" cmpd="sng">
                    <a:solidFill>
                      <a:srgbClr val="000000"/>
                    </a:solidFill>
                    <a:prstDash val="solid"/>
                    <a:round/>
                    <a:headEnd type="none" w="med" len="med"/>
                    <a:tailEnd type="triangle" w="med" len="med"/>
                  </a:ln>
                </p:spPr>
              </p:cxnSp>
            </p:grpSp>
          </p:grpSp>
          <p:cxnSp>
            <p:nvCxnSpPr>
              <p:cNvPr id="1054" name="Google Shape;1054;p53"/>
              <p:cNvCxnSpPr/>
              <p:nvPr/>
            </p:nvCxnSpPr>
            <p:spPr>
              <a:xfrm rot="10800000">
                <a:off x="2625425" y="3872500"/>
                <a:ext cx="0" cy="4665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55" name="Google Shape;1055;p53"/>
              <p:cNvCxnSpPr/>
              <p:nvPr/>
            </p:nvCxnSpPr>
            <p:spPr>
              <a:xfrm rot="10800000">
                <a:off x="2627600" y="5745175"/>
                <a:ext cx="0" cy="4665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56" name="Google Shape;1056;p53"/>
              <p:cNvCxnSpPr/>
              <p:nvPr/>
            </p:nvCxnSpPr>
            <p:spPr>
              <a:xfrm rot="10800000">
                <a:off x="3749525" y="5745175"/>
                <a:ext cx="0" cy="4665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57" name="Google Shape;1057;p53"/>
              <p:cNvCxnSpPr/>
              <p:nvPr/>
            </p:nvCxnSpPr>
            <p:spPr>
              <a:xfrm rot="10800000">
                <a:off x="3748600" y="3871775"/>
                <a:ext cx="0" cy="4665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1058" name="Google Shape;1058;p53"/>
          <p:cNvSpPr txBox="1"/>
          <p:nvPr/>
        </p:nvSpPr>
        <p:spPr>
          <a:xfrm>
            <a:off x="7137400" y="2098296"/>
            <a:ext cx="4913875" cy="98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VA = 4200 = </a:t>
            </a:r>
            <a:r>
              <a:rPr lang="es-ES" sz="2000" b="1" dirty="0">
                <a:solidFill>
                  <a:srgbClr val="70AD47"/>
                </a:solidFill>
                <a:highlight>
                  <a:srgbClr val="FFFF00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s-ES" sz="2000" b="1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 0000 0110 1000</a:t>
            </a:r>
            <a:endParaRPr sz="2000" b="1" dirty="0"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onsolas"/>
              <a:buChar char="●"/>
            </a:pPr>
            <a:r>
              <a:rPr lang="es-ES" sz="16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segment: </a:t>
            </a:r>
            <a:r>
              <a:rPr lang="es-ES" sz="16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heap</a:t>
            </a:r>
            <a:endParaRPr sz="16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onsolas"/>
              <a:buChar char="●"/>
            </a:pPr>
            <a:r>
              <a:rPr lang="es-ES" sz="16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offset: </a:t>
            </a:r>
            <a:r>
              <a:rPr lang="es-ES" sz="16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0000 0110 1000 = 0x068 = 104</a:t>
            </a:r>
            <a:endParaRPr sz="16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59" name="Google Shape;1059;p53"/>
          <p:cNvSpPr txBox="1"/>
          <p:nvPr/>
        </p:nvSpPr>
        <p:spPr>
          <a:xfrm>
            <a:off x="4604350" y="5812450"/>
            <a:ext cx="57369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PA = 34920 = </a:t>
            </a:r>
            <a:r>
              <a:rPr lang="es-ES" sz="2000" b="1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1000 1000 0110 1000</a:t>
            </a:r>
            <a:endParaRPr sz="16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graphicFrame>
        <p:nvGraphicFramePr>
          <p:cNvPr id="1060" name="Google Shape;1060;p53"/>
          <p:cNvGraphicFramePr/>
          <p:nvPr/>
        </p:nvGraphicFramePr>
        <p:xfrm>
          <a:off x="7913925" y="3134948"/>
          <a:ext cx="3818100" cy="2133450"/>
        </p:xfrm>
        <a:graphic>
          <a:graphicData uri="http://schemas.openxmlformats.org/drawingml/2006/table">
            <a:tbl>
              <a:tblPr>
                <a:noFill/>
                <a:tableStyleId>{CA5C7703-E2AC-41A6-8DEA-2D5C455BA520}</a:tableStyleId>
              </a:tblPr>
              <a:tblGrid>
                <a:gridCol w="1133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9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897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947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46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bits</a:t>
                      </a:r>
                      <a:endParaRPr sz="1600" b="1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segment</a:t>
                      </a:r>
                      <a:endParaRPr sz="1600" b="1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base</a:t>
                      </a:r>
                      <a:endParaRPr sz="1600" b="1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4292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size</a:t>
                      </a:r>
                      <a:endParaRPr sz="1600" b="1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4292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46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00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code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32K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4292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2K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4292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46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01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heap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34K</a:t>
                      </a:r>
                      <a:endParaRPr sz="1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2K</a:t>
                      </a:r>
                      <a:endParaRPr sz="1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46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11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stack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28K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2K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46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---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---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---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---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1061" name="Google Shape;1061;p53"/>
          <p:cNvGrpSpPr/>
          <p:nvPr/>
        </p:nvGrpSpPr>
        <p:grpSpPr>
          <a:xfrm>
            <a:off x="1707350" y="4415013"/>
            <a:ext cx="551700" cy="977300"/>
            <a:chOff x="2077025" y="3805088"/>
            <a:chExt cx="551700" cy="977300"/>
          </a:xfrm>
        </p:grpSpPr>
        <p:sp>
          <p:nvSpPr>
            <p:cNvPr id="1062" name="Google Shape;1062;p53"/>
            <p:cNvSpPr txBox="1"/>
            <p:nvPr/>
          </p:nvSpPr>
          <p:spPr>
            <a:xfrm>
              <a:off x="2077025" y="3805088"/>
              <a:ext cx="5517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latin typeface="Consolas"/>
                  <a:ea typeface="Consolas"/>
                  <a:cs typeface="Consolas"/>
                  <a:sym typeface="Consolas"/>
                </a:rPr>
                <a:t>4K</a:t>
              </a:r>
              <a:endParaRPr sz="400"/>
            </a:p>
          </p:txBody>
        </p:sp>
        <p:sp>
          <p:nvSpPr>
            <p:cNvPr id="1063" name="Google Shape;1063;p53"/>
            <p:cNvSpPr txBox="1"/>
            <p:nvPr/>
          </p:nvSpPr>
          <p:spPr>
            <a:xfrm>
              <a:off x="2077025" y="4413088"/>
              <a:ext cx="5517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latin typeface="Consolas"/>
                  <a:ea typeface="Consolas"/>
                  <a:cs typeface="Consolas"/>
                  <a:sym typeface="Consolas"/>
                </a:rPr>
                <a:t>6K</a:t>
              </a:r>
              <a:endParaRPr sz="400"/>
            </a:p>
          </p:txBody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8" name="Google Shape;1068;p5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Referenciando un segmento</a:t>
            </a:r>
            <a:endParaRPr dirty="0"/>
          </a:p>
        </p:txBody>
      </p:sp>
      <p:sp>
        <p:nvSpPr>
          <p:cNvPr id="1069" name="Google Shape;1069;p54"/>
          <p:cNvSpPr txBox="1">
            <a:spLocks noGrp="1"/>
          </p:cNvSpPr>
          <p:nvPr>
            <p:ph idx="1"/>
          </p:nvPr>
        </p:nvSpPr>
        <p:spPr>
          <a:xfrm>
            <a:off x="268337" y="1223883"/>
            <a:ext cx="10688100" cy="64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800" b="1" dirty="0">
                <a:solidFill>
                  <a:schemeClr val="accent5"/>
                </a:solidFill>
              </a:rPr>
              <a:t>Ejemplo</a:t>
            </a:r>
            <a:r>
              <a:rPr lang="es-ES" sz="2800" dirty="0">
                <a:solidFill>
                  <a:schemeClr val="accent5"/>
                </a:solidFill>
              </a:rPr>
              <a:t>:</a:t>
            </a: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/>
          </a:p>
        </p:txBody>
      </p:sp>
      <p:graphicFrame>
        <p:nvGraphicFramePr>
          <p:cNvPr id="1070" name="Google Shape;1070;p54"/>
          <p:cNvGraphicFramePr/>
          <p:nvPr>
            <p:extLst>
              <p:ext uri="{D42A27DB-BD31-4B8C-83A1-F6EECF244321}">
                <p14:modId xmlns:p14="http://schemas.microsoft.com/office/powerpoint/2010/main" val="1929537623"/>
              </p:ext>
            </p:extLst>
          </p:nvPr>
        </p:nvGraphicFramePr>
        <p:xfrm>
          <a:off x="1342250" y="1776351"/>
          <a:ext cx="6032950" cy="838170"/>
        </p:xfrm>
        <a:graphic>
          <a:graphicData uri="http://schemas.openxmlformats.org/drawingml/2006/table">
            <a:tbl>
              <a:tblPr>
                <a:noFill/>
                <a:tableStyleId>{CA5C7703-E2AC-41A6-8DEA-2D5C455BA520}</a:tableStyleId>
              </a:tblPr>
              <a:tblGrid>
                <a:gridCol w="430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13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12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11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10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9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8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 dirty="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sz="1800" b="1" dirty="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 dirty="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1</a:t>
                      </a:r>
                      <a:endParaRPr sz="1800" b="1" dirty="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 dirty="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sz="1800" b="1" dirty="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 dirty="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sz="1800" b="1" dirty="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 dirty="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sz="1800" b="1" dirty="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 dirty="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sz="1800" b="1" dirty="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 dirty="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sz="1800" b="1" dirty="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 dirty="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1</a:t>
                      </a:r>
                      <a:endParaRPr sz="1800" b="1" dirty="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 dirty="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1</a:t>
                      </a:r>
                      <a:endParaRPr sz="1800" b="1" dirty="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 dirty="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sz="1800" b="1" dirty="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 dirty="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1</a:t>
                      </a:r>
                      <a:endParaRPr sz="1800" b="1" dirty="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 dirty="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sz="1800" b="1" dirty="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 dirty="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sz="1800" b="1" dirty="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 dirty="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sz="1800" b="1" dirty="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071" name="Google Shape;1071;p54"/>
          <p:cNvSpPr txBox="1"/>
          <p:nvPr/>
        </p:nvSpPr>
        <p:spPr>
          <a:xfrm>
            <a:off x="810175" y="2129501"/>
            <a:ext cx="5130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b="1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VA</a:t>
            </a:r>
            <a:endParaRPr sz="1800" b="1"/>
          </a:p>
        </p:txBody>
      </p:sp>
      <p:sp>
        <p:nvSpPr>
          <p:cNvPr id="1072" name="Google Shape;1072;p54"/>
          <p:cNvSpPr/>
          <p:nvPr/>
        </p:nvSpPr>
        <p:spPr>
          <a:xfrm rot="5400000">
            <a:off x="4650950" y="198101"/>
            <a:ext cx="281100" cy="5190300"/>
          </a:xfrm>
          <a:prstGeom prst="rightBrace">
            <a:avLst>
              <a:gd name="adj1" fmla="val 50000"/>
              <a:gd name="adj2" fmla="val 49405"/>
            </a:avLst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3" name="Google Shape;1073;p54"/>
          <p:cNvSpPr txBox="1"/>
          <p:nvPr/>
        </p:nvSpPr>
        <p:spPr>
          <a:xfrm>
            <a:off x="4112900" y="2868126"/>
            <a:ext cx="1357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offset</a:t>
            </a:r>
            <a:endParaRPr sz="1800"/>
          </a:p>
        </p:txBody>
      </p:sp>
      <p:sp>
        <p:nvSpPr>
          <p:cNvPr id="1074" name="Google Shape;1074;p54"/>
          <p:cNvSpPr/>
          <p:nvPr/>
        </p:nvSpPr>
        <p:spPr>
          <a:xfrm rot="5400000">
            <a:off x="1609663" y="2366201"/>
            <a:ext cx="281100" cy="854100"/>
          </a:xfrm>
          <a:prstGeom prst="rightBrace">
            <a:avLst>
              <a:gd name="adj1" fmla="val 50000"/>
              <a:gd name="adj2" fmla="val 49405"/>
            </a:avLst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5" name="Google Shape;1075;p54"/>
          <p:cNvSpPr txBox="1"/>
          <p:nvPr/>
        </p:nvSpPr>
        <p:spPr>
          <a:xfrm>
            <a:off x="1071625" y="2868126"/>
            <a:ext cx="1357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heap</a:t>
            </a:r>
            <a:endParaRPr sz="1800" dirty="0"/>
          </a:p>
        </p:txBody>
      </p:sp>
      <p:graphicFrame>
        <p:nvGraphicFramePr>
          <p:cNvPr id="1076" name="Google Shape;1076;p54"/>
          <p:cNvGraphicFramePr/>
          <p:nvPr>
            <p:extLst>
              <p:ext uri="{D42A27DB-BD31-4B8C-83A1-F6EECF244321}">
                <p14:modId xmlns:p14="http://schemas.microsoft.com/office/powerpoint/2010/main" val="3687844918"/>
              </p:ext>
            </p:extLst>
          </p:nvPr>
        </p:nvGraphicFramePr>
        <p:xfrm>
          <a:off x="1417850" y="5855296"/>
          <a:ext cx="7802800" cy="838170"/>
        </p:xfrm>
        <a:graphic>
          <a:graphicData uri="http://schemas.openxmlformats.org/drawingml/2006/table">
            <a:tbl>
              <a:tblPr>
                <a:noFill/>
                <a:tableStyleId>{CA5C7703-E2AC-41A6-8DEA-2D5C455BA520}</a:tableStyleId>
              </a:tblPr>
              <a:tblGrid>
                <a:gridCol w="487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76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76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876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76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876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876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876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876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876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8767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87675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87675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487675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487675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487675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15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14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13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 dirty="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12</a:t>
                      </a:r>
                      <a:endParaRPr sz="1000" dirty="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11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10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9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8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</a:t>
                      </a:r>
                      <a:endParaRPr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</a:t>
                      </a:r>
                      <a:endParaRPr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</a:t>
                      </a:r>
                      <a:endParaRPr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</a:t>
                      </a:r>
                      <a:endParaRPr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</a:t>
                      </a:r>
                      <a:endParaRPr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</a:t>
                      </a:r>
                      <a:endParaRPr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</a:t>
                      </a:r>
                      <a:endParaRPr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</a:t>
                      </a:r>
                      <a:endParaRPr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</a:t>
                      </a:r>
                      <a:endParaRPr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</a:t>
                      </a:r>
                      <a:endParaRPr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</a:t>
                      </a:r>
                      <a:endParaRPr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</a:t>
                      </a:r>
                      <a:endParaRPr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>
                          <a:latin typeface="Courier New" panose="02070309020205020404" pitchFamily="49" charset="0"/>
                          <a:ea typeface="Courier New"/>
                          <a:cs typeface="Courier New" panose="02070309020205020404" pitchFamily="49" charset="0"/>
                          <a:sym typeface="Courier New"/>
                        </a:rPr>
                        <a:t>1</a:t>
                      </a:r>
                      <a:endParaRPr sz="1600" b="1" dirty="0">
                        <a:latin typeface="Courier New" panose="02070309020205020404" pitchFamily="49" charset="0"/>
                        <a:ea typeface="Courier New"/>
                        <a:cs typeface="Courier New" panose="02070309020205020404" pitchFamily="49" charset="0"/>
                        <a:sym typeface="Courier New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>
                          <a:latin typeface="Courier New" panose="02070309020205020404" pitchFamily="49" charset="0"/>
                          <a:ea typeface="Courier New"/>
                          <a:cs typeface="Courier New" panose="02070309020205020404" pitchFamily="49" charset="0"/>
                          <a:sym typeface="Courier New"/>
                        </a:rPr>
                        <a:t>0</a:t>
                      </a:r>
                      <a:endParaRPr sz="1600" b="1" dirty="0">
                        <a:latin typeface="Courier New" panose="02070309020205020404" pitchFamily="49" charset="0"/>
                        <a:ea typeface="Courier New"/>
                        <a:cs typeface="Courier New" panose="02070309020205020404" pitchFamily="49" charset="0"/>
                        <a:sym typeface="Courier New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>
                          <a:latin typeface="Courier New" panose="02070309020205020404" pitchFamily="49" charset="0"/>
                          <a:ea typeface="Courier New"/>
                          <a:cs typeface="Courier New" panose="02070309020205020404" pitchFamily="49" charset="0"/>
                          <a:sym typeface="Courier New"/>
                        </a:rPr>
                        <a:t>0</a:t>
                      </a:r>
                      <a:endParaRPr sz="1600" b="1" dirty="0">
                        <a:latin typeface="Courier New" panose="02070309020205020404" pitchFamily="49" charset="0"/>
                        <a:ea typeface="Courier New"/>
                        <a:cs typeface="Courier New" panose="02070309020205020404" pitchFamily="49" charset="0"/>
                        <a:sym typeface="Courier New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>
                          <a:latin typeface="Courier New" panose="02070309020205020404" pitchFamily="49" charset="0"/>
                          <a:ea typeface="Courier New"/>
                          <a:cs typeface="Courier New" panose="02070309020205020404" pitchFamily="49" charset="0"/>
                          <a:sym typeface="Courier New"/>
                        </a:rPr>
                        <a:t>0</a:t>
                      </a:r>
                      <a:endParaRPr sz="1600" b="1" dirty="0">
                        <a:latin typeface="Courier New" panose="02070309020205020404" pitchFamily="49" charset="0"/>
                        <a:ea typeface="Courier New"/>
                        <a:cs typeface="Courier New" panose="02070309020205020404" pitchFamily="49" charset="0"/>
                        <a:sym typeface="Courier New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077" name="Google Shape;1077;p54"/>
          <p:cNvSpPr txBox="1"/>
          <p:nvPr/>
        </p:nvSpPr>
        <p:spPr>
          <a:xfrm>
            <a:off x="854525" y="6116700"/>
            <a:ext cx="5130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b="1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PA</a:t>
            </a:r>
            <a:endParaRPr sz="1800" b="1"/>
          </a:p>
        </p:txBody>
      </p:sp>
      <p:grpSp>
        <p:nvGrpSpPr>
          <p:cNvPr id="1078" name="Google Shape;1078;p54"/>
          <p:cNvGrpSpPr/>
          <p:nvPr/>
        </p:nvGrpSpPr>
        <p:grpSpPr>
          <a:xfrm>
            <a:off x="1221225" y="3357800"/>
            <a:ext cx="3610350" cy="2339900"/>
            <a:chOff x="1498250" y="3357800"/>
            <a:chExt cx="3610350" cy="2339900"/>
          </a:xfrm>
        </p:grpSpPr>
        <p:sp>
          <p:nvSpPr>
            <p:cNvPr id="1079" name="Google Shape;1079;p54"/>
            <p:cNvSpPr txBox="1"/>
            <p:nvPr/>
          </p:nvSpPr>
          <p:spPr>
            <a:xfrm>
              <a:off x="1498250" y="4028350"/>
              <a:ext cx="5517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 dirty="0">
                  <a:solidFill>
                    <a:schemeClr val="accent2"/>
                  </a:solidFill>
                  <a:latin typeface="Consolas"/>
                  <a:ea typeface="Consolas"/>
                  <a:cs typeface="Consolas"/>
                  <a:sym typeface="Consolas"/>
                </a:rPr>
                <a:t>4200</a:t>
              </a:r>
              <a:endParaRPr sz="400" dirty="0">
                <a:solidFill>
                  <a:schemeClr val="accent2"/>
                </a:solidFill>
              </a:endParaRPr>
            </a:p>
          </p:txBody>
        </p:sp>
        <p:cxnSp>
          <p:nvCxnSpPr>
            <p:cNvPr id="1080" name="Google Shape;1080;p54"/>
            <p:cNvCxnSpPr/>
            <p:nvPr/>
          </p:nvCxnSpPr>
          <p:spPr>
            <a:xfrm>
              <a:off x="2049950" y="4234975"/>
              <a:ext cx="551700" cy="9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grpSp>
          <p:nvGrpSpPr>
            <p:cNvPr id="1081" name="Google Shape;1081;p54"/>
            <p:cNvGrpSpPr/>
            <p:nvPr/>
          </p:nvGrpSpPr>
          <p:grpSpPr>
            <a:xfrm>
              <a:off x="3815125" y="3935050"/>
              <a:ext cx="1293475" cy="369300"/>
              <a:chOff x="3823450" y="4564200"/>
              <a:chExt cx="1293475" cy="369300"/>
            </a:xfrm>
          </p:grpSpPr>
          <p:cxnSp>
            <p:nvCxnSpPr>
              <p:cNvPr id="1082" name="Google Shape;1082;p54"/>
              <p:cNvCxnSpPr/>
              <p:nvPr/>
            </p:nvCxnSpPr>
            <p:spPr>
              <a:xfrm>
                <a:off x="3824050" y="4607575"/>
                <a:ext cx="4665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83" name="Google Shape;1083;p54"/>
              <p:cNvCxnSpPr/>
              <p:nvPr/>
            </p:nvCxnSpPr>
            <p:spPr>
              <a:xfrm>
                <a:off x="3823450" y="4894150"/>
                <a:ext cx="4665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84" name="Google Shape;1084;p54"/>
              <p:cNvCxnSpPr/>
              <p:nvPr/>
            </p:nvCxnSpPr>
            <p:spPr>
              <a:xfrm>
                <a:off x="3915975" y="4600600"/>
                <a:ext cx="0" cy="3033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2"/>
                </a:solidFill>
                <a:prstDash val="solid"/>
                <a:round/>
                <a:headEnd type="triangle" w="med" len="med"/>
                <a:tailEnd type="triangle" w="med" len="med"/>
              </a:ln>
            </p:spPr>
          </p:cxnSp>
          <p:sp>
            <p:nvSpPr>
              <p:cNvPr id="1085" name="Google Shape;1085;p54"/>
              <p:cNvSpPr txBox="1"/>
              <p:nvPr/>
            </p:nvSpPr>
            <p:spPr>
              <a:xfrm>
                <a:off x="3945125" y="4564200"/>
                <a:ext cx="1171800" cy="369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200">
                    <a:solidFill>
                      <a:schemeClr val="accent2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104</a:t>
                </a:r>
                <a:endParaRPr sz="400">
                  <a:solidFill>
                    <a:schemeClr val="accent2"/>
                  </a:solidFill>
                </a:endParaRPr>
              </a:p>
            </p:txBody>
          </p:sp>
        </p:grpSp>
        <p:grpSp>
          <p:nvGrpSpPr>
            <p:cNvPr id="1086" name="Google Shape;1086;p54"/>
            <p:cNvGrpSpPr/>
            <p:nvPr/>
          </p:nvGrpSpPr>
          <p:grpSpPr>
            <a:xfrm>
              <a:off x="2619275" y="3357800"/>
              <a:ext cx="1125359" cy="2339900"/>
              <a:chOff x="2625425" y="3871775"/>
              <a:chExt cx="1125359" cy="2339900"/>
            </a:xfrm>
          </p:grpSpPr>
          <p:grpSp>
            <p:nvGrpSpPr>
              <p:cNvPr id="1087" name="Google Shape;1087;p54"/>
              <p:cNvGrpSpPr/>
              <p:nvPr/>
            </p:nvGrpSpPr>
            <p:grpSpPr>
              <a:xfrm>
                <a:off x="2626525" y="4273149"/>
                <a:ext cx="1124259" cy="1619400"/>
                <a:chOff x="2626525" y="4273149"/>
                <a:chExt cx="1124259" cy="1619400"/>
              </a:xfrm>
            </p:grpSpPr>
            <p:sp>
              <p:nvSpPr>
                <p:cNvPr id="1088" name="Google Shape;1088;p54"/>
                <p:cNvSpPr/>
                <p:nvPr/>
              </p:nvSpPr>
              <p:spPr>
                <a:xfrm>
                  <a:off x="2626525" y="4273149"/>
                  <a:ext cx="1122000" cy="1619400"/>
                </a:xfrm>
                <a:prstGeom prst="rect">
                  <a:avLst/>
                </a:prstGeom>
                <a:solidFill>
                  <a:srgbClr val="EFEFEF"/>
                </a:solidFill>
                <a:ln w="19050" cap="flat" cmpd="sng">
                  <a:solidFill>
                    <a:srgbClr val="000000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grpSp>
              <p:nvGrpSpPr>
                <p:cNvPr id="1089" name="Google Shape;1089;p54"/>
                <p:cNvGrpSpPr/>
                <p:nvPr/>
              </p:nvGrpSpPr>
              <p:grpSpPr>
                <a:xfrm>
                  <a:off x="2628734" y="4495878"/>
                  <a:ext cx="1122049" cy="1205397"/>
                  <a:chOff x="7948250" y="3406050"/>
                  <a:chExt cx="1076100" cy="545700"/>
                </a:xfrm>
              </p:grpSpPr>
              <p:sp>
                <p:nvSpPr>
                  <p:cNvPr id="1090" name="Google Shape;1090;p54"/>
                  <p:cNvSpPr/>
                  <p:nvPr/>
                </p:nvSpPr>
                <p:spPr>
                  <a:xfrm>
                    <a:off x="7948250" y="3406050"/>
                    <a:ext cx="1076100" cy="284400"/>
                  </a:xfrm>
                  <a:prstGeom prst="rect">
                    <a:avLst/>
                  </a:prstGeom>
                  <a:solidFill>
                    <a:srgbClr val="FFE599"/>
                  </a:solidFill>
                  <a:ln w="19050" cap="flat" cmpd="sng">
                    <a:solidFill>
                      <a:srgbClr val="000000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es-ES" sz="1600" b="1" dirty="0">
                        <a:latin typeface="Courier New"/>
                        <a:ea typeface="Courier New"/>
                        <a:cs typeface="Courier New"/>
                        <a:sym typeface="Courier New"/>
                      </a:rPr>
                      <a:t>heap</a:t>
                    </a:r>
                    <a:endParaRPr sz="2200" dirty="0"/>
                  </a:p>
                </p:txBody>
              </p:sp>
              <p:cxnSp>
                <p:nvCxnSpPr>
                  <p:cNvPr id="1091" name="Google Shape;1091;p54"/>
                  <p:cNvCxnSpPr>
                    <a:stCxn id="1090" idx="2"/>
                  </p:cNvCxnSpPr>
                  <p:nvPr/>
                </p:nvCxnSpPr>
                <p:spPr>
                  <a:xfrm>
                    <a:off x="8486300" y="3690450"/>
                    <a:ext cx="6900" cy="261300"/>
                  </a:xfrm>
                  <a:prstGeom prst="straightConnector1">
                    <a:avLst/>
                  </a:prstGeom>
                  <a:noFill/>
                  <a:ln w="9525" cap="flat" cmpd="sng">
                    <a:solidFill>
                      <a:srgbClr val="000000"/>
                    </a:solidFill>
                    <a:prstDash val="solid"/>
                    <a:round/>
                    <a:headEnd type="none" w="med" len="med"/>
                    <a:tailEnd type="triangle" w="med" len="med"/>
                  </a:ln>
                </p:spPr>
              </p:cxnSp>
            </p:grpSp>
          </p:grpSp>
          <p:cxnSp>
            <p:nvCxnSpPr>
              <p:cNvPr id="1092" name="Google Shape;1092;p54"/>
              <p:cNvCxnSpPr/>
              <p:nvPr/>
            </p:nvCxnSpPr>
            <p:spPr>
              <a:xfrm rot="10800000">
                <a:off x="2625425" y="3872500"/>
                <a:ext cx="0" cy="4665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93" name="Google Shape;1093;p54"/>
              <p:cNvCxnSpPr/>
              <p:nvPr/>
            </p:nvCxnSpPr>
            <p:spPr>
              <a:xfrm rot="10800000">
                <a:off x="2627600" y="5745175"/>
                <a:ext cx="0" cy="4665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94" name="Google Shape;1094;p54"/>
              <p:cNvCxnSpPr/>
              <p:nvPr/>
            </p:nvCxnSpPr>
            <p:spPr>
              <a:xfrm rot="10800000">
                <a:off x="3749525" y="5745175"/>
                <a:ext cx="0" cy="4665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95" name="Google Shape;1095;p54"/>
              <p:cNvCxnSpPr/>
              <p:nvPr/>
            </p:nvCxnSpPr>
            <p:spPr>
              <a:xfrm rot="10800000">
                <a:off x="3748600" y="3871775"/>
                <a:ext cx="0" cy="4665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1096" name="Google Shape;1096;p54"/>
            <p:cNvSpPr txBox="1"/>
            <p:nvPr/>
          </p:nvSpPr>
          <p:spPr>
            <a:xfrm>
              <a:off x="2077025" y="3805088"/>
              <a:ext cx="5517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latin typeface="Consolas"/>
                  <a:ea typeface="Consolas"/>
                  <a:cs typeface="Consolas"/>
                  <a:sym typeface="Consolas"/>
                </a:rPr>
                <a:t>4K</a:t>
              </a:r>
              <a:endParaRPr sz="400"/>
            </a:p>
          </p:txBody>
        </p:sp>
        <p:sp>
          <p:nvSpPr>
            <p:cNvPr id="1097" name="Google Shape;1097;p54"/>
            <p:cNvSpPr txBox="1"/>
            <p:nvPr/>
          </p:nvSpPr>
          <p:spPr>
            <a:xfrm>
              <a:off x="2077025" y="4413088"/>
              <a:ext cx="5517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latin typeface="Consolas"/>
                  <a:ea typeface="Consolas"/>
                  <a:cs typeface="Consolas"/>
                  <a:sym typeface="Consolas"/>
                </a:rPr>
                <a:t>6K</a:t>
              </a:r>
              <a:endParaRPr sz="400"/>
            </a:p>
          </p:txBody>
        </p:sp>
      </p:grpSp>
      <p:grpSp>
        <p:nvGrpSpPr>
          <p:cNvPr id="1098" name="Google Shape;1098;p54"/>
          <p:cNvGrpSpPr/>
          <p:nvPr/>
        </p:nvGrpSpPr>
        <p:grpSpPr>
          <a:xfrm>
            <a:off x="8151500" y="3357800"/>
            <a:ext cx="3706875" cy="2339900"/>
            <a:chOff x="6832275" y="3357800"/>
            <a:chExt cx="3706875" cy="2339900"/>
          </a:xfrm>
        </p:grpSpPr>
        <p:grpSp>
          <p:nvGrpSpPr>
            <p:cNvPr id="1099" name="Google Shape;1099;p54"/>
            <p:cNvGrpSpPr/>
            <p:nvPr/>
          </p:nvGrpSpPr>
          <p:grpSpPr>
            <a:xfrm>
              <a:off x="6832275" y="4045838"/>
              <a:ext cx="1182875" cy="369300"/>
              <a:chOff x="6858500" y="4714063"/>
              <a:chExt cx="1182875" cy="369300"/>
            </a:xfrm>
          </p:grpSpPr>
          <p:sp>
            <p:nvSpPr>
              <p:cNvPr id="1100" name="Google Shape;1100;p54"/>
              <p:cNvSpPr txBox="1"/>
              <p:nvPr/>
            </p:nvSpPr>
            <p:spPr>
              <a:xfrm>
                <a:off x="6858500" y="4714063"/>
                <a:ext cx="631200" cy="369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200" dirty="0">
                    <a:solidFill>
                      <a:schemeClr val="accent2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34920</a:t>
                </a:r>
                <a:endParaRPr sz="400" dirty="0">
                  <a:solidFill>
                    <a:schemeClr val="accent2"/>
                  </a:solidFill>
                </a:endParaRPr>
              </a:p>
            </p:txBody>
          </p:sp>
          <p:cxnSp>
            <p:nvCxnSpPr>
              <p:cNvPr id="1101" name="Google Shape;1101;p54"/>
              <p:cNvCxnSpPr/>
              <p:nvPr/>
            </p:nvCxnSpPr>
            <p:spPr>
              <a:xfrm>
                <a:off x="7489675" y="4920688"/>
                <a:ext cx="551700" cy="9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</p:grpSp>
        <p:cxnSp>
          <p:nvCxnSpPr>
            <p:cNvPr id="1102" name="Google Shape;1102;p54"/>
            <p:cNvCxnSpPr/>
            <p:nvPr/>
          </p:nvCxnSpPr>
          <p:spPr>
            <a:xfrm>
              <a:off x="9246275" y="3989425"/>
              <a:ext cx="4665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1103" name="Google Shape;1103;p54"/>
            <p:cNvGrpSpPr/>
            <p:nvPr/>
          </p:nvGrpSpPr>
          <p:grpSpPr>
            <a:xfrm>
              <a:off x="9245675" y="3946050"/>
              <a:ext cx="1293475" cy="369300"/>
              <a:chOff x="10399750" y="3478125"/>
              <a:chExt cx="1293475" cy="369300"/>
            </a:xfrm>
          </p:grpSpPr>
          <p:cxnSp>
            <p:nvCxnSpPr>
              <p:cNvPr id="1104" name="Google Shape;1104;p54"/>
              <p:cNvCxnSpPr/>
              <p:nvPr/>
            </p:nvCxnSpPr>
            <p:spPr>
              <a:xfrm>
                <a:off x="10399750" y="3808075"/>
                <a:ext cx="4665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05" name="Google Shape;1105;p54"/>
              <p:cNvCxnSpPr/>
              <p:nvPr/>
            </p:nvCxnSpPr>
            <p:spPr>
              <a:xfrm>
                <a:off x="10492275" y="3514525"/>
                <a:ext cx="0" cy="3033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2"/>
                </a:solidFill>
                <a:prstDash val="solid"/>
                <a:round/>
                <a:headEnd type="triangle" w="med" len="med"/>
                <a:tailEnd type="triangle" w="med" len="med"/>
              </a:ln>
            </p:spPr>
          </p:cxnSp>
          <p:sp>
            <p:nvSpPr>
              <p:cNvPr id="1106" name="Google Shape;1106;p54"/>
              <p:cNvSpPr txBox="1"/>
              <p:nvPr/>
            </p:nvSpPr>
            <p:spPr>
              <a:xfrm>
                <a:off x="10521425" y="3478125"/>
                <a:ext cx="1171800" cy="369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200">
                    <a:solidFill>
                      <a:schemeClr val="accent2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104</a:t>
                </a:r>
                <a:endParaRPr sz="400">
                  <a:solidFill>
                    <a:schemeClr val="accent2"/>
                  </a:solidFill>
                </a:endParaRPr>
              </a:p>
            </p:txBody>
          </p:sp>
        </p:grpSp>
        <p:grpSp>
          <p:nvGrpSpPr>
            <p:cNvPr id="1107" name="Google Shape;1107;p54"/>
            <p:cNvGrpSpPr/>
            <p:nvPr/>
          </p:nvGrpSpPr>
          <p:grpSpPr>
            <a:xfrm>
              <a:off x="8064825" y="3357800"/>
              <a:ext cx="1125359" cy="2339900"/>
              <a:chOff x="2625425" y="3871775"/>
              <a:chExt cx="1125359" cy="2339900"/>
            </a:xfrm>
          </p:grpSpPr>
          <p:grpSp>
            <p:nvGrpSpPr>
              <p:cNvPr id="1108" name="Google Shape;1108;p54"/>
              <p:cNvGrpSpPr/>
              <p:nvPr/>
            </p:nvGrpSpPr>
            <p:grpSpPr>
              <a:xfrm>
                <a:off x="2626525" y="4273149"/>
                <a:ext cx="1124259" cy="1619400"/>
                <a:chOff x="2626525" y="4273149"/>
                <a:chExt cx="1124259" cy="1619400"/>
              </a:xfrm>
            </p:grpSpPr>
            <p:sp>
              <p:nvSpPr>
                <p:cNvPr id="1109" name="Google Shape;1109;p54"/>
                <p:cNvSpPr/>
                <p:nvPr/>
              </p:nvSpPr>
              <p:spPr>
                <a:xfrm>
                  <a:off x="2626525" y="4273149"/>
                  <a:ext cx="1122000" cy="1619400"/>
                </a:xfrm>
                <a:prstGeom prst="rect">
                  <a:avLst/>
                </a:prstGeom>
                <a:solidFill>
                  <a:srgbClr val="EFEFEF"/>
                </a:solidFill>
                <a:ln w="19050" cap="flat" cmpd="sng">
                  <a:solidFill>
                    <a:srgbClr val="000000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grpSp>
              <p:nvGrpSpPr>
                <p:cNvPr id="1110" name="Google Shape;1110;p54"/>
                <p:cNvGrpSpPr/>
                <p:nvPr/>
              </p:nvGrpSpPr>
              <p:grpSpPr>
                <a:xfrm>
                  <a:off x="2628734" y="4495878"/>
                  <a:ext cx="1122049" cy="1205397"/>
                  <a:chOff x="7948250" y="3406050"/>
                  <a:chExt cx="1076100" cy="545700"/>
                </a:xfrm>
              </p:grpSpPr>
              <p:sp>
                <p:nvSpPr>
                  <p:cNvPr id="1111" name="Google Shape;1111;p54"/>
                  <p:cNvSpPr/>
                  <p:nvPr/>
                </p:nvSpPr>
                <p:spPr>
                  <a:xfrm>
                    <a:off x="7948250" y="3406050"/>
                    <a:ext cx="1076100" cy="284400"/>
                  </a:xfrm>
                  <a:prstGeom prst="rect">
                    <a:avLst/>
                  </a:prstGeom>
                  <a:solidFill>
                    <a:srgbClr val="FFE599"/>
                  </a:solidFill>
                  <a:ln w="19050" cap="flat" cmpd="sng">
                    <a:solidFill>
                      <a:srgbClr val="000000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es-ES" sz="1600" b="1" dirty="0">
                        <a:latin typeface="Courier New"/>
                        <a:ea typeface="Courier New"/>
                        <a:cs typeface="Courier New"/>
                        <a:sym typeface="Courier New"/>
                      </a:rPr>
                      <a:t>heap</a:t>
                    </a:r>
                    <a:endParaRPr sz="2200" dirty="0"/>
                  </a:p>
                </p:txBody>
              </p:sp>
              <p:cxnSp>
                <p:nvCxnSpPr>
                  <p:cNvPr id="1112" name="Google Shape;1112;p54"/>
                  <p:cNvCxnSpPr>
                    <a:stCxn id="1111" idx="2"/>
                  </p:cNvCxnSpPr>
                  <p:nvPr/>
                </p:nvCxnSpPr>
                <p:spPr>
                  <a:xfrm>
                    <a:off x="8486300" y="3690450"/>
                    <a:ext cx="6900" cy="261300"/>
                  </a:xfrm>
                  <a:prstGeom prst="straightConnector1">
                    <a:avLst/>
                  </a:prstGeom>
                  <a:noFill/>
                  <a:ln w="9525" cap="flat" cmpd="sng">
                    <a:solidFill>
                      <a:srgbClr val="000000"/>
                    </a:solidFill>
                    <a:prstDash val="solid"/>
                    <a:round/>
                    <a:headEnd type="none" w="med" len="med"/>
                    <a:tailEnd type="triangle" w="med" len="med"/>
                  </a:ln>
                </p:spPr>
              </p:cxnSp>
            </p:grpSp>
          </p:grpSp>
          <p:cxnSp>
            <p:nvCxnSpPr>
              <p:cNvPr id="1113" name="Google Shape;1113;p54"/>
              <p:cNvCxnSpPr/>
              <p:nvPr/>
            </p:nvCxnSpPr>
            <p:spPr>
              <a:xfrm rot="10800000">
                <a:off x="2625425" y="3872500"/>
                <a:ext cx="0" cy="4665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14" name="Google Shape;1114;p54"/>
              <p:cNvCxnSpPr/>
              <p:nvPr/>
            </p:nvCxnSpPr>
            <p:spPr>
              <a:xfrm rot="10800000">
                <a:off x="2627600" y="5745175"/>
                <a:ext cx="0" cy="4665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15" name="Google Shape;1115;p54"/>
              <p:cNvCxnSpPr/>
              <p:nvPr/>
            </p:nvCxnSpPr>
            <p:spPr>
              <a:xfrm rot="10800000">
                <a:off x="3749525" y="5745175"/>
                <a:ext cx="0" cy="4665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16" name="Google Shape;1116;p54"/>
              <p:cNvCxnSpPr/>
              <p:nvPr/>
            </p:nvCxnSpPr>
            <p:spPr>
              <a:xfrm rot="10800000">
                <a:off x="3748600" y="3871775"/>
                <a:ext cx="0" cy="4665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1117" name="Google Shape;1117;p54"/>
            <p:cNvSpPr txBox="1"/>
            <p:nvPr/>
          </p:nvSpPr>
          <p:spPr>
            <a:xfrm>
              <a:off x="7501200" y="3805088"/>
              <a:ext cx="5517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latin typeface="Consolas"/>
                  <a:ea typeface="Consolas"/>
                  <a:cs typeface="Consolas"/>
                  <a:sym typeface="Consolas"/>
                </a:rPr>
                <a:t>34K</a:t>
              </a:r>
              <a:endParaRPr sz="400"/>
            </a:p>
          </p:txBody>
        </p:sp>
        <p:sp>
          <p:nvSpPr>
            <p:cNvPr id="1118" name="Google Shape;1118;p54"/>
            <p:cNvSpPr txBox="1"/>
            <p:nvPr/>
          </p:nvSpPr>
          <p:spPr>
            <a:xfrm>
              <a:off x="7501200" y="4413088"/>
              <a:ext cx="5517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latin typeface="Consolas"/>
                  <a:ea typeface="Consolas"/>
                  <a:cs typeface="Consolas"/>
                  <a:sym typeface="Consolas"/>
                </a:rPr>
                <a:t>36K</a:t>
              </a:r>
              <a:endParaRPr sz="400"/>
            </a:p>
          </p:txBody>
        </p:sp>
      </p:grpSp>
      <p:grpSp>
        <p:nvGrpSpPr>
          <p:cNvPr id="1119" name="Google Shape;1119;p54"/>
          <p:cNvGrpSpPr/>
          <p:nvPr/>
        </p:nvGrpSpPr>
        <p:grpSpPr>
          <a:xfrm>
            <a:off x="4724084" y="4244375"/>
            <a:ext cx="3303251" cy="837000"/>
            <a:chOff x="3888184" y="3951525"/>
            <a:chExt cx="3303251" cy="837000"/>
          </a:xfrm>
        </p:grpSpPr>
        <p:grpSp>
          <p:nvGrpSpPr>
            <p:cNvPr id="1120" name="Google Shape;1120;p54"/>
            <p:cNvGrpSpPr/>
            <p:nvPr/>
          </p:nvGrpSpPr>
          <p:grpSpPr>
            <a:xfrm>
              <a:off x="4480388" y="3951525"/>
              <a:ext cx="2082238" cy="837000"/>
              <a:chOff x="4290563" y="3904875"/>
              <a:chExt cx="2082238" cy="837000"/>
            </a:xfrm>
          </p:grpSpPr>
          <p:sp>
            <p:nvSpPr>
              <p:cNvPr id="1121" name="Google Shape;1121;p54"/>
              <p:cNvSpPr/>
              <p:nvPr/>
            </p:nvSpPr>
            <p:spPr>
              <a:xfrm>
                <a:off x="4883000" y="3904875"/>
                <a:ext cx="806400" cy="837000"/>
              </a:xfrm>
              <a:prstGeom prst="rect">
                <a:avLst/>
              </a:prstGeom>
              <a:solidFill>
                <a:srgbClr val="F4CCCC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500" b="1">
                    <a:latin typeface="Consolas"/>
                    <a:ea typeface="Consolas"/>
                    <a:cs typeface="Consolas"/>
                    <a:sym typeface="Consolas"/>
                  </a:rPr>
                  <a:t>AT</a:t>
                </a:r>
                <a:endParaRPr sz="2500" b="1">
                  <a:latin typeface="Consolas"/>
                  <a:ea typeface="Consolas"/>
                  <a:cs typeface="Consolas"/>
                  <a:sym typeface="Consolas"/>
                </a:endParaRPr>
              </a:p>
            </p:txBody>
          </p:sp>
          <p:cxnSp>
            <p:nvCxnSpPr>
              <p:cNvPr id="1122" name="Google Shape;1122;p54"/>
              <p:cNvCxnSpPr/>
              <p:nvPr/>
            </p:nvCxnSpPr>
            <p:spPr>
              <a:xfrm rot="10800000" flipH="1">
                <a:off x="4290563" y="4323325"/>
                <a:ext cx="592200" cy="780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123" name="Google Shape;1123;p54"/>
              <p:cNvCxnSpPr/>
              <p:nvPr/>
            </p:nvCxnSpPr>
            <p:spPr>
              <a:xfrm>
                <a:off x="5689400" y="4323375"/>
                <a:ext cx="683400" cy="1680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</p:grpSp>
        <p:sp>
          <p:nvSpPr>
            <p:cNvPr id="1124" name="Google Shape;1124;p54"/>
            <p:cNvSpPr txBox="1"/>
            <p:nvPr/>
          </p:nvSpPr>
          <p:spPr>
            <a:xfrm>
              <a:off x="3888184" y="4129725"/>
              <a:ext cx="5922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VA</a:t>
              </a:r>
              <a:endParaRPr sz="200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1125" name="Google Shape;1125;p54"/>
            <p:cNvSpPr txBox="1"/>
            <p:nvPr/>
          </p:nvSpPr>
          <p:spPr>
            <a:xfrm>
              <a:off x="6562635" y="4129725"/>
              <a:ext cx="6288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PA</a:t>
              </a:r>
              <a:endParaRPr sz="200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  <p:sp>
        <p:nvSpPr>
          <p:cNvPr id="61" name="Google Shape;1079;p54">
            <a:extLst>
              <a:ext uri="{FF2B5EF4-FFF2-40B4-BE49-F238E27FC236}">
                <a16:creationId xmlns:a16="http://schemas.microsoft.com/office/drawing/2014/main" id="{008AA597-FDDF-4C62-89C0-C88598C135A4}"/>
              </a:ext>
            </a:extLst>
          </p:cNvPr>
          <p:cNvSpPr txBox="1"/>
          <p:nvPr/>
        </p:nvSpPr>
        <p:spPr>
          <a:xfrm>
            <a:off x="4739470" y="4813411"/>
            <a:ext cx="5517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4200</a:t>
            </a:r>
            <a:endParaRPr sz="400" dirty="0">
              <a:solidFill>
                <a:schemeClr val="accent2"/>
              </a:solidFill>
            </a:endParaRPr>
          </a:p>
        </p:txBody>
      </p:sp>
      <p:sp>
        <p:nvSpPr>
          <p:cNvPr id="62" name="Google Shape;1100;p54">
            <a:extLst>
              <a:ext uri="{FF2B5EF4-FFF2-40B4-BE49-F238E27FC236}">
                <a16:creationId xmlns:a16="http://schemas.microsoft.com/office/drawing/2014/main" id="{1DF08BBC-A1C4-4161-9ED7-C1CB9910B8A2}"/>
              </a:ext>
            </a:extLst>
          </p:cNvPr>
          <p:cNvSpPr txBox="1"/>
          <p:nvPr/>
        </p:nvSpPr>
        <p:spPr>
          <a:xfrm>
            <a:off x="7386650" y="4782388"/>
            <a:ext cx="631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34920</a:t>
            </a:r>
            <a:endParaRPr sz="400" dirty="0">
              <a:solidFill>
                <a:schemeClr val="accent2"/>
              </a:solidFill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0" name="Google Shape;1130;p55"/>
          <p:cNvSpPr txBox="1">
            <a:spLocks noGrp="1"/>
          </p:cNvSpPr>
          <p:nvPr>
            <p:ph type="title"/>
          </p:nvPr>
        </p:nvSpPr>
        <p:spPr>
          <a:xfrm>
            <a:off x="482600" y="365125"/>
            <a:ext cx="10871200" cy="1171575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Traducción de direcciones - Pseudocódigo</a:t>
            </a:r>
            <a:endParaRPr dirty="0"/>
          </a:p>
        </p:txBody>
      </p:sp>
      <p:sp>
        <p:nvSpPr>
          <p:cNvPr id="1132" name="Google Shape;1132;p55"/>
          <p:cNvSpPr txBox="1"/>
          <p:nvPr/>
        </p:nvSpPr>
        <p:spPr>
          <a:xfrm>
            <a:off x="482600" y="1506460"/>
            <a:ext cx="7070550" cy="2733026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1   </a:t>
            </a:r>
            <a:r>
              <a:rPr lang="es-ES" sz="1600" dirty="0">
                <a:solidFill>
                  <a:srgbClr val="4F81BD"/>
                </a:solidFill>
                <a:latin typeface="Courier New"/>
                <a:ea typeface="Courier New"/>
                <a:cs typeface="Courier New"/>
                <a:sym typeface="Courier New"/>
              </a:rPr>
              <a:t>// </a:t>
            </a:r>
            <a:r>
              <a:rPr lang="es-ES" sz="1600" dirty="0" err="1">
                <a:solidFill>
                  <a:srgbClr val="4F81BD"/>
                </a:solidFill>
                <a:latin typeface="Courier New"/>
                <a:ea typeface="Courier New"/>
                <a:cs typeface="Courier New"/>
                <a:sym typeface="Courier New"/>
              </a:rPr>
              <a:t>get</a:t>
            </a:r>
            <a:r>
              <a:rPr lang="es-ES" sz="1600" dirty="0">
                <a:solidFill>
                  <a:srgbClr val="4F81BD"/>
                </a:solidFill>
                <a:latin typeface="Courier New"/>
                <a:ea typeface="Courier New"/>
                <a:cs typeface="Courier New"/>
                <a:sym typeface="Courier New"/>
              </a:rPr>
              <a:t> top 2 bits </a:t>
            </a:r>
            <a:r>
              <a:rPr lang="es-ES" sz="1600" dirty="0" err="1">
                <a:solidFill>
                  <a:srgbClr val="4F81BD"/>
                </a:solidFill>
                <a:latin typeface="Courier New"/>
                <a:ea typeface="Courier New"/>
                <a:cs typeface="Courier New"/>
                <a:sym typeface="Courier New"/>
              </a:rPr>
              <a:t>of</a:t>
            </a:r>
            <a:r>
              <a:rPr lang="es-ES" sz="1600" dirty="0">
                <a:solidFill>
                  <a:srgbClr val="4F81BD"/>
                </a:solidFill>
                <a:latin typeface="Courier New"/>
                <a:ea typeface="Courier New"/>
                <a:cs typeface="Courier New"/>
                <a:sym typeface="Courier New"/>
              </a:rPr>
              <a:t> 14-bit VA</a:t>
            </a:r>
            <a:endParaRPr sz="1600" dirty="0">
              <a:solidFill>
                <a:srgbClr val="4F81BD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2   Segment = (</a:t>
            </a:r>
            <a:r>
              <a:rPr lang="es-ES" sz="16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VirtualAddress</a:t>
            </a:r>
            <a:r>
              <a:rPr lang="es-ES" sz="16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&amp; SEG_MASK) &gt;&gt; SEG_SHIFT</a:t>
            </a:r>
            <a:endParaRPr sz="16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3</a:t>
            </a:r>
            <a:r>
              <a:rPr lang="es-ES" sz="1600" dirty="0">
                <a:solidFill>
                  <a:srgbClr val="E46C0A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6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</a:t>
            </a:r>
            <a:r>
              <a:rPr lang="es-ES" sz="1600" dirty="0">
                <a:solidFill>
                  <a:srgbClr val="4F81BD"/>
                </a:solidFill>
                <a:latin typeface="Courier New"/>
                <a:ea typeface="Courier New"/>
                <a:cs typeface="Courier New"/>
                <a:sym typeface="Courier New"/>
              </a:rPr>
              <a:t>// </a:t>
            </a:r>
            <a:r>
              <a:rPr lang="es-ES" sz="1600" dirty="0" err="1">
                <a:solidFill>
                  <a:srgbClr val="4F81BD"/>
                </a:solidFill>
                <a:latin typeface="Courier New"/>
                <a:ea typeface="Courier New"/>
                <a:cs typeface="Courier New"/>
                <a:sym typeface="Courier New"/>
              </a:rPr>
              <a:t>now</a:t>
            </a:r>
            <a:r>
              <a:rPr lang="es-ES" sz="1600" dirty="0">
                <a:solidFill>
                  <a:srgbClr val="4F81BD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600" dirty="0" err="1">
                <a:solidFill>
                  <a:srgbClr val="4F81BD"/>
                </a:solidFill>
                <a:latin typeface="Courier New"/>
                <a:ea typeface="Courier New"/>
                <a:cs typeface="Courier New"/>
                <a:sym typeface="Courier New"/>
              </a:rPr>
              <a:t>get</a:t>
            </a:r>
            <a:r>
              <a:rPr lang="es-ES" sz="1600" dirty="0">
                <a:solidFill>
                  <a:srgbClr val="4F81BD"/>
                </a:solidFill>
                <a:latin typeface="Courier New"/>
                <a:ea typeface="Courier New"/>
                <a:cs typeface="Courier New"/>
                <a:sym typeface="Courier New"/>
              </a:rPr>
              <a:t> offset</a:t>
            </a:r>
            <a:endParaRPr sz="1600" dirty="0">
              <a:solidFill>
                <a:srgbClr val="4F81BD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4   Offset = </a:t>
            </a:r>
            <a:r>
              <a:rPr lang="es-ES" sz="16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VirtualAddress</a:t>
            </a:r>
            <a:r>
              <a:rPr lang="es-ES" sz="16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&amp; OFFSET_MASK</a:t>
            </a:r>
            <a:endParaRPr sz="16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5   </a:t>
            </a:r>
            <a:r>
              <a:rPr lang="es-ES" sz="1600" dirty="0" err="1">
                <a:solidFill>
                  <a:srgbClr val="E46C0A"/>
                </a:solidFill>
                <a:latin typeface="Courier New"/>
                <a:ea typeface="Courier New"/>
                <a:cs typeface="Courier New"/>
                <a:sym typeface="Courier New"/>
              </a:rPr>
              <a:t>if</a:t>
            </a:r>
            <a:r>
              <a:rPr lang="es-ES" sz="16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(Offset &gt;= Bounds[Segment])</a:t>
            </a:r>
            <a:endParaRPr sz="16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6     </a:t>
            </a:r>
            <a:r>
              <a:rPr lang="es-ES" sz="16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RaiseException</a:t>
            </a:r>
            <a:r>
              <a:rPr lang="es-ES" sz="16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(PROTECTION_FAULT)</a:t>
            </a:r>
            <a:endParaRPr sz="16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7   </a:t>
            </a:r>
            <a:r>
              <a:rPr lang="es-ES" sz="1600" dirty="0" err="1">
                <a:solidFill>
                  <a:srgbClr val="E46C0A"/>
                </a:solidFill>
                <a:latin typeface="Courier New"/>
                <a:ea typeface="Courier New"/>
                <a:cs typeface="Courier New"/>
                <a:sym typeface="Courier New"/>
              </a:rPr>
              <a:t>else</a:t>
            </a:r>
            <a:endParaRPr sz="1600" dirty="0">
              <a:solidFill>
                <a:srgbClr val="E46C0A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8     </a:t>
            </a:r>
            <a:r>
              <a:rPr lang="es-ES" sz="16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PhysAddr</a:t>
            </a:r>
            <a:r>
              <a:rPr lang="es-ES" sz="16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= Base[Segment] + Offset</a:t>
            </a:r>
            <a:endParaRPr sz="16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9     Register = </a:t>
            </a:r>
            <a:r>
              <a:rPr lang="es-ES" sz="16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AccessMemory</a:t>
            </a:r>
            <a:r>
              <a:rPr lang="es-ES" sz="16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s-ES" sz="16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PhysAddr</a:t>
            </a:r>
            <a:r>
              <a:rPr lang="es-ES" sz="16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) </a:t>
            </a:r>
            <a:endParaRPr sz="16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133" name="Google Shape;1133;p55"/>
          <p:cNvSpPr txBox="1"/>
          <p:nvPr/>
        </p:nvSpPr>
        <p:spPr>
          <a:xfrm>
            <a:off x="482600" y="4408662"/>
            <a:ext cx="5800550" cy="13900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55600" algn="l" rtl="0">
              <a:lnSpc>
                <a:spcPct val="150000"/>
              </a:lnSpc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s-ES" sz="16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SEG_MASK = 0x3000(11000000000000)</a:t>
            </a:r>
            <a:endParaRPr sz="16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lvl="0" indent="-3556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s-ES" sz="16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SEG_SHIFT = 12</a:t>
            </a:r>
            <a:endParaRPr sz="16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lvl="0" indent="-3556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s-ES" sz="16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OFFSET_MASK = 0xFFF (00111111111111)</a:t>
            </a:r>
            <a:endParaRPr sz="16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EA012189-3AE4-4EAA-8445-A0A554D2B7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8556" y="4311610"/>
            <a:ext cx="4328388" cy="644509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A364345B-F966-4F9A-89E3-7C26EFF605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2900" y="5891089"/>
            <a:ext cx="5219700" cy="601786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FA576552-F49C-4EA5-B73D-111E67FC3DB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50162" y="5028243"/>
            <a:ext cx="3305175" cy="838200"/>
          </a:xfrm>
          <a:prstGeom prst="rect">
            <a:avLst/>
          </a:prstGeom>
        </p:spPr>
      </p:pic>
      <p:graphicFrame>
        <p:nvGraphicFramePr>
          <p:cNvPr id="15" name="Google Shape;1060;p53">
            <a:extLst>
              <a:ext uri="{FF2B5EF4-FFF2-40B4-BE49-F238E27FC236}">
                <a16:creationId xmlns:a16="http://schemas.microsoft.com/office/drawing/2014/main" id="{C49AE30C-543A-4D79-AFE7-25488771798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31379057"/>
              </p:ext>
            </p:extLst>
          </p:nvPr>
        </p:nvGraphicFramePr>
        <p:xfrm>
          <a:off x="7891300" y="1710675"/>
          <a:ext cx="3818100" cy="2133450"/>
        </p:xfrm>
        <a:graphic>
          <a:graphicData uri="http://schemas.openxmlformats.org/drawingml/2006/table">
            <a:tbl>
              <a:tblPr>
                <a:noFill/>
                <a:tableStyleId>{CA5C7703-E2AC-41A6-8DEA-2D5C455BA520}</a:tableStyleId>
              </a:tblPr>
              <a:tblGrid>
                <a:gridCol w="1133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9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897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947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46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bits</a:t>
                      </a:r>
                      <a:endParaRPr sz="1600" b="1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segment</a:t>
                      </a:r>
                      <a:endParaRPr sz="1600" b="1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base</a:t>
                      </a:r>
                      <a:endParaRPr sz="1600" b="1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4292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size</a:t>
                      </a:r>
                      <a:endParaRPr sz="1600" b="1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4292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46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00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code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32K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4292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2K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4292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46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01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heap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34K</a:t>
                      </a:r>
                      <a:endParaRPr sz="1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2K</a:t>
                      </a:r>
                      <a:endParaRPr sz="1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46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11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stack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28K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2K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46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---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---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---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---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7" name="Google Shape;1147;p57"/>
          <p:cNvSpPr txBox="1">
            <a:spLocks noGrp="1"/>
          </p:cNvSpPr>
          <p:nvPr>
            <p:ph type="title"/>
          </p:nvPr>
        </p:nvSpPr>
        <p:spPr>
          <a:xfrm>
            <a:off x="469900" y="96038"/>
            <a:ext cx="875075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latin typeface="+mj-lt"/>
              </a:rPr>
              <a:t>Traducción de direcciones (II)</a:t>
            </a:r>
            <a:endParaRPr dirty="0">
              <a:latin typeface="+mj-lt"/>
            </a:endParaRPr>
          </a:p>
        </p:txBody>
      </p:sp>
      <p:sp>
        <p:nvSpPr>
          <p:cNvPr id="1148" name="Google Shape;1148;p57"/>
          <p:cNvSpPr txBox="1">
            <a:spLocks noGrp="1"/>
          </p:cNvSpPr>
          <p:nvPr>
            <p:ph type="body" idx="1"/>
          </p:nvPr>
        </p:nvSpPr>
        <p:spPr>
          <a:xfrm>
            <a:off x="429150" y="860300"/>
            <a:ext cx="11445350" cy="2562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2800" b="1" dirty="0">
                <a:solidFill>
                  <a:schemeClr val="accent1"/>
                </a:solidFill>
              </a:rPr>
              <a:t>Segmento stack (pila)</a:t>
            </a:r>
            <a:endParaRPr sz="2800" b="1" dirty="0">
              <a:solidFill>
                <a:schemeClr val="accent1"/>
              </a:solidFill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400"/>
              <a:buChar char="●"/>
            </a:pPr>
            <a:r>
              <a:rPr lang="es-ES" sz="2400" dirty="0"/>
              <a:t>La pila crece </a:t>
            </a:r>
            <a:r>
              <a:rPr lang="es-ES" sz="2400" b="1" dirty="0">
                <a:solidFill>
                  <a:srgbClr val="FF0000"/>
                </a:solidFill>
              </a:rPr>
              <a:t>hacia atras (grows background)</a:t>
            </a:r>
            <a:endParaRPr sz="2400" b="1" dirty="0">
              <a:solidFill>
                <a:srgbClr val="FF0000"/>
              </a:solidFill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s-ES" sz="2400" dirty="0"/>
              <a:t>Es necesario agregar soporte de hardware adicional que indique el sentido de crecimiento del segmento:</a:t>
            </a:r>
            <a:endParaRPr sz="2400" dirty="0"/>
          </a:p>
          <a:p>
            <a:pPr marL="914400" lvl="1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</a:pPr>
            <a:r>
              <a:rPr lang="es-ES" sz="2400" b="1" dirty="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0:</a:t>
            </a:r>
            <a:r>
              <a:rPr lang="es-ES" sz="2400" dirty="0"/>
              <a:t> Crecimiento en dirección negativa</a:t>
            </a:r>
            <a:endParaRPr sz="2400" dirty="0"/>
          </a:p>
          <a:p>
            <a:pPr marL="914400" lvl="1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</a:pPr>
            <a:r>
              <a:rPr lang="es-ES" sz="2400" b="1" dirty="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1:</a:t>
            </a:r>
            <a:r>
              <a:rPr lang="es-ES" sz="2400" dirty="0"/>
              <a:t> Crecimiento en dirección positiva</a:t>
            </a: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b="1" dirty="0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400" b="1" dirty="0">
              <a:solidFill>
                <a:srgbClr val="F8A02B"/>
              </a:solidFill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400" b="1" dirty="0">
              <a:solidFill>
                <a:schemeClr val="accent2"/>
              </a:solidFill>
            </a:endParaRPr>
          </a:p>
          <a:p>
            <a:pPr marL="4572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700" dirty="0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dirty="0"/>
          </a:p>
        </p:txBody>
      </p:sp>
      <p:graphicFrame>
        <p:nvGraphicFramePr>
          <p:cNvPr id="1149" name="Google Shape;1149;p57"/>
          <p:cNvGraphicFramePr/>
          <p:nvPr>
            <p:extLst>
              <p:ext uri="{D42A27DB-BD31-4B8C-83A1-F6EECF244321}">
                <p14:modId xmlns:p14="http://schemas.microsoft.com/office/powerpoint/2010/main" val="518512936"/>
              </p:ext>
            </p:extLst>
          </p:nvPr>
        </p:nvGraphicFramePr>
        <p:xfrm>
          <a:off x="2818087" y="3479801"/>
          <a:ext cx="6667475" cy="1828680"/>
        </p:xfrm>
        <a:graphic>
          <a:graphicData uri="http://schemas.openxmlformats.org/drawingml/2006/table">
            <a:tbl>
              <a:tblPr>
                <a:noFill/>
                <a:tableStyleId>{CA5C7703-E2AC-41A6-8DEA-2D5C455BA520}</a:tableStyleId>
              </a:tblPr>
              <a:tblGrid>
                <a:gridCol w="1320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706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94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467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segment</a:t>
                      </a:r>
                      <a:endParaRPr sz="1800" b="1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base</a:t>
                      </a:r>
                      <a:endParaRPr sz="1800" b="1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size (max 4K)</a:t>
                      </a:r>
                      <a:endParaRPr sz="1800" b="1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Grows Positive?</a:t>
                      </a:r>
                      <a:endParaRPr sz="1800" b="1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code(00)</a:t>
                      </a:r>
                      <a:endParaRPr sz="18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/>
                        <a:t>32K</a:t>
                      </a:r>
                      <a:endParaRPr sz="1800"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2K</a:t>
                      </a:r>
                      <a:endParaRPr sz="18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heap(01)</a:t>
                      </a:r>
                      <a:endParaRPr sz="18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800">
                          <a:solidFill>
                            <a:schemeClr val="dk1"/>
                          </a:solidFill>
                        </a:rPr>
                        <a:t>34K</a:t>
                      </a:r>
                      <a:endParaRPr sz="1800"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2K</a:t>
                      </a: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stack(11)</a:t>
                      </a:r>
                      <a:endParaRPr sz="18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/>
                        <a:t>28K</a:t>
                      </a:r>
                      <a:endParaRPr sz="1800"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2K</a:t>
                      </a: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8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50" name="Google Shape;1150;p57"/>
          <p:cNvSpPr txBox="1"/>
          <p:nvPr/>
        </p:nvSpPr>
        <p:spPr>
          <a:xfrm>
            <a:off x="2562750" y="5377582"/>
            <a:ext cx="70665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Segment Registers (With Negative-Growth Support) </a:t>
            </a:r>
            <a:endParaRPr sz="1800" b="1" dirty="0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5" name="Google Shape;1155;p5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b="0" dirty="0">
                <a:latin typeface="+mn-lt"/>
              </a:rPr>
              <a:t>Traducción de direcciones (II)</a:t>
            </a:r>
            <a:endParaRPr b="0" dirty="0">
              <a:latin typeface="+mn-lt"/>
            </a:endParaRPr>
          </a:p>
        </p:txBody>
      </p:sp>
      <p:sp>
        <p:nvSpPr>
          <p:cNvPr id="1156" name="Google Shape;1156;p58"/>
          <p:cNvSpPr txBox="1">
            <a:spLocks noGrp="1"/>
          </p:cNvSpPr>
          <p:nvPr>
            <p:ph type="body" idx="1"/>
          </p:nvPr>
        </p:nvSpPr>
        <p:spPr>
          <a:xfrm>
            <a:off x="916650" y="1020500"/>
            <a:ext cx="10919700" cy="764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2800" b="1" dirty="0">
                <a:solidFill>
                  <a:schemeClr val="accent1"/>
                </a:solidFill>
                <a:latin typeface="+mn-lt"/>
              </a:rPr>
              <a:t>Segmento stack (pila)</a:t>
            </a:r>
            <a:endParaRPr sz="2800" b="1" dirty="0">
              <a:solidFill>
                <a:schemeClr val="accent1"/>
              </a:solidFill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b="1" dirty="0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400" b="1" dirty="0">
              <a:solidFill>
                <a:srgbClr val="F8A02B"/>
              </a:solidFill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400" b="1" dirty="0">
              <a:solidFill>
                <a:schemeClr val="accent2"/>
              </a:solidFill>
            </a:endParaRPr>
          </a:p>
          <a:p>
            <a:pPr marL="4572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700" dirty="0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dirty="0"/>
          </a:p>
        </p:txBody>
      </p:sp>
      <p:graphicFrame>
        <p:nvGraphicFramePr>
          <p:cNvPr id="1157" name="Google Shape;1157;p58"/>
          <p:cNvGraphicFramePr/>
          <p:nvPr>
            <p:extLst>
              <p:ext uri="{D42A27DB-BD31-4B8C-83A1-F6EECF244321}">
                <p14:modId xmlns:p14="http://schemas.microsoft.com/office/powerpoint/2010/main" val="3451932490"/>
              </p:ext>
            </p:extLst>
          </p:nvPr>
        </p:nvGraphicFramePr>
        <p:xfrm>
          <a:off x="5324400" y="2431473"/>
          <a:ext cx="6009050" cy="1706800"/>
        </p:xfrm>
        <a:graphic>
          <a:graphicData uri="http://schemas.openxmlformats.org/drawingml/2006/table">
            <a:tbl>
              <a:tblPr>
                <a:noFill/>
                <a:tableStyleId>{CA5C7703-E2AC-41A6-8DEA-2D5C455BA520}</a:tableStyleId>
              </a:tblPr>
              <a:tblGrid>
                <a:gridCol w="11902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50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87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149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segment</a:t>
                      </a:r>
                      <a:endParaRPr sz="1600" b="1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base</a:t>
                      </a:r>
                      <a:endParaRPr sz="1600" b="1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size (max 4K)</a:t>
                      </a:r>
                      <a:endParaRPr sz="1600" b="1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Grows Positive?</a:t>
                      </a:r>
                      <a:endParaRPr sz="1600" b="1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code(00)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32K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2K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heap(01)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34K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2K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stack(11)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28K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2K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58" name="Google Shape;1158;p58"/>
          <p:cNvSpPr txBox="1"/>
          <p:nvPr/>
        </p:nvSpPr>
        <p:spPr>
          <a:xfrm>
            <a:off x="4700350" y="4318050"/>
            <a:ext cx="70665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5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Segment Registers (With Negative-Growth Support) </a:t>
            </a:r>
            <a:endParaRPr sz="1300" b="1" dirty="0"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159" name="Google Shape;1159;p5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27875" y="2195200"/>
            <a:ext cx="2526618" cy="3155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4" name="Google Shape;1164;p59"/>
          <p:cNvSpPr txBox="1">
            <a:spLocks noGrp="1"/>
          </p:cNvSpPr>
          <p:nvPr>
            <p:ph type="title"/>
          </p:nvPr>
        </p:nvSpPr>
        <p:spPr>
          <a:xfrm>
            <a:off x="266700" y="96038"/>
            <a:ext cx="895395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latin typeface="+mj-lt"/>
              </a:rPr>
              <a:t>Traducción de direcciones (II)</a:t>
            </a:r>
            <a:endParaRPr dirty="0">
              <a:latin typeface="+mj-lt"/>
            </a:endParaRPr>
          </a:p>
        </p:txBody>
      </p:sp>
      <p:sp>
        <p:nvSpPr>
          <p:cNvPr id="1165" name="Google Shape;1165;p59"/>
          <p:cNvSpPr txBox="1">
            <a:spLocks noGrp="1"/>
          </p:cNvSpPr>
          <p:nvPr>
            <p:ph type="body" idx="1"/>
          </p:nvPr>
        </p:nvSpPr>
        <p:spPr>
          <a:xfrm>
            <a:off x="266700" y="825423"/>
            <a:ext cx="7785100" cy="3079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800" b="1" dirty="0">
                <a:solidFill>
                  <a:schemeClr val="accent1"/>
                </a:solidFill>
                <a:latin typeface="+mn-lt"/>
              </a:rPr>
              <a:t>Ejemplo</a:t>
            </a:r>
            <a:endParaRPr sz="2800" dirty="0">
              <a:solidFill>
                <a:schemeClr val="accent1"/>
              </a:solidFill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dirty="0">
                <a:latin typeface="+mn-lt"/>
              </a:rPr>
              <a:t>Para el mismo ejemplo que se ha venido trabajando y teniendo en cuenta los segmentos mostrados en la tabla adjunta.  Si </a:t>
            </a:r>
            <a:r>
              <a:rPr lang="es-ES" sz="2400" dirty="0">
                <a:latin typeface="+mn-lt"/>
                <a:ea typeface="Consolas"/>
                <a:cs typeface="Consolas"/>
                <a:sym typeface="Consolas"/>
              </a:rPr>
              <a:t>VA = 15K</a:t>
            </a:r>
            <a:r>
              <a:rPr lang="es-ES" sz="2400" dirty="0">
                <a:latin typeface="+mn-lt"/>
              </a:rPr>
              <a:t>, determine:</a:t>
            </a:r>
            <a:endParaRPr sz="2400" dirty="0"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400"/>
              <a:buAutoNum type="arabicPeriod"/>
            </a:pPr>
            <a:r>
              <a:rPr lang="es-ES" sz="2400" dirty="0">
                <a:latin typeface="+mn-lt"/>
              </a:rPr>
              <a:t> ¿A cuál segmento pertenece dicha VA?</a:t>
            </a:r>
            <a:endParaRPr sz="2400" dirty="0"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AutoNum type="arabicPeriod"/>
            </a:pPr>
            <a:r>
              <a:rPr lang="es-ES" sz="2400" dirty="0">
                <a:latin typeface="+mn-lt"/>
              </a:rPr>
              <a:t>¿Cual es el offset?</a:t>
            </a:r>
            <a:endParaRPr sz="2400" dirty="0"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AutoNum type="arabicPeriod"/>
            </a:pPr>
            <a:r>
              <a:rPr lang="es-ES" sz="2400" dirty="0">
                <a:latin typeface="+mn-lt"/>
              </a:rPr>
              <a:t>¿Cual es la dirección física?</a:t>
            </a: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</p:txBody>
      </p:sp>
      <p:graphicFrame>
        <p:nvGraphicFramePr>
          <p:cNvPr id="1166" name="Google Shape;1166;p59"/>
          <p:cNvGraphicFramePr/>
          <p:nvPr>
            <p:extLst>
              <p:ext uri="{D42A27DB-BD31-4B8C-83A1-F6EECF244321}">
                <p14:modId xmlns:p14="http://schemas.microsoft.com/office/powerpoint/2010/main" val="1487170695"/>
              </p:ext>
            </p:extLst>
          </p:nvPr>
        </p:nvGraphicFramePr>
        <p:xfrm>
          <a:off x="958950" y="3905223"/>
          <a:ext cx="6740800" cy="1828680"/>
        </p:xfrm>
        <a:graphic>
          <a:graphicData uri="http://schemas.openxmlformats.org/drawingml/2006/table">
            <a:tbl>
              <a:tblPr>
                <a:noFill/>
                <a:tableStyleId>{CA5C7703-E2AC-41A6-8DEA-2D5C455BA520}</a:tableStyleId>
              </a:tblPr>
              <a:tblGrid>
                <a:gridCol w="1335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3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495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25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69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segment</a:t>
                      </a:r>
                      <a:endParaRPr sz="1800" b="1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base</a:t>
                      </a:r>
                      <a:endParaRPr sz="1800" b="1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size (max 4K)</a:t>
                      </a:r>
                      <a:endParaRPr sz="1800" b="1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Grows Positive?</a:t>
                      </a:r>
                      <a:endParaRPr sz="1800" b="1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69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code(00)</a:t>
                      </a:r>
                      <a:endParaRPr sz="18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32K</a:t>
                      </a: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2K</a:t>
                      </a: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69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heap(01)</a:t>
                      </a:r>
                      <a:endParaRPr sz="18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34K</a:t>
                      </a: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2K</a:t>
                      </a: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69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stack(11)</a:t>
                      </a:r>
                      <a:endParaRPr sz="18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28K</a:t>
                      </a: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2K</a:t>
                      </a:r>
                      <a:endParaRPr sz="18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8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1167" name="Google Shape;1167;p5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452775" y="1045538"/>
            <a:ext cx="2780275" cy="50245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2" name="Google Shape;1172;p60"/>
          <p:cNvSpPr txBox="1">
            <a:spLocks noGrp="1"/>
          </p:cNvSpPr>
          <p:nvPr>
            <p:ph type="title"/>
          </p:nvPr>
        </p:nvSpPr>
        <p:spPr>
          <a:xfrm>
            <a:off x="482600" y="96038"/>
            <a:ext cx="873805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latin typeface="+mj-lt"/>
              </a:rPr>
              <a:t>Traducción de direcciones (II)</a:t>
            </a:r>
            <a:endParaRPr dirty="0">
              <a:latin typeface="+mj-lt"/>
            </a:endParaRPr>
          </a:p>
        </p:txBody>
      </p:sp>
      <p:sp>
        <p:nvSpPr>
          <p:cNvPr id="1173" name="Google Shape;1173;p60"/>
          <p:cNvSpPr txBox="1">
            <a:spLocks noGrp="1"/>
          </p:cNvSpPr>
          <p:nvPr>
            <p:ph type="body" idx="1"/>
          </p:nvPr>
        </p:nvSpPr>
        <p:spPr>
          <a:xfrm>
            <a:off x="486900" y="835364"/>
            <a:ext cx="7524600" cy="1381961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800" b="1" dirty="0">
                <a:solidFill>
                  <a:schemeClr val="accent1"/>
                </a:solidFill>
                <a:latin typeface="+mn-lt"/>
              </a:rPr>
              <a:t>Datos ejemplo</a:t>
            </a:r>
            <a:endParaRPr sz="2800" dirty="0">
              <a:solidFill>
                <a:schemeClr val="accent1"/>
              </a:solidFill>
              <a:latin typeface="+mn-lt"/>
            </a:endParaRPr>
          </a:p>
          <a:p>
            <a:pPr marL="457200" lvl="0" indent="-3556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000"/>
              <a:buFont typeface="Consolas"/>
              <a:buChar char="●"/>
            </a:pPr>
            <a:r>
              <a:rPr lang="es-ES" sz="1800" dirty="0">
                <a:latin typeface="Consolas" panose="020B0609020204030204" pitchFamily="49" charset="0"/>
                <a:ea typeface="Consolas"/>
                <a:cs typeface="Consolas"/>
                <a:sym typeface="Consolas"/>
              </a:rPr>
              <a:t>VA = 15K</a:t>
            </a:r>
            <a:endParaRPr sz="1800" dirty="0">
              <a:latin typeface="Consolas" panose="020B0609020204030204" pitchFamily="49" charset="0"/>
              <a:ea typeface="Consolas"/>
              <a:cs typeface="Consolas"/>
              <a:sym typeface="Consolas"/>
            </a:endParaRPr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onsolas"/>
              <a:buChar char="●"/>
            </a:pPr>
            <a:r>
              <a:rPr lang="es-ES" sz="1800" dirty="0">
                <a:latin typeface="Consolas" panose="020B0609020204030204" pitchFamily="49" charset="0"/>
                <a:ea typeface="Consolas"/>
                <a:cs typeface="Consolas"/>
                <a:sym typeface="Consolas"/>
              </a:rPr>
              <a:t>seg(VA) = ?</a:t>
            </a:r>
            <a:endParaRPr sz="1800" dirty="0">
              <a:latin typeface="Consolas" panose="020B0609020204030204" pitchFamily="49" charset="0"/>
              <a:ea typeface="Consolas"/>
              <a:cs typeface="Consolas"/>
              <a:sym typeface="Consolas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</p:txBody>
      </p:sp>
      <p:graphicFrame>
        <p:nvGraphicFramePr>
          <p:cNvPr id="1174" name="Google Shape;1174;p60"/>
          <p:cNvGraphicFramePr/>
          <p:nvPr>
            <p:extLst>
              <p:ext uri="{D42A27DB-BD31-4B8C-83A1-F6EECF244321}">
                <p14:modId xmlns:p14="http://schemas.microsoft.com/office/powerpoint/2010/main" val="124387953"/>
              </p:ext>
            </p:extLst>
          </p:nvPr>
        </p:nvGraphicFramePr>
        <p:xfrm>
          <a:off x="2571075" y="1991440"/>
          <a:ext cx="6313762" cy="1706760"/>
        </p:xfrm>
        <a:graphic>
          <a:graphicData uri="http://schemas.openxmlformats.org/drawingml/2006/table">
            <a:tbl>
              <a:tblPr>
                <a:noFill/>
                <a:tableStyleId>{CA5C7703-E2AC-41A6-8DEA-2D5C455BA520}</a:tableStyleId>
              </a:tblPr>
              <a:tblGrid>
                <a:gridCol w="1436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99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38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2824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962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segment</a:t>
                      </a:r>
                      <a:endParaRPr sz="1600" b="1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base</a:t>
                      </a:r>
                      <a:endParaRPr sz="1600" b="1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size (max 4K)</a:t>
                      </a:r>
                      <a:endParaRPr sz="1600" b="1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Grows Positive?</a:t>
                      </a:r>
                      <a:endParaRPr sz="1600" b="1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2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code(00)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32K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2K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2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heap(01)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34K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2K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14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stack(11)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28K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2K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1175" name="Google Shape;1175;p6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323525" y="1134489"/>
            <a:ext cx="2532950" cy="4577549"/>
          </a:xfrm>
          <a:prstGeom prst="rect">
            <a:avLst/>
          </a:prstGeom>
          <a:noFill/>
          <a:ln>
            <a:noFill/>
          </a:ln>
        </p:spPr>
      </p:pic>
      <p:sp>
        <p:nvSpPr>
          <p:cNvPr id="1176" name="Google Shape;1176;p60"/>
          <p:cNvSpPr txBox="1"/>
          <p:nvPr/>
        </p:nvSpPr>
        <p:spPr>
          <a:xfrm>
            <a:off x="2386050" y="3688250"/>
            <a:ext cx="74199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0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VA = 15K = 15(2^10) = 15(1024) = 15360 = 0x3C00</a:t>
            </a:r>
            <a:endParaRPr dirty="0"/>
          </a:p>
        </p:txBody>
      </p:sp>
      <p:graphicFrame>
        <p:nvGraphicFramePr>
          <p:cNvPr id="1177" name="Google Shape;1177;p60"/>
          <p:cNvGraphicFramePr/>
          <p:nvPr>
            <p:extLst>
              <p:ext uri="{D42A27DB-BD31-4B8C-83A1-F6EECF244321}">
                <p14:modId xmlns:p14="http://schemas.microsoft.com/office/powerpoint/2010/main" val="2457309827"/>
              </p:ext>
            </p:extLst>
          </p:nvPr>
        </p:nvGraphicFramePr>
        <p:xfrm>
          <a:off x="2627800" y="4304900"/>
          <a:ext cx="6032950" cy="807690"/>
        </p:xfrm>
        <a:graphic>
          <a:graphicData uri="http://schemas.openxmlformats.org/drawingml/2006/table">
            <a:tbl>
              <a:tblPr>
                <a:noFill/>
                <a:tableStyleId>{CA5C7703-E2AC-41A6-8DEA-2D5C455BA520}</a:tableStyleId>
              </a:tblPr>
              <a:tblGrid>
                <a:gridCol w="430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13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12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11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10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9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8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1</a:t>
                      </a:r>
                      <a:endParaRPr sz="16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1</a:t>
                      </a:r>
                      <a:endParaRPr sz="16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1</a:t>
                      </a:r>
                      <a:endParaRPr sz="16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1</a:t>
                      </a:r>
                      <a:endParaRPr sz="16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sz="16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sz="16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sz="16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sz="16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sz="16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sz="16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sz="16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sz="16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sz="16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sz="1600" dirty="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178" name="Google Shape;1178;p60"/>
          <p:cNvSpPr txBox="1"/>
          <p:nvPr/>
        </p:nvSpPr>
        <p:spPr>
          <a:xfrm>
            <a:off x="2058075" y="4701300"/>
            <a:ext cx="5130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b="1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VA</a:t>
            </a:r>
            <a:endParaRPr sz="1800" b="1"/>
          </a:p>
        </p:txBody>
      </p:sp>
      <p:sp>
        <p:nvSpPr>
          <p:cNvPr id="1179" name="Google Shape;1179;p60"/>
          <p:cNvSpPr/>
          <p:nvPr/>
        </p:nvSpPr>
        <p:spPr>
          <a:xfrm rot="5400000">
            <a:off x="5963325" y="2769900"/>
            <a:ext cx="281100" cy="5190300"/>
          </a:xfrm>
          <a:prstGeom prst="rightBrace">
            <a:avLst>
              <a:gd name="adj1" fmla="val 50000"/>
              <a:gd name="adj2" fmla="val 49405"/>
            </a:avLst>
          </a:prstGeom>
          <a:noFill/>
          <a:ln w="190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0" name="Google Shape;1180;p60"/>
          <p:cNvSpPr txBox="1"/>
          <p:nvPr/>
        </p:nvSpPr>
        <p:spPr>
          <a:xfrm>
            <a:off x="5417400" y="5505600"/>
            <a:ext cx="1357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dirty="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offset</a:t>
            </a:r>
            <a:endParaRPr sz="1800" dirty="0">
              <a:solidFill>
                <a:srgbClr val="FF0000"/>
              </a:solidFill>
            </a:endParaRPr>
          </a:p>
        </p:txBody>
      </p:sp>
      <p:sp>
        <p:nvSpPr>
          <p:cNvPr id="1181" name="Google Shape;1181;p60"/>
          <p:cNvSpPr/>
          <p:nvPr/>
        </p:nvSpPr>
        <p:spPr>
          <a:xfrm rot="5400000">
            <a:off x="2914200" y="4938000"/>
            <a:ext cx="281100" cy="854100"/>
          </a:xfrm>
          <a:prstGeom prst="rightBrace">
            <a:avLst>
              <a:gd name="adj1" fmla="val 50000"/>
              <a:gd name="adj2" fmla="val 49405"/>
            </a:avLst>
          </a:prstGeom>
          <a:noFill/>
          <a:ln w="19050" cap="flat" cmpd="sng">
            <a:solidFill>
              <a:srgbClr val="00B05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2" name="Google Shape;1182;p60"/>
          <p:cNvSpPr txBox="1"/>
          <p:nvPr/>
        </p:nvSpPr>
        <p:spPr>
          <a:xfrm>
            <a:off x="2357250" y="5523940"/>
            <a:ext cx="1357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dirty="0">
                <a:solidFill>
                  <a:srgbClr val="00B050"/>
                </a:solidFill>
                <a:latin typeface="Consolas"/>
                <a:ea typeface="Consolas"/>
                <a:cs typeface="Consolas"/>
                <a:sym typeface="Consolas"/>
              </a:rPr>
              <a:t>segment</a:t>
            </a:r>
            <a:endParaRPr sz="1800" dirty="0">
              <a:solidFill>
                <a:srgbClr val="00B050"/>
              </a:solidFill>
            </a:endParaRPr>
          </a:p>
        </p:txBody>
      </p:sp>
      <p:sp>
        <p:nvSpPr>
          <p:cNvPr id="1183" name="Google Shape;1183;p60"/>
          <p:cNvSpPr txBox="1"/>
          <p:nvPr/>
        </p:nvSpPr>
        <p:spPr>
          <a:xfrm>
            <a:off x="1934325" y="5877660"/>
            <a:ext cx="7419900" cy="6180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solidFill>
                  <a:srgbClr val="00B050"/>
                </a:solidFill>
                <a:ea typeface="Roboto"/>
                <a:cs typeface="Roboto"/>
                <a:sym typeface="Roboto"/>
              </a:rPr>
              <a:t>Segmento:</a:t>
            </a:r>
            <a:r>
              <a:rPr lang="es-ES" sz="2400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 </a:t>
            </a:r>
            <a:r>
              <a:rPr lang="es-ES" sz="2400" dirty="0">
                <a:solidFill>
                  <a:schemeClr val="dk1"/>
                </a:solidFill>
                <a:ea typeface="Consolas"/>
                <a:cs typeface="Consolas"/>
                <a:sym typeface="Consolas"/>
              </a:rPr>
              <a:t>stack</a:t>
            </a:r>
            <a:endParaRPr sz="18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8" name="Google Shape;1188;p61"/>
          <p:cNvSpPr txBox="1">
            <a:spLocks noGrp="1"/>
          </p:cNvSpPr>
          <p:nvPr>
            <p:ph type="title"/>
          </p:nvPr>
        </p:nvSpPr>
        <p:spPr>
          <a:xfrm>
            <a:off x="177800" y="96038"/>
            <a:ext cx="904285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b="0" dirty="0">
                <a:latin typeface="+mj-lt"/>
              </a:rPr>
              <a:t>Traducción de direcciones (II)</a:t>
            </a:r>
            <a:endParaRPr b="0" dirty="0">
              <a:latin typeface="+mj-lt"/>
            </a:endParaRPr>
          </a:p>
        </p:txBody>
      </p:sp>
      <p:sp>
        <p:nvSpPr>
          <p:cNvPr id="1189" name="Google Shape;1189;p61"/>
          <p:cNvSpPr txBox="1">
            <a:spLocks noGrp="1"/>
          </p:cNvSpPr>
          <p:nvPr>
            <p:ph type="body" idx="1"/>
          </p:nvPr>
        </p:nvSpPr>
        <p:spPr>
          <a:xfrm>
            <a:off x="268950" y="931550"/>
            <a:ext cx="2601250" cy="1278813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800" b="1" dirty="0">
                <a:solidFill>
                  <a:schemeClr val="accent1"/>
                </a:solidFill>
                <a:latin typeface="+mn-lt"/>
              </a:rPr>
              <a:t>Datos ejemplo</a:t>
            </a:r>
            <a:endParaRPr sz="2800" dirty="0">
              <a:solidFill>
                <a:schemeClr val="accent1"/>
              </a:solidFill>
              <a:latin typeface="+mn-lt"/>
            </a:endParaRPr>
          </a:p>
          <a:p>
            <a:pPr marL="457200" lvl="0" indent="-3556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000"/>
              <a:buFont typeface="Consolas"/>
              <a:buChar char="●"/>
            </a:pPr>
            <a:r>
              <a:rPr lang="es-ES" sz="2000" dirty="0">
                <a:latin typeface="Consolas" panose="020B0609020204030204" pitchFamily="49" charset="0"/>
                <a:ea typeface="Consolas"/>
                <a:cs typeface="Consolas"/>
                <a:sym typeface="Consolas"/>
              </a:rPr>
              <a:t>VA = 15K</a:t>
            </a:r>
            <a:endParaRPr sz="2000" dirty="0">
              <a:latin typeface="Consolas" panose="020B0609020204030204" pitchFamily="49" charset="0"/>
              <a:ea typeface="Consolas"/>
              <a:cs typeface="Consolas"/>
              <a:sym typeface="Consolas"/>
            </a:endParaRPr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onsolas"/>
              <a:buChar char="●"/>
            </a:pPr>
            <a:r>
              <a:rPr lang="es-ES" sz="2000" dirty="0">
                <a:latin typeface="Consolas" panose="020B0609020204030204" pitchFamily="49" charset="0"/>
                <a:ea typeface="Consolas"/>
                <a:cs typeface="Consolas"/>
                <a:sym typeface="Consolas"/>
              </a:rPr>
              <a:t>offset(VA) = ?</a:t>
            </a:r>
            <a:endParaRPr sz="2000" dirty="0">
              <a:latin typeface="Consolas" panose="020B0609020204030204" pitchFamily="49" charset="0"/>
              <a:ea typeface="Consolas"/>
              <a:cs typeface="Consolas"/>
              <a:sym typeface="Consolas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</p:txBody>
      </p:sp>
      <p:graphicFrame>
        <p:nvGraphicFramePr>
          <p:cNvPr id="1190" name="Google Shape;1190;p61"/>
          <p:cNvGraphicFramePr/>
          <p:nvPr>
            <p:extLst>
              <p:ext uri="{D42A27DB-BD31-4B8C-83A1-F6EECF244321}">
                <p14:modId xmlns:p14="http://schemas.microsoft.com/office/powerpoint/2010/main" val="2048555661"/>
              </p:ext>
            </p:extLst>
          </p:nvPr>
        </p:nvGraphicFramePr>
        <p:xfrm>
          <a:off x="3192086" y="1129248"/>
          <a:ext cx="5658403" cy="1706760"/>
        </p:xfrm>
        <a:graphic>
          <a:graphicData uri="http://schemas.openxmlformats.org/drawingml/2006/table">
            <a:tbl>
              <a:tblPr>
                <a:noFill/>
                <a:tableStyleId>{CA5C7703-E2AC-41A6-8DEA-2D5C455BA520}</a:tableStyleId>
              </a:tblPr>
              <a:tblGrid>
                <a:gridCol w="1294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84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8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872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962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segment</a:t>
                      </a:r>
                      <a:endParaRPr sz="1600" b="1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base</a:t>
                      </a:r>
                      <a:endParaRPr sz="1600" b="1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size (max 4K)</a:t>
                      </a:r>
                      <a:endParaRPr sz="1600" b="1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Grows Positive?</a:t>
                      </a:r>
                      <a:endParaRPr sz="1600" b="1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2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code(00)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32K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2K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2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heap(01)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34K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2K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14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stack(11)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28K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2K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1191" name="Google Shape;1191;p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172376" y="1045871"/>
            <a:ext cx="2532950" cy="4577549"/>
          </a:xfrm>
          <a:prstGeom prst="rect">
            <a:avLst/>
          </a:prstGeom>
          <a:noFill/>
          <a:ln>
            <a:noFill/>
          </a:ln>
        </p:spPr>
      </p:pic>
      <p:sp>
        <p:nvSpPr>
          <p:cNvPr id="1192" name="Google Shape;1192;p61"/>
          <p:cNvSpPr txBox="1"/>
          <p:nvPr/>
        </p:nvSpPr>
        <p:spPr>
          <a:xfrm>
            <a:off x="3277275" y="4853600"/>
            <a:ext cx="5271000" cy="8668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1800" dirty="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offset = 1100 0000 0000 = 0xC00 = 3072</a:t>
            </a:r>
            <a:endParaRPr sz="1800" dirty="0">
              <a:solidFill>
                <a:srgbClr val="FF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1800" dirty="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offset = 3072/1024 = 3K</a:t>
            </a:r>
            <a:endParaRPr sz="1800" dirty="0">
              <a:solidFill>
                <a:srgbClr val="FF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graphicFrame>
        <p:nvGraphicFramePr>
          <p:cNvPr id="1193" name="Google Shape;1193;p61"/>
          <p:cNvGraphicFramePr/>
          <p:nvPr/>
        </p:nvGraphicFramePr>
        <p:xfrm>
          <a:off x="2171725" y="3158125"/>
          <a:ext cx="6032950" cy="807690"/>
        </p:xfrm>
        <a:graphic>
          <a:graphicData uri="http://schemas.openxmlformats.org/drawingml/2006/table">
            <a:tbl>
              <a:tblPr>
                <a:noFill/>
                <a:tableStyleId>{CA5C7703-E2AC-41A6-8DEA-2D5C455BA520}</a:tableStyleId>
              </a:tblPr>
              <a:tblGrid>
                <a:gridCol w="430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13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12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11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10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9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8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1</a:t>
                      </a:r>
                      <a:endParaRPr sz="16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1</a:t>
                      </a:r>
                      <a:endParaRPr sz="16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1</a:t>
                      </a:r>
                      <a:endParaRPr sz="1600" dirty="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1</a:t>
                      </a:r>
                      <a:endParaRPr sz="16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sz="16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sz="16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sz="16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sz="16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sz="16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sz="16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sz="16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sz="16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sz="16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sz="1600" dirty="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194" name="Google Shape;1194;p61"/>
          <p:cNvSpPr txBox="1"/>
          <p:nvPr/>
        </p:nvSpPr>
        <p:spPr>
          <a:xfrm>
            <a:off x="1602000" y="3554525"/>
            <a:ext cx="5130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b="1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VA</a:t>
            </a:r>
            <a:endParaRPr sz="1800" b="1"/>
          </a:p>
        </p:txBody>
      </p:sp>
      <p:sp>
        <p:nvSpPr>
          <p:cNvPr id="1195" name="Google Shape;1195;p61"/>
          <p:cNvSpPr/>
          <p:nvPr/>
        </p:nvSpPr>
        <p:spPr>
          <a:xfrm rot="5400000">
            <a:off x="5507250" y="1623125"/>
            <a:ext cx="281100" cy="5190300"/>
          </a:xfrm>
          <a:prstGeom prst="rightBrace">
            <a:avLst>
              <a:gd name="adj1" fmla="val 50000"/>
              <a:gd name="adj2" fmla="val 49405"/>
            </a:avLst>
          </a:prstGeom>
          <a:noFill/>
          <a:ln w="190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6" name="Google Shape;1196;p61"/>
          <p:cNvSpPr txBox="1"/>
          <p:nvPr/>
        </p:nvSpPr>
        <p:spPr>
          <a:xfrm>
            <a:off x="4974150" y="4343600"/>
            <a:ext cx="1357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offset</a:t>
            </a:r>
            <a:endParaRPr sz="1800">
              <a:solidFill>
                <a:srgbClr val="FF0000"/>
              </a:solidFill>
            </a:endParaRPr>
          </a:p>
        </p:txBody>
      </p:sp>
      <p:sp>
        <p:nvSpPr>
          <p:cNvPr id="1197" name="Google Shape;1197;p61"/>
          <p:cNvSpPr/>
          <p:nvPr/>
        </p:nvSpPr>
        <p:spPr>
          <a:xfrm rot="5400000">
            <a:off x="2458125" y="3791225"/>
            <a:ext cx="281100" cy="854100"/>
          </a:xfrm>
          <a:prstGeom prst="rightBrace">
            <a:avLst>
              <a:gd name="adj1" fmla="val 50000"/>
              <a:gd name="adj2" fmla="val 49405"/>
            </a:avLst>
          </a:prstGeom>
          <a:noFill/>
          <a:ln w="19050" cap="flat" cmpd="sng">
            <a:solidFill>
              <a:srgbClr val="00B05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8" name="Google Shape;1198;p61"/>
          <p:cNvSpPr txBox="1"/>
          <p:nvPr/>
        </p:nvSpPr>
        <p:spPr>
          <a:xfrm>
            <a:off x="1920075" y="4343600"/>
            <a:ext cx="1357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dirty="0">
                <a:solidFill>
                  <a:srgbClr val="00B050"/>
                </a:solidFill>
                <a:latin typeface="Consolas"/>
                <a:ea typeface="Consolas"/>
                <a:cs typeface="Consolas"/>
                <a:sym typeface="Consolas"/>
              </a:rPr>
              <a:t>segment</a:t>
            </a:r>
            <a:endParaRPr sz="1800" dirty="0">
              <a:solidFill>
                <a:srgbClr val="00B050"/>
              </a:solidFill>
            </a:endParaRPr>
          </a:p>
        </p:txBody>
      </p:sp>
      <p:sp>
        <p:nvSpPr>
          <p:cNvPr id="1199" name="Google Shape;1199;p61"/>
          <p:cNvSpPr txBox="1"/>
          <p:nvPr/>
        </p:nvSpPr>
        <p:spPr>
          <a:xfrm>
            <a:off x="1128375" y="5801352"/>
            <a:ext cx="7419900" cy="6180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solidFill>
                  <a:srgbClr val="FF0000"/>
                </a:solidFill>
                <a:latin typeface="Roboto"/>
                <a:ea typeface="Roboto"/>
                <a:cs typeface="Roboto"/>
                <a:sym typeface="Roboto"/>
              </a:rPr>
              <a:t>offset:</a:t>
            </a:r>
            <a:r>
              <a:rPr lang="es-ES" sz="24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s-ES" sz="24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3K</a:t>
            </a:r>
            <a:endParaRPr sz="18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4" name="Google Shape;1204;p62"/>
          <p:cNvSpPr txBox="1">
            <a:spLocks noGrp="1"/>
          </p:cNvSpPr>
          <p:nvPr>
            <p:ph type="title"/>
          </p:nvPr>
        </p:nvSpPr>
        <p:spPr>
          <a:xfrm>
            <a:off x="228602" y="96038"/>
            <a:ext cx="8992048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b="0" dirty="0">
                <a:latin typeface="+mj-lt"/>
              </a:rPr>
              <a:t>Traducción de direcciones (II)</a:t>
            </a:r>
            <a:endParaRPr b="0" dirty="0">
              <a:latin typeface="+mj-lt"/>
            </a:endParaRPr>
          </a:p>
        </p:txBody>
      </p:sp>
      <p:sp>
        <p:nvSpPr>
          <p:cNvPr id="1205" name="Google Shape;1205;p62"/>
          <p:cNvSpPr txBox="1">
            <a:spLocks noGrp="1"/>
          </p:cNvSpPr>
          <p:nvPr>
            <p:ph type="body" idx="1"/>
          </p:nvPr>
        </p:nvSpPr>
        <p:spPr>
          <a:xfrm>
            <a:off x="320425" y="1032031"/>
            <a:ext cx="2873550" cy="1327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solidFill>
                  <a:schemeClr val="accent1"/>
                </a:solidFill>
                <a:latin typeface="+mn-lt"/>
              </a:rPr>
              <a:t>Datos ejemplo</a:t>
            </a:r>
            <a:endParaRPr sz="2400" dirty="0">
              <a:solidFill>
                <a:schemeClr val="accent1"/>
              </a:solidFill>
              <a:latin typeface="+mn-lt"/>
            </a:endParaRPr>
          </a:p>
          <a:p>
            <a:pPr marL="457200" lvl="0" indent="-3556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000"/>
              <a:buFont typeface="Consolas"/>
              <a:buChar char="●"/>
            </a:pPr>
            <a:r>
              <a:rPr lang="es-ES" sz="1800" dirty="0">
                <a:latin typeface="Consolas" panose="020B0609020204030204" pitchFamily="49" charset="0"/>
                <a:ea typeface="Consolas"/>
                <a:cs typeface="Consolas"/>
                <a:sym typeface="Consolas"/>
              </a:rPr>
              <a:t>VA = 15K</a:t>
            </a:r>
            <a:endParaRPr sz="1800" dirty="0">
              <a:latin typeface="Consolas" panose="020B0609020204030204" pitchFamily="49" charset="0"/>
              <a:ea typeface="Consolas"/>
              <a:cs typeface="Consolas"/>
              <a:sym typeface="Consolas"/>
            </a:endParaRPr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onsolas"/>
              <a:buChar char="●"/>
            </a:pPr>
            <a:r>
              <a:rPr lang="es-ES" sz="1800" dirty="0">
                <a:latin typeface="Consolas" panose="020B0609020204030204" pitchFamily="49" charset="0"/>
                <a:ea typeface="Consolas"/>
                <a:cs typeface="Consolas"/>
                <a:sym typeface="Consolas"/>
              </a:rPr>
              <a:t>offset(VA) = ?</a:t>
            </a:r>
            <a:endParaRPr sz="1800" dirty="0">
              <a:latin typeface="Consolas" panose="020B0609020204030204" pitchFamily="49" charset="0"/>
              <a:ea typeface="Consolas"/>
              <a:cs typeface="Consolas"/>
              <a:sym typeface="Consolas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</p:txBody>
      </p:sp>
      <p:graphicFrame>
        <p:nvGraphicFramePr>
          <p:cNvPr id="1206" name="Google Shape;1206;p62"/>
          <p:cNvGraphicFramePr/>
          <p:nvPr>
            <p:extLst>
              <p:ext uri="{D42A27DB-BD31-4B8C-83A1-F6EECF244321}">
                <p14:modId xmlns:p14="http://schemas.microsoft.com/office/powerpoint/2010/main" val="2464937595"/>
              </p:ext>
            </p:extLst>
          </p:nvPr>
        </p:nvGraphicFramePr>
        <p:xfrm>
          <a:off x="3643299" y="1031934"/>
          <a:ext cx="6472213" cy="1828680"/>
        </p:xfrm>
        <a:graphic>
          <a:graphicData uri="http://schemas.openxmlformats.org/drawingml/2006/table">
            <a:tbl>
              <a:tblPr>
                <a:noFill/>
                <a:tableStyleId>{CA5C7703-E2AC-41A6-8DEA-2D5C455BA520}</a:tableStyleId>
              </a:tblPr>
              <a:tblGrid>
                <a:gridCol w="1436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99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38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7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962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segment</a:t>
                      </a:r>
                      <a:endParaRPr b="1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base</a:t>
                      </a:r>
                      <a:endParaRPr b="1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size (max 4K)</a:t>
                      </a:r>
                      <a:endParaRPr b="1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Grows Positive?</a:t>
                      </a:r>
                      <a:endParaRPr b="1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2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code(00)</a:t>
                      </a:r>
                      <a:endParaRPr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32K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2K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2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heap(01)</a:t>
                      </a:r>
                      <a:endParaRPr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34K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2K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14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stack(11)</a:t>
                      </a:r>
                      <a:endParaRPr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28K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2K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207" name="Google Shape;1207;p62"/>
          <p:cNvSpPr txBox="1"/>
          <p:nvPr/>
        </p:nvSpPr>
        <p:spPr>
          <a:xfrm>
            <a:off x="660975" y="4725544"/>
            <a:ext cx="34224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42900" algn="l" rtl="0">
              <a:spcBef>
                <a:spcPts val="480"/>
              </a:spcBef>
              <a:spcAft>
                <a:spcPts val="0"/>
              </a:spcAft>
              <a:buClr>
                <a:srgbClr val="70AD47"/>
              </a:buClr>
              <a:buSzPts val="1800"/>
              <a:buFont typeface="Consolas"/>
              <a:buChar char="●"/>
            </a:pPr>
            <a:r>
              <a:rPr lang="es-ES" sz="1800" dirty="0">
                <a:solidFill>
                  <a:srgbClr val="70AD47"/>
                </a:solidFill>
                <a:latin typeface="Consolas"/>
                <a:ea typeface="Consolas"/>
                <a:cs typeface="Consolas"/>
                <a:sym typeface="Consolas"/>
              </a:rPr>
              <a:t>segment = stack</a:t>
            </a:r>
            <a:endParaRPr sz="1800" dirty="0">
              <a:solidFill>
                <a:srgbClr val="70AD47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800"/>
              <a:buFont typeface="Consolas"/>
              <a:buChar char="●"/>
            </a:pPr>
            <a:r>
              <a:rPr lang="es-ES" sz="1800" dirty="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offset = 3K</a:t>
            </a:r>
            <a:endParaRPr sz="1800" dirty="0">
              <a:solidFill>
                <a:srgbClr val="FF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graphicFrame>
        <p:nvGraphicFramePr>
          <p:cNvPr id="1208" name="Google Shape;1208;p62"/>
          <p:cNvGraphicFramePr/>
          <p:nvPr>
            <p:extLst>
              <p:ext uri="{D42A27DB-BD31-4B8C-83A1-F6EECF244321}">
                <p14:modId xmlns:p14="http://schemas.microsoft.com/office/powerpoint/2010/main" val="3109004559"/>
              </p:ext>
            </p:extLst>
          </p:nvPr>
        </p:nvGraphicFramePr>
        <p:xfrm>
          <a:off x="1280950" y="3078357"/>
          <a:ext cx="6032950" cy="807690"/>
        </p:xfrm>
        <a:graphic>
          <a:graphicData uri="http://schemas.openxmlformats.org/drawingml/2006/table">
            <a:tbl>
              <a:tblPr>
                <a:noFill/>
                <a:tableStyleId>{CA5C7703-E2AC-41A6-8DEA-2D5C455BA520}</a:tableStyleId>
              </a:tblPr>
              <a:tblGrid>
                <a:gridCol w="430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13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12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11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10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9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8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1</a:t>
                      </a:r>
                      <a:endParaRPr sz="16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1</a:t>
                      </a:r>
                      <a:endParaRPr sz="16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1</a:t>
                      </a:r>
                      <a:endParaRPr sz="16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1</a:t>
                      </a:r>
                      <a:endParaRPr sz="16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sz="16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sz="16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sz="16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sz="16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sz="16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sz="16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sz="16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sz="16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sz="16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sz="16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209" name="Google Shape;1209;p62"/>
          <p:cNvSpPr txBox="1"/>
          <p:nvPr/>
        </p:nvSpPr>
        <p:spPr>
          <a:xfrm>
            <a:off x="711225" y="3474757"/>
            <a:ext cx="5130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b="1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VA</a:t>
            </a:r>
            <a:endParaRPr sz="1800" b="1"/>
          </a:p>
        </p:txBody>
      </p:sp>
      <p:sp>
        <p:nvSpPr>
          <p:cNvPr id="1210" name="Google Shape;1210;p62"/>
          <p:cNvSpPr/>
          <p:nvPr/>
        </p:nvSpPr>
        <p:spPr>
          <a:xfrm rot="5400000">
            <a:off x="4616475" y="1543357"/>
            <a:ext cx="281100" cy="5190300"/>
          </a:xfrm>
          <a:prstGeom prst="rightBrace">
            <a:avLst>
              <a:gd name="adj1" fmla="val 50000"/>
              <a:gd name="adj2" fmla="val 49405"/>
            </a:avLst>
          </a:prstGeom>
          <a:noFill/>
          <a:ln w="190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11" name="Google Shape;1211;p62"/>
          <p:cNvSpPr txBox="1"/>
          <p:nvPr/>
        </p:nvSpPr>
        <p:spPr>
          <a:xfrm>
            <a:off x="4083375" y="4263832"/>
            <a:ext cx="1357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offset</a:t>
            </a:r>
            <a:endParaRPr sz="1800">
              <a:solidFill>
                <a:srgbClr val="FF0000"/>
              </a:solidFill>
            </a:endParaRPr>
          </a:p>
        </p:txBody>
      </p:sp>
      <p:sp>
        <p:nvSpPr>
          <p:cNvPr id="1212" name="Google Shape;1212;p62"/>
          <p:cNvSpPr/>
          <p:nvPr/>
        </p:nvSpPr>
        <p:spPr>
          <a:xfrm rot="5400000">
            <a:off x="1567350" y="3711457"/>
            <a:ext cx="281100" cy="854100"/>
          </a:xfrm>
          <a:prstGeom prst="rightBrace">
            <a:avLst>
              <a:gd name="adj1" fmla="val 50000"/>
              <a:gd name="adj2" fmla="val 49405"/>
            </a:avLst>
          </a:prstGeom>
          <a:noFill/>
          <a:ln w="19050" cap="flat" cmpd="sng">
            <a:solidFill>
              <a:srgbClr val="70AD4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13" name="Google Shape;1213;p62"/>
          <p:cNvSpPr txBox="1"/>
          <p:nvPr/>
        </p:nvSpPr>
        <p:spPr>
          <a:xfrm>
            <a:off x="1029300" y="4263832"/>
            <a:ext cx="1357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dirty="0">
                <a:solidFill>
                  <a:srgbClr val="70AD47"/>
                </a:solidFill>
                <a:latin typeface="Consolas"/>
                <a:ea typeface="Consolas"/>
                <a:cs typeface="Consolas"/>
                <a:sym typeface="Consolas"/>
              </a:rPr>
              <a:t>segment</a:t>
            </a:r>
            <a:endParaRPr sz="1800" dirty="0">
              <a:solidFill>
                <a:srgbClr val="70AD47"/>
              </a:solidFill>
            </a:endParaRPr>
          </a:p>
        </p:txBody>
      </p:sp>
      <p:grpSp>
        <p:nvGrpSpPr>
          <p:cNvPr id="1214" name="Google Shape;1214;p62"/>
          <p:cNvGrpSpPr/>
          <p:nvPr/>
        </p:nvGrpSpPr>
        <p:grpSpPr>
          <a:xfrm>
            <a:off x="8039475" y="3672700"/>
            <a:ext cx="4019425" cy="2108288"/>
            <a:chOff x="8074225" y="3809775"/>
            <a:chExt cx="4019425" cy="2108288"/>
          </a:xfrm>
        </p:grpSpPr>
        <p:sp>
          <p:nvSpPr>
            <p:cNvPr id="1215" name="Google Shape;1215;p62"/>
            <p:cNvSpPr txBox="1"/>
            <p:nvPr/>
          </p:nvSpPr>
          <p:spPr>
            <a:xfrm>
              <a:off x="8117250" y="5337613"/>
              <a:ext cx="5517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chemeClr val="accent2"/>
                  </a:solidFill>
                  <a:latin typeface="Consolas"/>
                  <a:ea typeface="Consolas"/>
                  <a:cs typeface="Consolas"/>
                  <a:sym typeface="Consolas"/>
                </a:rPr>
                <a:t>15K</a:t>
              </a:r>
              <a:endParaRPr sz="400">
                <a:solidFill>
                  <a:schemeClr val="accent2"/>
                </a:solidFill>
              </a:endParaRPr>
            </a:p>
          </p:txBody>
        </p:sp>
        <p:cxnSp>
          <p:nvCxnSpPr>
            <p:cNvPr id="1216" name="Google Shape;1216;p62"/>
            <p:cNvCxnSpPr/>
            <p:nvPr/>
          </p:nvCxnSpPr>
          <p:spPr>
            <a:xfrm>
              <a:off x="8668950" y="5521813"/>
              <a:ext cx="551700" cy="9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217" name="Google Shape;1217;p62"/>
            <p:cNvCxnSpPr/>
            <p:nvPr/>
          </p:nvCxnSpPr>
          <p:spPr>
            <a:xfrm>
              <a:off x="10417375" y="5479550"/>
              <a:ext cx="4665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5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1218" name="Google Shape;1218;p62"/>
            <p:cNvGrpSpPr/>
            <p:nvPr/>
          </p:nvGrpSpPr>
          <p:grpSpPr>
            <a:xfrm>
              <a:off x="10417375" y="5475600"/>
              <a:ext cx="1638175" cy="373250"/>
              <a:chOff x="10399750" y="3474175"/>
              <a:chExt cx="1638175" cy="373250"/>
            </a:xfrm>
          </p:grpSpPr>
          <p:cxnSp>
            <p:nvCxnSpPr>
              <p:cNvPr id="1219" name="Google Shape;1219;p62"/>
              <p:cNvCxnSpPr/>
              <p:nvPr/>
            </p:nvCxnSpPr>
            <p:spPr>
              <a:xfrm>
                <a:off x="10399750" y="3808075"/>
                <a:ext cx="4665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20" name="Google Shape;1220;p62"/>
              <p:cNvCxnSpPr/>
              <p:nvPr/>
            </p:nvCxnSpPr>
            <p:spPr>
              <a:xfrm flipH="1">
                <a:off x="10492400" y="3474175"/>
                <a:ext cx="4800" cy="3438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2"/>
                </a:solidFill>
                <a:prstDash val="solid"/>
                <a:round/>
                <a:headEnd type="triangle" w="med" len="med"/>
                <a:tailEnd type="none" w="med" len="med"/>
              </a:ln>
            </p:spPr>
          </p:cxnSp>
          <p:sp>
            <p:nvSpPr>
              <p:cNvPr id="1221" name="Google Shape;1221;p62"/>
              <p:cNvSpPr txBox="1"/>
              <p:nvPr/>
            </p:nvSpPr>
            <p:spPr>
              <a:xfrm>
                <a:off x="10521425" y="3478125"/>
                <a:ext cx="1516500" cy="369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200" dirty="0">
                    <a:solidFill>
                      <a:schemeClr val="accent2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1K (grows bg)</a:t>
                </a:r>
                <a:endParaRPr sz="400" dirty="0">
                  <a:solidFill>
                    <a:schemeClr val="accent2"/>
                  </a:solidFill>
                </a:endParaRPr>
              </a:p>
            </p:txBody>
          </p:sp>
        </p:grpSp>
        <p:sp>
          <p:nvSpPr>
            <p:cNvPr id="1222" name="Google Shape;1222;p62"/>
            <p:cNvSpPr/>
            <p:nvPr/>
          </p:nvSpPr>
          <p:spPr>
            <a:xfrm>
              <a:off x="9237475" y="4211149"/>
              <a:ext cx="1122000" cy="1619400"/>
            </a:xfrm>
            <a:prstGeom prst="rect">
              <a:avLst/>
            </a:prstGeom>
            <a:solidFill>
              <a:srgbClr val="EFEFEF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223" name="Google Shape;1223;p62"/>
            <p:cNvGrpSpPr/>
            <p:nvPr/>
          </p:nvGrpSpPr>
          <p:grpSpPr>
            <a:xfrm>
              <a:off x="9236734" y="4617139"/>
              <a:ext cx="1122049" cy="1211850"/>
              <a:chOff x="7945421" y="3489015"/>
              <a:chExt cx="1076100" cy="548621"/>
            </a:xfrm>
          </p:grpSpPr>
          <p:sp>
            <p:nvSpPr>
              <p:cNvPr id="1224" name="Google Shape;1224;p62"/>
              <p:cNvSpPr/>
              <p:nvPr/>
            </p:nvSpPr>
            <p:spPr>
              <a:xfrm>
                <a:off x="7945421" y="3753236"/>
                <a:ext cx="1076100" cy="284400"/>
              </a:xfrm>
              <a:prstGeom prst="rect">
                <a:avLst/>
              </a:prstGeom>
              <a:solidFill>
                <a:srgbClr val="FFE599"/>
              </a:solidFill>
              <a:ln w="19050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 b="1" dirty="0">
                    <a:latin typeface="Courier New"/>
                    <a:ea typeface="Courier New"/>
                    <a:cs typeface="Courier New"/>
                    <a:sym typeface="Courier New"/>
                  </a:rPr>
                  <a:t>stack</a:t>
                </a:r>
                <a:endParaRPr sz="2200" dirty="0"/>
              </a:p>
            </p:txBody>
          </p:sp>
          <p:cxnSp>
            <p:nvCxnSpPr>
              <p:cNvPr id="1225" name="Google Shape;1225;p62"/>
              <p:cNvCxnSpPr/>
              <p:nvPr/>
            </p:nvCxnSpPr>
            <p:spPr>
              <a:xfrm>
                <a:off x="8480006" y="3489015"/>
                <a:ext cx="6900" cy="2613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00000"/>
                </a:solidFill>
                <a:prstDash val="solid"/>
                <a:round/>
                <a:headEnd type="triangle" w="med" len="med"/>
                <a:tailEnd type="none" w="med" len="med"/>
              </a:ln>
            </p:spPr>
          </p:cxnSp>
        </p:grpSp>
        <p:cxnSp>
          <p:nvCxnSpPr>
            <p:cNvPr id="1226" name="Google Shape;1226;p62"/>
            <p:cNvCxnSpPr/>
            <p:nvPr/>
          </p:nvCxnSpPr>
          <p:spPr>
            <a:xfrm rot="10800000">
              <a:off x="9236375" y="3810500"/>
              <a:ext cx="0" cy="4665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27" name="Google Shape;1227;p62"/>
            <p:cNvCxnSpPr/>
            <p:nvPr/>
          </p:nvCxnSpPr>
          <p:spPr>
            <a:xfrm rot="10800000">
              <a:off x="10359550" y="3809775"/>
              <a:ext cx="0" cy="4665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28" name="Google Shape;1228;p62"/>
            <p:cNvCxnSpPr/>
            <p:nvPr/>
          </p:nvCxnSpPr>
          <p:spPr>
            <a:xfrm>
              <a:off x="10417375" y="4201225"/>
              <a:ext cx="466500" cy="0"/>
            </a:xfrm>
            <a:prstGeom prst="straightConnector1">
              <a:avLst/>
            </a:prstGeom>
            <a:noFill/>
            <a:ln w="19050" cap="flat" cmpd="sng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29" name="Google Shape;1229;p62"/>
            <p:cNvCxnSpPr/>
            <p:nvPr/>
          </p:nvCxnSpPr>
          <p:spPr>
            <a:xfrm flipH="1">
              <a:off x="10507800" y="4201225"/>
              <a:ext cx="21300" cy="1271700"/>
            </a:xfrm>
            <a:prstGeom prst="straightConnector1">
              <a:avLst/>
            </a:prstGeom>
            <a:noFill/>
            <a:ln w="19050" cap="flat" cmpd="sng">
              <a:solidFill>
                <a:srgbClr val="FF0000"/>
              </a:solidFill>
              <a:prstDash val="solid"/>
              <a:round/>
              <a:headEnd type="triangle" w="med" len="med"/>
              <a:tailEnd type="triangle" w="med" len="med"/>
            </a:ln>
          </p:spPr>
        </p:cxnSp>
        <p:sp>
          <p:nvSpPr>
            <p:cNvPr id="1230" name="Google Shape;1230;p62"/>
            <p:cNvSpPr txBox="1"/>
            <p:nvPr/>
          </p:nvSpPr>
          <p:spPr>
            <a:xfrm>
              <a:off x="10577150" y="4588400"/>
              <a:ext cx="15165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3K (offset)</a:t>
              </a:r>
              <a:endParaRPr sz="400">
                <a:solidFill>
                  <a:srgbClr val="FF0000"/>
                </a:solidFill>
              </a:endParaRPr>
            </a:p>
          </p:txBody>
        </p:sp>
        <p:cxnSp>
          <p:nvCxnSpPr>
            <p:cNvPr id="1231" name="Google Shape;1231;p62"/>
            <p:cNvCxnSpPr/>
            <p:nvPr/>
          </p:nvCxnSpPr>
          <p:spPr>
            <a:xfrm rot="10800000" flipH="1">
              <a:off x="8074225" y="4200025"/>
              <a:ext cx="1085700" cy="2400"/>
            </a:xfrm>
            <a:prstGeom prst="straightConnector1">
              <a:avLst/>
            </a:prstGeom>
            <a:noFill/>
            <a:ln w="19050" cap="flat" cmpd="sng">
              <a:solidFill>
                <a:schemeClr val="accent5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32" name="Google Shape;1232;p62"/>
            <p:cNvCxnSpPr/>
            <p:nvPr/>
          </p:nvCxnSpPr>
          <p:spPr>
            <a:xfrm rot="10800000" flipH="1">
              <a:off x="8092425" y="5829000"/>
              <a:ext cx="1085700" cy="2400"/>
            </a:xfrm>
            <a:prstGeom prst="straightConnector1">
              <a:avLst/>
            </a:prstGeom>
            <a:noFill/>
            <a:ln w="19050" cap="flat" cmpd="sng">
              <a:solidFill>
                <a:schemeClr val="accent5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33" name="Google Shape;1233;p62"/>
            <p:cNvCxnSpPr/>
            <p:nvPr/>
          </p:nvCxnSpPr>
          <p:spPr>
            <a:xfrm flipH="1">
              <a:off x="8202725" y="4218000"/>
              <a:ext cx="23700" cy="1611000"/>
            </a:xfrm>
            <a:prstGeom prst="straightConnector1">
              <a:avLst/>
            </a:prstGeom>
            <a:noFill/>
            <a:ln w="19050" cap="flat" cmpd="sng">
              <a:solidFill>
                <a:schemeClr val="accent5"/>
              </a:solidFill>
              <a:prstDash val="solid"/>
              <a:round/>
              <a:headEnd type="triangle" w="med" len="med"/>
              <a:tailEnd type="triangle" w="med" len="med"/>
            </a:ln>
          </p:spPr>
        </p:cxnSp>
        <p:sp>
          <p:nvSpPr>
            <p:cNvPr id="1234" name="Google Shape;1234;p62"/>
            <p:cNvSpPr txBox="1"/>
            <p:nvPr/>
          </p:nvSpPr>
          <p:spPr>
            <a:xfrm>
              <a:off x="8262575" y="4714775"/>
              <a:ext cx="8541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 dirty="0">
                  <a:solidFill>
                    <a:schemeClr val="accent5"/>
                  </a:solidFill>
                  <a:latin typeface="Consolas"/>
                  <a:ea typeface="Consolas"/>
                  <a:cs typeface="Consolas"/>
                  <a:sym typeface="Consolas"/>
                </a:rPr>
                <a:t>4K (max)</a:t>
              </a:r>
              <a:endParaRPr sz="400" dirty="0">
                <a:solidFill>
                  <a:schemeClr val="accent5"/>
                </a:solidFill>
              </a:endParaRPr>
            </a:p>
          </p:txBody>
        </p:sp>
        <p:sp>
          <p:nvSpPr>
            <p:cNvPr id="1235" name="Google Shape;1235;p62"/>
            <p:cNvSpPr txBox="1"/>
            <p:nvPr/>
          </p:nvSpPr>
          <p:spPr>
            <a:xfrm>
              <a:off x="8677363" y="5548763"/>
              <a:ext cx="5517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latin typeface="Consolas"/>
                  <a:ea typeface="Consolas"/>
                  <a:cs typeface="Consolas"/>
                  <a:sym typeface="Consolas"/>
                </a:rPr>
                <a:t>16K</a:t>
              </a:r>
              <a:endParaRPr sz="400"/>
            </a:p>
          </p:txBody>
        </p:sp>
        <p:sp>
          <p:nvSpPr>
            <p:cNvPr id="1236" name="Google Shape;1236;p62"/>
            <p:cNvSpPr txBox="1"/>
            <p:nvPr/>
          </p:nvSpPr>
          <p:spPr>
            <a:xfrm>
              <a:off x="8677363" y="5084063"/>
              <a:ext cx="5517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latin typeface="Consolas"/>
                  <a:ea typeface="Consolas"/>
                  <a:cs typeface="Consolas"/>
                  <a:sym typeface="Consolas"/>
                </a:rPr>
                <a:t>14K</a:t>
              </a:r>
              <a:endParaRPr sz="400"/>
            </a:p>
          </p:txBody>
        </p:sp>
      </p:grpSp>
      <p:sp>
        <p:nvSpPr>
          <p:cNvPr id="1237" name="Google Shape;1237;p62"/>
          <p:cNvSpPr txBox="1"/>
          <p:nvPr/>
        </p:nvSpPr>
        <p:spPr>
          <a:xfrm>
            <a:off x="779406" y="5533892"/>
            <a:ext cx="6691531" cy="8668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18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Para el offset hay 12 bits, por lo tanto el </a:t>
            </a:r>
            <a:r>
              <a:rPr lang="es-ES" sz="1800" b="1" dirty="0">
                <a:solidFill>
                  <a:schemeClr val="accent5"/>
                </a:solidFill>
                <a:latin typeface="Roboto"/>
                <a:ea typeface="Roboto"/>
                <a:cs typeface="Roboto"/>
                <a:sym typeface="Roboto"/>
              </a:rPr>
              <a:t>offset máximo</a:t>
            </a:r>
            <a:r>
              <a:rPr lang="es-ES" sz="18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será: </a:t>
            </a:r>
            <a:endParaRPr sz="18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480"/>
              </a:spcBef>
              <a:spcAft>
                <a:spcPts val="0"/>
              </a:spcAft>
              <a:buClr>
                <a:schemeClr val="accent5"/>
              </a:buClr>
              <a:buSzPts val="1800"/>
              <a:buFont typeface="Consolas"/>
              <a:buChar char="●"/>
            </a:pPr>
            <a:r>
              <a:rPr lang="es-ES" sz="1800" dirty="0">
                <a:solidFill>
                  <a:schemeClr val="accent5"/>
                </a:solidFill>
                <a:latin typeface="Consolas"/>
                <a:ea typeface="Consolas"/>
                <a:cs typeface="Consolas"/>
                <a:sym typeface="Consolas"/>
              </a:rPr>
              <a:t>offset(max) = 2^12 = 4096 = 4K (max)</a:t>
            </a:r>
            <a:endParaRPr dirty="0">
              <a:solidFill>
                <a:schemeClr val="accent5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2" name="Google Shape;1242;p63"/>
          <p:cNvSpPr txBox="1">
            <a:spLocks noGrp="1"/>
          </p:cNvSpPr>
          <p:nvPr>
            <p:ph type="title"/>
          </p:nvPr>
        </p:nvSpPr>
        <p:spPr>
          <a:xfrm>
            <a:off x="381000" y="96038"/>
            <a:ext cx="883965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b="0" dirty="0">
                <a:latin typeface="+mj-lt"/>
              </a:rPr>
              <a:t>Traducción de direcciones (II)</a:t>
            </a:r>
            <a:endParaRPr b="0" dirty="0">
              <a:latin typeface="+mj-lt"/>
            </a:endParaRPr>
          </a:p>
        </p:txBody>
      </p:sp>
      <p:sp>
        <p:nvSpPr>
          <p:cNvPr id="1243" name="Google Shape;1243;p63"/>
          <p:cNvSpPr txBox="1">
            <a:spLocks noGrp="1"/>
          </p:cNvSpPr>
          <p:nvPr>
            <p:ph type="body" idx="1"/>
          </p:nvPr>
        </p:nvSpPr>
        <p:spPr>
          <a:xfrm>
            <a:off x="381000" y="955300"/>
            <a:ext cx="8253200" cy="5687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b="1" dirty="0">
                <a:solidFill>
                  <a:schemeClr val="accent1"/>
                </a:solidFill>
                <a:latin typeface="+mn-lt"/>
              </a:rPr>
              <a:t>Segmento stack (pila)</a:t>
            </a:r>
            <a:endParaRPr dirty="0">
              <a:solidFill>
                <a:schemeClr val="accent1"/>
              </a:solidFill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  <a:ea typeface="Consolas"/>
              <a:cs typeface="Consolas"/>
              <a:sym typeface="Consolas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</p:txBody>
      </p:sp>
      <p:sp>
        <p:nvSpPr>
          <p:cNvPr id="1244" name="Google Shape;1244;p63"/>
          <p:cNvSpPr txBox="1"/>
          <p:nvPr/>
        </p:nvSpPr>
        <p:spPr>
          <a:xfrm>
            <a:off x="782706" y="1827456"/>
            <a:ext cx="4396800" cy="104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55600" algn="l" rtl="0">
              <a:spcBef>
                <a:spcPts val="480"/>
              </a:spcBef>
              <a:spcAft>
                <a:spcPts val="0"/>
              </a:spcAft>
              <a:buSzPts val="2000"/>
              <a:buFont typeface="Consolas"/>
              <a:buChar char="●"/>
            </a:pPr>
            <a:r>
              <a:rPr lang="es-ES" sz="2000" dirty="0">
                <a:latin typeface="Consolas"/>
                <a:ea typeface="Consolas"/>
                <a:cs typeface="Consolas"/>
                <a:sym typeface="Consolas"/>
              </a:rPr>
              <a:t>VA = [</a:t>
            </a:r>
            <a:r>
              <a:rPr lang="es-ES" sz="2000" dirty="0">
                <a:solidFill>
                  <a:srgbClr val="70AD47"/>
                </a:solidFill>
                <a:latin typeface="Consolas"/>
                <a:ea typeface="Consolas"/>
                <a:cs typeface="Consolas"/>
                <a:sym typeface="Consolas"/>
              </a:rPr>
              <a:t>11</a:t>
            </a:r>
            <a:r>
              <a:rPr lang="es-ES" sz="2000" dirty="0">
                <a:latin typeface="Consolas"/>
                <a:ea typeface="Consolas"/>
                <a:cs typeface="Consolas"/>
                <a:sym typeface="Consolas"/>
              </a:rPr>
              <a:t>|</a:t>
            </a:r>
            <a:r>
              <a:rPr lang="es-ES" sz="2000" dirty="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1100000000</a:t>
            </a:r>
            <a:r>
              <a:rPr lang="es-ES" sz="2000" dirty="0">
                <a:latin typeface="Consolas"/>
                <a:ea typeface="Consolas"/>
                <a:cs typeface="Consolas"/>
                <a:sym typeface="Consolas"/>
              </a:rPr>
              <a:t>]</a:t>
            </a:r>
            <a:endParaRPr sz="2000" dirty="0">
              <a:latin typeface="Consolas"/>
              <a:ea typeface="Consolas"/>
              <a:cs typeface="Consolas"/>
              <a:sym typeface="Consolas"/>
            </a:endParaRP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Clr>
                <a:srgbClr val="70AD47"/>
              </a:buClr>
              <a:buSzPts val="1800"/>
              <a:buFont typeface="Consolas"/>
              <a:buChar char="○"/>
            </a:pPr>
            <a:r>
              <a:rPr lang="es-ES" sz="1800" dirty="0">
                <a:solidFill>
                  <a:srgbClr val="70AD47"/>
                </a:solidFill>
                <a:latin typeface="Consolas"/>
                <a:ea typeface="Consolas"/>
                <a:cs typeface="Consolas"/>
                <a:sym typeface="Consolas"/>
              </a:rPr>
              <a:t>segment = stack</a:t>
            </a:r>
            <a:endParaRPr sz="1800" dirty="0">
              <a:solidFill>
                <a:srgbClr val="70AD47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800"/>
              <a:buFont typeface="Consolas"/>
              <a:buChar char="○"/>
            </a:pPr>
            <a:r>
              <a:rPr lang="es-ES" sz="1800" dirty="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offset = 3K</a:t>
            </a:r>
            <a:endParaRPr sz="1800" dirty="0">
              <a:solidFill>
                <a:srgbClr val="FF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grpSp>
        <p:nvGrpSpPr>
          <p:cNvPr id="1245" name="Google Shape;1245;p63"/>
          <p:cNvGrpSpPr/>
          <p:nvPr/>
        </p:nvGrpSpPr>
        <p:grpSpPr>
          <a:xfrm>
            <a:off x="498061" y="3944308"/>
            <a:ext cx="4019425" cy="2108288"/>
            <a:chOff x="8074225" y="3809775"/>
            <a:chExt cx="4019425" cy="2108288"/>
          </a:xfrm>
        </p:grpSpPr>
        <p:sp>
          <p:nvSpPr>
            <p:cNvPr id="1246" name="Google Shape;1246;p63"/>
            <p:cNvSpPr txBox="1"/>
            <p:nvPr/>
          </p:nvSpPr>
          <p:spPr>
            <a:xfrm>
              <a:off x="8117250" y="5337613"/>
              <a:ext cx="5517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chemeClr val="accent2"/>
                  </a:solidFill>
                  <a:latin typeface="Consolas"/>
                  <a:ea typeface="Consolas"/>
                  <a:cs typeface="Consolas"/>
                  <a:sym typeface="Consolas"/>
                </a:rPr>
                <a:t>15K</a:t>
              </a:r>
              <a:endParaRPr sz="400">
                <a:solidFill>
                  <a:schemeClr val="accent2"/>
                </a:solidFill>
              </a:endParaRPr>
            </a:p>
          </p:txBody>
        </p:sp>
        <p:cxnSp>
          <p:nvCxnSpPr>
            <p:cNvPr id="1247" name="Google Shape;1247;p63"/>
            <p:cNvCxnSpPr/>
            <p:nvPr/>
          </p:nvCxnSpPr>
          <p:spPr>
            <a:xfrm>
              <a:off x="8668950" y="5521813"/>
              <a:ext cx="551700" cy="9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248" name="Google Shape;1248;p63"/>
            <p:cNvCxnSpPr/>
            <p:nvPr/>
          </p:nvCxnSpPr>
          <p:spPr>
            <a:xfrm>
              <a:off x="10417375" y="5479550"/>
              <a:ext cx="4665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5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1249" name="Google Shape;1249;p63"/>
            <p:cNvGrpSpPr/>
            <p:nvPr/>
          </p:nvGrpSpPr>
          <p:grpSpPr>
            <a:xfrm>
              <a:off x="10417375" y="5475600"/>
              <a:ext cx="1638175" cy="373250"/>
              <a:chOff x="10399750" y="3474175"/>
              <a:chExt cx="1638175" cy="373250"/>
            </a:xfrm>
          </p:grpSpPr>
          <p:cxnSp>
            <p:nvCxnSpPr>
              <p:cNvPr id="1250" name="Google Shape;1250;p63"/>
              <p:cNvCxnSpPr/>
              <p:nvPr/>
            </p:nvCxnSpPr>
            <p:spPr>
              <a:xfrm>
                <a:off x="10399750" y="3808075"/>
                <a:ext cx="4665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51" name="Google Shape;1251;p63"/>
              <p:cNvCxnSpPr/>
              <p:nvPr/>
            </p:nvCxnSpPr>
            <p:spPr>
              <a:xfrm flipH="1">
                <a:off x="10492400" y="3474175"/>
                <a:ext cx="4800" cy="3438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2"/>
                </a:solidFill>
                <a:prstDash val="solid"/>
                <a:round/>
                <a:headEnd type="triangle" w="med" len="med"/>
                <a:tailEnd type="none" w="med" len="med"/>
              </a:ln>
            </p:spPr>
          </p:cxnSp>
          <p:sp>
            <p:nvSpPr>
              <p:cNvPr id="1252" name="Google Shape;1252;p63"/>
              <p:cNvSpPr txBox="1"/>
              <p:nvPr/>
            </p:nvSpPr>
            <p:spPr>
              <a:xfrm>
                <a:off x="10521425" y="3478125"/>
                <a:ext cx="1516500" cy="369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200" dirty="0">
                    <a:solidFill>
                      <a:schemeClr val="accent2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1K (grows bg)</a:t>
                </a:r>
                <a:endParaRPr sz="400" dirty="0">
                  <a:solidFill>
                    <a:schemeClr val="accent2"/>
                  </a:solidFill>
                </a:endParaRPr>
              </a:p>
            </p:txBody>
          </p:sp>
        </p:grpSp>
        <p:sp>
          <p:nvSpPr>
            <p:cNvPr id="1253" name="Google Shape;1253;p63"/>
            <p:cNvSpPr/>
            <p:nvPr/>
          </p:nvSpPr>
          <p:spPr>
            <a:xfrm>
              <a:off x="9237475" y="4211149"/>
              <a:ext cx="1122000" cy="1619400"/>
            </a:xfrm>
            <a:prstGeom prst="rect">
              <a:avLst/>
            </a:prstGeom>
            <a:solidFill>
              <a:srgbClr val="EFEFEF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254" name="Google Shape;1254;p63"/>
            <p:cNvGrpSpPr/>
            <p:nvPr/>
          </p:nvGrpSpPr>
          <p:grpSpPr>
            <a:xfrm>
              <a:off x="9236734" y="4617139"/>
              <a:ext cx="1122049" cy="1211850"/>
              <a:chOff x="7945421" y="3489015"/>
              <a:chExt cx="1076100" cy="548621"/>
            </a:xfrm>
          </p:grpSpPr>
          <p:sp>
            <p:nvSpPr>
              <p:cNvPr id="1255" name="Google Shape;1255;p63"/>
              <p:cNvSpPr/>
              <p:nvPr/>
            </p:nvSpPr>
            <p:spPr>
              <a:xfrm>
                <a:off x="7945421" y="3753236"/>
                <a:ext cx="1076100" cy="284400"/>
              </a:xfrm>
              <a:prstGeom prst="rect">
                <a:avLst/>
              </a:prstGeom>
              <a:solidFill>
                <a:srgbClr val="FFE599"/>
              </a:solidFill>
              <a:ln w="19050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 b="1" dirty="0">
                    <a:latin typeface="Courier New"/>
                    <a:ea typeface="Courier New"/>
                    <a:cs typeface="Courier New"/>
                    <a:sym typeface="Courier New"/>
                  </a:rPr>
                  <a:t>stack</a:t>
                </a:r>
                <a:endParaRPr sz="2200" dirty="0"/>
              </a:p>
            </p:txBody>
          </p:sp>
          <p:cxnSp>
            <p:nvCxnSpPr>
              <p:cNvPr id="1256" name="Google Shape;1256;p63"/>
              <p:cNvCxnSpPr/>
              <p:nvPr/>
            </p:nvCxnSpPr>
            <p:spPr>
              <a:xfrm>
                <a:off x="8480006" y="3489015"/>
                <a:ext cx="6900" cy="2613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00000"/>
                </a:solidFill>
                <a:prstDash val="solid"/>
                <a:round/>
                <a:headEnd type="triangle" w="med" len="med"/>
                <a:tailEnd type="none" w="med" len="med"/>
              </a:ln>
            </p:spPr>
          </p:cxnSp>
        </p:grpSp>
        <p:cxnSp>
          <p:nvCxnSpPr>
            <p:cNvPr id="1257" name="Google Shape;1257;p63"/>
            <p:cNvCxnSpPr/>
            <p:nvPr/>
          </p:nvCxnSpPr>
          <p:spPr>
            <a:xfrm rot="10800000">
              <a:off x="9236375" y="3810500"/>
              <a:ext cx="0" cy="4665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58" name="Google Shape;1258;p63"/>
            <p:cNvCxnSpPr/>
            <p:nvPr/>
          </p:nvCxnSpPr>
          <p:spPr>
            <a:xfrm rot="10800000">
              <a:off x="10359550" y="3809775"/>
              <a:ext cx="0" cy="4665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59" name="Google Shape;1259;p63"/>
            <p:cNvCxnSpPr/>
            <p:nvPr/>
          </p:nvCxnSpPr>
          <p:spPr>
            <a:xfrm>
              <a:off x="10417375" y="4201225"/>
              <a:ext cx="466500" cy="0"/>
            </a:xfrm>
            <a:prstGeom prst="straightConnector1">
              <a:avLst/>
            </a:prstGeom>
            <a:noFill/>
            <a:ln w="19050" cap="flat" cmpd="sng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60" name="Google Shape;1260;p63"/>
            <p:cNvCxnSpPr/>
            <p:nvPr/>
          </p:nvCxnSpPr>
          <p:spPr>
            <a:xfrm flipH="1">
              <a:off x="10507800" y="4201225"/>
              <a:ext cx="21300" cy="1271700"/>
            </a:xfrm>
            <a:prstGeom prst="straightConnector1">
              <a:avLst/>
            </a:prstGeom>
            <a:noFill/>
            <a:ln w="19050" cap="flat" cmpd="sng">
              <a:solidFill>
                <a:srgbClr val="FF0000"/>
              </a:solidFill>
              <a:prstDash val="solid"/>
              <a:round/>
              <a:headEnd type="triangle" w="med" len="med"/>
              <a:tailEnd type="triangle" w="med" len="med"/>
            </a:ln>
          </p:spPr>
        </p:cxnSp>
        <p:sp>
          <p:nvSpPr>
            <p:cNvPr id="1261" name="Google Shape;1261;p63"/>
            <p:cNvSpPr txBox="1"/>
            <p:nvPr/>
          </p:nvSpPr>
          <p:spPr>
            <a:xfrm>
              <a:off x="10577150" y="4588400"/>
              <a:ext cx="15165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3K (offset)</a:t>
              </a:r>
              <a:endParaRPr sz="400">
                <a:solidFill>
                  <a:srgbClr val="FF0000"/>
                </a:solidFill>
              </a:endParaRPr>
            </a:p>
          </p:txBody>
        </p:sp>
        <p:cxnSp>
          <p:nvCxnSpPr>
            <p:cNvPr id="1262" name="Google Shape;1262;p63"/>
            <p:cNvCxnSpPr/>
            <p:nvPr/>
          </p:nvCxnSpPr>
          <p:spPr>
            <a:xfrm rot="10800000" flipH="1">
              <a:off x="8074225" y="4200025"/>
              <a:ext cx="1085700" cy="2400"/>
            </a:xfrm>
            <a:prstGeom prst="straightConnector1">
              <a:avLst/>
            </a:prstGeom>
            <a:noFill/>
            <a:ln w="19050" cap="flat" cmpd="sng">
              <a:solidFill>
                <a:schemeClr val="accent5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63" name="Google Shape;1263;p63"/>
            <p:cNvCxnSpPr/>
            <p:nvPr/>
          </p:nvCxnSpPr>
          <p:spPr>
            <a:xfrm rot="10800000" flipH="1">
              <a:off x="8092425" y="5829000"/>
              <a:ext cx="1085700" cy="2400"/>
            </a:xfrm>
            <a:prstGeom prst="straightConnector1">
              <a:avLst/>
            </a:prstGeom>
            <a:noFill/>
            <a:ln w="19050" cap="flat" cmpd="sng">
              <a:solidFill>
                <a:schemeClr val="accent5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64" name="Google Shape;1264;p63"/>
            <p:cNvCxnSpPr/>
            <p:nvPr/>
          </p:nvCxnSpPr>
          <p:spPr>
            <a:xfrm flipH="1">
              <a:off x="8202725" y="4218000"/>
              <a:ext cx="23700" cy="1611000"/>
            </a:xfrm>
            <a:prstGeom prst="straightConnector1">
              <a:avLst/>
            </a:prstGeom>
            <a:noFill/>
            <a:ln w="19050" cap="flat" cmpd="sng">
              <a:solidFill>
                <a:schemeClr val="accent5"/>
              </a:solidFill>
              <a:prstDash val="solid"/>
              <a:round/>
              <a:headEnd type="triangle" w="med" len="med"/>
              <a:tailEnd type="triangle" w="med" len="med"/>
            </a:ln>
          </p:spPr>
        </p:cxnSp>
        <p:sp>
          <p:nvSpPr>
            <p:cNvPr id="1265" name="Google Shape;1265;p63"/>
            <p:cNvSpPr txBox="1"/>
            <p:nvPr/>
          </p:nvSpPr>
          <p:spPr>
            <a:xfrm>
              <a:off x="8262575" y="4714775"/>
              <a:ext cx="8541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 dirty="0">
                  <a:solidFill>
                    <a:schemeClr val="accent5"/>
                  </a:solidFill>
                  <a:latin typeface="Consolas"/>
                  <a:ea typeface="Consolas"/>
                  <a:cs typeface="Consolas"/>
                  <a:sym typeface="Consolas"/>
                </a:rPr>
                <a:t>4K (max)</a:t>
              </a:r>
              <a:endParaRPr sz="400" dirty="0">
                <a:solidFill>
                  <a:schemeClr val="accent5"/>
                </a:solidFill>
              </a:endParaRPr>
            </a:p>
          </p:txBody>
        </p:sp>
        <p:sp>
          <p:nvSpPr>
            <p:cNvPr id="1266" name="Google Shape;1266;p63"/>
            <p:cNvSpPr txBox="1"/>
            <p:nvPr/>
          </p:nvSpPr>
          <p:spPr>
            <a:xfrm>
              <a:off x="8677363" y="5548763"/>
              <a:ext cx="5517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latin typeface="Consolas"/>
                  <a:ea typeface="Consolas"/>
                  <a:cs typeface="Consolas"/>
                  <a:sym typeface="Consolas"/>
                </a:rPr>
                <a:t>16K</a:t>
              </a:r>
              <a:endParaRPr sz="400"/>
            </a:p>
          </p:txBody>
        </p:sp>
        <p:sp>
          <p:nvSpPr>
            <p:cNvPr id="1267" name="Google Shape;1267;p63"/>
            <p:cNvSpPr txBox="1"/>
            <p:nvPr/>
          </p:nvSpPr>
          <p:spPr>
            <a:xfrm>
              <a:off x="8677363" y="5084063"/>
              <a:ext cx="5517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latin typeface="Consolas"/>
                  <a:ea typeface="Consolas"/>
                  <a:cs typeface="Consolas"/>
                  <a:sym typeface="Consolas"/>
                </a:rPr>
                <a:t>14K</a:t>
              </a:r>
              <a:endParaRPr sz="400"/>
            </a:p>
          </p:txBody>
        </p:sp>
      </p:grpSp>
      <p:sp>
        <p:nvSpPr>
          <p:cNvPr id="1268" name="Google Shape;1268;p63"/>
          <p:cNvSpPr txBox="1"/>
          <p:nvPr/>
        </p:nvSpPr>
        <p:spPr>
          <a:xfrm>
            <a:off x="405750" y="2897653"/>
            <a:ext cx="4396800" cy="556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0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Cálculo de la dirección física (PA):</a:t>
            </a:r>
            <a:endParaRPr dirty="0">
              <a:solidFill>
                <a:schemeClr val="accent5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grpSp>
        <p:nvGrpSpPr>
          <p:cNvPr id="1269" name="Google Shape;1269;p63"/>
          <p:cNvGrpSpPr/>
          <p:nvPr/>
        </p:nvGrpSpPr>
        <p:grpSpPr>
          <a:xfrm>
            <a:off x="5255550" y="1553913"/>
            <a:ext cx="6592200" cy="637200"/>
            <a:chOff x="6050601" y="1607225"/>
            <a:chExt cx="3132600" cy="637200"/>
          </a:xfrm>
        </p:grpSpPr>
        <p:sp>
          <p:nvSpPr>
            <p:cNvPr id="1270" name="Google Shape;1270;p63"/>
            <p:cNvSpPr/>
            <p:nvPr/>
          </p:nvSpPr>
          <p:spPr>
            <a:xfrm>
              <a:off x="6050601" y="1607225"/>
              <a:ext cx="3132600" cy="637200"/>
            </a:xfrm>
            <a:prstGeom prst="rect">
              <a:avLst/>
            </a:prstGeom>
            <a:solidFill>
              <a:srgbClr val="FFF2CC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1" name="Google Shape;1271;p63"/>
            <p:cNvSpPr txBox="1"/>
            <p:nvPr/>
          </p:nvSpPr>
          <p:spPr>
            <a:xfrm>
              <a:off x="6102665" y="1648775"/>
              <a:ext cx="3044400" cy="55396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400" b="1" dirty="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offset(stack)</a:t>
              </a:r>
              <a:r>
                <a:rPr lang="es-ES" sz="2400" b="1" dirty="0">
                  <a:latin typeface="Consolas"/>
                  <a:ea typeface="Consolas"/>
                  <a:cs typeface="Consolas"/>
                  <a:sym typeface="Consolas"/>
                </a:rPr>
                <a:t> = offset - offset(max)</a:t>
              </a:r>
              <a:endParaRPr sz="2400" b="1" dirty="0"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  <p:grpSp>
        <p:nvGrpSpPr>
          <p:cNvPr id="1272" name="Google Shape;1272;p63"/>
          <p:cNvGrpSpPr/>
          <p:nvPr/>
        </p:nvGrpSpPr>
        <p:grpSpPr>
          <a:xfrm>
            <a:off x="5255551" y="2309256"/>
            <a:ext cx="6592199" cy="637200"/>
            <a:chOff x="6050601" y="1443225"/>
            <a:chExt cx="3132600" cy="637200"/>
          </a:xfrm>
        </p:grpSpPr>
        <p:sp>
          <p:nvSpPr>
            <p:cNvPr id="1273" name="Google Shape;1273;p63"/>
            <p:cNvSpPr/>
            <p:nvPr/>
          </p:nvSpPr>
          <p:spPr>
            <a:xfrm>
              <a:off x="6050601" y="1443225"/>
              <a:ext cx="3132600" cy="637200"/>
            </a:xfrm>
            <a:prstGeom prst="rect">
              <a:avLst/>
            </a:prstGeom>
            <a:solidFill>
              <a:srgbClr val="FFF2CC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4" name="Google Shape;1274;p63"/>
            <p:cNvSpPr txBox="1"/>
            <p:nvPr/>
          </p:nvSpPr>
          <p:spPr>
            <a:xfrm>
              <a:off x="6283540" y="1484775"/>
              <a:ext cx="28257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400" b="1" dirty="0">
                  <a:latin typeface="Consolas"/>
                  <a:ea typeface="Consolas"/>
                  <a:cs typeface="Consolas"/>
                  <a:sym typeface="Consolas"/>
                </a:rPr>
                <a:t>PA = base(stack) + </a:t>
              </a:r>
              <a:r>
                <a:rPr lang="es-ES" sz="2400" b="1" dirty="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offset(stack)</a:t>
              </a:r>
              <a:endParaRPr sz="2400" b="1" dirty="0"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  <p:sp>
        <p:nvSpPr>
          <p:cNvPr id="1275" name="Google Shape;1275;p63"/>
          <p:cNvSpPr txBox="1"/>
          <p:nvPr/>
        </p:nvSpPr>
        <p:spPr>
          <a:xfrm>
            <a:off x="4525106" y="4512260"/>
            <a:ext cx="3600108" cy="49497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1600" dirty="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offset(stack) = 3K - 4K = -1K</a:t>
            </a:r>
            <a:endParaRPr sz="1200" dirty="0">
              <a:solidFill>
                <a:srgbClr val="FF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76" name="Google Shape;1276;p63"/>
          <p:cNvSpPr txBox="1"/>
          <p:nvPr/>
        </p:nvSpPr>
        <p:spPr>
          <a:xfrm>
            <a:off x="4511036" y="5179373"/>
            <a:ext cx="3600108" cy="49497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1600" dirty="0">
                <a:solidFill>
                  <a:schemeClr val="accent5"/>
                </a:solidFill>
                <a:latin typeface="Consolas"/>
                <a:ea typeface="Consolas"/>
                <a:cs typeface="Consolas"/>
                <a:sym typeface="Consolas"/>
              </a:rPr>
              <a:t>PA = 28 + (-1K) = 27K</a:t>
            </a:r>
            <a:endParaRPr sz="1200" dirty="0">
              <a:solidFill>
                <a:schemeClr val="accent5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grpSp>
        <p:nvGrpSpPr>
          <p:cNvPr id="37" name="Google Shape;1314;p64">
            <a:extLst>
              <a:ext uri="{FF2B5EF4-FFF2-40B4-BE49-F238E27FC236}">
                <a16:creationId xmlns:a16="http://schemas.microsoft.com/office/drawing/2014/main" id="{18154925-0DC5-4370-B98C-0C8FACC3D2DF}"/>
              </a:ext>
            </a:extLst>
          </p:cNvPr>
          <p:cNvGrpSpPr/>
          <p:nvPr/>
        </p:nvGrpSpPr>
        <p:grpSpPr>
          <a:xfrm>
            <a:off x="8276400" y="3676704"/>
            <a:ext cx="3915600" cy="2287425"/>
            <a:chOff x="7606875" y="3042163"/>
            <a:chExt cx="3915600" cy="2287425"/>
          </a:xfrm>
        </p:grpSpPr>
        <p:sp>
          <p:nvSpPr>
            <p:cNvPr id="38" name="Google Shape;1315;p64">
              <a:extLst>
                <a:ext uri="{FF2B5EF4-FFF2-40B4-BE49-F238E27FC236}">
                  <a16:creationId xmlns:a16="http://schemas.microsoft.com/office/drawing/2014/main" id="{827C4FEF-C061-4570-B0F9-2286EF3E2D58}"/>
                </a:ext>
              </a:extLst>
            </p:cNvPr>
            <p:cNvSpPr txBox="1"/>
            <p:nvPr/>
          </p:nvSpPr>
          <p:spPr>
            <a:xfrm>
              <a:off x="7606875" y="4146150"/>
              <a:ext cx="5517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chemeClr val="accent2"/>
                  </a:solidFill>
                  <a:latin typeface="Consolas"/>
                  <a:ea typeface="Consolas"/>
                  <a:cs typeface="Consolas"/>
                  <a:sym typeface="Consolas"/>
                </a:rPr>
                <a:t>27K</a:t>
              </a:r>
              <a:endParaRPr sz="400">
                <a:solidFill>
                  <a:schemeClr val="accent2"/>
                </a:solidFill>
              </a:endParaRPr>
            </a:p>
          </p:txBody>
        </p:sp>
        <p:cxnSp>
          <p:nvCxnSpPr>
            <p:cNvPr id="39" name="Google Shape;1316;p64">
              <a:extLst>
                <a:ext uri="{FF2B5EF4-FFF2-40B4-BE49-F238E27FC236}">
                  <a16:creationId xmlns:a16="http://schemas.microsoft.com/office/drawing/2014/main" id="{64577D65-2BA6-4DE4-B8DD-F31150D0C75D}"/>
                </a:ext>
              </a:extLst>
            </p:cNvPr>
            <p:cNvCxnSpPr/>
            <p:nvPr/>
          </p:nvCxnSpPr>
          <p:spPr>
            <a:xfrm>
              <a:off x="8158575" y="4330350"/>
              <a:ext cx="551700" cy="9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40" name="Google Shape;1317;p64">
              <a:extLst>
                <a:ext uri="{FF2B5EF4-FFF2-40B4-BE49-F238E27FC236}">
                  <a16:creationId xmlns:a16="http://schemas.microsoft.com/office/drawing/2014/main" id="{C98CAFE1-B428-4697-B9E2-6D7C279D22A8}"/>
                </a:ext>
              </a:extLst>
            </p:cNvPr>
            <p:cNvCxnSpPr/>
            <p:nvPr/>
          </p:nvCxnSpPr>
          <p:spPr>
            <a:xfrm>
              <a:off x="9884300" y="4298413"/>
              <a:ext cx="4665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5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41" name="Google Shape;1318;p64">
              <a:extLst>
                <a:ext uri="{FF2B5EF4-FFF2-40B4-BE49-F238E27FC236}">
                  <a16:creationId xmlns:a16="http://schemas.microsoft.com/office/drawing/2014/main" id="{729C29FD-BC03-4866-B005-E7AD17330284}"/>
                </a:ext>
              </a:extLst>
            </p:cNvPr>
            <p:cNvGrpSpPr/>
            <p:nvPr/>
          </p:nvGrpSpPr>
          <p:grpSpPr>
            <a:xfrm>
              <a:off x="9884300" y="4298413"/>
              <a:ext cx="1638175" cy="373250"/>
              <a:chOff x="10399750" y="3474175"/>
              <a:chExt cx="1638175" cy="373250"/>
            </a:xfrm>
          </p:grpSpPr>
          <p:cxnSp>
            <p:nvCxnSpPr>
              <p:cNvPr id="54" name="Google Shape;1319;p64">
                <a:extLst>
                  <a:ext uri="{FF2B5EF4-FFF2-40B4-BE49-F238E27FC236}">
                    <a16:creationId xmlns:a16="http://schemas.microsoft.com/office/drawing/2014/main" id="{D3C0FB4F-F1EE-4ADF-A67B-FD211C7100B5}"/>
                  </a:ext>
                </a:extLst>
              </p:cNvPr>
              <p:cNvCxnSpPr/>
              <p:nvPr/>
            </p:nvCxnSpPr>
            <p:spPr>
              <a:xfrm>
                <a:off x="10399750" y="3808075"/>
                <a:ext cx="4665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5" name="Google Shape;1320;p64">
                <a:extLst>
                  <a:ext uri="{FF2B5EF4-FFF2-40B4-BE49-F238E27FC236}">
                    <a16:creationId xmlns:a16="http://schemas.microsoft.com/office/drawing/2014/main" id="{BC6932D8-B594-4963-A2C3-77227D503F00}"/>
                  </a:ext>
                </a:extLst>
              </p:cNvPr>
              <p:cNvCxnSpPr/>
              <p:nvPr/>
            </p:nvCxnSpPr>
            <p:spPr>
              <a:xfrm flipH="1">
                <a:off x="10492400" y="3474175"/>
                <a:ext cx="4800" cy="3438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2"/>
                </a:solidFill>
                <a:prstDash val="solid"/>
                <a:round/>
                <a:headEnd type="triangle" w="med" len="med"/>
                <a:tailEnd type="none" w="med" len="med"/>
              </a:ln>
            </p:spPr>
          </p:cxnSp>
          <p:sp>
            <p:nvSpPr>
              <p:cNvPr id="56" name="Google Shape;1321;p64">
                <a:extLst>
                  <a:ext uri="{FF2B5EF4-FFF2-40B4-BE49-F238E27FC236}">
                    <a16:creationId xmlns:a16="http://schemas.microsoft.com/office/drawing/2014/main" id="{30D0D1FE-34B5-429E-A798-D01CD3F02DDF}"/>
                  </a:ext>
                </a:extLst>
              </p:cNvPr>
              <p:cNvSpPr txBox="1"/>
              <p:nvPr/>
            </p:nvSpPr>
            <p:spPr>
              <a:xfrm>
                <a:off x="10521425" y="3478125"/>
                <a:ext cx="1516500" cy="369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200" dirty="0">
                    <a:solidFill>
                      <a:schemeClr val="accent2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1K (grows bg)</a:t>
                </a:r>
                <a:endParaRPr sz="400" dirty="0">
                  <a:solidFill>
                    <a:schemeClr val="accent2"/>
                  </a:solidFill>
                </a:endParaRPr>
              </a:p>
            </p:txBody>
          </p:sp>
        </p:grpSp>
        <p:sp>
          <p:nvSpPr>
            <p:cNvPr id="42" name="Google Shape;1322;p64">
              <a:extLst>
                <a:ext uri="{FF2B5EF4-FFF2-40B4-BE49-F238E27FC236}">
                  <a16:creationId xmlns:a16="http://schemas.microsoft.com/office/drawing/2014/main" id="{572B8A1F-7AAB-460A-885F-047D9301000D}"/>
                </a:ext>
              </a:extLst>
            </p:cNvPr>
            <p:cNvSpPr txBox="1"/>
            <p:nvPr/>
          </p:nvSpPr>
          <p:spPr>
            <a:xfrm>
              <a:off x="8158563" y="4428700"/>
              <a:ext cx="5517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latin typeface="Consolas"/>
                  <a:ea typeface="Consolas"/>
                  <a:cs typeface="Consolas"/>
                  <a:sym typeface="Consolas"/>
                </a:rPr>
                <a:t>28K</a:t>
              </a:r>
              <a:endParaRPr sz="400"/>
            </a:p>
          </p:txBody>
        </p:sp>
        <p:sp>
          <p:nvSpPr>
            <p:cNvPr id="43" name="Google Shape;1323;p64">
              <a:extLst>
                <a:ext uri="{FF2B5EF4-FFF2-40B4-BE49-F238E27FC236}">
                  <a16:creationId xmlns:a16="http://schemas.microsoft.com/office/drawing/2014/main" id="{B460E173-9356-4384-AC90-C436CC4DC41D}"/>
                </a:ext>
              </a:extLst>
            </p:cNvPr>
            <p:cNvSpPr txBox="1"/>
            <p:nvPr/>
          </p:nvSpPr>
          <p:spPr>
            <a:xfrm>
              <a:off x="8158563" y="3905313"/>
              <a:ext cx="5517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latin typeface="Consolas"/>
                  <a:ea typeface="Consolas"/>
                  <a:cs typeface="Consolas"/>
                  <a:sym typeface="Consolas"/>
                </a:rPr>
                <a:t>26K</a:t>
              </a:r>
              <a:endParaRPr sz="400"/>
            </a:p>
          </p:txBody>
        </p:sp>
        <p:grpSp>
          <p:nvGrpSpPr>
            <p:cNvPr id="44" name="Google Shape;1324;p64">
              <a:extLst>
                <a:ext uri="{FF2B5EF4-FFF2-40B4-BE49-F238E27FC236}">
                  <a16:creationId xmlns:a16="http://schemas.microsoft.com/office/drawing/2014/main" id="{9FBB7823-F5AF-4E17-98C6-1A02458888F5}"/>
                </a:ext>
              </a:extLst>
            </p:cNvPr>
            <p:cNvGrpSpPr/>
            <p:nvPr/>
          </p:nvGrpSpPr>
          <p:grpSpPr>
            <a:xfrm>
              <a:off x="8717550" y="3042163"/>
              <a:ext cx="1123200" cy="2287425"/>
              <a:chOff x="8717550" y="3042163"/>
              <a:chExt cx="1123200" cy="2287425"/>
            </a:xfrm>
          </p:grpSpPr>
          <p:grpSp>
            <p:nvGrpSpPr>
              <p:cNvPr id="45" name="Google Shape;1325;p64">
                <a:extLst>
                  <a:ext uri="{FF2B5EF4-FFF2-40B4-BE49-F238E27FC236}">
                    <a16:creationId xmlns:a16="http://schemas.microsoft.com/office/drawing/2014/main" id="{EDEF9C64-1FAD-41D5-B561-2F5773FD7117}"/>
                  </a:ext>
                </a:extLst>
              </p:cNvPr>
              <p:cNvGrpSpPr/>
              <p:nvPr/>
            </p:nvGrpSpPr>
            <p:grpSpPr>
              <a:xfrm>
                <a:off x="8718675" y="3443525"/>
                <a:ext cx="1122000" cy="1575000"/>
                <a:chOff x="8718675" y="3443525"/>
                <a:chExt cx="1122000" cy="1575000"/>
              </a:xfrm>
            </p:grpSpPr>
            <p:sp>
              <p:nvSpPr>
                <p:cNvPr id="50" name="Google Shape;1326;p64">
                  <a:extLst>
                    <a:ext uri="{FF2B5EF4-FFF2-40B4-BE49-F238E27FC236}">
                      <a16:creationId xmlns:a16="http://schemas.microsoft.com/office/drawing/2014/main" id="{E39BD65D-5775-4E29-96D2-AA56CD788211}"/>
                    </a:ext>
                  </a:extLst>
                </p:cNvPr>
                <p:cNvSpPr/>
                <p:nvPr/>
              </p:nvSpPr>
              <p:spPr>
                <a:xfrm>
                  <a:off x="8718675" y="3443525"/>
                  <a:ext cx="1122000" cy="1575000"/>
                </a:xfrm>
                <a:prstGeom prst="rect">
                  <a:avLst/>
                </a:prstGeom>
                <a:solidFill>
                  <a:srgbClr val="EFEFEF"/>
                </a:solidFill>
                <a:ln w="19050" cap="flat" cmpd="sng">
                  <a:solidFill>
                    <a:srgbClr val="000000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grpSp>
              <p:nvGrpSpPr>
                <p:cNvPr id="51" name="Google Shape;1327;p64">
                  <a:extLst>
                    <a:ext uri="{FF2B5EF4-FFF2-40B4-BE49-F238E27FC236}">
                      <a16:creationId xmlns:a16="http://schemas.microsoft.com/office/drawing/2014/main" id="{46220097-637E-4AD0-A578-0A991138C21F}"/>
                    </a:ext>
                  </a:extLst>
                </p:cNvPr>
                <p:cNvGrpSpPr/>
                <p:nvPr/>
              </p:nvGrpSpPr>
              <p:grpSpPr>
                <a:xfrm>
                  <a:off x="8718675" y="3503776"/>
                  <a:ext cx="1122000" cy="1117847"/>
                  <a:chOff x="8718675" y="3503776"/>
                  <a:chExt cx="1122000" cy="1117847"/>
                </a:xfrm>
              </p:grpSpPr>
              <p:sp>
                <p:nvSpPr>
                  <p:cNvPr id="52" name="Google Shape;1328;p64">
                    <a:extLst>
                      <a:ext uri="{FF2B5EF4-FFF2-40B4-BE49-F238E27FC236}">
                        <a16:creationId xmlns:a16="http://schemas.microsoft.com/office/drawing/2014/main" id="{29BA32B9-BB44-4A06-8A34-B486F52725F7}"/>
                      </a:ext>
                    </a:extLst>
                  </p:cNvPr>
                  <p:cNvSpPr/>
                  <p:nvPr/>
                </p:nvSpPr>
                <p:spPr>
                  <a:xfrm>
                    <a:off x="8718675" y="4076524"/>
                    <a:ext cx="1122000" cy="545100"/>
                  </a:xfrm>
                  <a:prstGeom prst="rect">
                    <a:avLst/>
                  </a:prstGeom>
                  <a:solidFill>
                    <a:srgbClr val="FFE599"/>
                  </a:solidFill>
                  <a:ln w="19050" cap="flat" cmpd="sng">
                    <a:solidFill>
                      <a:srgbClr val="000000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es-ES" sz="1600" b="1" dirty="0">
                        <a:latin typeface="Courier New"/>
                        <a:ea typeface="Courier New"/>
                        <a:cs typeface="Courier New"/>
                        <a:sym typeface="Courier New"/>
                      </a:rPr>
                      <a:t>stack</a:t>
                    </a:r>
                    <a:endParaRPr sz="2200" dirty="0"/>
                  </a:p>
                </p:txBody>
              </p:sp>
              <p:cxnSp>
                <p:nvCxnSpPr>
                  <p:cNvPr id="53" name="Google Shape;1329;p64">
                    <a:extLst>
                      <a:ext uri="{FF2B5EF4-FFF2-40B4-BE49-F238E27FC236}">
                        <a16:creationId xmlns:a16="http://schemas.microsoft.com/office/drawing/2014/main" id="{4F5A8B86-E65D-4942-8F1A-B1BDC1B09594}"/>
                      </a:ext>
                    </a:extLst>
                  </p:cNvPr>
                  <p:cNvCxnSpPr/>
                  <p:nvPr/>
                </p:nvCxnSpPr>
                <p:spPr>
                  <a:xfrm>
                    <a:off x="9275572" y="3503776"/>
                    <a:ext cx="7200" cy="577200"/>
                  </a:xfrm>
                  <a:prstGeom prst="straightConnector1">
                    <a:avLst/>
                  </a:prstGeom>
                  <a:noFill/>
                  <a:ln w="9525" cap="flat" cmpd="sng">
                    <a:solidFill>
                      <a:srgbClr val="000000"/>
                    </a:solidFill>
                    <a:prstDash val="solid"/>
                    <a:round/>
                    <a:headEnd type="triangle" w="med" len="med"/>
                    <a:tailEnd type="none" w="med" len="med"/>
                  </a:ln>
                </p:spPr>
              </p:cxnSp>
            </p:grpSp>
          </p:grpSp>
          <p:cxnSp>
            <p:nvCxnSpPr>
              <p:cNvPr id="46" name="Google Shape;1330;p64">
                <a:extLst>
                  <a:ext uri="{FF2B5EF4-FFF2-40B4-BE49-F238E27FC236}">
                    <a16:creationId xmlns:a16="http://schemas.microsoft.com/office/drawing/2014/main" id="{EA023EEB-55A2-4F85-ADB7-7B0F36F1ED5D}"/>
                  </a:ext>
                </a:extLst>
              </p:cNvPr>
              <p:cNvCxnSpPr/>
              <p:nvPr/>
            </p:nvCxnSpPr>
            <p:spPr>
              <a:xfrm rot="10800000">
                <a:off x="8717575" y="3042888"/>
                <a:ext cx="0" cy="4665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7" name="Google Shape;1331;p64">
                <a:extLst>
                  <a:ext uri="{FF2B5EF4-FFF2-40B4-BE49-F238E27FC236}">
                    <a16:creationId xmlns:a16="http://schemas.microsoft.com/office/drawing/2014/main" id="{C9C3B2CF-F93B-4A16-A3F0-A7EF5E5994C3}"/>
                  </a:ext>
                </a:extLst>
              </p:cNvPr>
              <p:cNvCxnSpPr/>
              <p:nvPr/>
            </p:nvCxnSpPr>
            <p:spPr>
              <a:xfrm rot="10800000">
                <a:off x="9840750" y="3042163"/>
                <a:ext cx="0" cy="4665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8" name="Google Shape;1332;p64">
                <a:extLst>
                  <a:ext uri="{FF2B5EF4-FFF2-40B4-BE49-F238E27FC236}">
                    <a16:creationId xmlns:a16="http://schemas.microsoft.com/office/drawing/2014/main" id="{8F8B6C6B-0DF4-4871-9636-6E7A8E8221B2}"/>
                  </a:ext>
                </a:extLst>
              </p:cNvPr>
              <p:cNvCxnSpPr/>
              <p:nvPr/>
            </p:nvCxnSpPr>
            <p:spPr>
              <a:xfrm rot="10800000">
                <a:off x="8717550" y="4863088"/>
                <a:ext cx="0" cy="4665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" name="Google Shape;1333;p64">
                <a:extLst>
                  <a:ext uri="{FF2B5EF4-FFF2-40B4-BE49-F238E27FC236}">
                    <a16:creationId xmlns:a16="http://schemas.microsoft.com/office/drawing/2014/main" id="{7EA4AA23-C266-4B4B-96DD-8ECDFFBFFB71}"/>
                  </a:ext>
                </a:extLst>
              </p:cNvPr>
              <p:cNvCxnSpPr/>
              <p:nvPr/>
            </p:nvCxnSpPr>
            <p:spPr>
              <a:xfrm rot="10800000">
                <a:off x="9840750" y="4829738"/>
                <a:ext cx="0" cy="4665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1" name="Google Shape;1281;p64"/>
          <p:cNvSpPr txBox="1">
            <a:spLocks noGrp="1"/>
          </p:cNvSpPr>
          <p:nvPr>
            <p:ph type="title"/>
          </p:nvPr>
        </p:nvSpPr>
        <p:spPr>
          <a:xfrm>
            <a:off x="355600" y="96038"/>
            <a:ext cx="886505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b="0" dirty="0">
                <a:latin typeface="+mj-lt"/>
              </a:rPr>
              <a:t>Traducción de direcciones (II)</a:t>
            </a:r>
            <a:endParaRPr b="0" dirty="0">
              <a:latin typeface="+mj-lt"/>
            </a:endParaRPr>
          </a:p>
        </p:txBody>
      </p:sp>
      <p:sp>
        <p:nvSpPr>
          <p:cNvPr id="1282" name="Google Shape;1282;p64"/>
          <p:cNvSpPr txBox="1">
            <a:spLocks noGrp="1"/>
          </p:cNvSpPr>
          <p:nvPr>
            <p:ph type="body" idx="1"/>
          </p:nvPr>
        </p:nvSpPr>
        <p:spPr>
          <a:xfrm>
            <a:off x="526100" y="934689"/>
            <a:ext cx="6611300" cy="588798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800" b="1" dirty="0">
                <a:solidFill>
                  <a:schemeClr val="accent1"/>
                </a:solidFill>
                <a:latin typeface="+mn-lt"/>
              </a:rPr>
              <a:t>Ejemplo</a:t>
            </a:r>
            <a:endParaRPr sz="2800" dirty="0">
              <a:solidFill>
                <a:schemeClr val="accent1"/>
              </a:solidFill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  <a:ea typeface="Consolas"/>
              <a:cs typeface="Consolas"/>
              <a:sym typeface="Consolas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</p:txBody>
      </p:sp>
      <p:grpSp>
        <p:nvGrpSpPr>
          <p:cNvPr id="1283" name="Google Shape;1283;p64"/>
          <p:cNvGrpSpPr/>
          <p:nvPr/>
        </p:nvGrpSpPr>
        <p:grpSpPr>
          <a:xfrm>
            <a:off x="1065325" y="3503763"/>
            <a:ext cx="4019425" cy="2108288"/>
            <a:chOff x="8074225" y="3809775"/>
            <a:chExt cx="4019425" cy="2108288"/>
          </a:xfrm>
        </p:grpSpPr>
        <p:sp>
          <p:nvSpPr>
            <p:cNvPr id="1284" name="Google Shape;1284;p64"/>
            <p:cNvSpPr txBox="1"/>
            <p:nvPr/>
          </p:nvSpPr>
          <p:spPr>
            <a:xfrm>
              <a:off x="8117250" y="5337613"/>
              <a:ext cx="5517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chemeClr val="accent2"/>
                  </a:solidFill>
                  <a:latin typeface="Consolas"/>
                  <a:ea typeface="Consolas"/>
                  <a:cs typeface="Consolas"/>
                  <a:sym typeface="Consolas"/>
                </a:rPr>
                <a:t>15K</a:t>
              </a:r>
              <a:endParaRPr sz="400">
                <a:solidFill>
                  <a:schemeClr val="accent2"/>
                </a:solidFill>
              </a:endParaRPr>
            </a:p>
          </p:txBody>
        </p:sp>
        <p:cxnSp>
          <p:nvCxnSpPr>
            <p:cNvPr id="1285" name="Google Shape;1285;p64"/>
            <p:cNvCxnSpPr/>
            <p:nvPr/>
          </p:nvCxnSpPr>
          <p:spPr>
            <a:xfrm>
              <a:off x="8668950" y="5521813"/>
              <a:ext cx="551700" cy="9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286" name="Google Shape;1286;p64"/>
            <p:cNvCxnSpPr/>
            <p:nvPr/>
          </p:nvCxnSpPr>
          <p:spPr>
            <a:xfrm>
              <a:off x="10417375" y="5479550"/>
              <a:ext cx="4665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5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1287" name="Google Shape;1287;p64"/>
            <p:cNvGrpSpPr/>
            <p:nvPr/>
          </p:nvGrpSpPr>
          <p:grpSpPr>
            <a:xfrm>
              <a:off x="10417375" y="5475600"/>
              <a:ext cx="1638175" cy="373250"/>
              <a:chOff x="10399750" y="3474175"/>
              <a:chExt cx="1638175" cy="373250"/>
            </a:xfrm>
          </p:grpSpPr>
          <p:cxnSp>
            <p:nvCxnSpPr>
              <p:cNvPr id="1288" name="Google Shape;1288;p64"/>
              <p:cNvCxnSpPr/>
              <p:nvPr/>
            </p:nvCxnSpPr>
            <p:spPr>
              <a:xfrm>
                <a:off x="10399750" y="3808075"/>
                <a:ext cx="4665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89" name="Google Shape;1289;p64"/>
              <p:cNvCxnSpPr/>
              <p:nvPr/>
            </p:nvCxnSpPr>
            <p:spPr>
              <a:xfrm flipH="1">
                <a:off x="10492400" y="3474175"/>
                <a:ext cx="4800" cy="3438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2"/>
                </a:solidFill>
                <a:prstDash val="solid"/>
                <a:round/>
                <a:headEnd type="triangle" w="med" len="med"/>
                <a:tailEnd type="none" w="med" len="med"/>
              </a:ln>
            </p:spPr>
          </p:cxnSp>
          <p:sp>
            <p:nvSpPr>
              <p:cNvPr id="1290" name="Google Shape;1290;p64"/>
              <p:cNvSpPr txBox="1"/>
              <p:nvPr/>
            </p:nvSpPr>
            <p:spPr>
              <a:xfrm>
                <a:off x="10521425" y="3478125"/>
                <a:ext cx="1516500" cy="369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200" dirty="0">
                    <a:solidFill>
                      <a:schemeClr val="accent2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1K (grows bg)</a:t>
                </a:r>
                <a:endParaRPr sz="400" dirty="0">
                  <a:solidFill>
                    <a:schemeClr val="accent2"/>
                  </a:solidFill>
                </a:endParaRPr>
              </a:p>
            </p:txBody>
          </p:sp>
        </p:grpSp>
        <p:sp>
          <p:nvSpPr>
            <p:cNvPr id="1291" name="Google Shape;1291;p64"/>
            <p:cNvSpPr/>
            <p:nvPr/>
          </p:nvSpPr>
          <p:spPr>
            <a:xfrm>
              <a:off x="9237475" y="4211149"/>
              <a:ext cx="1122000" cy="1619400"/>
            </a:xfrm>
            <a:prstGeom prst="rect">
              <a:avLst/>
            </a:prstGeom>
            <a:solidFill>
              <a:srgbClr val="EFEFEF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292" name="Google Shape;1292;p64"/>
            <p:cNvGrpSpPr/>
            <p:nvPr/>
          </p:nvGrpSpPr>
          <p:grpSpPr>
            <a:xfrm>
              <a:off x="9236734" y="4617139"/>
              <a:ext cx="1122049" cy="1211850"/>
              <a:chOff x="7945421" y="3489015"/>
              <a:chExt cx="1076100" cy="548621"/>
            </a:xfrm>
          </p:grpSpPr>
          <p:sp>
            <p:nvSpPr>
              <p:cNvPr id="1293" name="Google Shape;1293;p64"/>
              <p:cNvSpPr/>
              <p:nvPr/>
            </p:nvSpPr>
            <p:spPr>
              <a:xfrm>
                <a:off x="7945421" y="3753236"/>
                <a:ext cx="1076100" cy="284400"/>
              </a:xfrm>
              <a:prstGeom prst="rect">
                <a:avLst/>
              </a:prstGeom>
              <a:solidFill>
                <a:srgbClr val="FFE599"/>
              </a:solidFill>
              <a:ln w="19050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 b="1" dirty="0">
                    <a:latin typeface="Courier New"/>
                    <a:ea typeface="Courier New"/>
                    <a:cs typeface="Courier New"/>
                    <a:sym typeface="Courier New"/>
                  </a:rPr>
                  <a:t>stack</a:t>
                </a:r>
                <a:endParaRPr sz="2200" dirty="0"/>
              </a:p>
            </p:txBody>
          </p:sp>
          <p:cxnSp>
            <p:nvCxnSpPr>
              <p:cNvPr id="1294" name="Google Shape;1294;p64"/>
              <p:cNvCxnSpPr/>
              <p:nvPr/>
            </p:nvCxnSpPr>
            <p:spPr>
              <a:xfrm>
                <a:off x="8480006" y="3489015"/>
                <a:ext cx="6900" cy="2613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00000"/>
                </a:solidFill>
                <a:prstDash val="solid"/>
                <a:round/>
                <a:headEnd type="triangle" w="med" len="med"/>
                <a:tailEnd type="none" w="med" len="med"/>
              </a:ln>
            </p:spPr>
          </p:cxnSp>
        </p:grpSp>
        <p:cxnSp>
          <p:nvCxnSpPr>
            <p:cNvPr id="1295" name="Google Shape;1295;p64"/>
            <p:cNvCxnSpPr/>
            <p:nvPr/>
          </p:nvCxnSpPr>
          <p:spPr>
            <a:xfrm rot="10800000">
              <a:off x="9236375" y="3810500"/>
              <a:ext cx="0" cy="4665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96" name="Google Shape;1296;p64"/>
            <p:cNvCxnSpPr/>
            <p:nvPr/>
          </p:nvCxnSpPr>
          <p:spPr>
            <a:xfrm rot="10800000">
              <a:off x="10359550" y="3809775"/>
              <a:ext cx="0" cy="4665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97" name="Google Shape;1297;p64"/>
            <p:cNvCxnSpPr/>
            <p:nvPr/>
          </p:nvCxnSpPr>
          <p:spPr>
            <a:xfrm>
              <a:off x="10417375" y="4201225"/>
              <a:ext cx="466500" cy="0"/>
            </a:xfrm>
            <a:prstGeom prst="straightConnector1">
              <a:avLst/>
            </a:prstGeom>
            <a:noFill/>
            <a:ln w="19050" cap="flat" cmpd="sng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98" name="Google Shape;1298;p64"/>
            <p:cNvCxnSpPr/>
            <p:nvPr/>
          </p:nvCxnSpPr>
          <p:spPr>
            <a:xfrm flipH="1">
              <a:off x="10507800" y="4201225"/>
              <a:ext cx="21300" cy="1271700"/>
            </a:xfrm>
            <a:prstGeom prst="straightConnector1">
              <a:avLst/>
            </a:prstGeom>
            <a:noFill/>
            <a:ln w="19050" cap="flat" cmpd="sng">
              <a:solidFill>
                <a:srgbClr val="FF0000"/>
              </a:solidFill>
              <a:prstDash val="solid"/>
              <a:round/>
              <a:headEnd type="triangle" w="med" len="med"/>
              <a:tailEnd type="triangle" w="med" len="med"/>
            </a:ln>
          </p:spPr>
        </p:cxnSp>
        <p:sp>
          <p:nvSpPr>
            <p:cNvPr id="1299" name="Google Shape;1299;p64"/>
            <p:cNvSpPr txBox="1"/>
            <p:nvPr/>
          </p:nvSpPr>
          <p:spPr>
            <a:xfrm>
              <a:off x="10577150" y="4588400"/>
              <a:ext cx="15165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3K (offset)</a:t>
              </a:r>
              <a:endParaRPr sz="400">
                <a:solidFill>
                  <a:srgbClr val="FF0000"/>
                </a:solidFill>
              </a:endParaRPr>
            </a:p>
          </p:txBody>
        </p:sp>
        <p:cxnSp>
          <p:nvCxnSpPr>
            <p:cNvPr id="1300" name="Google Shape;1300;p64"/>
            <p:cNvCxnSpPr/>
            <p:nvPr/>
          </p:nvCxnSpPr>
          <p:spPr>
            <a:xfrm rot="10800000" flipH="1">
              <a:off x="8074225" y="4200025"/>
              <a:ext cx="1085700" cy="2400"/>
            </a:xfrm>
            <a:prstGeom prst="straightConnector1">
              <a:avLst/>
            </a:prstGeom>
            <a:noFill/>
            <a:ln w="19050" cap="flat" cmpd="sng">
              <a:solidFill>
                <a:schemeClr val="accent5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01" name="Google Shape;1301;p64"/>
            <p:cNvCxnSpPr/>
            <p:nvPr/>
          </p:nvCxnSpPr>
          <p:spPr>
            <a:xfrm rot="10800000" flipH="1">
              <a:off x="8092425" y="5829000"/>
              <a:ext cx="1085700" cy="2400"/>
            </a:xfrm>
            <a:prstGeom prst="straightConnector1">
              <a:avLst/>
            </a:prstGeom>
            <a:noFill/>
            <a:ln w="19050" cap="flat" cmpd="sng">
              <a:solidFill>
                <a:schemeClr val="accent5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02" name="Google Shape;1302;p64"/>
            <p:cNvCxnSpPr/>
            <p:nvPr/>
          </p:nvCxnSpPr>
          <p:spPr>
            <a:xfrm flipH="1">
              <a:off x="8202725" y="4218000"/>
              <a:ext cx="23700" cy="1611000"/>
            </a:xfrm>
            <a:prstGeom prst="straightConnector1">
              <a:avLst/>
            </a:prstGeom>
            <a:noFill/>
            <a:ln w="19050" cap="flat" cmpd="sng">
              <a:solidFill>
                <a:schemeClr val="accent5"/>
              </a:solidFill>
              <a:prstDash val="solid"/>
              <a:round/>
              <a:headEnd type="triangle" w="med" len="med"/>
              <a:tailEnd type="triangle" w="med" len="med"/>
            </a:ln>
          </p:spPr>
        </p:cxnSp>
        <p:sp>
          <p:nvSpPr>
            <p:cNvPr id="1303" name="Google Shape;1303;p64"/>
            <p:cNvSpPr txBox="1"/>
            <p:nvPr/>
          </p:nvSpPr>
          <p:spPr>
            <a:xfrm>
              <a:off x="8262575" y="4714775"/>
              <a:ext cx="8541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 dirty="0">
                  <a:solidFill>
                    <a:schemeClr val="accent5"/>
                  </a:solidFill>
                  <a:latin typeface="Consolas"/>
                  <a:ea typeface="Consolas"/>
                  <a:cs typeface="Consolas"/>
                  <a:sym typeface="Consolas"/>
                </a:rPr>
                <a:t>4K (max)</a:t>
              </a:r>
              <a:endParaRPr sz="400" dirty="0">
                <a:solidFill>
                  <a:schemeClr val="accent5"/>
                </a:solidFill>
              </a:endParaRPr>
            </a:p>
          </p:txBody>
        </p:sp>
        <p:sp>
          <p:nvSpPr>
            <p:cNvPr id="1304" name="Google Shape;1304;p64"/>
            <p:cNvSpPr txBox="1"/>
            <p:nvPr/>
          </p:nvSpPr>
          <p:spPr>
            <a:xfrm>
              <a:off x="8677363" y="5548763"/>
              <a:ext cx="5517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latin typeface="Consolas"/>
                  <a:ea typeface="Consolas"/>
                  <a:cs typeface="Consolas"/>
                  <a:sym typeface="Consolas"/>
                </a:rPr>
                <a:t>16K</a:t>
              </a:r>
              <a:endParaRPr sz="400"/>
            </a:p>
          </p:txBody>
        </p:sp>
        <p:sp>
          <p:nvSpPr>
            <p:cNvPr id="1305" name="Google Shape;1305;p64"/>
            <p:cNvSpPr txBox="1"/>
            <p:nvPr/>
          </p:nvSpPr>
          <p:spPr>
            <a:xfrm>
              <a:off x="8677363" y="5084063"/>
              <a:ext cx="5517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latin typeface="Consolas"/>
                  <a:ea typeface="Consolas"/>
                  <a:cs typeface="Consolas"/>
                  <a:sym typeface="Consolas"/>
                </a:rPr>
                <a:t>14K</a:t>
              </a:r>
              <a:endParaRPr sz="400"/>
            </a:p>
          </p:txBody>
        </p:sp>
      </p:grpSp>
      <p:graphicFrame>
        <p:nvGraphicFramePr>
          <p:cNvPr id="1306" name="Google Shape;1306;p64"/>
          <p:cNvGraphicFramePr/>
          <p:nvPr>
            <p:extLst>
              <p:ext uri="{D42A27DB-BD31-4B8C-83A1-F6EECF244321}">
                <p14:modId xmlns:p14="http://schemas.microsoft.com/office/powerpoint/2010/main" val="2553284012"/>
              </p:ext>
            </p:extLst>
          </p:nvPr>
        </p:nvGraphicFramePr>
        <p:xfrm>
          <a:off x="1058175" y="1571813"/>
          <a:ext cx="6032950" cy="807690"/>
        </p:xfrm>
        <a:graphic>
          <a:graphicData uri="http://schemas.openxmlformats.org/drawingml/2006/table">
            <a:tbl>
              <a:tblPr>
                <a:noFill/>
                <a:tableStyleId>{CA5C7703-E2AC-41A6-8DEA-2D5C455BA520}</a:tableStyleId>
              </a:tblPr>
              <a:tblGrid>
                <a:gridCol w="430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13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12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11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10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9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8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1</a:t>
                      </a:r>
                      <a:endParaRPr sz="1600" b="1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1</a:t>
                      </a:r>
                      <a:endParaRPr sz="1600" b="1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1</a:t>
                      </a:r>
                      <a:endParaRPr sz="1600" b="1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1</a:t>
                      </a:r>
                      <a:endParaRPr sz="1600" b="1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sz="1600" b="1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sz="1600" b="1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sz="1600" b="1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sz="1600" b="1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sz="1600" b="1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sz="1600" b="1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sz="1600" b="1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sz="1600" b="1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sz="1600" b="1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sz="1600" b="1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307" name="Google Shape;1307;p64"/>
          <p:cNvSpPr txBox="1"/>
          <p:nvPr/>
        </p:nvSpPr>
        <p:spPr>
          <a:xfrm>
            <a:off x="526100" y="1924963"/>
            <a:ext cx="5130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b="1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VA</a:t>
            </a:r>
            <a:endParaRPr sz="1800" b="1"/>
          </a:p>
        </p:txBody>
      </p:sp>
      <p:sp>
        <p:nvSpPr>
          <p:cNvPr id="1308" name="Google Shape;1308;p64"/>
          <p:cNvSpPr/>
          <p:nvPr/>
        </p:nvSpPr>
        <p:spPr>
          <a:xfrm rot="5400000">
            <a:off x="4366875" y="-6437"/>
            <a:ext cx="281100" cy="5190300"/>
          </a:xfrm>
          <a:prstGeom prst="rightBrace">
            <a:avLst>
              <a:gd name="adj1" fmla="val 50000"/>
              <a:gd name="adj2" fmla="val 49405"/>
            </a:avLst>
          </a:prstGeom>
          <a:noFill/>
          <a:ln w="190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9" name="Google Shape;1309;p64"/>
          <p:cNvSpPr txBox="1"/>
          <p:nvPr/>
        </p:nvSpPr>
        <p:spPr>
          <a:xfrm>
            <a:off x="3828825" y="2714788"/>
            <a:ext cx="1357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dirty="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offset</a:t>
            </a:r>
            <a:endParaRPr sz="1800" dirty="0">
              <a:solidFill>
                <a:srgbClr val="FF0000"/>
              </a:solidFill>
            </a:endParaRPr>
          </a:p>
        </p:txBody>
      </p:sp>
      <p:sp>
        <p:nvSpPr>
          <p:cNvPr id="1310" name="Google Shape;1310;p64"/>
          <p:cNvSpPr/>
          <p:nvPr/>
        </p:nvSpPr>
        <p:spPr>
          <a:xfrm rot="5400000">
            <a:off x="1325588" y="2161663"/>
            <a:ext cx="281100" cy="854100"/>
          </a:xfrm>
          <a:prstGeom prst="rightBrace">
            <a:avLst>
              <a:gd name="adj1" fmla="val 50000"/>
              <a:gd name="adj2" fmla="val 49405"/>
            </a:avLst>
          </a:prstGeom>
          <a:noFill/>
          <a:ln w="19050" cap="flat" cmpd="sng">
            <a:solidFill>
              <a:srgbClr val="00B05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11" name="Google Shape;1311;p64"/>
          <p:cNvSpPr txBox="1"/>
          <p:nvPr/>
        </p:nvSpPr>
        <p:spPr>
          <a:xfrm>
            <a:off x="787550" y="2714788"/>
            <a:ext cx="1357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dirty="0">
                <a:solidFill>
                  <a:srgbClr val="00B050"/>
                </a:solidFill>
                <a:latin typeface="Consolas"/>
                <a:ea typeface="Consolas"/>
                <a:cs typeface="Consolas"/>
                <a:sym typeface="Consolas"/>
              </a:rPr>
              <a:t>heap</a:t>
            </a:r>
            <a:endParaRPr sz="1800" dirty="0">
              <a:solidFill>
                <a:srgbClr val="00B050"/>
              </a:solidFill>
            </a:endParaRPr>
          </a:p>
        </p:txBody>
      </p:sp>
      <p:graphicFrame>
        <p:nvGraphicFramePr>
          <p:cNvPr id="1312" name="Google Shape;1312;p64"/>
          <p:cNvGraphicFramePr/>
          <p:nvPr>
            <p:extLst>
              <p:ext uri="{D42A27DB-BD31-4B8C-83A1-F6EECF244321}">
                <p14:modId xmlns:p14="http://schemas.microsoft.com/office/powerpoint/2010/main" val="347050475"/>
              </p:ext>
            </p:extLst>
          </p:nvPr>
        </p:nvGraphicFramePr>
        <p:xfrm>
          <a:off x="1178059" y="5802239"/>
          <a:ext cx="7802800" cy="838170"/>
        </p:xfrm>
        <a:graphic>
          <a:graphicData uri="http://schemas.openxmlformats.org/drawingml/2006/table">
            <a:tbl>
              <a:tblPr>
                <a:noFill/>
                <a:tableStyleId>{CA5C7703-E2AC-41A6-8DEA-2D5C455BA520}</a:tableStyleId>
              </a:tblPr>
              <a:tblGrid>
                <a:gridCol w="487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76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76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876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76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876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876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876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876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876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8767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87675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87675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487675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487675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487675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15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14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13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12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11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10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9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8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/>
                        <a:t>0</a:t>
                      </a: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dirty="0"/>
                        <a:t>1</a:t>
                      </a:r>
                      <a:endParaRPr dirty="0"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/>
                        <a:t>1</a:t>
                      </a: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/>
                        <a:t>0</a:t>
                      </a: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/>
                        <a:t>1</a:t>
                      </a: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/>
                        <a:t>1</a:t>
                      </a: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/>
                        <a:t>0</a:t>
                      </a: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/>
                        <a:t>0</a:t>
                      </a: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/>
                        <a:t>0</a:t>
                      </a: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/>
                        <a:t>0</a:t>
                      </a: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/>
                        <a:t>0</a:t>
                      </a: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/>
                        <a:t>0</a:t>
                      </a: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sz="1600" b="1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sz="1600" b="1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sz="1600" b="1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sz="1600" b="1" dirty="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313" name="Google Shape;1313;p64"/>
          <p:cNvSpPr txBox="1"/>
          <p:nvPr/>
        </p:nvSpPr>
        <p:spPr>
          <a:xfrm>
            <a:off x="526088" y="6194233"/>
            <a:ext cx="5130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b="1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PA</a:t>
            </a:r>
            <a:endParaRPr sz="1800" b="1"/>
          </a:p>
        </p:txBody>
      </p:sp>
      <p:grpSp>
        <p:nvGrpSpPr>
          <p:cNvPr id="1314" name="Google Shape;1314;p64"/>
          <p:cNvGrpSpPr/>
          <p:nvPr/>
        </p:nvGrpSpPr>
        <p:grpSpPr>
          <a:xfrm>
            <a:off x="7916425" y="3414188"/>
            <a:ext cx="3915600" cy="2287425"/>
            <a:chOff x="7606875" y="3042163"/>
            <a:chExt cx="3915600" cy="2287425"/>
          </a:xfrm>
        </p:grpSpPr>
        <p:sp>
          <p:nvSpPr>
            <p:cNvPr id="1315" name="Google Shape;1315;p64"/>
            <p:cNvSpPr txBox="1"/>
            <p:nvPr/>
          </p:nvSpPr>
          <p:spPr>
            <a:xfrm>
              <a:off x="7606875" y="4146150"/>
              <a:ext cx="5517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chemeClr val="accent2"/>
                  </a:solidFill>
                  <a:latin typeface="Consolas"/>
                  <a:ea typeface="Consolas"/>
                  <a:cs typeface="Consolas"/>
                  <a:sym typeface="Consolas"/>
                </a:rPr>
                <a:t>27K</a:t>
              </a:r>
              <a:endParaRPr sz="400">
                <a:solidFill>
                  <a:schemeClr val="accent2"/>
                </a:solidFill>
              </a:endParaRPr>
            </a:p>
          </p:txBody>
        </p:sp>
        <p:cxnSp>
          <p:nvCxnSpPr>
            <p:cNvPr id="1316" name="Google Shape;1316;p64"/>
            <p:cNvCxnSpPr/>
            <p:nvPr/>
          </p:nvCxnSpPr>
          <p:spPr>
            <a:xfrm>
              <a:off x="8158575" y="4330350"/>
              <a:ext cx="551700" cy="9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317" name="Google Shape;1317;p64"/>
            <p:cNvCxnSpPr/>
            <p:nvPr/>
          </p:nvCxnSpPr>
          <p:spPr>
            <a:xfrm>
              <a:off x="9884300" y="4298413"/>
              <a:ext cx="4665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5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1318" name="Google Shape;1318;p64"/>
            <p:cNvGrpSpPr/>
            <p:nvPr/>
          </p:nvGrpSpPr>
          <p:grpSpPr>
            <a:xfrm>
              <a:off x="9884300" y="4298413"/>
              <a:ext cx="1638175" cy="373250"/>
              <a:chOff x="10399750" y="3474175"/>
              <a:chExt cx="1638175" cy="373250"/>
            </a:xfrm>
          </p:grpSpPr>
          <p:cxnSp>
            <p:nvCxnSpPr>
              <p:cNvPr id="1319" name="Google Shape;1319;p64"/>
              <p:cNvCxnSpPr/>
              <p:nvPr/>
            </p:nvCxnSpPr>
            <p:spPr>
              <a:xfrm>
                <a:off x="10399750" y="3808075"/>
                <a:ext cx="4665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20" name="Google Shape;1320;p64"/>
              <p:cNvCxnSpPr/>
              <p:nvPr/>
            </p:nvCxnSpPr>
            <p:spPr>
              <a:xfrm flipH="1">
                <a:off x="10492400" y="3474175"/>
                <a:ext cx="4800" cy="3438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2"/>
                </a:solidFill>
                <a:prstDash val="solid"/>
                <a:round/>
                <a:headEnd type="triangle" w="med" len="med"/>
                <a:tailEnd type="none" w="med" len="med"/>
              </a:ln>
            </p:spPr>
          </p:cxnSp>
          <p:sp>
            <p:nvSpPr>
              <p:cNvPr id="1321" name="Google Shape;1321;p64"/>
              <p:cNvSpPr txBox="1"/>
              <p:nvPr/>
            </p:nvSpPr>
            <p:spPr>
              <a:xfrm>
                <a:off x="10521425" y="3478125"/>
                <a:ext cx="1516500" cy="369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200" dirty="0">
                    <a:solidFill>
                      <a:schemeClr val="accent2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1K (grows bg)</a:t>
                </a:r>
                <a:endParaRPr sz="400" dirty="0">
                  <a:solidFill>
                    <a:schemeClr val="accent2"/>
                  </a:solidFill>
                </a:endParaRPr>
              </a:p>
            </p:txBody>
          </p:sp>
        </p:grpSp>
        <p:sp>
          <p:nvSpPr>
            <p:cNvPr id="1322" name="Google Shape;1322;p64"/>
            <p:cNvSpPr txBox="1"/>
            <p:nvPr/>
          </p:nvSpPr>
          <p:spPr>
            <a:xfrm>
              <a:off x="8158563" y="4428700"/>
              <a:ext cx="5517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latin typeface="Consolas"/>
                  <a:ea typeface="Consolas"/>
                  <a:cs typeface="Consolas"/>
                  <a:sym typeface="Consolas"/>
                </a:rPr>
                <a:t>28K</a:t>
              </a:r>
              <a:endParaRPr sz="400"/>
            </a:p>
          </p:txBody>
        </p:sp>
        <p:sp>
          <p:nvSpPr>
            <p:cNvPr id="1323" name="Google Shape;1323;p64"/>
            <p:cNvSpPr txBox="1"/>
            <p:nvPr/>
          </p:nvSpPr>
          <p:spPr>
            <a:xfrm>
              <a:off x="8158563" y="3905313"/>
              <a:ext cx="5517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latin typeface="Consolas"/>
                  <a:ea typeface="Consolas"/>
                  <a:cs typeface="Consolas"/>
                  <a:sym typeface="Consolas"/>
                </a:rPr>
                <a:t>26K</a:t>
              </a:r>
              <a:endParaRPr sz="400"/>
            </a:p>
          </p:txBody>
        </p:sp>
        <p:grpSp>
          <p:nvGrpSpPr>
            <p:cNvPr id="1324" name="Google Shape;1324;p64"/>
            <p:cNvGrpSpPr/>
            <p:nvPr/>
          </p:nvGrpSpPr>
          <p:grpSpPr>
            <a:xfrm>
              <a:off x="8717550" y="3042163"/>
              <a:ext cx="1123200" cy="2287425"/>
              <a:chOff x="8717550" y="3042163"/>
              <a:chExt cx="1123200" cy="2287425"/>
            </a:xfrm>
          </p:grpSpPr>
          <p:grpSp>
            <p:nvGrpSpPr>
              <p:cNvPr id="1325" name="Google Shape;1325;p64"/>
              <p:cNvGrpSpPr/>
              <p:nvPr/>
            </p:nvGrpSpPr>
            <p:grpSpPr>
              <a:xfrm>
                <a:off x="8718675" y="3443525"/>
                <a:ext cx="1122000" cy="1575000"/>
                <a:chOff x="8718675" y="3443525"/>
                <a:chExt cx="1122000" cy="1575000"/>
              </a:xfrm>
            </p:grpSpPr>
            <p:sp>
              <p:nvSpPr>
                <p:cNvPr id="1326" name="Google Shape;1326;p64"/>
                <p:cNvSpPr/>
                <p:nvPr/>
              </p:nvSpPr>
              <p:spPr>
                <a:xfrm>
                  <a:off x="8718675" y="3443525"/>
                  <a:ext cx="1122000" cy="1575000"/>
                </a:xfrm>
                <a:prstGeom prst="rect">
                  <a:avLst/>
                </a:prstGeom>
                <a:solidFill>
                  <a:srgbClr val="EFEFEF"/>
                </a:solidFill>
                <a:ln w="19050" cap="flat" cmpd="sng">
                  <a:solidFill>
                    <a:srgbClr val="000000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grpSp>
              <p:nvGrpSpPr>
                <p:cNvPr id="1327" name="Google Shape;1327;p64"/>
                <p:cNvGrpSpPr/>
                <p:nvPr/>
              </p:nvGrpSpPr>
              <p:grpSpPr>
                <a:xfrm>
                  <a:off x="8718675" y="3503776"/>
                  <a:ext cx="1122000" cy="1117847"/>
                  <a:chOff x="8718675" y="3503776"/>
                  <a:chExt cx="1122000" cy="1117847"/>
                </a:xfrm>
              </p:grpSpPr>
              <p:sp>
                <p:nvSpPr>
                  <p:cNvPr id="1328" name="Google Shape;1328;p64"/>
                  <p:cNvSpPr/>
                  <p:nvPr/>
                </p:nvSpPr>
                <p:spPr>
                  <a:xfrm>
                    <a:off x="8718675" y="4076524"/>
                    <a:ext cx="1122000" cy="545100"/>
                  </a:xfrm>
                  <a:prstGeom prst="rect">
                    <a:avLst/>
                  </a:prstGeom>
                  <a:solidFill>
                    <a:srgbClr val="FFE599"/>
                  </a:solidFill>
                  <a:ln w="19050" cap="flat" cmpd="sng">
                    <a:solidFill>
                      <a:srgbClr val="000000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es-ES" sz="1600" b="1" dirty="0">
                        <a:latin typeface="Courier New"/>
                        <a:ea typeface="Courier New"/>
                        <a:cs typeface="Courier New"/>
                        <a:sym typeface="Courier New"/>
                      </a:rPr>
                      <a:t>stack</a:t>
                    </a:r>
                    <a:endParaRPr sz="2200" dirty="0"/>
                  </a:p>
                </p:txBody>
              </p:sp>
              <p:cxnSp>
                <p:nvCxnSpPr>
                  <p:cNvPr id="1329" name="Google Shape;1329;p64"/>
                  <p:cNvCxnSpPr/>
                  <p:nvPr/>
                </p:nvCxnSpPr>
                <p:spPr>
                  <a:xfrm>
                    <a:off x="9275572" y="3503776"/>
                    <a:ext cx="7200" cy="577200"/>
                  </a:xfrm>
                  <a:prstGeom prst="straightConnector1">
                    <a:avLst/>
                  </a:prstGeom>
                  <a:noFill/>
                  <a:ln w="9525" cap="flat" cmpd="sng">
                    <a:solidFill>
                      <a:srgbClr val="000000"/>
                    </a:solidFill>
                    <a:prstDash val="solid"/>
                    <a:round/>
                    <a:headEnd type="triangle" w="med" len="med"/>
                    <a:tailEnd type="none" w="med" len="med"/>
                  </a:ln>
                </p:spPr>
              </p:cxnSp>
            </p:grpSp>
          </p:grpSp>
          <p:cxnSp>
            <p:nvCxnSpPr>
              <p:cNvPr id="1330" name="Google Shape;1330;p64"/>
              <p:cNvCxnSpPr/>
              <p:nvPr/>
            </p:nvCxnSpPr>
            <p:spPr>
              <a:xfrm rot="10800000">
                <a:off x="8717575" y="3042888"/>
                <a:ext cx="0" cy="4665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31" name="Google Shape;1331;p64"/>
              <p:cNvCxnSpPr/>
              <p:nvPr/>
            </p:nvCxnSpPr>
            <p:spPr>
              <a:xfrm rot="10800000">
                <a:off x="9840750" y="3042163"/>
                <a:ext cx="0" cy="4665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32" name="Google Shape;1332;p64"/>
              <p:cNvCxnSpPr/>
              <p:nvPr/>
            </p:nvCxnSpPr>
            <p:spPr>
              <a:xfrm rot="10800000">
                <a:off x="8717550" y="4863088"/>
                <a:ext cx="0" cy="4665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33" name="Google Shape;1333;p64"/>
              <p:cNvCxnSpPr/>
              <p:nvPr/>
            </p:nvCxnSpPr>
            <p:spPr>
              <a:xfrm rot="10800000">
                <a:off x="9840750" y="4829738"/>
                <a:ext cx="0" cy="4665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aphicFrame>
        <p:nvGraphicFramePr>
          <p:cNvPr id="1334" name="Google Shape;1334;p64"/>
          <p:cNvGraphicFramePr/>
          <p:nvPr/>
        </p:nvGraphicFramePr>
        <p:xfrm>
          <a:off x="7757625" y="1313185"/>
          <a:ext cx="4233200" cy="1341000"/>
        </p:xfrm>
        <a:graphic>
          <a:graphicData uri="http://schemas.openxmlformats.org/drawingml/2006/table">
            <a:tbl>
              <a:tblPr>
                <a:noFill/>
                <a:tableStyleId>{CA5C7703-E2AC-41A6-8DEA-2D5C455BA520}</a:tableStyleId>
              </a:tblPr>
              <a:tblGrid>
                <a:gridCol w="985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7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50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189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 b="1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segment</a:t>
                      </a:r>
                      <a:endParaRPr sz="1000" b="1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base</a:t>
                      </a:r>
                      <a:endParaRPr sz="1000" b="1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 b="1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size (max 4K)</a:t>
                      </a:r>
                      <a:endParaRPr sz="1000" b="1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 b="1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Grows Positive?</a:t>
                      </a:r>
                      <a:endParaRPr sz="1000" b="1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code(00)</a:t>
                      </a:r>
                      <a:endParaRPr sz="10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32K</a:t>
                      </a:r>
                      <a:endParaRPr sz="10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2K</a:t>
                      </a:r>
                      <a:endParaRPr sz="10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0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heap(01)</a:t>
                      </a:r>
                      <a:endParaRPr sz="10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34K</a:t>
                      </a:r>
                      <a:endParaRPr sz="10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2K</a:t>
                      </a:r>
                      <a:endParaRPr sz="10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0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stack(11)</a:t>
                      </a:r>
                      <a:endParaRPr sz="10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28K</a:t>
                      </a:r>
                      <a:endParaRPr sz="10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2K</a:t>
                      </a:r>
                      <a:endParaRPr sz="10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0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1335" name="Google Shape;1335;p64"/>
          <p:cNvGrpSpPr/>
          <p:nvPr/>
        </p:nvGrpSpPr>
        <p:grpSpPr>
          <a:xfrm>
            <a:off x="4783359" y="4348625"/>
            <a:ext cx="3303251" cy="837000"/>
            <a:chOff x="3888184" y="3951525"/>
            <a:chExt cx="3303251" cy="837000"/>
          </a:xfrm>
        </p:grpSpPr>
        <p:grpSp>
          <p:nvGrpSpPr>
            <p:cNvPr id="1336" name="Google Shape;1336;p64"/>
            <p:cNvGrpSpPr/>
            <p:nvPr/>
          </p:nvGrpSpPr>
          <p:grpSpPr>
            <a:xfrm>
              <a:off x="4480388" y="3951525"/>
              <a:ext cx="2082238" cy="837000"/>
              <a:chOff x="4290563" y="3904875"/>
              <a:chExt cx="2082238" cy="837000"/>
            </a:xfrm>
          </p:grpSpPr>
          <p:sp>
            <p:nvSpPr>
              <p:cNvPr id="1337" name="Google Shape;1337;p64"/>
              <p:cNvSpPr/>
              <p:nvPr/>
            </p:nvSpPr>
            <p:spPr>
              <a:xfrm>
                <a:off x="4883000" y="3904875"/>
                <a:ext cx="806400" cy="837000"/>
              </a:xfrm>
              <a:prstGeom prst="rect">
                <a:avLst/>
              </a:prstGeom>
              <a:solidFill>
                <a:srgbClr val="F4CCCC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500" b="1">
                    <a:latin typeface="Consolas"/>
                    <a:ea typeface="Consolas"/>
                    <a:cs typeface="Consolas"/>
                    <a:sym typeface="Consolas"/>
                  </a:rPr>
                  <a:t>AT</a:t>
                </a:r>
                <a:endParaRPr sz="2500" b="1">
                  <a:latin typeface="Consolas"/>
                  <a:ea typeface="Consolas"/>
                  <a:cs typeface="Consolas"/>
                  <a:sym typeface="Consolas"/>
                </a:endParaRPr>
              </a:p>
            </p:txBody>
          </p:sp>
          <p:cxnSp>
            <p:nvCxnSpPr>
              <p:cNvPr id="1338" name="Google Shape;1338;p64"/>
              <p:cNvCxnSpPr/>
              <p:nvPr/>
            </p:nvCxnSpPr>
            <p:spPr>
              <a:xfrm rot="10800000" flipH="1">
                <a:off x="4290563" y="4323325"/>
                <a:ext cx="592200" cy="780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339" name="Google Shape;1339;p64"/>
              <p:cNvCxnSpPr/>
              <p:nvPr/>
            </p:nvCxnSpPr>
            <p:spPr>
              <a:xfrm>
                <a:off x="5689400" y="4323375"/>
                <a:ext cx="683400" cy="1680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</p:grpSp>
        <p:sp>
          <p:nvSpPr>
            <p:cNvPr id="1340" name="Google Shape;1340;p64"/>
            <p:cNvSpPr txBox="1"/>
            <p:nvPr/>
          </p:nvSpPr>
          <p:spPr>
            <a:xfrm>
              <a:off x="3888184" y="4129725"/>
              <a:ext cx="5922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VA</a:t>
              </a:r>
              <a:endParaRPr sz="200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1341" name="Google Shape;1341;p64"/>
            <p:cNvSpPr txBox="1"/>
            <p:nvPr/>
          </p:nvSpPr>
          <p:spPr>
            <a:xfrm>
              <a:off x="6562635" y="4129725"/>
              <a:ext cx="6288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PA</a:t>
              </a:r>
              <a:endParaRPr sz="200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2" name="Google Shape;1352;p66"/>
          <p:cNvSpPr txBox="1">
            <a:spLocks noGrp="1"/>
          </p:cNvSpPr>
          <p:nvPr>
            <p:ph type="title"/>
          </p:nvPr>
        </p:nvSpPr>
        <p:spPr>
          <a:xfrm>
            <a:off x="381000" y="96038"/>
            <a:ext cx="883965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b="0" dirty="0">
                <a:latin typeface="+mj-lt"/>
              </a:rPr>
              <a:t>Segmentos compartidos</a:t>
            </a:r>
            <a:endParaRPr b="0" dirty="0">
              <a:latin typeface="+mj-lt"/>
            </a:endParaRPr>
          </a:p>
        </p:txBody>
      </p:sp>
      <p:sp>
        <p:nvSpPr>
          <p:cNvPr id="1353" name="Google Shape;1353;p66"/>
          <p:cNvSpPr txBox="1">
            <a:spLocks noGrp="1"/>
          </p:cNvSpPr>
          <p:nvPr>
            <p:ph type="body" idx="1"/>
          </p:nvPr>
        </p:nvSpPr>
        <p:spPr>
          <a:xfrm>
            <a:off x="381000" y="881500"/>
            <a:ext cx="10999800" cy="16320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800" b="1" dirty="0">
                <a:solidFill>
                  <a:schemeClr val="accent1"/>
                </a:solidFill>
                <a:latin typeface="+mn-lt"/>
              </a:rPr>
              <a:t>Escenario</a:t>
            </a:r>
            <a:endParaRPr sz="2800" dirty="0">
              <a:solidFill>
                <a:schemeClr val="accent1"/>
              </a:solidFill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solidFill>
                  <a:srgbClr val="FF0000"/>
                </a:solidFill>
                <a:latin typeface="+mn-lt"/>
              </a:rPr>
              <a:t>¿Que pasa cuando se ejecutan dos procesos con la misma imagen?</a:t>
            </a:r>
            <a:endParaRPr sz="2400" b="1" dirty="0">
              <a:solidFill>
                <a:srgbClr val="FF0000"/>
              </a:solidFill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400"/>
              <a:buChar char="●"/>
            </a:pPr>
            <a:r>
              <a:rPr lang="es-ES" sz="2400" dirty="0">
                <a:latin typeface="+mn-lt"/>
              </a:rPr>
              <a:t>Algunos segmentos (como el segmento de código) podrían compartirse</a:t>
            </a: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</p:txBody>
      </p:sp>
      <p:grpSp>
        <p:nvGrpSpPr>
          <p:cNvPr id="1354" name="Google Shape;1354;p66"/>
          <p:cNvGrpSpPr/>
          <p:nvPr/>
        </p:nvGrpSpPr>
        <p:grpSpPr>
          <a:xfrm>
            <a:off x="2298850" y="2651700"/>
            <a:ext cx="7908700" cy="3442200"/>
            <a:chOff x="1615350" y="2674875"/>
            <a:chExt cx="7908700" cy="3442200"/>
          </a:xfrm>
        </p:grpSpPr>
        <p:grpSp>
          <p:nvGrpSpPr>
            <p:cNvPr id="1355" name="Google Shape;1355;p66"/>
            <p:cNvGrpSpPr/>
            <p:nvPr/>
          </p:nvGrpSpPr>
          <p:grpSpPr>
            <a:xfrm>
              <a:off x="1615350" y="2674875"/>
              <a:ext cx="4529575" cy="3442200"/>
              <a:chOff x="3260350" y="2674875"/>
              <a:chExt cx="4529575" cy="3442200"/>
            </a:xfrm>
          </p:grpSpPr>
          <p:grpSp>
            <p:nvGrpSpPr>
              <p:cNvPr id="1356" name="Google Shape;1356;p66"/>
              <p:cNvGrpSpPr/>
              <p:nvPr/>
            </p:nvGrpSpPr>
            <p:grpSpPr>
              <a:xfrm>
                <a:off x="4225059" y="2811427"/>
                <a:ext cx="1122056" cy="1374379"/>
                <a:chOff x="1775100" y="4022829"/>
                <a:chExt cx="1076106" cy="1739721"/>
              </a:xfrm>
            </p:grpSpPr>
            <p:sp>
              <p:nvSpPr>
                <p:cNvPr id="1357" name="Google Shape;1357;p66"/>
                <p:cNvSpPr/>
                <p:nvPr/>
              </p:nvSpPr>
              <p:spPr>
                <a:xfrm>
                  <a:off x="1775100" y="4022850"/>
                  <a:ext cx="1076100" cy="1739700"/>
                </a:xfrm>
                <a:prstGeom prst="rect">
                  <a:avLst/>
                </a:prstGeom>
                <a:solidFill>
                  <a:srgbClr val="EFEFEF"/>
                </a:solidFill>
                <a:ln w="19050" cap="flat" cmpd="sng">
                  <a:solidFill>
                    <a:srgbClr val="22222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grpSp>
              <p:nvGrpSpPr>
                <p:cNvPr id="1358" name="Google Shape;1358;p66"/>
                <p:cNvGrpSpPr/>
                <p:nvPr/>
              </p:nvGrpSpPr>
              <p:grpSpPr>
                <a:xfrm>
                  <a:off x="1775100" y="4022829"/>
                  <a:ext cx="1076106" cy="1739696"/>
                  <a:chOff x="7948250" y="2813104"/>
                  <a:chExt cx="1076106" cy="1739696"/>
                </a:xfrm>
              </p:grpSpPr>
              <p:sp>
                <p:nvSpPr>
                  <p:cNvPr id="1359" name="Google Shape;1359;p66"/>
                  <p:cNvSpPr/>
                  <p:nvPr/>
                </p:nvSpPr>
                <p:spPr>
                  <a:xfrm>
                    <a:off x="7948256" y="2813104"/>
                    <a:ext cx="1076100" cy="592800"/>
                  </a:xfrm>
                  <a:prstGeom prst="rect">
                    <a:avLst/>
                  </a:prstGeom>
                  <a:solidFill>
                    <a:srgbClr val="F4CCCC"/>
                  </a:solidFill>
                  <a:ln w="9525" cap="flat" cmpd="sng">
                    <a:solidFill>
                      <a:srgbClr val="22222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es-ES" sz="1600" b="1" dirty="0">
                        <a:latin typeface="Courier New"/>
                        <a:ea typeface="Courier New"/>
                        <a:cs typeface="Courier New"/>
                        <a:sym typeface="Courier New"/>
                      </a:rPr>
                      <a:t>Code</a:t>
                    </a:r>
                    <a:endParaRPr sz="1600" b="1" dirty="0">
                      <a:latin typeface="Courier New"/>
                      <a:ea typeface="Courier New"/>
                      <a:cs typeface="Courier New"/>
                      <a:sym typeface="Courier New"/>
                    </a:endParaRPr>
                  </a:p>
                </p:txBody>
              </p:sp>
              <p:sp>
                <p:nvSpPr>
                  <p:cNvPr id="1360" name="Google Shape;1360;p66"/>
                  <p:cNvSpPr/>
                  <p:nvPr/>
                </p:nvSpPr>
                <p:spPr>
                  <a:xfrm>
                    <a:off x="7948250" y="3406050"/>
                    <a:ext cx="1076100" cy="284400"/>
                  </a:xfrm>
                  <a:prstGeom prst="rect">
                    <a:avLst/>
                  </a:prstGeom>
                  <a:solidFill>
                    <a:srgbClr val="FFE599"/>
                  </a:solidFill>
                  <a:ln w="9525" cap="flat" cmpd="sng">
                    <a:solidFill>
                      <a:srgbClr val="22222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es-ES" sz="1600" b="1" dirty="0">
                        <a:latin typeface="Courier New"/>
                        <a:ea typeface="Courier New"/>
                        <a:cs typeface="Courier New"/>
                        <a:sym typeface="Courier New"/>
                      </a:rPr>
                      <a:t>heap</a:t>
                    </a:r>
                    <a:endParaRPr sz="2200" dirty="0"/>
                  </a:p>
                </p:txBody>
              </p:sp>
              <p:sp>
                <p:nvSpPr>
                  <p:cNvPr id="1361" name="Google Shape;1361;p66"/>
                  <p:cNvSpPr/>
                  <p:nvPr/>
                </p:nvSpPr>
                <p:spPr>
                  <a:xfrm>
                    <a:off x="7948250" y="4268400"/>
                    <a:ext cx="1076100" cy="284400"/>
                  </a:xfrm>
                  <a:prstGeom prst="rect">
                    <a:avLst/>
                  </a:prstGeom>
                  <a:solidFill>
                    <a:srgbClr val="CFE2F3"/>
                  </a:solidFill>
                  <a:ln w="9525" cap="flat" cmpd="sng">
                    <a:solidFill>
                      <a:srgbClr val="22222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es-ES" sz="1600" b="1" dirty="0">
                        <a:latin typeface="Courier New"/>
                        <a:ea typeface="Courier New"/>
                        <a:cs typeface="Courier New"/>
                        <a:sym typeface="Courier New"/>
                      </a:rPr>
                      <a:t>stack</a:t>
                    </a:r>
                    <a:endParaRPr sz="2200" dirty="0"/>
                  </a:p>
                </p:txBody>
              </p:sp>
              <p:cxnSp>
                <p:nvCxnSpPr>
                  <p:cNvPr id="1362" name="Google Shape;1362;p66"/>
                  <p:cNvCxnSpPr>
                    <a:stCxn id="1360" idx="2"/>
                  </p:cNvCxnSpPr>
                  <p:nvPr/>
                </p:nvCxnSpPr>
                <p:spPr>
                  <a:xfrm>
                    <a:off x="8486300" y="3690450"/>
                    <a:ext cx="6900" cy="261300"/>
                  </a:xfrm>
                  <a:prstGeom prst="straightConnector1">
                    <a:avLst/>
                  </a:prstGeom>
                  <a:noFill/>
                  <a:ln w="9525" cap="flat" cmpd="sng">
                    <a:solidFill>
                      <a:srgbClr val="000000"/>
                    </a:solidFill>
                    <a:prstDash val="solid"/>
                    <a:round/>
                    <a:headEnd type="none" w="med" len="med"/>
                    <a:tailEnd type="triangle" w="med" len="med"/>
                  </a:ln>
                </p:spPr>
              </p:cxnSp>
              <p:cxnSp>
                <p:nvCxnSpPr>
                  <p:cNvPr id="1363" name="Google Shape;1363;p66"/>
                  <p:cNvCxnSpPr>
                    <a:stCxn id="1361" idx="0"/>
                  </p:cNvCxnSpPr>
                  <p:nvPr/>
                </p:nvCxnSpPr>
                <p:spPr>
                  <a:xfrm rot="10800000" flipH="1">
                    <a:off x="8486300" y="4035600"/>
                    <a:ext cx="4200" cy="232800"/>
                  </a:xfrm>
                  <a:prstGeom prst="straightConnector1">
                    <a:avLst/>
                  </a:prstGeom>
                  <a:noFill/>
                  <a:ln w="9525" cap="flat" cmpd="sng">
                    <a:solidFill>
                      <a:srgbClr val="000000"/>
                    </a:solidFill>
                    <a:prstDash val="solid"/>
                    <a:round/>
                    <a:headEnd type="none" w="med" len="med"/>
                    <a:tailEnd type="triangle" w="med" len="med"/>
                  </a:ln>
                </p:spPr>
              </p:cxnSp>
            </p:grpSp>
          </p:grpSp>
          <p:sp>
            <p:nvSpPr>
              <p:cNvPr id="1364" name="Google Shape;1364;p66"/>
              <p:cNvSpPr/>
              <p:nvPr/>
            </p:nvSpPr>
            <p:spPr>
              <a:xfrm>
                <a:off x="6667925" y="2674875"/>
                <a:ext cx="1122000" cy="3442200"/>
              </a:xfrm>
              <a:prstGeom prst="rect">
                <a:avLst/>
              </a:prstGeom>
              <a:solidFill>
                <a:srgbClr val="EFEFEF"/>
              </a:solidFill>
              <a:ln w="19050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5" name="Google Shape;1365;p66"/>
              <p:cNvSpPr/>
              <p:nvPr/>
            </p:nvSpPr>
            <p:spPr>
              <a:xfrm>
                <a:off x="6667925" y="3412698"/>
                <a:ext cx="1122000" cy="341100"/>
              </a:xfrm>
              <a:prstGeom prst="rect">
                <a:avLst/>
              </a:prstGeom>
              <a:solidFill>
                <a:srgbClr val="F4CCCC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 b="1" dirty="0">
                    <a:latin typeface="Courier New"/>
                    <a:ea typeface="Courier New"/>
                    <a:cs typeface="Courier New"/>
                    <a:sym typeface="Courier New"/>
                  </a:rPr>
                  <a:t>Code</a:t>
                </a:r>
                <a:endParaRPr sz="1600" b="1" dirty="0"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  <p:grpSp>
            <p:nvGrpSpPr>
              <p:cNvPr id="1366" name="Google Shape;1366;p66"/>
              <p:cNvGrpSpPr/>
              <p:nvPr/>
            </p:nvGrpSpPr>
            <p:grpSpPr>
              <a:xfrm>
                <a:off x="6667925" y="2767272"/>
                <a:ext cx="1122000" cy="552881"/>
                <a:chOff x="6667925" y="2767272"/>
                <a:chExt cx="1122000" cy="552881"/>
              </a:xfrm>
            </p:grpSpPr>
            <p:sp>
              <p:nvSpPr>
                <p:cNvPr id="1367" name="Google Shape;1367;p66"/>
                <p:cNvSpPr/>
                <p:nvPr/>
              </p:nvSpPr>
              <p:spPr>
                <a:xfrm>
                  <a:off x="6667925" y="3040853"/>
                  <a:ext cx="1122000" cy="279300"/>
                </a:xfrm>
                <a:prstGeom prst="rect">
                  <a:avLst/>
                </a:prstGeom>
                <a:solidFill>
                  <a:srgbClr val="CFE2F3"/>
                </a:solidFill>
                <a:ln w="9525" cap="flat" cmpd="sng">
                  <a:solidFill>
                    <a:srgbClr val="22222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1600" b="1" dirty="0">
                      <a:latin typeface="Courier New"/>
                      <a:ea typeface="Courier New"/>
                      <a:cs typeface="Courier New"/>
                      <a:sym typeface="Courier New"/>
                    </a:rPr>
                    <a:t>stack</a:t>
                  </a:r>
                  <a:endParaRPr sz="2200" dirty="0"/>
                </a:p>
              </p:txBody>
            </p:sp>
            <p:cxnSp>
              <p:nvCxnSpPr>
                <p:cNvPr id="1368" name="Google Shape;1368;p66"/>
                <p:cNvCxnSpPr/>
                <p:nvPr/>
              </p:nvCxnSpPr>
              <p:spPr>
                <a:xfrm rot="10800000" flipH="1">
                  <a:off x="7226668" y="2767272"/>
                  <a:ext cx="4500" cy="2793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</p:grpSp>
          <p:grpSp>
            <p:nvGrpSpPr>
              <p:cNvPr id="1369" name="Google Shape;1369;p66"/>
              <p:cNvGrpSpPr/>
              <p:nvPr/>
            </p:nvGrpSpPr>
            <p:grpSpPr>
              <a:xfrm>
                <a:off x="6667925" y="4560101"/>
                <a:ext cx="1122000" cy="591500"/>
                <a:chOff x="6667919" y="3952022"/>
                <a:chExt cx="1122000" cy="654604"/>
              </a:xfrm>
            </p:grpSpPr>
            <p:sp>
              <p:nvSpPr>
                <p:cNvPr id="1370" name="Google Shape;1370;p66"/>
                <p:cNvSpPr/>
                <p:nvPr/>
              </p:nvSpPr>
              <p:spPr>
                <a:xfrm>
                  <a:off x="6667919" y="3952022"/>
                  <a:ext cx="1122000" cy="341100"/>
                </a:xfrm>
                <a:prstGeom prst="rect">
                  <a:avLst/>
                </a:prstGeom>
                <a:solidFill>
                  <a:srgbClr val="FFE599"/>
                </a:solidFill>
                <a:ln w="9525" cap="flat" cmpd="sng">
                  <a:solidFill>
                    <a:srgbClr val="22222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1600" b="1" dirty="0">
                      <a:latin typeface="Courier New"/>
                      <a:ea typeface="Courier New"/>
                      <a:cs typeface="Courier New"/>
                      <a:sym typeface="Courier New"/>
                    </a:rPr>
                    <a:t>heap</a:t>
                  </a:r>
                  <a:endParaRPr sz="2200" dirty="0"/>
                </a:p>
              </p:txBody>
            </p:sp>
            <p:cxnSp>
              <p:nvCxnSpPr>
                <p:cNvPr id="1371" name="Google Shape;1371;p66"/>
                <p:cNvCxnSpPr/>
                <p:nvPr/>
              </p:nvCxnSpPr>
              <p:spPr>
                <a:xfrm>
                  <a:off x="7225318" y="4293125"/>
                  <a:ext cx="7200" cy="3135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</p:grpSp>
          <p:cxnSp>
            <p:nvCxnSpPr>
              <p:cNvPr id="1372" name="Google Shape;1372;p66"/>
              <p:cNvCxnSpPr>
                <a:stCxn id="1359" idx="3"/>
                <a:endCxn id="1365" idx="1"/>
              </p:cNvCxnSpPr>
              <p:nvPr/>
            </p:nvCxnSpPr>
            <p:spPr>
              <a:xfrm>
                <a:off x="5347115" y="3045583"/>
                <a:ext cx="1320900" cy="5376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FF0000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373" name="Google Shape;1373;p66"/>
              <p:cNvCxnSpPr>
                <a:stCxn id="1360" idx="3"/>
                <a:endCxn id="1370" idx="1"/>
              </p:cNvCxnSpPr>
              <p:nvPr/>
            </p:nvCxnSpPr>
            <p:spPr>
              <a:xfrm>
                <a:off x="5347109" y="3392192"/>
                <a:ext cx="1320900" cy="13221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374" name="Google Shape;1374;p66"/>
              <p:cNvCxnSpPr>
                <a:stCxn id="1361" idx="3"/>
                <a:endCxn id="1367" idx="1"/>
              </p:cNvCxnSpPr>
              <p:nvPr/>
            </p:nvCxnSpPr>
            <p:spPr>
              <a:xfrm rot="10800000" flipH="1">
                <a:off x="5347109" y="3180649"/>
                <a:ext cx="1320900" cy="8928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5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grpSp>
            <p:nvGrpSpPr>
              <p:cNvPr id="1375" name="Google Shape;1375;p66"/>
              <p:cNvGrpSpPr/>
              <p:nvPr/>
            </p:nvGrpSpPr>
            <p:grpSpPr>
              <a:xfrm>
                <a:off x="4225059" y="4606627"/>
                <a:ext cx="1122056" cy="1374379"/>
                <a:chOff x="1775100" y="4022829"/>
                <a:chExt cx="1076106" cy="1739721"/>
              </a:xfrm>
            </p:grpSpPr>
            <p:sp>
              <p:nvSpPr>
                <p:cNvPr id="1376" name="Google Shape;1376;p66"/>
                <p:cNvSpPr/>
                <p:nvPr/>
              </p:nvSpPr>
              <p:spPr>
                <a:xfrm>
                  <a:off x="1775100" y="4022850"/>
                  <a:ext cx="1076100" cy="1739700"/>
                </a:xfrm>
                <a:prstGeom prst="rect">
                  <a:avLst/>
                </a:prstGeom>
                <a:solidFill>
                  <a:srgbClr val="EFEFEF"/>
                </a:solidFill>
                <a:ln w="19050" cap="flat" cmpd="sng">
                  <a:solidFill>
                    <a:srgbClr val="22222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grpSp>
              <p:nvGrpSpPr>
                <p:cNvPr id="1377" name="Google Shape;1377;p66"/>
                <p:cNvGrpSpPr/>
                <p:nvPr/>
              </p:nvGrpSpPr>
              <p:grpSpPr>
                <a:xfrm>
                  <a:off x="1775100" y="4022829"/>
                  <a:ext cx="1076106" cy="1739696"/>
                  <a:chOff x="7948250" y="2813104"/>
                  <a:chExt cx="1076106" cy="1739696"/>
                </a:xfrm>
              </p:grpSpPr>
              <p:sp>
                <p:nvSpPr>
                  <p:cNvPr id="1378" name="Google Shape;1378;p66"/>
                  <p:cNvSpPr/>
                  <p:nvPr/>
                </p:nvSpPr>
                <p:spPr>
                  <a:xfrm>
                    <a:off x="7948256" y="2813104"/>
                    <a:ext cx="1076100" cy="592800"/>
                  </a:xfrm>
                  <a:prstGeom prst="rect">
                    <a:avLst/>
                  </a:prstGeom>
                  <a:solidFill>
                    <a:srgbClr val="F4CCCC"/>
                  </a:solidFill>
                  <a:ln w="9525" cap="flat" cmpd="sng">
                    <a:solidFill>
                      <a:srgbClr val="22222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es-ES" sz="1600" b="1" dirty="0">
                        <a:latin typeface="Courier New"/>
                        <a:ea typeface="Courier New"/>
                        <a:cs typeface="Courier New"/>
                        <a:sym typeface="Courier New"/>
                      </a:rPr>
                      <a:t>Code</a:t>
                    </a:r>
                    <a:endParaRPr sz="1600" b="1" dirty="0">
                      <a:latin typeface="Courier New"/>
                      <a:ea typeface="Courier New"/>
                      <a:cs typeface="Courier New"/>
                      <a:sym typeface="Courier New"/>
                    </a:endParaRPr>
                  </a:p>
                </p:txBody>
              </p:sp>
              <p:sp>
                <p:nvSpPr>
                  <p:cNvPr id="1379" name="Google Shape;1379;p66"/>
                  <p:cNvSpPr/>
                  <p:nvPr/>
                </p:nvSpPr>
                <p:spPr>
                  <a:xfrm>
                    <a:off x="7948250" y="3406050"/>
                    <a:ext cx="1076100" cy="284400"/>
                  </a:xfrm>
                  <a:prstGeom prst="rect">
                    <a:avLst/>
                  </a:prstGeom>
                  <a:solidFill>
                    <a:srgbClr val="D9D2E9"/>
                  </a:solidFill>
                  <a:ln w="9525" cap="flat" cmpd="sng">
                    <a:solidFill>
                      <a:srgbClr val="22222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es-ES" sz="1600" b="1" dirty="0">
                        <a:latin typeface="Courier New"/>
                        <a:ea typeface="Courier New"/>
                        <a:cs typeface="Courier New"/>
                        <a:sym typeface="Courier New"/>
                      </a:rPr>
                      <a:t>heap</a:t>
                    </a:r>
                    <a:endParaRPr sz="2200" dirty="0"/>
                  </a:p>
                </p:txBody>
              </p:sp>
              <p:sp>
                <p:nvSpPr>
                  <p:cNvPr id="1380" name="Google Shape;1380;p66"/>
                  <p:cNvSpPr/>
                  <p:nvPr/>
                </p:nvSpPr>
                <p:spPr>
                  <a:xfrm>
                    <a:off x="7948250" y="4268400"/>
                    <a:ext cx="1076100" cy="284400"/>
                  </a:xfrm>
                  <a:prstGeom prst="rect">
                    <a:avLst/>
                  </a:prstGeom>
                  <a:solidFill>
                    <a:srgbClr val="D9EAD3"/>
                  </a:solidFill>
                  <a:ln w="9525" cap="flat" cmpd="sng">
                    <a:solidFill>
                      <a:srgbClr val="22222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es-ES" sz="1600" b="1" dirty="0">
                        <a:latin typeface="Courier New"/>
                        <a:ea typeface="Courier New"/>
                        <a:cs typeface="Courier New"/>
                        <a:sym typeface="Courier New"/>
                      </a:rPr>
                      <a:t>stack</a:t>
                    </a:r>
                    <a:endParaRPr sz="2200" dirty="0"/>
                  </a:p>
                </p:txBody>
              </p:sp>
              <p:cxnSp>
                <p:nvCxnSpPr>
                  <p:cNvPr id="1381" name="Google Shape;1381;p66"/>
                  <p:cNvCxnSpPr>
                    <a:stCxn id="1379" idx="2"/>
                  </p:cNvCxnSpPr>
                  <p:nvPr/>
                </p:nvCxnSpPr>
                <p:spPr>
                  <a:xfrm>
                    <a:off x="8486300" y="3690450"/>
                    <a:ext cx="6900" cy="261300"/>
                  </a:xfrm>
                  <a:prstGeom prst="straightConnector1">
                    <a:avLst/>
                  </a:prstGeom>
                  <a:noFill/>
                  <a:ln w="9525" cap="flat" cmpd="sng">
                    <a:solidFill>
                      <a:srgbClr val="000000"/>
                    </a:solidFill>
                    <a:prstDash val="solid"/>
                    <a:round/>
                    <a:headEnd type="none" w="med" len="med"/>
                    <a:tailEnd type="triangle" w="med" len="med"/>
                  </a:ln>
                </p:spPr>
              </p:cxnSp>
              <p:cxnSp>
                <p:nvCxnSpPr>
                  <p:cNvPr id="1382" name="Google Shape;1382;p66"/>
                  <p:cNvCxnSpPr>
                    <a:stCxn id="1380" idx="0"/>
                  </p:cNvCxnSpPr>
                  <p:nvPr/>
                </p:nvCxnSpPr>
                <p:spPr>
                  <a:xfrm rot="10800000" flipH="1">
                    <a:off x="8486300" y="4035600"/>
                    <a:ext cx="4200" cy="232800"/>
                  </a:xfrm>
                  <a:prstGeom prst="straightConnector1">
                    <a:avLst/>
                  </a:prstGeom>
                  <a:noFill/>
                  <a:ln w="9525" cap="flat" cmpd="sng">
                    <a:solidFill>
                      <a:srgbClr val="000000"/>
                    </a:solidFill>
                    <a:prstDash val="solid"/>
                    <a:round/>
                    <a:headEnd type="none" w="med" len="med"/>
                    <a:tailEnd type="triangle" w="med" len="med"/>
                  </a:ln>
                </p:spPr>
              </p:cxnSp>
            </p:grpSp>
          </p:grpSp>
          <p:grpSp>
            <p:nvGrpSpPr>
              <p:cNvPr id="1383" name="Google Shape;1383;p66"/>
              <p:cNvGrpSpPr/>
              <p:nvPr/>
            </p:nvGrpSpPr>
            <p:grpSpPr>
              <a:xfrm>
                <a:off x="6667925" y="3880509"/>
                <a:ext cx="1122000" cy="552881"/>
                <a:chOff x="6667925" y="2767272"/>
                <a:chExt cx="1122000" cy="552881"/>
              </a:xfrm>
            </p:grpSpPr>
            <p:sp>
              <p:nvSpPr>
                <p:cNvPr id="1384" name="Google Shape;1384;p66"/>
                <p:cNvSpPr/>
                <p:nvPr/>
              </p:nvSpPr>
              <p:spPr>
                <a:xfrm>
                  <a:off x="6667925" y="3040853"/>
                  <a:ext cx="1122000" cy="279300"/>
                </a:xfrm>
                <a:prstGeom prst="rect">
                  <a:avLst/>
                </a:prstGeom>
                <a:solidFill>
                  <a:srgbClr val="D9EAD3"/>
                </a:solidFill>
                <a:ln w="9525" cap="flat" cmpd="sng">
                  <a:solidFill>
                    <a:srgbClr val="22222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1600" b="1" dirty="0">
                      <a:latin typeface="Courier New"/>
                      <a:ea typeface="Courier New"/>
                      <a:cs typeface="Courier New"/>
                      <a:sym typeface="Courier New"/>
                    </a:rPr>
                    <a:t>stack</a:t>
                  </a:r>
                  <a:endParaRPr sz="2200" dirty="0"/>
                </a:p>
              </p:txBody>
            </p:sp>
            <p:cxnSp>
              <p:nvCxnSpPr>
                <p:cNvPr id="1385" name="Google Shape;1385;p66"/>
                <p:cNvCxnSpPr/>
                <p:nvPr/>
              </p:nvCxnSpPr>
              <p:spPr>
                <a:xfrm rot="10800000" flipH="1">
                  <a:off x="7226668" y="2767272"/>
                  <a:ext cx="4500" cy="2793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</p:grpSp>
          <p:grpSp>
            <p:nvGrpSpPr>
              <p:cNvPr id="1386" name="Google Shape;1386;p66"/>
              <p:cNvGrpSpPr/>
              <p:nvPr/>
            </p:nvGrpSpPr>
            <p:grpSpPr>
              <a:xfrm>
                <a:off x="6667925" y="5389501"/>
                <a:ext cx="1122000" cy="591500"/>
                <a:chOff x="6667919" y="3952022"/>
                <a:chExt cx="1122000" cy="654604"/>
              </a:xfrm>
            </p:grpSpPr>
            <p:sp>
              <p:nvSpPr>
                <p:cNvPr id="1387" name="Google Shape;1387;p66"/>
                <p:cNvSpPr/>
                <p:nvPr/>
              </p:nvSpPr>
              <p:spPr>
                <a:xfrm>
                  <a:off x="6667919" y="3952022"/>
                  <a:ext cx="1122000" cy="341100"/>
                </a:xfrm>
                <a:prstGeom prst="rect">
                  <a:avLst/>
                </a:prstGeom>
                <a:solidFill>
                  <a:srgbClr val="D9D2E9"/>
                </a:solidFill>
                <a:ln w="9525" cap="flat" cmpd="sng">
                  <a:solidFill>
                    <a:srgbClr val="22222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1600" b="1" dirty="0">
                      <a:latin typeface="Courier New"/>
                      <a:ea typeface="Courier New"/>
                      <a:cs typeface="Courier New"/>
                      <a:sym typeface="Courier New"/>
                    </a:rPr>
                    <a:t>heap</a:t>
                  </a:r>
                  <a:endParaRPr sz="2200" dirty="0"/>
                </a:p>
              </p:txBody>
            </p:sp>
            <p:cxnSp>
              <p:nvCxnSpPr>
                <p:cNvPr id="1388" name="Google Shape;1388;p66"/>
                <p:cNvCxnSpPr/>
                <p:nvPr/>
              </p:nvCxnSpPr>
              <p:spPr>
                <a:xfrm>
                  <a:off x="7225318" y="4293125"/>
                  <a:ext cx="7200" cy="3135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</p:grpSp>
          <p:cxnSp>
            <p:nvCxnSpPr>
              <p:cNvPr id="1389" name="Google Shape;1389;p66"/>
              <p:cNvCxnSpPr>
                <a:stCxn id="1378" idx="3"/>
                <a:endCxn id="1365" idx="1"/>
              </p:cNvCxnSpPr>
              <p:nvPr/>
            </p:nvCxnSpPr>
            <p:spPr>
              <a:xfrm rot="10800000" flipH="1">
                <a:off x="5347115" y="3583183"/>
                <a:ext cx="1320900" cy="12576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FF0000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390" name="Google Shape;1390;p66"/>
              <p:cNvCxnSpPr>
                <a:stCxn id="1379" idx="3"/>
                <a:endCxn id="1387" idx="1"/>
              </p:cNvCxnSpPr>
              <p:nvPr/>
            </p:nvCxnSpPr>
            <p:spPr>
              <a:xfrm>
                <a:off x="5347109" y="5187392"/>
                <a:ext cx="1320900" cy="3561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8E7CC3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391" name="Google Shape;1391;p66"/>
              <p:cNvCxnSpPr>
                <a:stCxn id="1380" idx="3"/>
                <a:endCxn id="1384" idx="1"/>
              </p:cNvCxnSpPr>
              <p:nvPr/>
            </p:nvCxnSpPr>
            <p:spPr>
              <a:xfrm rot="10800000" flipH="1">
                <a:off x="5347109" y="4293649"/>
                <a:ext cx="1320900" cy="15750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5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sp>
            <p:nvSpPr>
              <p:cNvPr id="1392" name="Google Shape;1392;p66"/>
              <p:cNvSpPr/>
              <p:nvPr/>
            </p:nvSpPr>
            <p:spPr>
              <a:xfrm>
                <a:off x="3260350" y="3104850"/>
                <a:ext cx="602700" cy="648300"/>
              </a:xfrm>
              <a:prstGeom prst="ellipse">
                <a:avLst/>
              </a:prstGeom>
              <a:solidFill>
                <a:srgbClr val="C9DAF8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 b="1">
                    <a:latin typeface="Consolas"/>
                    <a:ea typeface="Consolas"/>
                    <a:cs typeface="Consolas"/>
                    <a:sym typeface="Consolas"/>
                  </a:rPr>
                  <a:t>P1</a:t>
                </a:r>
                <a:endParaRPr sz="1600" b="1">
                  <a:latin typeface="Consolas"/>
                  <a:ea typeface="Consolas"/>
                  <a:cs typeface="Consolas"/>
                  <a:sym typeface="Consolas"/>
                </a:endParaRPr>
              </a:p>
            </p:txBody>
          </p:sp>
          <p:sp>
            <p:nvSpPr>
              <p:cNvPr id="1393" name="Google Shape;1393;p66"/>
              <p:cNvSpPr/>
              <p:nvPr/>
            </p:nvSpPr>
            <p:spPr>
              <a:xfrm>
                <a:off x="3260350" y="4895200"/>
                <a:ext cx="602700" cy="648300"/>
              </a:xfrm>
              <a:prstGeom prst="ellipse">
                <a:avLst/>
              </a:prstGeom>
              <a:solidFill>
                <a:srgbClr val="F4CCCC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 b="1">
                    <a:latin typeface="Consolas"/>
                    <a:ea typeface="Consolas"/>
                    <a:cs typeface="Consolas"/>
                    <a:sym typeface="Consolas"/>
                  </a:rPr>
                  <a:t>P2</a:t>
                </a:r>
                <a:endParaRPr sz="1600" b="1">
                  <a:latin typeface="Consolas"/>
                  <a:ea typeface="Consolas"/>
                  <a:cs typeface="Consolas"/>
                  <a:sym typeface="Consolas"/>
                </a:endParaRPr>
              </a:p>
            </p:txBody>
          </p:sp>
        </p:grpSp>
        <p:sp>
          <p:nvSpPr>
            <p:cNvPr id="1394" name="Google Shape;1394;p66"/>
            <p:cNvSpPr/>
            <p:nvPr/>
          </p:nvSpPr>
          <p:spPr>
            <a:xfrm>
              <a:off x="6246550" y="3424950"/>
              <a:ext cx="3277500" cy="27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>
                  <a:solidFill>
                    <a:srgbClr val="FF0000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(R/X) Segmento compartido</a:t>
              </a:r>
              <a:endParaRPr sz="2000">
                <a:solidFill>
                  <a:srgbClr val="FF0000"/>
                </a:solidFill>
              </a:endParaRPr>
            </a:p>
          </p:txBody>
        </p:sp>
        <p:sp>
          <p:nvSpPr>
            <p:cNvPr id="1395" name="Google Shape;1395;p66"/>
            <p:cNvSpPr/>
            <p:nvPr/>
          </p:nvSpPr>
          <p:spPr>
            <a:xfrm>
              <a:off x="6246550" y="3021300"/>
              <a:ext cx="3277500" cy="27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>
                  <a:solidFill>
                    <a:srgbClr val="70AD47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(R/W)</a:t>
              </a:r>
              <a:endParaRPr sz="2000">
                <a:solidFill>
                  <a:srgbClr val="70AD47"/>
                </a:solidFill>
              </a:endParaRPr>
            </a:p>
          </p:txBody>
        </p:sp>
        <p:sp>
          <p:nvSpPr>
            <p:cNvPr id="1396" name="Google Shape;1396;p66"/>
            <p:cNvSpPr/>
            <p:nvPr/>
          </p:nvSpPr>
          <p:spPr>
            <a:xfrm>
              <a:off x="6246550" y="4158400"/>
              <a:ext cx="3277500" cy="27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>
                  <a:solidFill>
                    <a:srgbClr val="70AD47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(R/W)</a:t>
              </a:r>
              <a:endParaRPr sz="2000">
                <a:solidFill>
                  <a:srgbClr val="70AD47"/>
                </a:solidFill>
              </a:endParaRPr>
            </a:p>
          </p:txBody>
        </p:sp>
        <p:sp>
          <p:nvSpPr>
            <p:cNvPr id="1397" name="Google Shape;1397;p66"/>
            <p:cNvSpPr/>
            <p:nvPr/>
          </p:nvSpPr>
          <p:spPr>
            <a:xfrm>
              <a:off x="6246550" y="4565650"/>
              <a:ext cx="3277500" cy="27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>
                  <a:solidFill>
                    <a:srgbClr val="70AD47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(R/W)</a:t>
              </a:r>
              <a:endParaRPr sz="2000">
                <a:solidFill>
                  <a:srgbClr val="70AD47"/>
                </a:solidFill>
              </a:endParaRPr>
            </a:p>
          </p:txBody>
        </p:sp>
        <p:sp>
          <p:nvSpPr>
            <p:cNvPr id="1398" name="Google Shape;1398;p66"/>
            <p:cNvSpPr/>
            <p:nvPr/>
          </p:nvSpPr>
          <p:spPr>
            <a:xfrm>
              <a:off x="6246550" y="5413125"/>
              <a:ext cx="3277500" cy="27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>
                  <a:solidFill>
                    <a:srgbClr val="70AD47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(R/W)</a:t>
              </a:r>
              <a:endParaRPr sz="2000">
                <a:solidFill>
                  <a:srgbClr val="70AD47"/>
                </a:solidFill>
              </a:endParaRPr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3" name="Google Shape;1403;p67"/>
          <p:cNvSpPr txBox="1">
            <a:spLocks noGrp="1"/>
          </p:cNvSpPr>
          <p:nvPr>
            <p:ph type="title"/>
          </p:nvPr>
        </p:nvSpPr>
        <p:spPr>
          <a:xfrm>
            <a:off x="275550" y="96038"/>
            <a:ext cx="89451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latin typeface="+mj-lt"/>
              </a:rPr>
              <a:t>Segmentos compartidos</a:t>
            </a:r>
            <a:endParaRPr dirty="0">
              <a:latin typeface="+mj-lt"/>
            </a:endParaRPr>
          </a:p>
        </p:txBody>
      </p:sp>
      <p:sp>
        <p:nvSpPr>
          <p:cNvPr id="1404" name="Google Shape;1404;p67"/>
          <p:cNvSpPr txBox="1">
            <a:spLocks noGrp="1"/>
          </p:cNvSpPr>
          <p:nvPr>
            <p:ph type="body" idx="1"/>
          </p:nvPr>
        </p:nvSpPr>
        <p:spPr>
          <a:xfrm>
            <a:off x="275550" y="793125"/>
            <a:ext cx="11640900" cy="1492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800" b="1" dirty="0">
                <a:solidFill>
                  <a:schemeClr val="accent1"/>
                </a:solidFill>
                <a:latin typeface="+mn-lt"/>
              </a:rPr>
              <a:t>Escenario</a:t>
            </a:r>
            <a:endParaRPr sz="2800" dirty="0">
              <a:solidFill>
                <a:schemeClr val="accent1"/>
              </a:solidFill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solidFill>
                  <a:srgbClr val="FF0000"/>
                </a:solidFill>
                <a:latin typeface="+mn-lt"/>
              </a:rPr>
              <a:t>¿Que pasa cuando se ejecutan dos procesos con la misma imagen?</a:t>
            </a:r>
            <a:endParaRPr sz="2400" b="1" dirty="0">
              <a:solidFill>
                <a:srgbClr val="FF0000"/>
              </a:solidFill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400"/>
              <a:buChar char="●"/>
            </a:pPr>
            <a:r>
              <a:rPr lang="es-ES" sz="2400" dirty="0">
                <a:latin typeface="+mn-lt"/>
              </a:rPr>
              <a:t>Algunos segmentos (como el segmento de código) podrían compartirse</a:t>
            </a: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</p:txBody>
      </p:sp>
      <p:grpSp>
        <p:nvGrpSpPr>
          <p:cNvPr id="1405" name="Google Shape;1405;p67"/>
          <p:cNvGrpSpPr/>
          <p:nvPr/>
        </p:nvGrpSpPr>
        <p:grpSpPr>
          <a:xfrm>
            <a:off x="1070900" y="2686450"/>
            <a:ext cx="4529575" cy="3442200"/>
            <a:chOff x="3260350" y="2674875"/>
            <a:chExt cx="4529575" cy="3442200"/>
          </a:xfrm>
        </p:grpSpPr>
        <p:grpSp>
          <p:nvGrpSpPr>
            <p:cNvPr id="1406" name="Google Shape;1406;p67"/>
            <p:cNvGrpSpPr/>
            <p:nvPr/>
          </p:nvGrpSpPr>
          <p:grpSpPr>
            <a:xfrm>
              <a:off x="4225059" y="2811427"/>
              <a:ext cx="1122056" cy="1374379"/>
              <a:chOff x="1775100" y="4022829"/>
              <a:chExt cx="1076106" cy="1739721"/>
            </a:xfrm>
          </p:grpSpPr>
          <p:sp>
            <p:nvSpPr>
              <p:cNvPr id="1407" name="Google Shape;1407;p67"/>
              <p:cNvSpPr/>
              <p:nvPr/>
            </p:nvSpPr>
            <p:spPr>
              <a:xfrm>
                <a:off x="1775100" y="4022850"/>
                <a:ext cx="1076100" cy="1739700"/>
              </a:xfrm>
              <a:prstGeom prst="rect">
                <a:avLst/>
              </a:prstGeom>
              <a:solidFill>
                <a:srgbClr val="EFEFEF"/>
              </a:solidFill>
              <a:ln w="19050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408" name="Google Shape;1408;p67"/>
              <p:cNvGrpSpPr/>
              <p:nvPr/>
            </p:nvGrpSpPr>
            <p:grpSpPr>
              <a:xfrm>
                <a:off x="1775100" y="4022829"/>
                <a:ext cx="1076106" cy="1739696"/>
                <a:chOff x="7948250" y="2813104"/>
                <a:chExt cx="1076106" cy="1739696"/>
              </a:xfrm>
            </p:grpSpPr>
            <p:sp>
              <p:nvSpPr>
                <p:cNvPr id="1409" name="Google Shape;1409;p67"/>
                <p:cNvSpPr/>
                <p:nvPr/>
              </p:nvSpPr>
              <p:spPr>
                <a:xfrm>
                  <a:off x="7948256" y="2813104"/>
                  <a:ext cx="1076100" cy="592800"/>
                </a:xfrm>
                <a:prstGeom prst="rect">
                  <a:avLst/>
                </a:prstGeom>
                <a:solidFill>
                  <a:srgbClr val="F4CCCC"/>
                </a:solidFill>
                <a:ln w="9525" cap="flat" cmpd="sng">
                  <a:solidFill>
                    <a:srgbClr val="22222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1600" b="1" dirty="0">
                      <a:latin typeface="Courier New"/>
                      <a:ea typeface="Courier New"/>
                      <a:cs typeface="Courier New"/>
                      <a:sym typeface="Courier New"/>
                    </a:rPr>
                    <a:t>Code</a:t>
                  </a:r>
                  <a:endParaRPr sz="1600" b="1" dirty="0">
                    <a:latin typeface="Courier New"/>
                    <a:ea typeface="Courier New"/>
                    <a:cs typeface="Courier New"/>
                    <a:sym typeface="Courier New"/>
                  </a:endParaRPr>
                </a:p>
              </p:txBody>
            </p:sp>
            <p:sp>
              <p:nvSpPr>
                <p:cNvPr id="1410" name="Google Shape;1410;p67"/>
                <p:cNvSpPr/>
                <p:nvPr/>
              </p:nvSpPr>
              <p:spPr>
                <a:xfrm>
                  <a:off x="7948250" y="3406050"/>
                  <a:ext cx="1076100" cy="284400"/>
                </a:xfrm>
                <a:prstGeom prst="rect">
                  <a:avLst/>
                </a:prstGeom>
                <a:solidFill>
                  <a:srgbClr val="FFE599"/>
                </a:solidFill>
                <a:ln w="9525" cap="flat" cmpd="sng">
                  <a:solidFill>
                    <a:srgbClr val="22222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1600" b="1" dirty="0">
                      <a:latin typeface="Courier New"/>
                      <a:ea typeface="Courier New"/>
                      <a:cs typeface="Courier New"/>
                      <a:sym typeface="Courier New"/>
                    </a:rPr>
                    <a:t>heap</a:t>
                  </a:r>
                  <a:endParaRPr sz="2200" dirty="0"/>
                </a:p>
              </p:txBody>
            </p:sp>
            <p:sp>
              <p:nvSpPr>
                <p:cNvPr id="1411" name="Google Shape;1411;p67"/>
                <p:cNvSpPr/>
                <p:nvPr/>
              </p:nvSpPr>
              <p:spPr>
                <a:xfrm>
                  <a:off x="7948250" y="4268400"/>
                  <a:ext cx="1076100" cy="284400"/>
                </a:xfrm>
                <a:prstGeom prst="rect">
                  <a:avLst/>
                </a:prstGeom>
                <a:solidFill>
                  <a:srgbClr val="CFE2F3"/>
                </a:solidFill>
                <a:ln w="9525" cap="flat" cmpd="sng">
                  <a:solidFill>
                    <a:srgbClr val="22222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1600" b="1" dirty="0">
                      <a:latin typeface="Courier New"/>
                      <a:ea typeface="Courier New"/>
                      <a:cs typeface="Courier New"/>
                      <a:sym typeface="Courier New"/>
                    </a:rPr>
                    <a:t>stack</a:t>
                  </a:r>
                  <a:endParaRPr sz="2200" dirty="0"/>
                </a:p>
              </p:txBody>
            </p:sp>
            <p:cxnSp>
              <p:nvCxnSpPr>
                <p:cNvPr id="1412" name="Google Shape;1412;p67"/>
                <p:cNvCxnSpPr>
                  <a:stCxn id="1410" idx="2"/>
                </p:cNvCxnSpPr>
                <p:nvPr/>
              </p:nvCxnSpPr>
              <p:spPr>
                <a:xfrm>
                  <a:off x="8486300" y="3690450"/>
                  <a:ext cx="6900" cy="2613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  <p:cxnSp>
              <p:nvCxnSpPr>
                <p:cNvPr id="1413" name="Google Shape;1413;p67"/>
                <p:cNvCxnSpPr>
                  <a:stCxn id="1411" idx="0"/>
                </p:cNvCxnSpPr>
                <p:nvPr/>
              </p:nvCxnSpPr>
              <p:spPr>
                <a:xfrm rot="10800000" flipH="1">
                  <a:off x="8486300" y="4035600"/>
                  <a:ext cx="4200" cy="2328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</p:grpSp>
        </p:grpSp>
        <p:sp>
          <p:nvSpPr>
            <p:cNvPr id="1414" name="Google Shape;1414;p67"/>
            <p:cNvSpPr/>
            <p:nvPr/>
          </p:nvSpPr>
          <p:spPr>
            <a:xfrm>
              <a:off x="6667925" y="2674875"/>
              <a:ext cx="1122000" cy="3442200"/>
            </a:xfrm>
            <a:prstGeom prst="rect">
              <a:avLst/>
            </a:prstGeom>
            <a:solidFill>
              <a:srgbClr val="EFEFEF"/>
            </a:solidFill>
            <a:ln w="19050" cap="flat" cmpd="sng">
              <a:solidFill>
                <a:srgbClr val="22222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5" name="Google Shape;1415;p67"/>
            <p:cNvSpPr/>
            <p:nvPr/>
          </p:nvSpPr>
          <p:spPr>
            <a:xfrm>
              <a:off x="6667925" y="3412698"/>
              <a:ext cx="1122000" cy="341100"/>
            </a:xfrm>
            <a:prstGeom prst="rect">
              <a:avLst/>
            </a:prstGeom>
            <a:solidFill>
              <a:srgbClr val="F4CCCC"/>
            </a:solidFill>
            <a:ln w="9525" cap="flat" cmpd="sng">
              <a:solidFill>
                <a:srgbClr val="22222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 dirty="0">
                  <a:latin typeface="Courier New"/>
                  <a:ea typeface="Courier New"/>
                  <a:cs typeface="Courier New"/>
                  <a:sym typeface="Courier New"/>
                </a:rPr>
                <a:t>Code</a:t>
              </a:r>
              <a:endParaRPr sz="1600" b="1" dirty="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grpSp>
          <p:nvGrpSpPr>
            <p:cNvPr id="1416" name="Google Shape;1416;p67"/>
            <p:cNvGrpSpPr/>
            <p:nvPr/>
          </p:nvGrpSpPr>
          <p:grpSpPr>
            <a:xfrm>
              <a:off x="6667925" y="2767272"/>
              <a:ext cx="1122000" cy="552881"/>
              <a:chOff x="6667925" y="2767272"/>
              <a:chExt cx="1122000" cy="552881"/>
            </a:xfrm>
          </p:grpSpPr>
          <p:sp>
            <p:nvSpPr>
              <p:cNvPr id="1417" name="Google Shape;1417;p67"/>
              <p:cNvSpPr/>
              <p:nvPr/>
            </p:nvSpPr>
            <p:spPr>
              <a:xfrm>
                <a:off x="6667925" y="3040853"/>
                <a:ext cx="1122000" cy="279300"/>
              </a:xfrm>
              <a:prstGeom prst="rect">
                <a:avLst/>
              </a:prstGeom>
              <a:solidFill>
                <a:srgbClr val="CFE2F3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 b="1" dirty="0">
                    <a:latin typeface="Courier New"/>
                    <a:ea typeface="Courier New"/>
                    <a:cs typeface="Courier New"/>
                    <a:sym typeface="Courier New"/>
                  </a:rPr>
                  <a:t>stack</a:t>
                </a:r>
                <a:endParaRPr sz="2200" dirty="0"/>
              </a:p>
            </p:txBody>
          </p:sp>
          <p:cxnSp>
            <p:nvCxnSpPr>
              <p:cNvPr id="1418" name="Google Shape;1418;p67"/>
              <p:cNvCxnSpPr/>
              <p:nvPr/>
            </p:nvCxnSpPr>
            <p:spPr>
              <a:xfrm rot="10800000" flipH="1">
                <a:off x="7226668" y="2767272"/>
                <a:ext cx="4500" cy="2793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</p:grpSp>
        <p:grpSp>
          <p:nvGrpSpPr>
            <p:cNvPr id="1419" name="Google Shape;1419;p67"/>
            <p:cNvGrpSpPr/>
            <p:nvPr/>
          </p:nvGrpSpPr>
          <p:grpSpPr>
            <a:xfrm>
              <a:off x="6667925" y="4560101"/>
              <a:ext cx="1122000" cy="591500"/>
              <a:chOff x="6667919" y="3952022"/>
              <a:chExt cx="1122000" cy="654604"/>
            </a:xfrm>
          </p:grpSpPr>
          <p:sp>
            <p:nvSpPr>
              <p:cNvPr id="1420" name="Google Shape;1420;p67"/>
              <p:cNvSpPr/>
              <p:nvPr/>
            </p:nvSpPr>
            <p:spPr>
              <a:xfrm>
                <a:off x="6667919" y="3952022"/>
                <a:ext cx="1122000" cy="341100"/>
              </a:xfrm>
              <a:prstGeom prst="rect">
                <a:avLst/>
              </a:prstGeom>
              <a:solidFill>
                <a:srgbClr val="FFE599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 b="1" dirty="0">
                    <a:latin typeface="Courier New"/>
                    <a:ea typeface="Courier New"/>
                    <a:cs typeface="Courier New"/>
                    <a:sym typeface="Courier New"/>
                  </a:rPr>
                  <a:t>heap</a:t>
                </a:r>
                <a:endParaRPr sz="2200" dirty="0"/>
              </a:p>
            </p:txBody>
          </p:sp>
          <p:cxnSp>
            <p:nvCxnSpPr>
              <p:cNvPr id="1421" name="Google Shape;1421;p67"/>
              <p:cNvCxnSpPr/>
              <p:nvPr/>
            </p:nvCxnSpPr>
            <p:spPr>
              <a:xfrm>
                <a:off x="7225318" y="4293125"/>
                <a:ext cx="7200" cy="3135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</p:grpSp>
        <p:cxnSp>
          <p:nvCxnSpPr>
            <p:cNvPr id="1422" name="Google Shape;1422;p67"/>
            <p:cNvCxnSpPr>
              <a:stCxn id="1409" idx="3"/>
              <a:endCxn id="1415" idx="1"/>
            </p:cNvCxnSpPr>
            <p:nvPr/>
          </p:nvCxnSpPr>
          <p:spPr>
            <a:xfrm>
              <a:off x="5347115" y="3045583"/>
              <a:ext cx="1320900" cy="537600"/>
            </a:xfrm>
            <a:prstGeom prst="straightConnector1">
              <a:avLst/>
            </a:prstGeom>
            <a:noFill/>
            <a:ln w="19050" cap="flat" cmpd="sng">
              <a:solidFill>
                <a:srgbClr val="FF0000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423" name="Google Shape;1423;p67"/>
            <p:cNvCxnSpPr>
              <a:stCxn id="1410" idx="3"/>
              <a:endCxn id="1420" idx="1"/>
            </p:cNvCxnSpPr>
            <p:nvPr/>
          </p:nvCxnSpPr>
          <p:spPr>
            <a:xfrm>
              <a:off x="5347109" y="3392192"/>
              <a:ext cx="1320900" cy="13221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424" name="Google Shape;1424;p67"/>
            <p:cNvCxnSpPr>
              <a:stCxn id="1411" idx="3"/>
              <a:endCxn id="1417" idx="1"/>
            </p:cNvCxnSpPr>
            <p:nvPr/>
          </p:nvCxnSpPr>
          <p:spPr>
            <a:xfrm rot="10800000" flipH="1">
              <a:off x="5347109" y="3180649"/>
              <a:ext cx="1320900" cy="892800"/>
            </a:xfrm>
            <a:prstGeom prst="straightConnector1">
              <a:avLst/>
            </a:prstGeom>
            <a:noFill/>
            <a:ln w="19050" cap="flat" cmpd="sng">
              <a:solidFill>
                <a:schemeClr val="accent5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grpSp>
          <p:nvGrpSpPr>
            <p:cNvPr id="1425" name="Google Shape;1425;p67"/>
            <p:cNvGrpSpPr/>
            <p:nvPr/>
          </p:nvGrpSpPr>
          <p:grpSpPr>
            <a:xfrm>
              <a:off x="4225059" y="4606627"/>
              <a:ext cx="1122056" cy="1374379"/>
              <a:chOff x="1775100" y="4022829"/>
              <a:chExt cx="1076106" cy="1739721"/>
            </a:xfrm>
          </p:grpSpPr>
          <p:sp>
            <p:nvSpPr>
              <p:cNvPr id="1426" name="Google Shape;1426;p67"/>
              <p:cNvSpPr/>
              <p:nvPr/>
            </p:nvSpPr>
            <p:spPr>
              <a:xfrm>
                <a:off x="1775100" y="4022850"/>
                <a:ext cx="1076100" cy="1739700"/>
              </a:xfrm>
              <a:prstGeom prst="rect">
                <a:avLst/>
              </a:prstGeom>
              <a:solidFill>
                <a:srgbClr val="EFEFEF"/>
              </a:solidFill>
              <a:ln w="19050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427" name="Google Shape;1427;p67"/>
              <p:cNvGrpSpPr/>
              <p:nvPr/>
            </p:nvGrpSpPr>
            <p:grpSpPr>
              <a:xfrm>
                <a:off x="1775100" y="4022829"/>
                <a:ext cx="1076106" cy="1739696"/>
                <a:chOff x="7948250" y="2813104"/>
                <a:chExt cx="1076106" cy="1739696"/>
              </a:xfrm>
            </p:grpSpPr>
            <p:sp>
              <p:nvSpPr>
                <p:cNvPr id="1428" name="Google Shape;1428;p67"/>
                <p:cNvSpPr/>
                <p:nvPr/>
              </p:nvSpPr>
              <p:spPr>
                <a:xfrm>
                  <a:off x="7948256" y="2813104"/>
                  <a:ext cx="1076100" cy="592800"/>
                </a:xfrm>
                <a:prstGeom prst="rect">
                  <a:avLst/>
                </a:prstGeom>
                <a:solidFill>
                  <a:srgbClr val="F4CCCC"/>
                </a:solidFill>
                <a:ln w="9525" cap="flat" cmpd="sng">
                  <a:solidFill>
                    <a:srgbClr val="22222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1600" b="1" dirty="0">
                      <a:latin typeface="Courier New"/>
                      <a:ea typeface="Courier New"/>
                      <a:cs typeface="Courier New"/>
                      <a:sym typeface="Courier New"/>
                    </a:rPr>
                    <a:t>Code</a:t>
                  </a:r>
                  <a:endParaRPr sz="1600" b="1" dirty="0">
                    <a:latin typeface="Courier New"/>
                    <a:ea typeface="Courier New"/>
                    <a:cs typeface="Courier New"/>
                    <a:sym typeface="Courier New"/>
                  </a:endParaRPr>
                </a:p>
              </p:txBody>
            </p:sp>
            <p:sp>
              <p:nvSpPr>
                <p:cNvPr id="1429" name="Google Shape;1429;p67"/>
                <p:cNvSpPr/>
                <p:nvPr/>
              </p:nvSpPr>
              <p:spPr>
                <a:xfrm>
                  <a:off x="7948250" y="3406050"/>
                  <a:ext cx="1076100" cy="284400"/>
                </a:xfrm>
                <a:prstGeom prst="rect">
                  <a:avLst/>
                </a:prstGeom>
                <a:solidFill>
                  <a:srgbClr val="D9D2E9"/>
                </a:solidFill>
                <a:ln w="9525" cap="flat" cmpd="sng">
                  <a:solidFill>
                    <a:srgbClr val="22222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1600" b="1" dirty="0">
                      <a:latin typeface="Courier New"/>
                      <a:ea typeface="Courier New"/>
                      <a:cs typeface="Courier New"/>
                      <a:sym typeface="Courier New"/>
                    </a:rPr>
                    <a:t>heap</a:t>
                  </a:r>
                  <a:endParaRPr sz="2200" dirty="0"/>
                </a:p>
              </p:txBody>
            </p:sp>
            <p:sp>
              <p:nvSpPr>
                <p:cNvPr id="1430" name="Google Shape;1430;p67"/>
                <p:cNvSpPr/>
                <p:nvPr/>
              </p:nvSpPr>
              <p:spPr>
                <a:xfrm>
                  <a:off x="7948250" y="4268400"/>
                  <a:ext cx="1076100" cy="284400"/>
                </a:xfrm>
                <a:prstGeom prst="rect">
                  <a:avLst/>
                </a:prstGeom>
                <a:solidFill>
                  <a:srgbClr val="D9EAD3"/>
                </a:solidFill>
                <a:ln w="9525" cap="flat" cmpd="sng">
                  <a:solidFill>
                    <a:srgbClr val="22222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1600" b="1" dirty="0">
                      <a:latin typeface="Courier New"/>
                      <a:ea typeface="Courier New"/>
                      <a:cs typeface="Courier New"/>
                      <a:sym typeface="Courier New"/>
                    </a:rPr>
                    <a:t>stack</a:t>
                  </a:r>
                  <a:endParaRPr sz="2200" dirty="0"/>
                </a:p>
              </p:txBody>
            </p:sp>
            <p:cxnSp>
              <p:nvCxnSpPr>
                <p:cNvPr id="1431" name="Google Shape;1431;p67"/>
                <p:cNvCxnSpPr>
                  <a:stCxn id="1429" idx="2"/>
                </p:cNvCxnSpPr>
                <p:nvPr/>
              </p:nvCxnSpPr>
              <p:spPr>
                <a:xfrm>
                  <a:off x="8486300" y="3690450"/>
                  <a:ext cx="6900" cy="2613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  <p:cxnSp>
              <p:nvCxnSpPr>
                <p:cNvPr id="1432" name="Google Shape;1432;p67"/>
                <p:cNvCxnSpPr>
                  <a:stCxn id="1430" idx="0"/>
                </p:cNvCxnSpPr>
                <p:nvPr/>
              </p:nvCxnSpPr>
              <p:spPr>
                <a:xfrm rot="10800000" flipH="1">
                  <a:off x="8486300" y="4035600"/>
                  <a:ext cx="4200" cy="2328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</p:grpSp>
        </p:grpSp>
        <p:grpSp>
          <p:nvGrpSpPr>
            <p:cNvPr id="1433" name="Google Shape;1433;p67"/>
            <p:cNvGrpSpPr/>
            <p:nvPr/>
          </p:nvGrpSpPr>
          <p:grpSpPr>
            <a:xfrm>
              <a:off x="6667925" y="3880509"/>
              <a:ext cx="1122000" cy="552881"/>
              <a:chOff x="6667925" y="2767272"/>
              <a:chExt cx="1122000" cy="552881"/>
            </a:xfrm>
          </p:grpSpPr>
          <p:sp>
            <p:nvSpPr>
              <p:cNvPr id="1434" name="Google Shape;1434;p67"/>
              <p:cNvSpPr/>
              <p:nvPr/>
            </p:nvSpPr>
            <p:spPr>
              <a:xfrm>
                <a:off x="6667925" y="3040853"/>
                <a:ext cx="1122000" cy="279300"/>
              </a:xfrm>
              <a:prstGeom prst="rect">
                <a:avLst/>
              </a:prstGeom>
              <a:solidFill>
                <a:srgbClr val="D9EAD3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 b="1" dirty="0">
                    <a:latin typeface="Courier New"/>
                    <a:ea typeface="Courier New"/>
                    <a:cs typeface="Courier New"/>
                    <a:sym typeface="Courier New"/>
                  </a:rPr>
                  <a:t>stack</a:t>
                </a:r>
                <a:endParaRPr sz="2200" dirty="0"/>
              </a:p>
            </p:txBody>
          </p:sp>
          <p:cxnSp>
            <p:nvCxnSpPr>
              <p:cNvPr id="1435" name="Google Shape;1435;p67"/>
              <p:cNvCxnSpPr/>
              <p:nvPr/>
            </p:nvCxnSpPr>
            <p:spPr>
              <a:xfrm rot="10800000" flipH="1">
                <a:off x="7226668" y="2767272"/>
                <a:ext cx="4500" cy="2793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</p:grpSp>
        <p:grpSp>
          <p:nvGrpSpPr>
            <p:cNvPr id="1436" name="Google Shape;1436;p67"/>
            <p:cNvGrpSpPr/>
            <p:nvPr/>
          </p:nvGrpSpPr>
          <p:grpSpPr>
            <a:xfrm>
              <a:off x="6667925" y="5389501"/>
              <a:ext cx="1122000" cy="591500"/>
              <a:chOff x="6667919" y="3952022"/>
              <a:chExt cx="1122000" cy="654604"/>
            </a:xfrm>
          </p:grpSpPr>
          <p:sp>
            <p:nvSpPr>
              <p:cNvPr id="1437" name="Google Shape;1437;p67"/>
              <p:cNvSpPr/>
              <p:nvPr/>
            </p:nvSpPr>
            <p:spPr>
              <a:xfrm>
                <a:off x="6667919" y="3952022"/>
                <a:ext cx="1122000" cy="341100"/>
              </a:xfrm>
              <a:prstGeom prst="rect">
                <a:avLst/>
              </a:prstGeom>
              <a:solidFill>
                <a:srgbClr val="D9D2E9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 b="1" dirty="0">
                    <a:latin typeface="Courier New"/>
                    <a:ea typeface="Courier New"/>
                    <a:cs typeface="Courier New"/>
                    <a:sym typeface="Courier New"/>
                  </a:rPr>
                  <a:t>heap</a:t>
                </a:r>
                <a:endParaRPr sz="2200" dirty="0"/>
              </a:p>
            </p:txBody>
          </p:sp>
          <p:cxnSp>
            <p:nvCxnSpPr>
              <p:cNvPr id="1438" name="Google Shape;1438;p67"/>
              <p:cNvCxnSpPr/>
              <p:nvPr/>
            </p:nvCxnSpPr>
            <p:spPr>
              <a:xfrm>
                <a:off x="7225318" y="4293125"/>
                <a:ext cx="7200" cy="3135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</p:grpSp>
        <p:cxnSp>
          <p:nvCxnSpPr>
            <p:cNvPr id="1439" name="Google Shape;1439;p67"/>
            <p:cNvCxnSpPr>
              <a:stCxn id="1428" idx="3"/>
              <a:endCxn id="1415" idx="1"/>
            </p:cNvCxnSpPr>
            <p:nvPr/>
          </p:nvCxnSpPr>
          <p:spPr>
            <a:xfrm rot="10800000" flipH="1">
              <a:off x="5347115" y="3583183"/>
              <a:ext cx="1320900" cy="1257600"/>
            </a:xfrm>
            <a:prstGeom prst="straightConnector1">
              <a:avLst/>
            </a:prstGeom>
            <a:noFill/>
            <a:ln w="19050" cap="flat" cmpd="sng">
              <a:solidFill>
                <a:srgbClr val="FF0000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440" name="Google Shape;1440;p67"/>
            <p:cNvCxnSpPr>
              <a:stCxn id="1429" idx="3"/>
              <a:endCxn id="1437" idx="1"/>
            </p:cNvCxnSpPr>
            <p:nvPr/>
          </p:nvCxnSpPr>
          <p:spPr>
            <a:xfrm>
              <a:off x="5347109" y="5187392"/>
              <a:ext cx="1320900" cy="356100"/>
            </a:xfrm>
            <a:prstGeom prst="straightConnector1">
              <a:avLst/>
            </a:prstGeom>
            <a:noFill/>
            <a:ln w="19050" cap="flat" cmpd="sng">
              <a:solidFill>
                <a:srgbClr val="8E7CC3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441" name="Google Shape;1441;p67"/>
            <p:cNvCxnSpPr>
              <a:stCxn id="1430" idx="3"/>
              <a:endCxn id="1434" idx="1"/>
            </p:cNvCxnSpPr>
            <p:nvPr/>
          </p:nvCxnSpPr>
          <p:spPr>
            <a:xfrm rot="10800000" flipH="1">
              <a:off x="5347109" y="4293649"/>
              <a:ext cx="1320900" cy="1575000"/>
            </a:xfrm>
            <a:prstGeom prst="straightConnector1">
              <a:avLst/>
            </a:prstGeom>
            <a:noFill/>
            <a:ln w="19050" cap="flat" cmpd="sng">
              <a:solidFill>
                <a:schemeClr val="accent5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1442" name="Google Shape;1442;p67"/>
            <p:cNvSpPr/>
            <p:nvPr/>
          </p:nvSpPr>
          <p:spPr>
            <a:xfrm>
              <a:off x="3260350" y="3104850"/>
              <a:ext cx="602700" cy="648300"/>
            </a:xfrm>
            <a:prstGeom prst="ellipse">
              <a:avLst/>
            </a:prstGeom>
            <a:solidFill>
              <a:srgbClr val="C9DAF8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>
                  <a:latin typeface="Consolas"/>
                  <a:ea typeface="Consolas"/>
                  <a:cs typeface="Consolas"/>
                  <a:sym typeface="Consolas"/>
                </a:rPr>
                <a:t>P1</a:t>
              </a:r>
              <a:endParaRPr sz="1600" b="1"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1443" name="Google Shape;1443;p67"/>
            <p:cNvSpPr/>
            <p:nvPr/>
          </p:nvSpPr>
          <p:spPr>
            <a:xfrm>
              <a:off x="3260350" y="4895200"/>
              <a:ext cx="602700" cy="648300"/>
            </a:xfrm>
            <a:prstGeom prst="ellipse">
              <a:avLst/>
            </a:prstGeom>
            <a:solidFill>
              <a:srgbClr val="F4CCCC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>
                  <a:latin typeface="Consolas"/>
                  <a:ea typeface="Consolas"/>
                  <a:cs typeface="Consolas"/>
                  <a:sym typeface="Consolas"/>
                </a:rPr>
                <a:t>P2</a:t>
              </a:r>
              <a:endParaRPr sz="1600" b="1"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  <p:sp>
        <p:nvSpPr>
          <p:cNvPr id="1444" name="Google Shape;1444;p67"/>
          <p:cNvSpPr txBox="1"/>
          <p:nvPr/>
        </p:nvSpPr>
        <p:spPr>
          <a:xfrm>
            <a:off x="6157790" y="2778847"/>
            <a:ext cx="5209500" cy="3175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solidFill>
                  <a:srgbClr val="FF0000"/>
                </a:solidFill>
                <a:ea typeface="Roboto"/>
                <a:cs typeface="Roboto"/>
                <a:sym typeface="Roboto"/>
              </a:rPr>
              <a:t>¿Cómo hacerlo?</a:t>
            </a:r>
            <a:endParaRPr sz="2400" b="1" dirty="0">
              <a:solidFill>
                <a:srgbClr val="FF0000"/>
              </a:solidFill>
              <a:ea typeface="Roboto"/>
              <a:cs typeface="Roboto"/>
              <a:sym typeface="Roboto"/>
            </a:endParaRPr>
          </a:p>
          <a:p>
            <a:pPr marL="457200" lvl="0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Se agrega HW adicional usando </a:t>
            </a:r>
            <a:r>
              <a:rPr lang="es-ES" sz="2400" b="1" dirty="0">
                <a:solidFill>
                  <a:srgbClr val="70AD47"/>
                </a:solidFill>
                <a:ea typeface="Roboto"/>
                <a:cs typeface="Roboto"/>
                <a:sym typeface="Roboto"/>
              </a:rPr>
              <a:t>bits de protección</a:t>
            </a:r>
            <a:r>
              <a:rPr lang="es-ES" sz="2400" b="1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 </a:t>
            </a:r>
            <a:r>
              <a:rPr lang="es-ES" sz="2400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para indicar los permisos de un segmento en particular:</a:t>
            </a:r>
            <a:endParaRPr sz="2400" dirty="0">
              <a:solidFill>
                <a:schemeClr val="dk1"/>
              </a:solidFill>
              <a:ea typeface="Roboto"/>
              <a:cs typeface="Roboto"/>
              <a:sym typeface="Roboto"/>
            </a:endParaRPr>
          </a:p>
          <a:p>
            <a:pPr marL="914400" lvl="1" indent="-368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Roboto"/>
              <a:buChar char="○"/>
            </a:pPr>
            <a:r>
              <a:rPr lang="es-ES" sz="2200" b="1" dirty="0">
                <a:solidFill>
                  <a:srgbClr val="FF0000"/>
                </a:solidFill>
                <a:ea typeface="Consolas"/>
                <a:cs typeface="Consolas"/>
                <a:sym typeface="Consolas"/>
              </a:rPr>
              <a:t>R</a:t>
            </a:r>
            <a:r>
              <a:rPr lang="es-ES" sz="2200" dirty="0">
                <a:solidFill>
                  <a:srgbClr val="FF0000"/>
                </a:solidFill>
                <a:ea typeface="Consolas"/>
                <a:cs typeface="Consolas"/>
                <a:sym typeface="Consolas"/>
              </a:rPr>
              <a:t>:</a:t>
            </a:r>
            <a:r>
              <a:rPr lang="es-ES" sz="2200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 Lectura</a:t>
            </a:r>
            <a:endParaRPr sz="2200" dirty="0">
              <a:solidFill>
                <a:schemeClr val="dk1"/>
              </a:solidFill>
              <a:ea typeface="Roboto"/>
              <a:cs typeface="Roboto"/>
              <a:sym typeface="Roboto"/>
            </a:endParaRPr>
          </a:p>
          <a:p>
            <a:pPr marL="914400" lvl="1" indent="-368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Roboto"/>
              <a:buChar char="○"/>
            </a:pPr>
            <a:r>
              <a:rPr lang="es-ES" sz="2200" b="1" dirty="0">
                <a:solidFill>
                  <a:srgbClr val="70AD47"/>
                </a:solidFill>
                <a:ea typeface="Consolas"/>
                <a:cs typeface="Consolas"/>
                <a:sym typeface="Consolas"/>
              </a:rPr>
              <a:t>W</a:t>
            </a:r>
            <a:r>
              <a:rPr lang="es-ES" sz="2200" dirty="0">
                <a:solidFill>
                  <a:srgbClr val="70AD47"/>
                </a:solidFill>
                <a:ea typeface="Consolas"/>
                <a:cs typeface="Consolas"/>
                <a:sym typeface="Consolas"/>
              </a:rPr>
              <a:t>:</a:t>
            </a:r>
            <a:r>
              <a:rPr lang="es-ES" sz="2200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 Escritura</a:t>
            </a:r>
            <a:endParaRPr sz="2200" dirty="0">
              <a:solidFill>
                <a:schemeClr val="dk1"/>
              </a:solidFill>
              <a:ea typeface="Roboto"/>
              <a:cs typeface="Roboto"/>
              <a:sym typeface="Roboto"/>
            </a:endParaRPr>
          </a:p>
          <a:p>
            <a:pPr marL="914400" lvl="1" indent="-368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Roboto"/>
              <a:buChar char="○"/>
            </a:pPr>
            <a:r>
              <a:rPr lang="es-ES" sz="2200" b="1" dirty="0">
                <a:solidFill>
                  <a:schemeClr val="accent5"/>
                </a:solidFill>
                <a:ea typeface="Consolas"/>
                <a:cs typeface="Consolas"/>
                <a:sym typeface="Consolas"/>
              </a:rPr>
              <a:t>X</a:t>
            </a:r>
            <a:r>
              <a:rPr lang="es-ES" sz="2200" dirty="0">
                <a:solidFill>
                  <a:schemeClr val="accent5"/>
                </a:solidFill>
                <a:ea typeface="Consolas"/>
                <a:cs typeface="Consolas"/>
                <a:sym typeface="Consolas"/>
              </a:rPr>
              <a:t>:</a:t>
            </a:r>
            <a:r>
              <a:rPr lang="es-ES" sz="2200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 Ejecución</a:t>
            </a:r>
            <a:endParaRPr sz="2400" dirty="0">
              <a:solidFill>
                <a:schemeClr val="dk1"/>
              </a:solidFill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9" name="Google Shape;1449;p68"/>
          <p:cNvSpPr txBox="1">
            <a:spLocks noGrp="1"/>
          </p:cNvSpPr>
          <p:nvPr>
            <p:ph type="title"/>
          </p:nvPr>
        </p:nvSpPr>
        <p:spPr>
          <a:xfrm>
            <a:off x="275550" y="96038"/>
            <a:ext cx="89451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b="0" dirty="0">
                <a:latin typeface="+mj-lt"/>
              </a:rPr>
              <a:t>Segmentos compartidos</a:t>
            </a:r>
            <a:endParaRPr b="0" dirty="0">
              <a:latin typeface="+mj-lt"/>
            </a:endParaRPr>
          </a:p>
        </p:txBody>
      </p:sp>
      <p:sp>
        <p:nvSpPr>
          <p:cNvPr id="1450" name="Google Shape;1450;p68"/>
          <p:cNvSpPr txBox="1">
            <a:spLocks noGrp="1"/>
          </p:cNvSpPr>
          <p:nvPr>
            <p:ph type="body" idx="1"/>
          </p:nvPr>
        </p:nvSpPr>
        <p:spPr>
          <a:xfrm>
            <a:off x="431800" y="793125"/>
            <a:ext cx="11484650" cy="1492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800" b="1" dirty="0">
                <a:solidFill>
                  <a:schemeClr val="accent1"/>
                </a:solidFill>
                <a:latin typeface="+mn-lt"/>
              </a:rPr>
              <a:t>Escenario</a:t>
            </a:r>
            <a:endParaRPr sz="2800" dirty="0">
              <a:solidFill>
                <a:schemeClr val="accent1"/>
              </a:solidFill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solidFill>
                  <a:srgbClr val="FF0000"/>
                </a:solidFill>
                <a:latin typeface="+mn-lt"/>
              </a:rPr>
              <a:t>¿Que pasa cuando se ejecutan dos procesos con la misma imagen?</a:t>
            </a:r>
            <a:endParaRPr sz="2400" b="1" dirty="0">
              <a:solidFill>
                <a:srgbClr val="FF0000"/>
              </a:solidFill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400"/>
              <a:buChar char="●"/>
            </a:pPr>
            <a:r>
              <a:rPr lang="es-ES" sz="2400" dirty="0">
                <a:latin typeface="+mn-lt"/>
              </a:rPr>
              <a:t>Algunos segmentos (como el segmento de código) podrían compartirse</a:t>
            </a: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</p:txBody>
      </p:sp>
      <p:grpSp>
        <p:nvGrpSpPr>
          <p:cNvPr id="1451" name="Google Shape;1451;p68"/>
          <p:cNvGrpSpPr/>
          <p:nvPr/>
        </p:nvGrpSpPr>
        <p:grpSpPr>
          <a:xfrm>
            <a:off x="1577997" y="2735902"/>
            <a:ext cx="1122056" cy="1374379"/>
            <a:chOff x="1775100" y="4022829"/>
            <a:chExt cx="1076106" cy="1739721"/>
          </a:xfrm>
        </p:grpSpPr>
        <p:sp>
          <p:nvSpPr>
            <p:cNvPr id="1452" name="Google Shape;1452;p68"/>
            <p:cNvSpPr/>
            <p:nvPr/>
          </p:nvSpPr>
          <p:spPr>
            <a:xfrm>
              <a:off x="1775100" y="4022850"/>
              <a:ext cx="1076100" cy="1739700"/>
            </a:xfrm>
            <a:prstGeom prst="rect">
              <a:avLst/>
            </a:prstGeom>
            <a:solidFill>
              <a:srgbClr val="EFEFEF"/>
            </a:solidFill>
            <a:ln w="19050" cap="flat" cmpd="sng">
              <a:solidFill>
                <a:srgbClr val="22222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453" name="Google Shape;1453;p68"/>
            <p:cNvGrpSpPr/>
            <p:nvPr/>
          </p:nvGrpSpPr>
          <p:grpSpPr>
            <a:xfrm>
              <a:off x="1775100" y="4022829"/>
              <a:ext cx="1076106" cy="1739696"/>
              <a:chOff x="7948250" y="2813104"/>
              <a:chExt cx="1076106" cy="1739696"/>
            </a:xfrm>
          </p:grpSpPr>
          <p:sp>
            <p:nvSpPr>
              <p:cNvPr id="1454" name="Google Shape;1454;p68"/>
              <p:cNvSpPr/>
              <p:nvPr/>
            </p:nvSpPr>
            <p:spPr>
              <a:xfrm>
                <a:off x="7948256" y="2813104"/>
                <a:ext cx="1076100" cy="592800"/>
              </a:xfrm>
              <a:prstGeom prst="rect">
                <a:avLst/>
              </a:prstGeom>
              <a:solidFill>
                <a:srgbClr val="F4CCCC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 b="1" dirty="0">
                    <a:latin typeface="Courier New"/>
                    <a:ea typeface="Courier New"/>
                    <a:cs typeface="Courier New"/>
                    <a:sym typeface="Courier New"/>
                  </a:rPr>
                  <a:t>Code</a:t>
                </a:r>
                <a:endParaRPr sz="1600" b="1" dirty="0"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  <p:sp>
            <p:nvSpPr>
              <p:cNvPr id="1455" name="Google Shape;1455;p68"/>
              <p:cNvSpPr/>
              <p:nvPr/>
            </p:nvSpPr>
            <p:spPr>
              <a:xfrm>
                <a:off x="7948250" y="3406050"/>
                <a:ext cx="1076100" cy="284400"/>
              </a:xfrm>
              <a:prstGeom prst="rect">
                <a:avLst/>
              </a:prstGeom>
              <a:solidFill>
                <a:srgbClr val="FFE599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 b="1" dirty="0">
                    <a:latin typeface="Courier New"/>
                    <a:ea typeface="Courier New"/>
                    <a:cs typeface="Courier New"/>
                    <a:sym typeface="Courier New"/>
                  </a:rPr>
                  <a:t>heap</a:t>
                </a:r>
                <a:endParaRPr sz="2200" dirty="0"/>
              </a:p>
            </p:txBody>
          </p:sp>
          <p:sp>
            <p:nvSpPr>
              <p:cNvPr id="1456" name="Google Shape;1456;p68"/>
              <p:cNvSpPr/>
              <p:nvPr/>
            </p:nvSpPr>
            <p:spPr>
              <a:xfrm>
                <a:off x="7948250" y="4268400"/>
                <a:ext cx="1076100" cy="284400"/>
              </a:xfrm>
              <a:prstGeom prst="rect">
                <a:avLst/>
              </a:prstGeom>
              <a:solidFill>
                <a:srgbClr val="CFE2F3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 b="1" dirty="0">
                    <a:latin typeface="Courier New"/>
                    <a:ea typeface="Courier New"/>
                    <a:cs typeface="Courier New"/>
                    <a:sym typeface="Courier New"/>
                  </a:rPr>
                  <a:t>stack</a:t>
                </a:r>
                <a:endParaRPr sz="2200" dirty="0"/>
              </a:p>
            </p:txBody>
          </p:sp>
          <p:cxnSp>
            <p:nvCxnSpPr>
              <p:cNvPr id="1457" name="Google Shape;1457;p68"/>
              <p:cNvCxnSpPr>
                <a:stCxn id="1455" idx="2"/>
              </p:cNvCxnSpPr>
              <p:nvPr/>
            </p:nvCxnSpPr>
            <p:spPr>
              <a:xfrm>
                <a:off x="8486300" y="3690450"/>
                <a:ext cx="6900" cy="2613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458" name="Google Shape;1458;p68"/>
              <p:cNvCxnSpPr>
                <a:stCxn id="1456" idx="0"/>
              </p:cNvCxnSpPr>
              <p:nvPr/>
            </p:nvCxnSpPr>
            <p:spPr>
              <a:xfrm rot="10800000" flipH="1">
                <a:off x="8486300" y="4035600"/>
                <a:ext cx="4200" cy="2328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</p:grpSp>
      </p:grpSp>
      <p:cxnSp>
        <p:nvCxnSpPr>
          <p:cNvPr id="1459" name="Google Shape;1459;p68"/>
          <p:cNvCxnSpPr>
            <a:stCxn id="1454" idx="3"/>
            <a:endCxn id="1460" idx="1"/>
          </p:cNvCxnSpPr>
          <p:nvPr/>
        </p:nvCxnSpPr>
        <p:spPr>
          <a:xfrm>
            <a:off x="2700053" y="2970058"/>
            <a:ext cx="837000" cy="590100"/>
          </a:xfrm>
          <a:prstGeom prst="straightConnector1">
            <a:avLst/>
          </a:prstGeom>
          <a:noFill/>
          <a:ln w="19050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461" name="Google Shape;1461;p68"/>
          <p:cNvCxnSpPr>
            <a:stCxn id="1455" idx="3"/>
            <a:endCxn id="1462" idx="1"/>
          </p:cNvCxnSpPr>
          <p:nvPr/>
        </p:nvCxnSpPr>
        <p:spPr>
          <a:xfrm>
            <a:off x="2700046" y="3316667"/>
            <a:ext cx="837000" cy="13743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463" name="Google Shape;1463;p68"/>
          <p:cNvCxnSpPr>
            <a:stCxn id="1456" idx="3"/>
            <a:endCxn id="1464" idx="1"/>
          </p:cNvCxnSpPr>
          <p:nvPr/>
        </p:nvCxnSpPr>
        <p:spPr>
          <a:xfrm rot="10800000" flipH="1">
            <a:off x="2700046" y="3157324"/>
            <a:ext cx="837000" cy="840600"/>
          </a:xfrm>
          <a:prstGeom prst="straightConnector1">
            <a:avLst/>
          </a:prstGeom>
          <a:noFill/>
          <a:ln w="19050" cap="flat" cmpd="sng">
            <a:solidFill>
              <a:schemeClr val="accent5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1465" name="Google Shape;1465;p68"/>
          <p:cNvGrpSpPr/>
          <p:nvPr/>
        </p:nvGrpSpPr>
        <p:grpSpPr>
          <a:xfrm>
            <a:off x="1609847" y="4560252"/>
            <a:ext cx="1122056" cy="1374379"/>
            <a:chOff x="1775100" y="4022829"/>
            <a:chExt cx="1076106" cy="1739721"/>
          </a:xfrm>
        </p:grpSpPr>
        <p:sp>
          <p:nvSpPr>
            <p:cNvPr id="1466" name="Google Shape;1466;p68"/>
            <p:cNvSpPr/>
            <p:nvPr/>
          </p:nvSpPr>
          <p:spPr>
            <a:xfrm>
              <a:off x="1775100" y="4022850"/>
              <a:ext cx="1076100" cy="1739700"/>
            </a:xfrm>
            <a:prstGeom prst="rect">
              <a:avLst/>
            </a:prstGeom>
            <a:solidFill>
              <a:srgbClr val="EFEFEF"/>
            </a:solidFill>
            <a:ln w="19050" cap="flat" cmpd="sng">
              <a:solidFill>
                <a:srgbClr val="22222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467" name="Google Shape;1467;p68"/>
            <p:cNvGrpSpPr/>
            <p:nvPr/>
          </p:nvGrpSpPr>
          <p:grpSpPr>
            <a:xfrm>
              <a:off x="1775100" y="4022829"/>
              <a:ext cx="1076106" cy="1739696"/>
              <a:chOff x="7948250" y="2813104"/>
              <a:chExt cx="1076106" cy="1739696"/>
            </a:xfrm>
          </p:grpSpPr>
          <p:sp>
            <p:nvSpPr>
              <p:cNvPr id="1468" name="Google Shape;1468;p68"/>
              <p:cNvSpPr/>
              <p:nvPr/>
            </p:nvSpPr>
            <p:spPr>
              <a:xfrm>
                <a:off x="7948256" y="2813104"/>
                <a:ext cx="1076100" cy="592800"/>
              </a:xfrm>
              <a:prstGeom prst="rect">
                <a:avLst/>
              </a:prstGeom>
              <a:solidFill>
                <a:srgbClr val="F4CCCC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 b="1" dirty="0">
                    <a:latin typeface="Courier New"/>
                    <a:ea typeface="Courier New"/>
                    <a:cs typeface="Courier New"/>
                    <a:sym typeface="Courier New"/>
                  </a:rPr>
                  <a:t>Code</a:t>
                </a:r>
                <a:endParaRPr sz="1600" b="1" dirty="0"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  <p:sp>
            <p:nvSpPr>
              <p:cNvPr id="1469" name="Google Shape;1469;p68"/>
              <p:cNvSpPr/>
              <p:nvPr/>
            </p:nvSpPr>
            <p:spPr>
              <a:xfrm>
                <a:off x="7948250" y="3406050"/>
                <a:ext cx="1076100" cy="284400"/>
              </a:xfrm>
              <a:prstGeom prst="rect">
                <a:avLst/>
              </a:prstGeom>
              <a:solidFill>
                <a:srgbClr val="D9D2E9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 b="1" dirty="0">
                    <a:latin typeface="Courier New"/>
                    <a:ea typeface="Courier New"/>
                    <a:cs typeface="Courier New"/>
                    <a:sym typeface="Courier New"/>
                  </a:rPr>
                  <a:t>heap</a:t>
                </a:r>
                <a:endParaRPr sz="2200" dirty="0"/>
              </a:p>
            </p:txBody>
          </p:sp>
          <p:sp>
            <p:nvSpPr>
              <p:cNvPr id="1470" name="Google Shape;1470;p68"/>
              <p:cNvSpPr/>
              <p:nvPr/>
            </p:nvSpPr>
            <p:spPr>
              <a:xfrm>
                <a:off x="7948250" y="4268400"/>
                <a:ext cx="1076100" cy="284400"/>
              </a:xfrm>
              <a:prstGeom prst="rect">
                <a:avLst/>
              </a:prstGeom>
              <a:solidFill>
                <a:srgbClr val="D9EAD3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 b="1" dirty="0">
                    <a:latin typeface="Courier New"/>
                    <a:ea typeface="Courier New"/>
                    <a:cs typeface="Courier New"/>
                    <a:sym typeface="Courier New"/>
                  </a:rPr>
                  <a:t>stack</a:t>
                </a:r>
                <a:endParaRPr sz="2200" dirty="0"/>
              </a:p>
            </p:txBody>
          </p:sp>
          <p:cxnSp>
            <p:nvCxnSpPr>
              <p:cNvPr id="1471" name="Google Shape;1471;p68"/>
              <p:cNvCxnSpPr>
                <a:stCxn id="1469" idx="2"/>
              </p:cNvCxnSpPr>
              <p:nvPr/>
            </p:nvCxnSpPr>
            <p:spPr>
              <a:xfrm>
                <a:off x="8486300" y="3690450"/>
                <a:ext cx="6900" cy="2613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472" name="Google Shape;1472;p68"/>
              <p:cNvCxnSpPr>
                <a:stCxn id="1470" idx="0"/>
              </p:cNvCxnSpPr>
              <p:nvPr/>
            </p:nvCxnSpPr>
            <p:spPr>
              <a:xfrm rot="10800000" flipH="1">
                <a:off x="8486300" y="4035600"/>
                <a:ext cx="4200" cy="2328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</p:grpSp>
      </p:grpSp>
      <p:grpSp>
        <p:nvGrpSpPr>
          <p:cNvPr id="1473" name="Google Shape;1473;p68"/>
          <p:cNvGrpSpPr/>
          <p:nvPr/>
        </p:nvGrpSpPr>
        <p:grpSpPr>
          <a:xfrm>
            <a:off x="3537113" y="2651675"/>
            <a:ext cx="1122000" cy="3442200"/>
            <a:chOff x="4324225" y="2628525"/>
            <a:chExt cx="1122000" cy="3442200"/>
          </a:xfrm>
        </p:grpSpPr>
        <p:sp>
          <p:nvSpPr>
            <p:cNvPr id="1474" name="Google Shape;1474;p68"/>
            <p:cNvSpPr/>
            <p:nvPr/>
          </p:nvSpPr>
          <p:spPr>
            <a:xfrm>
              <a:off x="4324225" y="2628525"/>
              <a:ext cx="1122000" cy="3442200"/>
            </a:xfrm>
            <a:prstGeom prst="rect">
              <a:avLst/>
            </a:prstGeom>
            <a:solidFill>
              <a:srgbClr val="EFEFEF"/>
            </a:solidFill>
            <a:ln w="19050" cap="flat" cmpd="sng">
              <a:solidFill>
                <a:srgbClr val="22222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0" name="Google Shape;1460;p68"/>
            <p:cNvSpPr/>
            <p:nvPr/>
          </p:nvSpPr>
          <p:spPr>
            <a:xfrm>
              <a:off x="4324225" y="3366348"/>
              <a:ext cx="1122000" cy="341100"/>
            </a:xfrm>
            <a:prstGeom prst="rect">
              <a:avLst/>
            </a:prstGeom>
            <a:solidFill>
              <a:srgbClr val="F4CCCC"/>
            </a:solidFill>
            <a:ln w="9525" cap="flat" cmpd="sng">
              <a:solidFill>
                <a:srgbClr val="22222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 dirty="0">
                  <a:latin typeface="Courier New"/>
                  <a:ea typeface="Courier New"/>
                  <a:cs typeface="Courier New"/>
                  <a:sym typeface="Courier New"/>
                </a:rPr>
                <a:t>Code</a:t>
              </a:r>
              <a:endParaRPr sz="1600" b="1" dirty="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grpSp>
          <p:nvGrpSpPr>
            <p:cNvPr id="1475" name="Google Shape;1475;p68"/>
            <p:cNvGrpSpPr/>
            <p:nvPr/>
          </p:nvGrpSpPr>
          <p:grpSpPr>
            <a:xfrm>
              <a:off x="4324225" y="2720922"/>
              <a:ext cx="1122000" cy="552881"/>
              <a:chOff x="6667925" y="2767272"/>
              <a:chExt cx="1122000" cy="552881"/>
            </a:xfrm>
          </p:grpSpPr>
          <p:sp>
            <p:nvSpPr>
              <p:cNvPr id="1464" name="Google Shape;1464;p68"/>
              <p:cNvSpPr/>
              <p:nvPr/>
            </p:nvSpPr>
            <p:spPr>
              <a:xfrm>
                <a:off x="6667925" y="3040853"/>
                <a:ext cx="1122000" cy="279300"/>
              </a:xfrm>
              <a:prstGeom prst="rect">
                <a:avLst/>
              </a:prstGeom>
              <a:solidFill>
                <a:srgbClr val="CFE2F3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 b="1" dirty="0">
                    <a:latin typeface="Courier New"/>
                    <a:ea typeface="Courier New"/>
                    <a:cs typeface="Courier New"/>
                    <a:sym typeface="Courier New"/>
                  </a:rPr>
                  <a:t>stack</a:t>
                </a:r>
                <a:endParaRPr sz="2200" dirty="0"/>
              </a:p>
            </p:txBody>
          </p:sp>
          <p:cxnSp>
            <p:nvCxnSpPr>
              <p:cNvPr id="1476" name="Google Shape;1476;p68"/>
              <p:cNvCxnSpPr/>
              <p:nvPr/>
            </p:nvCxnSpPr>
            <p:spPr>
              <a:xfrm rot="10800000" flipH="1">
                <a:off x="7226668" y="2767272"/>
                <a:ext cx="4500" cy="2793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</p:grpSp>
        <p:grpSp>
          <p:nvGrpSpPr>
            <p:cNvPr id="1477" name="Google Shape;1477;p68"/>
            <p:cNvGrpSpPr/>
            <p:nvPr/>
          </p:nvGrpSpPr>
          <p:grpSpPr>
            <a:xfrm>
              <a:off x="4324225" y="4513751"/>
              <a:ext cx="1122000" cy="591500"/>
              <a:chOff x="6667919" y="3952022"/>
              <a:chExt cx="1122000" cy="654604"/>
            </a:xfrm>
          </p:grpSpPr>
          <p:sp>
            <p:nvSpPr>
              <p:cNvPr id="1462" name="Google Shape;1462;p68"/>
              <p:cNvSpPr/>
              <p:nvPr/>
            </p:nvSpPr>
            <p:spPr>
              <a:xfrm>
                <a:off x="6667919" y="3952022"/>
                <a:ext cx="1122000" cy="341100"/>
              </a:xfrm>
              <a:prstGeom prst="rect">
                <a:avLst/>
              </a:prstGeom>
              <a:solidFill>
                <a:srgbClr val="FFE599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 b="1" dirty="0">
                    <a:latin typeface="Courier New"/>
                    <a:ea typeface="Courier New"/>
                    <a:cs typeface="Courier New"/>
                    <a:sym typeface="Courier New"/>
                  </a:rPr>
                  <a:t>heap</a:t>
                </a:r>
                <a:endParaRPr sz="2200" dirty="0"/>
              </a:p>
            </p:txBody>
          </p:sp>
          <p:cxnSp>
            <p:nvCxnSpPr>
              <p:cNvPr id="1478" name="Google Shape;1478;p68"/>
              <p:cNvCxnSpPr/>
              <p:nvPr/>
            </p:nvCxnSpPr>
            <p:spPr>
              <a:xfrm>
                <a:off x="7225318" y="4293125"/>
                <a:ext cx="7200" cy="3135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</p:grpSp>
        <p:grpSp>
          <p:nvGrpSpPr>
            <p:cNvPr id="1479" name="Google Shape;1479;p68"/>
            <p:cNvGrpSpPr/>
            <p:nvPr/>
          </p:nvGrpSpPr>
          <p:grpSpPr>
            <a:xfrm>
              <a:off x="4324225" y="3834159"/>
              <a:ext cx="1122000" cy="552881"/>
              <a:chOff x="6667925" y="2767272"/>
              <a:chExt cx="1122000" cy="552881"/>
            </a:xfrm>
          </p:grpSpPr>
          <p:sp>
            <p:nvSpPr>
              <p:cNvPr id="1480" name="Google Shape;1480;p68"/>
              <p:cNvSpPr/>
              <p:nvPr/>
            </p:nvSpPr>
            <p:spPr>
              <a:xfrm>
                <a:off x="6667925" y="3040853"/>
                <a:ext cx="1122000" cy="279300"/>
              </a:xfrm>
              <a:prstGeom prst="rect">
                <a:avLst/>
              </a:prstGeom>
              <a:solidFill>
                <a:srgbClr val="D9EAD3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 b="1" dirty="0">
                    <a:latin typeface="Courier New"/>
                    <a:ea typeface="Courier New"/>
                    <a:cs typeface="Courier New"/>
                    <a:sym typeface="Courier New"/>
                  </a:rPr>
                  <a:t>stack</a:t>
                </a:r>
                <a:endParaRPr sz="2200" dirty="0"/>
              </a:p>
            </p:txBody>
          </p:sp>
          <p:cxnSp>
            <p:nvCxnSpPr>
              <p:cNvPr id="1481" name="Google Shape;1481;p68"/>
              <p:cNvCxnSpPr/>
              <p:nvPr/>
            </p:nvCxnSpPr>
            <p:spPr>
              <a:xfrm rot="10800000" flipH="1">
                <a:off x="7226668" y="2767272"/>
                <a:ext cx="4500" cy="2793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</p:grpSp>
        <p:grpSp>
          <p:nvGrpSpPr>
            <p:cNvPr id="1482" name="Google Shape;1482;p68"/>
            <p:cNvGrpSpPr/>
            <p:nvPr/>
          </p:nvGrpSpPr>
          <p:grpSpPr>
            <a:xfrm>
              <a:off x="4324225" y="5343151"/>
              <a:ext cx="1122000" cy="591500"/>
              <a:chOff x="6667919" y="3952022"/>
              <a:chExt cx="1122000" cy="654604"/>
            </a:xfrm>
          </p:grpSpPr>
          <p:sp>
            <p:nvSpPr>
              <p:cNvPr id="1483" name="Google Shape;1483;p68"/>
              <p:cNvSpPr/>
              <p:nvPr/>
            </p:nvSpPr>
            <p:spPr>
              <a:xfrm>
                <a:off x="6667919" y="3952022"/>
                <a:ext cx="1122000" cy="341100"/>
              </a:xfrm>
              <a:prstGeom prst="rect">
                <a:avLst/>
              </a:prstGeom>
              <a:solidFill>
                <a:srgbClr val="D9D2E9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 b="1" dirty="0">
                    <a:latin typeface="Courier New"/>
                    <a:ea typeface="Courier New"/>
                    <a:cs typeface="Courier New"/>
                    <a:sym typeface="Courier New"/>
                  </a:rPr>
                  <a:t>heap</a:t>
                </a:r>
                <a:endParaRPr sz="2200" dirty="0"/>
              </a:p>
            </p:txBody>
          </p:sp>
          <p:cxnSp>
            <p:nvCxnSpPr>
              <p:cNvPr id="1484" name="Google Shape;1484;p68"/>
              <p:cNvCxnSpPr/>
              <p:nvPr/>
            </p:nvCxnSpPr>
            <p:spPr>
              <a:xfrm>
                <a:off x="7225318" y="4293125"/>
                <a:ext cx="7200" cy="3135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</p:grpSp>
      </p:grpSp>
      <p:cxnSp>
        <p:nvCxnSpPr>
          <p:cNvPr id="1485" name="Google Shape;1485;p68"/>
          <p:cNvCxnSpPr>
            <a:stCxn id="1468" idx="3"/>
            <a:endCxn id="1460" idx="1"/>
          </p:cNvCxnSpPr>
          <p:nvPr/>
        </p:nvCxnSpPr>
        <p:spPr>
          <a:xfrm rot="10800000" flipH="1">
            <a:off x="2731903" y="3559908"/>
            <a:ext cx="805200" cy="1234500"/>
          </a:xfrm>
          <a:prstGeom prst="straightConnector1">
            <a:avLst/>
          </a:prstGeom>
          <a:noFill/>
          <a:ln w="19050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486" name="Google Shape;1486;p68"/>
          <p:cNvCxnSpPr>
            <a:stCxn id="1469" idx="3"/>
            <a:endCxn id="1483" idx="1"/>
          </p:cNvCxnSpPr>
          <p:nvPr/>
        </p:nvCxnSpPr>
        <p:spPr>
          <a:xfrm>
            <a:off x="2731896" y="5141017"/>
            <a:ext cx="805200" cy="379500"/>
          </a:xfrm>
          <a:prstGeom prst="straightConnector1">
            <a:avLst/>
          </a:prstGeom>
          <a:noFill/>
          <a:ln w="19050" cap="flat" cmpd="sng">
            <a:solidFill>
              <a:srgbClr val="8E7CC3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487" name="Google Shape;1487;p68"/>
          <p:cNvCxnSpPr>
            <a:stCxn id="1470" idx="3"/>
            <a:endCxn id="1480" idx="1"/>
          </p:cNvCxnSpPr>
          <p:nvPr/>
        </p:nvCxnSpPr>
        <p:spPr>
          <a:xfrm rot="10800000" flipH="1">
            <a:off x="2731896" y="4270674"/>
            <a:ext cx="805200" cy="1551600"/>
          </a:xfrm>
          <a:prstGeom prst="straightConnector1">
            <a:avLst/>
          </a:prstGeom>
          <a:noFill/>
          <a:ln w="19050" cap="flat" cmpd="sng">
            <a:solidFill>
              <a:schemeClr val="accent5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488" name="Google Shape;1488;p68"/>
          <p:cNvSpPr/>
          <p:nvPr/>
        </p:nvSpPr>
        <p:spPr>
          <a:xfrm>
            <a:off x="835550" y="3098938"/>
            <a:ext cx="602700" cy="648300"/>
          </a:xfrm>
          <a:prstGeom prst="ellipse">
            <a:avLst/>
          </a:prstGeom>
          <a:solidFill>
            <a:srgbClr val="C9DAF8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>
                <a:latin typeface="Consolas"/>
                <a:ea typeface="Consolas"/>
                <a:cs typeface="Consolas"/>
                <a:sym typeface="Consolas"/>
              </a:rPr>
              <a:t>P1</a:t>
            </a:r>
            <a:endParaRPr sz="16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89" name="Google Shape;1489;p68"/>
          <p:cNvSpPr/>
          <p:nvPr/>
        </p:nvSpPr>
        <p:spPr>
          <a:xfrm>
            <a:off x="835550" y="4842600"/>
            <a:ext cx="602700" cy="648300"/>
          </a:xfrm>
          <a:prstGeom prst="ellipse">
            <a:avLst/>
          </a:prstGeom>
          <a:solidFill>
            <a:srgbClr val="F4CCCC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>
                <a:latin typeface="Consolas"/>
                <a:ea typeface="Consolas"/>
                <a:cs typeface="Consolas"/>
                <a:sym typeface="Consolas"/>
              </a:rPr>
              <a:t>P2</a:t>
            </a:r>
            <a:endParaRPr sz="1600" b="1">
              <a:latin typeface="Consolas"/>
              <a:ea typeface="Consolas"/>
              <a:cs typeface="Consolas"/>
              <a:sym typeface="Consolas"/>
            </a:endParaRPr>
          </a:p>
        </p:txBody>
      </p:sp>
      <p:graphicFrame>
        <p:nvGraphicFramePr>
          <p:cNvPr id="1490" name="Google Shape;1490;p68"/>
          <p:cNvGraphicFramePr/>
          <p:nvPr>
            <p:extLst>
              <p:ext uri="{D42A27DB-BD31-4B8C-83A1-F6EECF244321}">
                <p14:modId xmlns:p14="http://schemas.microsoft.com/office/powerpoint/2010/main" val="1422028008"/>
              </p:ext>
            </p:extLst>
          </p:nvPr>
        </p:nvGraphicFramePr>
        <p:xfrm>
          <a:off x="5035614" y="3206460"/>
          <a:ext cx="6993075" cy="1950600"/>
        </p:xfrm>
        <a:graphic>
          <a:graphicData uri="http://schemas.openxmlformats.org/drawingml/2006/table">
            <a:tbl>
              <a:tblPr>
                <a:noFill/>
                <a:tableStyleId>{CA5C7703-E2AC-41A6-8DEA-2D5C455BA520}</a:tableStyleId>
              </a:tblPr>
              <a:tblGrid>
                <a:gridCol w="12451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05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43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3885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342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086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segment</a:t>
                      </a:r>
                      <a:endParaRPr sz="1600" b="1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base</a:t>
                      </a:r>
                      <a:endParaRPr sz="1600" b="1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size 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(max 4K)</a:t>
                      </a:r>
                      <a:endParaRPr sz="1600" b="1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Grows Positive?</a:t>
                      </a:r>
                      <a:endParaRPr sz="1600" b="1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Protección</a:t>
                      </a:r>
                      <a:endParaRPr sz="1600" b="1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86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code(00)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/>
                        <a:t>32K</a:t>
                      </a:r>
                      <a:endParaRPr sz="1600"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2K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Read-Execute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86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heap(01)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</a:rPr>
                        <a:t>34K</a:t>
                      </a:r>
                      <a:endParaRPr sz="1600"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2K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Read-Write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86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stack(11)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/>
                        <a:t>28K</a:t>
                      </a:r>
                      <a:endParaRPr sz="1600"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2K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600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Read-Write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491" name="Google Shape;1491;p68"/>
          <p:cNvSpPr txBox="1"/>
          <p:nvPr/>
        </p:nvSpPr>
        <p:spPr>
          <a:xfrm>
            <a:off x="4962189" y="5178428"/>
            <a:ext cx="70665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Segment Register Values (with Protection)</a:t>
            </a:r>
            <a:endParaRPr sz="1800" b="1" dirty="0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2" name="Google Shape;1502;p70"/>
          <p:cNvSpPr txBox="1">
            <a:spLocks noGrp="1"/>
          </p:cNvSpPr>
          <p:nvPr>
            <p:ph type="title"/>
          </p:nvPr>
        </p:nvSpPr>
        <p:spPr>
          <a:xfrm>
            <a:off x="711200" y="96038"/>
            <a:ext cx="8509450" cy="9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1E5C"/>
              </a:buClr>
              <a:buSzPts val="3200"/>
              <a:buFont typeface="Roboto Slab"/>
              <a:buNone/>
            </a:pPr>
            <a:r>
              <a:rPr lang="es-ES" dirty="0">
                <a:latin typeface="+mj-lt"/>
              </a:rPr>
              <a:t>Hardware de segmentación</a:t>
            </a:r>
            <a:endParaRPr sz="3200" b="1" dirty="0">
              <a:solidFill>
                <a:srgbClr val="701E5C"/>
              </a:solidFill>
              <a:latin typeface="+mj-lt"/>
              <a:sym typeface="Roboto Slab"/>
            </a:endParaRPr>
          </a:p>
        </p:txBody>
      </p:sp>
      <p:sp>
        <p:nvSpPr>
          <p:cNvPr id="1503" name="Google Shape;1503;p70"/>
          <p:cNvSpPr txBox="1"/>
          <p:nvPr/>
        </p:nvSpPr>
        <p:spPr>
          <a:xfrm>
            <a:off x="806010" y="4299825"/>
            <a:ext cx="6699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>
                <a:solidFill>
                  <a:srgbClr val="FF0000"/>
                </a:solidFill>
                <a:highlight>
                  <a:schemeClr val="lt1"/>
                </a:highlight>
                <a:latin typeface="Consolas"/>
                <a:ea typeface="Consolas"/>
                <a:cs typeface="Consolas"/>
                <a:sym typeface="Consolas"/>
              </a:rPr>
              <a:t>VA</a:t>
            </a:r>
            <a:endParaRPr sz="2000" b="1">
              <a:solidFill>
                <a:srgbClr val="FF0000"/>
              </a:solidFill>
              <a:highlight>
                <a:schemeClr val="lt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04" name="Google Shape;1504;p70"/>
          <p:cNvSpPr/>
          <p:nvPr/>
        </p:nvSpPr>
        <p:spPr>
          <a:xfrm>
            <a:off x="4792925" y="4266325"/>
            <a:ext cx="924225" cy="562575"/>
          </a:xfrm>
          <a:prstGeom prst="flowChartDecision">
            <a:avLst/>
          </a:prstGeom>
          <a:solidFill>
            <a:schemeClr val="lt2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>
                <a:latin typeface="Consolas"/>
                <a:ea typeface="Consolas"/>
                <a:cs typeface="Consolas"/>
                <a:sym typeface="Consolas"/>
              </a:rPr>
              <a:t>&lt;</a:t>
            </a:r>
            <a:endParaRPr sz="200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05" name="Google Shape;1505;p70"/>
          <p:cNvSpPr/>
          <p:nvPr/>
        </p:nvSpPr>
        <p:spPr>
          <a:xfrm>
            <a:off x="6852950" y="4285263"/>
            <a:ext cx="495600" cy="5247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>
                <a:latin typeface="Consolas"/>
                <a:ea typeface="Consolas"/>
                <a:cs typeface="Consolas"/>
                <a:sym typeface="Consolas"/>
              </a:rPr>
              <a:t>+</a:t>
            </a:r>
            <a:endParaRPr/>
          </a:p>
        </p:txBody>
      </p:sp>
      <p:cxnSp>
        <p:nvCxnSpPr>
          <p:cNvPr id="1506" name="Google Shape;1506;p70"/>
          <p:cNvCxnSpPr/>
          <p:nvPr/>
        </p:nvCxnSpPr>
        <p:spPr>
          <a:xfrm>
            <a:off x="3575725" y="4543000"/>
            <a:ext cx="1217100" cy="51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07" name="Google Shape;1507;p70"/>
          <p:cNvCxnSpPr>
            <a:stCxn id="1504" idx="3"/>
            <a:endCxn id="1505" idx="2"/>
          </p:cNvCxnSpPr>
          <p:nvPr/>
        </p:nvCxnSpPr>
        <p:spPr>
          <a:xfrm>
            <a:off x="5717150" y="4547613"/>
            <a:ext cx="11358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08" name="Google Shape;1508;p70"/>
          <p:cNvCxnSpPr/>
          <p:nvPr/>
        </p:nvCxnSpPr>
        <p:spPr>
          <a:xfrm>
            <a:off x="5255050" y="4828888"/>
            <a:ext cx="2400" cy="9087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509" name="Google Shape;1509;p70"/>
          <p:cNvSpPr txBox="1"/>
          <p:nvPr/>
        </p:nvSpPr>
        <p:spPr>
          <a:xfrm>
            <a:off x="5108663" y="4731750"/>
            <a:ext cx="7272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>
                <a:solidFill>
                  <a:schemeClr val="dk1"/>
                </a:solidFill>
                <a:highlight>
                  <a:schemeClr val="lt1"/>
                </a:highlight>
                <a:latin typeface="Consolas"/>
                <a:ea typeface="Consolas"/>
                <a:cs typeface="Consolas"/>
                <a:sym typeface="Consolas"/>
              </a:rPr>
              <a:t>No</a:t>
            </a:r>
            <a:endParaRPr sz="2000" b="1">
              <a:solidFill>
                <a:schemeClr val="dk1"/>
              </a:solidFill>
              <a:highlight>
                <a:schemeClr val="lt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10" name="Google Shape;1510;p70"/>
          <p:cNvSpPr txBox="1"/>
          <p:nvPr/>
        </p:nvSpPr>
        <p:spPr>
          <a:xfrm>
            <a:off x="5621338" y="4131225"/>
            <a:ext cx="7272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>
                <a:solidFill>
                  <a:schemeClr val="dk1"/>
                </a:solidFill>
                <a:highlight>
                  <a:schemeClr val="lt1"/>
                </a:highlight>
                <a:latin typeface="Consolas"/>
                <a:ea typeface="Consolas"/>
                <a:cs typeface="Consolas"/>
                <a:sym typeface="Consolas"/>
              </a:rPr>
              <a:t>Yes</a:t>
            </a:r>
            <a:endParaRPr sz="2000" b="1">
              <a:solidFill>
                <a:schemeClr val="dk1"/>
              </a:solidFill>
              <a:highlight>
                <a:schemeClr val="lt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511" name="Google Shape;1511;p70"/>
          <p:cNvCxnSpPr/>
          <p:nvPr/>
        </p:nvCxnSpPr>
        <p:spPr>
          <a:xfrm>
            <a:off x="7348550" y="4547613"/>
            <a:ext cx="1393800" cy="69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512" name="Google Shape;1512;p70"/>
          <p:cNvSpPr txBox="1"/>
          <p:nvPr/>
        </p:nvSpPr>
        <p:spPr>
          <a:xfrm>
            <a:off x="5255050" y="5408475"/>
            <a:ext cx="20133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 dirty="0">
                <a:solidFill>
                  <a:srgbClr val="FF0000"/>
                </a:solidFill>
                <a:highlight>
                  <a:schemeClr val="lt1"/>
                </a:highlight>
                <a:latin typeface="Consolas"/>
                <a:ea typeface="Consolas"/>
                <a:cs typeface="Consolas"/>
                <a:sym typeface="Consolas"/>
              </a:rPr>
              <a:t>Protection fault</a:t>
            </a:r>
            <a:endParaRPr sz="1600" b="1" dirty="0">
              <a:solidFill>
                <a:srgbClr val="FF0000"/>
              </a:solidFill>
              <a:highlight>
                <a:schemeClr val="lt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graphicFrame>
        <p:nvGraphicFramePr>
          <p:cNvPr id="1513" name="Google Shape;1513;p70"/>
          <p:cNvGraphicFramePr/>
          <p:nvPr>
            <p:extLst>
              <p:ext uri="{D42A27DB-BD31-4B8C-83A1-F6EECF244321}">
                <p14:modId xmlns:p14="http://schemas.microsoft.com/office/powerpoint/2010/main" val="258133715"/>
              </p:ext>
            </p:extLst>
          </p:nvPr>
        </p:nvGraphicFramePr>
        <p:xfrm>
          <a:off x="2971350" y="1228523"/>
          <a:ext cx="7352550" cy="1950600"/>
        </p:xfrm>
        <a:graphic>
          <a:graphicData uri="http://schemas.openxmlformats.org/drawingml/2006/table">
            <a:tbl>
              <a:tblPr>
                <a:noFill/>
                <a:tableStyleId>{CA5C7703-E2AC-41A6-8DEA-2D5C455BA520}</a:tableStyleId>
              </a:tblPr>
              <a:tblGrid>
                <a:gridCol w="1294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84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944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60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646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086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segment</a:t>
                      </a:r>
                      <a:endParaRPr sz="1600" b="1" dirty="0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4292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base</a:t>
                      </a:r>
                      <a:endParaRPr sz="1600" b="1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4292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size 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(max 4K)</a:t>
                      </a:r>
                      <a:endParaRPr sz="1600" b="1" dirty="0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4292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Grows Positive?</a:t>
                      </a:r>
                      <a:endParaRPr sz="1600" b="1" dirty="0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4292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Protection</a:t>
                      </a:r>
                      <a:endParaRPr sz="1600" b="1" dirty="0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429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86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code(00)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/>
                        <a:t>32K</a:t>
                      </a:r>
                      <a:endParaRPr sz="16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2K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Read-Execute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86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heap(01)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</a:rPr>
                        <a:t>34K</a:t>
                      </a:r>
                      <a:endParaRPr sz="16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2K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Read-Write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86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stack(11)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/>
                        <a:t>28K</a:t>
                      </a:r>
                      <a:endParaRPr sz="16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2K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Read-Write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514" name="Google Shape;1514;p70"/>
          <p:cNvGraphicFramePr/>
          <p:nvPr>
            <p:extLst>
              <p:ext uri="{D42A27DB-BD31-4B8C-83A1-F6EECF244321}">
                <p14:modId xmlns:p14="http://schemas.microsoft.com/office/powerpoint/2010/main" val="3220525503"/>
              </p:ext>
            </p:extLst>
          </p:nvPr>
        </p:nvGraphicFramePr>
        <p:xfrm>
          <a:off x="1416925" y="4332775"/>
          <a:ext cx="2143500" cy="426700"/>
        </p:xfrm>
        <a:graphic>
          <a:graphicData uri="http://schemas.openxmlformats.org/drawingml/2006/table">
            <a:tbl>
              <a:tblPr>
                <a:noFill/>
                <a:tableStyleId>{CA5C7703-E2AC-41A6-8DEA-2D5C455BA520}</a:tableStyleId>
              </a:tblPr>
              <a:tblGrid>
                <a:gridCol w="431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11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01</a:t>
                      </a:r>
                      <a:endParaRPr sz="16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000001101000</a:t>
                      </a:r>
                      <a:endParaRPr sz="1600" dirty="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1515" name="Google Shape;1515;p70"/>
          <p:cNvCxnSpPr>
            <a:cxnSpLocks/>
          </p:cNvCxnSpPr>
          <p:nvPr/>
        </p:nvCxnSpPr>
        <p:spPr>
          <a:xfrm rot="5400000" flipH="1" flipV="1">
            <a:off x="1423845" y="2779407"/>
            <a:ext cx="1773214" cy="1292101"/>
          </a:xfrm>
          <a:prstGeom prst="bentConnector3">
            <a:avLst>
              <a:gd name="adj1" fmla="val 100135"/>
            </a:avLst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1516" name="Google Shape;1516;p70"/>
          <p:cNvGrpSpPr/>
          <p:nvPr/>
        </p:nvGrpSpPr>
        <p:grpSpPr>
          <a:xfrm>
            <a:off x="4352118" y="2538850"/>
            <a:ext cx="2751342" cy="1727475"/>
            <a:chOff x="4866700" y="2297525"/>
            <a:chExt cx="2236500" cy="1721450"/>
          </a:xfrm>
        </p:grpSpPr>
        <p:cxnSp>
          <p:nvCxnSpPr>
            <p:cNvPr id="1517" name="Google Shape;1517;p70"/>
            <p:cNvCxnSpPr/>
            <p:nvPr/>
          </p:nvCxnSpPr>
          <p:spPr>
            <a:xfrm>
              <a:off x="4866700" y="3186175"/>
              <a:ext cx="2236500" cy="832800"/>
            </a:xfrm>
            <a:prstGeom prst="bentConnector3">
              <a:avLst>
                <a:gd name="adj1" fmla="val 99780"/>
              </a:avLst>
            </a:prstGeom>
            <a:noFill/>
            <a:ln w="19050" cap="flat" cmpd="sng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518" name="Google Shape;1518;p70"/>
            <p:cNvCxnSpPr/>
            <p:nvPr/>
          </p:nvCxnSpPr>
          <p:spPr>
            <a:xfrm>
              <a:off x="4866700" y="2297525"/>
              <a:ext cx="0" cy="880500"/>
            </a:xfrm>
            <a:prstGeom prst="straightConnector1">
              <a:avLst/>
            </a:prstGeom>
            <a:noFill/>
            <a:ln w="19050" cap="flat" cmpd="sng">
              <a:solidFill>
                <a:schemeClr val="tx1"/>
              </a:solidFill>
              <a:prstDash val="solid"/>
              <a:round/>
              <a:headEnd type="oval" w="med" len="med"/>
              <a:tailEnd type="none" w="med" len="med"/>
            </a:ln>
          </p:spPr>
        </p:cxnSp>
      </p:grpSp>
      <p:cxnSp>
        <p:nvCxnSpPr>
          <p:cNvPr id="1519" name="Google Shape;1519;p70"/>
          <p:cNvCxnSpPr>
            <a:endCxn id="1504" idx="0"/>
          </p:cNvCxnSpPr>
          <p:nvPr/>
        </p:nvCxnSpPr>
        <p:spPr>
          <a:xfrm flipH="1">
            <a:off x="5255038" y="2550325"/>
            <a:ext cx="12000" cy="1716000"/>
          </a:xfrm>
          <a:prstGeom prst="straightConnector1">
            <a:avLst/>
          </a:prstGeom>
          <a:noFill/>
          <a:ln w="19050" cap="flat" cmpd="sng">
            <a:solidFill>
              <a:schemeClr val="tx1"/>
            </a:solidFill>
            <a:prstDash val="solid"/>
            <a:round/>
            <a:headEnd type="oval" w="med" len="med"/>
            <a:tailEnd type="triangle" w="med" len="med"/>
          </a:ln>
        </p:spPr>
      </p:cxnSp>
      <p:grpSp>
        <p:nvGrpSpPr>
          <p:cNvPr id="1520" name="Google Shape;1520;p70"/>
          <p:cNvGrpSpPr/>
          <p:nvPr/>
        </p:nvGrpSpPr>
        <p:grpSpPr>
          <a:xfrm>
            <a:off x="8934025" y="3546025"/>
            <a:ext cx="3037950" cy="2339900"/>
            <a:chOff x="7501200" y="3357800"/>
            <a:chExt cx="3037950" cy="2339900"/>
          </a:xfrm>
        </p:grpSpPr>
        <p:cxnSp>
          <p:nvCxnSpPr>
            <p:cNvPr id="1521" name="Google Shape;1521;p70"/>
            <p:cNvCxnSpPr/>
            <p:nvPr/>
          </p:nvCxnSpPr>
          <p:spPr>
            <a:xfrm>
              <a:off x="9246275" y="3989425"/>
              <a:ext cx="4665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1522" name="Google Shape;1522;p70"/>
            <p:cNvGrpSpPr/>
            <p:nvPr/>
          </p:nvGrpSpPr>
          <p:grpSpPr>
            <a:xfrm>
              <a:off x="9245675" y="3946050"/>
              <a:ext cx="1293475" cy="369300"/>
              <a:chOff x="10399750" y="3478125"/>
              <a:chExt cx="1293475" cy="369300"/>
            </a:xfrm>
          </p:grpSpPr>
          <p:cxnSp>
            <p:nvCxnSpPr>
              <p:cNvPr id="1523" name="Google Shape;1523;p70"/>
              <p:cNvCxnSpPr/>
              <p:nvPr/>
            </p:nvCxnSpPr>
            <p:spPr>
              <a:xfrm>
                <a:off x="10399750" y="3808075"/>
                <a:ext cx="4665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24" name="Google Shape;1524;p70"/>
              <p:cNvCxnSpPr/>
              <p:nvPr/>
            </p:nvCxnSpPr>
            <p:spPr>
              <a:xfrm>
                <a:off x="10492275" y="3514525"/>
                <a:ext cx="0" cy="3033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2"/>
                </a:solidFill>
                <a:prstDash val="solid"/>
                <a:round/>
                <a:headEnd type="triangle" w="med" len="med"/>
                <a:tailEnd type="triangle" w="med" len="med"/>
              </a:ln>
            </p:spPr>
          </p:cxnSp>
          <p:sp>
            <p:nvSpPr>
              <p:cNvPr id="1525" name="Google Shape;1525;p70"/>
              <p:cNvSpPr txBox="1"/>
              <p:nvPr/>
            </p:nvSpPr>
            <p:spPr>
              <a:xfrm>
                <a:off x="10521425" y="3478125"/>
                <a:ext cx="1171800" cy="369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200">
                    <a:solidFill>
                      <a:schemeClr val="accent2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104</a:t>
                </a:r>
                <a:endParaRPr sz="400">
                  <a:solidFill>
                    <a:schemeClr val="accent2"/>
                  </a:solidFill>
                </a:endParaRPr>
              </a:p>
            </p:txBody>
          </p:sp>
        </p:grpSp>
        <p:grpSp>
          <p:nvGrpSpPr>
            <p:cNvPr id="1526" name="Google Shape;1526;p70"/>
            <p:cNvGrpSpPr/>
            <p:nvPr/>
          </p:nvGrpSpPr>
          <p:grpSpPr>
            <a:xfrm>
              <a:off x="8064825" y="3357800"/>
              <a:ext cx="1125359" cy="2339900"/>
              <a:chOff x="2625425" y="3871775"/>
              <a:chExt cx="1125359" cy="2339900"/>
            </a:xfrm>
          </p:grpSpPr>
          <p:grpSp>
            <p:nvGrpSpPr>
              <p:cNvPr id="1527" name="Google Shape;1527;p70"/>
              <p:cNvGrpSpPr/>
              <p:nvPr/>
            </p:nvGrpSpPr>
            <p:grpSpPr>
              <a:xfrm>
                <a:off x="2626525" y="4273149"/>
                <a:ext cx="1124259" cy="1619400"/>
                <a:chOff x="2626525" y="4273149"/>
                <a:chExt cx="1124259" cy="1619400"/>
              </a:xfrm>
            </p:grpSpPr>
            <p:sp>
              <p:nvSpPr>
                <p:cNvPr id="1528" name="Google Shape;1528;p70"/>
                <p:cNvSpPr/>
                <p:nvPr/>
              </p:nvSpPr>
              <p:spPr>
                <a:xfrm>
                  <a:off x="2626525" y="4273149"/>
                  <a:ext cx="1122000" cy="1619400"/>
                </a:xfrm>
                <a:prstGeom prst="rect">
                  <a:avLst/>
                </a:prstGeom>
                <a:solidFill>
                  <a:srgbClr val="EFEFEF"/>
                </a:solidFill>
                <a:ln w="19050" cap="flat" cmpd="sng">
                  <a:solidFill>
                    <a:srgbClr val="000000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grpSp>
              <p:nvGrpSpPr>
                <p:cNvPr id="1529" name="Google Shape;1529;p70"/>
                <p:cNvGrpSpPr/>
                <p:nvPr/>
              </p:nvGrpSpPr>
              <p:grpSpPr>
                <a:xfrm>
                  <a:off x="2628734" y="4495878"/>
                  <a:ext cx="1122049" cy="1205397"/>
                  <a:chOff x="7948250" y="3406050"/>
                  <a:chExt cx="1076100" cy="545700"/>
                </a:xfrm>
              </p:grpSpPr>
              <p:sp>
                <p:nvSpPr>
                  <p:cNvPr id="1530" name="Google Shape;1530;p70"/>
                  <p:cNvSpPr/>
                  <p:nvPr/>
                </p:nvSpPr>
                <p:spPr>
                  <a:xfrm>
                    <a:off x="7948250" y="3406050"/>
                    <a:ext cx="1076100" cy="284400"/>
                  </a:xfrm>
                  <a:prstGeom prst="rect">
                    <a:avLst/>
                  </a:prstGeom>
                  <a:solidFill>
                    <a:srgbClr val="FFE599"/>
                  </a:solidFill>
                  <a:ln w="19050" cap="flat" cmpd="sng">
                    <a:solidFill>
                      <a:srgbClr val="000000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es-ES" sz="1600" b="1" dirty="0">
                        <a:latin typeface="Courier New"/>
                        <a:ea typeface="Courier New"/>
                        <a:cs typeface="Courier New"/>
                        <a:sym typeface="Courier New"/>
                      </a:rPr>
                      <a:t>heap</a:t>
                    </a:r>
                    <a:endParaRPr sz="2200" dirty="0"/>
                  </a:p>
                </p:txBody>
              </p:sp>
              <p:cxnSp>
                <p:nvCxnSpPr>
                  <p:cNvPr id="1531" name="Google Shape;1531;p70"/>
                  <p:cNvCxnSpPr>
                    <a:stCxn id="1530" idx="2"/>
                  </p:cNvCxnSpPr>
                  <p:nvPr/>
                </p:nvCxnSpPr>
                <p:spPr>
                  <a:xfrm>
                    <a:off x="8486300" y="3690450"/>
                    <a:ext cx="6900" cy="261300"/>
                  </a:xfrm>
                  <a:prstGeom prst="straightConnector1">
                    <a:avLst/>
                  </a:prstGeom>
                  <a:noFill/>
                  <a:ln w="9525" cap="flat" cmpd="sng">
                    <a:solidFill>
                      <a:srgbClr val="000000"/>
                    </a:solidFill>
                    <a:prstDash val="solid"/>
                    <a:round/>
                    <a:headEnd type="none" w="med" len="med"/>
                    <a:tailEnd type="triangle" w="med" len="med"/>
                  </a:ln>
                </p:spPr>
              </p:cxnSp>
            </p:grpSp>
          </p:grpSp>
          <p:cxnSp>
            <p:nvCxnSpPr>
              <p:cNvPr id="1532" name="Google Shape;1532;p70"/>
              <p:cNvCxnSpPr/>
              <p:nvPr/>
            </p:nvCxnSpPr>
            <p:spPr>
              <a:xfrm rot="10800000">
                <a:off x="2625425" y="3872500"/>
                <a:ext cx="0" cy="4665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33" name="Google Shape;1533;p70"/>
              <p:cNvCxnSpPr/>
              <p:nvPr/>
            </p:nvCxnSpPr>
            <p:spPr>
              <a:xfrm rot="10800000">
                <a:off x="2627600" y="5745175"/>
                <a:ext cx="0" cy="4665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34" name="Google Shape;1534;p70"/>
              <p:cNvCxnSpPr/>
              <p:nvPr/>
            </p:nvCxnSpPr>
            <p:spPr>
              <a:xfrm rot="10800000">
                <a:off x="3749525" y="5745175"/>
                <a:ext cx="0" cy="4665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35" name="Google Shape;1535;p70"/>
              <p:cNvCxnSpPr/>
              <p:nvPr/>
            </p:nvCxnSpPr>
            <p:spPr>
              <a:xfrm rot="10800000">
                <a:off x="3748600" y="3871775"/>
                <a:ext cx="0" cy="4665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1536" name="Google Shape;1536;p70"/>
            <p:cNvSpPr txBox="1"/>
            <p:nvPr/>
          </p:nvSpPr>
          <p:spPr>
            <a:xfrm>
              <a:off x="7501200" y="3805088"/>
              <a:ext cx="5517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latin typeface="Consolas"/>
                  <a:ea typeface="Consolas"/>
                  <a:cs typeface="Consolas"/>
                  <a:sym typeface="Consolas"/>
                </a:rPr>
                <a:t>34K</a:t>
              </a:r>
              <a:endParaRPr sz="400"/>
            </a:p>
          </p:txBody>
        </p:sp>
        <p:sp>
          <p:nvSpPr>
            <p:cNvPr id="1537" name="Google Shape;1537;p70"/>
            <p:cNvSpPr txBox="1"/>
            <p:nvPr/>
          </p:nvSpPr>
          <p:spPr>
            <a:xfrm>
              <a:off x="7501200" y="4413088"/>
              <a:ext cx="5517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latin typeface="Consolas"/>
                  <a:ea typeface="Consolas"/>
                  <a:cs typeface="Consolas"/>
                  <a:sym typeface="Consolas"/>
                </a:rPr>
                <a:t>36K</a:t>
              </a:r>
              <a:endParaRPr sz="400"/>
            </a:p>
          </p:txBody>
        </p:sp>
      </p:grpSp>
      <p:graphicFrame>
        <p:nvGraphicFramePr>
          <p:cNvPr id="1538" name="Google Shape;1538;p70"/>
          <p:cNvGraphicFramePr/>
          <p:nvPr>
            <p:extLst>
              <p:ext uri="{D42A27DB-BD31-4B8C-83A1-F6EECF244321}">
                <p14:modId xmlns:p14="http://schemas.microsoft.com/office/powerpoint/2010/main" val="3448402187"/>
              </p:ext>
            </p:extLst>
          </p:nvPr>
        </p:nvGraphicFramePr>
        <p:xfrm>
          <a:off x="7878775" y="3970975"/>
          <a:ext cx="1055250" cy="426700"/>
        </p:xfrm>
        <a:graphic>
          <a:graphicData uri="http://schemas.openxmlformats.org/drawingml/2006/table">
            <a:tbl>
              <a:tblPr>
                <a:noFill/>
                <a:tableStyleId>{CA5C7703-E2AC-41A6-8DEA-2D5C455BA520}</a:tableStyleId>
              </a:tblPr>
              <a:tblGrid>
                <a:gridCol w="1055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0x4868</a:t>
                      </a:r>
                      <a:endParaRPr sz="16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539" name="Google Shape;1539;p70"/>
          <p:cNvSpPr txBox="1"/>
          <p:nvPr/>
        </p:nvSpPr>
        <p:spPr>
          <a:xfrm>
            <a:off x="7268360" y="3938025"/>
            <a:ext cx="6699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>
                <a:solidFill>
                  <a:srgbClr val="0B6937"/>
                </a:solidFill>
                <a:highlight>
                  <a:schemeClr val="lt1"/>
                </a:highlight>
                <a:latin typeface="Consolas"/>
                <a:ea typeface="Consolas"/>
                <a:cs typeface="Consolas"/>
                <a:sym typeface="Consolas"/>
              </a:rPr>
              <a:t>PA</a:t>
            </a:r>
            <a:endParaRPr sz="2000" b="1">
              <a:solidFill>
                <a:srgbClr val="0B6937"/>
              </a:solidFill>
              <a:highlight>
                <a:schemeClr val="lt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40" name="Google Shape;1540;p70"/>
          <p:cNvSpPr/>
          <p:nvPr/>
        </p:nvSpPr>
        <p:spPr>
          <a:xfrm rot="5400000">
            <a:off x="2588050" y="4126050"/>
            <a:ext cx="225300" cy="1704000"/>
          </a:xfrm>
          <a:prstGeom prst="rightBrace">
            <a:avLst>
              <a:gd name="adj1" fmla="val 50000"/>
              <a:gd name="adj2" fmla="val 49405"/>
            </a:avLst>
          </a:prstGeom>
          <a:noFill/>
          <a:ln w="190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41" name="Google Shape;1541;p70"/>
          <p:cNvSpPr txBox="1"/>
          <p:nvPr/>
        </p:nvSpPr>
        <p:spPr>
          <a:xfrm>
            <a:off x="2022100" y="5075488"/>
            <a:ext cx="13572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50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0x068 = 104</a:t>
            </a:r>
            <a:endParaRPr sz="150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2" name="Google Shape;1552;p72"/>
          <p:cNvSpPr txBox="1">
            <a:spLocks noGrp="1"/>
          </p:cNvSpPr>
          <p:nvPr>
            <p:ph type="title"/>
          </p:nvPr>
        </p:nvSpPr>
        <p:spPr>
          <a:xfrm>
            <a:off x="558800" y="82174"/>
            <a:ext cx="10515600" cy="10547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B6937"/>
              </a:buClr>
              <a:buSzPts val="2880"/>
              <a:buFont typeface="Roboto Slab"/>
              <a:buNone/>
            </a:pPr>
            <a:r>
              <a:rPr lang="es-ES" dirty="0"/>
              <a:t>Segmentation granularity</a:t>
            </a:r>
            <a:endParaRPr b="1" dirty="0">
              <a:solidFill>
                <a:srgbClr val="0B6937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graphicFrame>
        <p:nvGraphicFramePr>
          <p:cNvPr id="1553" name="Google Shape;1553;p72"/>
          <p:cNvGraphicFramePr/>
          <p:nvPr>
            <p:extLst>
              <p:ext uri="{D42A27DB-BD31-4B8C-83A1-F6EECF244321}">
                <p14:modId xmlns:p14="http://schemas.microsoft.com/office/powerpoint/2010/main" val="1356291316"/>
              </p:ext>
            </p:extLst>
          </p:nvPr>
        </p:nvGraphicFramePr>
        <p:xfrm>
          <a:off x="916650" y="1136965"/>
          <a:ext cx="11042550" cy="4998660"/>
        </p:xfrm>
        <a:graphic>
          <a:graphicData uri="http://schemas.openxmlformats.org/drawingml/2006/table">
            <a:tbl>
              <a:tblPr>
                <a:noFill/>
                <a:tableStyleId>{CA5C7703-E2AC-41A6-8DEA-2D5C455BA520}</a:tableStyleId>
              </a:tblPr>
              <a:tblGrid>
                <a:gridCol w="5509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3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486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400" b="1" dirty="0">
                          <a:latin typeface="+mn-lt"/>
                          <a:cs typeface="Arial" panose="020B0604020202020204" pitchFamily="34" charset="0"/>
                        </a:rPr>
                        <a:t>Grano grueso (Coarse-grained)</a:t>
                      </a:r>
                      <a:endParaRPr sz="2400" b="1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400" b="1">
                          <a:latin typeface="+mn-lt"/>
                          <a:cs typeface="Arial" panose="020B0604020202020204" pitchFamily="34" charset="0"/>
                        </a:rPr>
                        <a:t>Grano fino (Fined-grained)</a:t>
                      </a:r>
                      <a:endParaRPr sz="2400" b="1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457200" lvl="0" indent="-35560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2000"/>
                        <a:buChar char="●"/>
                      </a:pPr>
                      <a:r>
                        <a:rPr lang="es-ES" sz="2000" dirty="0">
                          <a:latin typeface="+mn-lt"/>
                          <a:cs typeface="Arial" panose="020B0604020202020204" pitchFamily="34" charset="0"/>
                        </a:rPr>
                        <a:t>Se utilizan pocos segmentos relativamente grandes (ej: code, heap, stack)</a:t>
                      </a:r>
                      <a:endParaRPr sz="20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457200" lvl="0" indent="-35560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2000"/>
                        <a:buChar char="●"/>
                      </a:pPr>
                      <a:r>
                        <a:rPr lang="es-ES" sz="2000" dirty="0">
                          <a:latin typeface="+mn-lt"/>
                          <a:cs typeface="Arial" panose="020B0604020202020204" pitchFamily="34" charset="0"/>
                        </a:rPr>
                        <a:t>Emplea muchos segmentos pequeños</a:t>
                      </a:r>
                      <a:endParaRPr sz="2000" dirty="0">
                        <a:latin typeface="+mn-lt"/>
                        <a:cs typeface="Arial" panose="020B0604020202020204" pitchFamily="34" charset="0"/>
                      </a:endParaRPr>
                    </a:p>
                    <a:p>
                      <a:pPr marL="914400" lvl="1" indent="-35560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2000"/>
                        <a:buChar char="○"/>
                      </a:pPr>
                      <a:r>
                        <a:rPr lang="es-ES" sz="2000" dirty="0">
                          <a:latin typeface="+mn-lt"/>
                          <a:cs typeface="Arial" panose="020B0604020202020204" pitchFamily="34" charset="0"/>
                        </a:rPr>
                        <a:t>Mayor flexibilidad.</a:t>
                      </a:r>
                      <a:endParaRPr sz="2000" dirty="0">
                        <a:latin typeface="+mn-lt"/>
                        <a:cs typeface="Arial" panose="020B0604020202020204" pitchFamily="34" charset="0"/>
                      </a:endParaRPr>
                    </a:p>
                    <a:p>
                      <a:pPr marL="914400" lvl="1" indent="-35560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2000"/>
                        <a:buChar char="○"/>
                      </a:pPr>
                      <a:r>
                        <a:rPr lang="es-ES" sz="2000" dirty="0">
                          <a:latin typeface="+mn-lt"/>
                          <a:cs typeface="Arial" panose="020B0604020202020204" pitchFamily="34" charset="0"/>
                        </a:rPr>
                        <a:t>Requiere más soporte de hw (Tabla de segmentos).</a:t>
                      </a:r>
                      <a:endParaRPr sz="2000" dirty="0">
                        <a:latin typeface="+mn-lt"/>
                        <a:cs typeface="Arial" panose="020B0604020202020204" pitchFamily="34" charset="0"/>
                      </a:endParaRPr>
                    </a:p>
                    <a:p>
                      <a:pPr marL="45720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0" dirty="0">
                        <a:latin typeface="+mn-lt"/>
                        <a:cs typeface="Arial" panose="020B0604020202020204" pitchFamily="34" charset="0"/>
                      </a:endParaRPr>
                    </a:p>
                    <a:p>
                      <a:pPr marL="45720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0" dirty="0">
                        <a:latin typeface="+mn-lt"/>
                        <a:cs typeface="Arial" panose="020B0604020202020204" pitchFamily="34" charset="0"/>
                      </a:endParaRPr>
                    </a:p>
                    <a:p>
                      <a:pPr marL="45720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0" dirty="0">
                        <a:latin typeface="+mn-lt"/>
                        <a:cs typeface="Arial" panose="020B0604020202020204" pitchFamily="34" charset="0"/>
                      </a:endParaRPr>
                    </a:p>
                    <a:p>
                      <a:pPr marL="45720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0" dirty="0">
                        <a:latin typeface="+mn-lt"/>
                        <a:cs typeface="Arial" panose="020B0604020202020204" pitchFamily="34" charset="0"/>
                      </a:endParaRPr>
                    </a:p>
                    <a:p>
                      <a:pPr marL="45720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0" dirty="0">
                        <a:latin typeface="+mn-lt"/>
                        <a:cs typeface="Arial" panose="020B0604020202020204" pitchFamily="34" charset="0"/>
                      </a:endParaRPr>
                    </a:p>
                    <a:p>
                      <a:pPr marL="45720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0" dirty="0">
                        <a:latin typeface="+mn-lt"/>
                        <a:cs typeface="Arial" panose="020B0604020202020204" pitchFamily="34" charset="0"/>
                      </a:endParaRPr>
                    </a:p>
                    <a:p>
                      <a:pPr marL="45720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0" dirty="0">
                        <a:latin typeface="+mn-lt"/>
                        <a:cs typeface="Arial" panose="020B0604020202020204" pitchFamily="34" charset="0"/>
                      </a:endParaRPr>
                    </a:p>
                    <a:p>
                      <a:pPr marL="45720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0" dirty="0">
                        <a:latin typeface="+mn-lt"/>
                        <a:cs typeface="Arial" panose="020B0604020202020204" pitchFamily="34" charset="0"/>
                      </a:endParaRPr>
                    </a:p>
                    <a:p>
                      <a:pPr marL="45720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0" dirty="0">
                        <a:latin typeface="+mn-lt"/>
                        <a:cs typeface="Arial" panose="020B0604020202020204" pitchFamily="34" charset="0"/>
                      </a:endParaRPr>
                    </a:p>
                    <a:p>
                      <a:pPr marL="45720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1554" name="Google Shape;1554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30375" y="3584113"/>
            <a:ext cx="1488250" cy="1957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5" name="Google Shape;1555;p7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683850" y="3665750"/>
            <a:ext cx="1575925" cy="204145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1556" name="Google Shape;1556;p72"/>
          <p:cNvGraphicFramePr/>
          <p:nvPr/>
        </p:nvGraphicFramePr>
        <p:xfrm>
          <a:off x="3415400" y="3237325"/>
          <a:ext cx="1952450" cy="2898300"/>
        </p:xfrm>
        <a:graphic>
          <a:graphicData uri="http://schemas.openxmlformats.org/drawingml/2006/table">
            <a:tbl>
              <a:tblPr>
                <a:noFill/>
                <a:tableStyleId>{CA5C7703-E2AC-41A6-8DEA-2D5C455BA520}</a:tableStyleId>
              </a:tblPr>
              <a:tblGrid>
                <a:gridCol w="1952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245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245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245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557" name="Google Shape;1557;p72"/>
          <p:cNvGraphicFramePr/>
          <p:nvPr/>
        </p:nvGraphicFramePr>
        <p:xfrm>
          <a:off x="9438300" y="3237325"/>
          <a:ext cx="1952450" cy="2898300"/>
        </p:xfrm>
        <a:graphic>
          <a:graphicData uri="http://schemas.openxmlformats.org/drawingml/2006/table">
            <a:tbl>
              <a:tblPr>
                <a:noFill/>
                <a:tableStyleId>{CA5C7703-E2AC-41A6-8DEA-2D5C455BA520}</a:tableStyleId>
              </a:tblPr>
              <a:tblGrid>
                <a:gridCol w="1952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415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00"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15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00"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15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00"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15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00"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15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00"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15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00"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15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00"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15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00"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15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00"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15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00"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15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00"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15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00"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1" name="Google Shape;1571;p74"/>
          <p:cNvSpPr txBox="1">
            <a:spLocks noGrp="1"/>
          </p:cNvSpPr>
          <p:nvPr>
            <p:ph type="title"/>
          </p:nvPr>
        </p:nvSpPr>
        <p:spPr>
          <a:xfrm>
            <a:off x="916650" y="96050"/>
            <a:ext cx="1004345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b="0" dirty="0">
                <a:latin typeface="+mn-lt"/>
              </a:rPr>
              <a:t>Ventajas y desventajas de la segmentación</a:t>
            </a:r>
            <a:endParaRPr b="0" dirty="0">
              <a:latin typeface="+mn-lt"/>
            </a:endParaRPr>
          </a:p>
        </p:txBody>
      </p:sp>
      <p:graphicFrame>
        <p:nvGraphicFramePr>
          <p:cNvPr id="1572" name="Google Shape;1572;p74"/>
          <p:cNvGraphicFramePr/>
          <p:nvPr>
            <p:extLst>
              <p:ext uri="{D42A27DB-BD31-4B8C-83A1-F6EECF244321}">
                <p14:modId xmlns:p14="http://schemas.microsoft.com/office/powerpoint/2010/main" val="1401877957"/>
              </p:ext>
            </p:extLst>
          </p:nvPr>
        </p:nvGraphicFramePr>
        <p:xfrm>
          <a:off x="310736" y="929670"/>
          <a:ext cx="11042550" cy="4998660"/>
        </p:xfrm>
        <a:graphic>
          <a:graphicData uri="http://schemas.openxmlformats.org/drawingml/2006/table">
            <a:tbl>
              <a:tblPr>
                <a:noFill/>
                <a:tableStyleId>{CA5C7703-E2AC-41A6-8DEA-2D5C455BA520}</a:tableStyleId>
              </a:tblPr>
              <a:tblGrid>
                <a:gridCol w="55212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21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486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400" b="1" dirty="0">
                          <a:latin typeface="+mn-lt"/>
                          <a:ea typeface="Roboto"/>
                          <a:cs typeface="Roboto"/>
                          <a:sym typeface="Roboto"/>
                        </a:rPr>
                        <a:t>Ventajas</a:t>
                      </a:r>
                      <a:endParaRPr sz="2400" b="1" dirty="0">
                        <a:latin typeface="+mn-lt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400" b="1">
                          <a:latin typeface="+mn-lt"/>
                          <a:ea typeface="Roboto"/>
                          <a:cs typeface="Roboto"/>
                          <a:sym typeface="Roboto"/>
                        </a:rPr>
                        <a:t>Desventajas</a:t>
                      </a:r>
                      <a:endParaRPr sz="2400" b="1">
                        <a:latin typeface="+mn-lt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457200" lvl="0" indent="-35560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2000"/>
                        <a:buFont typeface="Roboto"/>
                        <a:buChar char="●"/>
                      </a:pPr>
                      <a:r>
                        <a:rPr lang="es-ES" sz="2000" dirty="0">
                          <a:latin typeface="+mn-lt"/>
                          <a:ea typeface="Roboto"/>
                          <a:cs typeface="Roboto"/>
                          <a:sym typeface="Roboto"/>
                        </a:rPr>
                        <a:t>Permite espacios de direcciones pequeños. El stack y el heap pueden crecer independientemente.</a:t>
                      </a:r>
                      <a:endParaRPr sz="2000" dirty="0">
                        <a:latin typeface="+mn-lt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457200" lvl="0" indent="-35560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2000"/>
                        <a:buFont typeface="Roboto"/>
                        <a:buChar char="●"/>
                      </a:pPr>
                      <a:r>
                        <a:rPr lang="es-ES" sz="2000" dirty="0">
                          <a:latin typeface="+mn-lt"/>
                          <a:ea typeface="Roboto"/>
                          <a:cs typeface="Roboto"/>
                          <a:sym typeface="Roboto"/>
                        </a:rPr>
                        <a:t>Ahorro de memoria al compartir segmentos.</a:t>
                      </a:r>
                      <a:endParaRPr sz="2000" dirty="0">
                        <a:latin typeface="+mn-lt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457200" lvl="0" indent="-35560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2000"/>
                        <a:buFont typeface="Roboto"/>
                        <a:buChar char="●"/>
                      </a:pPr>
                      <a:r>
                        <a:rPr lang="es-ES" sz="2000" dirty="0">
                          <a:latin typeface="+mn-lt"/>
                          <a:ea typeface="Roboto"/>
                          <a:cs typeface="Roboto"/>
                          <a:sym typeface="Roboto"/>
                        </a:rPr>
                        <a:t>Facilita la protección de los segmentos.</a:t>
                      </a:r>
                      <a:endParaRPr sz="2000" dirty="0">
                        <a:latin typeface="+mn-lt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457200" lvl="0" indent="-35560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2000"/>
                        <a:buChar char="●"/>
                      </a:pPr>
                      <a:r>
                        <a:rPr lang="es-ES" sz="2000" b="1" dirty="0">
                          <a:solidFill>
                            <a:srgbClr val="FF0000"/>
                          </a:solidFill>
                          <a:latin typeface="+mn-lt"/>
                          <a:ea typeface="Roboto"/>
                          <a:cs typeface="Roboto"/>
                          <a:sym typeface="Roboto"/>
                        </a:rPr>
                        <a:t>Fragmentación externa</a:t>
                      </a:r>
                      <a:r>
                        <a:rPr lang="es-ES" sz="2000" dirty="0">
                          <a:solidFill>
                            <a:srgbClr val="FF0000"/>
                          </a:solidFill>
                          <a:latin typeface="+mn-lt"/>
                          <a:ea typeface="Roboto"/>
                          <a:cs typeface="Roboto"/>
                          <a:sym typeface="Roboto"/>
                        </a:rPr>
                        <a:t>:</a:t>
                      </a:r>
                      <a:r>
                        <a:rPr lang="es-ES" sz="2000" dirty="0">
                          <a:latin typeface="+mn-lt"/>
                          <a:ea typeface="Roboto"/>
                          <a:cs typeface="Roboto"/>
                          <a:sym typeface="Roboto"/>
                        </a:rPr>
                        <a:t> Pequeños huecos de espacio libre en memoria física difíciles de utilizar</a:t>
                      </a:r>
                      <a:endParaRPr sz="2000" dirty="0">
                        <a:latin typeface="+mn-lt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45720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0" dirty="0">
                        <a:latin typeface="+mn-lt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45720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0" dirty="0">
                        <a:latin typeface="+mn-lt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45720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0" dirty="0">
                        <a:latin typeface="+mn-lt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45720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0" dirty="0">
                        <a:latin typeface="+mn-lt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45720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0" dirty="0">
                        <a:latin typeface="+mn-lt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45720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0" dirty="0">
                        <a:latin typeface="+mn-lt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45720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0" dirty="0">
                        <a:latin typeface="+mn-lt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45720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0" dirty="0">
                        <a:latin typeface="+mn-lt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45720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0" dirty="0">
                        <a:latin typeface="+mn-lt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45720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0" dirty="0">
                        <a:latin typeface="+mn-lt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45720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0" dirty="0">
                        <a:latin typeface="+mn-lt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1573" name="Google Shape;1573;p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454425" y="2436675"/>
            <a:ext cx="2198239" cy="4026324"/>
          </a:xfrm>
          <a:prstGeom prst="rect">
            <a:avLst/>
          </a:prstGeom>
          <a:noFill/>
          <a:ln>
            <a:noFill/>
          </a:ln>
        </p:spPr>
      </p:pic>
      <p:sp>
        <p:nvSpPr>
          <p:cNvPr id="1574" name="Google Shape;1574;p74"/>
          <p:cNvSpPr txBox="1"/>
          <p:nvPr/>
        </p:nvSpPr>
        <p:spPr>
          <a:xfrm>
            <a:off x="6184900" y="2727484"/>
            <a:ext cx="3231425" cy="32008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b="1" dirty="0">
                <a:solidFill>
                  <a:srgbClr val="FF0000"/>
                </a:solidFill>
                <a:ea typeface="Roboto"/>
                <a:cs typeface="Roboto"/>
                <a:sym typeface="Roboto"/>
              </a:rPr>
              <a:t>Ejemplo</a:t>
            </a:r>
            <a:r>
              <a:rPr lang="es-ES" sz="1800" dirty="0">
                <a:solidFill>
                  <a:srgbClr val="FF0000"/>
                </a:solidFill>
                <a:ea typeface="Roboto"/>
                <a:cs typeface="Roboto"/>
                <a:sym typeface="Roboto"/>
              </a:rPr>
              <a:t>:</a:t>
            </a:r>
            <a:r>
              <a:rPr lang="es-ES" sz="1800" dirty="0">
                <a:ea typeface="Roboto"/>
                <a:cs typeface="Roboto"/>
                <a:sym typeface="Roboto"/>
              </a:rPr>
              <a:t> Dada la siguiente memoria fisica, responder:</a:t>
            </a:r>
            <a:endParaRPr sz="1800" dirty="0">
              <a:ea typeface="Roboto"/>
              <a:cs typeface="Roboto"/>
              <a:sym typeface="Roboto"/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Font typeface="Roboto"/>
              <a:buChar char="●"/>
            </a:pPr>
            <a:r>
              <a:rPr lang="es-ES" sz="1600" dirty="0">
                <a:ea typeface="Roboto"/>
                <a:cs typeface="Roboto"/>
                <a:sym typeface="Roboto"/>
              </a:rPr>
              <a:t>¿Cuanta memoria </a:t>
            </a:r>
            <a:r>
              <a:rPr lang="es-ES" sz="1600" dirty="0" err="1">
                <a:ea typeface="Roboto"/>
                <a:cs typeface="Roboto"/>
                <a:sym typeface="Roboto"/>
              </a:rPr>
              <a:t>memoria</a:t>
            </a:r>
            <a:r>
              <a:rPr lang="es-ES" sz="1600" dirty="0">
                <a:ea typeface="Roboto"/>
                <a:cs typeface="Roboto"/>
                <a:sym typeface="Roboto"/>
              </a:rPr>
              <a:t> tiene ocupada?</a:t>
            </a:r>
            <a:endParaRPr sz="1600" dirty="0">
              <a:ea typeface="Roboto"/>
              <a:cs typeface="Roboto"/>
              <a:sym typeface="Roboto"/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 dirty="0" err="1">
                <a:solidFill>
                  <a:srgbClr val="FF0000"/>
                </a:solidFill>
                <a:ea typeface="Roboto"/>
                <a:cs typeface="Roboto"/>
                <a:sym typeface="Roboto"/>
              </a:rPr>
              <a:t>Rta</a:t>
            </a:r>
            <a:r>
              <a:rPr lang="es-ES" sz="1600" dirty="0">
                <a:solidFill>
                  <a:srgbClr val="FF0000"/>
                </a:solidFill>
                <a:ea typeface="Roboto"/>
                <a:cs typeface="Roboto"/>
                <a:sym typeface="Roboto"/>
              </a:rPr>
              <a:t>:</a:t>
            </a:r>
            <a:r>
              <a:rPr lang="es-ES" sz="1600" dirty="0">
                <a:ea typeface="Roboto"/>
                <a:cs typeface="Roboto"/>
                <a:sym typeface="Roboto"/>
              </a:rPr>
              <a:t> 40K</a:t>
            </a:r>
            <a:endParaRPr sz="1600" dirty="0">
              <a:ea typeface="Roboto"/>
              <a:cs typeface="Roboto"/>
              <a:sym typeface="Roboto"/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Font typeface="Roboto"/>
              <a:buChar char="●"/>
            </a:pPr>
            <a:r>
              <a:rPr lang="es-ES" sz="1600" dirty="0">
                <a:ea typeface="Roboto"/>
                <a:cs typeface="Roboto"/>
                <a:sym typeface="Roboto"/>
              </a:rPr>
              <a:t>¿Cuanta memoria libre?</a:t>
            </a:r>
            <a:endParaRPr sz="1600" dirty="0">
              <a:ea typeface="Roboto"/>
              <a:cs typeface="Roboto"/>
              <a:sym typeface="Roboto"/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 dirty="0" err="1">
                <a:solidFill>
                  <a:srgbClr val="FF0000"/>
                </a:solidFill>
                <a:ea typeface="Roboto"/>
                <a:cs typeface="Roboto"/>
                <a:sym typeface="Roboto"/>
              </a:rPr>
              <a:t>Rta</a:t>
            </a:r>
            <a:r>
              <a:rPr lang="es-ES" sz="1600" dirty="0">
                <a:solidFill>
                  <a:srgbClr val="FF0000"/>
                </a:solidFill>
                <a:ea typeface="Roboto"/>
                <a:cs typeface="Roboto"/>
                <a:sym typeface="Roboto"/>
              </a:rPr>
              <a:t>:</a:t>
            </a:r>
            <a:r>
              <a:rPr lang="es-ES" sz="1600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 24K, pero no están contiguos los segmentos.</a:t>
            </a:r>
            <a:endParaRPr sz="1600" dirty="0">
              <a:ea typeface="Roboto"/>
              <a:cs typeface="Roboto"/>
              <a:sym typeface="Roboto"/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Font typeface="Roboto"/>
              <a:buChar char="●"/>
            </a:pPr>
            <a:r>
              <a:rPr lang="es-ES" sz="1600" dirty="0">
                <a:ea typeface="Roboto"/>
                <a:cs typeface="Roboto"/>
                <a:sym typeface="Roboto"/>
              </a:rPr>
              <a:t>¿Es posible ubicar un segmento con un tamaño de 20K?</a:t>
            </a:r>
            <a:endParaRPr sz="1600" dirty="0">
              <a:ea typeface="Roboto"/>
              <a:cs typeface="Roboto"/>
              <a:sym typeface="Roboto"/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 dirty="0" err="1">
                <a:solidFill>
                  <a:srgbClr val="FF0000"/>
                </a:solidFill>
                <a:ea typeface="Roboto"/>
                <a:cs typeface="Roboto"/>
                <a:sym typeface="Roboto"/>
              </a:rPr>
              <a:t>Rta</a:t>
            </a:r>
            <a:r>
              <a:rPr lang="es-ES" sz="1600" dirty="0">
                <a:solidFill>
                  <a:srgbClr val="FF0000"/>
                </a:solidFill>
                <a:ea typeface="Roboto"/>
                <a:cs typeface="Roboto"/>
                <a:sym typeface="Roboto"/>
              </a:rPr>
              <a:t>:</a:t>
            </a:r>
            <a:r>
              <a:rPr lang="es-ES" sz="1600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 </a:t>
            </a:r>
            <a:r>
              <a:rPr lang="es-ES" sz="1600" dirty="0">
                <a:ea typeface="Roboto"/>
                <a:cs typeface="Roboto"/>
                <a:sym typeface="Roboto"/>
              </a:rPr>
              <a:t>No es posible</a:t>
            </a:r>
            <a:endParaRPr sz="1600" dirty="0"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5" name="Google Shape;1585;p76"/>
          <p:cNvSpPr txBox="1">
            <a:spLocks noGrp="1"/>
          </p:cNvSpPr>
          <p:nvPr>
            <p:ph type="title"/>
          </p:nvPr>
        </p:nvSpPr>
        <p:spPr>
          <a:xfrm>
            <a:off x="368300" y="96038"/>
            <a:ext cx="885235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b="0" dirty="0">
                <a:latin typeface="+mj-lt"/>
              </a:rPr>
              <a:t>Compactación</a:t>
            </a:r>
            <a:endParaRPr b="0" dirty="0">
              <a:latin typeface="+mj-lt"/>
            </a:endParaRPr>
          </a:p>
        </p:txBody>
      </p:sp>
      <p:sp>
        <p:nvSpPr>
          <p:cNvPr id="1586" name="Google Shape;1586;p76"/>
          <p:cNvSpPr txBox="1">
            <a:spLocks noGrp="1"/>
          </p:cNvSpPr>
          <p:nvPr>
            <p:ph type="body" idx="1"/>
          </p:nvPr>
        </p:nvSpPr>
        <p:spPr>
          <a:xfrm>
            <a:off x="368300" y="984825"/>
            <a:ext cx="10882800" cy="617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solidFill>
                  <a:schemeClr val="accent5"/>
                </a:solidFill>
                <a:latin typeface="+mn-lt"/>
              </a:rPr>
              <a:t>Reorganización </a:t>
            </a:r>
            <a:r>
              <a:rPr lang="es-ES" sz="2400" dirty="0">
                <a:latin typeface="+mn-lt"/>
              </a:rPr>
              <a:t>de los </a:t>
            </a:r>
            <a:r>
              <a:rPr lang="es-ES" sz="2400" b="1" dirty="0">
                <a:latin typeface="+mn-lt"/>
              </a:rPr>
              <a:t>segmentos</a:t>
            </a:r>
            <a:r>
              <a:rPr lang="es-ES" sz="2400" dirty="0">
                <a:latin typeface="+mn-lt"/>
              </a:rPr>
              <a:t> existentes en memoria física</a:t>
            </a: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</p:txBody>
      </p:sp>
      <p:sp>
        <p:nvSpPr>
          <p:cNvPr id="1587" name="Google Shape;1587;p76"/>
          <p:cNvSpPr txBox="1"/>
          <p:nvPr/>
        </p:nvSpPr>
        <p:spPr>
          <a:xfrm>
            <a:off x="8331925" y="1881325"/>
            <a:ext cx="3537300" cy="24980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200" b="1" dirty="0">
                <a:solidFill>
                  <a:srgbClr val="CC0000"/>
                </a:solidFill>
                <a:ea typeface="Roboto"/>
                <a:cs typeface="Roboto"/>
                <a:sym typeface="Roboto"/>
              </a:rPr>
              <a:t>Proceso Costoso</a:t>
            </a:r>
            <a:r>
              <a:rPr lang="es-ES" sz="2200" dirty="0">
                <a:solidFill>
                  <a:srgbClr val="CC0000"/>
                </a:solidFill>
                <a:ea typeface="Roboto"/>
                <a:cs typeface="Roboto"/>
                <a:sym typeface="Roboto"/>
              </a:rPr>
              <a:t>:</a:t>
            </a:r>
            <a:r>
              <a:rPr lang="es-ES" sz="2200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 </a:t>
            </a:r>
            <a:endParaRPr sz="2200" dirty="0">
              <a:solidFill>
                <a:schemeClr val="dk1"/>
              </a:solidFill>
              <a:ea typeface="Roboto"/>
              <a:cs typeface="Roboto"/>
              <a:sym typeface="Roboto"/>
            </a:endParaRPr>
          </a:p>
          <a:p>
            <a:pPr marL="457200" lvl="0" indent="-3556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oboto"/>
              <a:buChar char="●"/>
            </a:pPr>
            <a:r>
              <a:rPr lang="es-ES" sz="2000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Detener procesos en ejecución</a:t>
            </a:r>
            <a:endParaRPr sz="2000" dirty="0">
              <a:solidFill>
                <a:schemeClr val="dk1"/>
              </a:solidFill>
              <a:ea typeface="Roboto"/>
              <a:cs typeface="Roboto"/>
              <a:sym typeface="Roboto"/>
            </a:endParaRPr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oboto"/>
              <a:buChar char="●"/>
            </a:pPr>
            <a:r>
              <a:rPr lang="es-ES" sz="2000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Copiar datos en un nuevo lugar</a:t>
            </a:r>
            <a:endParaRPr sz="2000" dirty="0">
              <a:solidFill>
                <a:schemeClr val="dk1"/>
              </a:solidFill>
              <a:ea typeface="Roboto"/>
              <a:cs typeface="Roboto"/>
              <a:sym typeface="Roboto"/>
            </a:endParaRPr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oboto"/>
              <a:buChar char="●"/>
            </a:pPr>
            <a:r>
              <a:rPr lang="es-ES" sz="2000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Cambiar valores de los registro para el segmento</a:t>
            </a:r>
            <a:endParaRPr sz="2000" dirty="0">
              <a:solidFill>
                <a:schemeClr val="dk1"/>
              </a:solidFill>
              <a:ea typeface="Roboto"/>
              <a:cs typeface="Roboto"/>
              <a:sym typeface="Roboto"/>
            </a:endParaRPr>
          </a:p>
        </p:txBody>
      </p:sp>
      <p:pic>
        <p:nvPicPr>
          <p:cNvPr id="1588" name="Google Shape;1588;p7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68825" y="1788275"/>
            <a:ext cx="2382462" cy="4764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89" name="Google Shape;1589;p7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624650" y="1788275"/>
            <a:ext cx="2394871" cy="476492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590" name="Google Shape;1590;p76"/>
          <p:cNvGrpSpPr/>
          <p:nvPr/>
        </p:nvGrpSpPr>
        <p:grpSpPr>
          <a:xfrm>
            <a:off x="3550600" y="3697825"/>
            <a:ext cx="1983277" cy="615600"/>
            <a:chOff x="7605285" y="2960475"/>
            <a:chExt cx="1243200" cy="615600"/>
          </a:xfrm>
        </p:grpSpPr>
        <p:sp>
          <p:nvSpPr>
            <p:cNvPr id="1591" name="Google Shape;1591;p76"/>
            <p:cNvSpPr/>
            <p:nvPr/>
          </p:nvSpPr>
          <p:spPr>
            <a:xfrm>
              <a:off x="7605285" y="2960475"/>
              <a:ext cx="1243200" cy="615600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chemeClr val="accent1"/>
            </a:solidFill>
            <a:ln w="9525" cap="flat" cmpd="sng">
              <a:noFill/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2" name="Google Shape;1592;p76"/>
            <p:cNvSpPr txBox="1"/>
            <p:nvPr/>
          </p:nvSpPr>
          <p:spPr>
            <a:xfrm>
              <a:off x="7642314" y="3049375"/>
              <a:ext cx="1096200" cy="44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700" b="1" dirty="0">
                  <a:solidFill>
                    <a:schemeClr val="lt1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Compactación</a:t>
              </a:r>
              <a:endParaRPr sz="1700" b="1" dirty="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</p:grpSp>
      <p:sp>
        <p:nvSpPr>
          <p:cNvPr id="1593" name="Google Shape;1593;p76"/>
          <p:cNvSpPr txBox="1"/>
          <p:nvPr/>
        </p:nvSpPr>
        <p:spPr>
          <a:xfrm>
            <a:off x="8413575" y="4499775"/>
            <a:ext cx="3537300" cy="1574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200" b="1" dirty="0">
                <a:solidFill>
                  <a:srgbClr val="0000FF"/>
                </a:solidFill>
                <a:ea typeface="Roboto"/>
                <a:cs typeface="Roboto"/>
                <a:sym typeface="Roboto"/>
              </a:rPr>
              <a:t>Algoritmos de ubicación</a:t>
            </a:r>
            <a:r>
              <a:rPr lang="es-ES" sz="2200" dirty="0">
                <a:solidFill>
                  <a:srgbClr val="0000FF"/>
                </a:solidFill>
                <a:ea typeface="Roboto"/>
                <a:cs typeface="Roboto"/>
                <a:sym typeface="Roboto"/>
              </a:rPr>
              <a:t>: </a:t>
            </a:r>
            <a:endParaRPr sz="2200" dirty="0">
              <a:solidFill>
                <a:srgbClr val="0000FF"/>
              </a:solidFill>
              <a:ea typeface="Roboto"/>
              <a:cs typeface="Roboto"/>
              <a:sym typeface="Roboto"/>
            </a:endParaRPr>
          </a:p>
          <a:p>
            <a:pPr marL="457200" lvl="0" indent="-3556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oboto"/>
              <a:buChar char="●"/>
            </a:pPr>
            <a:r>
              <a:rPr lang="es-ES" sz="2000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Best-fit</a:t>
            </a:r>
            <a:endParaRPr sz="2000" dirty="0">
              <a:solidFill>
                <a:schemeClr val="dk1"/>
              </a:solidFill>
              <a:ea typeface="Roboto"/>
              <a:cs typeface="Roboto"/>
              <a:sym typeface="Roboto"/>
            </a:endParaRPr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oboto"/>
              <a:buChar char="●"/>
            </a:pPr>
            <a:r>
              <a:rPr lang="es-ES" sz="2000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First-fit</a:t>
            </a:r>
            <a:endParaRPr sz="2000" dirty="0">
              <a:solidFill>
                <a:schemeClr val="dk1"/>
              </a:solidFill>
              <a:ea typeface="Roboto"/>
              <a:cs typeface="Roboto"/>
              <a:sym typeface="Roboto"/>
            </a:endParaRPr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oboto"/>
              <a:buChar char="●"/>
            </a:pPr>
            <a:r>
              <a:rPr lang="es-ES" sz="2000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Worse-fit</a:t>
            </a:r>
            <a:endParaRPr sz="2000" dirty="0">
              <a:solidFill>
                <a:schemeClr val="dk1"/>
              </a:solidFill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8" name="Google Shape;1598;p77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1E5C"/>
              </a:buClr>
              <a:buSzPts val="3200"/>
              <a:buFont typeface="Roboto Slab"/>
              <a:buNone/>
            </a:pPr>
            <a:r>
              <a:rPr lang="es-ES" b="0" dirty="0">
                <a:latin typeface="+mn-lt"/>
              </a:rPr>
              <a:t>Referencias</a:t>
            </a:r>
            <a:endParaRPr sz="3200" b="0" dirty="0">
              <a:solidFill>
                <a:srgbClr val="701E5C"/>
              </a:solidFill>
              <a:latin typeface="+mn-lt"/>
              <a:sym typeface="Roboto Slab"/>
            </a:endParaRPr>
          </a:p>
        </p:txBody>
      </p:sp>
      <p:sp>
        <p:nvSpPr>
          <p:cNvPr id="1599" name="Google Shape;1599;p77"/>
          <p:cNvSpPr txBox="1">
            <a:spLocks noGrp="1"/>
          </p:cNvSpPr>
          <p:nvPr>
            <p:ph type="body" idx="1"/>
          </p:nvPr>
        </p:nvSpPr>
        <p:spPr>
          <a:xfrm>
            <a:off x="916650" y="918400"/>
            <a:ext cx="10515600" cy="56553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lvl="0" indent="-3683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200"/>
              <a:buFont typeface="Roboto"/>
              <a:buChar char="●"/>
            </a:pPr>
            <a:r>
              <a:rPr lang="es-ES" sz="2200" b="1" dirty="0" err="1">
                <a:latin typeface="+mn-lt"/>
              </a:rPr>
              <a:t>Operating</a:t>
            </a:r>
            <a:r>
              <a:rPr lang="es-ES" sz="2200" b="1" dirty="0">
                <a:latin typeface="+mn-lt"/>
              </a:rPr>
              <a:t> </a:t>
            </a:r>
            <a:r>
              <a:rPr lang="es-ES" sz="2200" b="1" dirty="0" err="1">
                <a:latin typeface="+mn-lt"/>
              </a:rPr>
              <a:t>Systems</a:t>
            </a:r>
            <a:r>
              <a:rPr lang="es-ES" sz="2200" b="1" dirty="0">
                <a:latin typeface="+mn-lt"/>
              </a:rPr>
              <a:t> </a:t>
            </a:r>
            <a:r>
              <a:rPr lang="es-ES" sz="2200" b="1" dirty="0" err="1">
                <a:latin typeface="+mn-lt"/>
              </a:rPr>
              <a:t>Three</a:t>
            </a:r>
            <a:r>
              <a:rPr lang="es-ES" sz="2200" b="1" dirty="0">
                <a:latin typeface="+mn-lt"/>
              </a:rPr>
              <a:t> Easy </a:t>
            </a:r>
            <a:r>
              <a:rPr lang="es-ES" sz="2200" b="1" dirty="0" err="1">
                <a:latin typeface="+mn-lt"/>
              </a:rPr>
              <a:t>Pieces</a:t>
            </a:r>
            <a:r>
              <a:rPr lang="es-ES" sz="2200" b="1" dirty="0">
                <a:latin typeface="+mn-lt"/>
              </a:rPr>
              <a:t> </a:t>
            </a:r>
            <a:r>
              <a:rPr lang="es-ES" sz="2200" dirty="0">
                <a:latin typeface="+mn-lt"/>
              </a:rPr>
              <a:t>(</a:t>
            </a:r>
            <a:r>
              <a:rPr lang="es-ES" sz="2200" u="sng" dirty="0" err="1">
                <a:solidFill>
                  <a:schemeClr val="hlink"/>
                </a:solidFill>
                <a:latin typeface="+mn-lt"/>
                <a:hlinkClick r:id="rId3"/>
              </a:rPr>
              <a:t>website</a:t>
            </a:r>
            <a:r>
              <a:rPr lang="es-ES" sz="2200" dirty="0">
                <a:latin typeface="+mn-lt"/>
              </a:rPr>
              <a:t>: Capítulos </a:t>
            </a:r>
            <a:r>
              <a:rPr lang="es-ES" sz="2200" u="sng" dirty="0">
                <a:solidFill>
                  <a:schemeClr val="hlink"/>
                </a:solidFill>
                <a:latin typeface="+mn-lt"/>
                <a:hlinkClick r:id="rId4"/>
              </a:rPr>
              <a:t>1</a:t>
            </a:r>
            <a:r>
              <a:rPr lang="es-ES" sz="2200" dirty="0">
                <a:latin typeface="+mn-lt"/>
              </a:rPr>
              <a:t> y </a:t>
            </a:r>
            <a:r>
              <a:rPr lang="es-ES" sz="2200" u="sng" dirty="0">
                <a:solidFill>
                  <a:schemeClr val="hlink"/>
                </a:solidFill>
                <a:latin typeface="+mn-lt"/>
                <a:hlinkClick r:id="rId5"/>
              </a:rPr>
              <a:t>2</a:t>
            </a:r>
            <a:r>
              <a:rPr lang="es-ES" sz="2200" dirty="0">
                <a:latin typeface="+mn-lt"/>
              </a:rPr>
              <a:t>)</a:t>
            </a:r>
            <a:endParaRPr sz="2200" dirty="0"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Times New Roman"/>
              <a:buChar char="●"/>
            </a:pPr>
            <a:r>
              <a:rPr lang="es-ES" sz="2200" dirty="0">
                <a:latin typeface="+mn-lt"/>
              </a:rPr>
              <a:t>Videos de </a:t>
            </a:r>
            <a:r>
              <a:rPr lang="es-ES" sz="2200" dirty="0" err="1">
                <a:latin typeface="+mn-lt"/>
              </a:rPr>
              <a:t>youtube</a:t>
            </a:r>
            <a:r>
              <a:rPr lang="es-ES" sz="2200" dirty="0">
                <a:latin typeface="+mn-lt"/>
              </a:rPr>
              <a:t>: Clase 1 - Introducción a los sistemas operativos (</a:t>
            </a:r>
            <a:r>
              <a:rPr lang="es-ES" sz="2200" u="sng" dirty="0">
                <a:solidFill>
                  <a:schemeClr val="hlink"/>
                </a:solidFill>
                <a:latin typeface="+mn-lt"/>
                <a:hlinkClick r:id="rId6"/>
              </a:rPr>
              <a:t>link</a:t>
            </a:r>
            <a:r>
              <a:rPr lang="es-ES" sz="2200" dirty="0">
                <a:latin typeface="+mn-lt"/>
              </a:rPr>
              <a:t>).</a:t>
            </a:r>
            <a:endParaRPr sz="2200" dirty="0"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Times New Roman"/>
              <a:buChar char="●"/>
            </a:pPr>
            <a:r>
              <a:rPr lang="es-ES" sz="2200" dirty="0">
                <a:latin typeface="+mn-lt"/>
              </a:rPr>
              <a:t>Página de </a:t>
            </a:r>
            <a:r>
              <a:rPr lang="es-ES" sz="2200" dirty="0" err="1">
                <a:latin typeface="+mn-lt"/>
              </a:rPr>
              <a:t>Remzi</a:t>
            </a:r>
            <a:r>
              <a:rPr lang="es-ES" sz="2200" dirty="0">
                <a:latin typeface="+mn-lt"/>
              </a:rPr>
              <a:t> H. </a:t>
            </a:r>
            <a:r>
              <a:rPr lang="es-ES" sz="2200" dirty="0" err="1">
                <a:latin typeface="+mn-lt"/>
              </a:rPr>
              <a:t>Arpaci-Dusseau</a:t>
            </a:r>
            <a:r>
              <a:rPr lang="es-ES" sz="2200" dirty="0">
                <a:latin typeface="+mn-lt"/>
              </a:rPr>
              <a:t> (</a:t>
            </a:r>
            <a:r>
              <a:rPr lang="es-ES" sz="2200" u="sng" dirty="0">
                <a:solidFill>
                  <a:schemeClr val="hlink"/>
                </a:solidFill>
                <a:latin typeface="+mn-lt"/>
                <a:hlinkClick r:id="rId7"/>
              </a:rPr>
              <a:t>link</a:t>
            </a:r>
            <a:r>
              <a:rPr lang="es-ES" sz="2200" dirty="0">
                <a:latin typeface="+mn-lt"/>
              </a:rPr>
              <a:t>)</a:t>
            </a:r>
            <a:endParaRPr sz="2200" dirty="0"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Times New Roman"/>
              <a:buChar char="●"/>
            </a:pPr>
            <a:r>
              <a:rPr lang="es-ES" sz="2200" dirty="0" err="1">
                <a:latin typeface="+mn-lt"/>
              </a:rPr>
              <a:t>Operating</a:t>
            </a:r>
            <a:r>
              <a:rPr lang="es-ES" sz="2200" dirty="0">
                <a:latin typeface="+mn-lt"/>
              </a:rPr>
              <a:t> </a:t>
            </a:r>
            <a:r>
              <a:rPr lang="es-ES" sz="2200" dirty="0" err="1">
                <a:latin typeface="+mn-lt"/>
              </a:rPr>
              <a:t>System</a:t>
            </a:r>
            <a:r>
              <a:rPr lang="es-ES" sz="2200" dirty="0">
                <a:latin typeface="+mn-lt"/>
              </a:rPr>
              <a:t> </a:t>
            </a:r>
            <a:r>
              <a:rPr lang="es-ES" sz="2200" dirty="0" err="1">
                <a:latin typeface="+mn-lt"/>
              </a:rPr>
              <a:t>Concepts</a:t>
            </a:r>
            <a:r>
              <a:rPr lang="es-ES" sz="2200" dirty="0">
                <a:latin typeface="+mn-lt"/>
              </a:rPr>
              <a:t> - </a:t>
            </a:r>
            <a:r>
              <a:rPr lang="es-ES" sz="2200" dirty="0" err="1">
                <a:latin typeface="+mn-lt"/>
              </a:rPr>
              <a:t>Tenth</a:t>
            </a:r>
            <a:r>
              <a:rPr lang="es-ES" sz="2200" dirty="0">
                <a:latin typeface="+mn-lt"/>
              </a:rPr>
              <a:t> </a:t>
            </a:r>
            <a:r>
              <a:rPr lang="es-ES" sz="2200" dirty="0" err="1">
                <a:latin typeface="+mn-lt"/>
              </a:rPr>
              <a:t>Edition</a:t>
            </a:r>
            <a:r>
              <a:rPr lang="es-ES" sz="2200" dirty="0">
                <a:latin typeface="+mn-lt"/>
              </a:rPr>
              <a:t> (</a:t>
            </a:r>
            <a:r>
              <a:rPr lang="es-ES" sz="2200" u="sng" dirty="0" err="1">
                <a:solidFill>
                  <a:schemeClr val="hlink"/>
                </a:solidFill>
                <a:latin typeface="+mn-lt"/>
                <a:hlinkClick r:id="rId8"/>
              </a:rPr>
              <a:t>website</a:t>
            </a:r>
            <a:r>
              <a:rPr lang="es-ES" sz="2200" dirty="0">
                <a:latin typeface="+mn-lt"/>
              </a:rPr>
              <a:t>)</a:t>
            </a:r>
            <a:endParaRPr sz="2200" dirty="0"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Times New Roman"/>
              <a:buChar char="●"/>
            </a:pPr>
            <a:r>
              <a:rPr lang="es-ES" sz="2200" dirty="0" err="1">
                <a:latin typeface="+mn-lt"/>
              </a:rPr>
              <a:t>Operating</a:t>
            </a:r>
            <a:r>
              <a:rPr lang="es-ES" sz="2200" dirty="0">
                <a:latin typeface="+mn-lt"/>
              </a:rPr>
              <a:t> </a:t>
            </a:r>
            <a:r>
              <a:rPr lang="es-ES" sz="2200" dirty="0" err="1">
                <a:latin typeface="+mn-lt"/>
              </a:rPr>
              <a:t>Systems</a:t>
            </a:r>
            <a:r>
              <a:rPr lang="es-ES" sz="2200" dirty="0">
                <a:latin typeface="+mn-lt"/>
              </a:rPr>
              <a:t> Notes (</a:t>
            </a:r>
            <a:r>
              <a:rPr lang="es-ES" sz="2200" u="sng" dirty="0">
                <a:solidFill>
                  <a:schemeClr val="hlink"/>
                </a:solidFill>
                <a:latin typeface="+mn-lt"/>
                <a:hlinkClick r:id="rId9"/>
              </a:rPr>
              <a:t>link</a:t>
            </a:r>
            <a:r>
              <a:rPr lang="es-ES" sz="2200" dirty="0">
                <a:latin typeface="+mn-lt"/>
              </a:rPr>
              <a:t>)</a:t>
            </a:r>
            <a:endParaRPr sz="2200" dirty="0"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Times New Roman"/>
              <a:buChar char="●"/>
            </a:pPr>
            <a:r>
              <a:rPr lang="es-ES" sz="2200" u="sng" dirty="0">
                <a:solidFill>
                  <a:schemeClr val="hlink"/>
                </a:solidFill>
                <a:latin typeface="+mn-lt"/>
                <a:hlinkClick r:id="rId10"/>
              </a:rPr>
              <a:t>https://github.com/Aniruddha-Tapas/Operating-Systems-Notes/blob/master/1-Overview.md</a:t>
            </a:r>
            <a:endParaRPr sz="2200" dirty="0"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Times New Roman"/>
              <a:buChar char="●"/>
            </a:pPr>
            <a:r>
              <a:rPr lang="es-ES" sz="2200" u="sng" dirty="0">
                <a:solidFill>
                  <a:schemeClr val="hlink"/>
                </a:solidFill>
                <a:latin typeface="+mn-lt"/>
                <a:hlinkClick r:id="rId11"/>
              </a:rPr>
              <a:t>https://myaut.github.io/dtrace-stap-book/kernel/proc.html</a:t>
            </a:r>
            <a:r>
              <a:rPr lang="es-ES" sz="2200" dirty="0">
                <a:latin typeface="+mn-lt"/>
              </a:rPr>
              <a:t> </a:t>
            </a:r>
            <a:endParaRPr sz="2200" dirty="0"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Times New Roman"/>
              <a:buChar char="●"/>
            </a:pPr>
            <a:r>
              <a:rPr lang="es-ES" sz="2200" u="sng" dirty="0">
                <a:solidFill>
                  <a:schemeClr val="hlink"/>
                </a:solidFill>
                <a:latin typeface="+mn-lt"/>
                <a:hlinkClick r:id="rId12"/>
              </a:rPr>
              <a:t>https://myaut.github.io/dtrace-stap-book/index.html</a:t>
            </a:r>
            <a:endParaRPr sz="2200" dirty="0"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Times New Roman"/>
              <a:buChar char="●"/>
            </a:pPr>
            <a:r>
              <a:rPr lang="es-ES" sz="2200" u="sng" dirty="0">
                <a:solidFill>
                  <a:schemeClr val="hlink"/>
                </a:solidFill>
                <a:latin typeface="+mn-lt"/>
                <a:hlinkClick r:id="rId13"/>
              </a:rPr>
              <a:t>https://www.technologyuk.net/computing/computer-software/operating-systems/operating-system-utilities.shtml</a:t>
            </a:r>
            <a:r>
              <a:rPr lang="es-ES" sz="2200" dirty="0">
                <a:latin typeface="+mn-lt"/>
              </a:rPr>
              <a:t> </a:t>
            </a:r>
            <a:endParaRPr sz="2200" dirty="0"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Times New Roman"/>
              <a:buChar char="●"/>
            </a:pPr>
            <a:r>
              <a:rPr lang="es-ES" sz="2200" u="sng" dirty="0">
                <a:solidFill>
                  <a:schemeClr val="hlink"/>
                </a:solidFill>
                <a:latin typeface="+mn-lt"/>
                <a:hlinkClick r:id="rId14"/>
              </a:rPr>
              <a:t>http://www.it.uu.se/education/course/homepage/os/vt18/module-4/simple-threads/</a:t>
            </a:r>
            <a:r>
              <a:rPr lang="es-ES" sz="2200" dirty="0">
                <a:latin typeface="+mn-lt"/>
              </a:rPr>
              <a:t> </a:t>
            </a:r>
            <a:endParaRPr sz="2200" dirty="0"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Roboto"/>
              <a:buChar char="●"/>
            </a:pPr>
            <a:r>
              <a:rPr lang="es-ES" sz="2200" u="sng" dirty="0">
                <a:solidFill>
                  <a:schemeClr val="hlink"/>
                </a:solidFill>
                <a:latin typeface="+mn-lt"/>
                <a:hlinkClick r:id="rId15"/>
              </a:rPr>
              <a:t>https://courses.cs.duke.edu/spring19/compsci590.1/slides/</a:t>
            </a:r>
            <a:r>
              <a:rPr lang="es-ES" sz="2200" dirty="0">
                <a:latin typeface="+mn-lt"/>
              </a:rPr>
              <a:t> </a:t>
            </a:r>
            <a:endParaRPr sz="2200" dirty="0"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Times New Roman"/>
              <a:buChar char="●"/>
            </a:pPr>
            <a:r>
              <a:rPr lang="es-ES" sz="2200" u="sng" dirty="0">
                <a:solidFill>
                  <a:schemeClr val="hlink"/>
                </a:solidFill>
                <a:latin typeface="+mn-lt"/>
                <a:hlinkClick r:id="rId16"/>
              </a:rPr>
              <a:t>http://csl.snu.ac.kr/courses/4190.307/2020-1/</a:t>
            </a:r>
            <a:r>
              <a:rPr lang="es-ES" sz="2200" dirty="0">
                <a:latin typeface="+mn-lt"/>
              </a:rPr>
              <a:t> </a:t>
            </a: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s-ES" sz="2200" dirty="0">
                <a:latin typeface="+mn-lt"/>
              </a:rPr>
              <a:t> </a:t>
            </a: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900" dirty="0">
              <a:latin typeface="+mn-lt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425</TotalTime>
  <Words>4329</Words>
  <Application>Microsoft Office PowerPoint</Application>
  <PresentationFormat>Panorámica</PresentationFormat>
  <Paragraphs>1712</Paragraphs>
  <Slides>49</Slides>
  <Notes>49</Notes>
  <HiddenSlides>0</HiddenSlides>
  <MMClips>0</MMClips>
  <ScaleCrop>false</ScaleCrop>
  <HeadingPairs>
    <vt:vector size="6" baseType="variant">
      <vt:variant>
        <vt:lpstr>Fuentes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49</vt:i4>
      </vt:variant>
    </vt:vector>
  </HeadingPairs>
  <TitlesOfParts>
    <vt:vector size="58" baseType="lpstr">
      <vt:lpstr>Roboto Slab</vt:lpstr>
      <vt:lpstr>Consolas</vt:lpstr>
      <vt:lpstr>Calibri</vt:lpstr>
      <vt:lpstr>Roboto</vt:lpstr>
      <vt:lpstr>Courier New</vt:lpstr>
      <vt:lpstr>Arial</vt:lpstr>
      <vt:lpstr>Calibri Light</vt:lpstr>
      <vt:lpstr>Times New Roman</vt:lpstr>
      <vt:lpstr>Tema de Office</vt:lpstr>
      <vt:lpstr>Sistemas Operativos</vt:lpstr>
      <vt:lpstr>Memoria Física – Memoria Virtual</vt:lpstr>
      <vt:lpstr>Address translation - Mapeo</vt:lpstr>
      <vt:lpstr>Dynamic Relocation (base &amp; bounds)</vt:lpstr>
      <vt:lpstr>Traducción de direcciones usando Dynamic Relocation</vt:lpstr>
      <vt:lpstr>Ejemplo 1  - Clase anterior</vt:lpstr>
      <vt:lpstr>Ejemplo 1 - Clase anterior</vt:lpstr>
      <vt:lpstr>Ejemplo 2</vt:lpstr>
      <vt:lpstr>Ejemplo 2</vt:lpstr>
      <vt:lpstr>Ejemplo 2</vt:lpstr>
      <vt:lpstr>Ejemplo 2</vt:lpstr>
      <vt:lpstr>Ejemplo 3</vt:lpstr>
      <vt:lpstr>Acciones del sistema operativo</vt:lpstr>
      <vt:lpstr>Ventajas y desventajas de la reasignación dinámica (base &amp; bound)</vt:lpstr>
      <vt:lpstr>Pregunta clave</vt:lpstr>
      <vt:lpstr>Segmentación</vt:lpstr>
      <vt:lpstr>Segmentación</vt:lpstr>
      <vt:lpstr>Segmentación</vt:lpstr>
      <vt:lpstr>Traducción de direcciones (I)</vt:lpstr>
      <vt:lpstr>Traducción de direcciones (I)</vt:lpstr>
      <vt:lpstr>Traducción de direcciones (I)</vt:lpstr>
      <vt:lpstr>Traducción de direcciones (I)</vt:lpstr>
      <vt:lpstr>Traducción de direcciones (I)</vt:lpstr>
      <vt:lpstr>Traducción de direcciones (I)</vt:lpstr>
      <vt:lpstr>Traducción de direcciones (I)</vt:lpstr>
      <vt:lpstr>Referenciando un segmento</vt:lpstr>
      <vt:lpstr>Referenciando un segmento</vt:lpstr>
      <vt:lpstr>Referenciando un segmento</vt:lpstr>
      <vt:lpstr>Referenciando un segmento</vt:lpstr>
      <vt:lpstr>Referenciando un segmento</vt:lpstr>
      <vt:lpstr>Referenciando un segmento</vt:lpstr>
      <vt:lpstr>Referenciando un segmento</vt:lpstr>
      <vt:lpstr>Traducción de direcciones - Pseudocódigo</vt:lpstr>
      <vt:lpstr>Traducción de direcciones (II)</vt:lpstr>
      <vt:lpstr>Traducción de direcciones (II)</vt:lpstr>
      <vt:lpstr>Traducción de direcciones (II)</vt:lpstr>
      <vt:lpstr>Traducción de direcciones (II)</vt:lpstr>
      <vt:lpstr>Traducción de direcciones (II)</vt:lpstr>
      <vt:lpstr>Traducción de direcciones (II)</vt:lpstr>
      <vt:lpstr>Traducción de direcciones (II)</vt:lpstr>
      <vt:lpstr>Traducción de direcciones (II)</vt:lpstr>
      <vt:lpstr>Segmentos compartidos</vt:lpstr>
      <vt:lpstr>Segmentos compartidos</vt:lpstr>
      <vt:lpstr>Segmentos compartidos</vt:lpstr>
      <vt:lpstr>Hardware de segmentación</vt:lpstr>
      <vt:lpstr>Segmentation granularity</vt:lpstr>
      <vt:lpstr>Ventajas y desventajas de la segmentación</vt:lpstr>
      <vt:lpstr>Compactación</vt:lpstr>
      <vt:lpstr>Referencias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Sistemas Operativos</dc:title>
  <cp:lastModifiedBy>HENRY ALBERTO ARCILA RAMIREZ</cp:lastModifiedBy>
  <cp:revision>18</cp:revision>
  <dcterms:modified xsi:type="dcterms:W3CDTF">2026-03-25T22:56:16Z</dcterms:modified>
</cp:coreProperties>
</file>