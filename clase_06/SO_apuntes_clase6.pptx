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38"/>
  </p:notes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67" r:id="rId9"/>
    <p:sldId id="268" r:id="rId10"/>
    <p:sldId id="269" r:id="rId11"/>
    <p:sldId id="272" r:id="rId12"/>
    <p:sldId id="274" r:id="rId13"/>
    <p:sldId id="275" r:id="rId14"/>
    <p:sldId id="276" r:id="rId15"/>
    <p:sldId id="277" r:id="rId16"/>
    <p:sldId id="278" r:id="rId17"/>
    <p:sldId id="297" r:id="rId18"/>
    <p:sldId id="295" r:id="rId19"/>
    <p:sldId id="296" r:id="rId20"/>
    <p:sldId id="280" r:id="rId21"/>
    <p:sldId id="299" r:id="rId22"/>
    <p:sldId id="298" r:id="rId23"/>
    <p:sldId id="281" r:id="rId24"/>
    <p:sldId id="300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</p:sldIdLst>
  <p:sldSz cx="12192000" cy="6858000"/>
  <p:notesSz cx="6858000" cy="9144000"/>
  <p:embeddedFontLst>
    <p:embeddedFont>
      <p:font typeface="Calibri" panose="020F0502020204030204" pitchFamily="34" charset="0"/>
      <p:regular r:id="rId39"/>
      <p:bold r:id="rId40"/>
      <p:italic r:id="rId41"/>
      <p:boldItalic r:id="rId42"/>
    </p:embeddedFont>
    <p:embeddedFont>
      <p:font typeface="Calibri Light" panose="020F0302020204030204" pitchFamily="34" charset="0"/>
      <p:regular r:id="rId43"/>
      <p:italic r:id="rId44"/>
    </p:embeddedFont>
    <p:embeddedFont>
      <p:font typeface="Cambria Math" panose="02040503050406030204" pitchFamily="18" charset="0"/>
      <p:regular r:id="rId45"/>
    </p:embeddedFont>
    <p:embeddedFont>
      <p:font typeface="Consolas" panose="020B0609020204030204" pitchFamily="49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  <p:embeddedFont>
      <p:font typeface="Roboto Slab" panose="020B0604020202020204" charset="0"/>
      <p:regular r:id="rId54"/>
      <p:bold r:id="rId55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256816-98E7-43CD-9922-515D8D27F350}">
  <a:tblStyle styleId="{62256816-98E7-43CD-9922-515D8D27F3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1" autoAdjust="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font" Target="fonts/font9.fntdata"/><Relationship Id="rId50" Type="http://schemas.openxmlformats.org/officeDocument/2006/relationships/font" Target="fonts/font12.fntdata"/><Relationship Id="rId55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3" Type="http://schemas.openxmlformats.org/officeDocument/2006/relationships/font" Target="fonts/font1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font" Target="fonts/font10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font" Target="fonts/font8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54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52" Type="http://schemas.openxmlformats.org/officeDocument/2006/relationships/font" Target="fonts/font1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043d1bb18a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043d1bb18a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78358aba08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78358aba08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10292d3bc9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10292d3bc9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02fc7111bf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02fc7111bf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10411c0b8f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10411c0b8f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2fc7111b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g102fc7111b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10411c0b8ff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0" name="Google Shape;350;g10411c0b8ff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02fc7111bf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</a:t>
            </a:r>
            <a:r>
              <a:rPr lang="es-ES" sz="2400" i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s-ES" sz="2400" i="1" dirty="0" err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condition</a:t>
            </a:r>
            <a:r>
              <a:rPr lang="es-ES" sz="24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g102fc7111bf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053c374b7c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053c374b7c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78358aba0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78358aba0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0411c0b8ff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0411c0b8ff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10411c0b8ff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10411c0b8ff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53763773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360734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8055023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0411c0b8ff_0_2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0411c0b8ff_0_2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4046659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411c0b8ff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411c0b8ff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735240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0411c0b8ff_0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0411c0b8ff_0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1053c374b7c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g1053c374b7c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30800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0411c0b8ff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10411c0b8ff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10411c0b8ff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10411c0b8ff_0_4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053c374b7c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053c374b7c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0411c0b8ff_0_3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0411c0b8ff_0_3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10411c0b8ff_0_3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10411c0b8ff_0_3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0411c0b8ff_0_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0411c0b8ff_0_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10411c0b8ff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10411c0b8ff_0_3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10411c0b8ff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10411c0b8ff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10411c0b8ff_0_3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4" name="Google Shape;584;g10411c0b8ff_0_3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10411c0b8ff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10411c0b8ff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1053c374b7c_0_2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7" name="Google Shape;597;g1053c374b7c_0_2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04304384e2_0_3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4" name="Google Shape;604;g104304384e2_0_3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2B5B5A-751F-4EBB-82EE-2A63E1FF7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D9D16B5-E75E-4B4F-8250-EC31F987CA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1F386C-5813-4936-AEA1-CA9083E15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81D2CD9-E31A-4456-8518-E8057D1FB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C075BC-0C02-4E76-A012-8D0857C4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58673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867E64-BEE0-4896-9108-5B1E4E353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977962-096A-4CEC-96C0-1550294D6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FC936-9C50-46D8-97E4-471A50706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8DC04D-83A3-4235-B5B8-4C5B5A17C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4F2A07-531E-4C23-A0B9-901B0610D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96116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13A989-C08A-4DC3-9168-23114229F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B73D69-C4BA-4AD6-9B08-11BD201A7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BDC8EA-C11B-4B7C-912A-F0AD89901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2D1180-27A3-4905-BE61-D468FBAB1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A7DDDA-1F33-4F6A-A187-5981CD3A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455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AC5643-EEE6-4966-B235-BCC178D12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017F486-A0DD-4694-AB17-BAF39130CD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93F0296-D09D-4B59-8D85-3690CE0050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2716792-204E-436C-A62E-88C03AF53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0E754C0-63F8-4AED-8828-F86CB01B8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F854AD7-B5B8-46CA-B108-171AE5A35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9310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5CF99B-B946-426C-B084-5AFC4EC0C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A0E4BBE-28B5-43C7-9588-D2AEE38EA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77A3BD0-643B-4761-8C6A-B6E5430C6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2B7580-1AD1-40E0-B771-1751D96608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AE4B8AB-0704-4D24-A49E-AD8D399B66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6B6E3BF-6A17-40B6-A908-ECCC7D223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0845EE1-FD79-4D90-88FB-6923EE07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A67E8E6-478B-4C62-BA82-F0B91582B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215262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C6777B-268F-4C17-90D7-F9F6819C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EFFFEC-DF47-4CF1-8756-9AA9BF017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22209EF-46E2-4E31-BA81-1A3BF5F4A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78B6800-91AF-4040-AB63-3FE86F65B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34902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BE428C6-ED43-463E-AEFD-CF0EF0A83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39CEE9-7D37-4A86-BA34-969CC2649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A26C2A-D94A-483B-B57B-D4729C87A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586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63EDD-C54A-4B6A-8EE0-9143C9143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399C86-A3DA-4AF0-80A4-C0034F2E4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D83BF8F-21C8-464F-B202-3636101925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B8D2092-651A-4640-98EB-49556251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F9A0433-E18E-4766-9E94-EB264AB4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8F878D-7FAF-407A-A0F2-5CF6719D6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470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1C5A6C-EEA9-48B1-9BD4-4F2E85917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0EDC858-BA74-49D7-8864-7682173FB2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2701689-C61C-46FC-9DD0-2005AF6B3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85B2D8-1335-4087-9C8C-004539CCE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9C1B91-2AAA-4BB6-95FA-9F439C851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3469A3-1F0B-4592-A2CF-B79EEFC43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581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CE142-F612-4F86-B80B-68A4D922F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F51C691-3A25-4AA5-888A-D9C71FEC43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A06C9B-70DE-4FF6-987C-2E25691C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48D31DB-8445-45E8-992A-5C70EF172E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FAEE7FB-D0A9-417F-8F0F-B023AF597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904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CE1840-C51A-4E76-B2A0-DA9BCE4CEB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CAE21DF-8661-4CBD-9BF8-36F76E857A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4A1A1A-9A8B-4AF9-B6FD-26BA9527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40256C-90B7-4BAF-90FD-508F135B7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ACF4A6-78C7-4AB8-A64A-BA02C85F5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2010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2481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85236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21068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842ADBB-CF2B-45BD-B15B-F6BEFA4BF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93C5165-9F04-4027-9411-C26CCA586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8C03F-E4E2-47DA-9327-8BA03B824F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5F423-CC6C-4036-A948-F3B07C86B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710695-E826-4F2F-AD50-D1F8F7083E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814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11" Type="http://schemas.openxmlformats.org/officeDocument/2006/relationships/image" Target="../media/image28.png"/><Relationship Id="rId5" Type="http://schemas.openxmlformats.org/officeDocument/2006/relationships/image" Target="../media/image23.png"/><Relationship Id="rId10" Type="http://schemas.openxmlformats.org/officeDocument/2006/relationships/image" Target="../media/image27.png"/><Relationship Id="rId4" Type="http://schemas.openxmlformats.org/officeDocument/2006/relationships/image" Target="../media/image220.png"/><Relationship Id="rId9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9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80.png"/><Relationship Id="rId5" Type="http://schemas.openxmlformats.org/officeDocument/2006/relationships/image" Target="../media/image270.png"/><Relationship Id="rId4" Type="http://schemas.openxmlformats.org/officeDocument/2006/relationships/image" Target="../media/image260.png"/><Relationship Id="rId9" Type="http://schemas.openxmlformats.org/officeDocument/2006/relationships/image" Target="../media/image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remzi-arpacidusseau/ostep-homework/tree/master/cpu-sched-mlfq" TargetMode="External"/><Relationship Id="rId5" Type="http://schemas.openxmlformats.org/officeDocument/2006/relationships/hyperlink" Target="https://github.com/remzi-arpacidusseau/ostep-homework/blob/master/cpu-sched-mlfq/mlfq.py" TargetMode="Externa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29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3.png"/><Relationship Id="rId5" Type="http://schemas.openxmlformats.org/officeDocument/2006/relationships/image" Target="../media/image310.png"/><Relationship Id="rId4" Type="http://schemas.openxmlformats.org/officeDocument/2006/relationships/image" Target="../media/image300.png"/><Relationship Id="rId9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github.com/remzi-arpacidusseau/ostep-homework/tree/master/cpu-sched-mlfq" TargetMode="External"/><Relationship Id="rId4" Type="http://schemas.openxmlformats.org/officeDocument/2006/relationships/hyperlink" Target="https://github.com/remzi-arpacidusseau/ostep-homework/blob/master/cpu-sched-mlfq/mlfq.py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os-book.com/OS10/index.html" TargetMode="External"/><Relationship Id="rId13" Type="http://schemas.openxmlformats.org/officeDocument/2006/relationships/hyperlink" Target="https://www.technologyuk.net/computing/computer-software/operating-systems/operating-system-utilities.shtml" TargetMode="External"/><Relationship Id="rId18" Type="http://schemas.openxmlformats.org/officeDocument/2006/relationships/hyperlink" Target="https://github.com/silentzero192/Operating-Systems-Lab/tree/main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://pages.cs.wisc.edu/~remzi/" TargetMode="External"/><Relationship Id="rId12" Type="http://schemas.openxmlformats.org/officeDocument/2006/relationships/hyperlink" Target="https://myaut.github.io/dtrace-stap-book/index.html" TargetMode="External"/><Relationship Id="rId17" Type="http://schemas.openxmlformats.org/officeDocument/2006/relationships/hyperlink" Target="https://www.merlot.org/merlot/viewMaterial.htm?id=773407108" TargetMode="External"/><Relationship Id="rId2" Type="http://schemas.openxmlformats.org/officeDocument/2006/relationships/notesSlide" Target="../notesSlides/notesSlide36.xml"/><Relationship Id="rId16" Type="http://schemas.openxmlformats.org/officeDocument/2006/relationships/hyperlink" Target="https://github.com/ls1-sys-prog-course/docs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www.youtube.com/playlist?list=PLlTZ99qnw3zKBiKz7pZ_ErH3AR3rpaaKT" TargetMode="External"/><Relationship Id="rId11" Type="http://schemas.openxmlformats.org/officeDocument/2006/relationships/hyperlink" Target="https://myaut.github.io/dtrace-stap-book/kernel/proc.html" TargetMode="External"/><Relationship Id="rId5" Type="http://schemas.openxmlformats.org/officeDocument/2006/relationships/hyperlink" Target="http://pages.cs.wisc.edu/~remzi/OSTEP/intro.pdf" TargetMode="External"/><Relationship Id="rId15" Type="http://schemas.openxmlformats.org/officeDocument/2006/relationships/hyperlink" Target="https://courses.cs.duke.edu/spring19/compsci590.1/slides/" TargetMode="External"/><Relationship Id="rId10" Type="http://schemas.openxmlformats.org/officeDocument/2006/relationships/hyperlink" Target="https://github.com/Aniruddha-Tapas/Operating-Systems-Notes/blob/master/1-Overview.md" TargetMode="External"/><Relationship Id="rId19" Type="http://schemas.openxmlformats.org/officeDocument/2006/relationships/hyperlink" Target="https://github.com/getvmio/free-operating-system-resources" TargetMode="External"/><Relationship Id="rId4" Type="http://schemas.openxmlformats.org/officeDocument/2006/relationships/hyperlink" Target="http://pages.cs.wisc.edu/~remzi/OSTEP/dialogue-threeeasy.pdf" TargetMode="External"/><Relationship Id="rId9" Type="http://schemas.openxmlformats.org/officeDocument/2006/relationships/hyperlink" Target="https://applied-programming.github.io/Operating-Systems-Notes/" TargetMode="External"/><Relationship Id="rId14" Type="http://schemas.openxmlformats.org/officeDocument/2006/relationships/hyperlink" Target="http://www.it.uu.se/education/course/homepage/os/vt18/module-4/simple-thread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393977" y="2352413"/>
            <a:ext cx="10977030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clase 6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311016"/>
            <a:ext cx="9144000" cy="31635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/>
              <a:t>Multi-</a:t>
            </a:r>
            <a:r>
              <a:rPr lang="es-ES" sz="4400" b="1" dirty="0" err="1"/>
              <a:t>Level</a:t>
            </a:r>
            <a:r>
              <a:rPr lang="es-ES" sz="4400" b="1" dirty="0"/>
              <a:t> </a:t>
            </a:r>
            <a:r>
              <a:rPr lang="es-ES" sz="4400" b="1" dirty="0" err="1"/>
              <a:t>Feedback</a:t>
            </a:r>
            <a:r>
              <a:rPr lang="es-ES" sz="4400" b="1" dirty="0"/>
              <a:t> Queue</a:t>
            </a:r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de Ingeniería</a:t>
            </a:r>
          </a:p>
          <a:p>
            <a:r>
              <a:rPr lang="es-CO" sz="3200" dirty="0"/>
              <a:t>Ingeniería de Sistemas</a:t>
            </a:r>
          </a:p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xfrm>
            <a:off x="486697" y="159250"/>
            <a:ext cx="10835278" cy="95332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158" name="Google Shape;158;p20"/>
          <p:cNvSpPr txBox="1">
            <a:spLocks noGrp="1"/>
          </p:cNvSpPr>
          <p:nvPr>
            <p:ph idx="1"/>
          </p:nvPr>
        </p:nvSpPr>
        <p:spPr>
          <a:xfrm>
            <a:off x="614886" y="1185408"/>
            <a:ext cx="10578900" cy="61442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/>
              <a:t>El Scheduler</a:t>
            </a:r>
            <a:endParaRPr sz="2500" dirty="0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F3D7F0BE-8703-4ED4-9CC7-5B4339B1F0C9}"/>
              </a:ext>
            </a:extLst>
          </p:cNvPr>
          <p:cNvGrpSpPr/>
          <p:nvPr/>
        </p:nvGrpSpPr>
        <p:grpSpPr>
          <a:xfrm>
            <a:off x="843636" y="2241985"/>
            <a:ext cx="5151875" cy="3660100"/>
            <a:chOff x="843636" y="2241985"/>
            <a:chExt cx="5151875" cy="3660100"/>
          </a:xfrm>
        </p:grpSpPr>
        <p:sp>
          <p:nvSpPr>
            <p:cNvPr id="164" name="Google Shape;164;p20"/>
            <p:cNvSpPr/>
            <p:nvPr/>
          </p:nvSpPr>
          <p:spPr>
            <a:xfrm>
              <a:off x="843636" y="2543985"/>
              <a:ext cx="1066800" cy="2971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28575" cap="flat" cmpd="sng">
              <a:solidFill>
                <a:srgbClr val="9E9E9E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20"/>
            <p:cNvSpPr/>
            <p:nvPr/>
          </p:nvSpPr>
          <p:spPr>
            <a:xfrm>
              <a:off x="1011486" y="2868885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2" name="Google Shape;172;p20"/>
            <p:cNvSpPr/>
            <p:nvPr/>
          </p:nvSpPr>
          <p:spPr>
            <a:xfrm>
              <a:off x="1018611" y="390892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173" name="Google Shape;173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28711" y="3316910"/>
              <a:ext cx="1066800" cy="106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940024" y="2639832"/>
              <a:ext cx="1213362" cy="12097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75" name="Google Shape;175;p20"/>
            <p:cNvCxnSpPr/>
            <p:nvPr/>
          </p:nvCxnSpPr>
          <p:spPr>
            <a:xfrm>
              <a:off x="1993686" y="3318685"/>
              <a:ext cx="863100" cy="619800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176" name="Google Shape;176;p20"/>
            <p:cNvCxnSpPr/>
            <p:nvPr/>
          </p:nvCxnSpPr>
          <p:spPr>
            <a:xfrm>
              <a:off x="2864886" y="3908923"/>
              <a:ext cx="18168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77" name="Google Shape;177;p20"/>
            <p:cNvSpPr/>
            <p:nvPr/>
          </p:nvSpPr>
          <p:spPr>
            <a:xfrm>
              <a:off x="2532689" y="3404335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8" name="Google Shape;178;p20"/>
            <p:cNvSpPr txBox="1"/>
            <p:nvPr/>
          </p:nvSpPr>
          <p:spPr>
            <a:xfrm>
              <a:off x="2033411" y="3615210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9" name="Google Shape;179;p20"/>
            <p:cNvSpPr txBox="1"/>
            <p:nvPr/>
          </p:nvSpPr>
          <p:spPr>
            <a:xfrm flipH="1">
              <a:off x="2832110" y="2241985"/>
              <a:ext cx="14292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0B693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Scheduler</a:t>
              </a:r>
              <a:endParaRPr sz="1800" b="1" dirty="0">
                <a:solidFill>
                  <a:srgbClr val="0B693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0" name="Google Shape;180;p20"/>
            <p:cNvSpPr txBox="1"/>
            <p:nvPr/>
          </p:nvSpPr>
          <p:spPr>
            <a:xfrm>
              <a:off x="1015086" y="4834685"/>
              <a:ext cx="72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 flipH="1">
              <a:off x="2532686" y="5114185"/>
              <a:ext cx="156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Workload</a:t>
              </a:r>
              <a:endParaRPr sz="1800" b="1" dirty="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82" name="Google Shape;182;p20"/>
            <p:cNvCxnSpPr>
              <a:stCxn id="181" idx="3"/>
            </p:cNvCxnSpPr>
            <p:nvPr/>
          </p:nvCxnSpPr>
          <p:spPr>
            <a:xfrm rot="10800000">
              <a:off x="2019086" y="5198335"/>
              <a:ext cx="513600" cy="146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pic>
          <p:nvPicPr>
            <p:cNvPr id="183" name="Google Shape;18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094486" y="4787976"/>
              <a:ext cx="1429200" cy="111410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81E9B73F-60DA-4876-844B-21DFFB27B1DA}"/>
              </a:ext>
            </a:extLst>
          </p:cNvPr>
          <p:cNvGrpSpPr/>
          <p:nvPr/>
        </p:nvGrpSpPr>
        <p:grpSpPr>
          <a:xfrm>
            <a:off x="6794833" y="996868"/>
            <a:ext cx="4910470" cy="2093658"/>
            <a:chOff x="6794833" y="1034968"/>
            <a:chExt cx="4910470" cy="2093658"/>
          </a:xfrm>
        </p:grpSpPr>
        <p:graphicFrame>
          <p:nvGraphicFramePr>
            <p:cNvPr id="160" name="Google Shape;160;p20"/>
            <p:cNvGraphicFramePr/>
            <p:nvPr>
              <p:extLst>
                <p:ext uri="{D42A27DB-BD31-4B8C-83A1-F6EECF244321}">
                  <p14:modId xmlns:p14="http://schemas.microsoft.com/office/powerpoint/2010/main" val="573589992"/>
                </p:ext>
              </p:extLst>
            </p:nvPr>
          </p:nvGraphicFramePr>
          <p:xfrm>
            <a:off x="7499188" y="1799831"/>
            <a:ext cx="3025625" cy="856225"/>
          </p:xfrm>
          <a:graphic>
            <a:graphicData uri="http://schemas.openxmlformats.org/drawingml/2006/table">
              <a:tbl>
                <a:tblPr>
                  <a:noFill/>
                  <a:tableStyleId>{62256816-98E7-43CD-9922-515D8D27F350}</a:tableStyleId>
                </a:tblPr>
                <a:tblGrid>
                  <a:gridCol w="60512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605125">
                    <a:extLst>
                      <a:ext uri="{9D8B030D-6E8A-4147-A177-3AD203B41FA5}">
                        <a16:colId xmlns:a16="http://schemas.microsoft.com/office/drawing/2014/main" val="20004"/>
                      </a:ext>
                    </a:extLst>
                  </a:gridCol>
                </a:tblGrid>
                <a:tr h="856225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P1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P2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P1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P2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accent2">
                          <a:lumMod val="20000"/>
                          <a:lumOff val="80000"/>
                        </a:schemeClr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700" dirty="0">
                            <a:latin typeface="Courier New"/>
                            <a:ea typeface="Courier New"/>
                            <a:cs typeface="Courier New"/>
                            <a:sym typeface="Courier New"/>
                          </a:rPr>
                          <a:t>...</a:t>
                        </a:r>
                        <a:endParaRPr sz="1700" dirty="0">
                          <a:latin typeface="Courier New"/>
                          <a:ea typeface="Courier New"/>
                          <a:cs typeface="Courier New"/>
                          <a:sym typeface="Courier New"/>
                        </a:endParaRPr>
                      </a:p>
                    </a:txBody>
                    <a:tcPr marL="91425" marR="91425" marT="91425" marB="91425" anchor="ctr">
                      <a:lnL w="9525" cap="flat" cmpd="sng">
                        <a:solidFill>
                          <a:schemeClr val="dk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</a:tbl>
            </a:graphicData>
          </a:graphic>
        </p:graphicFrame>
        <p:cxnSp>
          <p:nvCxnSpPr>
            <p:cNvPr id="161" name="Google Shape;161;p20"/>
            <p:cNvCxnSpPr/>
            <p:nvPr/>
          </p:nvCxnSpPr>
          <p:spPr>
            <a:xfrm>
              <a:off x="7496413" y="1534445"/>
              <a:ext cx="4005300" cy="11175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63" name="Google Shape;163;p20"/>
            <p:cNvSpPr txBox="1"/>
            <p:nvPr/>
          </p:nvSpPr>
          <p:spPr>
            <a:xfrm>
              <a:off x="10944803" y="2636026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5" name="Google Shape;165;p20"/>
            <p:cNvSpPr/>
            <p:nvPr/>
          </p:nvSpPr>
          <p:spPr>
            <a:xfrm>
              <a:off x="7948288" y="1385667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6" name="Google Shape;166;p20"/>
            <p:cNvSpPr/>
            <p:nvPr/>
          </p:nvSpPr>
          <p:spPr>
            <a:xfrm>
              <a:off x="8530213" y="1375392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7" name="Google Shape;167;p20"/>
            <p:cNvSpPr/>
            <p:nvPr/>
          </p:nvSpPr>
          <p:spPr>
            <a:xfrm>
              <a:off x="9112138" y="1365917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68" name="Google Shape;168;p20"/>
            <p:cNvSpPr txBox="1"/>
            <p:nvPr/>
          </p:nvSpPr>
          <p:spPr>
            <a:xfrm>
              <a:off x="7886913" y="1056318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>
              <a:off x="8468463" y="1034968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70" name="Google Shape;170;p20"/>
            <p:cNvSpPr txBox="1"/>
            <p:nvPr/>
          </p:nvSpPr>
          <p:spPr>
            <a:xfrm>
              <a:off x="9032488" y="1034968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53" name="Google Shape;309;p30">
              <a:extLst>
                <a:ext uri="{FF2B5EF4-FFF2-40B4-BE49-F238E27FC236}">
                  <a16:creationId xmlns:a16="http://schemas.microsoft.com/office/drawing/2014/main" id="{50402BA9-9F90-4E26-9D35-7F9BA42A2109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794833" y="1923143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" name="Grupo 2">
            <a:extLst>
              <a:ext uri="{FF2B5EF4-FFF2-40B4-BE49-F238E27FC236}">
                <a16:creationId xmlns:a16="http://schemas.microsoft.com/office/drawing/2014/main" id="{F68B3352-E265-4F1A-8669-4C5B9CF9EE8A}"/>
              </a:ext>
            </a:extLst>
          </p:cNvPr>
          <p:cNvGrpSpPr/>
          <p:nvPr/>
        </p:nvGrpSpPr>
        <p:grpSpPr>
          <a:xfrm>
            <a:off x="6686984" y="3849600"/>
            <a:ext cx="5018319" cy="2548331"/>
            <a:chOff x="6549054" y="3348136"/>
            <a:chExt cx="5018319" cy="2548331"/>
          </a:xfrm>
        </p:grpSpPr>
        <p:sp>
          <p:nvSpPr>
            <p:cNvPr id="69" name="Google Shape;163;p20">
              <a:extLst>
                <a:ext uri="{FF2B5EF4-FFF2-40B4-BE49-F238E27FC236}">
                  <a16:creationId xmlns:a16="http://schemas.microsoft.com/office/drawing/2014/main" id="{071AB38B-0564-457A-9F9A-A97AF5F9DF9D}"/>
                </a:ext>
              </a:extLst>
            </p:cNvPr>
            <p:cNvSpPr txBox="1"/>
            <p:nvPr/>
          </p:nvSpPr>
          <p:spPr>
            <a:xfrm>
              <a:off x="10806873" y="4979733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" name="Google Shape;165;p20">
              <a:extLst>
                <a:ext uri="{FF2B5EF4-FFF2-40B4-BE49-F238E27FC236}">
                  <a16:creationId xmlns:a16="http://schemas.microsoft.com/office/drawing/2014/main" id="{DE5C0A97-72F5-4DEA-9A95-23C18B205F09}"/>
                </a:ext>
              </a:extLst>
            </p:cNvPr>
            <p:cNvSpPr/>
            <p:nvPr/>
          </p:nvSpPr>
          <p:spPr>
            <a:xfrm>
              <a:off x="7886558" y="3729374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1" name="Google Shape;166;p20">
              <a:extLst>
                <a:ext uri="{FF2B5EF4-FFF2-40B4-BE49-F238E27FC236}">
                  <a16:creationId xmlns:a16="http://schemas.microsoft.com/office/drawing/2014/main" id="{E78F2A14-3609-4657-8280-FCBA6555793F}"/>
                </a:ext>
              </a:extLst>
            </p:cNvPr>
            <p:cNvSpPr/>
            <p:nvPr/>
          </p:nvSpPr>
          <p:spPr>
            <a:xfrm>
              <a:off x="8642074" y="3688979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2" name="Google Shape;167;p20">
              <a:extLst>
                <a:ext uri="{FF2B5EF4-FFF2-40B4-BE49-F238E27FC236}">
                  <a16:creationId xmlns:a16="http://schemas.microsoft.com/office/drawing/2014/main" id="{CFA51F5D-F813-4DAC-A60B-2E89DB0F27D9}"/>
                </a:ext>
              </a:extLst>
            </p:cNvPr>
            <p:cNvSpPr/>
            <p:nvPr/>
          </p:nvSpPr>
          <p:spPr>
            <a:xfrm>
              <a:off x="9450016" y="3679085"/>
              <a:ext cx="394800" cy="380650"/>
            </a:xfrm>
            <a:custGeom>
              <a:avLst/>
              <a:gdLst/>
              <a:ahLst/>
              <a:cxnLst/>
              <a:rect l="l" t="t" r="r" b="b"/>
              <a:pathLst>
                <a:path w="15792" h="15226" extrusionOk="0">
                  <a:moveTo>
                    <a:pt x="0" y="15226"/>
                  </a:moveTo>
                  <a:cubicBezTo>
                    <a:pt x="488" y="13081"/>
                    <a:pt x="975" y="4698"/>
                    <a:pt x="2925" y="2358"/>
                  </a:cubicBezTo>
                  <a:cubicBezTo>
                    <a:pt x="4875" y="18"/>
                    <a:pt x="9554" y="-859"/>
                    <a:pt x="11698" y="1188"/>
                  </a:cubicBezTo>
                  <a:cubicBezTo>
                    <a:pt x="13843" y="3235"/>
                    <a:pt x="15110" y="12399"/>
                    <a:pt x="15792" y="14641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" name="Google Shape;168;p20">
              <a:extLst>
                <a:ext uri="{FF2B5EF4-FFF2-40B4-BE49-F238E27FC236}">
                  <a16:creationId xmlns:a16="http://schemas.microsoft.com/office/drawing/2014/main" id="{B8C1A50F-84D0-49FB-B159-0ED6278CB270}"/>
                </a:ext>
              </a:extLst>
            </p:cNvPr>
            <p:cNvSpPr txBox="1"/>
            <p:nvPr/>
          </p:nvSpPr>
          <p:spPr>
            <a:xfrm>
              <a:off x="7806908" y="3371418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dirty="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4" name="Google Shape;169;p20">
              <a:extLst>
                <a:ext uri="{FF2B5EF4-FFF2-40B4-BE49-F238E27FC236}">
                  <a16:creationId xmlns:a16="http://schemas.microsoft.com/office/drawing/2014/main" id="{3CDB443E-CB24-486B-837B-F941D2B91D0E}"/>
                </a:ext>
              </a:extLst>
            </p:cNvPr>
            <p:cNvSpPr txBox="1"/>
            <p:nvPr/>
          </p:nvSpPr>
          <p:spPr>
            <a:xfrm>
              <a:off x="8561208" y="3350687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" name="Google Shape;170;p20">
              <a:extLst>
                <a:ext uri="{FF2B5EF4-FFF2-40B4-BE49-F238E27FC236}">
                  <a16:creationId xmlns:a16="http://schemas.microsoft.com/office/drawing/2014/main" id="{0A7BC285-1209-481C-848D-6BB4903B539F}"/>
                </a:ext>
              </a:extLst>
            </p:cNvPr>
            <p:cNvSpPr txBox="1"/>
            <p:nvPr/>
          </p:nvSpPr>
          <p:spPr>
            <a:xfrm>
              <a:off x="9370366" y="3348136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76" name="Google Shape;309;p30">
              <a:extLst>
                <a:ext uri="{FF2B5EF4-FFF2-40B4-BE49-F238E27FC236}">
                  <a16:creationId xmlns:a16="http://schemas.microsoft.com/office/drawing/2014/main" id="{54403DAA-C217-44E6-942D-B5309F896DB7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56903" y="4266850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7" name="Rectángulo 76">
              <a:extLst>
                <a:ext uri="{FF2B5EF4-FFF2-40B4-BE49-F238E27FC236}">
                  <a16:creationId xmlns:a16="http://schemas.microsoft.com/office/drawing/2014/main" id="{BE28A551-F097-4FE1-8BF0-3ABB94C7FA54}"/>
                </a:ext>
              </a:extLst>
            </p:cNvPr>
            <p:cNvSpPr/>
            <p:nvPr/>
          </p:nvSpPr>
          <p:spPr>
            <a:xfrm>
              <a:off x="8041667" y="4995652"/>
              <a:ext cx="102207" cy="8521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Rectángulo 77">
              <a:extLst>
                <a:ext uri="{FF2B5EF4-FFF2-40B4-BE49-F238E27FC236}">
                  <a16:creationId xmlns:a16="http://schemas.microsoft.com/office/drawing/2014/main" id="{3DDD38C5-B50C-4154-BBC9-BC3603C5AB99}"/>
                </a:ext>
              </a:extLst>
            </p:cNvPr>
            <p:cNvSpPr/>
            <p:nvPr/>
          </p:nvSpPr>
          <p:spPr>
            <a:xfrm>
              <a:off x="7365393" y="4143482"/>
              <a:ext cx="676275" cy="8521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P1</a:t>
              </a:r>
            </a:p>
          </p:txBody>
        </p:sp>
        <p:sp>
          <p:nvSpPr>
            <p:cNvPr id="79" name="Rectángulo 78">
              <a:extLst>
                <a:ext uri="{FF2B5EF4-FFF2-40B4-BE49-F238E27FC236}">
                  <a16:creationId xmlns:a16="http://schemas.microsoft.com/office/drawing/2014/main" id="{5FBFFAC8-D54A-472F-939E-95CACD615938}"/>
                </a:ext>
              </a:extLst>
            </p:cNvPr>
            <p:cNvSpPr/>
            <p:nvPr/>
          </p:nvSpPr>
          <p:spPr>
            <a:xfrm>
              <a:off x="8143776" y="4143482"/>
              <a:ext cx="676275" cy="8521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P2</a:t>
              </a:r>
            </a:p>
          </p:txBody>
        </p:sp>
        <p:sp>
          <p:nvSpPr>
            <p:cNvPr id="80" name="Rectángulo 79">
              <a:extLst>
                <a:ext uri="{FF2B5EF4-FFF2-40B4-BE49-F238E27FC236}">
                  <a16:creationId xmlns:a16="http://schemas.microsoft.com/office/drawing/2014/main" id="{317103B8-8280-4EF3-80F1-10A6CF0245AD}"/>
                </a:ext>
              </a:extLst>
            </p:cNvPr>
            <p:cNvSpPr/>
            <p:nvPr/>
          </p:nvSpPr>
          <p:spPr>
            <a:xfrm>
              <a:off x="8929803" y="4143482"/>
              <a:ext cx="676275" cy="8521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P1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36CE1D0B-7EB8-4428-B7DE-AB6A2C850279}"/>
                </a:ext>
              </a:extLst>
            </p:cNvPr>
            <p:cNvSpPr/>
            <p:nvPr/>
          </p:nvSpPr>
          <p:spPr>
            <a:xfrm>
              <a:off x="9708186" y="4143482"/>
              <a:ext cx="676275" cy="85217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P2</a:t>
              </a:r>
            </a:p>
          </p:txBody>
        </p:sp>
        <p:sp>
          <p:nvSpPr>
            <p:cNvPr id="83" name="Rectángulo 82">
              <a:extLst>
                <a:ext uri="{FF2B5EF4-FFF2-40B4-BE49-F238E27FC236}">
                  <a16:creationId xmlns:a16="http://schemas.microsoft.com/office/drawing/2014/main" id="{D7666406-51F2-4272-A8FE-8162CC0BB4B8}"/>
                </a:ext>
              </a:extLst>
            </p:cNvPr>
            <p:cNvSpPr/>
            <p:nvPr/>
          </p:nvSpPr>
          <p:spPr>
            <a:xfrm>
              <a:off x="8821403" y="4995652"/>
              <a:ext cx="102207" cy="8521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</a:endParaRPr>
            </a:p>
          </p:txBody>
        </p:sp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F22FAC91-D9B0-473F-B7EC-3A3D00F5DE0B}"/>
                </a:ext>
              </a:extLst>
            </p:cNvPr>
            <p:cNvSpPr/>
            <p:nvPr/>
          </p:nvSpPr>
          <p:spPr>
            <a:xfrm>
              <a:off x="9606794" y="4995652"/>
              <a:ext cx="102207" cy="85217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b="1" dirty="0">
                <a:solidFill>
                  <a:schemeClr val="tx1"/>
                </a:solidFill>
              </a:endParaRPr>
            </a:p>
          </p:txBody>
        </p:sp>
        <p:cxnSp>
          <p:nvCxnSpPr>
            <p:cNvPr id="85" name="Google Shape;161;p20">
              <a:extLst>
                <a:ext uri="{FF2B5EF4-FFF2-40B4-BE49-F238E27FC236}">
                  <a16:creationId xmlns:a16="http://schemas.microsoft.com/office/drawing/2014/main" id="{F2FF5022-7814-45B5-BFC5-2CBD2A4B1BBE}"/>
                </a:ext>
              </a:extLst>
            </p:cNvPr>
            <p:cNvCxnSpPr/>
            <p:nvPr/>
          </p:nvCxnSpPr>
          <p:spPr>
            <a:xfrm>
              <a:off x="7358483" y="3878152"/>
              <a:ext cx="4005300" cy="1117500"/>
            </a:xfrm>
            <a:prstGeom prst="bentConnector3">
              <a:avLst>
                <a:gd name="adj1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D77F1E14-0FAA-474A-B892-26A505E77248}"/>
                </a:ext>
              </a:extLst>
            </p:cNvPr>
            <p:cNvSpPr/>
            <p:nvPr/>
          </p:nvSpPr>
          <p:spPr>
            <a:xfrm>
              <a:off x="10454590" y="4266850"/>
              <a:ext cx="579113" cy="59172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s-CO" sz="1700" dirty="0">
                  <a:solidFill>
                    <a:schemeClr val="tx1"/>
                  </a:solidFill>
                  <a:latin typeface="Consolas" panose="020B0609020204030204" pitchFamily="49" charset="0"/>
                </a:rPr>
                <a:t>...</a:t>
              </a:r>
            </a:p>
          </p:txBody>
        </p:sp>
        <p:pic>
          <p:nvPicPr>
            <p:cNvPr id="87" name="Google Shape;174;p20">
              <a:extLst>
                <a:ext uri="{FF2B5EF4-FFF2-40B4-BE49-F238E27FC236}">
                  <a16:creationId xmlns:a16="http://schemas.microsoft.com/office/drawing/2014/main" id="{6558852C-6C42-4596-BF10-A6ADF45B88ED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549054" y="5061136"/>
              <a:ext cx="856816" cy="835331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5A18016-C65E-40E7-9B7C-C7F36FCA908B}"/>
              </a:ext>
            </a:extLst>
          </p:cNvPr>
          <p:cNvCxnSpPr>
            <a:cxnSpLocks/>
          </p:cNvCxnSpPr>
          <p:nvPr/>
        </p:nvCxnSpPr>
        <p:spPr>
          <a:xfrm>
            <a:off x="6794833" y="3524250"/>
            <a:ext cx="498022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292E036C-6C03-4AC3-B43C-8B6FE51DCA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7174" y="1197456"/>
            <a:ext cx="1120674" cy="64425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5BE5C7B-935F-4D3B-837F-D22689B3F0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76212" y="3751108"/>
            <a:ext cx="1115738" cy="62760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title"/>
          </p:nvPr>
        </p:nvSpPr>
        <p:spPr>
          <a:xfrm>
            <a:off x="742800" y="69831"/>
            <a:ext cx="10611000" cy="980169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189" name="Google Shape;189;p21"/>
          <p:cNvSpPr txBox="1">
            <a:spLocks noGrp="1"/>
          </p:cNvSpPr>
          <p:nvPr>
            <p:ph idx="1"/>
          </p:nvPr>
        </p:nvSpPr>
        <p:spPr>
          <a:xfrm>
            <a:off x="698789" y="987552"/>
            <a:ext cx="10611000" cy="65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/>
              <a:t>Métricas - Turnaround time</a:t>
            </a:r>
            <a:endParaRPr sz="28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</p:txBody>
      </p:sp>
      <p:grpSp>
        <p:nvGrpSpPr>
          <p:cNvPr id="191" name="Google Shape;191;p21"/>
          <p:cNvGrpSpPr/>
          <p:nvPr/>
        </p:nvGrpSpPr>
        <p:grpSpPr>
          <a:xfrm>
            <a:off x="2515213" y="1824775"/>
            <a:ext cx="7468175" cy="3395775"/>
            <a:chOff x="3810613" y="1596175"/>
            <a:chExt cx="7468175" cy="3395775"/>
          </a:xfrm>
        </p:grpSpPr>
        <p:cxnSp>
          <p:nvCxnSpPr>
            <p:cNvPr id="192" name="Google Shape;192;p21"/>
            <p:cNvCxnSpPr/>
            <p:nvPr/>
          </p:nvCxnSpPr>
          <p:spPr>
            <a:xfrm>
              <a:off x="4571113" y="2167675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93" name="Google Shape;193;p21"/>
            <p:cNvSpPr txBox="1"/>
            <p:nvPr/>
          </p:nvSpPr>
          <p:spPr>
            <a:xfrm>
              <a:off x="3810613" y="2725513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4" name="Google Shape;194;p21"/>
            <p:cNvSpPr txBox="1"/>
            <p:nvPr/>
          </p:nvSpPr>
          <p:spPr>
            <a:xfrm>
              <a:off x="10518288" y="3793375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95" name="Google Shape;195;p21"/>
            <p:cNvCxnSpPr/>
            <p:nvPr/>
          </p:nvCxnSpPr>
          <p:spPr>
            <a:xfrm flipH="1">
              <a:off x="5427213" y="2281525"/>
              <a:ext cx="7500" cy="23364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96" name="Google Shape;196;p21"/>
            <p:cNvSpPr/>
            <p:nvPr/>
          </p:nvSpPr>
          <p:spPr>
            <a:xfrm>
              <a:off x="5182563" y="1596175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197" name="Google Shape;197;p21"/>
            <p:cNvSpPr/>
            <p:nvPr/>
          </p:nvSpPr>
          <p:spPr>
            <a:xfrm>
              <a:off x="6873238" y="2843875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198" name="Google Shape;198;p21"/>
            <p:cNvCxnSpPr/>
            <p:nvPr/>
          </p:nvCxnSpPr>
          <p:spPr>
            <a:xfrm>
              <a:off x="8017925" y="2293850"/>
              <a:ext cx="9600" cy="23907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199" name="Google Shape;199;p21"/>
            <p:cNvSpPr/>
            <p:nvPr/>
          </p:nvSpPr>
          <p:spPr>
            <a:xfrm rot="10800000" flipH="1">
              <a:off x="5428463" y="3789476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pic>
          <p:nvPicPr>
            <p:cNvPr id="200" name="Google Shape;200;p21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90250" y="3867650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1" descr="T_{completio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352813" y="3846988"/>
              <a:ext cx="1468824" cy="407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02" name="Google Shape;202;p21"/>
            <p:cNvCxnSpPr/>
            <p:nvPr/>
          </p:nvCxnSpPr>
          <p:spPr>
            <a:xfrm>
              <a:off x="5445850" y="4495550"/>
              <a:ext cx="2570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203" name="Google Shape;203;p21" descr="T_{turnarround}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896625" y="4622800"/>
              <a:ext cx="1668550" cy="369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p21"/>
            <p:cNvSpPr/>
            <p:nvPr/>
          </p:nvSpPr>
          <p:spPr>
            <a:xfrm rot="10800000" flipH="1">
              <a:off x="8027525" y="3795876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05" name="Google Shape;205;p21"/>
          <p:cNvGrpSpPr/>
          <p:nvPr/>
        </p:nvGrpSpPr>
        <p:grpSpPr>
          <a:xfrm>
            <a:off x="2068950" y="5494425"/>
            <a:ext cx="8054100" cy="712500"/>
            <a:chOff x="1892975" y="5850600"/>
            <a:chExt cx="8054100" cy="712500"/>
          </a:xfrm>
        </p:grpSpPr>
        <p:sp>
          <p:nvSpPr>
            <p:cNvPr id="206" name="Google Shape;206;p21"/>
            <p:cNvSpPr/>
            <p:nvPr/>
          </p:nvSpPr>
          <p:spPr>
            <a:xfrm>
              <a:off x="1892975" y="5850600"/>
              <a:ext cx="80541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07" name="Google Shape;207;p21" descr="T_{turnarround}=T_{completion}-T_{arrival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294551" y="5919737"/>
              <a:ext cx="7067526" cy="5742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"/>
          <p:cNvSpPr txBox="1">
            <a:spLocks noGrp="1"/>
          </p:cNvSpPr>
          <p:nvPr>
            <p:ph type="title"/>
          </p:nvPr>
        </p:nvSpPr>
        <p:spPr>
          <a:xfrm>
            <a:off x="419575" y="207244"/>
            <a:ext cx="10934225" cy="82119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13" name="Google Shape;213;p22"/>
          <p:cNvSpPr txBox="1">
            <a:spLocks noGrp="1"/>
          </p:cNvSpPr>
          <p:nvPr>
            <p:ph idx="1"/>
          </p:nvPr>
        </p:nvSpPr>
        <p:spPr>
          <a:xfrm>
            <a:off x="419575" y="967400"/>
            <a:ext cx="10749300" cy="60041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/>
              <a:t>Métricas - Response Time</a:t>
            </a:r>
            <a:endParaRPr sz="28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14" name="Google Shape;214;p22"/>
          <p:cNvGrpSpPr/>
          <p:nvPr/>
        </p:nvGrpSpPr>
        <p:grpSpPr>
          <a:xfrm>
            <a:off x="2553299" y="2031177"/>
            <a:ext cx="7420550" cy="3403923"/>
            <a:chOff x="3010513" y="1910500"/>
            <a:chExt cx="7420550" cy="3403923"/>
          </a:xfrm>
        </p:grpSpPr>
        <p:cxnSp>
          <p:nvCxnSpPr>
            <p:cNvPr id="215" name="Google Shape;215;p22"/>
            <p:cNvCxnSpPr/>
            <p:nvPr/>
          </p:nvCxnSpPr>
          <p:spPr>
            <a:xfrm>
              <a:off x="3771013" y="2482000"/>
              <a:ext cx="6404400" cy="1625700"/>
            </a:xfrm>
            <a:prstGeom prst="bentConnector3">
              <a:avLst>
                <a:gd name="adj1" fmla="val 54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216" name="Google Shape;216;p22"/>
            <p:cNvSpPr txBox="1"/>
            <p:nvPr/>
          </p:nvSpPr>
          <p:spPr>
            <a:xfrm>
              <a:off x="3010513" y="3039838"/>
              <a:ext cx="760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 b="1">
                  <a:latin typeface="Courier New"/>
                  <a:ea typeface="Courier New"/>
                  <a:cs typeface="Courier New"/>
                  <a:sym typeface="Courier New"/>
                </a:rPr>
                <a:t>CPU</a:t>
              </a:r>
              <a:endParaRPr sz="22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7" name="Google Shape;217;p22"/>
            <p:cNvSpPr txBox="1"/>
            <p:nvPr/>
          </p:nvSpPr>
          <p:spPr>
            <a:xfrm>
              <a:off x="9670563" y="4186400"/>
              <a:ext cx="7605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t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18" name="Google Shape;218;p22"/>
            <p:cNvCxnSpPr/>
            <p:nvPr/>
          </p:nvCxnSpPr>
          <p:spPr>
            <a:xfrm>
              <a:off x="4632913" y="2617000"/>
              <a:ext cx="11700" cy="2201100"/>
            </a:xfrm>
            <a:prstGeom prst="straightConnector1">
              <a:avLst/>
            </a:prstGeom>
            <a:noFill/>
            <a:ln w="28575" cap="flat" cmpd="sng">
              <a:solidFill>
                <a:srgbClr val="ED7D3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219" name="Google Shape;219;p22"/>
            <p:cNvSpPr/>
            <p:nvPr/>
          </p:nvSpPr>
          <p:spPr>
            <a:xfrm>
              <a:off x="4382463" y="1910500"/>
              <a:ext cx="507900" cy="53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>
              <a:off x="6073138" y="3158200"/>
              <a:ext cx="1143000" cy="949500"/>
            </a:xfrm>
            <a:prstGeom prst="rect">
              <a:avLst/>
            </a:prstGeom>
            <a:solidFill>
              <a:srgbClr val="C9DAF8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200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22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21" name="Google Shape;221;p22"/>
            <p:cNvCxnSpPr/>
            <p:nvPr/>
          </p:nvCxnSpPr>
          <p:spPr>
            <a:xfrm>
              <a:off x="6066100" y="2618825"/>
              <a:ext cx="12300" cy="2198400"/>
            </a:xfrm>
            <a:prstGeom prst="straightConnector1">
              <a:avLst/>
            </a:prstGeom>
            <a:noFill/>
            <a:ln w="28575" cap="flat" cmpd="sng">
              <a:solidFill>
                <a:srgbClr val="0B6937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pic>
          <p:nvPicPr>
            <p:cNvPr id="222" name="Google Shape;222;p22" descr="T_{arrival}" title="MathEquation,#ff000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962988" y="4207825"/>
              <a:ext cx="962324" cy="344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3" name="Google Shape;223;p22" descr="T_{firstrun}" title="MathEquation,#ff00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365212" y="4207826"/>
              <a:ext cx="1140124" cy="4076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24" name="Google Shape;224;p22"/>
            <p:cNvCxnSpPr/>
            <p:nvPr/>
          </p:nvCxnSpPr>
          <p:spPr>
            <a:xfrm>
              <a:off x="4651725" y="4796850"/>
              <a:ext cx="1409700" cy="7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pic>
          <p:nvPicPr>
            <p:cNvPr id="225" name="Google Shape;225;p22" descr="T_{response}" title="MathEquation,#00000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731177" y="4900098"/>
              <a:ext cx="1250798" cy="414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6" name="Google Shape;226;p22"/>
            <p:cNvSpPr/>
            <p:nvPr/>
          </p:nvSpPr>
          <p:spPr>
            <a:xfrm rot="10800000" flipH="1">
              <a:off x="4641813" y="4107701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227" name="Google Shape;227;p22"/>
            <p:cNvSpPr/>
            <p:nvPr/>
          </p:nvSpPr>
          <p:spPr>
            <a:xfrm rot="10800000" flipH="1">
              <a:off x="6073150" y="4107701"/>
              <a:ext cx="276393" cy="260401"/>
            </a:xfrm>
            <a:custGeom>
              <a:avLst/>
              <a:gdLst/>
              <a:ahLst/>
              <a:cxnLst/>
              <a:rect l="l" t="t" r="r" b="b"/>
              <a:pathLst>
                <a:path w="48768" h="20320" extrusionOk="0">
                  <a:moveTo>
                    <a:pt x="0" y="20320"/>
                  </a:moveTo>
                  <a:lnTo>
                    <a:pt x="15240" y="0"/>
                  </a:lnTo>
                  <a:lnTo>
                    <a:pt x="48768" y="0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</p:grpSp>
      <p:grpSp>
        <p:nvGrpSpPr>
          <p:cNvPr id="228" name="Google Shape;228;p22"/>
          <p:cNvGrpSpPr/>
          <p:nvPr/>
        </p:nvGrpSpPr>
        <p:grpSpPr>
          <a:xfrm>
            <a:off x="2894999" y="5710475"/>
            <a:ext cx="6823200" cy="712500"/>
            <a:chOff x="2561875" y="5875925"/>
            <a:chExt cx="6823200" cy="712500"/>
          </a:xfrm>
        </p:grpSpPr>
        <p:sp>
          <p:nvSpPr>
            <p:cNvPr id="229" name="Google Shape;229;p22"/>
            <p:cNvSpPr/>
            <p:nvPr/>
          </p:nvSpPr>
          <p:spPr>
            <a:xfrm>
              <a:off x="2561875" y="5875925"/>
              <a:ext cx="6823200" cy="712500"/>
            </a:xfrm>
            <a:prstGeom prst="rect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230" name="Google Shape;230;p22" descr="T_{response}=T_{firstrun}-T_{arrival}" title="MathEquation,#000000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944562" y="5928300"/>
              <a:ext cx="6154524" cy="6077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"/>
          <p:cNvSpPr txBox="1">
            <a:spLocks noGrp="1"/>
          </p:cNvSpPr>
          <p:nvPr>
            <p:ph type="title"/>
          </p:nvPr>
        </p:nvSpPr>
        <p:spPr>
          <a:xfrm>
            <a:off x="590550" y="259369"/>
            <a:ext cx="10763250" cy="73132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36" name="Google Shape;236;p23"/>
          <p:cNvSpPr txBox="1">
            <a:spLocks noGrp="1"/>
          </p:cNvSpPr>
          <p:nvPr>
            <p:ph idx="1"/>
          </p:nvPr>
        </p:nvSpPr>
        <p:spPr>
          <a:xfrm>
            <a:off x="590550" y="1078400"/>
            <a:ext cx="11075400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Suposiciones ideales</a:t>
            </a:r>
            <a:endParaRPr sz="2800" b="1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Cada trabajo se ejecuta por la </a:t>
            </a:r>
            <a:r>
              <a:rPr lang="es-ES" sz="2400" dirty="0">
                <a:solidFill>
                  <a:srgbClr val="FF0000"/>
                </a:solidFill>
              </a:rPr>
              <a:t>misma cantidad de tiempo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Todos los trabajos son </a:t>
            </a:r>
            <a:r>
              <a:rPr lang="es-ES" sz="2400" dirty="0">
                <a:solidFill>
                  <a:srgbClr val="FF0000"/>
                </a:solidFill>
              </a:rPr>
              <a:t>iniciados al mismo tiempo (arrival time)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Una vez iniciado, cada trabajo </a:t>
            </a:r>
            <a:r>
              <a:rPr lang="es-ES" sz="2400" dirty="0">
                <a:solidFill>
                  <a:srgbClr val="FF0000"/>
                </a:solidFill>
              </a:rPr>
              <a:t>se ejecuta hasta su finalización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Todos los trabajos solo </a:t>
            </a:r>
            <a:r>
              <a:rPr lang="es-ES" sz="2400" dirty="0">
                <a:solidFill>
                  <a:srgbClr val="FF0000"/>
                </a:solidFill>
              </a:rPr>
              <a:t>usan la CPU (no I/O)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El </a:t>
            </a:r>
            <a:r>
              <a:rPr lang="es-ES" sz="2400" dirty="0">
                <a:solidFill>
                  <a:srgbClr val="FF0000"/>
                </a:solidFill>
              </a:rPr>
              <a:t>tiempo de ejecución</a:t>
            </a:r>
            <a:r>
              <a:rPr lang="es-ES" sz="2400" dirty="0"/>
              <a:t> de cada trabajo es conocido (runtime).</a:t>
            </a: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590550" y="3809150"/>
            <a:ext cx="10934700" cy="111053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 medida que avanzamos, las suposiciones se iban relajando para acercarnos más a la realidad</a:t>
            </a:r>
            <a:endParaRPr sz="2000" dirty="0"/>
          </a:p>
        </p:txBody>
      </p:sp>
      <p:grpSp>
        <p:nvGrpSpPr>
          <p:cNvPr id="238" name="Google Shape;238;p23"/>
          <p:cNvGrpSpPr/>
          <p:nvPr/>
        </p:nvGrpSpPr>
        <p:grpSpPr>
          <a:xfrm>
            <a:off x="2834375" y="5112650"/>
            <a:ext cx="6526100" cy="1270013"/>
            <a:chOff x="2758175" y="5112650"/>
            <a:chExt cx="6526100" cy="1270013"/>
          </a:xfrm>
        </p:grpSpPr>
        <p:grpSp>
          <p:nvGrpSpPr>
            <p:cNvPr id="239" name="Google Shape;239;p23"/>
            <p:cNvGrpSpPr/>
            <p:nvPr/>
          </p:nvGrpSpPr>
          <p:grpSpPr>
            <a:xfrm>
              <a:off x="2758175" y="5112650"/>
              <a:ext cx="6526100" cy="648900"/>
              <a:chOff x="2758175" y="5112650"/>
              <a:chExt cx="6526100" cy="648900"/>
            </a:xfrm>
          </p:grpSpPr>
          <p:sp>
            <p:nvSpPr>
              <p:cNvPr id="240" name="Google Shape;240;p23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41" name="Google Shape;241;p23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42" name="Google Shape;242;p23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43" name="Google Shape;243;p23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244" name="Google Shape;244;p23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45" name="Google Shape;245;p23"/>
            <p:cNvGrpSpPr/>
            <p:nvPr/>
          </p:nvGrpSpPr>
          <p:grpSpPr>
            <a:xfrm>
              <a:off x="2848263" y="5936962"/>
              <a:ext cx="6405250" cy="445700"/>
              <a:chOff x="2848263" y="5936962"/>
              <a:chExt cx="6405250" cy="445700"/>
            </a:xfrm>
          </p:grpSpPr>
          <p:pic>
            <p:nvPicPr>
              <p:cNvPr id="246" name="Google Shape;246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2393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7" name="Google Shape;247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799613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8" name="Google Shape;248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2752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9" name="Google Shape;249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102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50" name="Google Shape;250;p2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48263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 txBox="1">
            <a:spLocks noGrp="1"/>
          </p:cNvSpPr>
          <p:nvPr>
            <p:ph type="title"/>
          </p:nvPr>
        </p:nvSpPr>
        <p:spPr>
          <a:xfrm>
            <a:off x="526050" y="236569"/>
            <a:ext cx="10605500" cy="85988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84" name="Google Shape;284;p26"/>
          <p:cNvSpPr txBox="1">
            <a:spLocks noGrp="1"/>
          </p:cNvSpPr>
          <p:nvPr>
            <p:ph idx="1"/>
          </p:nvPr>
        </p:nvSpPr>
        <p:spPr>
          <a:xfrm>
            <a:off x="615950" y="1078400"/>
            <a:ext cx="11050000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/>
              <a:t>Suposiciones ideales</a:t>
            </a:r>
            <a:endParaRPr sz="2800" b="1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Cada trabajo se ejecuta por la misma cantidad de tiempo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son iniciados al mismo tiempo (arrival time)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Una vez iniciado, cada trabajo se ejecuta hasta su finalización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</a:rPr>
              <a:t>Todos los trabajos solo usan la CPU (no I/O)</a:t>
            </a:r>
            <a:endParaRPr sz="2400" strike="sngStrike" dirty="0">
              <a:solidFill>
                <a:srgbClr val="FF0000"/>
              </a:solidFill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400" dirty="0"/>
              <a:t>El </a:t>
            </a:r>
            <a:r>
              <a:rPr lang="es-ES" sz="2400" dirty="0">
                <a:solidFill>
                  <a:srgbClr val="FF0000"/>
                </a:solidFill>
              </a:rPr>
              <a:t>tiempo de ejecución</a:t>
            </a:r>
            <a:r>
              <a:rPr lang="es-ES" sz="2400" dirty="0"/>
              <a:t> de cada trabajo es conocido (runtime).</a:t>
            </a:r>
            <a:endParaRPr b="1" dirty="0">
              <a:solidFill>
                <a:srgbClr val="8CC63E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85" name="Google Shape;285;p26"/>
          <p:cNvSpPr txBox="1"/>
          <p:nvPr/>
        </p:nvSpPr>
        <p:spPr>
          <a:xfrm>
            <a:off x="615950" y="3809150"/>
            <a:ext cx="10892750" cy="61808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¿Qué pasa si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</a:t>
            </a:r>
            <a:r>
              <a:rPr lang="es-ES" sz="24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relaja la última suposición ideal?</a:t>
            </a:r>
            <a:endParaRPr dirty="0"/>
          </a:p>
        </p:txBody>
      </p:sp>
      <p:grpSp>
        <p:nvGrpSpPr>
          <p:cNvPr id="286" name="Google Shape;286;p26"/>
          <p:cNvGrpSpPr/>
          <p:nvPr/>
        </p:nvGrpSpPr>
        <p:grpSpPr>
          <a:xfrm>
            <a:off x="2834375" y="5112650"/>
            <a:ext cx="6526100" cy="1270013"/>
            <a:chOff x="2834375" y="5112650"/>
            <a:chExt cx="6526100" cy="1270013"/>
          </a:xfrm>
        </p:grpSpPr>
        <p:grpSp>
          <p:nvGrpSpPr>
            <p:cNvPr id="287" name="Google Shape;287;p26"/>
            <p:cNvGrpSpPr/>
            <p:nvPr/>
          </p:nvGrpSpPr>
          <p:grpSpPr>
            <a:xfrm>
              <a:off x="2834375" y="5112650"/>
              <a:ext cx="6526100" cy="648900"/>
              <a:chOff x="2758175" y="5112650"/>
              <a:chExt cx="6526100" cy="648900"/>
            </a:xfrm>
          </p:grpSpPr>
          <p:sp>
            <p:nvSpPr>
              <p:cNvPr id="288" name="Google Shape;288;p26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289" name="Google Shape;289;p26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290" name="Google Shape;290;p26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291" name="Google Shape;291;p26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292" name="Google Shape;292;p26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B6D7A8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293" name="Google Shape;293;p26"/>
            <p:cNvGrpSpPr/>
            <p:nvPr/>
          </p:nvGrpSpPr>
          <p:grpSpPr>
            <a:xfrm>
              <a:off x="2916175" y="5936962"/>
              <a:ext cx="6413537" cy="445700"/>
              <a:chOff x="2916175" y="5936962"/>
              <a:chExt cx="6413537" cy="445700"/>
            </a:xfrm>
          </p:grpSpPr>
          <p:pic>
            <p:nvPicPr>
              <p:cNvPr id="294" name="Google Shape;294;p26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86488" y="5936962"/>
                <a:ext cx="443225" cy="4457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5" name="Google Shape;295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91617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6" name="Google Shape;296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439600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7" name="Google Shape;297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87375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98" name="Google Shape;298;p26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738012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530943" y="365125"/>
            <a:ext cx="10822858" cy="73110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Repaso clase anterior</a:t>
            </a:r>
            <a:endParaRPr dirty="0"/>
          </a:p>
        </p:txBody>
      </p:sp>
      <p:sp>
        <p:nvSpPr>
          <p:cNvPr id="256" name="Google Shape;256;p24"/>
          <p:cNvSpPr txBox="1">
            <a:spLocks noGrp="1"/>
          </p:cNvSpPr>
          <p:nvPr>
            <p:ph idx="1"/>
          </p:nvPr>
        </p:nvSpPr>
        <p:spPr>
          <a:xfrm>
            <a:off x="615600" y="1042459"/>
            <a:ext cx="5480400" cy="655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2800" b="1" dirty="0"/>
              <a:t>Algoritmos de planificación</a:t>
            </a:r>
            <a:endParaRPr sz="2800" b="1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</p:txBody>
      </p:sp>
      <p:grpSp>
        <p:nvGrpSpPr>
          <p:cNvPr id="257" name="Google Shape;257;p24"/>
          <p:cNvGrpSpPr/>
          <p:nvPr/>
        </p:nvGrpSpPr>
        <p:grpSpPr>
          <a:xfrm>
            <a:off x="1632125" y="1963588"/>
            <a:ext cx="9752575" cy="4368738"/>
            <a:chOff x="1632125" y="1963588"/>
            <a:chExt cx="9752575" cy="4368738"/>
          </a:xfrm>
        </p:grpSpPr>
        <p:sp>
          <p:nvSpPr>
            <p:cNvPr id="258" name="Google Shape;258;p24"/>
            <p:cNvSpPr/>
            <p:nvPr/>
          </p:nvSpPr>
          <p:spPr>
            <a:xfrm>
              <a:off x="1632125" y="3904825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>
              <a:off x="1639250" y="4944863"/>
              <a:ext cx="731100" cy="731100"/>
            </a:xfrm>
            <a:prstGeom prst="ellipse">
              <a:avLst/>
            </a:prstGeom>
            <a:solidFill>
              <a:srgbClr val="F4CCCC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urier New"/>
                  <a:ea typeface="Courier New"/>
                  <a:cs typeface="Courier New"/>
                  <a:sym typeface="Courier New"/>
                </a:rPr>
                <a:t>P2</a:t>
              </a:r>
              <a:endParaRPr sz="180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0" name="Google Shape;260;p2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511175" y="4446488"/>
              <a:ext cx="1066800" cy="1066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655863" y="3665485"/>
              <a:ext cx="1213362" cy="1209768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62" name="Google Shape;262;p24"/>
            <p:cNvCxnSpPr/>
            <p:nvPr/>
          </p:nvCxnSpPr>
          <p:spPr>
            <a:xfrm>
              <a:off x="2614325" y="4354625"/>
              <a:ext cx="863100" cy="619800"/>
            </a:xfrm>
            <a:prstGeom prst="straightConnector1">
              <a:avLst/>
            </a:prstGeom>
            <a:noFill/>
            <a:ln w="28575" cap="flat" cmpd="sng">
              <a:solidFill>
                <a:srgbClr val="888888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cxnSp>
          <p:nvCxnSpPr>
            <p:cNvPr id="263" name="Google Shape;263;p24"/>
            <p:cNvCxnSpPr/>
            <p:nvPr/>
          </p:nvCxnSpPr>
          <p:spPr>
            <a:xfrm>
              <a:off x="3485525" y="4944863"/>
              <a:ext cx="18168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64" name="Google Shape;264;p24"/>
            <p:cNvSpPr/>
            <p:nvPr/>
          </p:nvSpPr>
          <p:spPr>
            <a:xfrm>
              <a:off x="3153328" y="4440275"/>
              <a:ext cx="258350" cy="891975"/>
            </a:xfrm>
            <a:custGeom>
              <a:avLst/>
              <a:gdLst/>
              <a:ahLst/>
              <a:cxnLst/>
              <a:rect l="l" t="t" r="r" b="b"/>
              <a:pathLst>
                <a:path w="10334" h="35679" extrusionOk="0">
                  <a:moveTo>
                    <a:pt x="10334" y="0"/>
                  </a:moveTo>
                  <a:cubicBezTo>
                    <a:pt x="8872" y="1852"/>
                    <a:pt x="3120" y="7116"/>
                    <a:pt x="1560" y="11113"/>
                  </a:cubicBezTo>
                  <a:cubicBezTo>
                    <a:pt x="0" y="15110"/>
                    <a:pt x="-487" y="19887"/>
                    <a:pt x="975" y="23981"/>
                  </a:cubicBezTo>
                  <a:cubicBezTo>
                    <a:pt x="2437" y="28075"/>
                    <a:pt x="8774" y="33729"/>
                    <a:pt x="10334" y="35679"/>
                  </a:cubicBezTo>
                </a:path>
              </a:pathLst>
            </a:cu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265" name="Google Shape;265;p24"/>
            <p:cNvSpPr txBox="1"/>
            <p:nvPr/>
          </p:nvSpPr>
          <p:spPr>
            <a:xfrm>
              <a:off x="2654050" y="4651150"/>
              <a:ext cx="5541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CS</a:t>
              </a:r>
              <a:endParaRPr sz="1600" b="1">
                <a:solidFill>
                  <a:schemeClr val="accent2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66" name="Google Shape;266;p24"/>
            <p:cNvSpPr txBox="1"/>
            <p:nvPr/>
          </p:nvSpPr>
          <p:spPr>
            <a:xfrm>
              <a:off x="1635725" y="5870625"/>
              <a:ext cx="7239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...</a:t>
              </a:r>
              <a:endParaRPr sz="18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pic>
          <p:nvPicPr>
            <p:cNvPr id="267" name="Google Shape;267;p24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973202" y="2822546"/>
              <a:ext cx="731100" cy="6460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4"/>
            <p:cNvSpPr/>
            <p:nvPr/>
          </p:nvSpPr>
          <p:spPr>
            <a:xfrm>
              <a:off x="4792050" y="1963588"/>
              <a:ext cx="258300" cy="2364000"/>
            </a:xfrm>
            <a:prstGeom prst="leftBrace">
              <a:avLst>
                <a:gd name="adj1" fmla="val 76994"/>
                <a:gd name="adj2" fmla="val 49856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4"/>
            <p:cNvSpPr/>
            <p:nvPr/>
          </p:nvSpPr>
          <p:spPr>
            <a:xfrm>
              <a:off x="5048575" y="216077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FCFS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- First Come/First Serve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0" name="Google Shape;270;p24"/>
            <p:cNvSpPr/>
            <p:nvPr/>
          </p:nvSpPr>
          <p:spPr>
            <a:xfrm>
              <a:off x="5061900" y="2720750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SJF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- Shortest Job First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1" name="Google Shape;271;p24"/>
            <p:cNvSpPr/>
            <p:nvPr/>
          </p:nvSpPr>
          <p:spPr>
            <a:xfrm>
              <a:off x="5061900" y="325682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STCF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- Shortest Time-</a:t>
              </a:r>
              <a:r>
                <a:rPr lang="es-ES" sz="2000" b="1" dirty="0" err="1">
                  <a:latin typeface="Courier New"/>
                  <a:ea typeface="Courier New"/>
                  <a:cs typeface="Courier New"/>
                  <a:sym typeface="Courier New"/>
                </a:rPr>
                <a:t>to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-</a:t>
              </a:r>
              <a:r>
                <a:rPr lang="es-ES" sz="2000" b="1" dirty="0" err="1">
                  <a:latin typeface="Courier New"/>
                  <a:ea typeface="Courier New"/>
                  <a:cs typeface="Courier New"/>
                  <a:sym typeface="Courier New"/>
                </a:rPr>
                <a:t>Completion</a:t>
              </a: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 First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2" name="Google Shape;272;p24"/>
            <p:cNvSpPr/>
            <p:nvPr/>
          </p:nvSpPr>
          <p:spPr>
            <a:xfrm>
              <a:off x="5061900" y="3804825"/>
              <a:ext cx="6322800" cy="4311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RR</a:t>
              </a:r>
              <a:r>
                <a:rPr lang="es-ES" sz="2000" b="1">
                  <a:latin typeface="Courier New"/>
                  <a:ea typeface="Courier New"/>
                  <a:cs typeface="Courier New"/>
                  <a:sym typeface="Courier New"/>
                </a:rPr>
                <a:t> - Round Robin</a:t>
              </a:r>
              <a:endParaRPr sz="2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>
            <a:spLocks noGrp="1"/>
          </p:cNvSpPr>
          <p:nvPr>
            <p:ph type="title"/>
          </p:nvPr>
        </p:nvSpPr>
        <p:spPr>
          <a:xfrm>
            <a:off x="442452" y="96038"/>
            <a:ext cx="877819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313" name="Google Shape;313;p28"/>
          <p:cNvSpPr txBox="1">
            <a:spLocks noGrp="1"/>
          </p:cNvSpPr>
          <p:nvPr>
            <p:ph type="body" idx="1"/>
          </p:nvPr>
        </p:nvSpPr>
        <p:spPr>
          <a:xfrm>
            <a:off x="589935" y="2187350"/>
            <a:ext cx="11076016" cy="2697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Suposiciones ideales</a:t>
            </a:r>
            <a:endParaRPr sz="28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Cada trabajo se ejecuta por la misma cantidad de tiempo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son iniciados al mismo tiempo (arrival time)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Una vez iniciado, cada trabajo se ejecuta hasta su finalización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Todos los trabajos solo usan la CPU (no I/O)</a:t>
            </a:r>
            <a:endParaRPr sz="2400" strike="sngStrike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AutoNum type="arabicPeriod"/>
            </a:pPr>
            <a:r>
              <a:rPr lang="es-ES" sz="2400" strike="sngStrike" dirty="0">
                <a:solidFill>
                  <a:srgbClr val="FF0000"/>
                </a:solidFill>
                <a:latin typeface="+mn-lt"/>
              </a:rPr>
              <a:t>El tiempo de ejecución de cada trabajo es conocido (runtime).</a:t>
            </a:r>
            <a:endParaRPr b="1" strike="sngStrike" dirty="0">
              <a:solidFill>
                <a:srgbClr val="FF0000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589934" y="1110800"/>
            <a:ext cx="10863315" cy="9874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Observación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Afirmar que el tiempo de ejecución de cada proceso es conocido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es difícil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dirty="0">
              <a:ea typeface="Roboto"/>
              <a:cs typeface="Roboto"/>
              <a:sym typeface="Roboto"/>
            </a:endParaRPr>
          </a:p>
        </p:txBody>
      </p:sp>
      <p:grpSp>
        <p:nvGrpSpPr>
          <p:cNvPr id="315" name="Google Shape;315;p28"/>
          <p:cNvGrpSpPr/>
          <p:nvPr/>
        </p:nvGrpSpPr>
        <p:grpSpPr>
          <a:xfrm>
            <a:off x="2834375" y="5112650"/>
            <a:ext cx="6526100" cy="1314713"/>
            <a:chOff x="2834375" y="5112650"/>
            <a:chExt cx="6526100" cy="1314713"/>
          </a:xfrm>
        </p:grpSpPr>
        <p:grpSp>
          <p:nvGrpSpPr>
            <p:cNvPr id="316" name="Google Shape;316;p28"/>
            <p:cNvGrpSpPr/>
            <p:nvPr/>
          </p:nvGrpSpPr>
          <p:grpSpPr>
            <a:xfrm>
              <a:off x="2834375" y="5112650"/>
              <a:ext cx="6526100" cy="648900"/>
              <a:chOff x="2758175" y="5112650"/>
              <a:chExt cx="6526100" cy="648900"/>
            </a:xfrm>
          </p:grpSpPr>
          <p:sp>
            <p:nvSpPr>
              <p:cNvPr id="317" name="Google Shape;317;p28"/>
              <p:cNvSpPr/>
              <p:nvPr/>
            </p:nvSpPr>
            <p:spPr>
              <a:xfrm>
                <a:off x="27581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318" name="Google Shape;318;p28"/>
              <p:cNvSpPr/>
              <p:nvPr/>
            </p:nvSpPr>
            <p:spPr>
              <a:xfrm>
                <a:off x="423385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19" name="Google Shape;319;p28"/>
              <p:cNvSpPr/>
              <p:nvPr/>
            </p:nvSpPr>
            <p:spPr>
              <a:xfrm>
                <a:off x="570952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20" name="Google Shape;320;p28"/>
              <p:cNvSpPr/>
              <p:nvPr/>
            </p:nvSpPr>
            <p:spPr>
              <a:xfrm>
                <a:off x="7185200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21" name="Google Shape;321;p28"/>
              <p:cNvSpPr/>
              <p:nvPr/>
            </p:nvSpPr>
            <p:spPr>
              <a:xfrm>
                <a:off x="8660875" y="51126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22" name="Google Shape;322;p28"/>
            <p:cNvGrpSpPr/>
            <p:nvPr/>
          </p:nvGrpSpPr>
          <p:grpSpPr>
            <a:xfrm>
              <a:off x="2916175" y="5940600"/>
              <a:ext cx="6413550" cy="486763"/>
              <a:chOff x="2916175" y="5940600"/>
              <a:chExt cx="6413550" cy="486763"/>
            </a:xfrm>
          </p:grpSpPr>
          <p:pic>
            <p:nvPicPr>
              <p:cNvPr id="323" name="Google Shape;323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91617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4" name="Google Shape;324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39600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5" name="Google Shape;325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73750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6" name="Google Shape;326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80125" y="594060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27" name="Google Shape;327;p28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8886500" y="59889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>
            <a:spLocks noGrp="1"/>
          </p:cNvSpPr>
          <p:nvPr>
            <p:ph type="title"/>
          </p:nvPr>
        </p:nvSpPr>
        <p:spPr>
          <a:xfrm>
            <a:off x="483314" y="183350"/>
            <a:ext cx="107743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Contextualización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33" name="Google Shape;333;p29"/>
          <p:cNvSpPr txBox="1">
            <a:spLocks noGrp="1"/>
          </p:cNvSpPr>
          <p:nvPr>
            <p:ph type="body" idx="1"/>
          </p:nvPr>
        </p:nvSpPr>
        <p:spPr>
          <a:xfrm>
            <a:off x="483314" y="1251225"/>
            <a:ext cx="7007786" cy="209608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Punto de partida</a:t>
            </a:r>
            <a:endParaRPr sz="28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i="1" dirty="0">
                <a:latin typeface="+mn-lt"/>
              </a:rPr>
              <a:t>Al relajar todas las suposiciones</a:t>
            </a:r>
            <a:r>
              <a:rPr lang="es-ES" sz="2400" dirty="0">
                <a:latin typeface="+mn-lt"/>
              </a:rPr>
              <a:t> ideales llegamos a la conclusión de que el </a:t>
            </a:r>
            <a:r>
              <a:rPr lang="es-ES" sz="2400" b="1" i="1" dirty="0">
                <a:latin typeface="+mn-lt"/>
              </a:rPr>
              <a:t>Scheduler no conoce</a:t>
            </a:r>
            <a:r>
              <a:rPr lang="es-ES" sz="2400" dirty="0">
                <a:latin typeface="+mn-lt"/>
              </a:rPr>
              <a:t> nada para tomar la </a:t>
            </a:r>
            <a:r>
              <a:rPr lang="es-ES" sz="2400" b="1" i="1" dirty="0">
                <a:latin typeface="+mn-lt"/>
              </a:rPr>
              <a:t>decisión</a:t>
            </a:r>
            <a:r>
              <a:rPr lang="es-ES" sz="2400" dirty="0">
                <a:latin typeface="+mn-lt"/>
              </a:rPr>
              <a:t> sobre cuál es el próximo proceso que ejecutará la CPU.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4" name="Google Shape;334;p29"/>
          <p:cNvSpPr txBox="1"/>
          <p:nvPr/>
        </p:nvSpPr>
        <p:spPr>
          <a:xfrm>
            <a:off x="483314" y="3925551"/>
            <a:ext cx="11058986" cy="172608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llevar a cabo el proceso de planificación sin tener un conocimiento perfecto de la situación?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¿Cómo diseñar un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planificador de propósito general 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que funcione bien para todo tipo de procesos (interactivos y batch)?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grpSp>
        <p:nvGrpSpPr>
          <p:cNvPr id="335" name="Google Shape;335;p29"/>
          <p:cNvGrpSpPr/>
          <p:nvPr/>
        </p:nvGrpSpPr>
        <p:grpSpPr>
          <a:xfrm>
            <a:off x="7779599" y="1666087"/>
            <a:ext cx="3478100" cy="1266363"/>
            <a:chOff x="4356950" y="5236400"/>
            <a:chExt cx="3478100" cy="1266363"/>
          </a:xfrm>
        </p:grpSpPr>
        <p:grpSp>
          <p:nvGrpSpPr>
            <p:cNvPr id="336" name="Google Shape;336;p29"/>
            <p:cNvGrpSpPr/>
            <p:nvPr/>
          </p:nvGrpSpPr>
          <p:grpSpPr>
            <a:xfrm>
              <a:off x="4356950" y="5236400"/>
              <a:ext cx="3478100" cy="648900"/>
              <a:chOff x="5818900" y="4196550"/>
              <a:chExt cx="3478100" cy="648900"/>
            </a:xfrm>
          </p:grpSpPr>
          <p:sp>
            <p:nvSpPr>
              <p:cNvPr id="337" name="Google Shape;337;p29"/>
              <p:cNvSpPr/>
              <p:nvPr/>
            </p:nvSpPr>
            <p:spPr>
              <a:xfrm>
                <a:off x="58189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1</a:t>
                </a:r>
                <a:endParaRPr sz="2000" b="1"/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>
                <a:off x="653257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2</a:t>
                </a:r>
                <a:endParaRPr sz="2000" b="1"/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>
                <a:off x="724625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3</a:t>
                </a:r>
                <a:endParaRPr sz="2000" b="1"/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>
                <a:off x="7959925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4</a:t>
                </a:r>
                <a:endParaRPr sz="2000" b="1"/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>
                <a:off x="8673600" y="4196550"/>
                <a:ext cx="623400" cy="6489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/>
                  <a:t>5</a:t>
                </a:r>
                <a:endParaRPr sz="2000" b="1"/>
              </a:p>
            </p:txBody>
          </p:sp>
        </p:grpSp>
        <p:grpSp>
          <p:nvGrpSpPr>
            <p:cNvPr id="342" name="Google Shape;342;p29"/>
            <p:cNvGrpSpPr/>
            <p:nvPr/>
          </p:nvGrpSpPr>
          <p:grpSpPr>
            <a:xfrm>
              <a:off x="4447000" y="6064350"/>
              <a:ext cx="3357275" cy="438413"/>
              <a:chOff x="4447000" y="6064350"/>
              <a:chExt cx="3357275" cy="438413"/>
            </a:xfrm>
          </p:grpSpPr>
          <p:pic>
            <p:nvPicPr>
              <p:cNvPr id="343" name="Google Shape;343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44470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4" name="Google Shape;344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16070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5" name="Google Shape;345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5874388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6" name="Google Shape;346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6617725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47" name="Google Shape;347;p29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361050" y="6064350"/>
                <a:ext cx="443225" cy="43841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0"/>
          <p:cNvSpPr txBox="1">
            <a:spLocks noGrp="1"/>
          </p:cNvSpPr>
          <p:nvPr>
            <p:ph type="title"/>
          </p:nvPr>
        </p:nvSpPr>
        <p:spPr>
          <a:xfrm>
            <a:off x="396402" y="87325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Tipos de procesos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53" name="Google Shape;353;p30"/>
          <p:cNvSpPr txBox="1">
            <a:spLocks noGrp="1"/>
          </p:cNvSpPr>
          <p:nvPr>
            <p:ph type="body" idx="1"/>
          </p:nvPr>
        </p:nvSpPr>
        <p:spPr>
          <a:xfrm>
            <a:off x="396402" y="953694"/>
            <a:ext cx="10455300" cy="553559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6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s-ES" sz="2400" dirty="0">
                <a:latin typeface="+mn-lt"/>
              </a:rPr>
              <a:t>Distinguimos dos tipos básicos de procesos:</a:t>
            </a:r>
          </a:p>
          <a:p>
            <a:pPr marL="533400" lvl="0" indent="-4572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+mj-lt"/>
              <a:buAutoNum type="arabicPeriod"/>
            </a:pPr>
            <a:r>
              <a:rPr lang="es-ES" sz="2200" b="1" dirty="0">
                <a:latin typeface="+mn-lt"/>
              </a:rPr>
              <a:t>Procesos tipo batch (CPU-</a:t>
            </a:r>
            <a:r>
              <a:rPr lang="es-ES" sz="2200" b="1" dirty="0" err="1">
                <a:latin typeface="+mn-lt"/>
              </a:rPr>
              <a:t>bound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process</a:t>
            </a:r>
            <a:r>
              <a:rPr lang="es-ES" sz="2200" b="1" dirty="0">
                <a:latin typeface="+mn-lt"/>
              </a:rPr>
              <a:t>) </a:t>
            </a: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lang="es-ES"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endParaRPr sz="2000" b="1" dirty="0">
              <a:latin typeface="+mn-lt"/>
            </a:endParaRPr>
          </a:p>
          <a:p>
            <a:pPr indent="-381000">
              <a:lnSpc>
                <a:spcPct val="100000"/>
              </a:lnSpc>
              <a:spcBef>
                <a:spcPts val="0"/>
              </a:spcBef>
              <a:buSzPts val="2400"/>
              <a:buAutoNum type="arabicPeriod"/>
            </a:pPr>
            <a:r>
              <a:rPr lang="es-ES" sz="2200" b="1" dirty="0">
                <a:latin typeface="+mn-lt"/>
              </a:rPr>
              <a:t>Procesos interactivos (I/O-</a:t>
            </a:r>
            <a:r>
              <a:rPr lang="es-ES" sz="2200" b="1" dirty="0" err="1">
                <a:latin typeface="+mn-lt"/>
              </a:rPr>
              <a:t>bound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process</a:t>
            </a:r>
            <a:r>
              <a:rPr lang="es-ES" sz="2200" b="1" dirty="0">
                <a:latin typeface="+mn-lt"/>
              </a:rPr>
              <a:t>)</a:t>
            </a:r>
            <a:endParaRPr sz="22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b="1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509A300-2984-46D6-BE25-2AB2FAE3D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35" y="4856706"/>
            <a:ext cx="6419648" cy="163258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6504E14-FC18-4BD9-AB76-9468F24B6C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735" y="2069261"/>
            <a:ext cx="5999414" cy="1632584"/>
          </a:xfrm>
          <a:prstGeom prst="rect">
            <a:avLst/>
          </a:prstGeom>
        </p:spPr>
      </p:pic>
      <p:pic>
        <p:nvPicPr>
          <p:cNvPr id="15" name="Google Shape;361;p31">
            <a:extLst>
              <a:ext uri="{FF2B5EF4-FFF2-40B4-BE49-F238E27FC236}">
                <a16:creationId xmlns:a16="http://schemas.microsoft.com/office/drawing/2014/main" id="{521958DF-AF01-489B-B5BD-2FBB256E0D01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37153" y="770936"/>
            <a:ext cx="3214549" cy="11322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362;p31">
            <a:extLst>
              <a:ext uri="{FF2B5EF4-FFF2-40B4-BE49-F238E27FC236}">
                <a16:creationId xmlns:a16="http://schemas.microsoft.com/office/drawing/2014/main" id="{83B3D1C0-AAF1-4ABC-9C09-CE6546BDBBC8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57842" y="2088585"/>
            <a:ext cx="2619688" cy="14051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369;p32">
            <a:extLst>
              <a:ext uri="{FF2B5EF4-FFF2-40B4-BE49-F238E27FC236}">
                <a16:creationId xmlns:a16="http://schemas.microsoft.com/office/drawing/2014/main" id="{4DF6CBAD-999F-40B5-B7BE-CFED2E1629B3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09311" y="4557220"/>
            <a:ext cx="2716751" cy="1859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3"/>
          <p:cNvSpPr txBox="1">
            <a:spLocks noGrp="1"/>
          </p:cNvSpPr>
          <p:nvPr>
            <p:ph type="title"/>
          </p:nvPr>
        </p:nvSpPr>
        <p:spPr>
          <a:xfrm>
            <a:off x="501822" y="212700"/>
            <a:ext cx="1020173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Planificador de propósito general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9" name="Google Shape;379;p33"/>
          <p:cNvSpPr txBox="1">
            <a:spLocks noGrp="1"/>
          </p:cNvSpPr>
          <p:nvPr>
            <p:ph type="body" idx="1"/>
          </p:nvPr>
        </p:nvSpPr>
        <p:spPr>
          <a:xfrm>
            <a:off x="268775" y="1069649"/>
            <a:ext cx="11654450" cy="29271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/>
              <a:t>Pregunta clave</a:t>
            </a:r>
            <a:r>
              <a:rPr lang="es-ES" sz="2200" dirty="0"/>
              <a:t>: ¿Cómo diseñar un </a:t>
            </a:r>
            <a:r>
              <a:rPr lang="es-ES" sz="2200" b="1" dirty="0"/>
              <a:t>scheduler</a:t>
            </a:r>
            <a:r>
              <a:rPr lang="es-ES" sz="2200" dirty="0"/>
              <a:t> que aprenda de las características de los trabajos para tomar las mejores decisiones? (Aprender del pasado para predecir el futuro).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/>
              <a:t>Objetivo</a:t>
            </a:r>
            <a:r>
              <a:rPr lang="es-ES" sz="2200" dirty="0"/>
              <a:t>: Diseñar un planificado de propósito general capaz de soportar los dos tipos de procesos existentes: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/>
              <a:t>Interactivos (se preocupan por el tiempo de respuesta).</a:t>
            </a:r>
            <a:endParaRPr sz="2200" dirty="0"/>
          </a:p>
          <a:p>
            <a:pPr marL="914400" lvl="1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/>
              <a:t>Batch (se preocupan por el turnaround time)</a:t>
            </a:r>
            <a:endParaRPr sz="22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200" b="1" dirty="0"/>
              <a:t>Propuesta</a:t>
            </a:r>
            <a:r>
              <a:rPr lang="es-ES" sz="2200" dirty="0"/>
              <a:t>: MLFQ (Multi-</a:t>
            </a:r>
            <a:r>
              <a:rPr lang="es-ES" sz="2200" dirty="0" err="1"/>
              <a:t>Level</a:t>
            </a:r>
            <a:r>
              <a:rPr lang="es-ES" sz="2200" dirty="0"/>
              <a:t> Feedback Queue)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200" dirty="0"/>
          </a:p>
        </p:txBody>
      </p:sp>
      <p:grpSp>
        <p:nvGrpSpPr>
          <p:cNvPr id="380" name="Google Shape;380;p33"/>
          <p:cNvGrpSpPr/>
          <p:nvPr/>
        </p:nvGrpSpPr>
        <p:grpSpPr>
          <a:xfrm>
            <a:off x="3607550" y="4447951"/>
            <a:ext cx="4976900" cy="2141229"/>
            <a:chOff x="3681275" y="4504071"/>
            <a:chExt cx="4976900" cy="2141229"/>
          </a:xfrm>
        </p:grpSpPr>
        <p:grpSp>
          <p:nvGrpSpPr>
            <p:cNvPr id="381" name="Google Shape;381;p33"/>
            <p:cNvGrpSpPr/>
            <p:nvPr/>
          </p:nvGrpSpPr>
          <p:grpSpPr>
            <a:xfrm>
              <a:off x="3681275" y="4504071"/>
              <a:ext cx="4976900" cy="2141229"/>
              <a:chOff x="3668550" y="4158171"/>
              <a:chExt cx="4976900" cy="2141229"/>
            </a:xfrm>
          </p:grpSpPr>
          <p:sp>
            <p:nvSpPr>
              <p:cNvPr id="382" name="Google Shape;382;p33"/>
              <p:cNvSpPr/>
              <p:nvPr/>
            </p:nvSpPr>
            <p:spPr>
              <a:xfrm>
                <a:off x="3668550" y="4528263"/>
                <a:ext cx="731100" cy="7311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P1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83" name="Google Shape;383;p33"/>
              <p:cNvSpPr/>
              <p:nvPr/>
            </p:nvSpPr>
            <p:spPr>
              <a:xfrm>
                <a:off x="3668550" y="5568300"/>
                <a:ext cx="731100" cy="731100"/>
              </a:xfrm>
              <a:prstGeom prst="ellipse">
                <a:avLst/>
              </a:prstGeom>
              <a:solidFill>
                <a:srgbClr val="F4CCCC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180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pic>
            <p:nvPicPr>
              <p:cNvPr id="384" name="Google Shape;384;p33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7578650" y="4976288"/>
                <a:ext cx="1066800" cy="1066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85" name="Google Shape;385;p33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5589963" y="4299210"/>
                <a:ext cx="1213362" cy="1209768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86" name="Google Shape;386;p33"/>
              <p:cNvCxnSpPr/>
              <p:nvPr/>
            </p:nvCxnSpPr>
            <p:spPr>
              <a:xfrm>
                <a:off x="4643625" y="4978063"/>
                <a:ext cx="863100" cy="6198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888888"/>
                </a:solidFill>
                <a:prstDash val="solid"/>
                <a:round/>
                <a:headEnd type="none" w="med" len="med"/>
                <a:tailEnd type="oval" w="med" len="med"/>
              </a:ln>
            </p:spPr>
          </p:cxnSp>
          <p:cxnSp>
            <p:nvCxnSpPr>
              <p:cNvPr id="387" name="Google Shape;387;p33"/>
              <p:cNvCxnSpPr/>
              <p:nvPr/>
            </p:nvCxnSpPr>
            <p:spPr>
              <a:xfrm>
                <a:off x="5514825" y="5568300"/>
                <a:ext cx="1816800" cy="0"/>
              </a:xfrm>
              <a:prstGeom prst="straightConnector1">
                <a:avLst/>
              </a:prstGeom>
              <a:noFill/>
              <a:ln w="3810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388" name="Google Shape;388;p33"/>
              <p:cNvSpPr/>
              <p:nvPr/>
            </p:nvSpPr>
            <p:spPr>
              <a:xfrm>
                <a:off x="5182628" y="5063713"/>
                <a:ext cx="258350" cy="891975"/>
              </a:xfrm>
              <a:custGeom>
                <a:avLst/>
                <a:gdLst/>
                <a:ahLst/>
                <a:cxnLst/>
                <a:rect l="l" t="t" r="r" b="b"/>
                <a:pathLst>
                  <a:path w="10334" h="35679" extrusionOk="0">
                    <a:moveTo>
                      <a:pt x="10334" y="0"/>
                    </a:moveTo>
                    <a:cubicBezTo>
                      <a:pt x="8872" y="1852"/>
                      <a:pt x="3120" y="7116"/>
                      <a:pt x="1560" y="11113"/>
                    </a:cubicBezTo>
                    <a:cubicBezTo>
                      <a:pt x="0" y="15110"/>
                      <a:pt x="-487" y="19887"/>
                      <a:pt x="975" y="23981"/>
                    </a:cubicBezTo>
                    <a:cubicBezTo>
                      <a:pt x="2437" y="28075"/>
                      <a:pt x="8774" y="33729"/>
                      <a:pt x="10334" y="35679"/>
                    </a:cubicBezTo>
                  </a:path>
                </a:pathLst>
              </a:cu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389" name="Google Shape;389;p33"/>
              <p:cNvSpPr txBox="1"/>
              <p:nvPr/>
            </p:nvSpPr>
            <p:spPr>
              <a:xfrm>
                <a:off x="4683350" y="5274588"/>
                <a:ext cx="5541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solidFill>
                      <a:schemeClr val="accent2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CS</a:t>
                </a:r>
                <a:endParaRPr sz="1600" b="1">
                  <a:solidFill>
                    <a:schemeClr val="accent2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pic>
            <p:nvPicPr>
              <p:cNvPr id="390" name="Google Shape;390;p33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6600527" y="4158171"/>
                <a:ext cx="731100" cy="646087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91" name="Google Shape;391;p33"/>
            <p:cNvSpPr/>
            <p:nvPr/>
          </p:nvSpPr>
          <p:spPr>
            <a:xfrm>
              <a:off x="7509200" y="4589538"/>
              <a:ext cx="916200" cy="431100"/>
            </a:xfrm>
            <a:prstGeom prst="roundRect">
              <a:avLst>
                <a:gd name="adj" fmla="val 16667"/>
              </a:avLst>
            </a:prstGeom>
            <a:solidFill>
              <a:schemeClr val="accent5">
                <a:lumMod val="20000"/>
                <a:lumOff val="80000"/>
              </a:schemeClr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urier New"/>
                  <a:ea typeface="Courier New"/>
                  <a:cs typeface="Courier New"/>
                  <a:sym typeface="Courier New"/>
                </a:rPr>
                <a:t>MLFQ</a:t>
              </a:r>
              <a:endParaRPr sz="2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5"/>
          <p:cNvSpPr txBox="1">
            <a:spLocks noGrp="1"/>
          </p:cNvSpPr>
          <p:nvPr>
            <p:ph type="title"/>
          </p:nvPr>
        </p:nvSpPr>
        <p:spPr>
          <a:xfrm>
            <a:off x="339213" y="96038"/>
            <a:ext cx="888143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03" name="Google Shape;403;p35"/>
          <p:cNvSpPr txBox="1">
            <a:spLocks noGrp="1"/>
          </p:cNvSpPr>
          <p:nvPr>
            <p:ph type="body" idx="1"/>
          </p:nvPr>
        </p:nvSpPr>
        <p:spPr>
          <a:xfrm>
            <a:off x="339201" y="919438"/>
            <a:ext cx="5955749" cy="2573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Conceptos importantes</a:t>
            </a:r>
            <a:r>
              <a:rPr lang="es-ES" sz="2800" dirty="0">
                <a:latin typeface="+mn-lt"/>
              </a:rPr>
              <a:t>:</a:t>
            </a:r>
            <a:endParaRPr sz="28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Varias colas de procesos cada una con un nivel de prioridad diferente.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Un proceso que este listo para su ejecución se ingresa en una de las colas.</a:t>
            </a:r>
            <a:endParaRPr sz="22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200" dirty="0">
                <a:latin typeface="+mn-lt"/>
              </a:rPr>
              <a:t>Cada proceso tiene una prioridad durante cierto tiempo pero esta puede cambiar.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404" name="Google Shape;404;p35"/>
          <p:cNvGrpSpPr/>
          <p:nvPr/>
        </p:nvGrpSpPr>
        <p:grpSpPr>
          <a:xfrm>
            <a:off x="6309200" y="1650965"/>
            <a:ext cx="5397350" cy="4646025"/>
            <a:chOff x="6233000" y="1439573"/>
            <a:chExt cx="5397350" cy="4646025"/>
          </a:xfrm>
        </p:grpSpPr>
        <p:grpSp>
          <p:nvGrpSpPr>
            <p:cNvPr id="405" name="Google Shape;405;p35"/>
            <p:cNvGrpSpPr/>
            <p:nvPr/>
          </p:nvGrpSpPr>
          <p:grpSpPr>
            <a:xfrm>
              <a:off x="6233000" y="1459888"/>
              <a:ext cx="3201200" cy="4571175"/>
              <a:chOff x="6284600" y="1459875"/>
              <a:chExt cx="3201200" cy="4571175"/>
            </a:xfrm>
          </p:grpSpPr>
          <p:sp>
            <p:nvSpPr>
              <p:cNvPr id="406" name="Google Shape;406;p35"/>
              <p:cNvSpPr txBox="1"/>
              <p:nvPr/>
            </p:nvSpPr>
            <p:spPr>
              <a:xfrm>
                <a:off x="6410100" y="1547175"/>
                <a:ext cx="22485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[High Priority]</a:t>
                </a:r>
                <a:endParaRPr sz="1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07" name="Google Shape;407;p35"/>
              <p:cNvSpPr txBox="1"/>
              <p:nvPr/>
            </p:nvSpPr>
            <p:spPr>
              <a:xfrm>
                <a:off x="6284600" y="5505850"/>
                <a:ext cx="24129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[Low Priority]</a:t>
                </a:r>
                <a:endParaRPr sz="1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408" name="Google Shape;408;p35"/>
              <p:cNvGrpSpPr/>
              <p:nvPr/>
            </p:nvGrpSpPr>
            <p:grpSpPr>
              <a:xfrm>
                <a:off x="8736400" y="1459875"/>
                <a:ext cx="749400" cy="4571175"/>
                <a:chOff x="8520500" y="1282075"/>
                <a:chExt cx="749400" cy="4571175"/>
              </a:xfrm>
            </p:grpSpPr>
            <p:sp>
              <p:nvSpPr>
                <p:cNvPr id="409" name="Google Shape;409;p35"/>
                <p:cNvSpPr txBox="1"/>
                <p:nvPr/>
              </p:nvSpPr>
              <p:spPr>
                <a:xfrm>
                  <a:off x="8520500" y="52991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Q1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0" name="Google Shape;410;p35"/>
                <p:cNvSpPr txBox="1"/>
                <p:nvPr/>
              </p:nvSpPr>
              <p:spPr>
                <a:xfrm>
                  <a:off x="8582450" y="1282075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Q8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1" name="Google Shape;411;p35"/>
                <p:cNvSpPr txBox="1"/>
                <p:nvPr/>
              </p:nvSpPr>
              <p:spPr>
                <a:xfrm>
                  <a:off x="8520500" y="187577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Q7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2" name="Google Shape;412;p35"/>
                <p:cNvSpPr txBox="1"/>
                <p:nvPr/>
              </p:nvSpPr>
              <p:spPr>
                <a:xfrm>
                  <a:off x="8520500" y="24428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Q6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3" name="Google Shape;413;p35"/>
                <p:cNvSpPr txBox="1"/>
                <p:nvPr/>
              </p:nvSpPr>
              <p:spPr>
                <a:xfrm>
                  <a:off x="8520500" y="300992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Q5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4" name="Google Shape;414;p35"/>
                <p:cNvSpPr txBox="1"/>
                <p:nvPr/>
              </p:nvSpPr>
              <p:spPr>
                <a:xfrm>
                  <a:off x="8582450" y="3577000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Q4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5" name="Google Shape;415;p35"/>
                <p:cNvSpPr txBox="1"/>
                <p:nvPr/>
              </p:nvSpPr>
              <p:spPr>
                <a:xfrm>
                  <a:off x="8582450" y="4123150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Q3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16" name="Google Shape;416;p35"/>
                <p:cNvSpPr txBox="1"/>
                <p:nvPr/>
              </p:nvSpPr>
              <p:spPr>
                <a:xfrm>
                  <a:off x="8520500" y="47111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Q2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</p:grpSp>
        <p:sp>
          <p:nvSpPr>
            <p:cNvPr id="417" name="Google Shape;417;p35"/>
            <p:cNvSpPr/>
            <p:nvPr/>
          </p:nvSpPr>
          <p:spPr>
            <a:xfrm>
              <a:off x="9898438" y="1439573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8" name="Google Shape;418;p35"/>
            <p:cNvSpPr/>
            <p:nvPr/>
          </p:nvSpPr>
          <p:spPr>
            <a:xfrm>
              <a:off x="11021950" y="1439573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19" name="Google Shape;419;p35"/>
            <p:cNvSpPr/>
            <p:nvPr/>
          </p:nvSpPr>
          <p:spPr>
            <a:xfrm>
              <a:off x="9923850" y="3745223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20" name="Google Shape;420;p35"/>
            <p:cNvSpPr/>
            <p:nvPr/>
          </p:nvSpPr>
          <p:spPr>
            <a:xfrm>
              <a:off x="9923850" y="5488298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21" name="Google Shape;421;p35"/>
            <p:cNvCxnSpPr>
              <a:endCxn id="417" idx="2"/>
            </p:cNvCxnSpPr>
            <p:nvPr/>
          </p:nvCxnSpPr>
          <p:spPr>
            <a:xfrm rot="10800000" flipH="1">
              <a:off x="9373438" y="173822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2" name="Google Shape;422;p35"/>
            <p:cNvCxnSpPr>
              <a:stCxn id="417" idx="6"/>
              <a:endCxn id="418" idx="2"/>
            </p:cNvCxnSpPr>
            <p:nvPr/>
          </p:nvCxnSpPr>
          <p:spPr>
            <a:xfrm>
              <a:off x="10506838" y="1738223"/>
              <a:ext cx="515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3" name="Google Shape;423;p35"/>
            <p:cNvCxnSpPr/>
            <p:nvPr/>
          </p:nvCxnSpPr>
          <p:spPr>
            <a:xfrm rot="10800000" flipH="1">
              <a:off x="9398838" y="4043273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24" name="Google Shape;424;p35"/>
            <p:cNvCxnSpPr/>
            <p:nvPr/>
          </p:nvCxnSpPr>
          <p:spPr>
            <a:xfrm rot="10800000" flipH="1">
              <a:off x="9373438" y="5786348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pic>
        <p:nvPicPr>
          <p:cNvPr id="41" name="Google Shape;425;p35">
            <a:extLst>
              <a:ext uri="{FF2B5EF4-FFF2-40B4-BE49-F238E27FC236}">
                <a16:creationId xmlns:a16="http://schemas.microsoft.com/office/drawing/2014/main" id="{5020AACF-5A89-4AA7-8642-457C9BF6DE6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889" y="3840335"/>
            <a:ext cx="3989221" cy="2608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6"/>
          <p:cNvSpPr txBox="1">
            <a:spLocks noGrp="1"/>
          </p:cNvSpPr>
          <p:nvPr>
            <p:ph type="title"/>
          </p:nvPr>
        </p:nvSpPr>
        <p:spPr>
          <a:xfrm>
            <a:off x="383458" y="96038"/>
            <a:ext cx="883719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1" name="Google Shape;431;p36"/>
          <p:cNvSpPr txBox="1">
            <a:spLocks noGrp="1"/>
          </p:cNvSpPr>
          <p:nvPr>
            <p:ph type="body" idx="1"/>
          </p:nvPr>
        </p:nvSpPr>
        <p:spPr>
          <a:xfrm>
            <a:off x="383458" y="1045538"/>
            <a:ext cx="10370700" cy="11434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89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None/>
            </a:pPr>
            <a:r>
              <a:rPr lang="es-ES" sz="2400" dirty="0">
                <a:latin typeface="+mn-lt"/>
              </a:rPr>
              <a:t>La asignación de prioridades se realiza de acuerdo al comportamiento observado:</a:t>
            </a:r>
            <a:endParaRPr sz="2400" dirty="0">
              <a:latin typeface="+mn-lt"/>
            </a:endParaRPr>
          </a:p>
          <a:p>
            <a:pPr marL="4318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200" b="1" dirty="0">
                <a:latin typeface="+mn-lt"/>
              </a:rPr>
              <a:t>Alta prioridad</a:t>
            </a:r>
            <a:r>
              <a:rPr lang="es-ES" sz="2200" dirty="0">
                <a:latin typeface="+mn-lt"/>
              </a:rPr>
              <a:t>: Procesos I/O bound.</a:t>
            </a:r>
            <a:endParaRPr sz="2200" dirty="0">
              <a:latin typeface="+mn-lt"/>
            </a:endParaRPr>
          </a:p>
          <a:p>
            <a:pPr marL="4318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200" b="1" dirty="0">
                <a:latin typeface="+mn-lt"/>
              </a:rPr>
              <a:t>Bajas prioridades</a:t>
            </a:r>
            <a:r>
              <a:rPr lang="es-ES" sz="2200" dirty="0">
                <a:latin typeface="+mn-lt"/>
              </a:rPr>
              <a:t>: Procesos CPU-</a:t>
            </a:r>
            <a:r>
              <a:rPr lang="es-ES" sz="2200" dirty="0" err="1">
                <a:latin typeface="+mn-lt"/>
              </a:rPr>
              <a:t>bound</a:t>
            </a:r>
            <a:r>
              <a:rPr lang="es-ES" sz="2200" dirty="0">
                <a:latin typeface="+mn-lt"/>
              </a:rPr>
              <a:t>.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pic>
        <p:nvPicPr>
          <p:cNvPr id="432" name="Google Shape;432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6145" y="2570633"/>
            <a:ext cx="6725326" cy="37121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7"/>
          <p:cNvSpPr txBox="1">
            <a:spLocks noGrp="1"/>
          </p:cNvSpPr>
          <p:nvPr>
            <p:ph type="title"/>
          </p:nvPr>
        </p:nvSpPr>
        <p:spPr>
          <a:xfrm>
            <a:off x="420913" y="96038"/>
            <a:ext cx="106904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38" name="Google Shape;438;p37"/>
          <p:cNvSpPr txBox="1">
            <a:spLocks noGrp="1"/>
          </p:cNvSpPr>
          <p:nvPr>
            <p:ph type="body" idx="1"/>
          </p:nvPr>
        </p:nvSpPr>
        <p:spPr>
          <a:xfrm>
            <a:off x="420913" y="1045538"/>
            <a:ext cx="10832015" cy="39328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5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439" name="Google Shape;439;p37"/>
          <p:cNvSpPr txBox="1"/>
          <p:nvPr/>
        </p:nvSpPr>
        <p:spPr>
          <a:xfrm>
            <a:off x="716328" y="5202186"/>
            <a:ext cx="10536600" cy="9874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A medida que avancemos en nuestro estudio iremos analizando la implicación de cada una de estas reglas.</a:t>
            </a:r>
            <a:endParaRPr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/>
          </a:p>
        </p:txBody>
      </p:sp>
      <p:sp>
        <p:nvSpPr>
          <p:cNvPr id="445" name="Google Shape;445;p38"/>
          <p:cNvSpPr txBox="1">
            <a:spLocks noGrp="1"/>
          </p:cNvSpPr>
          <p:nvPr>
            <p:ph type="body" idx="1"/>
          </p:nvPr>
        </p:nvSpPr>
        <p:spPr>
          <a:xfrm>
            <a:off x="248927" y="866906"/>
            <a:ext cx="10816329" cy="160052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/>
              <a:t>Prioridades</a:t>
            </a:r>
            <a:endParaRPr sz="3400" dirty="0"/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</a:rPr>
              <a:t>Regla 1</a:t>
            </a:r>
            <a:r>
              <a:rPr lang="es-ES" sz="2400" dirty="0">
                <a:solidFill>
                  <a:schemeClr val="accent5"/>
                </a:solidFill>
              </a:rPr>
              <a:t>:</a:t>
            </a:r>
            <a:r>
              <a:rPr lang="es-ES" sz="2400" dirty="0"/>
              <a:t> Si </a:t>
            </a:r>
            <a:r>
              <a:rPr lang="es-ES" sz="2400" b="1" dirty="0">
                <a:solidFill>
                  <a:srgbClr val="0B6937"/>
                </a:solidFill>
              </a:rPr>
              <a:t>prioridad(A)</a:t>
            </a:r>
            <a:r>
              <a:rPr lang="es-ES" sz="2400" dirty="0"/>
              <a:t> </a:t>
            </a:r>
            <a:r>
              <a:rPr lang="es-ES" sz="2400" b="1" dirty="0"/>
              <a:t>&gt; </a:t>
            </a:r>
            <a:r>
              <a:rPr lang="es-ES" sz="2400" b="1" dirty="0">
                <a:solidFill>
                  <a:srgbClr val="FF0000"/>
                </a:solidFill>
              </a:rPr>
              <a:t>prioridad(B)</a:t>
            </a:r>
            <a:r>
              <a:rPr lang="es-ES" sz="2400" dirty="0"/>
              <a:t>; </a:t>
            </a:r>
            <a:r>
              <a:rPr lang="es-ES" sz="2400" b="1" dirty="0"/>
              <a:t>A</a:t>
            </a:r>
            <a:r>
              <a:rPr lang="es-ES" sz="2400" dirty="0"/>
              <a:t> se ejecuta.</a:t>
            </a:r>
            <a:endParaRPr sz="2400" dirty="0"/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5"/>
                </a:solidFill>
              </a:rPr>
              <a:t>Regla 2</a:t>
            </a:r>
            <a:r>
              <a:rPr lang="es-ES" sz="2400" dirty="0">
                <a:solidFill>
                  <a:schemeClr val="accent5"/>
                </a:solidFill>
              </a:rPr>
              <a:t>:</a:t>
            </a:r>
            <a:r>
              <a:rPr lang="es-ES" sz="2400" dirty="0"/>
              <a:t> Si </a:t>
            </a:r>
            <a:r>
              <a:rPr lang="es-ES" sz="2400" b="1" dirty="0">
                <a:solidFill>
                  <a:srgbClr val="0B6937"/>
                </a:solidFill>
              </a:rPr>
              <a:t>prioridad(A)</a:t>
            </a:r>
            <a:r>
              <a:rPr lang="es-ES" sz="2400" b="1" dirty="0"/>
              <a:t> = </a:t>
            </a:r>
            <a:r>
              <a:rPr lang="es-ES" sz="2400" b="1" dirty="0">
                <a:solidFill>
                  <a:srgbClr val="FF0000"/>
                </a:solidFill>
              </a:rPr>
              <a:t>prioridad(B)</a:t>
            </a:r>
            <a:r>
              <a:rPr lang="es-ES" sz="2400" dirty="0"/>
              <a:t>; </a:t>
            </a:r>
            <a:r>
              <a:rPr lang="es-ES" sz="2400" b="1" dirty="0"/>
              <a:t>RR</a:t>
            </a:r>
            <a:r>
              <a:rPr lang="es-ES" sz="2400" dirty="0"/>
              <a:t> para </a:t>
            </a:r>
            <a:r>
              <a:rPr lang="es-ES" sz="2400" b="1" dirty="0"/>
              <a:t>A</a:t>
            </a:r>
            <a:r>
              <a:rPr lang="es-ES" sz="2400" dirty="0"/>
              <a:t> y </a:t>
            </a:r>
            <a:r>
              <a:rPr lang="es-ES" sz="2400" b="1" dirty="0"/>
              <a:t>B</a:t>
            </a:r>
            <a:r>
              <a:rPr lang="es-ES" sz="2400" dirty="0"/>
              <a:t>.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D55CF945-6B4C-4900-8F43-DDB65E3C3DB4}"/>
              </a:ext>
            </a:extLst>
          </p:cNvPr>
          <p:cNvGrpSpPr/>
          <p:nvPr/>
        </p:nvGrpSpPr>
        <p:grpSpPr>
          <a:xfrm>
            <a:off x="880403" y="3108018"/>
            <a:ext cx="2980850" cy="2344150"/>
            <a:chOff x="374511" y="3412466"/>
            <a:chExt cx="2980850" cy="2344150"/>
          </a:xfrm>
        </p:grpSpPr>
        <p:grpSp>
          <p:nvGrpSpPr>
            <p:cNvPr id="447" name="Google Shape;447;p38"/>
            <p:cNvGrpSpPr/>
            <p:nvPr/>
          </p:nvGrpSpPr>
          <p:grpSpPr>
            <a:xfrm>
              <a:off x="374511" y="3432781"/>
              <a:ext cx="749400" cy="2281950"/>
              <a:chOff x="8520500" y="1282075"/>
              <a:chExt cx="749400" cy="2281950"/>
            </a:xfrm>
          </p:grpSpPr>
          <p:sp>
            <p:nvSpPr>
              <p:cNvPr id="448" name="Google Shape;448;p38"/>
              <p:cNvSpPr txBox="1"/>
              <p:nvPr/>
            </p:nvSpPr>
            <p:spPr>
              <a:xfrm>
                <a:off x="8582450" y="1282075"/>
                <a:ext cx="6255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Q3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49" name="Google Shape;449;p38"/>
              <p:cNvSpPr txBox="1"/>
              <p:nvPr/>
            </p:nvSpPr>
            <p:spPr>
              <a:xfrm>
                <a:off x="8520500" y="187577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 dirty="0">
                    <a:latin typeface="Courier New"/>
                    <a:ea typeface="Courier New"/>
                    <a:cs typeface="Courier New"/>
                    <a:sym typeface="Courier New"/>
                  </a:rPr>
                  <a:t>Q2</a:t>
                </a:r>
                <a:endParaRPr sz="24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50" name="Google Shape;450;p38"/>
              <p:cNvSpPr txBox="1"/>
              <p:nvPr/>
            </p:nvSpPr>
            <p:spPr>
              <a:xfrm>
                <a:off x="8520500" y="2442850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Q1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51" name="Google Shape;451;p38"/>
              <p:cNvSpPr txBox="1"/>
              <p:nvPr/>
            </p:nvSpPr>
            <p:spPr>
              <a:xfrm>
                <a:off x="8520500" y="300992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>
                    <a:latin typeface="Courier New"/>
                    <a:ea typeface="Courier New"/>
                    <a:cs typeface="Courier New"/>
                    <a:sym typeface="Courier New"/>
                  </a:rPr>
                  <a:t>Q0</a:t>
                </a:r>
                <a:endParaRPr sz="24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452" name="Google Shape;452;p38"/>
            <p:cNvSpPr/>
            <p:nvPr/>
          </p:nvSpPr>
          <p:spPr>
            <a:xfrm>
              <a:off x="1588149" y="3412466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3" name="Google Shape;453;p38"/>
            <p:cNvSpPr/>
            <p:nvPr/>
          </p:nvSpPr>
          <p:spPr>
            <a:xfrm>
              <a:off x="1613561" y="4060766"/>
              <a:ext cx="608400" cy="597300"/>
            </a:xfrm>
            <a:prstGeom prst="ellipse">
              <a:avLst/>
            </a:prstGeom>
            <a:solidFill>
              <a:srgbClr val="EA9999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4" name="Google Shape;454;p38"/>
            <p:cNvSpPr/>
            <p:nvPr/>
          </p:nvSpPr>
          <p:spPr>
            <a:xfrm>
              <a:off x="1613561" y="5159316"/>
              <a:ext cx="608400" cy="597300"/>
            </a:xfrm>
            <a:prstGeom prst="ellipse">
              <a:avLst/>
            </a:prstGeom>
            <a:solidFill>
              <a:srgbClr val="F9CB9C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C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455" name="Google Shape;455;p38"/>
            <p:cNvSpPr/>
            <p:nvPr/>
          </p:nvSpPr>
          <p:spPr>
            <a:xfrm>
              <a:off x="2746961" y="5159316"/>
              <a:ext cx="608400" cy="597300"/>
            </a:xfrm>
            <a:prstGeom prst="ellipse">
              <a:avLst/>
            </a:prstGeom>
            <a:solidFill>
              <a:srgbClr val="B6D7A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D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456" name="Google Shape;456;p38"/>
            <p:cNvCxnSpPr/>
            <p:nvPr/>
          </p:nvCxnSpPr>
          <p:spPr>
            <a:xfrm rot="10800000" flipH="1">
              <a:off x="1063149" y="3710516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7" name="Google Shape;457;p38"/>
            <p:cNvCxnSpPr/>
            <p:nvPr/>
          </p:nvCxnSpPr>
          <p:spPr>
            <a:xfrm rot="10800000" flipH="1">
              <a:off x="1063149" y="5468641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8" name="Google Shape;458;p38"/>
            <p:cNvCxnSpPr/>
            <p:nvPr/>
          </p:nvCxnSpPr>
          <p:spPr>
            <a:xfrm rot="10800000" flipH="1">
              <a:off x="2221949" y="5457366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59" name="Google Shape;459;p38"/>
            <p:cNvCxnSpPr/>
            <p:nvPr/>
          </p:nvCxnSpPr>
          <p:spPr>
            <a:xfrm rot="10800000" flipH="1">
              <a:off x="1088549" y="4358816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67" name="Grupo 466">
            <a:extLst>
              <a:ext uri="{FF2B5EF4-FFF2-40B4-BE49-F238E27FC236}">
                <a16:creationId xmlns:a16="http://schemas.microsoft.com/office/drawing/2014/main" id="{57D1C1CA-14F3-427F-933A-290D2A1369D3}"/>
              </a:ext>
            </a:extLst>
          </p:cNvPr>
          <p:cNvGrpSpPr/>
          <p:nvPr/>
        </p:nvGrpSpPr>
        <p:grpSpPr>
          <a:xfrm>
            <a:off x="4828130" y="2325240"/>
            <a:ext cx="6300721" cy="3633530"/>
            <a:chOff x="5015910" y="2488977"/>
            <a:chExt cx="6300721" cy="3633530"/>
          </a:xfrm>
        </p:grpSpPr>
        <p:grpSp>
          <p:nvGrpSpPr>
            <p:cNvPr id="20" name="Grupo 19">
              <a:extLst>
                <a:ext uri="{FF2B5EF4-FFF2-40B4-BE49-F238E27FC236}">
                  <a16:creationId xmlns:a16="http://schemas.microsoft.com/office/drawing/2014/main" id="{78ACEF85-9CB1-446F-9ABF-50BEBE7383C0}"/>
                </a:ext>
              </a:extLst>
            </p:cNvPr>
            <p:cNvGrpSpPr/>
            <p:nvPr/>
          </p:nvGrpSpPr>
          <p:grpSpPr>
            <a:xfrm>
              <a:off x="10442434" y="3738746"/>
              <a:ext cx="874197" cy="1195002"/>
              <a:chOff x="1620690" y="2501644"/>
              <a:chExt cx="874197" cy="1195002"/>
            </a:xfrm>
          </p:grpSpPr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9A577543-5122-4E92-A140-43D2CA40B2EF}"/>
                  </a:ext>
                </a:extLst>
              </p:cNvPr>
              <p:cNvSpPr/>
              <p:nvPr/>
            </p:nvSpPr>
            <p:spPr>
              <a:xfrm>
                <a:off x="1620690" y="2870976"/>
                <a:ext cx="874197" cy="825670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  <p:sp>
            <p:nvSpPr>
              <p:cNvPr id="31" name="CuadroTexto 30">
                <a:extLst>
                  <a:ext uri="{FF2B5EF4-FFF2-40B4-BE49-F238E27FC236}">
                    <a16:creationId xmlns:a16="http://schemas.microsoft.com/office/drawing/2014/main" id="{78D29F1D-2E2C-4179-A469-2DDC661B28FD}"/>
                  </a:ext>
                </a:extLst>
              </p:cNvPr>
              <p:cNvSpPr txBox="1"/>
              <p:nvPr/>
            </p:nvSpPr>
            <p:spPr>
              <a:xfrm>
                <a:off x="1798994" y="2501644"/>
                <a:ext cx="58060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</p:grpSp>
        <p:cxnSp>
          <p:nvCxnSpPr>
            <p:cNvPr id="21" name="Conector recto de flecha 20">
              <a:extLst>
                <a:ext uri="{FF2B5EF4-FFF2-40B4-BE49-F238E27FC236}">
                  <a16:creationId xmlns:a16="http://schemas.microsoft.com/office/drawing/2014/main" id="{752A6403-1151-45ED-AF59-150241555522}"/>
                </a:ext>
              </a:extLst>
            </p:cNvPr>
            <p:cNvCxnSpPr>
              <a:cxnSpLocks/>
              <a:endCxn id="30" idx="1"/>
            </p:cNvCxnSpPr>
            <p:nvPr/>
          </p:nvCxnSpPr>
          <p:spPr>
            <a:xfrm>
              <a:off x="9643431" y="4520913"/>
              <a:ext cx="79900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5743BCC8-B447-4A6A-95A7-1DED3DA448AF}"/>
                </a:ext>
              </a:extLst>
            </p:cNvPr>
            <p:cNvGrpSpPr/>
            <p:nvPr/>
          </p:nvGrpSpPr>
          <p:grpSpPr>
            <a:xfrm>
              <a:off x="5669609" y="2833578"/>
              <a:ext cx="2480084" cy="418481"/>
              <a:chOff x="3934951" y="4789478"/>
              <a:chExt cx="2480084" cy="831255"/>
            </a:xfrm>
          </p:grpSpPr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26D23DE2-AF7A-4796-8ACF-0C5D4B3A73B0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51DB8351-60A8-4E4E-8EAB-7B708D4BA77F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603B2322-D3FC-4F94-BDFC-927A0BACCA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9FC630C-1433-4481-A025-DACFECFB3A0F}"/>
                </a:ext>
              </a:extLst>
            </p:cNvPr>
            <p:cNvSpPr txBox="1"/>
            <p:nvPr/>
          </p:nvSpPr>
          <p:spPr>
            <a:xfrm>
              <a:off x="6674750" y="2488977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Q3</a:t>
              </a:r>
            </a:p>
          </p:txBody>
        </p:sp>
        <p:grpSp>
          <p:nvGrpSpPr>
            <p:cNvPr id="55" name="Grupo 54">
              <a:extLst>
                <a:ext uri="{FF2B5EF4-FFF2-40B4-BE49-F238E27FC236}">
                  <a16:creationId xmlns:a16="http://schemas.microsoft.com/office/drawing/2014/main" id="{66E16DA2-A7DB-44EB-AE85-74DA01C14D4B}"/>
                </a:ext>
              </a:extLst>
            </p:cNvPr>
            <p:cNvGrpSpPr/>
            <p:nvPr/>
          </p:nvGrpSpPr>
          <p:grpSpPr>
            <a:xfrm>
              <a:off x="5667254" y="3788712"/>
              <a:ext cx="2480084" cy="418481"/>
              <a:chOff x="3934951" y="4789478"/>
              <a:chExt cx="2480084" cy="831255"/>
            </a:xfrm>
          </p:grpSpPr>
          <p:cxnSp>
            <p:nvCxnSpPr>
              <p:cNvPr id="56" name="Conector recto 55">
                <a:extLst>
                  <a:ext uri="{FF2B5EF4-FFF2-40B4-BE49-F238E27FC236}">
                    <a16:creationId xmlns:a16="http://schemas.microsoft.com/office/drawing/2014/main" id="{46122136-FD05-4AAA-AD3D-29285E3A04AC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Conector recto 56">
                <a:extLst>
                  <a:ext uri="{FF2B5EF4-FFF2-40B4-BE49-F238E27FC236}">
                    <a16:creationId xmlns:a16="http://schemas.microsoft.com/office/drawing/2014/main" id="{C0EF9F96-8F5E-4AFB-8542-B90AE8EF40AC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Conector recto 57">
                <a:extLst>
                  <a:ext uri="{FF2B5EF4-FFF2-40B4-BE49-F238E27FC236}">
                    <a16:creationId xmlns:a16="http://schemas.microsoft.com/office/drawing/2014/main" id="{067080C9-AB97-4B67-8A14-688BFDBE97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CuadroTexto 58">
              <a:extLst>
                <a:ext uri="{FF2B5EF4-FFF2-40B4-BE49-F238E27FC236}">
                  <a16:creationId xmlns:a16="http://schemas.microsoft.com/office/drawing/2014/main" id="{7E9C3E09-28A3-4EC5-BF93-258B0AD15F85}"/>
                </a:ext>
              </a:extLst>
            </p:cNvPr>
            <p:cNvSpPr txBox="1"/>
            <p:nvPr/>
          </p:nvSpPr>
          <p:spPr>
            <a:xfrm>
              <a:off x="6672395" y="344411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60" name="Grupo 59">
              <a:extLst>
                <a:ext uri="{FF2B5EF4-FFF2-40B4-BE49-F238E27FC236}">
                  <a16:creationId xmlns:a16="http://schemas.microsoft.com/office/drawing/2014/main" id="{F5258BE5-E1A4-4FAC-8811-A09A100148B3}"/>
                </a:ext>
              </a:extLst>
            </p:cNvPr>
            <p:cNvGrpSpPr/>
            <p:nvPr/>
          </p:nvGrpSpPr>
          <p:grpSpPr>
            <a:xfrm>
              <a:off x="5664899" y="4738222"/>
              <a:ext cx="2480084" cy="418481"/>
              <a:chOff x="3934951" y="4789478"/>
              <a:chExt cx="2480084" cy="831255"/>
            </a:xfrm>
          </p:grpSpPr>
          <p:cxnSp>
            <p:nvCxnSpPr>
              <p:cNvPr id="61" name="Conector recto 60">
                <a:extLst>
                  <a:ext uri="{FF2B5EF4-FFF2-40B4-BE49-F238E27FC236}">
                    <a16:creationId xmlns:a16="http://schemas.microsoft.com/office/drawing/2014/main" id="{43781248-3588-4529-B159-55507CB96689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ector recto 61">
                <a:extLst>
                  <a:ext uri="{FF2B5EF4-FFF2-40B4-BE49-F238E27FC236}">
                    <a16:creationId xmlns:a16="http://schemas.microsoft.com/office/drawing/2014/main" id="{9CD2C351-35F5-43BC-A06C-8ABBC46F9A2E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ector recto 62">
                <a:extLst>
                  <a:ext uri="{FF2B5EF4-FFF2-40B4-BE49-F238E27FC236}">
                    <a16:creationId xmlns:a16="http://schemas.microsoft.com/office/drawing/2014/main" id="{9422711A-53BA-4791-8082-3A1D8DF6DB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CuadroTexto 63">
              <a:extLst>
                <a:ext uri="{FF2B5EF4-FFF2-40B4-BE49-F238E27FC236}">
                  <a16:creationId xmlns:a16="http://schemas.microsoft.com/office/drawing/2014/main" id="{FD8B3402-F53B-4206-BC4E-D9274FB51380}"/>
                </a:ext>
              </a:extLst>
            </p:cNvPr>
            <p:cNvSpPr txBox="1"/>
            <p:nvPr/>
          </p:nvSpPr>
          <p:spPr>
            <a:xfrm>
              <a:off x="6670040" y="4393621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65" name="Grupo 64">
              <a:extLst>
                <a:ext uri="{FF2B5EF4-FFF2-40B4-BE49-F238E27FC236}">
                  <a16:creationId xmlns:a16="http://schemas.microsoft.com/office/drawing/2014/main" id="{9F6FA6AF-5167-45D8-8E4E-68E6CD635252}"/>
                </a:ext>
              </a:extLst>
            </p:cNvPr>
            <p:cNvGrpSpPr/>
            <p:nvPr/>
          </p:nvGrpSpPr>
          <p:grpSpPr>
            <a:xfrm>
              <a:off x="5662544" y="5704026"/>
              <a:ext cx="2480084" cy="418481"/>
              <a:chOff x="3934951" y="4789478"/>
              <a:chExt cx="2480084" cy="831255"/>
            </a:xfrm>
          </p:grpSpPr>
          <p:cxnSp>
            <p:nvCxnSpPr>
              <p:cNvPr id="66" name="Conector recto 65">
                <a:extLst>
                  <a:ext uri="{FF2B5EF4-FFF2-40B4-BE49-F238E27FC236}">
                    <a16:creationId xmlns:a16="http://schemas.microsoft.com/office/drawing/2014/main" id="{95EC2206-F99F-40E9-980B-7149CAE46609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ector recto 66">
                <a:extLst>
                  <a:ext uri="{FF2B5EF4-FFF2-40B4-BE49-F238E27FC236}">
                    <a16:creationId xmlns:a16="http://schemas.microsoft.com/office/drawing/2014/main" id="{F4AA2F64-221A-4D08-B6C9-197493F75D7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ector recto 67">
                <a:extLst>
                  <a:ext uri="{FF2B5EF4-FFF2-40B4-BE49-F238E27FC236}">
                    <a16:creationId xmlns:a16="http://schemas.microsoft.com/office/drawing/2014/main" id="{3A3C3166-50AE-4775-8A63-C599A0E69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699FE8E8-44CE-4CC4-B2AA-CBC9ECBA5228}"/>
                </a:ext>
              </a:extLst>
            </p:cNvPr>
            <p:cNvSpPr txBox="1"/>
            <p:nvPr/>
          </p:nvSpPr>
          <p:spPr>
            <a:xfrm>
              <a:off x="6667685" y="5359425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7D1D361A-2F23-4C59-9E8C-FC85AFDA7429}"/>
                </a:ext>
              </a:extLst>
            </p:cNvPr>
            <p:cNvGrpSpPr/>
            <p:nvPr/>
          </p:nvGrpSpPr>
          <p:grpSpPr>
            <a:xfrm>
              <a:off x="5297850" y="3174396"/>
              <a:ext cx="3139440" cy="825670"/>
              <a:chOff x="5090160" y="3201486"/>
              <a:chExt cx="3139440" cy="825670"/>
            </a:xfrm>
          </p:grpSpPr>
          <p:cxnSp>
            <p:nvCxnSpPr>
              <p:cNvPr id="9" name="Conector recto 8">
                <a:extLst>
                  <a:ext uri="{FF2B5EF4-FFF2-40B4-BE49-F238E27FC236}">
                    <a16:creationId xmlns:a16="http://schemas.microsoft.com/office/drawing/2014/main" id="{A95B6EED-C209-429C-A197-D111A9F5A3F4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62BCEBA3-E266-4E58-BD1D-305FF29CA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BF81004F-56B4-4D97-8C1B-1012DA9A2FD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recto 84">
                <a:extLst>
                  <a:ext uri="{FF2B5EF4-FFF2-40B4-BE49-F238E27FC236}">
                    <a16:creationId xmlns:a16="http://schemas.microsoft.com/office/drawing/2014/main" id="{2102AAE8-30B7-4DC0-8418-D54390E471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538EDC00-AB67-4FF8-BB92-21AD416D8B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1" name="Grupo 90">
              <a:extLst>
                <a:ext uri="{FF2B5EF4-FFF2-40B4-BE49-F238E27FC236}">
                  <a16:creationId xmlns:a16="http://schemas.microsoft.com/office/drawing/2014/main" id="{976A96BB-E5D8-4FB5-8C2A-3897351A4973}"/>
                </a:ext>
              </a:extLst>
            </p:cNvPr>
            <p:cNvGrpSpPr/>
            <p:nvPr/>
          </p:nvGrpSpPr>
          <p:grpSpPr>
            <a:xfrm>
              <a:off x="5297850" y="4127733"/>
              <a:ext cx="3139440" cy="825670"/>
              <a:chOff x="5090160" y="3201486"/>
              <a:chExt cx="3139440" cy="825670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547C7805-E903-4FB0-B34E-A15282C36686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5E5485B9-F2B1-4807-A93B-233828EB04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B6DD9405-2889-4930-AC94-9209AB131A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recto 94">
                <a:extLst>
                  <a:ext uri="{FF2B5EF4-FFF2-40B4-BE49-F238E27FC236}">
                    <a16:creationId xmlns:a16="http://schemas.microsoft.com/office/drawing/2014/main" id="{F9E351B0-1C91-4DED-958E-357E83EA3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recto 95">
                <a:extLst>
                  <a:ext uri="{FF2B5EF4-FFF2-40B4-BE49-F238E27FC236}">
                    <a16:creationId xmlns:a16="http://schemas.microsoft.com/office/drawing/2014/main" id="{B784C2D6-D19A-4612-8BEB-C36CD57BE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7" name="Grupo 96">
              <a:extLst>
                <a:ext uri="{FF2B5EF4-FFF2-40B4-BE49-F238E27FC236}">
                  <a16:creationId xmlns:a16="http://schemas.microsoft.com/office/drawing/2014/main" id="{4D140BE1-0D74-4603-AA3C-9B80478DE65F}"/>
                </a:ext>
              </a:extLst>
            </p:cNvPr>
            <p:cNvGrpSpPr/>
            <p:nvPr/>
          </p:nvGrpSpPr>
          <p:grpSpPr>
            <a:xfrm>
              <a:off x="5297850" y="5080247"/>
              <a:ext cx="3139440" cy="825670"/>
              <a:chOff x="5090160" y="3201486"/>
              <a:chExt cx="3139440" cy="825670"/>
            </a:xfrm>
          </p:grpSpPr>
          <p:cxnSp>
            <p:nvCxnSpPr>
              <p:cNvPr id="98" name="Conector recto 97">
                <a:extLst>
                  <a:ext uri="{FF2B5EF4-FFF2-40B4-BE49-F238E27FC236}">
                    <a16:creationId xmlns:a16="http://schemas.microsoft.com/office/drawing/2014/main" id="{9EC7A541-231D-4C7B-8BD5-236D5D164DE9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98">
                <a:extLst>
                  <a:ext uri="{FF2B5EF4-FFF2-40B4-BE49-F238E27FC236}">
                    <a16:creationId xmlns:a16="http://schemas.microsoft.com/office/drawing/2014/main" id="{B38F3CFC-9FA9-4E76-8B68-F449EE7F5E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Conector recto 99">
                <a:extLst>
                  <a:ext uri="{FF2B5EF4-FFF2-40B4-BE49-F238E27FC236}">
                    <a16:creationId xmlns:a16="http://schemas.microsoft.com/office/drawing/2014/main" id="{3D639A0C-E049-43B8-ADB9-33B2E401FDA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Conector recto 100">
                <a:extLst>
                  <a:ext uri="{FF2B5EF4-FFF2-40B4-BE49-F238E27FC236}">
                    <a16:creationId xmlns:a16="http://schemas.microsoft.com/office/drawing/2014/main" id="{3381D7BA-7D3B-45BA-9556-E9FD1F3061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Conector recto 101">
                <a:extLst>
                  <a:ext uri="{FF2B5EF4-FFF2-40B4-BE49-F238E27FC236}">
                    <a16:creationId xmlns:a16="http://schemas.microsoft.com/office/drawing/2014/main" id="{BBABB922-1356-488C-BE79-40465E6B2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9" name="Conector recto 108">
              <a:extLst>
                <a:ext uri="{FF2B5EF4-FFF2-40B4-BE49-F238E27FC236}">
                  <a16:creationId xmlns:a16="http://schemas.microsoft.com/office/drawing/2014/main" id="{28DC86FD-4EBA-42F3-91FE-D1EA5C45C482}"/>
                </a:ext>
              </a:extLst>
            </p:cNvPr>
            <p:cNvCxnSpPr>
              <a:cxnSpLocks/>
            </p:cNvCxnSpPr>
            <p:nvPr/>
          </p:nvCxnSpPr>
          <p:spPr>
            <a:xfrm>
              <a:off x="5015910" y="3042818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recto 110">
              <a:extLst>
                <a:ext uri="{FF2B5EF4-FFF2-40B4-BE49-F238E27FC236}">
                  <a16:creationId xmlns:a16="http://schemas.microsoft.com/office/drawing/2014/main" id="{CEA8E820-162C-40D2-A66D-EC9E70C41EEB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73" y="2989730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recto 111">
              <a:extLst>
                <a:ext uri="{FF2B5EF4-FFF2-40B4-BE49-F238E27FC236}">
                  <a16:creationId xmlns:a16="http://schemas.microsoft.com/office/drawing/2014/main" id="{8A22E98E-81AC-427E-978F-8BC235DACE3C}"/>
                </a:ext>
              </a:extLst>
            </p:cNvPr>
            <p:cNvCxnSpPr>
              <a:cxnSpLocks/>
            </p:cNvCxnSpPr>
            <p:nvPr/>
          </p:nvCxnSpPr>
          <p:spPr>
            <a:xfrm>
              <a:off x="8147338" y="3981586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cto 112">
              <a:extLst>
                <a:ext uri="{FF2B5EF4-FFF2-40B4-BE49-F238E27FC236}">
                  <a16:creationId xmlns:a16="http://schemas.microsoft.com/office/drawing/2014/main" id="{B1F962EE-966F-4DDA-9EA4-1CBF2F90C2D4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72" y="492347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recto 113">
              <a:extLst>
                <a:ext uri="{FF2B5EF4-FFF2-40B4-BE49-F238E27FC236}">
                  <a16:creationId xmlns:a16="http://schemas.microsoft.com/office/drawing/2014/main" id="{1888E813-7766-4A7F-B1A2-97832160C372}"/>
                </a:ext>
              </a:extLst>
            </p:cNvPr>
            <p:cNvCxnSpPr>
              <a:cxnSpLocks/>
            </p:cNvCxnSpPr>
            <p:nvPr/>
          </p:nvCxnSpPr>
          <p:spPr>
            <a:xfrm>
              <a:off x="8147338" y="5913266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6" name="Google Shape;385;p33">
              <a:extLst>
                <a:ext uri="{FF2B5EF4-FFF2-40B4-BE49-F238E27FC236}">
                  <a16:creationId xmlns:a16="http://schemas.microsoft.com/office/drawing/2014/main" id="{152EB4EC-24CD-4C7F-9DA2-F7CB8AC977AC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9776753" y="3876827"/>
              <a:ext cx="577076" cy="56700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464" name="Conector recto 463">
              <a:extLst>
                <a:ext uri="{FF2B5EF4-FFF2-40B4-BE49-F238E27FC236}">
                  <a16:creationId xmlns:a16="http://schemas.microsoft.com/office/drawing/2014/main" id="{BCA85161-CAA0-4E4D-9104-D00504BBD289}"/>
                </a:ext>
              </a:extLst>
            </p:cNvPr>
            <p:cNvCxnSpPr>
              <a:cxnSpLocks/>
            </p:cNvCxnSpPr>
            <p:nvPr/>
          </p:nvCxnSpPr>
          <p:spPr>
            <a:xfrm>
              <a:off x="9250090" y="3884510"/>
              <a:ext cx="393341" cy="636353"/>
            </a:xfrm>
            <a:prstGeom prst="line">
              <a:avLst/>
            </a:prstGeom>
            <a:ln w="38100"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6" name="Arco 465">
              <a:extLst>
                <a:ext uri="{FF2B5EF4-FFF2-40B4-BE49-F238E27FC236}">
                  <a16:creationId xmlns:a16="http://schemas.microsoft.com/office/drawing/2014/main" id="{BEC483F3-B1C2-43A4-BB9C-71439B02A4FA}"/>
                </a:ext>
              </a:extLst>
            </p:cNvPr>
            <p:cNvSpPr/>
            <p:nvPr/>
          </p:nvSpPr>
          <p:spPr>
            <a:xfrm rot="16200000">
              <a:off x="9275547" y="4187440"/>
              <a:ext cx="735767" cy="567003"/>
            </a:xfrm>
            <a:prstGeom prst="arc">
              <a:avLst>
                <a:gd name="adj1" fmla="val 12448962"/>
                <a:gd name="adj2" fmla="val 0"/>
              </a:avLst>
            </a:prstGeom>
            <a:ln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3A414B8A-64F0-4153-830C-9F0B9FF1779B}"/>
              </a:ext>
            </a:extLst>
          </p:cNvPr>
          <p:cNvGrpSpPr/>
          <p:nvPr/>
        </p:nvGrpSpPr>
        <p:grpSpPr>
          <a:xfrm>
            <a:off x="8154544" y="5919726"/>
            <a:ext cx="4132587" cy="784180"/>
            <a:chOff x="6294982" y="5551290"/>
            <a:chExt cx="4132587" cy="784180"/>
          </a:xfrm>
        </p:grpSpPr>
        <p:grpSp>
          <p:nvGrpSpPr>
            <p:cNvPr id="70" name="Grupo 69">
              <a:extLst>
                <a:ext uri="{FF2B5EF4-FFF2-40B4-BE49-F238E27FC236}">
                  <a16:creationId xmlns:a16="http://schemas.microsoft.com/office/drawing/2014/main" id="{01FC7B12-836D-49E0-A342-F49F0B21302C}"/>
                </a:ext>
              </a:extLst>
            </p:cNvPr>
            <p:cNvGrpSpPr/>
            <p:nvPr/>
          </p:nvGrpSpPr>
          <p:grpSpPr>
            <a:xfrm>
              <a:off x="7003405" y="5551290"/>
              <a:ext cx="3424164" cy="784180"/>
              <a:chOff x="1508865" y="5539500"/>
              <a:chExt cx="3424164" cy="784180"/>
            </a:xfrm>
          </p:grpSpPr>
          <p:grpSp>
            <p:nvGrpSpPr>
              <p:cNvPr id="71" name="Grupo 70">
                <a:extLst>
                  <a:ext uri="{FF2B5EF4-FFF2-40B4-BE49-F238E27FC236}">
                    <a16:creationId xmlns:a16="http://schemas.microsoft.com/office/drawing/2014/main" id="{91427709-6249-423C-A8A8-7709FE7BF8FE}"/>
                  </a:ext>
                </a:extLst>
              </p:cNvPr>
              <p:cNvGrpSpPr/>
              <p:nvPr/>
            </p:nvGrpSpPr>
            <p:grpSpPr>
              <a:xfrm>
                <a:off x="1508865" y="5539500"/>
                <a:ext cx="3003882" cy="630893"/>
                <a:chOff x="6285601" y="5641893"/>
                <a:chExt cx="1892736" cy="718388"/>
              </a:xfrm>
            </p:grpSpPr>
            <p:cxnSp>
              <p:nvCxnSpPr>
                <p:cNvPr id="103" name="Conector recto de flecha 102">
                  <a:extLst>
                    <a:ext uri="{FF2B5EF4-FFF2-40B4-BE49-F238E27FC236}">
                      <a16:creationId xmlns:a16="http://schemas.microsoft.com/office/drawing/2014/main" id="{27C54AF0-0A52-4A6A-89BD-C76075C0AFB1}"/>
                    </a:ext>
                  </a:extLst>
                </p:cNvPr>
                <p:cNvCxnSpPr>
                  <a:cxnSpLocks/>
                  <a:endCxn id="72" idx="1"/>
                </p:cNvCxnSpPr>
                <p:nvPr/>
              </p:nvCxnSpPr>
              <p:spPr>
                <a:xfrm flipV="1">
                  <a:off x="6286571" y="6350169"/>
                  <a:ext cx="1891766" cy="8679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Conector recto de flecha 103">
                  <a:extLst>
                    <a:ext uri="{FF2B5EF4-FFF2-40B4-BE49-F238E27FC236}">
                      <a16:creationId xmlns:a16="http://schemas.microsoft.com/office/drawing/2014/main" id="{444DF96B-CAD7-4E79-834E-B5E72DEA0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85601" y="5641893"/>
                  <a:ext cx="9389" cy="718388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2" name="CuadroTexto 71">
                <a:extLst>
                  <a:ext uri="{FF2B5EF4-FFF2-40B4-BE49-F238E27FC236}">
                    <a16:creationId xmlns:a16="http://schemas.microsoft.com/office/drawing/2014/main" id="{EAD46C0E-B86F-4465-99CE-B839E1FAF4C7}"/>
                  </a:ext>
                </a:extLst>
              </p:cNvPr>
              <p:cNvSpPr txBox="1"/>
              <p:nvPr/>
            </p:nvSpPr>
            <p:spPr>
              <a:xfrm>
                <a:off x="4512750" y="5999330"/>
                <a:ext cx="420279" cy="324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t</a:t>
                </a:r>
              </a:p>
            </p:txBody>
          </p:sp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BF1E3078-8C9C-420B-9991-558E25657D7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45989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8E13DF26-6A17-4EF0-AA3D-A70F287DD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91572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48270285-9A40-4FD2-9BCA-64686FE60E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63889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A1510333-8359-491F-8538-0CBA46A63C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85970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40E7A2A7-F49F-4369-B168-322C6661D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9912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2DF2ABDF-F339-4B93-8B84-097A759960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6257" y="60702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5" name="Google Shape;309;p30">
              <a:extLst>
                <a:ext uri="{FF2B5EF4-FFF2-40B4-BE49-F238E27FC236}">
                  <a16:creationId xmlns:a16="http://schemas.microsoft.com/office/drawing/2014/main" id="{C56A7058-39CF-4D4B-84FB-DB3D79569D93}"/>
                </a:ext>
              </a:extLst>
            </p:cNvPr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294982" y="5651052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 txBox="1">
            <a:spLocks noGrp="1"/>
          </p:cNvSpPr>
          <p:nvPr>
            <p:ph type="title"/>
          </p:nvPr>
        </p:nvSpPr>
        <p:spPr>
          <a:xfrm>
            <a:off x="508000" y="96038"/>
            <a:ext cx="8712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 - Reglas básicas</a:t>
            </a:r>
            <a:endParaRPr dirty="0"/>
          </a:p>
        </p:txBody>
      </p:sp>
      <p:sp>
        <p:nvSpPr>
          <p:cNvPr id="466" name="Google Shape;466;p39"/>
          <p:cNvSpPr txBox="1">
            <a:spLocks noGrp="1"/>
          </p:cNvSpPr>
          <p:nvPr>
            <p:ph type="body" idx="1"/>
          </p:nvPr>
        </p:nvSpPr>
        <p:spPr>
          <a:xfrm>
            <a:off x="391886" y="1873973"/>
            <a:ext cx="5970514" cy="399061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accent1"/>
                </a:solidFill>
                <a:latin typeface="+mn-lt"/>
              </a:rPr>
              <a:t>Cambio de prioridad</a:t>
            </a:r>
            <a:endParaRPr sz="3400" dirty="0">
              <a:solidFill>
                <a:schemeClr val="accent1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6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: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b="1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sp>
        <p:nvSpPr>
          <p:cNvPr id="485" name="Google Shape;485;p39"/>
          <p:cNvSpPr txBox="1">
            <a:spLocks noGrp="1"/>
          </p:cNvSpPr>
          <p:nvPr>
            <p:ph type="body" idx="4294967295"/>
          </p:nvPr>
        </p:nvSpPr>
        <p:spPr>
          <a:xfrm>
            <a:off x="362858" y="1170655"/>
            <a:ext cx="10943770" cy="525745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C00000"/>
                </a:solidFill>
              </a:rPr>
              <a:t>Realidad</a:t>
            </a:r>
            <a:r>
              <a:rPr lang="es-ES" sz="2400" dirty="0">
                <a:solidFill>
                  <a:srgbClr val="C00000"/>
                </a:solidFill>
              </a:rPr>
              <a:t>:</a:t>
            </a:r>
            <a:r>
              <a:rPr lang="es-ES" sz="2400" dirty="0">
                <a:solidFill>
                  <a:srgbClr val="E06666"/>
                </a:solidFill>
              </a:rPr>
              <a:t> </a:t>
            </a:r>
            <a:r>
              <a:rPr lang="es-ES" sz="2400" dirty="0"/>
              <a:t>El </a:t>
            </a:r>
            <a:r>
              <a:rPr lang="es-ES" sz="2400" b="1" dirty="0"/>
              <a:t>workload</a:t>
            </a:r>
            <a:r>
              <a:rPr lang="es-ES" sz="2400" dirty="0"/>
              <a:t> tiene una mezcla de trabajos interactivos y tipo batch. </a:t>
            </a:r>
            <a:endParaRPr dirty="0"/>
          </a:p>
        </p:txBody>
      </p:sp>
      <p:grpSp>
        <p:nvGrpSpPr>
          <p:cNvPr id="467" name="Google Shape;467;p39"/>
          <p:cNvGrpSpPr/>
          <p:nvPr/>
        </p:nvGrpSpPr>
        <p:grpSpPr>
          <a:xfrm>
            <a:off x="6985314" y="2364239"/>
            <a:ext cx="3829050" cy="3715750"/>
            <a:chOff x="6488200" y="1483248"/>
            <a:chExt cx="3829050" cy="3715750"/>
          </a:xfrm>
        </p:grpSpPr>
        <p:grpSp>
          <p:nvGrpSpPr>
            <p:cNvPr id="468" name="Google Shape;468;p39"/>
            <p:cNvGrpSpPr/>
            <p:nvPr/>
          </p:nvGrpSpPr>
          <p:grpSpPr>
            <a:xfrm>
              <a:off x="6741700" y="1483248"/>
              <a:ext cx="2980850" cy="3715750"/>
              <a:chOff x="8761000" y="1591973"/>
              <a:chExt cx="2980850" cy="3715750"/>
            </a:xfrm>
          </p:grpSpPr>
          <p:grpSp>
            <p:nvGrpSpPr>
              <p:cNvPr id="469" name="Google Shape;469;p39"/>
              <p:cNvGrpSpPr/>
              <p:nvPr/>
            </p:nvGrpSpPr>
            <p:grpSpPr>
              <a:xfrm>
                <a:off x="8761000" y="1612288"/>
                <a:ext cx="749400" cy="3653550"/>
                <a:chOff x="8520500" y="1282075"/>
                <a:chExt cx="749400" cy="3653550"/>
              </a:xfrm>
            </p:grpSpPr>
            <p:sp>
              <p:nvSpPr>
                <p:cNvPr id="470" name="Google Shape;470;p39"/>
                <p:cNvSpPr txBox="1"/>
                <p:nvPr/>
              </p:nvSpPr>
              <p:spPr>
                <a:xfrm>
                  <a:off x="8582450" y="1282075"/>
                  <a:ext cx="6255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Q3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1" name="Google Shape;471;p39"/>
                <p:cNvSpPr txBox="1"/>
                <p:nvPr/>
              </p:nvSpPr>
              <p:spPr>
                <a:xfrm>
                  <a:off x="8520500" y="233297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Q2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2" name="Google Shape;472;p39"/>
                <p:cNvSpPr txBox="1"/>
                <p:nvPr/>
              </p:nvSpPr>
              <p:spPr>
                <a:xfrm>
                  <a:off x="8520500" y="3357250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Q1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473" name="Google Shape;473;p39"/>
                <p:cNvSpPr txBox="1"/>
                <p:nvPr/>
              </p:nvSpPr>
              <p:spPr>
                <a:xfrm>
                  <a:off x="8520500" y="4381525"/>
                  <a:ext cx="749400" cy="554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4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Q0</a:t>
                  </a:r>
                  <a:endParaRPr sz="2400" b="1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</p:grpSp>
          <p:sp>
            <p:nvSpPr>
              <p:cNvPr id="474" name="Google Shape;474;p39"/>
              <p:cNvSpPr/>
              <p:nvPr/>
            </p:nvSpPr>
            <p:spPr>
              <a:xfrm>
                <a:off x="9974638" y="1591973"/>
                <a:ext cx="608400" cy="597300"/>
              </a:xfrm>
              <a:prstGeom prst="ellipse">
                <a:avLst/>
              </a:prstGeom>
              <a:solidFill>
                <a:srgbClr val="C9DAF8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A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5" name="Google Shape;475;p39"/>
              <p:cNvSpPr/>
              <p:nvPr/>
            </p:nvSpPr>
            <p:spPr>
              <a:xfrm>
                <a:off x="10000050" y="2697473"/>
                <a:ext cx="608400" cy="597300"/>
              </a:xfrm>
              <a:prstGeom prst="ellipse">
                <a:avLst/>
              </a:prstGeom>
              <a:solidFill>
                <a:srgbClr val="EA9999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B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6" name="Google Shape;476;p39"/>
              <p:cNvSpPr/>
              <p:nvPr/>
            </p:nvSpPr>
            <p:spPr>
              <a:xfrm>
                <a:off x="10000050" y="4710423"/>
                <a:ext cx="608400" cy="597300"/>
              </a:xfrm>
              <a:prstGeom prst="ellipse">
                <a:avLst/>
              </a:prstGeom>
              <a:solidFill>
                <a:srgbClr val="F9CB9C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C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477" name="Google Shape;477;p39"/>
              <p:cNvSpPr/>
              <p:nvPr/>
            </p:nvSpPr>
            <p:spPr>
              <a:xfrm>
                <a:off x="11133450" y="4710423"/>
                <a:ext cx="608400" cy="597300"/>
              </a:xfrm>
              <a:prstGeom prst="ellipse">
                <a:avLst/>
              </a:prstGeom>
              <a:solidFill>
                <a:srgbClr val="B6D7A8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urier New"/>
                    <a:ea typeface="Courier New"/>
                    <a:cs typeface="Courier New"/>
                    <a:sym typeface="Courier New"/>
                  </a:rPr>
                  <a:t>D</a:t>
                </a:r>
                <a:endParaRPr sz="1800" b="1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cxnSp>
            <p:nvCxnSpPr>
              <p:cNvPr id="478" name="Google Shape;478;p39"/>
              <p:cNvCxnSpPr/>
              <p:nvPr/>
            </p:nvCxnSpPr>
            <p:spPr>
              <a:xfrm rot="10800000" flipH="1">
                <a:off x="9449638" y="5019748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79" name="Google Shape;479;p39"/>
              <p:cNvCxnSpPr/>
              <p:nvPr/>
            </p:nvCxnSpPr>
            <p:spPr>
              <a:xfrm rot="10800000" flipH="1">
                <a:off x="10608438" y="500847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0" name="Google Shape;480;p39"/>
              <p:cNvCxnSpPr/>
              <p:nvPr/>
            </p:nvCxnSpPr>
            <p:spPr>
              <a:xfrm rot="10800000" flipH="1">
                <a:off x="9475038" y="299552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81" name="Google Shape;481;p39"/>
              <p:cNvCxnSpPr/>
              <p:nvPr/>
            </p:nvCxnSpPr>
            <p:spPr>
              <a:xfrm rot="10800000" flipH="1">
                <a:off x="9449638" y="1890023"/>
                <a:ext cx="525000" cy="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482" name="Google Shape;482;p39"/>
            <p:cNvSpPr/>
            <p:nvPr/>
          </p:nvSpPr>
          <p:spPr>
            <a:xfrm>
              <a:off x="6488200" y="17927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483" name="Google Shape;483;p39"/>
            <p:cNvSpPr/>
            <p:nvPr/>
          </p:nvSpPr>
          <p:spPr>
            <a:xfrm>
              <a:off x="6488200" y="28595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  <p:sp>
          <p:nvSpPr>
            <p:cNvPr id="484" name="Google Shape;484;p39"/>
            <p:cNvSpPr/>
            <p:nvPr/>
          </p:nvSpPr>
          <p:spPr>
            <a:xfrm>
              <a:off x="6488200" y="3837450"/>
              <a:ext cx="3829050" cy="1066800"/>
            </a:xfrm>
            <a:custGeom>
              <a:avLst/>
              <a:gdLst/>
              <a:ahLst/>
              <a:cxnLst/>
              <a:rect l="l" t="t" r="r" b="b"/>
              <a:pathLst>
                <a:path w="153162" h="42672" extrusionOk="0">
                  <a:moveTo>
                    <a:pt x="85852" y="0"/>
                  </a:moveTo>
                  <a:lnTo>
                    <a:pt x="153162" y="0"/>
                  </a:lnTo>
                  <a:lnTo>
                    <a:pt x="153162" y="18034"/>
                  </a:lnTo>
                  <a:lnTo>
                    <a:pt x="0" y="18034"/>
                  </a:lnTo>
                  <a:lnTo>
                    <a:pt x="0" y="42672"/>
                  </a:lnTo>
                  <a:lnTo>
                    <a:pt x="13970" y="42672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dash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1" name="Google Shape;491;p40"/>
          <p:cNvSpPr txBox="1">
            <a:spLocks noGrp="1"/>
          </p:cNvSpPr>
          <p:nvPr>
            <p:ph type="body" idx="1"/>
          </p:nvPr>
        </p:nvSpPr>
        <p:spPr>
          <a:xfrm>
            <a:off x="213075" y="1062400"/>
            <a:ext cx="7500988" cy="1464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1 - Proceso CPU bound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MLFQ de 3 colas (Q2, Q1, Q0).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Quantum de 10 ms para cada cola.</a:t>
            </a:r>
            <a:endParaRPr sz="20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000" dirty="0">
                <a:latin typeface="+mn-lt"/>
              </a:rPr>
              <a:t>Solo un proceso: A.</a:t>
            </a: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66" name="Google Shape;502;p41">
            <a:extLst>
              <a:ext uri="{FF2B5EF4-FFF2-40B4-BE49-F238E27FC236}">
                <a16:creationId xmlns:a16="http://schemas.microsoft.com/office/drawing/2014/main" id="{0B7544A7-8180-44E7-A68F-57BAE44E9DD0}"/>
              </a:ext>
            </a:extLst>
          </p:cNvPr>
          <p:cNvSpPr txBox="1">
            <a:spLocks/>
          </p:cNvSpPr>
          <p:nvPr/>
        </p:nvSpPr>
        <p:spPr>
          <a:xfrm>
            <a:off x="174187" y="3051483"/>
            <a:ext cx="7040225" cy="337061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latin typeface="+mn-lt"/>
              </a:rPr>
              <a:t>Ejemplo 2 - Llega un proceso corto</a:t>
            </a:r>
            <a:endParaRPr lang="es-MX" sz="2400" dirty="0">
              <a:latin typeface="+mn-lt"/>
            </a:endParaRPr>
          </a:p>
          <a:p>
            <a:pPr indent="-361950">
              <a:lnSpc>
                <a:spcPct val="100000"/>
              </a:lnSpc>
              <a:spcBef>
                <a:spcPts val="480"/>
              </a:spcBef>
              <a:buSzPts val="2100"/>
            </a:pPr>
            <a:r>
              <a:rPr lang="es-MX" sz="2000" dirty="0">
                <a:latin typeface="+mn-lt"/>
              </a:rPr>
              <a:t>MLFQ de 3 colas (Q2, Q1, Q0).</a:t>
            </a:r>
          </a:p>
          <a:p>
            <a:pPr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dirty="0">
                <a:latin typeface="+mn-lt"/>
              </a:rPr>
              <a:t>Quantum de 10 ms para cada cola.</a:t>
            </a:r>
          </a:p>
          <a:p>
            <a:pPr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dirty="0">
                <a:latin typeface="+mn-lt"/>
              </a:rPr>
              <a:t>Procesos:</a:t>
            </a:r>
          </a:p>
          <a:p>
            <a:pPr lvl="1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b="1" dirty="0">
                <a:latin typeface="+mn-lt"/>
              </a:rPr>
              <a:t>A</a:t>
            </a:r>
            <a:r>
              <a:rPr lang="es-MX" sz="2000" dirty="0">
                <a:latin typeface="+mn-lt"/>
              </a:rPr>
              <a:t>: 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Proceso con uso intensivo de la CPU (CPU-</a:t>
            </a:r>
            <a:r>
              <a:rPr lang="es-MX" dirty="0" err="1">
                <a:latin typeface="+mn-lt"/>
              </a:rPr>
              <a:t>bound</a:t>
            </a:r>
            <a:r>
              <a:rPr lang="es-MX" dirty="0">
                <a:latin typeface="+mn-lt"/>
              </a:rPr>
              <a:t>).</a:t>
            </a:r>
          </a:p>
          <a:p>
            <a:pPr lvl="1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sz="2000" b="1" dirty="0">
                <a:latin typeface="+mn-lt"/>
              </a:rPr>
              <a:t>B</a:t>
            </a:r>
            <a:r>
              <a:rPr lang="es-MX" sz="2000" dirty="0">
                <a:latin typeface="+mn-lt"/>
              </a:rPr>
              <a:t>: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Proceso interactivo. 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Tiempo de ejecución de 20 ms.</a:t>
            </a:r>
          </a:p>
          <a:p>
            <a:pPr lvl="2" indent="-361950">
              <a:lnSpc>
                <a:spcPct val="100000"/>
              </a:lnSpc>
              <a:spcBef>
                <a:spcPts val="0"/>
              </a:spcBef>
              <a:buSzPts val="2100"/>
            </a:pPr>
            <a:r>
              <a:rPr lang="es-MX" dirty="0">
                <a:latin typeface="+mn-lt"/>
              </a:rPr>
              <a:t>Llega en t = 100.</a:t>
            </a: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dirty="0"/>
          </a:p>
        </p:txBody>
      </p:sp>
      <p:grpSp>
        <p:nvGrpSpPr>
          <p:cNvPr id="67" name="Google Shape;447;p38">
            <a:extLst>
              <a:ext uri="{FF2B5EF4-FFF2-40B4-BE49-F238E27FC236}">
                <a16:creationId xmlns:a16="http://schemas.microsoft.com/office/drawing/2014/main" id="{45FAF84B-3205-426B-96A1-A292A27631C5}"/>
              </a:ext>
            </a:extLst>
          </p:cNvPr>
          <p:cNvGrpSpPr/>
          <p:nvPr/>
        </p:nvGrpSpPr>
        <p:grpSpPr>
          <a:xfrm>
            <a:off x="7714063" y="1336608"/>
            <a:ext cx="749400" cy="1714875"/>
            <a:chOff x="8520500" y="1282075"/>
            <a:chExt cx="749400" cy="1714875"/>
          </a:xfrm>
        </p:grpSpPr>
        <p:sp>
          <p:nvSpPr>
            <p:cNvPr id="68" name="Google Shape;448;p38">
              <a:extLst>
                <a:ext uri="{FF2B5EF4-FFF2-40B4-BE49-F238E27FC236}">
                  <a16:creationId xmlns:a16="http://schemas.microsoft.com/office/drawing/2014/main" id="{7CFBFA4F-1E71-4C36-B335-B44C9C5C72E6}"/>
                </a:ext>
              </a:extLst>
            </p:cNvPr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9" name="Google Shape;449;p38">
              <a:extLst>
                <a:ext uri="{FF2B5EF4-FFF2-40B4-BE49-F238E27FC236}">
                  <a16:creationId xmlns:a16="http://schemas.microsoft.com/office/drawing/2014/main" id="{A8DC607B-EEAF-4267-AC42-0F439DB52262}"/>
                </a:ext>
              </a:extLst>
            </p:cNvPr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0" name="Google Shape;450;p38">
              <a:extLst>
                <a:ext uri="{FF2B5EF4-FFF2-40B4-BE49-F238E27FC236}">
                  <a16:creationId xmlns:a16="http://schemas.microsoft.com/office/drawing/2014/main" id="{6B1B3D6D-9FE4-41ED-80E7-D8739C757E02}"/>
                </a:ext>
              </a:extLst>
            </p:cNvPr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1" name="Google Shape;452;p38">
            <a:extLst>
              <a:ext uri="{FF2B5EF4-FFF2-40B4-BE49-F238E27FC236}">
                <a16:creationId xmlns:a16="http://schemas.microsoft.com/office/drawing/2014/main" id="{FCE7507C-1F32-4B2C-862B-DCEB8C216A26}"/>
              </a:ext>
            </a:extLst>
          </p:cNvPr>
          <p:cNvSpPr/>
          <p:nvPr/>
        </p:nvSpPr>
        <p:spPr>
          <a:xfrm>
            <a:off x="8927701" y="1316293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2" name="Google Shape;456;p38">
            <a:extLst>
              <a:ext uri="{FF2B5EF4-FFF2-40B4-BE49-F238E27FC236}">
                <a16:creationId xmlns:a16="http://schemas.microsoft.com/office/drawing/2014/main" id="{49B3A6BF-03EE-4140-92C4-5011BCD86E32}"/>
              </a:ext>
            </a:extLst>
          </p:cNvPr>
          <p:cNvCxnSpPr>
            <a:cxnSpLocks/>
          </p:cNvCxnSpPr>
          <p:nvPr/>
        </p:nvCxnSpPr>
        <p:spPr>
          <a:xfrm rot="10800000" flipH="1">
            <a:off x="8402701" y="1614343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3" name="Google Shape;447;p38">
            <a:extLst>
              <a:ext uri="{FF2B5EF4-FFF2-40B4-BE49-F238E27FC236}">
                <a16:creationId xmlns:a16="http://schemas.microsoft.com/office/drawing/2014/main" id="{24967D5C-80FF-4297-AE08-44775252A6C3}"/>
              </a:ext>
            </a:extLst>
          </p:cNvPr>
          <p:cNvGrpSpPr/>
          <p:nvPr/>
        </p:nvGrpSpPr>
        <p:grpSpPr>
          <a:xfrm>
            <a:off x="7652113" y="3668669"/>
            <a:ext cx="749400" cy="1714875"/>
            <a:chOff x="8520500" y="1282075"/>
            <a:chExt cx="749400" cy="1714875"/>
          </a:xfrm>
        </p:grpSpPr>
        <p:sp>
          <p:nvSpPr>
            <p:cNvPr id="74" name="Google Shape;448;p38">
              <a:extLst>
                <a:ext uri="{FF2B5EF4-FFF2-40B4-BE49-F238E27FC236}">
                  <a16:creationId xmlns:a16="http://schemas.microsoft.com/office/drawing/2014/main" id="{7ACE35F5-30C5-4FA3-A9C0-77D1DCE87592}"/>
                </a:ext>
              </a:extLst>
            </p:cNvPr>
            <p:cNvSpPr txBox="1"/>
            <p:nvPr/>
          </p:nvSpPr>
          <p:spPr>
            <a:xfrm>
              <a:off x="8582450" y="1282075"/>
              <a:ext cx="625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Q2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5" name="Google Shape;449;p38">
              <a:extLst>
                <a:ext uri="{FF2B5EF4-FFF2-40B4-BE49-F238E27FC236}">
                  <a16:creationId xmlns:a16="http://schemas.microsoft.com/office/drawing/2014/main" id="{0DCF69E6-5111-4A68-9C67-E4BEDB855C98}"/>
                </a:ext>
              </a:extLst>
            </p:cNvPr>
            <p:cNvSpPr txBox="1"/>
            <p:nvPr/>
          </p:nvSpPr>
          <p:spPr>
            <a:xfrm>
              <a:off x="8520500" y="1875775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Q1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" name="Google Shape;450;p38">
              <a:extLst>
                <a:ext uri="{FF2B5EF4-FFF2-40B4-BE49-F238E27FC236}">
                  <a16:creationId xmlns:a16="http://schemas.microsoft.com/office/drawing/2014/main" id="{B0C681CC-D51D-4953-A2F8-AA0EEEB10FF8}"/>
                </a:ext>
              </a:extLst>
            </p:cNvPr>
            <p:cNvSpPr txBox="1"/>
            <p:nvPr/>
          </p:nvSpPr>
          <p:spPr>
            <a:xfrm>
              <a:off x="8520500" y="2442850"/>
              <a:ext cx="749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urier New"/>
                  <a:ea typeface="Courier New"/>
                  <a:cs typeface="Courier New"/>
                  <a:sym typeface="Courier New"/>
                </a:rPr>
                <a:t>Q0</a:t>
              </a:r>
              <a:endParaRPr sz="24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77" name="Google Shape;452;p38">
            <a:extLst>
              <a:ext uri="{FF2B5EF4-FFF2-40B4-BE49-F238E27FC236}">
                <a16:creationId xmlns:a16="http://schemas.microsoft.com/office/drawing/2014/main" id="{A1EAD381-6B59-4A16-9A86-F1751C8656C3}"/>
              </a:ext>
            </a:extLst>
          </p:cNvPr>
          <p:cNvSpPr/>
          <p:nvPr/>
        </p:nvSpPr>
        <p:spPr>
          <a:xfrm>
            <a:off x="8865751" y="3648354"/>
            <a:ext cx="608400" cy="5973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 b="1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78" name="Google Shape;456;p38">
            <a:extLst>
              <a:ext uri="{FF2B5EF4-FFF2-40B4-BE49-F238E27FC236}">
                <a16:creationId xmlns:a16="http://schemas.microsoft.com/office/drawing/2014/main" id="{46677966-D376-4944-AA15-EA1A72061B55}"/>
              </a:ext>
            </a:extLst>
          </p:cNvPr>
          <p:cNvCxnSpPr>
            <a:cxnSpLocks/>
          </p:cNvCxnSpPr>
          <p:nvPr/>
        </p:nvCxnSpPr>
        <p:spPr>
          <a:xfrm rot="10800000" flipH="1">
            <a:off x="8340751" y="3946404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9" name="Google Shape;452;p38">
            <a:extLst>
              <a:ext uri="{FF2B5EF4-FFF2-40B4-BE49-F238E27FC236}">
                <a16:creationId xmlns:a16="http://schemas.microsoft.com/office/drawing/2014/main" id="{47F5EDE7-C36C-4388-B1F6-D58159C76D54}"/>
              </a:ext>
            </a:extLst>
          </p:cNvPr>
          <p:cNvSpPr/>
          <p:nvPr/>
        </p:nvSpPr>
        <p:spPr>
          <a:xfrm>
            <a:off x="9973802" y="3648354"/>
            <a:ext cx="608400" cy="599796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 b="1"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80" name="Google Shape;456;p38">
            <a:extLst>
              <a:ext uri="{FF2B5EF4-FFF2-40B4-BE49-F238E27FC236}">
                <a16:creationId xmlns:a16="http://schemas.microsoft.com/office/drawing/2014/main" id="{451FFD49-A383-418F-9EC6-9E888DB6F732}"/>
              </a:ext>
            </a:extLst>
          </p:cNvPr>
          <p:cNvCxnSpPr>
            <a:cxnSpLocks/>
          </p:cNvCxnSpPr>
          <p:nvPr/>
        </p:nvCxnSpPr>
        <p:spPr>
          <a:xfrm flipV="1">
            <a:off x="9448802" y="3946404"/>
            <a:ext cx="525000" cy="1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279844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C22AE2D5-0D47-40D8-9ADB-7138694B152B}"/>
              </a:ext>
            </a:extLst>
          </p:cNvPr>
          <p:cNvGrpSpPr/>
          <p:nvPr/>
        </p:nvGrpSpPr>
        <p:grpSpPr>
          <a:xfrm>
            <a:off x="7606755" y="1693810"/>
            <a:ext cx="2930089" cy="1735190"/>
            <a:chOff x="7606755" y="1693810"/>
            <a:chExt cx="2930089" cy="1735190"/>
          </a:xfrm>
        </p:grpSpPr>
        <p:grpSp>
          <p:nvGrpSpPr>
            <p:cNvPr id="73" name="Google Shape;447;p38">
              <a:extLst>
                <a:ext uri="{FF2B5EF4-FFF2-40B4-BE49-F238E27FC236}">
                  <a16:creationId xmlns:a16="http://schemas.microsoft.com/office/drawing/2014/main" id="{24967D5C-80FF-4297-AE08-44775252A6C3}"/>
                </a:ext>
              </a:extLst>
            </p:cNvPr>
            <p:cNvGrpSpPr/>
            <p:nvPr/>
          </p:nvGrpSpPr>
          <p:grpSpPr>
            <a:xfrm>
              <a:off x="7606755" y="1714125"/>
              <a:ext cx="749400" cy="1714875"/>
              <a:chOff x="8520500" y="1282075"/>
              <a:chExt cx="749400" cy="1714875"/>
            </a:xfrm>
          </p:grpSpPr>
          <p:sp>
            <p:nvSpPr>
              <p:cNvPr id="74" name="Google Shape;448;p38">
                <a:extLst>
                  <a:ext uri="{FF2B5EF4-FFF2-40B4-BE49-F238E27FC236}">
                    <a16:creationId xmlns:a16="http://schemas.microsoft.com/office/drawing/2014/main" id="{7ACE35F5-30C5-4FA3-A9C0-77D1DCE87592}"/>
                  </a:ext>
                </a:extLst>
              </p:cNvPr>
              <p:cNvSpPr txBox="1"/>
              <p:nvPr/>
            </p:nvSpPr>
            <p:spPr>
              <a:xfrm>
                <a:off x="8582450" y="1282075"/>
                <a:ext cx="6255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 dirty="0">
                    <a:latin typeface="Courier New"/>
                    <a:ea typeface="Courier New"/>
                    <a:cs typeface="Courier New"/>
                    <a:sym typeface="Courier New"/>
                  </a:rPr>
                  <a:t>Q2</a:t>
                </a:r>
                <a:endParaRPr sz="24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5" name="Google Shape;449;p38">
                <a:extLst>
                  <a:ext uri="{FF2B5EF4-FFF2-40B4-BE49-F238E27FC236}">
                    <a16:creationId xmlns:a16="http://schemas.microsoft.com/office/drawing/2014/main" id="{0DCF69E6-5111-4A68-9C67-E4BEDB855C98}"/>
                  </a:ext>
                </a:extLst>
              </p:cNvPr>
              <p:cNvSpPr txBox="1"/>
              <p:nvPr/>
            </p:nvSpPr>
            <p:spPr>
              <a:xfrm>
                <a:off x="8520500" y="1875775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 dirty="0">
                    <a:latin typeface="Courier New"/>
                    <a:ea typeface="Courier New"/>
                    <a:cs typeface="Courier New"/>
                    <a:sym typeface="Courier New"/>
                  </a:rPr>
                  <a:t>Q1</a:t>
                </a:r>
                <a:endParaRPr sz="24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6" name="Google Shape;450;p38">
                <a:extLst>
                  <a:ext uri="{FF2B5EF4-FFF2-40B4-BE49-F238E27FC236}">
                    <a16:creationId xmlns:a16="http://schemas.microsoft.com/office/drawing/2014/main" id="{B0C681CC-D51D-4953-A2F8-AA0EEEB10FF8}"/>
                  </a:ext>
                </a:extLst>
              </p:cNvPr>
              <p:cNvSpPr txBox="1"/>
              <p:nvPr/>
            </p:nvSpPr>
            <p:spPr>
              <a:xfrm>
                <a:off x="8520500" y="2442850"/>
                <a:ext cx="749400" cy="55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400" b="1" dirty="0">
                    <a:latin typeface="Courier New"/>
                    <a:ea typeface="Courier New"/>
                    <a:cs typeface="Courier New"/>
                    <a:sym typeface="Courier New"/>
                  </a:rPr>
                  <a:t>Q0</a:t>
                </a:r>
                <a:endParaRPr sz="24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  <p:sp>
          <p:nvSpPr>
            <p:cNvPr id="77" name="Google Shape;452;p38">
              <a:extLst>
                <a:ext uri="{FF2B5EF4-FFF2-40B4-BE49-F238E27FC236}">
                  <a16:creationId xmlns:a16="http://schemas.microsoft.com/office/drawing/2014/main" id="{A1EAD381-6B59-4A16-9A86-F1751C8656C3}"/>
                </a:ext>
              </a:extLst>
            </p:cNvPr>
            <p:cNvSpPr/>
            <p:nvPr/>
          </p:nvSpPr>
          <p:spPr>
            <a:xfrm>
              <a:off x="8820393" y="1693810"/>
              <a:ext cx="608400" cy="5973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>
                  <a:latin typeface="Courier New"/>
                  <a:ea typeface="Courier New"/>
                  <a:cs typeface="Courier New"/>
                  <a:sym typeface="Courier New"/>
                </a:rPr>
                <a:t>A</a:t>
              </a:r>
              <a:endParaRPr sz="18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78" name="Google Shape;456;p38">
              <a:extLst>
                <a:ext uri="{FF2B5EF4-FFF2-40B4-BE49-F238E27FC236}">
                  <a16:creationId xmlns:a16="http://schemas.microsoft.com/office/drawing/2014/main" id="{46677966-D376-4944-AA15-EA1A72061B55}"/>
                </a:ext>
              </a:extLst>
            </p:cNvPr>
            <p:cNvCxnSpPr>
              <a:cxnSpLocks/>
            </p:cNvCxnSpPr>
            <p:nvPr/>
          </p:nvCxnSpPr>
          <p:spPr>
            <a:xfrm rot="10800000" flipH="1">
              <a:off x="8295393" y="1991860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9" name="Google Shape;452;p38">
              <a:extLst>
                <a:ext uri="{FF2B5EF4-FFF2-40B4-BE49-F238E27FC236}">
                  <a16:creationId xmlns:a16="http://schemas.microsoft.com/office/drawing/2014/main" id="{47F5EDE7-C36C-4388-B1F6-D58159C76D54}"/>
                </a:ext>
              </a:extLst>
            </p:cNvPr>
            <p:cNvSpPr/>
            <p:nvPr/>
          </p:nvSpPr>
          <p:spPr>
            <a:xfrm>
              <a:off x="9928444" y="1693810"/>
              <a:ext cx="608400" cy="59979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latin typeface="Courier New"/>
                  <a:ea typeface="Courier New"/>
                  <a:cs typeface="Courier New"/>
                  <a:sym typeface="Courier New"/>
                </a:rPr>
                <a:t>B</a:t>
              </a:r>
              <a:endParaRPr sz="18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80" name="Google Shape;456;p38">
              <a:extLst>
                <a:ext uri="{FF2B5EF4-FFF2-40B4-BE49-F238E27FC236}">
                  <a16:creationId xmlns:a16="http://schemas.microsoft.com/office/drawing/2014/main" id="{451FFD49-A383-418F-9EC6-9E888DB6F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3444" y="1991860"/>
              <a:ext cx="525000" cy="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82" name="Google Shape;516;p42">
            <a:extLst>
              <a:ext uri="{FF2B5EF4-FFF2-40B4-BE49-F238E27FC236}">
                <a16:creationId xmlns:a16="http://schemas.microsoft.com/office/drawing/2014/main" id="{4DC6E0D3-A69B-4904-8CF9-7C0299E7D3C4}"/>
              </a:ext>
            </a:extLst>
          </p:cNvPr>
          <p:cNvSpPr txBox="1">
            <a:spLocks/>
          </p:cNvSpPr>
          <p:nvPr/>
        </p:nvSpPr>
        <p:spPr>
          <a:xfrm>
            <a:off x="297660" y="910001"/>
            <a:ext cx="6827852" cy="344428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latin typeface="+mn-lt"/>
              </a:rPr>
              <a:t>Ejemplo 3 - Proceso I/O bound</a:t>
            </a:r>
            <a:endParaRPr lang="es-MX" sz="2400" dirty="0">
              <a:latin typeface="+mn-lt"/>
            </a:endParaRPr>
          </a:p>
          <a:p>
            <a:pPr indent="-3556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MX" sz="2000" dirty="0">
                <a:latin typeface="+mn-lt"/>
              </a:rPr>
              <a:t>MLFQ de 3 colas (Q2, Q1, Q0).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dirty="0">
                <a:latin typeface="+mn-lt"/>
              </a:rPr>
              <a:t>Quantum de 10 ms para cada cola.</a:t>
            </a:r>
          </a:p>
          <a:p>
            <a:pPr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dirty="0">
                <a:latin typeface="+mn-lt"/>
              </a:rPr>
              <a:t>Procesos:</a:t>
            </a:r>
          </a:p>
          <a:p>
            <a:pPr lvl="1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b="1" dirty="0">
                <a:latin typeface="+mn-lt"/>
              </a:rPr>
              <a:t>A</a:t>
            </a:r>
            <a:r>
              <a:rPr lang="es-MX" sz="2000" dirty="0">
                <a:latin typeface="+mn-lt"/>
              </a:rPr>
              <a:t>: 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Proceso con uso intensivo de la CPU (CPU-</a:t>
            </a:r>
            <a:r>
              <a:rPr lang="es-MX" dirty="0" err="1">
                <a:latin typeface="+mn-lt"/>
              </a:rPr>
              <a:t>bound</a:t>
            </a:r>
            <a:r>
              <a:rPr lang="es-MX" dirty="0">
                <a:latin typeface="+mn-lt"/>
              </a:rPr>
              <a:t>).</a:t>
            </a:r>
          </a:p>
          <a:p>
            <a:pPr lvl="1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sz="2000" b="1" dirty="0">
                <a:latin typeface="+mn-lt"/>
              </a:rPr>
              <a:t>B</a:t>
            </a:r>
            <a:r>
              <a:rPr lang="es-MX" sz="2000" dirty="0">
                <a:latin typeface="+mn-lt"/>
              </a:rPr>
              <a:t>: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Proceso I/O bound. 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Usa la CPU 1 ms y realiza una operación I/O.</a:t>
            </a:r>
          </a:p>
          <a:p>
            <a:pPr lvl="2" indent="-3556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MX" dirty="0">
                <a:latin typeface="+mn-lt"/>
              </a:rPr>
              <a:t>Llega en t = 50 ms.</a:t>
            </a: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17362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93" name="Google Shape;493;p40"/>
          <p:cNvSpPr txBox="1">
            <a:spLocks noGrp="1"/>
          </p:cNvSpPr>
          <p:nvPr>
            <p:ph type="body" idx="4294967295"/>
          </p:nvPr>
        </p:nvSpPr>
        <p:spPr>
          <a:xfrm>
            <a:off x="506229" y="5200202"/>
            <a:ext cx="5263283" cy="1385616"/>
          </a:xfrm>
          <a:prstGeom prst="rect">
            <a:avLst/>
          </a:prstGeom>
          <a:solidFill>
            <a:srgbClr val="EFEFEF"/>
          </a:solidFill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accent1"/>
                </a:solidFill>
              </a:rPr>
              <a:t>Análisis:</a:t>
            </a:r>
            <a:r>
              <a:rPr lang="es-ES" sz="2000" b="1" dirty="0">
                <a:solidFill>
                  <a:srgbClr val="E06666"/>
                </a:solidFill>
              </a:rPr>
              <a:t> </a:t>
            </a:r>
            <a:r>
              <a:rPr lang="es-ES" sz="2000" dirty="0"/>
              <a:t>El proceso </a:t>
            </a:r>
            <a:r>
              <a:rPr lang="es-ES" sz="2000" b="1" dirty="0">
                <a:solidFill>
                  <a:srgbClr val="0B6937"/>
                </a:solidFill>
              </a:rPr>
              <a:t>(Regla 3)</a:t>
            </a:r>
            <a:r>
              <a:rPr lang="es-ES" sz="2000" dirty="0"/>
              <a:t> empieza con la más alta prioridad y </a:t>
            </a:r>
            <a:r>
              <a:rPr lang="es-ES" sz="2000" b="1" dirty="0">
                <a:solidFill>
                  <a:srgbClr val="0B6937"/>
                </a:solidFill>
              </a:rPr>
              <a:t>(Regla 4) </a:t>
            </a:r>
            <a:r>
              <a:rPr lang="es-ES" sz="2000" dirty="0"/>
              <a:t>migra a una prioridad más baja cuando usa su quantum de tiempo en la cola en la que está </a:t>
            </a:r>
            <a:r>
              <a:rPr lang="es-ES" sz="2000" b="1" dirty="0">
                <a:solidFill>
                  <a:srgbClr val="FF0000"/>
                </a:solidFill>
              </a:rPr>
              <a:t>(Reglas 3 y 4a)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CA0822D8-1351-456F-BA63-E8B6634FF11A}"/>
              </a:ext>
            </a:extLst>
          </p:cNvPr>
          <p:cNvGrpSpPr/>
          <p:nvPr/>
        </p:nvGrpSpPr>
        <p:grpSpPr>
          <a:xfrm>
            <a:off x="808038" y="2264716"/>
            <a:ext cx="4729920" cy="2678396"/>
            <a:chOff x="808038" y="2037874"/>
            <a:chExt cx="4729920" cy="2678396"/>
          </a:xfrm>
        </p:grpSpPr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BF6728AB-9D16-41FD-91E0-6D65A5FDA28C}"/>
                </a:ext>
              </a:extLst>
            </p:cNvPr>
            <p:cNvSpPr txBox="1"/>
            <p:nvPr/>
          </p:nvSpPr>
          <p:spPr>
            <a:xfrm>
              <a:off x="4889769" y="2610666"/>
              <a:ext cx="580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988B29FA-1519-4A1E-B6DD-7819DB2468D4}"/>
                </a:ext>
              </a:extLst>
            </p:cNvPr>
            <p:cNvGrpSpPr/>
            <p:nvPr/>
          </p:nvGrpSpPr>
          <p:grpSpPr>
            <a:xfrm>
              <a:off x="1177442" y="2382475"/>
              <a:ext cx="2480084" cy="418481"/>
              <a:chOff x="3934951" y="4789478"/>
              <a:chExt cx="2480084" cy="831255"/>
            </a:xfrm>
          </p:grpSpPr>
          <p:cxnSp>
            <p:nvCxnSpPr>
              <p:cNvPr id="92" name="Conector recto 91">
                <a:extLst>
                  <a:ext uri="{FF2B5EF4-FFF2-40B4-BE49-F238E27FC236}">
                    <a16:creationId xmlns:a16="http://schemas.microsoft.com/office/drawing/2014/main" id="{5BDB5CA8-9540-4EBF-AE9F-8ECBB0FF1EEE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recto 92">
                <a:extLst>
                  <a:ext uri="{FF2B5EF4-FFF2-40B4-BE49-F238E27FC236}">
                    <a16:creationId xmlns:a16="http://schemas.microsoft.com/office/drawing/2014/main" id="{5AB7E896-2335-4467-B57B-372A800532A9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recto 93">
                <a:extLst>
                  <a:ext uri="{FF2B5EF4-FFF2-40B4-BE49-F238E27FC236}">
                    <a16:creationId xmlns:a16="http://schemas.microsoft.com/office/drawing/2014/main" id="{A45CFF24-2937-43CB-81FB-E2003D1A42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5" name="CuadroTexto 44">
              <a:extLst>
                <a:ext uri="{FF2B5EF4-FFF2-40B4-BE49-F238E27FC236}">
                  <a16:creationId xmlns:a16="http://schemas.microsoft.com/office/drawing/2014/main" id="{046E4C81-8B44-4964-ACB3-308D2C5CC4CB}"/>
                </a:ext>
              </a:extLst>
            </p:cNvPr>
            <p:cNvSpPr txBox="1"/>
            <p:nvPr/>
          </p:nvSpPr>
          <p:spPr>
            <a:xfrm>
              <a:off x="2182583" y="203787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2ED252A0-6334-48A5-B733-46C4B4A3BD4E}"/>
                </a:ext>
              </a:extLst>
            </p:cNvPr>
            <p:cNvGrpSpPr/>
            <p:nvPr/>
          </p:nvGrpSpPr>
          <p:grpSpPr>
            <a:xfrm>
              <a:off x="1175087" y="3331985"/>
              <a:ext cx="2480084" cy="418481"/>
              <a:chOff x="3934951" y="4789478"/>
              <a:chExt cx="2480084" cy="831255"/>
            </a:xfrm>
          </p:grpSpPr>
          <p:cxnSp>
            <p:nvCxnSpPr>
              <p:cNvPr id="89" name="Conector recto 88">
                <a:extLst>
                  <a:ext uri="{FF2B5EF4-FFF2-40B4-BE49-F238E27FC236}">
                    <a16:creationId xmlns:a16="http://schemas.microsoft.com/office/drawing/2014/main" id="{827A88AC-EE3F-481B-8EBA-85D0E9D22D68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recto 89">
                <a:extLst>
                  <a:ext uri="{FF2B5EF4-FFF2-40B4-BE49-F238E27FC236}">
                    <a16:creationId xmlns:a16="http://schemas.microsoft.com/office/drawing/2014/main" id="{3A4550FD-6D2D-4D88-8C31-88D2B8506C3B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Conector recto 90">
                <a:extLst>
                  <a:ext uri="{FF2B5EF4-FFF2-40B4-BE49-F238E27FC236}">
                    <a16:creationId xmlns:a16="http://schemas.microsoft.com/office/drawing/2014/main" id="{2FFA456D-A11C-48D1-8EE7-1C4BC1621F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CuadroTexto 46">
              <a:extLst>
                <a:ext uri="{FF2B5EF4-FFF2-40B4-BE49-F238E27FC236}">
                  <a16:creationId xmlns:a16="http://schemas.microsoft.com/office/drawing/2014/main" id="{60E2A5C1-FA9C-4586-8ADE-BB49C7C6AF87}"/>
                </a:ext>
              </a:extLst>
            </p:cNvPr>
            <p:cNvSpPr txBox="1"/>
            <p:nvPr/>
          </p:nvSpPr>
          <p:spPr>
            <a:xfrm>
              <a:off x="2180228" y="29873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48" name="Grupo 47">
              <a:extLst>
                <a:ext uri="{FF2B5EF4-FFF2-40B4-BE49-F238E27FC236}">
                  <a16:creationId xmlns:a16="http://schemas.microsoft.com/office/drawing/2014/main" id="{C919C64A-4601-4CEE-B6E3-3B72566B01EC}"/>
                </a:ext>
              </a:extLst>
            </p:cNvPr>
            <p:cNvGrpSpPr/>
            <p:nvPr/>
          </p:nvGrpSpPr>
          <p:grpSpPr>
            <a:xfrm>
              <a:off x="1172732" y="4297789"/>
              <a:ext cx="2480084" cy="418481"/>
              <a:chOff x="3934951" y="4789478"/>
              <a:chExt cx="2480084" cy="831255"/>
            </a:xfrm>
          </p:grpSpPr>
          <p:cxnSp>
            <p:nvCxnSpPr>
              <p:cNvPr id="86" name="Conector recto 85">
                <a:extLst>
                  <a:ext uri="{FF2B5EF4-FFF2-40B4-BE49-F238E27FC236}">
                    <a16:creationId xmlns:a16="http://schemas.microsoft.com/office/drawing/2014/main" id="{A8B967A2-643E-4CCD-B78D-AD7FB8327EAD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recto 86">
                <a:extLst>
                  <a:ext uri="{FF2B5EF4-FFF2-40B4-BE49-F238E27FC236}">
                    <a16:creationId xmlns:a16="http://schemas.microsoft.com/office/drawing/2014/main" id="{040EF7BF-AD0C-44B7-8B18-DB8DB1365C6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recto 87">
                <a:extLst>
                  <a:ext uri="{FF2B5EF4-FFF2-40B4-BE49-F238E27FC236}">
                    <a16:creationId xmlns:a16="http://schemas.microsoft.com/office/drawing/2014/main" id="{98F4BF25-497C-45A3-8DB3-1712A74633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CuadroTexto 53">
              <a:extLst>
                <a:ext uri="{FF2B5EF4-FFF2-40B4-BE49-F238E27FC236}">
                  <a16:creationId xmlns:a16="http://schemas.microsoft.com/office/drawing/2014/main" id="{71E7614B-FBAF-4F9D-AAE2-3EEEF6AF0AC6}"/>
                </a:ext>
              </a:extLst>
            </p:cNvPr>
            <p:cNvSpPr txBox="1"/>
            <p:nvPr/>
          </p:nvSpPr>
          <p:spPr>
            <a:xfrm>
              <a:off x="2177873" y="395318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7D131DF3-6668-4195-9B6E-91A726848D9E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8" y="2587295"/>
              <a:ext cx="36469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6" name="Grupo 55">
              <a:extLst>
                <a:ext uri="{FF2B5EF4-FFF2-40B4-BE49-F238E27FC236}">
                  <a16:creationId xmlns:a16="http://schemas.microsoft.com/office/drawing/2014/main" id="{CC499C1A-A4F0-4064-AA1E-EFD42E9D4FB4}"/>
                </a:ext>
              </a:extLst>
            </p:cNvPr>
            <p:cNvGrpSpPr/>
            <p:nvPr/>
          </p:nvGrpSpPr>
          <p:grpSpPr>
            <a:xfrm>
              <a:off x="808038" y="2721496"/>
              <a:ext cx="3139440" cy="825670"/>
              <a:chOff x="5090160" y="3201486"/>
              <a:chExt cx="3139440" cy="825670"/>
            </a:xfrm>
          </p:grpSpPr>
          <p:cxnSp>
            <p:nvCxnSpPr>
              <p:cNvPr id="76" name="Conector recto 75">
                <a:extLst>
                  <a:ext uri="{FF2B5EF4-FFF2-40B4-BE49-F238E27FC236}">
                    <a16:creationId xmlns:a16="http://schemas.microsoft.com/office/drawing/2014/main" id="{4CFE340D-9C1C-4AC0-AFF0-C643F56D93EC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recto 76">
                <a:extLst>
                  <a:ext uri="{FF2B5EF4-FFF2-40B4-BE49-F238E27FC236}">
                    <a16:creationId xmlns:a16="http://schemas.microsoft.com/office/drawing/2014/main" id="{C5B70E3F-224B-4929-B3E3-527CF5A599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EB001739-510A-4CAD-9440-A891A2B3756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EFC44ADF-F2E3-4659-B006-A5FFC5E6BD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C1898751-3FE1-44B2-AE2C-AA29E1072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3266C33D-309D-4858-95DE-44CFD6B5F728}"/>
                </a:ext>
              </a:extLst>
            </p:cNvPr>
            <p:cNvGrpSpPr/>
            <p:nvPr/>
          </p:nvGrpSpPr>
          <p:grpSpPr>
            <a:xfrm>
              <a:off x="808038" y="3674010"/>
              <a:ext cx="3139440" cy="825670"/>
              <a:chOff x="5090160" y="3201486"/>
              <a:chExt cx="3139440" cy="825670"/>
            </a:xfrm>
          </p:grpSpPr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6E8D41B1-E816-44C0-A8AE-BB5A45C1DA4A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B0ECB023-7AB5-41A6-AA9C-80823BB201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recto 72">
                <a:extLst>
                  <a:ext uri="{FF2B5EF4-FFF2-40B4-BE49-F238E27FC236}">
                    <a16:creationId xmlns:a16="http://schemas.microsoft.com/office/drawing/2014/main" id="{F5C5A128-5457-47E9-A38D-1F091ACA8DA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 recto 73">
                <a:extLst>
                  <a:ext uri="{FF2B5EF4-FFF2-40B4-BE49-F238E27FC236}">
                    <a16:creationId xmlns:a16="http://schemas.microsoft.com/office/drawing/2014/main" id="{EA4FFC93-2E8A-4741-82EA-ECC4CA263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recto 74">
                <a:extLst>
                  <a:ext uri="{FF2B5EF4-FFF2-40B4-BE49-F238E27FC236}">
                    <a16:creationId xmlns:a16="http://schemas.microsoft.com/office/drawing/2014/main" id="{3D7C734B-C77E-4525-AAE4-B780F8EF2F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5" name="Conector recto 64">
              <a:extLst>
                <a:ext uri="{FF2B5EF4-FFF2-40B4-BE49-F238E27FC236}">
                  <a16:creationId xmlns:a16="http://schemas.microsoft.com/office/drawing/2014/main" id="{6036598F-D2E5-4741-81E1-E576C43293CF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257534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Conector recto 65">
              <a:extLst>
                <a:ext uri="{FF2B5EF4-FFF2-40B4-BE49-F238E27FC236}">
                  <a16:creationId xmlns:a16="http://schemas.microsoft.com/office/drawing/2014/main" id="{5FBD9AF4-26EB-44F4-B5D6-99A9725503B9}"/>
                </a:ext>
              </a:extLst>
            </p:cNvPr>
            <p:cNvCxnSpPr>
              <a:cxnSpLocks/>
            </p:cNvCxnSpPr>
            <p:nvPr/>
          </p:nvCxnSpPr>
          <p:spPr>
            <a:xfrm>
              <a:off x="3650460" y="3517242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Conector recto 66">
              <a:extLst>
                <a:ext uri="{FF2B5EF4-FFF2-40B4-BE49-F238E27FC236}">
                  <a16:creationId xmlns:a16="http://schemas.microsoft.com/office/drawing/2014/main" id="{7096A0F1-AFB6-45C3-8250-A945B0BBD5F9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450702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Rectángulo 101">
              <a:extLst>
                <a:ext uri="{FF2B5EF4-FFF2-40B4-BE49-F238E27FC236}">
                  <a16:creationId xmlns:a16="http://schemas.microsoft.com/office/drawing/2014/main" id="{EDB62A52-1909-480D-A8D5-AC94525D16C6}"/>
                </a:ext>
              </a:extLst>
            </p:cNvPr>
            <p:cNvSpPr/>
            <p:nvPr/>
          </p:nvSpPr>
          <p:spPr>
            <a:xfrm>
              <a:off x="4807655" y="3099585"/>
              <a:ext cx="730303" cy="6642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graphicFrame>
        <p:nvGraphicFramePr>
          <p:cNvPr id="103" name="Google Shape;657;p48">
            <a:extLst>
              <a:ext uri="{FF2B5EF4-FFF2-40B4-BE49-F238E27FC236}">
                <a16:creationId xmlns:a16="http://schemas.microsoft.com/office/drawing/2014/main" id="{F62655CA-1FD2-4065-9171-3AF8458081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6678802"/>
              </p:ext>
            </p:extLst>
          </p:nvPr>
        </p:nvGraphicFramePr>
        <p:xfrm>
          <a:off x="1088913" y="1398461"/>
          <a:ext cx="4201875" cy="7924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0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Proceso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Arrival time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dirty="0"/>
                        <a:t>Run-time</a:t>
                      </a:r>
                      <a:endParaRPr sz="1400" b="1" dirty="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</a:rPr>
                        <a:t>A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</a:rPr>
                        <a:t>0</a:t>
                      </a:r>
                      <a:endParaRPr sz="140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dirty="0">
                          <a:solidFill>
                            <a:schemeClr val="tx1"/>
                          </a:solidFill>
                        </a:rPr>
                        <a:t>200 +</a:t>
                      </a:r>
                      <a:endParaRPr sz="1400" dirty="0">
                        <a:solidFill>
                          <a:schemeClr val="tx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99E7A-E118-4000-A59B-C71559246B7B}"/>
                  </a:ext>
                </a:extLst>
              </p:cNvPr>
              <p:cNvSpPr txBox="1"/>
              <p:nvPr/>
            </p:nvSpPr>
            <p:spPr>
              <a:xfrm>
                <a:off x="2584814" y="2362392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AA99E7A-E118-4000-A59B-C71559246B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4" y="2362392"/>
                <a:ext cx="605037" cy="161583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70BD0E03-DE64-4208-9701-CCB338AF0637}"/>
                  </a:ext>
                </a:extLst>
              </p:cNvPr>
              <p:cNvSpPr txBox="1"/>
              <p:nvPr/>
            </p:nvSpPr>
            <p:spPr>
              <a:xfrm>
                <a:off x="2584814" y="3340805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4" name="CuadroTexto 103">
                <a:extLst>
                  <a:ext uri="{FF2B5EF4-FFF2-40B4-BE49-F238E27FC236}">
                    <a16:creationId xmlns:a16="http://schemas.microsoft.com/office/drawing/2014/main" id="{70BD0E03-DE64-4208-9701-CCB338AF0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814" y="3340805"/>
                <a:ext cx="605037" cy="161583"/>
              </a:xfrm>
              <a:prstGeom prst="rect">
                <a:avLst/>
              </a:prstGeom>
              <a:blipFill>
                <a:blip r:embed="rId5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29B1C021-DB37-48D2-B417-EF6AFE515E39}"/>
                  </a:ext>
                </a:extLst>
              </p:cNvPr>
              <p:cNvSpPr txBox="1"/>
              <p:nvPr/>
            </p:nvSpPr>
            <p:spPr>
              <a:xfrm>
                <a:off x="2599665" y="4305697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29B1C021-DB37-48D2-B417-EF6AFE515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9665" y="4305697"/>
                <a:ext cx="605037" cy="161583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Google Shape;491;p40">
            <a:extLst>
              <a:ext uri="{FF2B5EF4-FFF2-40B4-BE49-F238E27FC236}">
                <a16:creationId xmlns:a16="http://schemas.microsoft.com/office/drawing/2014/main" id="{13137B81-24D0-4421-A216-BF7C97ADE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3075" y="782944"/>
            <a:ext cx="5768625" cy="51728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 1 - Proceso CPU bound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D550BDAD-DA31-4131-B7ED-8F4D130D1BAE}"/>
              </a:ext>
            </a:extLst>
          </p:cNvPr>
          <p:cNvGrpSpPr/>
          <p:nvPr/>
        </p:nvGrpSpPr>
        <p:grpSpPr>
          <a:xfrm>
            <a:off x="6228368" y="5215428"/>
            <a:ext cx="5574950" cy="1381742"/>
            <a:chOff x="6228368" y="5215428"/>
            <a:chExt cx="5574950" cy="1381742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C30AE30A-A0F0-4B6D-BCE9-2C6D0A6E06B9}"/>
                </a:ext>
              </a:extLst>
            </p:cNvPr>
            <p:cNvGrpSpPr/>
            <p:nvPr/>
          </p:nvGrpSpPr>
          <p:grpSpPr>
            <a:xfrm>
              <a:off x="6853295" y="5215428"/>
              <a:ext cx="4950023" cy="1381742"/>
              <a:chOff x="6853295" y="5215428"/>
              <a:chExt cx="4950023" cy="1381742"/>
            </a:xfrm>
          </p:grpSpPr>
          <p:grpSp>
            <p:nvGrpSpPr>
              <p:cNvPr id="28" name="Grupo 27">
                <a:extLst>
                  <a:ext uri="{FF2B5EF4-FFF2-40B4-BE49-F238E27FC236}">
                    <a16:creationId xmlns:a16="http://schemas.microsoft.com/office/drawing/2014/main" id="{D4237962-ED6A-407C-AA6E-F0746C12CC55}"/>
                  </a:ext>
                </a:extLst>
              </p:cNvPr>
              <p:cNvGrpSpPr/>
              <p:nvPr/>
            </p:nvGrpSpPr>
            <p:grpSpPr>
              <a:xfrm>
                <a:off x="6990775" y="5215428"/>
                <a:ext cx="4392264" cy="1018644"/>
                <a:chOff x="6286570" y="5198935"/>
                <a:chExt cx="2767550" cy="1159914"/>
              </a:xfrm>
            </p:grpSpPr>
            <p:cxnSp>
              <p:nvCxnSpPr>
                <p:cNvPr id="59" name="Conector recto de flecha 58">
                  <a:extLst>
                    <a:ext uri="{FF2B5EF4-FFF2-40B4-BE49-F238E27FC236}">
                      <a16:creationId xmlns:a16="http://schemas.microsoft.com/office/drawing/2014/main" id="{6B30692F-2D44-4E46-A12A-5387D21184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6570" y="6358849"/>
                  <a:ext cx="276755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" name="Conector recto de flecha 59">
                  <a:extLst>
                    <a:ext uri="{FF2B5EF4-FFF2-40B4-BE49-F238E27FC236}">
                      <a16:creationId xmlns:a16="http://schemas.microsoft.com/office/drawing/2014/main" id="{8EC28D9D-2024-4269-8E8A-2AE0E5C8EC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90072" y="5198935"/>
                  <a:ext cx="4917" cy="115267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CuadroTexto 28">
                <a:extLst>
                  <a:ext uri="{FF2B5EF4-FFF2-40B4-BE49-F238E27FC236}">
                    <a16:creationId xmlns:a16="http://schemas.microsoft.com/office/drawing/2014/main" id="{6F858957-282E-43C6-9619-D7D03E168CB1}"/>
                  </a:ext>
                </a:extLst>
              </p:cNvPr>
              <p:cNvSpPr txBox="1"/>
              <p:nvPr/>
            </p:nvSpPr>
            <p:spPr>
              <a:xfrm>
                <a:off x="11383039" y="6081424"/>
                <a:ext cx="420279" cy="324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/>
                  <a:t>t</a:t>
                </a:r>
                <a:endParaRPr lang="es-CO" b="1" dirty="0"/>
              </a:p>
            </p:txBody>
          </p: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57D6F1A8-E6CF-42AE-B80C-D915CD8CE0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6358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7DE8BF89-EF57-4FC3-BF24-5BC3B46E9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5258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EE017045-E945-4CB5-A38D-EB835D985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258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77BB9175-D25F-430A-95E9-AC6A5CF3E0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66339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F510B4C9-31ED-4889-973A-5243BB6CB0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0281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>
                <a:extLst>
                  <a:ext uri="{FF2B5EF4-FFF2-40B4-BE49-F238E27FC236}">
                    <a16:creationId xmlns:a16="http://schemas.microsoft.com/office/drawing/2014/main" id="{0BA655C8-03EC-4448-98D3-7D9EE506EC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286626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05729970-FA42-49F7-8139-87C15099F0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5132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37">
                <a:extLst>
                  <a:ext uri="{FF2B5EF4-FFF2-40B4-BE49-F238E27FC236}">
                    <a16:creationId xmlns:a16="http://schemas.microsoft.com/office/drawing/2014/main" id="{6BACC030-8824-49AF-93C7-CD3F999447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192427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0F5A93AB-21E7-470E-A7AB-8861DBC1B3F1}"/>
                  </a:ext>
                </a:extLst>
              </p:cNvPr>
              <p:cNvSpPr txBox="1"/>
              <p:nvPr/>
            </p:nvSpPr>
            <p:spPr>
              <a:xfrm>
                <a:off x="6853295" y="6278041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0</a:t>
                </a:r>
                <a:endParaRPr lang="es-CO" sz="1400" b="1" dirty="0"/>
              </a:p>
            </p:txBody>
          </p:sp>
          <p:sp>
            <p:nvSpPr>
              <p:cNvPr id="50" name="CuadroTexto 49">
                <a:extLst>
                  <a:ext uri="{FF2B5EF4-FFF2-40B4-BE49-F238E27FC236}">
                    <a16:creationId xmlns:a16="http://schemas.microsoft.com/office/drawing/2014/main" id="{F4D8862B-56BE-47A4-A72F-662C7FFA65EA}"/>
                  </a:ext>
                </a:extLst>
              </p:cNvPr>
              <p:cNvSpPr txBox="1"/>
              <p:nvPr/>
            </p:nvSpPr>
            <p:spPr>
              <a:xfrm>
                <a:off x="7742654" y="628939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50</a:t>
                </a:r>
                <a:endParaRPr lang="es-CO" sz="1400" b="1" dirty="0"/>
              </a:p>
            </p:txBody>
          </p:sp>
          <p:sp>
            <p:nvSpPr>
              <p:cNvPr id="51" name="CuadroTexto 50">
                <a:extLst>
                  <a:ext uri="{FF2B5EF4-FFF2-40B4-BE49-F238E27FC236}">
                    <a16:creationId xmlns:a16="http://schemas.microsoft.com/office/drawing/2014/main" id="{3B8A4F72-A9B9-4DD7-A02E-DF2256A791EC}"/>
                  </a:ext>
                </a:extLst>
              </p:cNvPr>
              <p:cNvSpPr txBox="1"/>
              <p:nvPr/>
            </p:nvSpPr>
            <p:spPr>
              <a:xfrm>
                <a:off x="8613236" y="6278041"/>
                <a:ext cx="4587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100</a:t>
                </a:r>
                <a:endParaRPr lang="es-CO" sz="1400" b="1" dirty="0"/>
              </a:p>
            </p:txBody>
          </p:sp>
          <p:sp>
            <p:nvSpPr>
              <p:cNvPr id="52" name="CuadroTexto 51">
                <a:extLst>
                  <a:ext uri="{FF2B5EF4-FFF2-40B4-BE49-F238E27FC236}">
                    <a16:creationId xmlns:a16="http://schemas.microsoft.com/office/drawing/2014/main" id="{CB80C6AC-9D08-40F0-8B37-9CDB833BA612}"/>
                  </a:ext>
                </a:extLst>
              </p:cNvPr>
              <p:cNvSpPr txBox="1"/>
              <p:nvPr/>
            </p:nvSpPr>
            <p:spPr>
              <a:xfrm>
                <a:off x="9520995" y="6274880"/>
                <a:ext cx="4587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150</a:t>
                </a:r>
                <a:endParaRPr lang="es-CO" sz="1400" b="1" dirty="0"/>
              </a:p>
            </p:txBody>
          </p:sp>
          <p:sp>
            <p:nvSpPr>
              <p:cNvPr id="53" name="CuadroTexto 52">
                <a:extLst>
                  <a:ext uri="{FF2B5EF4-FFF2-40B4-BE49-F238E27FC236}">
                    <a16:creationId xmlns:a16="http://schemas.microsoft.com/office/drawing/2014/main" id="{0E4CB712-37FD-4235-817D-4D926A9CB482}"/>
                  </a:ext>
                </a:extLst>
              </p:cNvPr>
              <p:cNvSpPr txBox="1"/>
              <p:nvPr/>
            </p:nvSpPr>
            <p:spPr>
              <a:xfrm>
                <a:off x="10441554" y="6269727"/>
                <a:ext cx="45878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200</a:t>
                </a:r>
                <a:endParaRPr lang="es-CO" sz="1400" b="1" dirty="0"/>
              </a:p>
            </p:txBody>
          </p:sp>
          <p:cxnSp>
            <p:nvCxnSpPr>
              <p:cNvPr id="69" name="Conector recto 68">
                <a:extLst>
                  <a:ext uri="{FF2B5EF4-FFF2-40B4-BE49-F238E27FC236}">
                    <a16:creationId xmlns:a16="http://schemas.microsoft.com/office/drawing/2014/main" id="{9B01FF8C-71EF-4DCD-B6FA-1C770D852F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28365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Conector recto 69">
                <a:extLst>
                  <a:ext uri="{FF2B5EF4-FFF2-40B4-BE49-F238E27FC236}">
                    <a16:creationId xmlns:a16="http://schemas.microsoft.com/office/drawing/2014/main" id="{F1090F71-2B70-43F7-AFDA-9980B9B855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71904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45223DE7-CC30-4C04-B304-E381018B55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45759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96" name="Google Shape;309;p30">
              <a:extLst>
                <a:ext uri="{FF2B5EF4-FFF2-40B4-BE49-F238E27FC236}">
                  <a16:creationId xmlns:a16="http://schemas.microsoft.com/office/drawing/2014/main" id="{99861EDF-6B30-4683-BFF4-9DDC33905A28}"/>
                </a:ext>
              </a:extLst>
            </p:cNvPr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228368" y="5542024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7" name="Imagen 96">
            <a:extLst>
              <a:ext uri="{FF2B5EF4-FFF2-40B4-BE49-F238E27FC236}">
                <a16:creationId xmlns:a16="http://schemas.microsoft.com/office/drawing/2014/main" id="{4B4877A7-1774-4C20-A2F8-94442C0AB2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9184" y="879250"/>
            <a:ext cx="4484566" cy="4141109"/>
          </a:xfrm>
          <a:prstGeom prst="rect">
            <a:avLst/>
          </a:prstGeom>
        </p:spPr>
      </p:pic>
      <p:grpSp>
        <p:nvGrpSpPr>
          <p:cNvPr id="98" name="Google Shape;494;p40">
            <a:extLst>
              <a:ext uri="{FF2B5EF4-FFF2-40B4-BE49-F238E27FC236}">
                <a16:creationId xmlns:a16="http://schemas.microsoft.com/office/drawing/2014/main" id="{58EEBCD8-4240-4C9E-867A-E2713FD5EB0F}"/>
              </a:ext>
            </a:extLst>
          </p:cNvPr>
          <p:cNvGrpSpPr/>
          <p:nvPr/>
        </p:nvGrpSpPr>
        <p:grpSpPr>
          <a:xfrm>
            <a:off x="10643834" y="1008950"/>
            <a:ext cx="787300" cy="461700"/>
            <a:chOff x="10792175" y="1437025"/>
            <a:chExt cx="787300" cy="461700"/>
          </a:xfrm>
        </p:grpSpPr>
        <p:sp>
          <p:nvSpPr>
            <p:cNvPr id="100" name="Google Shape;495;p40">
              <a:extLst>
                <a:ext uri="{FF2B5EF4-FFF2-40B4-BE49-F238E27FC236}">
                  <a16:creationId xmlns:a16="http://schemas.microsoft.com/office/drawing/2014/main" id="{5D2D3C46-D56F-4E16-8778-0F3F384E60A6}"/>
                </a:ext>
              </a:extLst>
            </p:cNvPr>
            <p:cNvSpPr/>
            <p:nvPr/>
          </p:nvSpPr>
          <p:spPr>
            <a:xfrm>
              <a:off x="11300175" y="1521775"/>
              <a:ext cx="279300" cy="292200"/>
            </a:xfrm>
            <a:prstGeom prst="rect">
              <a:avLst/>
            </a:prstGeom>
            <a:solidFill>
              <a:schemeClr val="dk1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496;p40">
              <a:extLst>
                <a:ext uri="{FF2B5EF4-FFF2-40B4-BE49-F238E27FC236}">
                  <a16:creationId xmlns:a16="http://schemas.microsoft.com/office/drawing/2014/main" id="{EE83FC6C-C801-4C81-8330-D9CAD99B2294}"/>
                </a:ext>
              </a:extLst>
            </p:cNvPr>
            <p:cNvSpPr txBox="1"/>
            <p:nvPr/>
          </p:nvSpPr>
          <p:spPr>
            <a:xfrm>
              <a:off x="10792175" y="1437025"/>
              <a:ext cx="3810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/>
                <a:t>A</a:t>
              </a:r>
              <a:endParaRPr sz="1800" b="1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7E24C44C-09A7-45C6-A92D-E6EC04BA6A3D}"/>
                  </a:ext>
                </a:extLst>
              </p:cNvPr>
              <p:cNvSpPr txBox="1"/>
              <p:nvPr/>
            </p:nvSpPr>
            <p:spPr>
              <a:xfrm>
                <a:off x="6309902" y="1755377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7E24C44C-09A7-45C6-A92D-E6EC04BA6A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02" y="1755377"/>
                <a:ext cx="605037" cy="161583"/>
              </a:xfrm>
              <a:prstGeom prst="rect">
                <a:avLst/>
              </a:prstGeom>
              <a:blipFill>
                <a:blip r:embed="rId9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269A84A9-1901-4403-94CA-2D666733675D}"/>
                  </a:ext>
                </a:extLst>
              </p:cNvPr>
              <p:cNvSpPr txBox="1"/>
              <p:nvPr/>
            </p:nvSpPr>
            <p:spPr>
              <a:xfrm>
                <a:off x="6297940" y="3002403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269A84A9-1901-4403-94CA-2D6667336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940" y="3002403"/>
                <a:ext cx="605037" cy="161583"/>
              </a:xfrm>
              <a:prstGeom prst="rect">
                <a:avLst/>
              </a:prstGeom>
              <a:blipFill>
                <a:blip r:embed="rId10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574D5FB4-EE65-4996-B026-0A23B9E86CA4}"/>
                  </a:ext>
                </a:extLst>
              </p:cNvPr>
              <p:cNvSpPr txBox="1"/>
              <p:nvPr/>
            </p:nvSpPr>
            <p:spPr>
              <a:xfrm>
                <a:off x="6334259" y="4197151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574D5FB4-EE65-4996-B026-0A23B9E86C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4259" y="4197151"/>
                <a:ext cx="605037" cy="161583"/>
              </a:xfrm>
              <a:prstGeom prst="rect">
                <a:avLst/>
              </a:prstGeom>
              <a:blipFill>
                <a:blip r:embed="rId11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9175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1"/>
          <p:cNvSpPr txBox="1">
            <a:spLocks noGrp="1"/>
          </p:cNvSpPr>
          <p:nvPr>
            <p:ph type="title"/>
          </p:nvPr>
        </p:nvSpPr>
        <p:spPr>
          <a:xfrm>
            <a:off x="535650" y="96050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02" name="Google Shape;502;p41"/>
          <p:cNvSpPr txBox="1">
            <a:spLocks noGrp="1"/>
          </p:cNvSpPr>
          <p:nvPr>
            <p:ph type="body" idx="1"/>
          </p:nvPr>
        </p:nvSpPr>
        <p:spPr>
          <a:xfrm>
            <a:off x="489024" y="891148"/>
            <a:ext cx="6014575" cy="5458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b="1" dirty="0">
                <a:latin typeface="+mn-lt"/>
              </a:rPr>
              <a:t>Ejemplo 2 - Llega un proceso corto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2" name="Google Shape;1306;p83">
            <a:extLst>
              <a:ext uri="{FF2B5EF4-FFF2-40B4-BE49-F238E27FC236}">
                <a16:creationId xmlns:a16="http://schemas.microsoft.com/office/drawing/2014/main" id="{A901B778-C99E-4F55-B2C5-0AA0D8CAF0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4925400"/>
              </p:ext>
            </p:extLst>
          </p:nvPr>
        </p:nvGraphicFramePr>
        <p:xfrm>
          <a:off x="1156520" y="1696623"/>
          <a:ext cx="3463272" cy="12800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8947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853">
                  <a:extLst>
                    <a:ext uri="{9D8B030D-6E8A-4147-A177-3AD203B41FA5}">
                      <a16:colId xmlns:a16="http://schemas.microsoft.com/office/drawing/2014/main" val="3511923196"/>
                    </a:ext>
                  </a:extLst>
                </a:gridCol>
                <a:gridCol w="13456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159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/>
                        <a:t>Arrival time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Run-time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200 +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8773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100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None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922785F0-9CF6-48A9-AB7A-58C78FD7D33F}"/>
              </a:ext>
            </a:extLst>
          </p:cNvPr>
          <p:cNvGrpSpPr/>
          <p:nvPr/>
        </p:nvGrpSpPr>
        <p:grpSpPr>
          <a:xfrm>
            <a:off x="920512" y="3288456"/>
            <a:ext cx="4729920" cy="2678396"/>
            <a:chOff x="808038" y="2037874"/>
            <a:chExt cx="4729920" cy="2678396"/>
          </a:xfrm>
        </p:grpSpPr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2F1D7962-2214-4F76-A1D6-CBA88BF86190}"/>
                </a:ext>
              </a:extLst>
            </p:cNvPr>
            <p:cNvSpPr txBox="1"/>
            <p:nvPr/>
          </p:nvSpPr>
          <p:spPr>
            <a:xfrm>
              <a:off x="4889769" y="2610666"/>
              <a:ext cx="5806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grpSp>
          <p:nvGrpSpPr>
            <p:cNvPr id="15" name="Grupo 14">
              <a:extLst>
                <a:ext uri="{FF2B5EF4-FFF2-40B4-BE49-F238E27FC236}">
                  <a16:creationId xmlns:a16="http://schemas.microsoft.com/office/drawing/2014/main" id="{AB319240-2A22-4710-92B6-E449C51BCD67}"/>
                </a:ext>
              </a:extLst>
            </p:cNvPr>
            <p:cNvGrpSpPr/>
            <p:nvPr/>
          </p:nvGrpSpPr>
          <p:grpSpPr>
            <a:xfrm>
              <a:off x="1177442" y="2382475"/>
              <a:ext cx="2480084" cy="418481"/>
              <a:chOff x="3934951" y="4789478"/>
              <a:chExt cx="2480084" cy="831255"/>
            </a:xfrm>
          </p:grpSpPr>
          <p:cxnSp>
            <p:nvCxnSpPr>
              <p:cNvPr id="44" name="Conector recto 43">
                <a:extLst>
                  <a:ext uri="{FF2B5EF4-FFF2-40B4-BE49-F238E27FC236}">
                    <a16:creationId xmlns:a16="http://schemas.microsoft.com/office/drawing/2014/main" id="{9E4D305C-91D9-416B-AC08-9AC4B4438B05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454E3D94-0ACC-4222-A5F0-6F5D08AD0B0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90BF60A5-24E8-4CFD-85F5-49F836D945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B88FE6A5-0A52-422F-BEF4-AB5118C4CE27}"/>
                </a:ext>
              </a:extLst>
            </p:cNvPr>
            <p:cNvSpPr txBox="1"/>
            <p:nvPr/>
          </p:nvSpPr>
          <p:spPr>
            <a:xfrm>
              <a:off x="2182583" y="203787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Q2</a:t>
              </a: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18B8631A-DADB-48F9-A0D5-C75E3EB62647}"/>
                </a:ext>
              </a:extLst>
            </p:cNvPr>
            <p:cNvGrpSpPr/>
            <p:nvPr/>
          </p:nvGrpSpPr>
          <p:grpSpPr>
            <a:xfrm>
              <a:off x="1175087" y="3331985"/>
              <a:ext cx="2480084" cy="418481"/>
              <a:chOff x="3934951" y="4789478"/>
              <a:chExt cx="2480084" cy="831255"/>
            </a:xfrm>
          </p:grpSpPr>
          <p:cxnSp>
            <p:nvCxnSpPr>
              <p:cNvPr id="41" name="Conector recto 40">
                <a:extLst>
                  <a:ext uri="{FF2B5EF4-FFF2-40B4-BE49-F238E27FC236}">
                    <a16:creationId xmlns:a16="http://schemas.microsoft.com/office/drawing/2014/main" id="{AE69C216-6A23-4134-8E89-90DD151865E4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Conector recto 41">
                <a:extLst>
                  <a:ext uri="{FF2B5EF4-FFF2-40B4-BE49-F238E27FC236}">
                    <a16:creationId xmlns:a16="http://schemas.microsoft.com/office/drawing/2014/main" id="{F6B3F8C4-20C8-4E8F-85F5-E932B1DA5AD9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Conector recto 42">
                <a:extLst>
                  <a:ext uri="{FF2B5EF4-FFF2-40B4-BE49-F238E27FC236}">
                    <a16:creationId xmlns:a16="http://schemas.microsoft.com/office/drawing/2014/main" id="{A3ED4554-28DB-46A9-95F5-1D54AC27E3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5865B61E-3B7F-4E8F-A07E-F9E9B34E6500}"/>
                </a:ext>
              </a:extLst>
            </p:cNvPr>
            <p:cNvSpPr txBox="1"/>
            <p:nvPr/>
          </p:nvSpPr>
          <p:spPr>
            <a:xfrm>
              <a:off x="2180228" y="2987384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Q1</a:t>
              </a:r>
            </a:p>
          </p:txBody>
        </p:sp>
        <p:grpSp>
          <p:nvGrpSpPr>
            <p:cNvPr id="19" name="Grupo 18">
              <a:extLst>
                <a:ext uri="{FF2B5EF4-FFF2-40B4-BE49-F238E27FC236}">
                  <a16:creationId xmlns:a16="http://schemas.microsoft.com/office/drawing/2014/main" id="{0764A0F4-5EE7-4FAB-A3A4-782796F7C7AF}"/>
                </a:ext>
              </a:extLst>
            </p:cNvPr>
            <p:cNvGrpSpPr/>
            <p:nvPr/>
          </p:nvGrpSpPr>
          <p:grpSpPr>
            <a:xfrm>
              <a:off x="1172732" y="4297789"/>
              <a:ext cx="2480084" cy="418481"/>
              <a:chOff x="3934951" y="4789478"/>
              <a:chExt cx="2480084" cy="831255"/>
            </a:xfrm>
          </p:grpSpPr>
          <p:cxnSp>
            <p:nvCxnSpPr>
              <p:cNvPr id="38" name="Conector recto 37">
                <a:extLst>
                  <a:ext uri="{FF2B5EF4-FFF2-40B4-BE49-F238E27FC236}">
                    <a16:creationId xmlns:a16="http://schemas.microsoft.com/office/drawing/2014/main" id="{886F93C8-D595-43B9-8E13-FF7BD65122EB}"/>
                  </a:ext>
                </a:extLst>
              </p:cNvPr>
              <p:cNvCxnSpPr/>
              <p:nvPr/>
            </p:nvCxnSpPr>
            <p:spPr>
              <a:xfrm>
                <a:off x="3934952" y="4795063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38">
                <a:extLst>
                  <a:ext uri="{FF2B5EF4-FFF2-40B4-BE49-F238E27FC236}">
                    <a16:creationId xmlns:a16="http://schemas.microsoft.com/office/drawing/2014/main" id="{01C8B7CE-03F8-43FC-8CE8-BCC6B1279221}"/>
                  </a:ext>
                </a:extLst>
              </p:cNvPr>
              <p:cNvCxnSpPr/>
              <p:nvPr/>
            </p:nvCxnSpPr>
            <p:spPr>
              <a:xfrm>
                <a:off x="3934951" y="5609561"/>
                <a:ext cx="2477729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Conector recto 39">
                <a:extLst>
                  <a:ext uri="{FF2B5EF4-FFF2-40B4-BE49-F238E27FC236}">
                    <a16:creationId xmlns:a16="http://schemas.microsoft.com/office/drawing/2014/main" id="{CCE4C495-0AA2-4F89-8729-7D5C6A5460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415035" y="4789478"/>
                <a:ext cx="0" cy="831255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2F760791-243C-4C82-9DE6-5CF0BB58DE10}"/>
                </a:ext>
              </a:extLst>
            </p:cNvPr>
            <p:cNvSpPr txBox="1"/>
            <p:nvPr/>
          </p:nvSpPr>
          <p:spPr>
            <a:xfrm>
              <a:off x="2177873" y="395318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Q0</a:t>
              </a:r>
            </a:p>
          </p:txBody>
        </p: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2E3B3098-00AE-4390-A81C-0C99E34331A3}"/>
                </a:ext>
              </a:extLst>
            </p:cNvPr>
            <p:cNvCxnSpPr>
              <a:cxnSpLocks/>
            </p:cNvCxnSpPr>
            <p:nvPr/>
          </p:nvCxnSpPr>
          <p:spPr>
            <a:xfrm>
              <a:off x="808038" y="2587295"/>
              <a:ext cx="364694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A70783F6-8B49-4453-B32D-BF00EB26995B}"/>
                </a:ext>
              </a:extLst>
            </p:cNvPr>
            <p:cNvGrpSpPr/>
            <p:nvPr/>
          </p:nvGrpSpPr>
          <p:grpSpPr>
            <a:xfrm>
              <a:off x="808038" y="2721496"/>
              <a:ext cx="3139440" cy="825670"/>
              <a:chOff x="5090160" y="3201486"/>
              <a:chExt cx="3139440" cy="825670"/>
            </a:xfrm>
          </p:grpSpPr>
          <p:cxnSp>
            <p:nvCxnSpPr>
              <p:cNvPr id="33" name="Conector recto 32">
                <a:extLst>
                  <a:ext uri="{FF2B5EF4-FFF2-40B4-BE49-F238E27FC236}">
                    <a16:creationId xmlns:a16="http://schemas.microsoft.com/office/drawing/2014/main" id="{799B9120-D944-48C0-86C3-B98464332AFD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Conector recto 33">
                <a:extLst>
                  <a:ext uri="{FF2B5EF4-FFF2-40B4-BE49-F238E27FC236}">
                    <a16:creationId xmlns:a16="http://schemas.microsoft.com/office/drawing/2014/main" id="{AD7F868F-BDAF-485F-B311-B7565954E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Conector recto 34">
                <a:extLst>
                  <a:ext uri="{FF2B5EF4-FFF2-40B4-BE49-F238E27FC236}">
                    <a16:creationId xmlns:a16="http://schemas.microsoft.com/office/drawing/2014/main" id="{4CABBCC3-5E39-4CBB-9D54-6BBFAB9931C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ector recto 35">
                <a:extLst>
                  <a:ext uri="{FF2B5EF4-FFF2-40B4-BE49-F238E27FC236}">
                    <a16:creationId xmlns:a16="http://schemas.microsoft.com/office/drawing/2014/main" id="{C60736A0-5A17-4A6C-ADCB-EA3AD3E2F5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Conector recto 36">
                <a:extLst>
                  <a:ext uri="{FF2B5EF4-FFF2-40B4-BE49-F238E27FC236}">
                    <a16:creationId xmlns:a16="http://schemas.microsoft.com/office/drawing/2014/main" id="{06CCF2FC-D37B-422C-B121-0C5C1C67F0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upo 22">
              <a:extLst>
                <a:ext uri="{FF2B5EF4-FFF2-40B4-BE49-F238E27FC236}">
                  <a16:creationId xmlns:a16="http://schemas.microsoft.com/office/drawing/2014/main" id="{A15CD851-E9EF-43F2-A846-7FBF04F6DC26}"/>
                </a:ext>
              </a:extLst>
            </p:cNvPr>
            <p:cNvGrpSpPr/>
            <p:nvPr/>
          </p:nvGrpSpPr>
          <p:grpSpPr>
            <a:xfrm>
              <a:off x="808038" y="3674010"/>
              <a:ext cx="3139440" cy="825670"/>
              <a:chOff x="5090160" y="3201486"/>
              <a:chExt cx="3139440" cy="825670"/>
            </a:xfrm>
          </p:grpSpPr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2AE3FE9A-4295-42A8-ADC4-9F25D7BAB9EB}"/>
                  </a:ext>
                </a:extLst>
              </p:cNvPr>
              <p:cNvCxnSpPr/>
              <p:nvPr/>
            </p:nvCxnSpPr>
            <p:spPr>
              <a:xfrm>
                <a:off x="7932583" y="3201486"/>
                <a:ext cx="297017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0BC4BFC0-85BE-4F77-9A99-2432BD8112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3139440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Conector recto 29">
                <a:extLst>
                  <a:ext uri="{FF2B5EF4-FFF2-40B4-BE49-F238E27FC236}">
                    <a16:creationId xmlns:a16="http://schemas.microsoft.com/office/drawing/2014/main" id="{111B1707-3992-4612-9BE1-C52884912E4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219718" y="3201486"/>
                <a:ext cx="3532" cy="26971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64026B1F-DA00-43DA-8775-599EE1344B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3471201"/>
                <a:ext cx="0" cy="5559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C95E0377-9E30-4F2F-9E61-CBC7646215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90160" y="4020622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251680FA-59F0-4345-BDEF-C1B376565C0D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257534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894A6E94-A7A1-49F5-8653-B9B046F8F1F1}"/>
                </a:ext>
              </a:extLst>
            </p:cNvPr>
            <p:cNvCxnSpPr>
              <a:cxnSpLocks/>
            </p:cNvCxnSpPr>
            <p:nvPr/>
          </p:nvCxnSpPr>
          <p:spPr>
            <a:xfrm>
              <a:off x="3650460" y="3517242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DEBD13C-CECC-4A40-884E-6810550BC5F0}"/>
                </a:ext>
              </a:extLst>
            </p:cNvPr>
            <p:cNvCxnSpPr>
              <a:cxnSpLocks/>
            </p:cNvCxnSpPr>
            <p:nvPr/>
          </p:nvCxnSpPr>
          <p:spPr>
            <a:xfrm>
              <a:off x="3657526" y="4507029"/>
              <a:ext cx="653699" cy="0"/>
            </a:xfrm>
            <a:prstGeom prst="line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ángulo 26">
              <a:extLst>
                <a:ext uri="{FF2B5EF4-FFF2-40B4-BE49-F238E27FC236}">
                  <a16:creationId xmlns:a16="http://schemas.microsoft.com/office/drawing/2014/main" id="{5DAEB3E2-1BD7-4BA8-B24F-8BEB2EECDCF9}"/>
                </a:ext>
              </a:extLst>
            </p:cNvPr>
            <p:cNvSpPr/>
            <p:nvPr/>
          </p:nvSpPr>
          <p:spPr>
            <a:xfrm>
              <a:off x="4807655" y="3099585"/>
              <a:ext cx="730303" cy="66422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 dirty="0"/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F42AAA1-4EC7-4ED1-8F1A-2776B1203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8854" y="923714"/>
            <a:ext cx="4644950" cy="4150394"/>
          </a:xfrm>
          <a:prstGeom prst="rect">
            <a:avLst/>
          </a:prstGeom>
        </p:spPr>
      </p:pic>
      <p:grpSp>
        <p:nvGrpSpPr>
          <p:cNvPr id="49" name="Google Shape;504;p41">
            <a:extLst>
              <a:ext uri="{FF2B5EF4-FFF2-40B4-BE49-F238E27FC236}">
                <a16:creationId xmlns:a16="http://schemas.microsoft.com/office/drawing/2014/main" id="{26904522-ECE0-4A7A-A521-C24CE8DB4900}"/>
              </a:ext>
            </a:extLst>
          </p:cNvPr>
          <p:cNvGrpSpPr/>
          <p:nvPr/>
        </p:nvGrpSpPr>
        <p:grpSpPr>
          <a:xfrm>
            <a:off x="10818578" y="1006566"/>
            <a:ext cx="787300" cy="1048500"/>
            <a:chOff x="10792175" y="1437025"/>
            <a:chExt cx="787300" cy="1048500"/>
          </a:xfrm>
        </p:grpSpPr>
        <p:grpSp>
          <p:nvGrpSpPr>
            <p:cNvPr id="50" name="Google Shape;505;p41">
              <a:extLst>
                <a:ext uri="{FF2B5EF4-FFF2-40B4-BE49-F238E27FC236}">
                  <a16:creationId xmlns:a16="http://schemas.microsoft.com/office/drawing/2014/main" id="{6725A865-97C9-49F1-B76C-E3B803BB8A08}"/>
                </a:ext>
              </a:extLst>
            </p:cNvPr>
            <p:cNvGrpSpPr/>
            <p:nvPr/>
          </p:nvGrpSpPr>
          <p:grpSpPr>
            <a:xfrm>
              <a:off x="10792175" y="1437025"/>
              <a:ext cx="787300" cy="461700"/>
              <a:chOff x="10792175" y="1437025"/>
              <a:chExt cx="787300" cy="461700"/>
            </a:xfrm>
          </p:grpSpPr>
          <p:sp>
            <p:nvSpPr>
              <p:cNvPr id="54" name="Google Shape;506;p41">
                <a:extLst>
                  <a:ext uri="{FF2B5EF4-FFF2-40B4-BE49-F238E27FC236}">
                    <a16:creationId xmlns:a16="http://schemas.microsoft.com/office/drawing/2014/main" id="{791525BD-1102-40DD-B5FA-714C984EE937}"/>
                  </a:ext>
                </a:extLst>
              </p:cNvPr>
              <p:cNvSpPr/>
              <p:nvPr/>
            </p:nvSpPr>
            <p:spPr>
              <a:xfrm>
                <a:off x="11300175" y="1521775"/>
                <a:ext cx="279300" cy="2922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07;p41">
                <a:extLst>
                  <a:ext uri="{FF2B5EF4-FFF2-40B4-BE49-F238E27FC236}">
                    <a16:creationId xmlns:a16="http://schemas.microsoft.com/office/drawing/2014/main" id="{8E845916-6AEC-4AFE-AADD-D8E4EBADCC0E}"/>
                  </a:ext>
                </a:extLst>
              </p:cNvPr>
              <p:cNvSpPr txBox="1"/>
              <p:nvPr/>
            </p:nvSpPr>
            <p:spPr>
              <a:xfrm>
                <a:off x="10792175" y="14370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A</a:t>
                </a:r>
                <a:endParaRPr sz="1800" b="1"/>
              </a:p>
            </p:txBody>
          </p:sp>
        </p:grpSp>
        <p:grpSp>
          <p:nvGrpSpPr>
            <p:cNvPr id="51" name="Google Shape;508;p41">
              <a:extLst>
                <a:ext uri="{FF2B5EF4-FFF2-40B4-BE49-F238E27FC236}">
                  <a16:creationId xmlns:a16="http://schemas.microsoft.com/office/drawing/2014/main" id="{654AF53F-6187-4ED5-9815-A30081EB5678}"/>
                </a:ext>
              </a:extLst>
            </p:cNvPr>
            <p:cNvGrpSpPr/>
            <p:nvPr/>
          </p:nvGrpSpPr>
          <p:grpSpPr>
            <a:xfrm>
              <a:off x="10792175" y="2023825"/>
              <a:ext cx="787300" cy="461700"/>
              <a:chOff x="10792175" y="2023825"/>
              <a:chExt cx="787300" cy="461700"/>
            </a:xfrm>
          </p:grpSpPr>
          <p:sp>
            <p:nvSpPr>
              <p:cNvPr id="52" name="Google Shape;509;p41">
                <a:extLst>
                  <a:ext uri="{FF2B5EF4-FFF2-40B4-BE49-F238E27FC236}">
                    <a16:creationId xmlns:a16="http://schemas.microsoft.com/office/drawing/2014/main" id="{69A8CCD0-373B-4176-BC2E-B82BA8CDE1CE}"/>
                  </a:ext>
                </a:extLst>
              </p:cNvPr>
              <p:cNvSpPr/>
              <p:nvPr/>
            </p:nvSpPr>
            <p:spPr>
              <a:xfrm>
                <a:off x="11300175" y="2093275"/>
                <a:ext cx="279300" cy="292200"/>
              </a:xfrm>
              <a:prstGeom prst="rect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10;p41">
                <a:extLst>
                  <a:ext uri="{FF2B5EF4-FFF2-40B4-BE49-F238E27FC236}">
                    <a16:creationId xmlns:a16="http://schemas.microsoft.com/office/drawing/2014/main" id="{EE337671-F922-464C-8B0A-612C78E64B04}"/>
                  </a:ext>
                </a:extLst>
              </p:cNvPr>
              <p:cNvSpPr txBox="1"/>
              <p:nvPr/>
            </p:nvSpPr>
            <p:spPr>
              <a:xfrm>
                <a:off x="10792175" y="20238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B</a:t>
                </a:r>
                <a:endParaRPr sz="1800" b="1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A1B092E-8B24-4D6B-9911-0F2CD1EBF66F}"/>
                  </a:ext>
                </a:extLst>
              </p:cNvPr>
              <p:cNvSpPr txBox="1"/>
              <p:nvPr/>
            </p:nvSpPr>
            <p:spPr>
              <a:xfrm>
                <a:off x="2750729" y="3404455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56" name="CuadroTexto 55">
                <a:extLst>
                  <a:ext uri="{FF2B5EF4-FFF2-40B4-BE49-F238E27FC236}">
                    <a16:creationId xmlns:a16="http://schemas.microsoft.com/office/drawing/2014/main" id="{8A1B092E-8B24-4D6B-9911-0F2CD1EBF6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9" y="3404455"/>
                <a:ext cx="605037" cy="161583"/>
              </a:xfrm>
              <a:prstGeom prst="rect">
                <a:avLst/>
              </a:prstGeom>
              <a:blipFill>
                <a:blip r:embed="rId4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A6E0181-D4A7-473A-B272-99A16DC85488}"/>
                  </a:ext>
                </a:extLst>
              </p:cNvPr>
              <p:cNvSpPr txBox="1"/>
              <p:nvPr/>
            </p:nvSpPr>
            <p:spPr>
              <a:xfrm>
                <a:off x="2750729" y="4370656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4A6E0181-D4A7-473A-B272-99A16DC854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9" y="4370656"/>
                <a:ext cx="605037" cy="161583"/>
              </a:xfrm>
              <a:prstGeom prst="rect">
                <a:avLst/>
              </a:prstGeom>
              <a:blipFill>
                <a:blip r:embed="rId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17B39CB-B66D-4314-82E7-0AE4DAA7C096}"/>
                  </a:ext>
                </a:extLst>
              </p:cNvPr>
              <p:cNvSpPr txBox="1"/>
              <p:nvPr/>
            </p:nvSpPr>
            <p:spPr>
              <a:xfrm>
                <a:off x="2750728" y="5335832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58" name="CuadroTexto 57">
                <a:extLst>
                  <a:ext uri="{FF2B5EF4-FFF2-40B4-BE49-F238E27FC236}">
                    <a16:creationId xmlns:a16="http://schemas.microsoft.com/office/drawing/2014/main" id="{717B39CB-B66D-4314-82E7-0AE4DAA7C0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0728" y="5335832"/>
                <a:ext cx="605037" cy="161583"/>
              </a:xfrm>
              <a:prstGeom prst="rect">
                <a:avLst/>
              </a:prstGeom>
              <a:blipFill>
                <a:blip r:embed="rId6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upo 1">
            <a:extLst>
              <a:ext uri="{FF2B5EF4-FFF2-40B4-BE49-F238E27FC236}">
                <a16:creationId xmlns:a16="http://schemas.microsoft.com/office/drawing/2014/main" id="{7E3FA0AC-7C48-4A14-9742-D4760AAB0F40}"/>
              </a:ext>
            </a:extLst>
          </p:cNvPr>
          <p:cNvGrpSpPr/>
          <p:nvPr/>
        </p:nvGrpSpPr>
        <p:grpSpPr>
          <a:xfrm>
            <a:off x="6853295" y="5185932"/>
            <a:ext cx="4950023" cy="1381742"/>
            <a:chOff x="6853295" y="5185932"/>
            <a:chExt cx="4950023" cy="1381742"/>
          </a:xfrm>
        </p:grpSpPr>
        <p:grpSp>
          <p:nvGrpSpPr>
            <p:cNvPr id="79" name="Grupo 78">
              <a:extLst>
                <a:ext uri="{FF2B5EF4-FFF2-40B4-BE49-F238E27FC236}">
                  <a16:creationId xmlns:a16="http://schemas.microsoft.com/office/drawing/2014/main" id="{4CA9DFBA-7AC8-423F-B007-799ECB2A8576}"/>
                </a:ext>
              </a:extLst>
            </p:cNvPr>
            <p:cNvGrpSpPr/>
            <p:nvPr/>
          </p:nvGrpSpPr>
          <p:grpSpPr>
            <a:xfrm>
              <a:off x="6990775" y="5185932"/>
              <a:ext cx="4392264" cy="1018644"/>
              <a:chOff x="6286570" y="5198935"/>
              <a:chExt cx="2767550" cy="1159914"/>
            </a:xfrm>
          </p:grpSpPr>
          <p:cxnSp>
            <p:nvCxnSpPr>
              <p:cNvPr id="98" name="Conector recto de flecha 97">
                <a:extLst>
                  <a:ext uri="{FF2B5EF4-FFF2-40B4-BE49-F238E27FC236}">
                    <a16:creationId xmlns:a16="http://schemas.microsoft.com/office/drawing/2014/main" id="{514B1211-3786-4371-8524-96BA62199A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49"/>
                <a:ext cx="276755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recto de flecha 98">
                <a:extLst>
                  <a:ext uri="{FF2B5EF4-FFF2-40B4-BE49-F238E27FC236}">
                    <a16:creationId xmlns:a16="http://schemas.microsoft.com/office/drawing/2014/main" id="{5B786CE5-C2D9-4809-B9A0-95A8AB0591E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4103AF42-4F4C-4232-94CB-92ACC7025724}"/>
                </a:ext>
              </a:extLst>
            </p:cNvPr>
            <p:cNvSpPr txBox="1"/>
            <p:nvPr/>
          </p:nvSpPr>
          <p:spPr>
            <a:xfrm>
              <a:off x="11383039" y="6051928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/>
                <a:t>t</a:t>
              </a:r>
              <a:endParaRPr lang="es-CO" b="1" dirty="0"/>
            </a:p>
          </p:txBody>
        </p:sp>
        <p:cxnSp>
          <p:nvCxnSpPr>
            <p:cNvPr id="82" name="Conector recto 81">
              <a:extLst>
                <a:ext uri="{FF2B5EF4-FFF2-40B4-BE49-F238E27FC236}">
                  <a16:creationId xmlns:a16="http://schemas.microsoft.com/office/drawing/2014/main" id="{B65B3CD5-1870-4172-B348-C0010DF5EA7B}"/>
                </a:ext>
              </a:extLst>
            </p:cNvPr>
            <p:cNvCxnSpPr>
              <a:cxnSpLocks/>
            </p:cNvCxnSpPr>
            <p:nvPr/>
          </p:nvCxnSpPr>
          <p:spPr>
            <a:xfrm>
              <a:off x="7926358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Conector recto 82">
              <a:extLst>
                <a:ext uri="{FF2B5EF4-FFF2-40B4-BE49-F238E27FC236}">
                  <a16:creationId xmlns:a16="http://schemas.microsoft.com/office/drawing/2014/main" id="{7702FF1A-7CB3-41BC-8F89-A38A8BC416F5}"/>
                </a:ext>
              </a:extLst>
            </p:cNvPr>
            <p:cNvCxnSpPr>
              <a:cxnSpLocks/>
            </p:cNvCxnSpPr>
            <p:nvPr/>
          </p:nvCxnSpPr>
          <p:spPr>
            <a:xfrm>
              <a:off x="7355258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Conector recto 83">
              <a:extLst>
                <a:ext uri="{FF2B5EF4-FFF2-40B4-BE49-F238E27FC236}">
                  <a16:creationId xmlns:a16="http://schemas.microsoft.com/office/drawing/2014/main" id="{D94A60A2-5DF7-4EDC-91E9-9B64CEEB7B18}"/>
                </a:ext>
              </a:extLst>
            </p:cNvPr>
            <p:cNvCxnSpPr>
              <a:cxnSpLocks/>
            </p:cNvCxnSpPr>
            <p:nvPr/>
          </p:nvCxnSpPr>
          <p:spPr>
            <a:xfrm>
              <a:off x="8844258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ector recto 84">
              <a:extLst>
                <a:ext uri="{FF2B5EF4-FFF2-40B4-BE49-F238E27FC236}">
                  <a16:creationId xmlns:a16="http://schemas.microsoft.com/office/drawing/2014/main" id="{D7ABA5D5-5691-43E2-9E92-13DA452A8E5A}"/>
                </a:ext>
              </a:extLst>
            </p:cNvPr>
            <p:cNvCxnSpPr>
              <a:cxnSpLocks/>
            </p:cNvCxnSpPr>
            <p:nvPr/>
          </p:nvCxnSpPr>
          <p:spPr>
            <a:xfrm>
              <a:off x="8366339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Conector recto 85">
              <a:extLst>
                <a:ext uri="{FF2B5EF4-FFF2-40B4-BE49-F238E27FC236}">
                  <a16:creationId xmlns:a16="http://schemas.microsoft.com/office/drawing/2014/main" id="{F4C72BBA-D8AB-4C56-965B-0C653ED58937}"/>
                </a:ext>
              </a:extLst>
            </p:cNvPr>
            <p:cNvCxnSpPr>
              <a:cxnSpLocks/>
            </p:cNvCxnSpPr>
            <p:nvPr/>
          </p:nvCxnSpPr>
          <p:spPr>
            <a:xfrm>
              <a:off x="9750281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25D808A6-9D6D-48B6-9666-9BB5A597A0DE}"/>
                </a:ext>
              </a:extLst>
            </p:cNvPr>
            <p:cNvCxnSpPr>
              <a:cxnSpLocks/>
            </p:cNvCxnSpPr>
            <p:nvPr/>
          </p:nvCxnSpPr>
          <p:spPr>
            <a:xfrm>
              <a:off x="10675132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5E570B14-435C-42CE-9167-40757CD22D34}"/>
                </a:ext>
              </a:extLst>
            </p:cNvPr>
            <p:cNvCxnSpPr>
              <a:cxnSpLocks/>
            </p:cNvCxnSpPr>
            <p:nvPr/>
          </p:nvCxnSpPr>
          <p:spPr>
            <a:xfrm>
              <a:off x="10192427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CuadroTexto 89">
              <a:extLst>
                <a:ext uri="{FF2B5EF4-FFF2-40B4-BE49-F238E27FC236}">
                  <a16:creationId xmlns:a16="http://schemas.microsoft.com/office/drawing/2014/main" id="{D90F4C32-147E-4C78-BBEA-6167F89CCA07}"/>
                </a:ext>
              </a:extLst>
            </p:cNvPr>
            <p:cNvSpPr txBox="1"/>
            <p:nvPr/>
          </p:nvSpPr>
          <p:spPr>
            <a:xfrm>
              <a:off x="6853295" y="6248545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0</a:t>
              </a:r>
              <a:endParaRPr lang="es-CO" sz="1400" b="1" dirty="0"/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A3542AD8-E58A-44A4-B032-E5AF0E6C086D}"/>
                </a:ext>
              </a:extLst>
            </p:cNvPr>
            <p:cNvSpPr txBox="1"/>
            <p:nvPr/>
          </p:nvSpPr>
          <p:spPr>
            <a:xfrm>
              <a:off x="7742654" y="6259897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50</a:t>
              </a:r>
              <a:endParaRPr lang="es-CO" sz="1400" b="1" dirty="0"/>
            </a:p>
          </p:txBody>
        </p:sp>
        <p:sp>
          <p:nvSpPr>
            <p:cNvPr id="92" name="CuadroTexto 91">
              <a:extLst>
                <a:ext uri="{FF2B5EF4-FFF2-40B4-BE49-F238E27FC236}">
                  <a16:creationId xmlns:a16="http://schemas.microsoft.com/office/drawing/2014/main" id="{F1C599D0-3CB0-44A0-A2F2-88DF0BFF5114}"/>
                </a:ext>
              </a:extLst>
            </p:cNvPr>
            <p:cNvSpPr txBox="1"/>
            <p:nvPr/>
          </p:nvSpPr>
          <p:spPr>
            <a:xfrm>
              <a:off x="8613236" y="6248545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100</a:t>
              </a:r>
              <a:endParaRPr lang="es-CO" sz="1400" b="1" dirty="0"/>
            </a:p>
          </p:txBody>
        </p:sp>
        <p:sp>
          <p:nvSpPr>
            <p:cNvPr id="93" name="CuadroTexto 92">
              <a:extLst>
                <a:ext uri="{FF2B5EF4-FFF2-40B4-BE49-F238E27FC236}">
                  <a16:creationId xmlns:a16="http://schemas.microsoft.com/office/drawing/2014/main" id="{8204AD62-533F-4BCC-86E5-7CF224289D42}"/>
                </a:ext>
              </a:extLst>
            </p:cNvPr>
            <p:cNvSpPr txBox="1"/>
            <p:nvPr/>
          </p:nvSpPr>
          <p:spPr>
            <a:xfrm>
              <a:off x="9520995" y="624538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150</a:t>
              </a:r>
              <a:endParaRPr lang="es-CO" sz="1400" b="1" dirty="0"/>
            </a:p>
          </p:txBody>
        </p:sp>
        <p:sp>
          <p:nvSpPr>
            <p:cNvPr id="94" name="CuadroTexto 93">
              <a:extLst>
                <a:ext uri="{FF2B5EF4-FFF2-40B4-BE49-F238E27FC236}">
                  <a16:creationId xmlns:a16="http://schemas.microsoft.com/office/drawing/2014/main" id="{CB789B17-25B0-44AC-91B9-6B1F416B7AEF}"/>
                </a:ext>
              </a:extLst>
            </p:cNvPr>
            <p:cNvSpPr txBox="1"/>
            <p:nvPr/>
          </p:nvSpPr>
          <p:spPr>
            <a:xfrm>
              <a:off x="10441554" y="624023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200</a:t>
              </a:r>
              <a:endParaRPr lang="es-CO" sz="1400" b="1" dirty="0"/>
            </a:p>
          </p:txBody>
        </p:sp>
        <p:cxnSp>
          <p:nvCxnSpPr>
            <p:cNvPr id="95" name="Conector recto 94">
              <a:extLst>
                <a:ext uri="{FF2B5EF4-FFF2-40B4-BE49-F238E27FC236}">
                  <a16:creationId xmlns:a16="http://schemas.microsoft.com/office/drawing/2014/main" id="{02314D8A-5466-43D8-8F0D-CBD9FC0272A5}"/>
                </a:ext>
              </a:extLst>
            </p:cNvPr>
            <p:cNvCxnSpPr>
              <a:cxnSpLocks/>
            </p:cNvCxnSpPr>
            <p:nvPr/>
          </p:nvCxnSpPr>
          <p:spPr>
            <a:xfrm>
              <a:off x="7728365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recto 95">
              <a:extLst>
                <a:ext uri="{FF2B5EF4-FFF2-40B4-BE49-F238E27FC236}">
                  <a16:creationId xmlns:a16="http://schemas.microsoft.com/office/drawing/2014/main" id="{6B2C9364-810F-4723-895B-B492E1B1F0C1}"/>
                </a:ext>
              </a:extLst>
            </p:cNvPr>
            <p:cNvCxnSpPr>
              <a:cxnSpLocks/>
            </p:cNvCxnSpPr>
            <p:nvPr/>
          </p:nvCxnSpPr>
          <p:spPr>
            <a:xfrm>
              <a:off x="7171904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recto 96">
              <a:extLst>
                <a:ext uri="{FF2B5EF4-FFF2-40B4-BE49-F238E27FC236}">
                  <a16:creationId xmlns:a16="http://schemas.microsoft.com/office/drawing/2014/main" id="{BA33B95D-4B75-49E6-8935-39620D2FD8B3}"/>
                </a:ext>
              </a:extLst>
            </p:cNvPr>
            <p:cNvCxnSpPr>
              <a:cxnSpLocks/>
            </p:cNvCxnSpPr>
            <p:nvPr/>
          </p:nvCxnSpPr>
          <p:spPr>
            <a:xfrm>
              <a:off x="7545759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AF60CBE3-F36E-4D50-9CDD-EAF01B969D14}"/>
                </a:ext>
              </a:extLst>
            </p:cNvPr>
            <p:cNvCxnSpPr>
              <a:cxnSpLocks/>
            </p:cNvCxnSpPr>
            <p:nvPr/>
          </p:nvCxnSpPr>
          <p:spPr>
            <a:xfrm>
              <a:off x="9203108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29B3B147-EE94-4968-BED4-13EC21463715}"/>
                </a:ext>
              </a:extLst>
            </p:cNvPr>
            <p:cNvCxnSpPr>
              <a:cxnSpLocks/>
            </p:cNvCxnSpPr>
            <p:nvPr/>
          </p:nvCxnSpPr>
          <p:spPr>
            <a:xfrm>
              <a:off x="9576215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2C545CD6-5926-47E4-9376-A992F37B73DC}"/>
                </a:ext>
              </a:extLst>
            </p:cNvPr>
            <p:cNvCxnSpPr>
              <a:cxnSpLocks/>
            </p:cNvCxnSpPr>
            <p:nvPr/>
          </p:nvCxnSpPr>
          <p:spPr>
            <a:xfrm>
              <a:off x="9019754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recto 102">
              <a:extLst>
                <a:ext uri="{FF2B5EF4-FFF2-40B4-BE49-F238E27FC236}">
                  <a16:creationId xmlns:a16="http://schemas.microsoft.com/office/drawing/2014/main" id="{2A8B206C-76BE-4037-AA88-8D6D86D1F055}"/>
                </a:ext>
              </a:extLst>
            </p:cNvPr>
            <p:cNvCxnSpPr>
              <a:cxnSpLocks/>
            </p:cNvCxnSpPr>
            <p:nvPr/>
          </p:nvCxnSpPr>
          <p:spPr>
            <a:xfrm>
              <a:off x="9393609" y="6108810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4" name="Google Shape;309;p30">
            <a:extLst>
              <a:ext uri="{FF2B5EF4-FFF2-40B4-BE49-F238E27FC236}">
                <a16:creationId xmlns:a16="http://schemas.microsoft.com/office/drawing/2014/main" id="{9CAFE2E5-3D87-4F61-8334-B29D791C31E1}"/>
              </a:ext>
            </a:extLst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187227" y="5460243"/>
            <a:ext cx="570560" cy="5394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D009739B-2F20-459A-983A-BF1C1C176391}"/>
                  </a:ext>
                </a:extLst>
              </p:cNvPr>
              <p:cNvSpPr txBox="1"/>
              <p:nvPr/>
            </p:nvSpPr>
            <p:spPr>
              <a:xfrm>
                <a:off x="6309902" y="1755377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D009739B-2F20-459A-983A-BF1C1C1763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9902" y="1755377"/>
                <a:ext cx="605037" cy="161583"/>
              </a:xfrm>
              <a:prstGeom prst="rect">
                <a:avLst/>
              </a:prstGeom>
              <a:blipFill>
                <a:blip r:embed="rId4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53561A59-5395-4302-B425-B7E2BB6FE635}"/>
                  </a:ext>
                </a:extLst>
              </p:cNvPr>
              <p:cNvSpPr txBox="1"/>
              <p:nvPr/>
            </p:nvSpPr>
            <p:spPr>
              <a:xfrm>
                <a:off x="6359262" y="2984919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53561A59-5395-4302-B425-B7E2BB6FE6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9262" y="2984919"/>
                <a:ext cx="605037" cy="161583"/>
              </a:xfrm>
              <a:prstGeom prst="rect">
                <a:avLst/>
              </a:prstGeom>
              <a:blipFill>
                <a:blip r:embed="rId8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B35D003A-1204-4014-A70F-B9B74CEE9BAF}"/>
                  </a:ext>
                </a:extLst>
              </p:cNvPr>
              <p:cNvSpPr txBox="1"/>
              <p:nvPr/>
            </p:nvSpPr>
            <p:spPr>
              <a:xfrm>
                <a:off x="6350887" y="4240147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B35D003A-1204-4014-A70F-B9B74CEE9B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887" y="4240147"/>
                <a:ext cx="605037" cy="161583"/>
              </a:xfrm>
              <a:prstGeom prst="rect">
                <a:avLst/>
              </a:prstGeom>
              <a:blipFill>
                <a:blip r:embed="rId9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6" name="Google Shape;491;p40">
            <a:extLst>
              <a:ext uri="{FF2B5EF4-FFF2-40B4-BE49-F238E27FC236}">
                <a16:creationId xmlns:a16="http://schemas.microsoft.com/office/drawing/2014/main" id="{13137B81-24D0-4421-A216-BF7C97ADEF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13075" y="887731"/>
            <a:ext cx="5768625" cy="51728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 1 - Proceso CPU bound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8D23BB86-424E-4F53-84CD-A370F1BFD0F1}"/>
              </a:ext>
            </a:extLst>
          </p:cNvPr>
          <p:cNvSpPr txBox="1"/>
          <p:nvPr/>
        </p:nvSpPr>
        <p:spPr>
          <a:xfrm>
            <a:off x="310168" y="1497793"/>
            <a:ext cx="557443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./mlfq.py -l 0,200,0 -q 10 -c</a:t>
            </a:r>
          </a:p>
        </p:txBody>
      </p:sp>
      <p:pic>
        <p:nvPicPr>
          <p:cNvPr id="112" name="Imagen 111">
            <a:extLst>
              <a:ext uri="{FF2B5EF4-FFF2-40B4-BE49-F238E27FC236}">
                <a16:creationId xmlns:a16="http://schemas.microsoft.com/office/drawing/2014/main" id="{8586A350-3586-49BA-ABE0-149E65679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2" y="2192402"/>
            <a:ext cx="4610866" cy="4257737"/>
          </a:xfrm>
          <a:prstGeom prst="rect">
            <a:avLst/>
          </a:prstGeom>
        </p:spPr>
      </p:pic>
      <p:pic>
        <p:nvPicPr>
          <p:cNvPr id="113" name="Imagen 112">
            <a:extLst>
              <a:ext uri="{FF2B5EF4-FFF2-40B4-BE49-F238E27FC236}">
                <a16:creationId xmlns:a16="http://schemas.microsoft.com/office/drawing/2014/main" id="{A386B8C6-BBB8-49CB-8E75-9F4F060F79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1700" y="2039739"/>
            <a:ext cx="5142256" cy="4594751"/>
          </a:xfrm>
          <a:prstGeom prst="rect">
            <a:avLst/>
          </a:prstGeom>
        </p:spPr>
      </p:pic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DE46597-39D4-4D3E-88C2-61EAA9E59214}"/>
              </a:ext>
            </a:extLst>
          </p:cNvPr>
          <p:cNvSpPr txBox="1"/>
          <p:nvPr/>
        </p:nvSpPr>
        <p:spPr>
          <a:xfrm>
            <a:off x="6298015" y="1497793"/>
            <a:ext cx="557443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./mlfq.py -l 0,180,0:100,20,0 -q 10 -c</a:t>
            </a:r>
          </a:p>
        </p:txBody>
      </p:sp>
      <p:sp>
        <p:nvSpPr>
          <p:cNvPr id="115" name="Google Shape;502;p41">
            <a:extLst>
              <a:ext uri="{FF2B5EF4-FFF2-40B4-BE49-F238E27FC236}">
                <a16:creationId xmlns:a16="http://schemas.microsoft.com/office/drawing/2014/main" id="{7B47BDBA-3A00-40E7-B53A-D0E3799A00DC}"/>
              </a:ext>
            </a:extLst>
          </p:cNvPr>
          <p:cNvSpPr txBox="1">
            <a:spLocks/>
          </p:cNvSpPr>
          <p:nvPr/>
        </p:nvSpPr>
        <p:spPr>
          <a:xfrm>
            <a:off x="6177426" y="887731"/>
            <a:ext cx="5142256" cy="54587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latin typeface="+mn-lt"/>
              </a:rPr>
              <a:t>Ejemplo 2 - Llega un proceso corto</a:t>
            </a:r>
            <a:endParaRPr lang="es-MX" sz="24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0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828193-DA48-46A2-8287-ED33654639A8}"/>
              </a:ext>
            </a:extLst>
          </p:cNvPr>
          <p:cNvSpPr txBox="1"/>
          <p:nvPr/>
        </p:nvSpPr>
        <p:spPr>
          <a:xfrm>
            <a:off x="44244" y="6508817"/>
            <a:ext cx="5966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Para mas información sobre el simulador </a:t>
            </a:r>
            <a:r>
              <a:rPr lang="es-CO" sz="1200" dirty="0">
                <a:latin typeface="Consolas" panose="020B0609020204030204" pitchFamily="49" charset="0"/>
                <a:hlinkClick r:id="rId5"/>
              </a:rPr>
              <a:t>mlfq.py</a:t>
            </a:r>
            <a:r>
              <a:rPr lang="es-CO" sz="1400" dirty="0"/>
              <a:t> consultar el siguiente </a:t>
            </a:r>
            <a:r>
              <a:rPr lang="es-CO" sz="1400" dirty="0">
                <a:hlinkClick r:id="rId6"/>
              </a:rPr>
              <a:t>link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0764245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"/>
          <p:cNvSpPr txBox="1">
            <a:spLocks noGrp="1"/>
          </p:cNvSpPr>
          <p:nvPr>
            <p:ph type="title"/>
          </p:nvPr>
        </p:nvSpPr>
        <p:spPr>
          <a:xfrm>
            <a:off x="768129" y="9461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/>
          </a:p>
        </p:txBody>
      </p:sp>
      <p:graphicFrame>
        <p:nvGraphicFramePr>
          <p:cNvPr id="15" name="Google Shape;1306;p83">
            <a:extLst>
              <a:ext uri="{FF2B5EF4-FFF2-40B4-BE49-F238E27FC236}">
                <a16:creationId xmlns:a16="http://schemas.microsoft.com/office/drawing/2014/main" id="{A212D30C-30EE-4ACC-8F70-4CB2922D31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3123656"/>
              </p:ext>
            </p:extLst>
          </p:nvPr>
        </p:nvGraphicFramePr>
        <p:xfrm>
          <a:off x="454077" y="3156303"/>
          <a:ext cx="5466179" cy="1523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2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063">
                  <a:extLst>
                    <a:ext uri="{9D8B030D-6E8A-4147-A177-3AD203B41FA5}">
                      <a16:colId xmlns:a16="http://schemas.microsoft.com/office/drawing/2014/main" val="3511923196"/>
                    </a:ext>
                  </a:extLst>
                </a:gridCol>
                <a:gridCol w="212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7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/>
                        <a:t>Arrival time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Run-time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200 +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8773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50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CPU-</a:t>
                      </a:r>
                      <a:r>
                        <a:rPr lang="es-MX" sz="16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 ms</a:t>
                      </a:r>
                    </a:p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I/O-</a:t>
                      </a:r>
                      <a:r>
                        <a:rPr lang="es-MX" sz="16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 9m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Google Shape;516;p42">
            <a:extLst>
              <a:ext uri="{FF2B5EF4-FFF2-40B4-BE49-F238E27FC236}">
                <a16:creationId xmlns:a16="http://schemas.microsoft.com/office/drawing/2014/main" id="{437CD423-8B87-4686-B71A-B8333D1C7D0D}"/>
              </a:ext>
            </a:extLst>
          </p:cNvPr>
          <p:cNvSpPr txBox="1">
            <a:spLocks/>
          </p:cNvSpPr>
          <p:nvPr/>
        </p:nvSpPr>
        <p:spPr>
          <a:xfrm>
            <a:off x="522559" y="781597"/>
            <a:ext cx="4924800" cy="4771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b="1" dirty="0">
                <a:latin typeface="+mn-lt"/>
              </a:rPr>
              <a:t>Ejemplo 3 - Proceso I/O bound</a:t>
            </a:r>
            <a:endParaRPr lang="es-MX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>
              <a:latin typeface="+mn-lt"/>
            </a:endParaRPr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800" dirty="0">
              <a:latin typeface="+mn-lt"/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408B5DD7-FB96-4F9B-8191-2BC9C66D8778}"/>
              </a:ext>
            </a:extLst>
          </p:cNvPr>
          <p:cNvGrpSpPr/>
          <p:nvPr/>
        </p:nvGrpSpPr>
        <p:grpSpPr>
          <a:xfrm>
            <a:off x="6225143" y="1530183"/>
            <a:ext cx="5545312" cy="1381742"/>
            <a:chOff x="6406073" y="2371914"/>
            <a:chExt cx="5545312" cy="1381742"/>
          </a:xfrm>
        </p:grpSpPr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432BFF96-BF28-40C7-8286-9F243D458A97}"/>
                </a:ext>
              </a:extLst>
            </p:cNvPr>
            <p:cNvGrpSpPr/>
            <p:nvPr/>
          </p:nvGrpSpPr>
          <p:grpSpPr>
            <a:xfrm>
              <a:off x="7001362" y="2371914"/>
              <a:ext cx="4950023" cy="1381742"/>
              <a:chOff x="6853295" y="5215428"/>
              <a:chExt cx="4950023" cy="1381742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56EFC801-B54C-415A-9193-01DF07078BB0}"/>
                  </a:ext>
                </a:extLst>
              </p:cNvPr>
              <p:cNvGrpSpPr/>
              <p:nvPr/>
            </p:nvGrpSpPr>
            <p:grpSpPr>
              <a:xfrm>
                <a:off x="6990775" y="5215428"/>
                <a:ext cx="4392264" cy="1018644"/>
                <a:chOff x="6286570" y="5198935"/>
                <a:chExt cx="2767550" cy="1159914"/>
              </a:xfrm>
            </p:grpSpPr>
            <p:cxnSp>
              <p:nvCxnSpPr>
                <p:cNvPr id="116" name="Conector recto de flecha 115">
                  <a:extLst>
                    <a:ext uri="{FF2B5EF4-FFF2-40B4-BE49-F238E27FC236}">
                      <a16:creationId xmlns:a16="http://schemas.microsoft.com/office/drawing/2014/main" id="{00E94514-CA9C-411D-814E-9EFE2EBEFD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6570" y="6358849"/>
                  <a:ext cx="276755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Conector recto de flecha 116">
                  <a:extLst>
                    <a:ext uri="{FF2B5EF4-FFF2-40B4-BE49-F238E27FC236}">
                      <a16:creationId xmlns:a16="http://schemas.microsoft.com/office/drawing/2014/main" id="{62663276-DD73-4429-B0EF-D1CE4A3178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90072" y="5198935"/>
                  <a:ext cx="4917" cy="115267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76" name="CuadroTexto 75">
                <a:extLst>
                  <a:ext uri="{FF2B5EF4-FFF2-40B4-BE49-F238E27FC236}">
                    <a16:creationId xmlns:a16="http://schemas.microsoft.com/office/drawing/2014/main" id="{32BEBD77-7EF5-4A37-8D04-C01325D097B1}"/>
                  </a:ext>
                </a:extLst>
              </p:cNvPr>
              <p:cNvSpPr txBox="1"/>
              <p:nvPr/>
            </p:nvSpPr>
            <p:spPr>
              <a:xfrm>
                <a:off x="11383039" y="6081424"/>
                <a:ext cx="420279" cy="324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/>
                  <a:t>t</a:t>
                </a:r>
                <a:endParaRPr lang="es-CO" b="1" dirty="0"/>
              </a:p>
            </p:txBody>
          </p:sp>
          <p:cxnSp>
            <p:nvCxnSpPr>
              <p:cNvPr id="78" name="Conector recto 77">
                <a:extLst>
                  <a:ext uri="{FF2B5EF4-FFF2-40B4-BE49-F238E27FC236}">
                    <a16:creationId xmlns:a16="http://schemas.microsoft.com/office/drawing/2014/main" id="{990AD190-2360-4E5D-98ED-0858A4FC64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26358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recto 79">
                <a:extLst>
                  <a:ext uri="{FF2B5EF4-FFF2-40B4-BE49-F238E27FC236}">
                    <a16:creationId xmlns:a16="http://schemas.microsoft.com/office/drawing/2014/main" id="{EA3820ED-614A-459E-8F4D-4DEF98A039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44258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recto 81">
                <a:extLst>
                  <a:ext uri="{FF2B5EF4-FFF2-40B4-BE49-F238E27FC236}">
                    <a16:creationId xmlns:a16="http://schemas.microsoft.com/office/drawing/2014/main" id="{44932934-6627-4EBE-8C04-B8F794FE83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50281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Conector recto 105">
                <a:extLst>
                  <a:ext uri="{FF2B5EF4-FFF2-40B4-BE49-F238E27FC236}">
                    <a16:creationId xmlns:a16="http://schemas.microsoft.com/office/drawing/2014/main" id="{08A37403-5D4A-4D1E-8C5F-E43B3A4FFC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675132" y="6138306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CuadroTexto 107">
                <a:extLst>
                  <a:ext uri="{FF2B5EF4-FFF2-40B4-BE49-F238E27FC236}">
                    <a16:creationId xmlns:a16="http://schemas.microsoft.com/office/drawing/2014/main" id="{476F473A-868B-4EF8-B4E8-CEE7FA88B713}"/>
                  </a:ext>
                </a:extLst>
              </p:cNvPr>
              <p:cNvSpPr txBox="1"/>
              <p:nvPr/>
            </p:nvSpPr>
            <p:spPr>
              <a:xfrm>
                <a:off x="6853295" y="6278041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0</a:t>
                </a:r>
                <a:endParaRPr lang="es-CO" sz="1400" b="1" dirty="0"/>
              </a:p>
            </p:txBody>
          </p:sp>
          <p:sp>
            <p:nvSpPr>
              <p:cNvPr id="109" name="CuadroTexto 108">
                <a:extLst>
                  <a:ext uri="{FF2B5EF4-FFF2-40B4-BE49-F238E27FC236}">
                    <a16:creationId xmlns:a16="http://schemas.microsoft.com/office/drawing/2014/main" id="{E79A321C-64B9-4922-A02D-DBC849AFF4BC}"/>
                  </a:ext>
                </a:extLst>
              </p:cNvPr>
              <p:cNvSpPr txBox="1"/>
              <p:nvPr/>
            </p:nvSpPr>
            <p:spPr>
              <a:xfrm>
                <a:off x="7793454" y="628939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5</a:t>
                </a:r>
              </a:p>
            </p:txBody>
          </p:sp>
          <p:sp>
            <p:nvSpPr>
              <p:cNvPr id="110" name="CuadroTexto 109">
                <a:extLst>
                  <a:ext uri="{FF2B5EF4-FFF2-40B4-BE49-F238E27FC236}">
                    <a16:creationId xmlns:a16="http://schemas.microsoft.com/office/drawing/2014/main" id="{CF7BEBE2-D6F4-440F-908F-D29B72EDB48F}"/>
                  </a:ext>
                </a:extLst>
              </p:cNvPr>
              <p:cNvSpPr txBox="1"/>
              <p:nvPr/>
            </p:nvSpPr>
            <p:spPr>
              <a:xfrm>
                <a:off x="8664036" y="6278041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10</a:t>
                </a:r>
              </a:p>
            </p:txBody>
          </p:sp>
          <p:sp>
            <p:nvSpPr>
              <p:cNvPr id="111" name="CuadroTexto 110">
                <a:extLst>
                  <a:ext uri="{FF2B5EF4-FFF2-40B4-BE49-F238E27FC236}">
                    <a16:creationId xmlns:a16="http://schemas.microsoft.com/office/drawing/2014/main" id="{1194836E-1C96-47D1-A631-C49FB94FEEB7}"/>
                  </a:ext>
                </a:extLst>
              </p:cNvPr>
              <p:cNvSpPr txBox="1"/>
              <p:nvPr/>
            </p:nvSpPr>
            <p:spPr>
              <a:xfrm>
                <a:off x="9578145" y="6274880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15</a:t>
                </a:r>
              </a:p>
            </p:txBody>
          </p:sp>
          <p:sp>
            <p:nvSpPr>
              <p:cNvPr id="112" name="CuadroTexto 111">
                <a:extLst>
                  <a:ext uri="{FF2B5EF4-FFF2-40B4-BE49-F238E27FC236}">
                    <a16:creationId xmlns:a16="http://schemas.microsoft.com/office/drawing/2014/main" id="{11EC2FE4-539D-4A56-AE30-C01F7EA598F6}"/>
                  </a:ext>
                </a:extLst>
              </p:cNvPr>
              <p:cNvSpPr txBox="1"/>
              <p:nvPr/>
            </p:nvSpPr>
            <p:spPr>
              <a:xfrm>
                <a:off x="10470129" y="6269727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20</a:t>
                </a:r>
              </a:p>
            </p:txBody>
          </p:sp>
        </p:grpSp>
        <p:pic>
          <p:nvPicPr>
            <p:cNvPr id="118" name="Google Shape;309;p30">
              <a:extLst>
                <a:ext uri="{FF2B5EF4-FFF2-40B4-BE49-F238E27FC236}">
                  <a16:creationId xmlns:a16="http://schemas.microsoft.com/office/drawing/2014/main" id="{3286219B-FCE4-461D-95AA-3341CE1311A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06073" y="2633394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CA2FB02-70F1-4434-B15C-DD3AD46793FB}"/>
              </a:ext>
            </a:extLst>
          </p:cNvPr>
          <p:cNvGrpSpPr/>
          <p:nvPr/>
        </p:nvGrpSpPr>
        <p:grpSpPr>
          <a:xfrm>
            <a:off x="6268079" y="3467062"/>
            <a:ext cx="5461003" cy="1831768"/>
            <a:chOff x="6448701" y="3942334"/>
            <a:chExt cx="5461003" cy="1831768"/>
          </a:xfrm>
        </p:grpSpPr>
        <p:pic>
          <p:nvPicPr>
            <p:cNvPr id="140" name="Google Shape;309;p30">
              <a:extLst>
                <a:ext uri="{FF2B5EF4-FFF2-40B4-BE49-F238E27FC236}">
                  <a16:creationId xmlns:a16="http://schemas.microsoft.com/office/drawing/2014/main" id="{A80F72E0-A459-4050-B717-A0337540906D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48701" y="4124405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6" name="Picture 2" descr="Hard disk drive - Free computer icons">
              <a:extLst>
                <a:ext uri="{FF2B5EF4-FFF2-40B4-BE49-F238E27FC236}">
                  <a16:creationId xmlns:a16="http://schemas.microsoft.com/office/drawing/2014/main" id="{428EAD7A-B094-4C75-B522-EFB9F2B079E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79630" y="4847023"/>
              <a:ext cx="501741" cy="5017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E5FFFA1E-453F-4CDE-9B9D-66BD3D867E31}"/>
                </a:ext>
              </a:extLst>
            </p:cNvPr>
            <p:cNvGrpSpPr/>
            <p:nvPr/>
          </p:nvGrpSpPr>
          <p:grpSpPr>
            <a:xfrm>
              <a:off x="6959681" y="3942334"/>
              <a:ext cx="4950023" cy="1831768"/>
              <a:chOff x="6959681" y="3942334"/>
              <a:chExt cx="4950023" cy="1831768"/>
            </a:xfrm>
          </p:grpSpPr>
          <p:grpSp>
            <p:nvGrpSpPr>
              <p:cNvPr id="120" name="Grupo 119">
                <a:extLst>
                  <a:ext uri="{FF2B5EF4-FFF2-40B4-BE49-F238E27FC236}">
                    <a16:creationId xmlns:a16="http://schemas.microsoft.com/office/drawing/2014/main" id="{769B95F7-67D1-42B0-9043-82E9A6EA8613}"/>
                  </a:ext>
                </a:extLst>
              </p:cNvPr>
              <p:cNvGrpSpPr/>
              <p:nvPr/>
            </p:nvGrpSpPr>
            <p:grpSpPr>
              <a:xfrm>
                <a:off x="7097161" y="3942334"/>
                <a:ext cx="4392264" cy="1475022"/>
                <a:chOff x="6286570" y="4679265"/>
                <a:chExt cx="2767550" cy="1679584"/>
              </a:xfrm>
            </p:grpSpPr>
            <p:cxnSp>
              <p:nvCxnSpPr>
                <p:cNvPr id="138" name="Conector recto de flecha 137">
                  <a:extLst>
                    <a:ext uri="{FF2B5EF4-FFF2-40B4-BE49-F238E27FC236}">
                      <a16:creationId xmlns:a16="http://schemas.microsoft.com/office/drawing/2014/main" id="{1A1AED0C-E037-480D-87EB-30B3EAE42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6570" y="6358849"/>
                  <a:ext cx="276755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Conector recto de flecha 138">
                  <a:extLst>
                    <a:ext uri="{FF2B5EF4-FFF2-40B4-BE49-F238E27FC236}">
                      <a16:creationId xmlns:a16="http://schemas.microsoft.com/office/drawing/2014/main" id="{ADA62B62-5C02-4AFB-BCA3-ACEAF87CB3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6286570" y="4679265"/>
                  <a:ext cx="8419" cy="167234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1" name="CuadroTexto 120">
                <a:extLst>
                  <a:ext uri="{FF2B5EF4-FFF2-40B4-BE49-F238E27FC236}">
                    <a16:creationId xmlns:a16="http://schemas.microsoft.com/office/drawing/2014/main" id="{B2DBAA19-7297-49B4-8A65-E926E0B0B8CE}"/>
                  </a:ext>
                </a:extLst>
              </p:cNvPr>
              <p:cNvSpPr txBox="1"/>
              <p:nvPr/>
            </p:nvSpPr>
            <p:spPr>
              <a:xfrm>
                <a:off x="11489425" y="5264706"/>
                <a:ext cx="420279" cy="324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/>
                  <a:t>t</a:t>
                </a:r>
                <a:endParaRPr lang="es-CO" b="1" dirty="0"/>
              </a:p>
            </p:txBody>
          </p:sp>
          <p:cxnSp>
            <p:nvCxnSpPr>
              <p:cNvPr id="122" name="Conector recto 121">
                <a:extLst>
                  <a:ext uri="{FF2B5EF4-FFF2-40B4-BE49-F238E27FC236}">
                    <a16:creationId xmlns:a16="http://schemas.microsoft.com/office/drawing/2014/main" id="{8B9B806C-DC29-4CC0-84F9-5EC2A5A7F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27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Conector recto 122">
                <a:extLst>
                  <a:ext uri="{FF2B5EF4-FFF2-40B4-BE49-F238E27FC236}">
                    <a16:creationId xmlns:a16="http://schemas.microsoft.com/office/drawing/2014/main" id="{2DF09BA5-D6DD-4A1E-8401-1C6DE94CA3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Conector recto 123">
                <a:extLst>
                  <a:ext uri="{FF2B5EF4-FFF2-40B4-BE49-F238E27FC236}">
                    <a16:creationId xmlns:a16="http://schemas.microsoft.com/office/drawing/2014/main" id="{C715D0C7-12BE-48DA-AF99-FCC025241B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06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Conector recto 125">
                <a:extLst>
                  <a:ext uri="{FF2B5EF4-FFF2-40B4-BE49-F238E27FC236}">
                    <a16:creationId xmlns:a16="http://schemas.microsoft.com/office/drawing/2014/main" id="{8B275BA5-4A5E-4D02-A067-9A0856BB59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56667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8" name="Conector recto 127">
                <a:extLst>
                  <a:ext uri="{FF2B5EF4-FFF2-40B4-BE49-F238E27FC236}">
                    <a16:creationId xmlns:a16="http://schemas.microsoft.com/office/drawing/2014/main" id="{ACB88E25-CB44-46B7-95AF-B243082480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1518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0" name="CuadroTexto 129">
                <a:extLst>
                  <a:ext uri="{FF2B5EF4-FFF2-40B4-BE49-F238E27FC236}">
                    <a16:creationId xmlns:a16="http://schemas.microsoft.com/office/drawing/2014/main" id="{EB388BD2-28F7-49AF-88E4-4B8B35E9F262}"/>
                  </a:ext>
                </a:extLst>
              </p:cNvPr>
              <p:cNvSpPr txBox="1"/>
              <p:nvPr/>
            </p:nvSpPr>
            <p:spPr>
              <a:xfrm>
                <a:off x="6959681" y="54613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0</a:t>
                </a:r>
                <a:endParaRPr lang="es-CO" sz="1400" b="1" dirty="0"/>
              </a:p>
            </p:txBody>
          </p:sp>
          <p:sp>
            <p:nvSpPr>
              <p:cNvPr id="131" name="CuadroTexto 130">
                <a:extLst>
                  <a:ext uri="{FF2B5EF4-FFF2-40B4-BE49-F238E27FC236}">
                    <a16:creationId xmlns:a16="http://schemas.microsoft.com/office/drawing/2014/main" id="{F7479DE5-DA36-4397-8F9E-94ADE31BF5F6}"/>
                  </a:ext>
                </a:extLst>
              </p:cNvPr>
              <p:cNvSpPr txBox="1"/>
              <p:nvPr/>
            </p:nvSpPr>
            <p:spPr>
              <a:xfrm>
                <a:off x="7893490" y="5466325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5</a:t>
                </a:r>
              </a:p>
            </p:txBody>
          </p:sp>
          <p:sp>
            <p:nvSpPr>
              <p:cNvPr id="132" name="CuadroTexto 131">
                <a:extLst>
                  <a:ext uri="{FF2B5EF4-FFF2-40B4-BE49-F238E27FC236}">
                    <a16:creationId xmlns:a16="http://schemas.microsoft.com/office/drawing/2014/main" id="{B9A7AD24-07A4-4E43-9128-2BE76FC143D8}"/>
                  </a:ext>
                </a:extLst>
              </p:cNvPr>
              <p:cNvSpPr txBox="1"/>
              <p:nvPr/>
            </p:nvSpPr>
            <p:spPr>
              <a:xfrm>
                <a:off x="8764072" y="54613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10</a:t>
                </a:r>
              </a:p>
            </p:txBody>
          </p:sp>
          <p:sp>
            <p:nvSpPr>
              <p:cNvPr id="133" name="CuadroTexto 132">
                <a:extLst>
                  <a:ext uri="{FF2B5EF4-FFF2-40B4-BE49-F238E27FC236}">
                    <a16:creationId xmlns:a16="http://schemas.microsoft.com/office/drawing/2014/main" id="{793D53D0-5C63-4EE8-B072-293551B35B7F}"/>
                  </a:ext>
                </a:extLst>
              </p:cNvPr>
              <p:cNvSpPr txBox="1"/>
              <p:nvPr/>
            </p:nvSpPr>
            <p:spPr>
              <a:xfrm>
                <a:off x="9671831" y="5458162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15</a:t>
                </a:r>
              </a:p>
            </p:txBody>
          </p:sp>
          <p:sp>
            <p:nvSpPr>
              <p:cNvPr id="134" name="CuadroTexto 133">
                <a:extLst>
                  <a:ext uri="{FF2B5EF4-FFF2-40B4-BE49-F238E27FC236}">
                    <a16:creationId xmlns:a16="http://schemas.microsoft.com/office/drawing/2014/main" id="{0D9FB93B-64B0-4942-9CFB-D7DBEDF3FDF1}"/>
                  </a:ext>
                </a:extLst>
              </p:cNvPr>
              <p:cNvSpPr txBox="1"/>
              <p:nvPr/>
            </p:nvSpPr>
            <p:spPr>
              <a:xfrm>
                <a:off x="10592390" y="5453009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20</a:t>
                </a:r>
              </a:p>
            </p:txBody>
          </p:sp>
          <p:cxnSp>
            <p:nvCxnSpPr>
              <p:cNvPr id="135" name="Conector recto 134">
                <a:extLst>
                  <a:ext uri="{FF2B5EF4-FFF2-40B4-BE49-F238E27FC236}">
                    <a16:creationId xmlns:a16="http://schemas.microsoft.com/office/drawing/2014/main" id="{6FBEC740-AF91-494D-BC67-5468DDA878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475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Conector recto 135">
                <a:extLst>
                  <a:ext uri="{FF2B5EF4-FFF2-40B4-BE49-F238E27FC236}">
                    <a16:creationId xmlns:a16="http://schemas.microsoft.com/office/drawing/2014/main" id="{5FCDDE8A-D9E4-4A16-BCD5-BB8484D37E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829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Conector recto 136">
                <a:extLst>
                  <a:ext uri="{FF2B5EF4-FFF2-40B4-BE49-F238E27FC236}">
                    <a16:creationId xmlns:a16="http://schemas.microsoft.com/office/drawing/2014/main" id="{C21B8CE4-1A25-4BA9-85A7-A557C5D759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214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Conector recto de flecha 140">
                <a:extLst>
                  <a:ext uri="{FF2B5EF4-FFF2-40B4-BE49-F238E27FC236}">
                    <a16:creationId xmlns:a16="http://schemas.microsoft.com/office/drawing/2014/main" id="{8F1C122F-9A37-48CF-9CF7-7A177D9293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97161" y="4745179"/>
                <a:ext cx="4392264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2" name="Conector recto 141">
                <a:extLst>
                  <a:ext uri="{FF2B5EF4-FFF2-40B4-BE49-F238E27FC236}">
                    <a16:creationId xmlns:a16="http://schemas.microsoft.com/office/drawing/2014/main" id="{10E9837B-E0F3-459C-A0C4-3A31BE4E74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509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3" name="Conector recto 142">
                <a:extLst>
                  <a:ext uri="{FF2B5EF4-FFF2-40B4-BE49-F238E27FC236}">
                    <a16:creationId xmlns:a16="http://schemas.microsoft.com/office/drawing/2014/main" id="{ECAFC2B3-706B-4A2D-9D64-DD4A0134A0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20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4" name="Conector recto 143">
                <a:extLst>
                  <a:ext uri="{FF2B5EF4-FFF2-40B4-BE49-F238E27FC236}">
                    <a16:creationId xmlns:a16="http://schemas.microsoft.com/office/drawing/2014/main" id="{B7E8F370-D8C2-47A2-9EF8-C9AB0964C7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174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5" name="Conector recto 144">
                <a:extLst>
                  <a:ext uri="{FF2B5EF4-FFF2-40B4-BE49-F238E27FC236}">
                    <a16:creationId xmlns:a16="http://schemas.microsoft.com/office/drawing/2014/main" id="{44447071-9731-462E-8CA5-2451E6148A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59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Conector recto 149">
                <a:extLst>
                  <a:ext uri="{FF2B5EF4-FFF2-40B4-BE49-F238E27FC236}">
                    <a16:creationId xmlns:a16="http://schemas.microsoft.com/office/drawing/2014/main" id="{E34FFF5E-966C-4062-BFEA-A61F8DABBA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055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Conector recto 150">
                <a:extLst>
                  <a:ext uri="{FF2B5EF4-FFF2-40B4-BE49-F238E27FC236}">
                    <a16:creationId xmlns:a16="http://schemas.microsoft.com/office/drawing/2014/main" id="{E33FCA9B-2CF7-4D15-81D2-C62387B3B2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662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Conector recto 151">
                <a:extLst>
                  <a:ext uri="{FF2B5EF4-FFF2-40B4-BE49-F238E27FC236}">
                    <a16:creationId xmlns:a16="http://schemas.microsoft.com/office/drawing/2014/main" id="{B075E418-16E9-455C-BE5A-9F6B49CBC6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720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Conector recto 152">
                <a:extLst>
                  <a:ext uri="{FF2B5EF4-FFF2-40B4-BE49-F238E27FC236}">
                    <a16:creationId xmlns:a16="http://schemas.microsoft.com/office/drawing/2014/main" id="{383EA6BE-79CC-4CA3-852D-93F9509F33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1056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9" name="Conector recto 158">
                <a:extLst>
                  <a:ext uri="{FF2B5EF4-FFF2-40B4-BE49-F238E27FC236}">
                    <a16:creationId xmlns:a16="http://schemas.microsoft.com/office/drawing/2014/main" id="{B158E07A-FD3F-4ACB-805F-2970D5EB84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2593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0" name="Conector recto 159">
                <a:extLst>
                  <a:ext uri="{FF2B5EF4-FFF2-40B4-BE49-F238E27FC236}">
                    <a16:creationId xmlns:a16="http://schemas.microsoft.com/office/drawing/2014/main" id="{F624D1B1-D8EA-4989-B549-E1D09770D4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570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1" name="Conector recto 160">
                <a:extLst>
                  <a:ext uri="{FF2B5EF4-FFF2-40B4-BE49-F238E27FC236}">
                    <a16:creationId xmlns:a16="http://schemas.microsoft.com/office/drawing/2014/main" id="{4A213E2F-B03B-468A-B980-55AC6118A7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9239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Conector recto 161">
                <a:extLst>
                  <a:ext uri="{FF2B5EF4-FFF2-40B4-BE49-F238E27FC236}">
                    <a16:creationId xmlns:a16="http://schemas.microsoft.com/office/drawing/2014/main" id="{CBEE9A23-B778-4883-8F09-3E2E7546C7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309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3" name="Grupo 162">
            <a:extLst>
              <a:ext uri="{FF2B5EF4-FFF2-40B4-BE49-F238E27FC236}">
                <a16:creationId xmlns:a16="http://schemas.microsoft.com/office/drawing/2014/main" id="{13B486B9-0188-4EBF-8F1A-8348FE53664C}"/>
              </a:ext>
            </a:extLst>
          </p:cNvPr>
          <p:cNvGrpSpPr/>
          <p:nvPr/>
        </p:nvGrpSpPr>
        <p:grpSpPr>
          <a:xfrm>
            <a:off x="6225143" y="5382509"/>
            <a:ext cx="5489826" cy="1336697"/>
            <a:chOff x="6419878" y="4437405"/>
            <a:chExt cx="5489826" cy="1336697"/>
          </a:xfrm>
        </p:grpSpPr>
        <p:pic>
          <p:nvPicPr>
            <p:cNvPr id="164" name="Google Shape;309;p30">
              <a:extLst>
                <a:ext uri="{FF2B5EF4-FFF2-40B4-BE49-F238E27FC236}">
                  <a16:creationId xmlns:a16="http://schemas.microsoft.com/office/drawing/2014/main" id="{32176FF8-5A09-4C44-BF08-66681ABC7282}"/>
                </a:ext>
              </a:extLst>
            </p:cNvPr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419878" y="4630546"/>
              <a:ext cx="570560" cy="5394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6" name="Grupo 165">
              <a:extLst>
                <a:ext uri="{FF2B5EF4-FFF2-40B4-BE49-F238E27FC236}">
                  <a16:creationId xmlns:a16="http://schemas.microsoft.com/office/drawing/2014/main" id="{5ECEAB85-0254-4CE9-AA2A-3B694B9C3479}"/>
                </a:ext>
              </a:extLst>
            </p:cNvPr>
            <p:cNvGrpSpPr/>
            <p:nvPr/>
          </p:nvGrpSpPr>
          <p:grpSpPr>
            <a:xfrm>
              <a:off x="6959681" y="4437405"/>
              <a:ext cx="4950023" cy="1336697"/>
              <a:chOff x="6959681" y="4437405"/>
              <a:chExt cx="4950023" cy="1336697"/>
            </a:xfrm>
          </p:grpSpPr>
          <p:grpSp>
            <p:nvGrpSpPr>
              <p:cNvPr id="167" name="Grupo 166">
                <a:extLst>
                  <a:ext uri="{FF2B5EF4-FFF2-40B4-BE49-F238E27FC236}">
                    <a16:creationId xmlns:a16="http://schemas.microsoft.com/office/drawing/2014/main" id="{94A881D8-41EB-4130-8D0F-775D56737D12}"/>
                  </a:ext>
                </a:extLst>
              </p:cNvPr>
              <p:cNvGrpSpPr/>
              <p:nvPr/>
            </p:nvGrpSpPr>
            <p:grpSpPr>
              <a:xfrm>
                <a:off x="7097161" y="4437405"/>
                <a:ext cx="4392264" cy="979957"/>
                <a:chOff x="6286570" y="5242989"/>
                <a:chExt cx="2767550" cy="1115860"/>
              </a:xfrm>
            </p:grpSpPr>
            <p:cxnSp>
              <p:nvCxnSpPr>
                <p:cNvPr id="195" name="Conector recto de flecha 194">
                  <a:extLst>
                    <a:ext uri="{FF2B5EF4-FFF2-40B4-BE49-F238E27FC236}">
                      <a16:creationId xmlns:a16="http://schemas.microsoft.com/office/drawing/2014/main" id="{A6526FEF-6D85-4CBC-A64E-3E0E28C6A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286570" y="6358849"/>
                  <a:ext cx="2767550" cy="0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Conector recto de flecha 195">
                  <a:extLst>
                    <a:ext uri="{FF2B5EF4-FFF2-40B4-BE49-F238E27FC236}">
                      <a16:creationId xmlns:a16="http://schemas.microsoft.com/office/drawing/2014/main" id="{4525A00E-237C-4EEC-AA2D-BFBF7286F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6286986" y="5242989"/>
                  <a:ext cx="0" cy="1108617"/>
                </a:xfrm>
                <a:prstGeom prst="straightConnector1">
                  <a:avLst/>
                </a:prstGeom>
                <a:ln w="28575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8" name="CuadroTexto 167">
                <a:extLst>
                  <a:ext uri="{FF2B5EF4-FFF2-40B4-BE49-F238E27FC236}">
                    <a16:creationId xmlns:a16="http://schemas.microsoft.com/office/drawing/2014/main" id="{37DA3A69-D8E4-4033-92A6-8F18396589FA}"/>
                  </a:ext>
                </a:extLst>
              </p:cNvPr>
              <p:cNvSpPr txBox="1"/>
              <p:nvPr/>
            </p:nvSpPr>
            <p:spPr>
              <a:xfrm>
                <a:off x="11489425" y="5264706"/>
                <a:ext cx="420279" cy="3243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/>
                  <a:t>t</a:t>
                </a:r>
                <a:endParaRPr lang="es-CO" b="1" dirty="0"/>
              </a:p>
            </p:txBody>
          </p:sp>
          <p:cxnSp>
            <p:nvCxnSpPr>
              <p:cNvPr id="169" name="Conector recto 168">
                <a:extLst>
                  <a:ext uri="{FF2B5EF4-FFF2-40B4-BE49-F238E27FC236}">
                    <a16:creationId xmlns:a16="http://schemas.microsoft.com/office/drawing/2014/main" id="{85D435BD-E8C4-4E03-92E0-5759C4AA81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327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Conector recto 169">
                <a:extLst>
                  <a:ext uri="{FF2B5EF4-FFF2-40B4-BE49-F238E27FC236}">
                    <a16:creationId xmlns:a16="http://schemas.microsoft.com/office/drawing/2014/main" id="{539C8AE8-055E-4AB0-8BBD-429A821680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616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Conector recto 170">
                <a:extLst>
                  <a:ext uri="{FF2B5EF4-FFF2-40B4-BE49-F238E27FC236}">
                    <a16:creationId xmlns:a16="http://schemas.microsoft.com/office/drawing/2014/main" id="{8AA49901-2899-46F5-A884-D85DACDCDC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5064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Conector recto 171">
                <a:extLst>
                  <a:ext uri="{FF2B5EF4-FFF2-40B4-BE49-F238E27FC236}">
                    <a16:creationId xmlns:a16="http://schemas.microsoft.com/office/drawing/2014/main" id="{987FD7B6-C565-4617-B483-1E95F98E02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856667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Conector recto 172">
                <a:extLst>
                  <a:ext uri="{FF2B5EF4-FFF2-40B4-BE49-F238E27FC236}">
                    <a16:creationId xmlns:a16="http://schemas.microsoft.com/office/drawing/2014/main" id="{0B9945E7-F11E-45CA-8BE8-1526CC83E0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1518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4" name="CuadroTexto 173">
                <a:extLst>
                  <a:ext uri="{FF2B5EF4-FFF2-40B4-BE49-F238E27FC236}">
                    <a16:creationId xmlns:a16="http://schemas.microsoft.com/office/drawing/2014/main" id="{1438B039-B89E-4272-97EA-B6F67C4765A9}"/>
                  </a:ext>
                </a:extLst>
              </p:cNvPr>
              <p:cNvSpPr txBox="1"/>
              <p:nvPr/>
            </p:nvSpPr>
            <p:spPr>
              <a:xfrm>
                <a:off x="6959681" y="5461323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/>
                  <a:t>0</a:t>
                </a:r>
                <a:endParaRPr lang="es-CO" sz="1400" b="1" dirty="0"/>
              </a:p>
            </p:txBody>
          </p:sp>
          <p:sp>
            <p:nvSpPr>
              <p:cNvPr id="175" name="CuadroTexto 174">
                <a:extLst>
                  <a:ext uri="{FF2B5EF4-FFF2-40B4-BE49-F238E27FC236}">
                    <a16:creationId xmlns:a16="http://schemas.microsoft.com/office/drawing/2014/main" id="{0BABF061-6AE2-4D98-B493-8A7A8156BDEC}"/>
                  </a:ext>
                </a:extLst>
              </p:cNvPr>
              <p:cNvSpPr txBox="1"/>
              <p:nvPr/>
            </p:nvSpPr>
            <p:spPr>
              <a:xfrm>
                <a:off x="7893490" y="5466325"/>
                <a:ext cx="27603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5</a:t>
                </a:r>
              </a:p>
            </p:txBody>
          </p:sp>
          <p:sp>
            <p:nvSpPr>
              <p:cNvPr id="176" name="CuadroTexto 175">
                <a:extLst>
                  <a:ext uri="{FF2B5EF4-FFF2-40B4-BE49-F238E27FC236}">
                    <a16:creationId xmlns:a16="http://schemas.microsoft.com/office/drawing/2014/main" id="{49A64025-6888-42E0-9159-A97F99773B52}"/>
                  </a:ext>
                </a:extLst>
              </p:cNvPr>
              <p:cNvSpPr txBox="1"/>
              <p:nvPr/>
            </p:nvSpPr>
            <p:spPr>
              <a:xfrm>
                <a:off x="8764072" y="5461323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10</a:t>
                </a:r>
              </a:p>
            </p:txBody>
          </p:sp>
          <p:sp>
            <p:nvSpPr>
              <p:cNvPr id="177" name="CuadroTexto 176">
                <a:extLst>
                  <a:ext uri="{FF2B5EF4-FFF2-40B4-BE49-F238E27FC236}">
                    <a16:creationId xmlns:a16="http://schemas.microsoft.com/office/drawing/2014/main" id="{D3242F23-705E-4EAC-9E6F-43C328536AFE}"/>
                  </a:ext>
                </a:extLst>
              </p:cNvPr>
              <p:cNvSpPr txBox="1"/>
              <p:nvPr/>
            </p:nvSpPr>
            <p:spPr>
              <a:xfrm>
                <a:off x="9671831" y="5458162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15</a:t>
                </a:r>
              </a:p>
            </p:txBody>
          </p:sp>
          <p:sp>
            <p:nvSpPr>
              <p:cNvPr id="178" name="CuadroTexto 177">
                <a:extLst>
                  <a:ext uri="{FF2B5EF4-FFF2-40B4-BE49-F238E27FC236}">
                    <a16:creationId xmlns:a16="http://schemas.microsoft.com/office/drawing/2014/main" id="{28233C96-E1B5-4A64-906F-8582587FBD49}"/>
                  </a:ext>
                </a:extLst>
              </p:cNvPr>
              <p:cNvSpPr txBox="1"/>
              <p:nvPr/>
            </p:nvSpPr>
            <p:spPr>
              <a:xfrm>
                <a:off x="10592390" y="5453009"/>
                <a:ext cx="367408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sz="1400" b="1" dirty="0"/>
                  <a:t>20</a:t>
                </a:r>
              </a:p>
            </p:txBody>
          </p:sp>
          <p:cxnSp>
            <p:nvCxnSpPr>
              <p:cNvPr id="179" name="Conector recto 178">
                <a:extLst>
                  <a:ext uri="{FF2B5EF4-FFF2-40B4-BE49-F238E27FC236}">
                    <a16:creationId xmlns:a16="http://schemas.microsoft.com/office/drawing/2014/main" id="{C56B7EF8-D299-4557-8847-C5C00F8DC8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3475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0" name="Conector recto 179">
                <a:extLst>
                  <a:ext uri="{FF2B5EF4-FFF2-40B4-BE49-F238E27FC236}">
                    <a16:creationId xmlns:a16="http://schemas.microsoft.com/office/drawing/2014/main" id="{1F332541-C564-48CE-9254-F8BEF11F2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27829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1" name="Conector recto 180">
                <a:extLst>
                  <a:ext uri="{FF2B5EF4-FFF2-40B4-BE49-F238E27FC236}">
                    <a16:creationId xmlns:a16="http://schemas.microsoft.com/office/drawing/2014/main" id="{5DACB5C4-B924-4B02-9DF6-B47F4661DE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65214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3" name="Conector recto 182">
                <a:extLst>
                  <a:ext uri="{FF2B5EF4-FFF2-40B4-BE49-F238E27FC236}">
                    <a16:creationId xmlns:a16="http://schemas.microsoft.com/office/drawing/2014/main" id="{5D046CCC-67F1-4D9B-A988-E9C4852F6B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39509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4" name="Conector recto 183">
                <a:extLst>
                  <a:ext uri="{FF2B5EF4-FFF2-40B4-BE49-F238E27FC236}">
                    <a16:creationId xmlns:a16="http://schemas.microsoft.com/office/drawing/2014/main" id="{98C59C0D-89D5-4C6F-AEBC-BE12D3CC17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6820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5" name="Conector recto 184">
                <a:extLst>
                  <a:ext uri="{FF2B5EF4-FFF2-40B4-BE49-F238E27FC236}">
                    <a16:creationId xmlns:a16="http://schemas.microsoft.com/office/drawing/2014/main" id="{CFDA5ABA-F1DD-4CDA-85EB-D29601E67D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21174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6" name="Conector recto 185">
                <a:extLst>
                  <a:ext uri="{FF2B5EF4-FFF2-40B4-BE49-F238E27FC236}">
                    <a16:creationId xmlns:a16="http://schemas.microsoft.com/office/drawing/2014/main" id="{1AA82268-1EDD-4FE5-8DD7-E04CE9BDFA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8559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7" name="Conector recto 186">
                <a:extLst>
                  <a:ext uri="{FF2B5EF4-FFF2-40B4-BE49-F238E27FC236}">
                    <a16:creationId xmlns:a16="http://schemas.microsoft.com/office/drawing/2014/main" id="{F555EB8C-5BB8-4D11-BF9C-2D0BB5E84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00555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8" name="Conector recto 187">
                <a:extLst>
                  <a:ext uri="{FF2B5EF4-FFF2-40B4-BE49-F238E27FC236}">
                    <a16:creationId xmlns:a16="http://schemas.microsoft.com/office/drawing/2014/main" id="{ED46057A-E169-430F-9FCE-98C848542D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673662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9" name="Conector recto 188">
                <a:extLst>
                  <a:ext uri="{FF2B5EF4-FFF2-40B4-BE49-F238E27FC236}">
                    <a16:creationId xmlns:a16="http://schemas.microsoft.com/office/drawing/2014/main" id="{D86BF05B-8409-4899-B55C-1C82CCFA7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17201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0" name="Conector recto 189">
                <a:extLst>
                  <a:ext uri="{FF2B5EF4-FFF2-40B4-BE49-F238E27FC236}">
                    <a16:creationId xmlns:a16="http://schemas.microsoft.com/office/drawing/2014/main" id="{625A321A-FE53-4C45-8A2A-51C0B893F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491056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1" name="Conector recto 190">
                <a:extLst>
                  <a:ext uri="{FF2B5EF4-FFF2-40B4-BE49-F238E27FC236}">
                    <a16:creationId xmlns:a16="http://schemas.microsoft.com/office/drawing/2014/main" id="{0215917B-0C24-41B6-8921-7F1EC0B02A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22593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2" name="Conector recto 191">
                <a:extLst>
                  <a:ext uri="{FF2B5EF4-FFF2-40B4-BE49-F238E27FC236}">
                    <a16:creationId xmlns:a16="http://schemas.microsoft.com/office/drawing/2014/main" id="{F2E884B3-68AF-4A81-82E3-26B8D7B503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5700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3" name="Conector recto 192">
                <a:extLst>
                  <a:ext uri="{FF2B5EF4-FFF2-40B4-BE49-F238E27FC236}">
                    <a16:creationId xmlns:a16="http://schemas.microsoft.com/office/drawing/2014/main" id="{A58C4A06-738F-4B33-B7DC-802DDE591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39239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4" name="Conector recto 193">
                <a:extLst>
                  <a:ext uri="{FF2B5EF4-FFF2-40B4-BE49-F238E27FC236}">
                    <a16:creationId xmlns:a16="http://schemas.microsoft.com/office/drawing/2014/main" id="{AB2F767F-5D79-425D-9D06-EFD5F3412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413094" y="5321588"/>
                <a:ext cx="0" cy="178808"/>
              </a:xfrm>
              <a:prstGeom prst="line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7" name="CuadroTexto 196">
            <a:extLst>
              <a:ext uri="{FF2B5EF4-FFF2-40B4-BE49-F238E27FC236}">
                <a16:creationId xmlns:a16="http://schemas.microsoft.com/office/drawing/2014/main" id="{4FCD73C5-64F7-4EEC-9823-C9B0FD5F1DB5}"/>
              </a:ext>
            </a:extLst>
          </p:cNvPr>
          <p:cNvSpPr txBox="1"/>
          <p:nvPr/>
        </p:nvSpPr>
        <p:spPr>
          <a:xfrm>
            <a:off x="8248180" y="930728"/>
            <a:ext cx="161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  <a:cs typeface="Arial" panose="020B0604020202020204" pitchFamily="34" charset="0"/>
              </a:rPr>
              <a:t>Proceso A</a:t>
            </a:r>
          </a:p>
        </p:txBody>
      </p:sp>
      <p:sp>
        <p:nvSpPr>
          <p:cNvPr id="198" name="CuadroTexto 197">
            <a:extLst>
              <a:ext uri="{FF2B5EF4-FFF2-40B4-BE49-F238E27FC236}">
                <a16:creationId xmlns:a16="http://schemas.microsoft.com/office/drawing/2014/main" id="{E49E59CE-D3CE-484C-900C-7565DA5F9C6B}"/>
              </a:ext>
            </a:extLst>
          </p:cNvPr>
          <p:cNvSpPr txBox="1"/>
          <p:nvPr/>
        </p:nvSpPr>
        <p:spPr>
          <a:xfrm>
            <a:off x="8348204" y="3044717"/>
            <a:ext cx="1611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2400" b="1" dirty="0">
                <a:latin typeface="+mn-lt"/>
                <a:cs typeface="Arial" panose="020B0604020202020204" pitchFamily="34" charset="0"/>
              </a:rPr>
              <a:t>Proceso B</a:t>
            </a:r>
          </a:p>
        </p:txBody>
      </p:sp>
    </p:spTree>
    <p:extLst>
      <p:ext uri="{BB962C8B-B14F-4D97-AF65-F5344CB8AC3E}">
        <p14:creationId xmlns:p14="http://schemas.microsoft.com/office/powerpoint/2010/main" val="8492253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2"/>
          <p:cNvSpPr txBox="1">
            <a:spLocks noGrp="1"/>
          </p:cNvSpPr>
          <p:nvPr>
            <p:ph type="title"/>
          </p:nvPr>
        </p:nvSpPr>
        <p:spPr>
          <a:xfrm>
            <a:off x="768129" y="94614"/>
            <a:ext cx="8304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(Multi-</a:t>
            </a:r>
            <a:r>
              <a:rPr lang="es-ES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Level</a:t>
            </a: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Feedback Queue)</a:t>
            </a:r>
            <a:endParaRPr dirty="0"/>
          </a:p>
        </p:txBody>
      </p:sp>
      <p:sp>
        <p:nvSpPr>
          <p:cNvPr id="525" name="Google Shape;525;p42"/>
          <p:cNvSpPr txBox="1"/>
          <p:nvPr/>
        </p:nvSpPr>
        <p:spPr>
          <a:xfrm>
            <a:off x="588921" y="5973607"/>
            <a:ext cx="5466179" cy="800189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/>
              <a:t>MLFQ </a:t>
            </a:r>
            <a:r>
              <a:rPr lang="es-ES" sz="2000" dirty="0"/>
              <a:t>mantiene al proceso interactivo con la prioridad más alta.</a:t>
            </a:r>
            <a:endParaRPr sz="2000" dirty="0"/>
          </a:p>
        </p:txBody>
      </p:sp>
      <p:graphicFrame>
        <p:nvGraphicFramePr>
          <p:cNvPr id="15" name="Google Shape;1306;p83">
            <a:extLst>
              <a:ext uri="{FF2B5EF4-FFF2-40B4-BE49-F238E27FC236}">
                <a16:creationId xmlns:a16="http://schemas.microsoft.com/office/drawing/2014/main" id="{A212D30C-30EE-4ACC-8F70-4CB2922D31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2774016"/>
              </p:ext>
            </p:extLst>
          </p:nvPr>
        </p:nvGraphicFramePr>
        <p:xfrm>
          <a:off x="573532" y="1442373"/>
          <a:ext cx="5466179" cy="152391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122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063">
                  <a:extLst>
                    <a:ext uri="{9D8B030D-6E8A-4147-A177-3AD203B41FA5}">
                      <a16:colId xmlns:a16="http://schemas.microsoft.com/office/drawing/2014/main" val="3511923196"/>
                    </a:ext>
                  </a:extLst>
                </a:gridCol>
                <a:gridCol w="2123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721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+mn-lt"/>
                          <a:cs typeface="Arial" panose="020B0604020202020204" pitchFamily="34" charset="0"/>
                        </a:rPr>
                        <a:t>Proceso</a:t>
                      </a:r>
                      <a:endParaRPr sz="16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600" b="1" dirty="0"/>
                        <a:t>Arrival time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/>
                        <a:t>Run-time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A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10160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Tx/>
                        <a:buNone/>
                        <a:tabLst/>
                        <a:defRPr/>
                      </a:pP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200 +</a:t>
                      </a: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58773"/>
                  </a:ext>
                </a:extLst>
              </a:tr>
              <a:tr h="23160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+mn-lt"/>
                          <a:cs typeface="Arial" panose="020B0604020202020204" pitchFamily="34" charset="0"/>
                        </a:rPr>
                        <a:t>B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600" dirty="0">
                          <a:latin typeface="+mn-lt"/>
                          <a:cs typeface="Arial" panose="020B0604020202020204" pitchFamily="34" charset="0"/>
                        </a:rPr>
                        <a:t>50</a:t>
                      </a:r>
                      <a:endParaRPr sz="16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CPU-</a:t>
                      </a:r>
                      <a:r>
                        <a:rPr lang="es-MX" sz="16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1 ms</a:t>
                      </a:r>
                    </a:p>
                    <a:p>
                      <a:pPr marL="38735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Arial" panose="020B0604020202020204" pitchFamily="34" charset="0"/>
                        <a:buChar char="•"/>
                      </a:pPr>
                      <a:r>
                        <a:rPr lang="es-MX" sz="1600" b="1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I/O-</a:t>
                      </a:r>
                      <a:r>
                        <a:rPr lang="es-MX" sz="1600" b="1" dirty="0" err="1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Burst</a:t>
                      </a:r>
                      <a:r>
                        <a:rPr lang="es-MX" sz="1600" dirty="0">
                          <a:solidFill>
                            <a:schemeClr val="dk1"/>
                          </a:solidFill>
                          <a:latin typeface="+mn-lt"/>
                          <a:cs typeface="Arial" panose="020B0604020202020204" pitchFamily="34" charset="0"/>
                        </a:rPr>
                        <a:t>: 9m</a:t>
                      </a:r>
                      <a:endParaRPr sz="1600" dirty="0">
                        <a:solidFill>
                          <a:schemeClr val="dk1"/>
                        </a:solidFill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4" name="Grupo 3">
            <a:extLst>
              <a:ext uri="{FF2B5EF4-FFF2-40B4-BE49-F238E27FC236}">
                <a16:creationId xmlns:a16="http://schemas.microsoft.com/office/drawing/2014/main" id="{DE1D4776-F69C-4F96-882A-1EDCB36E1FCE}"/>
              </a:ext>
            </a:extLst>
          </p:cNvPr>
          <p:cNvGrpSpPr/>
          <p:nvPr/>
        </p:nvGrpSpPr>
        <p:grpSpPr>
          <a:xfrm>
            <a:off x="1013381" y="3087094"/>
            <a:ext cx="4729920" cy="2678396"/>
            <a:chOff x="920512" y="3288456"/>
            <a:chExt cx="4729920" cy="2678396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3ACFAF1D-37BE-467C-8F59-6768961A1AEF}"/>
                </a:ext>
              </a:extLst>
            </p:cNvPr>
            <p:cNvGrpSpPr/>
            <p:nvPr/>
          </p:nvGrpSpPr>
          <p:grpSpPr>
            <a:xfrm>
              <a:off x="920512" y="3288456"/>
              <a:ext cx="4729920" cy="2678396"/>
              <a:chOff x="808038" y="2037874"/>
              <a:chExt cx="4729920" cy="2678396"/>
            </a:xfrm>
          </p:grpSpPr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A4ECF10A-A594-482D-9062-8F672B63C484}"/>
                  </a:ext>
                </a:extLst>
              </p:cNvPr>
              <p:cNvSpPr txBox="1"/>
              <p:nvPr/>
            </p:nvSpPr>
            <p:spPr>
              <a:xfrm>
                <a:off x="4889769" y="2610666"/>
                <a:ext cx="5806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O" b="1" dirty="0"/>
                  <a:t>CPU</a:t>
                </a:r>
              </a:p>
            </p:txBody>
          </p:sp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4A41B74D-ABDC-4C99-A25D-9540027D0EC9}"/>
                  </a:ext>
                </a:extLst>
              </p:cNvPr>
              <p:cNvGrpSpPr/>
              <p:nvPr/>
            </p:nvGrpSpPr>
            <p:grpSpPr>
              <a:xfrm>
                <a:off x="1177442" y="2382475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7" name="Conector recto 46">
                  <a:extLst>
                    <a:ext uri="{FF2B5EF4-FFF2-40B4-BE49-F238E27FC236}">
                      <a16:creationId xmlns:a16="http://schemas.microsoft.com/office/drawing/2014/main" id="{98C5A91B-6CD7-4A45-ABD9-D8DDF73D83E8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Conector recto 47">
                  <a:extLst>
                    <a:ext uri="{FF2B5EF4-FFF2-40B4-BE49-F238E27FC236}">
                      <a16:creationId xmlns:a16="http://schemas.microsoft.com/office/drawing/2014/main" id="{C0BA2699-BBCF-4086-A08B-4333B970715B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" name="Conector recto 48">
                  <a:extLst>
                    <a:ext uri="{FF2B5EF4-FFF2-40B4-BE49-F238E27FC236}">
                      <a16:creationId xmlns:a16="http://schemas.microsoft.com/office/drawing/2014/main" id="{A91212B3-3E75-487B-A552-F4F8CAFDBD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21F80450-DAA4-43A6-BFAE-484B96FF7C29}"/>
                  </a:ext>
                </a:extLst>
              </p:cNvPr>
              <p:cNvSpPr txBox="1"/>
              <p:nvPr/>
            </p:nvSpPr>
            <p:spPr>
              <a:xfrm>
                <a:off x="2182583" y="203787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Q2</a:t>
                </a:r>
              </a:p>
            </p:txBody>
          </p:sp>
          <p:grpSp>
            <p:nvGrpSpPr>
              <p:cNvPr id="20" name="Grupo 19">
                <a:extLst>
                  <a:ext uri="{FF2B5EF4-FFF2-40B4-BE49-F238E27FC236}">
                    <a16:creationId xmlns:a16="http://schemas.microsoft.com/office/drawing/2014/main" id="{62306187-9159-431D-BE0C-97AA18C59509}"/>
                  </a:ext>
                </a:extLst>
              </p:cNvPr>
              <p:cNvGrpSpPr/>
              <p:nvPr/>
            </p:nvGrpSpPr>
            <p:grpSpPr>
              <a:xfrm>
                <a:off x="1175087" y="3331985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4" name="Conector recto 43">
                  <a:extLst>
                    <a:ext uri="{FF2B5EF4-FFF2-40B4-BE49-F238E27FC236}">
                      <a16:creationId xmlns:a16="http://schemas.microsoft.com/office/drawing/2014/main" id="{38D09EBF-4294-4C6A-AC96-B1C8E4CBAFBC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Conector recto 44">
                  <a:extLst>
                    <a:ext uri="{FF2B5EF4-FFF2-40B4-BE49-F238E27FC236}">
                      <a16:creationId xmlns:a16="http://schemas.microsoft.com/office/drawing/2014/main" id="{F3B2141C-32E4-4DB8-BD7C-F91EC02637B5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Conector recto 45">
                  <a:extLst>
                    <a:ext uri="{FF2B5EF4-FFF2-40B4-BE49-F238E27FC236}">
                      <a16:creationId xmlns:a16="http://schemas.microsoft.com/office/drawing/2014/main" id="{6FA2AE15-9FFF-4C59-B934-9C617D6DC3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CuadroTexto 20">
                <a:extLst>
                  <a:ext uri="{FF2B5EF4-FFF2-40B4-BE49-F238E27FC236}">
                    <a16:creationId xmlns:a16="http://schemas.microsoft.com/office/drawing/2014/main" id="{942B37D9-225F-4ADA-9566-A446A7ED8858}"/>
                  </a:ext>
                </a:extLst>
              </p:cNvPr>
              <p:cNvSpPr txBox="1"/>
              <p:nvPr/>
            </p:nvSpPr>
            <p:spPr>
              <a:xfrm>
                <a:off x="2180228" y="2987384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Q1</a:t>
                </a:r>
              </a:p>
            </p:txBody>
          </p:sp>
          <p:grpSp>
            <p:nvGrpSpPr>
              <p:cNvPr id="22" name="Grupo 21">
                <a:extLst>
                  <a:ext uri="{FF2B5EF4-FFF2-40B4-BE49-F238E27FC236}">
                    <a16:creationId xmlns:a16="http://schemas.microsoft.com/office/drawing/2014/main" id="{4FF27F6A-1877-45B9-8A96-5C53B9E014E8}"/>
                  </a:ext>
                </a:extLst>
              </p:cNvPr>
              <p:cNvGrpSpPr/>
              <p:nvPr/>
            </p:nvGrpSpPr>
            <p:grpSpPr>
              <a:xfrm>
                <a:off x="1172732" y="4297789"/>
                <a:ext cx="2480084" cy="418481"/>
                <a:chOff x="3934951" y="4789478"/>
                <a:chExt cx="2480084" cy="831255"/>
              </a:xfrm>
            </p:grpSpPr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7BCCA196-6A36-427B-B334-6C4AE3F2417B}"/>
                    </a:ext>
                  </a:extLst>
                </p:cNvPr>
                <p:cNvCxnSpPr/>
                <p:nvPr/>
              </p:nvCxnSpPr>
              <p:spPr>
                <a:xfrm>
                  <a:off x="3934952" y="4795063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Conector recto 41">
                  <a:extLst>
                    <a:ext uri="{FF2B5EF4-FFF2-40B4-BE49-F238E27FC236}">
                      <a16:creationId xmlns:a16="http://schemas.microsoft.com/office/drawing/2014/main" id="{5C35BCDC-7965-4DF6-99B8-F54A0412EC69}"/>
                    </a:ext>
                  </a:extLst>
                </p:cNvPr>
                <p:cNvCxnSpPr/>
                <p:nvPr/>
              </p:nvCxnSpPr>
              <p:spPr>
                <a:xfrm>
                  <a:off x="3934951" y="5609561"/>
                  <a:ext cx="2477729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Conector recto 42">
                  <a:extLst>
                    <a:ext uri="{FF2B5EF4-FFF2-40B4-BE49-F238E27FC236}">
                      <a16:creationId xmlns:a16="http://schemas.microsoft.com/office/drawing/2014/main" id="{9E29520A-22B9-41E9-8803-EBAC53A8B8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415035" y="4789478"/>
                  <a:ext cx="0" cy="831255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A9CDE1E0-C0FD-4845-AD2F-80143EE814DA}"/>
                  </a:ext>
                </a:extLst>
              </p:cNvPr>
              <p:cNvSpPr txBox="1"/>
              <p:nvPr/>
            </p:nvSpPr>
            <p:spPr>
              <a:xfrm>
                <a:off x="2177873" y="3953188"/>
                <a:ext cx="4603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CO" b="1" dirty="0"/>
                  <a:t>Q0</a:t>
                </a:r>
              </a:p>
            </p:txBody>
          </p: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8706B966-3283-4ACD-BD1B-867021EB31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8038" y="2587295"/>
                <a:ext cx="364694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Grupo 24">
                <a:extLst>
                  <a:ext uri="{FF2B5EF4-FFF2-40B4-BE49-F238E27FC236}">
                    <a16:creationId xmlns:a16="http://schemas.microsoft.com/office/drawing/2014/main" id="{6FF4EEE1-3CF9-4C64-94AB-ED49B412FD5C}"/>
                  </a:ext>
                </a:extLst>
              </p:cNvPr>
              <p:cNvGrpSpPr/>
              <p:nvPr/>
            </p:nvGrpSpPr>
            <p:grpSpPr>
              <a:xfrm>
                <a:off x="808038" y="2721496"/>
                <a:ext cx="3139440" cy="825670"/>
                <a:chOff x="5090160" y="3201486"/>
                <a:chExt cx="3139440" cy="825670"/>
              </a:xfrm>
            </p:grpSpPr>
            <p:cxnSp>
              <p:nvCxnSpPr>
                <p:cNvPr id="36" name="Conector recto 35">
                  <a:extLst>
                    <a:ext uri="{FF2B5EF4-FFF2-40B4-BE49-F238E27FC236}">
                      <a16:creationId xmlns:a16="http://schemas.microsoft.com/office/drawing/2014/main" id="{8FBC6891-5CE6-4AE7-B50E-621D5E827A9C}"/>
                    </a:ext>
                  </a:extLst>
                </p:cNvPr>
                <p:cNvCxnSpPr/>
                <p:nvPr/>
              </p:nvCxnSpPr>
              <p:spPr>
                <a:xfrm>
                  <a:off x="7932583" y="3201486"/>
                  <a:ext cx="29701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Conector recto 36">
                  <a:extLst>
                    <a:ext uri="{FF2B5EF4-FFF2-40B4-BE49-F238E27FC236}">
                      <a16:creationId xmlns:a16="http://schemas.microsoft.com/office/drawing/2014/main" id="{9BD19EEC-25CD-4DDC-B666-B5360D4910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31394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C6722D73-307C-46C5-88AA-C77B15DDF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9718" y="3201486"/>
                  <a:ext cx="3532" cy="2697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Conector recto 38">
                  <a:extLst>
                    <a:ext uri="{FF2B5EF4-FFF2-40B4-BE49-F238E27FC236}">
                      <a16:creationId xmlns:a16="http://schemas.microsoft.com/office/drawing/2014/main" id="{BDE42F3A-3120-490F-AFC7-973A4BA52C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0" cy="5559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Conector recto 39">
                  <a:extLst>
                    <a:ext uri="{FF2B5EF4-FFF2-40B4-BE49-F238E27FC236}">
                      <a16:creationId xmlns:a16="http://schemas.microsoft.com/office/drawing/2014/main" id="{93808A68-DA21-4788-9AF6-FBE7935570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4020622"/>
                  <a:ext cx="36469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Grupo 25">
                <a:extLst>
                  <a:ext uri="{FF2B5EF4-FFF2-40B4-BE49-F238E27FC236}">
                    <a16:creationId xmlns:a16="http://schemas.microsoft.com/office/drawing/2014/main" id="{2D52483D-9475-4D62-AC80-CBB38D6C60AF}"/>
                  </a:ext>
                </a:extLst>
              </p:cNvPr>
              <p:cNvGrpSpPr/>
              <p:nvPr/>
            </p:nvGrpSpPr>
            <p:grpSpPr>
              <a:xfrm>
                <a:off x="808038" y="3674010"/>
                <a:ext cx="3139440" cy="825670"/>
                <a:chOff x="5090160" y="3201486"/>
                <a:chExt cx="3139440" cy="825670"/>
              </a:xfrm>
            </p:grpSpPr>
            <p:cxnSp>
              <p:nvCxnSpPr>
                <p:cNvPr id="31" name="Conector recto 30">
                  <a:extLst>
                    <a:ext uri="{FF2B5EF4-FFF2-40B4-BE49-F238E27FC236}">
                      <a16:creationId xmlns:a16="http://schemas.microsoft.com/office/drawing/2014/main" id="{B579F665-E683-44EE-9196-A3D93AF807CF}"/>
                    </a:ext>
                  </a:extLst>
                </p:cNvPr>
                <p:cNvCxnSpPr/>
                <p:nvPr/>
              </p:nvCxnSpPr>
              <p:spPr>
                <a:xfrm>
                  <a:off x="7932583" y="3201486"/>
                  <a:ext cx="297017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Conector recto 31">
                  <a:extLst>
                    <a:ext uri="{FF2B5EF4-FFF2-40B4-BE49-F238E27FC236}">
                      <a16:creationId xmlns:a16="http://schemas.microsoft.com/office/drawing/2014/main" id="{1622430E-EDE3-4F14-8DBB-A8F7B5F35E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313944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Conector recto 32">
                  <a:extLst>
                    <a:ext uri="{FF2B5EF4-FFF2-40B4-BE49-F238E27FC236}">
                      <a16:creationId xmlns:a16="http://schemas.microsoft.com/office/drawing/2014/main" id="{511C84AA-7B29-4CB9-AEAE-D1F8EA9FC3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19718" y="3201486"/>
                  <a:ext cx="3532" cy="26971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Conector recto 33">
                  <a:extLst>
                    <a:ext uri="{FF2B5EF4-FFF2-40B4-BE49-F238E27FC236}">
                      <a16:creationId xmlns:a16="http://schemas.microsoft.com/office/drawing/2014/main" id="{B8C90DEF-CC35-495C-A983-80EE1EC03B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3471201"/>
                  <a:ext cx="0" cy="5559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5CAC18A9-54BB-4F49-A7B8-04E3FFD049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090160" y="4020622"/>
                  <a:ext cx="364694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525847E2-036E-4D17-B0BA-43A04E83AD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526" y="2575349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Conector recto 27">
                <a:extLst>
                  <a:ext uri="{FF2B5EF4-FFF2-40B4-BE49-F238E27FC236}">
                    <a16:creationId xmlns:a16="http://schemas.microsoft.com/office/drawing/2014/main" id="{941332B2-B76F-46DC-B94D-9E173F0A10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0460" y="3517242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0AB3927D-AEA9-4F7D-B8A6-520340950A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7526" y="4507029"/>
                <a:ext cx="653699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Rectángulo 29">
                <a:extLst>
                  <a:ext uri="{FF2B5EF4-FFF2-40B4-BE49-F238E27FC236}">
                    <a16:creationId xmlns:a16="http://schemas.microsoft.com/office/drawing/2014/main" id="{D24D5F0C-03BC-4B4F-8939-13BA422D4F8F}"/>
                  </a:ext>
                </a:extLst>
              </p:cNvPr>
              <p:cNvSpPr/>
              <p:nvPr/>
            </p:nvSpPr>
            <p:spPr>
              <a:xfrm>
                <a:off x="4807655" y="3099585"/>
                <a:ext cx="730303" cy="66422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O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2201B0D0-B418-4BD1-AAE9-24F866A0A2A2}"/>
                    </a:ext>
                  </a:extLst>
                </p:cNvPr>
                <p:cNvSpPr txBox="1"/>
                <p:nvPr/>
              </p:nvSpPr>
              <p:spPr>
                <a:xfrm>
                  <a:off x="2750729" y="3404455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2201B0D0-B418-4BD1-AAE9-24F866A0A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9" y="3404455"/>
                  <a:ext cx="605037" cy="161583"/>
                </a:xfrm>
                <a:prstGeom prst="rect">
                  <a:avLst/>
                </a:prstGeom>
                <a:blipFill>
                  <a:blip r:embed="rId3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4101BA90-908D-4FA8-B054-C6ACB58ECF27}"/>
                    </a:ext>
                  </a:extLst>
                </p:cNvPr>
                <p:cNvSpPr txBox="1"/>
                <p:nvPr/>
              </p:nvSpPr>
              <p:spPr>
                <a:xfrm>
                  <a:off x="2750729" y="4370656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4101BA90-908D-4FA8-B054-C6ACB58ECF2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9" y="4370656"/>
                  <a:ext cx="605037" cy="161583"/>
                </a:xfrm>
                <a:prstGeom prst="rect">
                  <a:avLst/>
                </a:prstGeom>
                <a:blipFill>
                  <a:blip r:embed="rId4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94E2BB88-CE2B-4EB6-B458-4D0A2450CB36}"/>
                    </a:ext>
                  </a:extLst>
                </p:cNvPr>
                <p:cNvSpPr txBox="1"/>
                <p:nvPr/>
              </p:nvSpPr>
              <p:spPr>
                <a:xfrm>
                  <a:off x="2750728" y="5335832"/>
                  <a:ext cx="605037" cy="16158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s-MX" sz="1050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s-MX" sz="1050" b="0" i="1" smtClean="0">
                                <a:latin typeface="Cambria Math" panose="02040503050406030204" pitchFamily="18" charset="0"/>
                              </a:rPr>
                              <m:t>=10</m:t>
                            </m:r>
                          </m:e>
                        </m:d>
                      </m:oMath>
                    </m:oMathPara>
                  </a14:m>
                  <a:endParaRPr lang="es-CO" sz="1050" dirty="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94E2BB88-CE2B-4EB6-B458-4D0A2450C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728" y="5335832"/>
                  <a:ext cx="605037" cy="161583"/>
                </a:xfrm>
                <a:prstGeom prst="rect">
                  <a:avLst/>
                </a:prstGeom>
                <a:blipFill>
                  <a:blip r:embed="rId5"/>
                  <a:stretch>
                    <a:fillRect b="-7407"/>
                  </a:stretch>
                </a:blipFill>
              </p:spPr>
              <p:txBody>
                <a:bodyPr/>
                <a:lstStyle/>
                <a:p>
                  <a:r>
                    <a:rPr lang="es-CO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Google Shape;516;p42">
            <a:extLst>
              <a:ext uri="{FF2B5EF4-FFF2-40B4-BE49-F238E27FC236}">
                <a16:creationId xmlns:a16="http://schemas.microsoft.com/office/drawing/2014/main" id="{437CD423-8B87-4686-B71A-B8333D1C7D0D}"/>
              </a:ext>
            </a:extLst>
          </p:cNvPr>
          <p:cNvSpPr txBox="1">
            <a:spLocks/>
          </p:cNvSpPr>
          <p:nvPr/>
        </p:nvSpPr>
        <p:spPr>
          <a:xfrm>
            <a:off x="522559" y="781597"/>
            <a:ext cx="4924800" cy="4771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b="1" dirty="0">
                <a:latin typeface="+mn-lt"/>
              </a:rPr>
              <a:t>Ejemplo 3 - Proceso I/O bound</a:t>
            </a:r>
            <a:endParaRPr lang="es-MX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6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18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7A37628-0189-42F3-847F-A26D194E10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6283" y="958099"/>
            <a:ext cx="4512504" cy="4123335"/>
          </a:xfrm>
          <a:prstGeom prst="rect">
            <a:avLst/>
          </a:prstGeom>
        </p:spPr>
      </p:pic>
      <p:grpSp>
        <p:nvGrpSpPr>
          <p:cNvPr id="57" name="Google Shape;518;p42">
            <a:extLst>
              <a:ext uri="{FF2B5EF4-FFF2-40B4-BE49-F238E27FC236}">
                <a16:creationId xmlns:a16="http://schemas.microsoft.com/office/drawing/2014/main" id="{A578328D-6B7E-4ABC-892D-ED9E1C51CC7A}"/>
              </a:ext>
            </a:extLst>
          </p:cNvPr>
          <p:cNvGrpSpPr/>
          <p:nvPr/>
        </p:nvGrpSpPr>
        <p:grpSpPr>
          <a:xfrm>
            <a:off x="11002089" y="1044114"/>
            <a:ext cx="787300" cy="1048500"/>
            <a:chOff x="10792175" y="1437025"/>
            <a:chExt cx="787300" cy="1048500"/>
          </a:xfrm>
        </p:grpSpPr>
        <p:grpSp>
          <p:nvGrpSpPr>
            <p:cNvPr id="58" name="Google Shape;519;p42">
              <a:extLst>
                <a:ext uri="{FF2B5EF4-FFF2-40B4-BE49-F238E27FC236}">
                  <a16:creationId xmlns:a16="http://schemas.microsoft.com/office/drawing/2014/main" id="{433358B1-48B4-4C7E-829A-27728C0E535D}"/>
                </a:ext>
              </a:extLst>
            </p:cNvPr>
            <p:cNvGrpSpPr/>
            <p:nvPr/>
          </p:nvGrpSpPr>
          <p:grpSpPr>
            <a:xfrm>
              <a:off x="10792175" y="1437025"/>
              <a:ext cx="787300" cy="461700"/>
              <a:chOff x="10792175" y="1437025"/>
              <a:chExt cx="787300" cy="461700"/>
            </a:xfrm>
          </p:grpSpPr>
          <p:sp>
            <p:nvSpPr>
              <p:cNvPr id="62" name="Google Shape;520;p42">
                <a:extLst>
                  <a:ext uri="{FF2B5EF4-FFF2-40B4-BE49-F238E27FC236}">
                    <a16:creationId xmlns:a16="http://schemas.microsoft.com/office/drawing/2014/main" id="{30F844BF-8339-4119-98AF-4BD3476EFA5F}"/>
                  </a:ext>
                </a:extLst>
              </p:cNvPr>
              <p:cNvSpPr/>
              <p:nvPr/>
            </p:nvSpPr>
            <p:spPr>
              <a:xfrm>
                <a:off x="11300175" y="1521775"/>
                <a:ext cx="279300" cy="292200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521;p42">
                <a:extLst>
                  <a:ext uri="{FF2B5EF4-FFF2-40B4-BE49-F238E27FC236}">
                    <a16:creationId xmlns:a16="http://schemas.microsoft.com/office/drawing/2014/main" id="{26AA8F8A-D14D-40B1-BA51-B51C321C248E}"/>
                  </a:ext>
                </a:extLst>
              </p:cNvPr>
              <p:cNvSpPr txBox="1"/>
              <p:nvPr/>
            </p:nvSpPr>
            <p:spPr>
              <a:xfrm>
                <a:off x="10792175" y="14370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A</a:t>
                </a:r>
                <a:endParaRPr sz="1800" b="1"/>
              </a:p>
            </p:txBody>
          </p:sp>
        </p:grpSp>
        <p:grpSp>
          <p:nvGrpSpPr>
            <p:cNvPr id="59" name="Google Shape;522;p42">
              <a:extLst>
                <a:ext uri="{FF2B5EF4-FFF2-40B4-BE49-F238E27FC236}">
                  <a16:creationId xmlns:a16="http://schemas.microsoft.com/office/drawing/2014/main" id="{1E38805D-D65D-44D6-B7E7-B4F3CB399A3E}"/>
                </a:ext>
              </a:extLst>
            </p:cNvPr>
            <p:cNvGrpSpPr/>
            <p:nvPr/>
          </p:nvGrpSpPr>
          <p:grpSpPr>
            <a:xfrm>
              <a:off x="10792175" y="2023825"/>
              <a:ext cx="787300" cy="461700"/>
              <a:chOff x="10792175" y="2023825"/>
              <a:chExt cx="787300" cy="461700"/>
            </a:xfrm>
          </p:grpSpPr>
          <p:sp>
            <p:nvSpPr>
              <p:cNvPr id="60" name="Google Shape;523;p42">
                <a:extLst>
                  <a:ext uri="{FF2B5EF4-FFF2-40B4-BE49-F238E27FC236}">
                    <a16:creationId xmlns:a16="http://schemas.microsoft.com/office/drawing/2014/main" id="{3E4285F9-12FF-419B-B755-54715C7BC9C2}"/>
                  </a:ext>
                </a:extLst>
              </p:cNvPr>
              <p:cNvSpPr/>
              <p:nvPr/>
            </p:nvSpPr>
            <p:spPr>
              <a:xfrm>
                <a:off x="11300175" y="2093275"/>
                <a:ext cx="279300" cy="292200"/>
              </a:xfrm>
              <a:prstGeom prst="rect">
                <a:avLst/>
              </a:prstGeom>
              <a:solidFill>
                <a:srgbClr val="D9D9D9"/>
              </a:solidFill>
              <a:ln w="9525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524;p42">
                <a:extLst>
                  <a:ext uri="{FF2B5EF4-FFF2-40B4-BE49-F238E27FC236}">
                    <a16:creationId xmlns:a16="http://schemas.microsoft.com/office/drawing/2014/main" id="{ED895FEE-ACE2-4389-83AD-CA339C5A6146}"/>
                  </a:ext>
                </a:extLst>
              </p:cNvPr>
              <p:cNvSpPr txBox="1"/>
              <p:nvPr/>
            </p:nvSpPr>
            <p:spPr>
              <a:xfrm>
                <a:off x="10792175" y="2023825"/>
                <a:ext cx="3810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/>
                  <a:t>B</a:t>
                </a:r>
                <a:endParaRPr sz="1800" b="1"/>
              </a:p>
            </p:txBody>
          </p:sp>
        </p:grpSp>
      </p:grpSp>
      <p:grpSp>
        <p:nvGrpSpPr>
          <p:cNvPr id="83" name="Grupo 82">
            <a:extLst>
              <a:ext uri="{FF2B5EF4-FFF2-40B4-BE49-F238E27FC236}">
                <a16:creationId xmlns:a16="http://schemas.microsoft.com/office/drawing/2014/main" id="{0B979D12-28F8-4087-91C1-D317934CD85D}"/>
              </a:ext>
            </a:extLst>
          </p:cNvPr>
          <p:cNvGrpSpPr/>
          <p:nvPr/>
        </p:nvGrpSpPr>
        <p:grpSpPr>
          <a:xfrm>
            <a:off x="6272687" y="5244924"/>
            <a:ext cx="5530631" cy="1381742"/>
            <a:chOff x="6272687" y="5215428"/>
            <a:chExt cx="5530631" cy="1381742"/>
          </a:xfrm>
        </p:grpSpPr>
        <p:grpSp>
          <p:nvGrpSpPr>
            <p:cNvPr id="84" name="Grupo 83">
              <a:extLst>
                <a:ext uri="{FF2B5EF4-FFF2-40B4-BE49-F238E27FC236}">
                  <a16:creationId xmlns:a16="http://schemas.microsoft.com/office/drawing/2014/main" id="{5C170EEF-E87D-4BE1-8C42-B780948D4D96}"/>
                </a:ext>
              </a:extLst>
            </p:cNvPr>
            <p:cNvGrpSpPr/>
            <p:nvPr/>
          </p:nvGrpSpPr>
          <p:grpSpPr>
            <a:xfrm>
              <a:off x="6990775" y="5215428"/>
              <a:ext cx="4392264" cy="1018644"/>
              <a:chOff x="6286570" y="5198935"/>
              <a:chExt cx="2767550" cy="1159914"/>
            </a:xfrm>
          </p:grpSpPr>
          <p:cxnSp>
            <p:nvCxnSpPr>
              <p:cNvPr id="103" name="Conector recto de flecha 102">
                <a:extLst>
                  <a:ext uri="{FF2B5EF4-FFF2-40B4-BE49-F238E27FC236}">
                    <a16:creationId xmlns:a16="http://schemas.microsoft.com/office/drawing/2014/main" id="{2CA14F36-64AB-4805-86E4-40844279FE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49"/>
                <a:ext cx="276755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Conector recto de flecha 103">
                <a:extLst>
                  <a:ext uri="{FF2B5EF4-FFF2-40B4-BE49-F238E27FC236}">
                    <a16:creationId xmlns:a16="http://schemas.microsoft.com/office/drawing/2014/main" id="{F270EB0A-4A54-4880-BD06-583BC247E06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5" name="CuadroTexto 84">
              <a:extLst>
                <a:ext uri="{FF2B5EF4-FFF2-40B4-BE49-F238E27FC236}">
                  <a16:creationId xmlns:a16="http://schemas.microsoft.com/office/drawing/2014/main" id="{250CC16B-12C3-42EF-AF33-C3CB56DCAC76}"/>
                </a:ext>
              </a:extLst>
            </p:cNvPr>
            <p:cNvSpPr txBox="1"/>
            <p:nvPr/>
          </p:nvSpPr>
          <p:spPr>
            <a:xfrm>
              <a:off x="11383039" y="6081424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/>
                <a:t>t</a:t>
              </a:r>
              <a:endParaRPr lang="es-CO" b="1" dirty="0"/>
            </a:p>
          </p:txBody>
        </p:sp>
        <p:sp>
          <p:nvSpPr>
            <p:cNvPr id="86" name="CuadroTexto 85">
              <a:extLst>
                <a:ext uri="{FF2B5EF4-FFF2-40B4-BE49-F238E27FC236}">
                  <a16:creationId xmlns:a16="http://schemas.microsoft.com/office/drawing/2014/main" id="{3C1D731A-48DB-4814-90BF-D0F119840589}"/>
                </a:ext>
              </a:extLst>
            </p:cNvPr>
            <p:cNvSpPr txBox="1"/>
            <p:nvPr/>
          </p:nvSpPr>
          <p:spPr>
            <a:xfrm>
              <a:off x="6272687" y="5627064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/>
                <a:t>CPU</a:t>
              </a:r>
              <a:endParaRPr lang="es-CO" b="1" dirty="0"/>
            </a:p>
          </p:txBody>
        </p:sp>
        <p:cxnSp>
          <p:nvCxnSpPr>
            <p:cNvPr id="87" name="Conector recto 86">
              <a:extLst>
                <a:ext uri="{FF2B5EF4-FFF2-40B4-BE49-F238E27FC236}">
                  <a16:creationId xmlns:a16="http://schemas.microsoft.com/office/drawing/2014/main" id="{2D91F8BA-8600-488D-BAC7-6563A1A10469}"/>
                </a:ext>
              </a:extLst>
            </p:cNvPr>
            <p:cNvCxnSpPr>
              <a:cxnSpLocks/>
            </p:cNvCxnSpPr>
            <p:nvPr/>
          </p:nvCxnSpPr>
          <p:spPr>
            <a:xfrm>
              <a:off x="7926358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recto 87">
              <a:extLst>
                <a:ext uri="{FF2B5EF4-FFF2-40B4-BE49-F238E27FC236}">
                  <a16:creationId xmlns:a16="http://schemas.microsoft.com/office/drawing/2014/main" id="{CCE2D08D-03DA-4EF7-A04E-EC66688B774F}"/>
                </a:ext>
              </a:extLst>
            </p:cNvPr>
            <p:cNvCxnSpPr>
              <a:cxnSpLocks/>
            </p:cNvCxnSpPr>
            <p:nvPr/>
          </p:nvCxnSpPr>
          <p:spPr>
            <a:xfrm>
              <a:off x="7355258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recto 88">
              <a:extLst>
                <a:ext uri="{FF2B5EF4-FFF2-40B4-BE49-F238E27FC236}">
                  <a16:creationId xmlns:a16="http://schemas.microsoft.com/office/drawing/2014/main" id="{6B679821-8D9F-4DDA-AABF-1873AD0DA1D7}"/>
                </a:ext>
              </a:extLst>
            </p:cNvPr>
            <p:cNvCxnSpPr>
              <a:cxnSpLocks/>
            </p:cNvCxnSpPr>
            <p:nvPr/>
          </p:nvCxnSpPr>
          <p:spPr>
            <a:xfrm>
              <a:off x="8844258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recto 89">
              <a:extLst>
                <a:ext uri="{FF2B5EF4-FFF2-40B4-BE49-F238E27FC236}">
                  <a16:creationId xmlns:a16="http://schemas.microsoft.com/office/drawing/2014/main" id="{23F58880-083D-4808-B1AE-15B16F5820DE}"/>
                </a:ext>
              </a:extLst>
            </p:cNvPr>
            <p:cNvCxnSpPr>
              <a:cxnSpLocks/>
            </p:cNvCxnSpPr>
            <p:nvPr/>
          </p:nvCxnSpPr>
          <p:spPr>
            <a:xfrm>
              <a:off x="8366339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recto 90">
              <a:extLst>
                <a:ext uri="{FF2B5EF4-FFF2-40B4-BE49-F238E27FC236}">
                  <a16:creationId xmlns:a16="http://schemas.microsoft.com/office/drawing/2014/main" id="{633A1E54-DA2E-4122-9D45-C676D515747F}"/>
                </a:ext>
              </a:extLst>
            </p:cNvPr>
            <p:cNvCxnSpPr>
              <a:cxnSpLocks/>
            </p:cNvCxnSpPr>
            <p:nvPr/>
          </p:nvCxnSpPr>
          <p:spPr>
            <a:xfrm>
              <a:off x="9750281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recto 91">
              <a:extLst>
                <a:ext uri="{FF2B5EF4-FFF2-40B4-BE49-F238E27FC236}">
                  <a16:creationId xmlns:a16="http://schemas.microsoft.com/office/drawing/2014/main" id="{A2A04BA5-6954-493D-A2C3-13FECFC9BC49}"/>
                </a:ext>
              </a:extLst>
            </p:cNvPr>
            <p:cNvCxnSpPr>
              <a:cxnSpLocks/>
            </p:cNvCxnSpPr>
            <p:nvPr/>
          </p:nvCxnSpPr>
          <p:spPr>
            <a:xfrm>
              <a:off x="9286626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recto 92">
              <a:extLst>
                <a:ext uri="{FF2B5EF4-FFF2-40B4-BE49-F238E27FC236}">
                  <a16:creationId xmlns:a16="http://schemas.microsoft.com/office/drawing/2014/main" id="{C77FC2EF-3ED7-47E0-8280-7979933B3A9F}"/>
                </a:ext>
              </a:extLst>
            </p:cNvPr>
            <p:cNvCxnSpPr>
              <a:cxnSpLocks/>
            </p:cNvCxnSpPr>
            <p:nvPr/>
          </p:nvCxnSpPr>
          <p:spPr>
            <a:xfrm>
              <a:off x="10675132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recto 93">
              <a:extLst>
                <a:ext uri="{FF2B5EF4-FFF2-40B4-BE49-F238E27FC236}">
                  <a16:creationId xmlns:a16="http://schemas.microsoft.com/office/drawing/2014/main" id="{727475C0-2040-4123-B641-2911620515F0}"/>
                </a:ext>
              </a:extLst>
            </p:cNvPr>
            <p:cNvCxnSpPr>
              <a:cxnSpLocks/>
            </p:cNvCxnSpPr>
            <p:nvPr/>
          </p:nvCxnSpPr>
          <p:spPr>
            <a:xfrm>
              <a:off x="10192427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CuadroTexto 94">
              <a:extLst>
                <a:ext uri="{FF2B5EF4-FFF2-40B4-BE49-F238E27FC236}">
                  <a16:creationId xmlns:a16="http://schemas.microsoft.com/office/drawing/2014/main" id="{ABDC59C6-E70A-49EC-998F-93FF50461CB1}"/>
                </a:ext>
              </a:extLst>
            </p:cNvPr>
            <p:cNvSpPr txBox="1"/>
            <p:nvPr/>
          </p:nvSpPr>
          <p:spPr>
            <a:xfrm>
              <a:off x="6853295" y="6278041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0</a:t>
              </a:r>
              <a:endParaRPr lang="es-CO" sz="1400" b="1" dirty="0"/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08FBA8E0-6ED2-4E17-97BF-D22655D52318}"/>
                </a:ext>
              </a:extLst>
            </p:cNvPr>
            <p:cNvSpPr txBox="1"/>
            <p:nvPr/>
          </p:nvSpPr>
          <p:spPr>
            <a:xfrm>
              <a:off x="7742654" y="628939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50</a:t>
              </a:r>
              <a:endParaRPr lang="es-CO" sz="1400" b="1" dirty="0"/>
            </a:p>
          </p:txBody>
        </p:sp>
        <p:sp>
          <p:nvSpPr>
            <p:cNvPr id="97" name="CuadroTexto 96">
              <a:extLst>
                <a:ext uri="{FF2B5EF4-FFF2-40B4-BE49-F238E27FC236}">
                  <a16:creationId xmlns:a16="http://schemas.microsoft.com/office/drawing/2014/main" id="{C5C4860C-F6A4-4A73-92F7-86DE7C484185}"/>
                </a:ext>
              </a:extLst>
            </p:cNvPr>
            <p:cNvSpPr txBox="1"/>
            <p:nvPr/>
          </p:nvSpPr>
          <p:spPr>
            <a:xfrm>
              <a:off x="8613236" y="62780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100</a:t>
              </a:r>
              <a:endParaRPr lang="es-CO" sz="1400" b="1" dirty="0"/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AD6679E9-3E6F-4B0B-B2C1-08902464AFEE}"/>
                </a:ext>
              </a:extLst>
            </p:cNvPr>
            <p:cNvSpPr txBox="1"/>
            <p:nvPr/>
          </p:nvSpPr>
          <p:spPr>
            <a:xfrm>
              <a:off x="9520995" y="627488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150</a:t>
              </a:r>
              <a:endParaRPr lang="es-CO" sz="1400" b="1" dirty="0"/>
            </a:p>
          </p:txBody>
        </p:sp>
        <p:sp>
          <p:nvSpPr>
            <p:cNvPr id="99" name="CuadroTexto 98">
              <a:extLst>
                <a:ext uri="{FF2B5EF4-FFF2-40B4-BE49-F238E27FC236}">
                  <a16:creationId xmlns:a16="http://schemas.microsoft.com/office/drawing/2014/main" id="{D45A845E-A3DB-43EB-8168-069E3B450558}"/>
                </a:ext>
              </a:extLst>
            </p:cNvPr>
            <p:cNvSpPr txBox="1"/>
            <p:nvPr/>
          </p:nvSpPr>
          <p:spPr>
            <a:xfrm>
              <a:off x="10441554" y="6269727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/>
                <a:t>200</a:t>
              </a:r>
              <a:endParaRPr lang="es-CO" sz="1400" b="1" dirty="0"/>
            </a:p>
          </p:txBody>
        </p:sp>
        <p:cxnSp>
          <p:nvCxnSpPr>
            <p:cNvPr id="100" name="Conector recto 99">
              <a:extLst>
                <a:ext uri="{FF2B5EF4-FFF2-40B4-BE49-F238E27FC236}">
                  <a16:creationId xmlns:a16="http://schemas.microsoft.com/office/drawing/2014/main" id="{FD815688-0C6B-4F76-A17E-E407E836B0C4}"/>
                </a:ext>
              </a:extLst>
            </p:cNvPr>
            <p:cNvCxnSpPr>
              <a:cxnSpLocks/>
            </p:cNvCxnSpPr>
            <p:nvPr/>
          </p:nvCxnSpPr>
          <p:spPr>
            <a:xfrm>
              <a:off x="7728365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recto 100">
              <a:extLst>
                <a:ext uri="{FF2B5EF4-FFF2-40B4-BE49-F238E27FC236}">
                  <a16:creationId xmlns:a16="http://schemas.microsoft.com/office/drawing/2014/main" id="{D7F00971-8962-458C-9135-90FBE2286E91}"/>
                </a:ext>
              </a:extLst>
            </p:cNvPr>
            <p:cNvCxnSpPr>
              <a:cxnSpLocks/>
            </p:cNvCxnSpPr>
            <p:nvPr/>
          </p:nvCxnSpPr>
          <p:spPr>
            <a:xfrm>
              <a:off x="7171904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recto 101">
              <a:extLst>
                <a:ext uri="{FF2B5EF4-FFF2-40B4-BE49-F238E27FC236}">
                  <a16:creationId xmlns:a16="http://schemas.microsoft.com/office/drawing/2014/main" id="{668CB943-EC71-4A17-974E-C09FC1DCE5A1}"/>
                </a:ext>
              </a:extLst>
            </p:cNvPr>
            <p:cNvCxnSpPr>
              <a:cxnSpLocks/>
            </p:cNvCxnSpPr>
            <p:nvPr/>
          </p:nvCxnSpPr>
          <p:spPr>
            <a:xfrm>
              <a:off x="7545759" y="6138306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94A867D9-FF85-43E2-A88E-997934905343}"/>
                  </a:ext>
                </a:extLst>
              </p:cNvPr>
              <p:cNvSpPr txBox="1"/>
              <p:nvPr/>
            </p:nvSpPr>
            <p:spPr>
              <a:xfrm>
                <a:off x="6346490" y="1846563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5" name="CuadroTexto 104">
                <a:extLst>
                  <a:ext uri="{FF2B5EF4-FFF2-40B4-BE49-F238E27FC236}">
                    <a16:creationId xmlns:a16="http://schemas.microsoft.com/office/drawing/2014/main" id="{94A867D9-FF85-43E2-A88E-9979349053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6490" y="1846563"/>
                <a:ext cx="605037" cy="161583"/>
              </a:xfrm>
              <a:prstGeom prst="rect">
                <a:avLst/>
              </a:prstGeom>
              <a:blipFill>
                <a:blip r:embed="rId7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67F5559B-2A2A-4230-8DD1-E5591B36FC8C}"/>
                  </a:ext>
                </a:extLst>
              </p:cNvPr>
              <p:cNvSpPr txBox="1"/>
              <p:nvPr/>
            </p:nvSpPr>
            <p:spPr>
              <a:xfrm>
                <a:off x="6343975" y="3078466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6" name="CuadroTexto 105">
                <a:extLst>
                  <a:ext uri="{FF2B5EF4-FFF2-40B4-BE49-F238E27FC236}">
                    <a16:creationId xmlns:a16="http://schemas.microsoft.com/office/drawing/2014/main" id="{67F5559B-2A2A-4230-8DD1-E5591B36F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975" y="3078466"/>
                <a:ext cx="605037" cy="161583"/>
              </a:xfrm>
              <a:prstGeom prst="rect">
                <a:avLst/>
              </a:prstGeom>
              <a:blipFill>
                <a:blip r:embed="rId8"/>
                <a:stretch>
                  <a:fillRect b="-7407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6601EC17-A9FB-4DDF-B5E9-C1BB7A7D26E7}"/>
                  </a:ext>
                </a:extLst>
              </p:cNvPr>
              <p:cNvSpPr txBox="1"/>
              <p:nvPr/>
            </p:nvSpPr>
            <p:spPr>
              <a:xfrm>
                <a:off x="6343975" y="4343865"/>
                <a:ext cx="605037" cy="1615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s-MX" sz="105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s-MX" sz="1050" b="0" i="0" smtClean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s-MX" sz="1050" b="0" i="1" smtClean="0">
                              <a:latin typeface="Cambria Math" panose="02040503050406030204" pitchFamily="18" charset="0"/>
                            </a:rPr>
                            <m:t>=10</m:t>
                          </m:r>
                        </m:e>
                      </m:d>
                    </m:oMath>
                  </m:oMathPara>
                </a14:m>
                <a:endParaRPr lang="es-CO" sz="1050" dirty="0"/>
              </a:p>
            </p:txBody>
          </p:sp>
        </mc:Choice>
        <mc:Fallback xmlns="">
          <p:sp>
            <p:nvSpPr>
              <p:cNvPr id="107" name="CuadroTexto 106">
                <a:extLst>
                  <a:ext uri="{FF2B5EF4-FFF2-40B4-BE49-F238E27FC236}">
                    <a16:creationId xmlns:a16="http://schemas.microsoft.com/office/drawing/2014/main" id="{6601EC17-A9FB-4DDF-B5E9-C1BB7A7D2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975" y="4343865"/>
                <a:ext cx="605037" cy="161583"/>
              </a:xfrm>
              <a:prstGeom prst="rect">
                <a:avLst/>
              </a:prstGeom>
              <a:blipFill>
                <a:blip r:embed="rId9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40"/>
          <p:cNvSpPr txBox="1">
            <a:spLocks noGrp="1"/>
          </p:cNvSpPr>
          <p:nvPr>
            <p:ph type="title"/>
          </p:nvPr>
        </p:nvSpPr>
        <p:spPr>
          <a:xfrm>
            <a:off x="213075" y="112900"/>
            <a:ext cx="104394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CF26C179-2666-4BA4-B3F4-C0B0D051E3DA}"/>
              </a:ext>
            </a:extLst>
          </p:cNvPr>
          <p:cNvSpPr txBox="1"/>
          <p:nvPr/>
        </p:nvSpPr>
        <p:spPr>
          <a:xfrm>
            <a:off x="324956" y="1517858"/>
            <a:ext cx="5574437" cy="3693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MX" dirty="0">
                <a:latin typeface="Consolas" panose="020B0609020204030204" pitchFamily="49" charset="0"/>
              </a:rPr>
              <a:t>.</a:t>
            </a:r>
            <a:r>
              <a:rPr lang="pl-PL" dirty="0">
                <a:latin typeface="Consolas" panose="020B0609020204030204" pitchFamily="49" charset="0"/>
              </a:rPr>
              <a:t>/mlfq.py -l 0,200,0:50,15,1 -q 10 -i 9 -c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111" name="Google Shape;516;p42">
            <a:extLst>
              <a:ext uri="{FF2B5EF4-FFF2-40B4-BE49-F238E27FC236}">
                <a16:creationId xmlns:a16="http://schemas.microsoft.com/office/drawing/2014/main" id="{8F90D0FF-B5F2-4EFF-8248-01F8C69B9272}"/>
              </a:ext>
            </a:extLst>
          </p:cNvPr>
          <p:cNvSpPr txBox="1">
            <a:spLocks/>
          </p:cNvSpPr>
          <p:nvPr/>
        </p:nvSpPr>
        <p:spPr>
          <a:xfrm>
            <a:off x="213075" y="937690"/>
            <a:ext cx="4924800" cy="47715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457200" lvl="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2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24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20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 sz="1800" kern="1200">
                <a:solidFill>
                  <a:schemeClr val="tx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r>
              <a:rPr lang="es-MX" sz="2400" b="1" dirty="0">
                <a:latin typeface="+mn-lt"/>
              </a:rPr>
              <a:t>Ejemplo 3 - Proceso I/O bound</a:t>
            </a:r>
            <a:endParaRPr lang="es-MX" sz="24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marL="0"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  <a:p>
            <a:pPr indent="0">
              <a:lnSpc>
                <a:spcPct val="100000"/>
              </a:lnSpc>
              <a:spcBef>
                <a:spcPts val="480"/>
              </a:spcBef>
              <a:buFont typeface="Roboto"/>
              <a:buNone/>
            </a:pPr>
            <a:endParaRPr lang="es-MX" sz="24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C80A3D7-47BD-459C-A307-27A648C54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62" y="2004954"/>
            <a:ext cx="4920023" cy="4495709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846003ED-5ADF-43BB-81D4-FB248EF6AC8B}"/>
              </a:ext>
            </a:extLst>
          </p:cNvPr>
          <p:cNvSpPr txBox="1"/>
          <p:nvPr/>
        </p:nvSpPr>
        <p:spPr>
          <a:xfrm>
            <a:off x="44244" y="6508817"/>
            <a:ext cx="59669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/>
              <a:t>Para mas información sobre el simulador </a:t>
            </a:r>
            <a:r>
              <a:rPr lang="es-CO" sz="1200" dirty="0">
                <a:latin typeface="Consolas" panose="020B0609020204030204" pitchFamily="49" charset="0"/>
                <a:hlinkClick r:id="rId4"/>
              </a:rPr>
              <a:t>mlfq.py</a:t>
            </a:r>
            <a:r>
              <a:rPr lang="es-CO" sz="1400" dirty="0"/>
              <a:t> consultar el siguiente </a:t>
            </a:r>
            <a:r>
              <a:rPr lang="es-CO" sz="1400" dirty="0">
                <a:hlinkClick r:id="rId5"/>
              </a:rPr>
              <a:t>link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7570898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3"/>
          <p:cNvSpPr txBox="1">
            <a:spLocks noGrp="1"/>
          </p:cNvSpPr>
          <p:nvPr>
            <p:ph type="title"/>
          </p:nvPr>
        </p:nvSpPr>
        <p:spPr>
          <a:xfrm>
            <a:off x="147484" y="96038"/>
            <a:ext cx="9073166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– Proceso CPU-bound</a:t>
            </a:r>
            <a:endParaRPr dirty="0"/>
          </a:p>
        </p:txBody>
      </p:sp>
      <p:sp>
        <p:nvSpPr>
          <p:cNvPr id="531" name="Google Shape;531;p43"/>
          <p:cNvSpPr txBox="1">
            <a:spLocks noGrp="1"/>
          </p:cNvSpPr>
          <p:nvPr>
            <p:ph type="body" idx="1"/>
          </p:nvPr>
        </p:nvSpPr>
        <p:spPr>
          <a:xfrm>
            <a:off x="73742" y="941600"/>
            <a:ext cx="6769510" cy="222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Ejemplo resumen</a:t>
            </a:r>
            <a:endParaRPr sz="28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Char char="●"/>
            </a:pPr>
            <a:r>
              <a:rPr lang="es-ES" sz="2400" dirty="0">
                <a:latin typeface="+mn-lt"/>
              </a:rPr>
              <a:t>MLFQ de 3 colas (Q2, Q1, Q0) de quantum 10ms.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-ES" sz="2400" dirty="0">
                <a:latin typeface="+mn-lt"/>
              </a:rPr>
              <a:t>Workload - Tres procesos:</a:t>
            </a:r>
            <a:endParaRPr sz="24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b="1" dirty="0">
                <a:latin typeface="+mn-lt"/>
              </a:rPr>
              <a:t>Long-running </a:t>
            </a:r>
            <a:r>
              <a:rPr lang="es-ES" sz="2200" b="1" dirty="0" err="1">
                <a:latin typeface="+mn-lt"/>
              </a:rPr>
              <a:t>job</a:t>
            </a:r>
            <a:r>
              <a:rPr lang="es-ES" sz="2200" dirty="0">
                <a:latin typeface="+mn-lt"/>
              </a:rPr>
              <a:t>: A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b="1" dirty="0">
                <a:latin typeface="+mn-lt"/>
              </a:rPr>
              <a:t>Short-running </a:t>
            </a:r>
            <a:r>
              <a:rPr lang="es-ES" sz="2200" b="1" dirty="0" err="1">
                <a:latin typeface="+mn-lt"/>
              </a:rPr>
              <a:t>job</a:t>
            </a:r>
            <a:r>
              <a:rPr lang="es-ES" sz="2200" dirty="0">
                <a:latin typeface="+mn-lt"/>
              </a:rPr>
              <a:t>: B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200" b="1" dirty="0" err="1">
                <a:latin typeface="+mn-lt"/>
              </a:rPr>
              <a:t>Interactive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job</a:t>
            </a:r>
            <a:r>
              <a:rPr lang="es-ES" sz="2200" dirty="0">
                <a:latin typeface="+mn-lt"/>
              </a:rPr>
              <a:t>: C</a:t>
            </a: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32" name="Google Shape;5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376" y="3349626"/>
            <a:ext cx="8501801" cy="340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A75A26-50D1-43A8-A67E-F2C9E7135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64" y="2213716"/>
            <a:ext cx="3812773" cy="96962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2F498294-8870-4EC8-843C-C5E7D84D56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64" y="647366"/>
            <a:ext cx="3563186" cy="96962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4"/>
          <p:cNvSpPr txBox="1">
            <a:spLocks noGrp="1"/>
          </p:cNvSpPr>
          <p:nvPr>
            <p:ph type="title"/>
          </p:nvPr>
        </p:nvSpPr>
        <p:spPr>
          <a:xfrm>
            <a:off x="266700" y="273838"/>
            <a:ext cx="11341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s-MX" sz="36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Cambio de comportamiento</a:t>
            </a:r>
          </a:p>
        </p:txBody>
      </p:sp>
      <p:sp>
        <p:nvSpPr>
          <p:cNvPr id="538" name="Google Shape;538;p44"/>
          <p:cNvSpPr txBox="1">
            <a:spLocks noGrp="1"/>
          </p:cNvSpPr>
          <p:nvPr>
            <p:ph type="body" idx="1"/>
          </p:nvPr>
        </p:nvSpPr>
        <p:spPr>
          <a:xfrm>
            <a:off x="266700" y="1223338"/>
            <a:ext cx="11008000" cy="78326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C00000"/>
                </a:solidFill>
                <a:latin typeface="+mn-lt"/>
              </a:rPr>
              <a:t>Problema</a:t>
            </a:r>
            <a:r>
              <a:rPr lang="es-ES" sz="2400" dirty="0">
                <a:solidFill>
                  <a:srgbClr val="C00000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Un proceso cambia su comportamiento en el tiempo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CPU-bound →  I/O-bound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340D027-9043-4AF1-8D7D-BAE6F501CFC6}"/>
              </a:ext>
            </a:extLst>
          </p:cNvPr>
          <p:cNvGrpSpPr/>
          <p:nvPr/>
        </p:nvGrpSpPr>
        <p:grpSpPr>
          <a:xfrm>
            <a:off x="719941" y="2562400"/>
            <a:ext cx="10752118" cy="2289001"/>
            <a:chOff x="719941" y="2562400"/>
            <a:chExt cx="10752118" cy="2289001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DC55561E-F36A-4457-8BE9-ADAA090869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9941" y="2562400"/>
              <a:ext cx="10752118" cy="2289001"/>
            </a:xfrm>
            <a:prstGeom prst="rect">
              <a:avLst/>
            </a:prstGeom>
          </p:spPr>
        </p:pic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E6F3403E-B9A5-44DD-9BA9-14670255AA7E}"/>
                </a:ext>
              </a:extLst>
            </p:cNvPr>
            <p:cNvCxnSpPr/>
            <p:nvPr/>
          </p:nvCxnSpPr>
          <p:spPr>
            <a:xfrm>
              <a:off x="5715000" y="2971800"/>
              <a:ext cx="0" cy="1231900"/>
            </a:xfrm>
            <a:prstGeom prst="line">
              <a:avLst/>
            </a:prstGeom>
            <a:ln w="28575">
              <a:solidFill>
                <a:schemeClr val="accent2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5"/>
          <p:cNvSpPr txBox="1">
            <a:spLocks noGrp="1"/>
          </p:cNvSpPr>
          <p:nvPr>
            <p:ph type="title"/>
          </p:nvPr>
        </p:nvSpPr>
        <p:spPr>
          <a:xfrm>
            <a:off x="495300" y="232408"/>
            <a:ext cx="10690500" cy="75828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– Inanici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ón</a:t>
            </a:r>
            <a:endParaRPr dirty="0"/>
          </a:p>
        </p:txBody>
      </p:sp>
      <p:sp>
        <p:nvSpPr>
          <p:cNvPr id="544" name="Google Shape;544;p45"/>
          <p:cNvSpPr txBox="1">
            <a:spLocks noGrp="1"/>
          </p:cNvSpPr>
          <p:nvPr>
            <p:ph type="body" idx="1"/>
          </p:nvPr>
        </p:nvSpPr>
        <p:spPr>
          <a:xfrm>
            <a:off x="495300" y="828530"/>
            <a:ext cx="10690500" cy="118100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00000"/>
                </a:solidFill>
                <a:latin typeface="+mn-lt"/>
              </a:rPr>
              <a:t>Problema</a:t>
            </a:r>
            <a:r>
              <a:rPr lang="es-ES" sz="2200" dirty="0">
                <a:solidFill>
                  <a:srgbClr val="C00000"/>
                </a:solidFill>
                <a:latin typeface="+mn-lt"/>
              </a:rPr>
              <a:t>:</a:t>
            </a:r>
            <a:r>
              <a:rPr lang="es-ES" sz="2200" dirty="0">
                <a:latin typeface="+mn-lt"/>
              </a:rPr>
              <a:t> Inanición (starvation)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Muchos procesos interactivos.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s-ES" sz="2000" dirty="0">
                <a:latin typeface="+mn-lt"/>
              </a:rPr>
              <a:t>Procesos CPU-bound </a:t>
            </a:r>
            <a:r>
              <a:rPr lang="es-ES" sz="2000" b="1" dirty="0">
                <a:solidFill>
                  <a:srgbClr val="C00000"/>
                </a:solidFill>
                <a:latin typeface="+mn-lt"/>
              </a:rPr>
              <a:t>nunca</a:t>
            </a:r>
            <a:r>
              <a:rPr lang="es-ES" sz="2000" dirty="0">
                <a:latin typeface="+mn-lt"/>
              </a:rPr>
              <a:t> tendrán uso de la máquina.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45" name="Google Shape;54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578" y="1958046"/>
            <a:ext cx="11038844" cy="35497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3BB3EFEA-902A-4FE5-9203-6C340D19DAFB}"/>
              </a:ext>
            </a:extLst>
          </p:cNvPr>
          <p:cNvGrpSpPr/>
          <p:nvPr/>
        </p:nvGrpSpPr>
        <p:grpSpPr>
          <a:xfrm>
            <a:off x="582390" y="5485229"/>
            <a:ext cx="9828360" cy="1415826"/>
            <a:chOff x="739934" y="5150492"/>
            <a:chExt cx="9828360" cy="1415826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C92057E7-125B-4149-8A47-3D0E900AD138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37" name="Conector recto de flecha 36">
                <a:extLst>
                  <a:ext uri="{FF2B5EF4-FFF2-40B4-BE49-F238E27FC236}">
                    <a16:creationId xmlns:a16="http://schemas.microsoft.com/office/drawing/2014/main" id="{37AF8BCD-8653-4D4E-A835-A705E48BA3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Conector recto de flecha 37">
                <a:extLst>
                  <a:ext uri="{FF2B5EF4-FFF2-40B4-BE49-F238E27FC236}">
                    <a16:creationId xmlns:a16="http://schemas.microsoft.com/office/drawing/2014/main" id="{C3F2C83B-9073-495D-A679-E7591824F9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3DC94A8C-DE3C-4DC9-9F79-67AFA43C42B3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8CB8DF98-5153-4622-8E4A-545F97E68D3C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1F965319-80FF-4B5C-A1FB-9389B947DBBF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AE452F83-23BE-4D2A-87E1-F11447A72759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E1ADD529-71A7-45C6-AD69-B59EE1213A1B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2F6C7739-CFFB-445D-ABD7-990DDC4C0D99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0C4EE51C-76B7-4A60-B1DC-98DC2008EB99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882ECC59-57AE-4BC5-A0C4-3C1877F92E81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02869BAA-1211-4261-B40F-9D0A8E26BACE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EC46E0E1-1F6F-43BA-80FA-44417065748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A2FBFAC7-F81C-466A-A2E7-80174BC648C6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33B46364-9792-4EA8-AFF6-85E93DEC9A55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A4AC455E-BAB3-4746-97A3-AD12CD340E58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0E51D314-7F68-4EC0-A99E-E32B39ABEAF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49A43E2F-87A6-4F76-95A7-A8F9C9F51313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0B92CFD1-583D-413F-8DE4-0CBEB0136765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A7414F98-1D2B-448E-8D04-199ACE2AA9E4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903EFB55-146E-4167-86A9-7260545CD09E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757EAD06-48A0-4090-9439-CD772B74C273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B31A47A9-DADE-403E-84CC-DC4A980F6B25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E45F5ED2-D15E-4F9C-AF4F-D81872098FD8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8756155D-86C0-4647-AB06-BE0001D43160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400E1CE7-84EE-4099-AA18-F878CF1D0A9C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4E0F83B4-27DF-45E7-A5F6-D84BA4A1F845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6C260E6D-D9CB-4E88-9194-4B229563CD2D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907EF863-6597-454F-B3E9-37D40A2EE6C6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A2CAE758-D284-453E-A693-AFB93EEC1A24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CD23717E-68A5-4A88-930B-6FB4BA72A773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3E48498C-F003-44EB-8EBB-4D58B00D702F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F7962B11-4E96-4772-B68F-B724ADB13D77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6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9357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4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– Inanici</a:t>
            </a:r>
            <a:r>
              <a:rPr lang="es-MX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ón</a:t>
            </a:r>
            <a:endParaRPr dirty="0"/>
          </a:p>
        </p:txBody>
      </p:sp>
      <p:sp>
        <p:nvSpPr>
          <p:cNvPr id="551" name="Google Shape;551;p46"/>
          <p:cNvSpPr txBox="1">
            <a:spLocks noGrp="1"/>
          </p:cNvSpPr>
          <p:nvPr>
            <p:ph type="body" idx="1"/>
          </p:nvPr>
        </p:nvSpPr>
        <p:spPr>
          <a:xfrm>
            <a:off x="342874" y="865295"/>
            <a:ext cx="11328425" cy="637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b="1" dirty="0">
                <a:latin typeface="+mn-lt"/>
              </a:rPr>
              <a:t>Solución</a:t>
            </a:r>
            <a:r>
              <a:rPr lang="es-ES" dirty="0">
                <a:latin typeface="+mn-lt"/>
              </a:rPr>
              <a:t>:</a:t>
            </a:r>
            <a:r>
              <a:rPr lang="es-ES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+mn-lt"/>
              </a:rPr>
              <a:t>Aging - Mejora de prioridad</a:t>
            </a:r>
            <a:r>
              <a:rPr lang="es-ES" dirty="0">
                <a:latin typeface="+mn-lt"/>
              </a:rPr>
              <a:t> 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3200" dirty="0">
              <a:latin typeface="+mn-lt"/>
            </a:endParaRPr>
          </a:p>
        </p:txBody>
      </p:sp>
      <p:pic>
        <p:nvPicPr>
          <p:cNvPr id="553" name="Google Shape;55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29" y="1975092"/>
            <a:ext cx="11422742" cy="347337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" name="Grupo 5">
            <a:extLst>
              <a:ext uri="{FF2B5EF4-FFF2-40B4-BE49-F238E27FC236}">
                <a16:creationId xmlns:a16="http://schemas.microsoft.com/office/drawing/2014/main" id="{CEA7F531-D73E-4CDD-A508-C6AF2D07011E}"/>
              </a:ext>
            </a:extLst>
          </p:cNvPr>
          <p:cNvGrpSpPr/>
          <p:nvPr/>
        </p:nvGrpSpPr>
        <p:grpSpPr>
          <a:xfrm>
            <a:off x="749331" y="5476593"/>
            <a:ext cx="9828360" cy="1415826"/>
            <a:chOff x="739934" y="5150492"/>
            <a:chExt cx="9828360" cy="1415826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4928FB6F-1283-4988-8588-0EC5E7F2A7F8}"/>
                </a:ext>
              </a:extLst>
            </p:cNvPr>
            <p:cNvGrpSpPr/>
            <p:nvPr/>
          </p:nvGrpSpPr>
          <p:grpSpPr>
            <a:xfrm>
              <a:off x="1510407" y="5150492"/>
              <a:ext cx="8619432" cy="1018645"/>
              <a:chOff x="6286570" y="5198935"/>
              <a:chExt cx="5431073" cy="1159915"/>
            </a:xfrm>
          </p:grpSpPr>
          <p:cxnSp>
            <p:nvCxnSpPr>
              <p:cNvPr id="38" name="Conector recto de flecha 37">
                <a:extLst>
                  <a:ext uri="{FF2B5EF4-FFF2-40B4-BE49-F238E27FC236}">
                    <a16:creationId xmlns:a16="http://schemas.microsoft.com/office/drawing/2014/main" id="{D811750D-9F36-47E7-BC07-CB620FC028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86570" y="6358850"/>
                <a:ext cx="5431073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Conector recto de flecha 38">
                <a:extLst>
                  <a:ext uri="{FF2B5EF4-FFF2-40B4-BE49-F238E27FC236}">
                    <a16:creationId xmlns:a16="http://schemas.microsoft.com/office/drawing/2014/main" id="{9B8889E7-C7C5-4DBA-86ED-CA7C841C57F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90072" y="5198935"/>
                <a:ext cx="4917" cy="11526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70B65632-ABC0-48F4-BEA2-0C23874B991A}"/>
                </a:ext>
              </a:extLst>
            </p:cNvPr>
            <p:cNvSpPr txBox="1"/>
            <p:nvPr/>
          </p:nvSpPr>
          <p:spPr>
            <a:xfrm>
              <a:off x="10148015" y="6050929"/>
              <a:ext cx="420279" cy="3243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t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7E856A1-EA49-4202-9F96-10035AF6EF14}"/>
                </a:ext>
              </a:extLst>
            </p:cNvPr>
            <p:cNvSpPr txBox="1"/>
            <p:nvPr/>
          </p:nvSpPr>
          <p:spPr>
            <a:xfrm>
              <a:off x="739934" y="5475701"/>
              <a:ext cx="5806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b="1" dirty="0"/>
                <a:t>CPU</a:t>
              </a:r>
            </a:p>
          </p:txBody>
        </p:sp>
        <p:cxnSp>
          <p:nvCxnSpPr>
            <p:cNvPr id="10" name="Conector recto 9">
              <a:extLst>
                <a:ext uri="{FF2B5EF4-FFF2-40B4-BE49-F238E27FC236}">
                  <a16:creationId xmlns:a16="http://schemas.microsoft.com/office/drawing/2014/main" id="{8F0EADA8-7769-4EC1-9EB2-4FDEA3F871D9}"/>
                </a:ext>
              </a:extLst>
            </p:cNvPr>
            <p:cNvCxnSpPr/>
            <p:nvPr/>
          </p:nvCxnSpPr>
          <p:spPr>
            <a:xfrm>
              <a:off x="2435225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57AEC014-4C4B-4495-AEEB-C498278FCB62}"/>
                </a:ext>
              </a:extLst>
            </p:cNvPr>
            <p:cNvCxnSpPr/>
            <p:nvPr/>
          </p:nvCxnSpPr>
          <p:spPr>
            <a:xfrm>
              <a:off x="1971570" y="6079733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53E0A2A3-39EA-41BA-8400-63AB297758B2}"/>
                </a:ext>
              </a:extLst>
            </p:cNvPr>
            <p:cNvCxnSpPr/>
            <p:nvPr/>
          </p:nvCxnSpPr>
          <p:spPr>
            <a:xfrm>
              <a:off x="33496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B8074021-D835-44A3-ABFE-594DE7C15BDF}"/>
                </a:ext>
              </a:extLst>
            </p:cNvPr>
            <p:cNvCxnSpPr/>
            <p:nvPr/>
          </p:nvCxnSpPr>
          <p:spPr>
            <a:xfrm>
              <a:off x="28859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CD2482DF-4350-4020-8DE3-7989012C8C90}"/>
                </a:ext>
              </a:extLst>
            </p:cNvPr>
            <p:cNvCxnSpPr/>
            <p:nvPr/>
          </p:nvCxnSpPr>
          <p:spPr>
            <a:xfrm>
              <a:off x="426991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F415FE65-24FD-44F6-8963-88602D4D5765}"/>
                </a:ext>
              </a:extLst>
            </p:cNvPr>
            <p:cNvCxnSpPr/>
            <p:nvPr/>
          </p:nvCxnSpPr>
          <p:spPr>
            <a:xfrm>
              <a:off x="380625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ector recto 15">
              <a:extLst>
                <a:ext uri="{FF2B5EF4-FFF2-40B4-BE49-F238E27FC236}">
                  <a16:creationId xmlns:a16="http://schemas.microsoft.com/office/drawing/2014/main" id="{F3478F2D-A065-49C0-9A35-B0F885B8271D}"/>
                </a:ext>
              </a:extLst>
            </p:cNvPr>
            <p:cNvCxnSpPr>
              <a:cxnSpLocks/>
            </p:cNvCxnSpPr>
            <p:nvPr/>
          </p:nvCxnSpPr>
          <p:spPr>
            <a:xfrm>
              <a:off x="517571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BF13E165-D93F-4413-9988-560B7C04C322}"/>
                </a:ext>
              </a:extLst>
            </p:cNvPr>
            <p:cNvCxnSpPr>
              <a:cxnSpLocks/>
            </p:cNvCxnSpPr>
            <p:nvPr/>
          </p:nvCxnSpPr>
          <p:spPr>
            <a:xfrm>
              <a:off x="471205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E2F64DB4-9408-4B61-9DD0-2E97DD477494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BDC62DDB-EA69-4CAF-A84A-16938C53A430}"/>
                </a:ext>
              </a:extLst>
            </p:cNvPr>
            <p:cNvCxnSpPr>
              <a:cxnSpLocks/>
            </p:cNvCxnSpPr>
            <p:nvPr/>
          </p:nvCxnSpPr>
          <p:spPr>
            <a:xfrm>
              <a:off x="563234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A9D3E0D8-D72B-4958-8407-8E43DFA36FB7}"/>
                </a:ext>
              </a:extLst>
            </p:cNvPr>
            <p:cNvCxnSpPr>
              <a:cxnSpLocks/>
            </p:cNvCxnSpPr>
            <p:nvPr/>
          </p:nvCxnSpPr>
          <p:spPr>
            <a:xfrm>
              <a:off x="7014038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ector recto 20">
              <a:extLst>
                <a:ext uri="{FF2B5EF4-FFF2-40B4-BE49-F238E27FC236}">
                  <a16:creationId xmlns:a16="http://schemas.microsoft.com/office/drawing/2014/main" id="{9FF58876-B240-482F-9FAD-2B95EB1BF54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383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E994B252-880E-485E-8AFB-F90BD5AE18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F3DCB331-129D-417C-9AD1-AB8ED05742B9}"/>
                </a:ext>
              </a:extLst>
            </p:cNvPr>
            <p:cNvCxnSpPr>
              <a:cxnSpLocks/>
            </p:cNvCxnSpPr>
            <p:nvPr/>
          </p:nvCxnSpPr>
          <p:spPr>
            <a:xfrm>
              <a:off x="747067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504966DD-44CE-4596-AA38-71F7451207EF}"/>
                </a:ext>
              </a:extLst>
            </p:cNvPr>
            <p:cNvCxnSpPr>
              <a:cxnSpLocks/>
            </p:cNvCxnSpPr>
            <p:nvPr/>
          </p:nvCxnSpPr>
          <p:spPr>
            <a:xfrm>
              <a:off x="8823820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ector recto 24">
              <a:extLst>
                <a:ext uri="{FF2B5EF4-FFF2-40B4-BE49-F238E27FC236}">
                  <a16:creationId xmlns:a16="http://schemas.microsoft.com/office/drawing/2014/main" id="{D1E17E05-1DF7-4B1E-B758-5A245FDC230C}"/>
                </a:ext>
              </a:extLst>
            </p:cNvPr>
            <p:cNvCxnSpPr>
              <a:cxnSpLocks/>
            </p:cNvCxnSpPr>
            <p:nvPr/>
          </p:nvCxnSpPr>
          <p:spPr>
            <a:xfrm>
              <a:off x="8360165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ector recto 25">
              <a:extLst>
                <a:ext uri="{FF2B5EF4-FFF2-40B4-BE49-F238E27FC236}">
                  <a16:creationId xmlns:a16="http://schemas.microsoft.com/office/drawing/2014/main" id="{2BC4157C-F0D1-43E5-B80F-55A1EF71B278}"/>
                </a:ext>
              </a:extLst>
            </p:cNvPr>
            <p:cNvCxnSpPr>
              <a:cxnSpLocks/>
            </p:cNvCxnSpPr>
            <p:nvPr/>
          </p:nvCxnSpPr>
          <p:spPr>
            <a:xfrm>
              <a:off x="9744107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ector recto 26">
              <a:extLst>
                <a:ext uri="{FF2B5EF4-FFF2-40B4-BE49-F238E27FC236}">
                  <a16:creationId xmlns:a16="http://schemas.microsoft.com/office/drawing/2014/main" id="{E3D5A74C-B89E-4BA3-933C-64B06D666ED2}"/>
                </a:ext>
              </a:extLst>
            </p:cNvPr>
            <p:cNvCxnSpPr>
              <a:cxnSpLocks/>
            </p:cNvCxnSpPr>
            <p:nvPr/>
          </p:nvCxnSpPr>
          <p:spPr>
            <a:xfrm>
              <a:off x="9280452" y="6089258"/>
              <a:ext cx="0" cy="178808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56522A3-A9C5-4F6B-BF4C-35D11CF6429F}"/>
                </a:ext>
              </a:extLst>
            </p:cNvPr>
            <p:cNvSpPr txBox="1"/>
            <p:nvPr/>
          </p:nvSpPr>
          <p:spPr>
            <a:xfrm>
              <a:off x="1372926" y="6213104"/>
              <a:ext cx="27603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0</a:t>
              </a: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0B062130-F311-4EAE-B9CE-15617A0B4D9C}"/>
                </a:ext>
              </a:extLst>
            </p:cNvPr>
            <p:cNvSpPr txBox="1"/>
            <p:nvPr/>
          </p:nvSpPr>
          <p:spPr>
            <a:xfrm>
              <a:off x="2262285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20</a:t>
              </a:r>
            </a:p>
          </p:txBody>
        </p: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73ACBC71-6905-425C-BA99-1934ACCF559A}"/>
                </a:ext>
              </a:extLst>
            </p:cNvPr>
            <p:cNvSpPr txBox="1"/>
            <p:nvPr/>
          </p:nvSpPr>
          <p:spPr>
            <a:xfrm>
              <a:off x="3176969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40</a:t>
              </a:r>
            </a:p>
          </p:txBody>
        </p:sp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76C7DCEF-526D-4545-A369-840DE85ACE59}"/>
                </a:ext>
              </a:extLst>
            </p:cNvPr>
            <p:cNvSpPr txBox="1"/>
            <p:nvPr/>
          </p:nvSpPr>
          <p:spPr>
            <a:xfrm>
              <a:off x="4098085" y="6232463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60</a:t>
              </a:r>
            </a:p>
          </p:txBody>
        </p:sp>
        <p:sp>
          <p:nvSpPr>
            <p:cNvPr id="32" name="CuadroTexto 31">
              <a:extLst>
                <a:ext uri="{FF2B5EF4-FFF2-40B4-BE49-F238E27FC236}">
                  <a16:creationId xmlns:a16="http://schemas.microsoft.com/office/drawing/2014/main" id="{BCE24166-2F55-497D-BF87-D47ED3755C00}"/>
                </a:ext>
              </a:extLst>
            </p:cNvPr>
            <p:cNvSpPr txBox="1"/>
            <p:nvPr/>
          </p:nvSpPr>
          <p:spPr>
            <a:xfrm>
              <a:off x="4992421" y="6224456"/>
              <a:ext cx="36740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80</a:t>
              </a:r>
            </a:p>
          </p:txBody>
        </p:sp>
        <p:sp>
          <p:nvSpPr>
            <p:cNvPr id="33" name="CuadroTexto 32">
              <a:extLst>
                <a:ext uri="{FF2B5EF4-FFF2-40B4-BE49-F238E27FC236}">
                  <a16:creationId xmlns:a16="http://schemas.microsoft.com/office/drawing/2014/main" id="{5A313B02-6105-4BB6-BA76-2C55807BAABC}"/>
                </a:ext>
              </a:extLst>
            </p:cNvPr>
            <p:cNvSpPr txBox="1"/>
            <p:nvPr/>
          </p:nvSpPr>
          <p:spPr>
            <a:xfrm>
              <a:off x="5872941" y="6224456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100</a:t>
              </a:r>
            </a:p>
          </p:txBody>
        </p: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EBADE2FF-4AB9-4914-B7B6-188ED3E599C1}"/>
                </a:ext>
              </a:extLst>
            </p:cNvPr>
            <p:cNvSpPr txBox="1"/>
            <p:nvPr/>
          </p:nvSpPr>
          <p:spPr>
            <a:xfrm>
              <a:off x="6782839" y="6221390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120</a:t>
              </a:r>
            </a:p>
          </p:txBody>
        </p:sp>
        <p:sp>
          <p:nvSpPr>
            <p:cNvPr id="35" name="CuadroTexto 34">
              <a:extLst>
                <a:ext uri="{FF2B5EF4-FFF2-40B4-BE49-F238E27FC236}">
                  <a16:creationId xmlns:a16="http://schemas.microsoft.com/office/drawing/2014/main" id="{F68424DE-6731-4694-A03C-F0FA09FFB7A8}"/>
                </a:ext>
              </a:extLst>
            </p:cNvPr>
            <p:cNvSpPr txBox="1"/>
            <p:nvPr/>
          </p:nvSpPr>
          <p:spPr>
            <a:xfrm>
              <a:off x="7703597" y="6213104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140</a:t>
              </a:r>
            </a:p>
          </p:txBody>
        </p: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84BAAECC-A2A0-4428-85C7-8BDC358CCB03}"/>
                </a:ext>
              </a:extLst>
            </p:cNvPr>
            <p:cNvSpPr txBox="1"/>
            <p:nvPr/>
          </p:nvSpPr>
          <p:spPr>
            <a:xfrm>
              <a:off x="8604661" y="6221389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160</a:t>
              </a:r>
            </a:p>
          </p:txBody>
        </p:sp>
        <p:sp>
          <p:nvSpPr>
            <p:cNvPr id="37" name="CuadroTexto 36">
              <a:extLst>
                <a:ext uri="{FF2B5EF4-FFF2-40B4-BE49-F238E27FC236}">
                  <a16:creationId xmlns:a16="http://schemas.microsoft.com/office/drawing/2014/main" id="{97327BD4-1478-461F-805E-7BFDF7E7CF6F}"/>
                </a:ext>
              </a:extLst>
            </p:cNvPr>
            <p:cNvSpPr txBox="1"/>
            <p:nvPr/>
          </p:nvSpPr>
          <p:spPr>
            <a:xfrm>
              <a:off x="9517684" y="6258541"/>
              <a:ext cx="45878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CO" sz="1400" b="1" dirty="0"/>
                <a:t>180</a:t>
              </a:r>
            </a:p>
          </p:txBody>
        </p:sp>
      </p:grpSp>
      <p:sp>
        <p:nvSpPr>
          <p:cNvPr id="40" name="Google Shape;552;p46">
            <a:extLst>
              <a:ext uri="{FF2B5EF4-FFF2-40B4-BE49-F238E27FC236}">
                <a16:creationId xmlns:a16="http://schemas.microsoft.com/office/drawing/2014/main" id="{6C77C432-CC8C-4A26-8A21-B534239B1E1C}"/>
              </a:ext>
            </a:extLst>
          </p:cNvPr>
          <p:cNvSpPr txBox="1"/>
          <p:nvPr/>
        </p:nvSpPr>
        <p:spPr>
          <a:xfrm>
            <a:off x="554700" y="1438557"/>
            <a:ext cx="11275350" cy="618088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Regla 5</a:t>
            </a:r>
            <a:r>
              <a:rPr lang="es-ES" sz="2400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Después de un tiempo </a:t>
            </a:r>
            <a:r>
              <a:rPr lang="es-ES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, mueva todos los trabajos al mayor nivel de prioridad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7"/>
          <p:cNvSpPr txBox="1">
            <a:spLocks noGrp="1"/>
          </p:cNvSpPr>
          <p:nvPr>
            <p:ph type="title"/>
          </p:nvPr>
        </p:nvSpPr>
        <p:spPr>
          <a:xfrm>
            <a:off x="762000" y="96038"/>
            <a:ext cx="10051142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Priority boost</a:t>
            </a:r>
            <a:endParaRPr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60" name="Google Shape;5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2371" y="844534"/>
            <a:ext cx="9770400" cy="5806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8"/>
          <p:cNvSpPr txBox="1">
            <a:spLocks noGrp="1"/>
          </p:cNvSpPr>
          <p:nvPr>
            <p:ph type="title"/>
          </p:nvPr>
        </p:nvSpPr>
        <p:spPr>
          <a:xfrm>
            <a:off x="584850" y="96038"/>
            <a:ext cx="86358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- Clásico</a:t>
            </a:r>
          </a:p>
        </p:txBody>
      </p:sp>
      <p:sp>
        <p:nvSpPr>
          <p:cNvPr id="566" name="Google Shape;566;p48"/>
          <p:cNvSpPr txBox="1">
            <a:spLocks noGrp="1"/>
          </p:cNvSpPr>
          <p:nvPr>
            <p:ph type="body" idx="1"/>
          </p:nvPr>
        </p:nvSpPr>
        <p:spPr>
          <a:xfrm>
            <a:off x="584850" y="1045538"/>
            <a:ext cx="10690500" cy="433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Reglas básicas</a:t>
            </a:r>
            <a:endParaRPr sz="24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4a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el trabajo usa completamente el quantum de tiempo, se reduce su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4b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solidFill>
                  <a:schemeClr val="accent6"/>
                </a:solidFill>
                <a:latin typeface="+mn-lt"/>
              </a:rPr>
              <a:t> </a:t>
            </a:r>
            <a:r>
              <a:rPr lang="es-ES" sz="2400" dirty="0">
                <a:latin typeface="+mn-lt"/>
              </a:rPr>
              <a:t>Si el trabajo entrega la CPU antes de finalizar su quantum de tiempo, mantiene el mismo nivel de prioridad.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9"/>
          <p:cNvSpPr txBox="1">
            <a:spLocks noGrp="1"/>
          </p:cNvSpPr>
          <p:nvPr>
            <p:ph type="title"/>
          </p:nvPr>
        </p:nvSpPr>
        <p:spPr>
          <a:xfrm>
            <a:off x="290285" y="152150"/>
            <a:ext cx="116549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Engañar al planificador</a:t>
            </a:r>
          </a:p>
        </p:txBody>
      </p:sp>
      <p:sp>
        <p:nvSpPr>
          <p:cNvPr id="572" name="Google Shape;572;p49"/>
          <p:cNvSpPr txBox="1">
            <a:spLocks noGrp="1"/>
          </p:cNvSpPr>
          <p:nvPr>
            <p:ph type="body" idx="1"/>
          </p:nvPr>
        </p:nvSpPr>
        <p:spPr>
          <a:xfrm>
            <a:off x="393700" y="875314"/>
            <a:ext cx="11348576" cy="1911429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C00000"/>
                </a:solidFill>
                <a:latin typeface="+mn-lt"/>
              </a:rPr>
              <a:t>Problema</a:t>
            </a:r>
            <a:r>
              <a:rPr lang="es-ES" sz="2400" dirty="0">
                <a:solidFill>
                  <a:srgbClr val="C00000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Engañar al planificador (Game the scheduler)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Char char="●"/>
            </a:pPr>
            <a:r>
              <a:rPr lang="es-ES" sz="2200" dirty="0">
                <a:latin typeface="+mn-lt"/>
              </a:rPr>
              <a:t>Un proceso malicioso puede engañar al planificador liberando la CPU justo antes de que expire el quantum (intervalo de tiempo).</a:t>
            </a:r>
            <a:endParaRPr sz="22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Proceso se ejecuta el </a:t>
            </a:r>
            <a:r>
              <a:rPr lang="es-ES" sz="2000" b="1" dirty="0">
                <a:latin typeface="+mn-lt"/>
              </a:rPr>
              <a:t>99% del quantum</a:t>
            </a:r>
            <a:r>
              <a:rPr lang="es-ES" sz="2000" dirty="0">
                <a:latin typeface="+mn-lt"/>
              </a:rPr>
              <a:t> y luego realiza una operación I/O.</a:t>
            </a:r>
            <a:endParaRPr sz="2000" dirty="0">
              <a:latin typeface="+mn-lt"/>
            </a:endParaRPr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s-ES" sz="2000" dirty="0">
                <a:latin typeface="+mn-lt"/>
              </a:rPr>
              <a:t>Obtiene mayor uso de la máquina.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73" name="Google Shape;57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8221" y="2786743"/>
            <a:ext cx="4994210" cy="37301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50"/>
          <p:cNvSpPr txBox="1">
            <a:spLocks noGrp="1"/>
          </p:cNvSpPr>
          <p:nvPr>
            <p:ph type="title"/>
          </p:nvPr>
        </p:nvSpPr>
        <p:spPr>
          <a:xfrm>
            <a:off x="130629" y="96038"/>
            <a:ext cx="1178559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Problemas del MLFQ básico - Engañar al planificador</a:t>
            </a:r>
            <a:endParaRPr sz="4000" dirty="0"/>
          </a:p>
        </p:txBody>
      </p:sp>
      <p:sp>
        <p:nvSpPr>
          <p:cNvPr id="579" name="Google Shape;579;p50"/>
          <p:cNvSpPr txBox="1">
            <a:spLocks noGrp="1"/>
          </p:cNvSpPr>
          <p:nvPr>
            <p:ph type="body" idx="1"/>
          </p:nvPr>
        </p:nvSpPr>
        <p:spPr>
          <a:xfrm>
            <a:off x="130629" y="932458"/>
            <a:ext cx="10690500" cy="52168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b="1" dirty="0">
                <a:latin typeface="+mn-lt"/>
              </a:rPr>
              <a:t>Solución</a:t>
            </a:r>
            <a:r>
              <a:rPr lang="es-ES" dirty="0">
                <a:latin typeface="+mn-lt"/>
              </a:rPr>
              <a:t>:</a:t>
            </a:r>
            <a:r>
              <a:rPr lang="es-ES" dirty="0">
                <a:solidFill>
                  <a:srgbClr val="FF0000"/>
                </a:solidFill>
                <a:latin typeface="+mn-lt"/>
              </a:rPr>
              <a:t> </a:t>
            </a:r>
            <a:r>
              <a:rPr lang="es-ES" b="1" dirty="0">
                <a:solidFill>
                  <a:schemeClr val="accent1"/>
                </a:solidFill>
                <a:latin typeface="+mn-lt"/>
              </a:rPr>
              <a:t>Mejora del conteo</a:t>
            </a:r>
            <a:endParaRPr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0" name="Google Shape;580;p50"/>
          <p:cNvSpPr txBox="1"/>
          <p:nvPr/>
        </p:nvSpPr>
        <p:spPr>
          <a:xfrm>
            <a:off x="361356" y="1530093"/>
            <a:ext cx="11554871" cy="98742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Nueva regla 4 (reemplaza 4a y 4b)</a:t>
            </a:r>
            <a:r>
              <a:rPr lang="es-ES" sz="2400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Cuando un trabajo consume su asignación de tiempo en un nivel su prioridad es reducida (sin importar las veces que este retome el uso de la CPU).</a:t>
            </a:r>
            <a:endParaRPr sz="24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581" name="Google Shape;5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1199" y="2699753"/>
            <a:ext cx="4922172" cy="3904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>
            <a:spLocks noGrp="1"/>
          </p:cNvSpPr>
          <p:nvPr>
            <p:ph type="title"/>
          </p:nvPr>
        </p:nvSpPr>
        <p:spPr>
          <a:xfrm>
            <a:off x="377371" y="96038"/>
            <a:ext cx="1150982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Mejora del conteo (Better Accounting)</a:t>
            </a:r>
          </a:p>
        </p:txBody>
      </p:sp>
      <p:pic>
        <p:nvPicPr>
          <p:cNvPr id="588" name="Google Shape;588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029" y="1291386"/>
            <a:ext cx="11074400" cy="41514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MLFQ - Mejorado</a:t>
            </a:r>
            <a:endParaRPr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94" name="Google Shape;594;p52"/>
          <p:cNvSpPr txBox="1">
            <a:spLocks noGrp="1"/>
          </p:cNvSpPr>
          <p:nvPr>
            <p:ph type="body" idx="1"/>
          </p:nvPr>
        </p:nvSpPr>
        <p:spPr>
          <a:xfrm>
            <a:off x="916650" y="938813"/>
            <a:ext cx="10690500" cy="430084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800" b="1" dirty="0">
                <a:latin typeface="+mn-lt"/>
              </a:rPr>
              <a:t>Reglas básicas</a:t>
            </a:r>
            <a:endParaRPr sz="2400" b="1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1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dirty="0">
                <a:latin typeface="+mn-lt"/>
              </a:rPr>
              <a:t> </a:t>
            </a:r>
            <a:r>
              <a:rPr lang="es-ES" sz="2400" b="1" dirty="0">
                <a:latin typeface="+mn-lt"/>
              </a:rPr>
              <a:t>&gt;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se ejecuta.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2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Si </a:t>
            </a:r>
            <a:r>
              <a:rPr lang="es-ES" sz="2400" b="1" dirty="0">
                <a:solidFill>
                  <a:srgbClr val="0B6937"/>
                </a:solidFill>
                <a:latin typeface="+mn-lt"/>
              </a:rPr>
              <a:t>prioridad(A)</a:t>
            </a:r>
            <a:r>
              <a:rPr lang="es-ES" sz="2400" b="1" dirty="0">
                <a:latin typeface="+mn-lt"/>
              </a:rPr>
              <a:t> =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prioridad(B)</a:t>
            </a:r>
            <a:r>
              <a:rPr lang="es-ES" sz="2400" dirty="0">
                <a:latin typeface="+mn-lt"/>
              </a:rPr>
              <a:t>; </a:t>
            </a:r>
            <a:r>
              <a:rPr lang="es-ES" sz="2400" b="1" dirty="0">
                <a:latin typeface="+mn-lt"/>
              </a:rPr>
              <a:t>RR</a:t>
            </a:r>
            <a:r>
              <a:rPr lang="es-ES" sz="2400" dirty="0">
                <a:latin typeface="+mn-lt"/>
              </a:rPr>
              <a:t> para </a:t>
            </a:r>
            <a:r>
              <a:rPr lang="es-ES" sz="2400" b="1" dirty="0">
                <a:latin typeface="+mn-lt"/>
              </a:rPr>
              <a:t>A</a:t>
            </a:r>
            <a:r>
              <a:rPr lang="es-ES" sz="2400" dirty="0">
                <a:latin typeface="+mn-lt"/>
              </a:rPr>
              <a:t> y </a:t>
            </a:r>
            <a:r>
              <a:rPr lang="es-ES" sz="2400" b="1" dirty="0">
                <a:latin typeface="+mn-lt"/>
              </a:rPr>
              <a:t>B</a:t>
            </a:r>
            <a:r>
              <a:rPr lang="es-ES" sz="2400" dirty="0">
                <a:latin typeface="+mn-lt"/>
              </a:rPr>
              <a:t>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3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Cuando un trabajo llega al sistema es ubicado en la cola con la prioridad más alta.</a:t>
            </a:r>
            <a:endParaRPr sz="2400" strike="sngStrike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2"/>
                </a:solidFill>
                <a:latin typeface="+mn-lt"/>
              </a:rPr>
              <a:t>Nueva Regla 4:</a:t>
            </a:r>
            <a:r>
              <a:rPr lang="es-ES" sz="2400" dirty="0">
                <a:latin typeface="+mn-lt"/>
              </a:rPr>
              <a:t> Cuando un trabajo consume su asignación de tiempo en un nivel su prioridad es reducida (sin importar las veces que este retome el uso de la CPU).</a:t>
            </a:r>
            <a:endParaRPr sz="24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ES" sz="2400" b="1" dirty="0">
                <a:solidFill>
                  <a:schemeClr val="accent1"/>
                </a:solidFill>
                <a:latin typeface="+mn-lt"/>
              </a:rPr>
              <a:t>Regla 5</a:t>
            </a:r>
            <a:r>
              <a:rPr lang="es-ES" sz="2400" dirty="0">
                <a:solidFill>
                  <a:schemeClr val="accent1"/>
                </a:solidFill>
                <a:latin typeface="+mn-lt"/>
              </a:rPr>
              <a:t>:</a:t>
            </a:r>
            <a:r>
              <a:rPr lang="es-ES" sz="2400" dirty="0">
                <a:latin typeface="+mn-lt"/>
              </a:rPr>
              <a:t> Después de un tiempo </a:t>
            </a:r>
            <a:r>
              <a:rPr lang="es-ES" sz="2400" b="1" dirty="0">
                <a:latin typeface="+mn-lt"/>
              </a:rPr>
              <a:t>S</a:t>
            </a:r>
            <a:r>
              <a:rPr lang="es-ES" sz="2400" dirty="0">
                <a:latin typeface="+mn-lt"/>
              </a:rPr>
              <a:t>, mueva todos los trabajos al mayor nivel de prioridad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3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53"/>
          <p:cNvSpPr txBox="1">
            <a:spLocks noGrp="1"/>
          </p:cNvSpPr>
          <p:nvPr>
            <p:ph type="title"/>
          </p:nvPr>
        </p:nvSpPr>
        <p:spPr>
          <a:xfrm>
            <a:off x="495300" y="96038"/>
            <a:ext cx="8725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s-ES" sz="40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Mejoras al MLFQ</a:t>
            </a:r>
            <a:endParaRPr sz="40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00" name="Google Shape;600;p53"/>
          <p:cNvSpPr txBox="1">
            <a:spLocks noGrp="1"/>
          </p:cNvSpPr>
          <p:nvPr>
            <p:ph type="body" idx="1"/>
          </p:nvPr>
        </p:nvSpPr>
        <p:spPr>
          <a:xfrm>
            <a:off x="495300" y="835400"/>
            <a:ext cx="11033400" cy="13381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/>
              <a:t>Menor nivel de prioridad → mayor tiempo de quantum</a:t>
            </a:r>
            <a:endParaRPr sz="24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b="1" dirty="0"/>
              <a:t>Alta prioridad</a:t>
            </a:r>
            <a:r>
              <a:rPr lang="es-ES" sz="2200" dirty="0"/>
              <a:t>: quantum corto (~10 ms)</a:t>
            </a:r>
            <a:endParaRPr sz="2200" dirty="0"/>
          </a:p>
          <a:p>
            <a:pPr marL="91440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s-ES" sz="2200" b="1" dirty="0"/>
              <a:t>Baja prioridad</a:t>
            </a:r>
            <a:r>
              <a:rPr lang="es-ES" sz="2200" dirty="0"/>
              <a:t>: quantum largo (~100 ms)</a:t>
            </a: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601" name="Google Shape;601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2137" y="2117350"/>
            <a:ext cx="5981563" cy="441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5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/>
              <a:t>Referencias</a:t>
            </a:r>
            <a:endParaRPr sz="3200" b="1" dirty="0">
              <a:solidFill>
                <a:srgbClr val="701E5C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07" name="Google Shape;607;p54"/>
          <p:cNvSpPr txBox="1">
            <a:spLocks noGrp="1"/>
          </p:cNvSpPr>
          <p:nvPr>
            <p:ph type="body" idx="1"/>
          </p:nvPr>
        </p:nvSpPr>
        <p:spPr>
          <a:xfrm>
            <a:off x="1011900" y="10581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b="1" dirty="0" err="1">
                <a:latin typeface="+mn-lt"/>
              </a:rPr>
              <a:t>Operating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Systems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b="1" dirty="0" err="1">
                <a:latin typeface="+mn-lt"/>
              </a:rPr>
              <a:t>Three</a:t>
            </a:r>
            <a:r>
              <a:rPr lang="es-ES" sz="2000" b="1" dirty="0">
                <a:latin typeface="+mn-lt"/>
              </a:rPr>
              <a:t> Easy </a:t>
            </a:r>
            <a:r>
              <a:rPr lang="es-ES" sz="2000" b="1" dirty="0" err="1">
                <a:latin typeface="+mn-lt"/>
              </a:rPr>
              <a:t>Pieces</a:t>
            </a:r>
            <a:r>
              <a:rPr lang="es-ES" sz="2000" b="1" dirty="0">
                <a:latin typeface="+mn-lt"/>
              </a:rPr>
              <a:t> </a:t>
            </a:r>
            <a:r>
              <a:rPr lang="es-ES" sz="2000" dirty="0">
                <a:latin typeface="+mn-lt"/>
              </a:rPr>
              <a:t>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000" dirty="0">
                <a:latin typeface="+mn-lt"/>
              </a:rPr>
              <a:t>: Capítulos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4"/>
              </a:rPr>
              <a:t>1</a:t>
            </a:r>
            <a:r>
              <a:rPr lang="es-ES" sz="2000" dirty="0">
                <a:latin typeface="+mn-lt"/>
              </a:rPr>
              <a:t> y 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5"/>
              </a:rPr>
              <a:t>2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Videos de </a:t>
            </a:r>
            <a:r>
              <a:rPr lang="es-ES" sz="2000" dirty="0" err="1">
                <a:latin typeface="+mn-lt"/>
              </a:rPr>
              <a:t>youtube</a:t>
            </a:r>
            <a:r>
              <a:rPr lang="es-ES" sz="2000" dirty="0">
                <a:latin typeface="+mn-lt"/>
              </a:rPr>
              <a:t>: Clase 1 - Introducción a los sistemas operativos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000" dirty="0">
                <a:latin typeface="+mn-lt"/>
              </a:rPr>
              <a:t>).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</a:rPr>
              <a:t>Página de </a:t>
            </a:r>
            <a:r>
              <a:rPr lang="es-ES" sz="2000" dirty="0" err="1">
                <a:latin typeface="+mn-lt"/>
              </a:rPr>
              <a:t>Remzi</a:t>
            </a:r>
            <a:r>
              <a:rPr lang="es-ES" sz="2000" dirty="0">
                <a:latin typeface="+mn-lt"/>
              </a:rPr>
              <a:t> H. </a:t>
            </a:r>
            <a:r>
              <a:rPr lang="es-ES" sz="2000" dirty="0" err="1">
                <a:latin typeface="+mn-lt"/>
              </a:rPr>
              <a:t>Arpaci-Dusseau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7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Concepts</a:t>
            </a:r>
            <a:r>
              <a:rPr lang="es-ES" sz="2000" dirty="0">
                <a:latin typeface="+mn-lt"/>
              </a:rPr>
              <a:t> - </a:t>
            </a:r>
            <a:r>
              <a:rPr lang="es-ES" sz="2000" dirty="0" err="1">
                <a:latin typeface="+mn-lt"/>
              </a:rPr>
              <a:t>Tenth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Edition</a:t>
            </a:r>
            <a:r>
              <a:rPr lang="es-ES" sz="2000" dirty="0">
                <a:latin typeface="+mn-lt"/>
              </a:rPr>
              <a:t> (</a:t>
            </a:r>
            <a:r>
              <a:rPr lang="es-ES" sz="2000" u="sng" dirty="0" err="1">
                <a:solidFill>
                  <a:schemeClr val="hlink"/>
                </a:solidFill>
                <a:latin typeface="+mn-lt"/>
                <a:hlinkClick r:id="rId8"/>
              </a:rPr>
              <a:t>website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 err="1">
                <a:latin typeface="+mn-lt"/>
              </a:rPr>
              <a:t>Operating</a:t>
            </a:r>
            <a:r>
              <a:rPr lang="es-ES" sz="2000" dirty="0">
                <a:latin typeface="+mn-lt"/>
              </a:rPr>
              <a:t> </a:t>
            </a:r>
            <a:r>
              <a:rPr lang="es-ES" sz="2000" dirty="0" err="1">
                <a:latin typeface="+mn-lt"/>
              </a:rPr>
              <a:t>Systems</a:t>
            </a:r>
            <a:r>
              <a:rPr lang="es-ES" sz="2000" dirty="0">
                <a:latin typeface="+mn-lt"/>
              </a:rPr>
              <a:t> Notes (</a:t>
            </a:r>
            <a:r>
              <a:rPr lang="es-ES" sz="2000" u="sng" dirty="0">
                <a:solidFill>
                  <a:schemeClr val="hlink"/>
                </a:solidFill>
                <a:latin typeface="+mn-lt"/>
                <a:hlinkClick r:id="rId9"/>
              </a:rPr>
              <a:t>link</a:t>
            </a:r>
            <a:r>
              <a:rPr lang="es-ES" sz="2000" dirty="0">
                <a:latin typeface="+mn-lt"/>
              </a:rPr>
              <a:t>)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0"/>
              </a:rPr>
              <a:t>https://github.com/Aniruddha-Tapas/Operating-Systems-Notes/blob/master/1-Overview.md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https://myaut.github.io/dtrace-stap-book/kernel/proc.html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2"/>
              </a:rPr>
              <a:t>https://myaut.github.io/dtrace-stap-book/index.html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3"/>
              </a:rPr>
              <a:t>https://www.technologyuk.net/computing/computer-software/operating-systems/operating-system-utilities.shtml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4"/>
              </a:rPr>
              <a:t>http://www.it.uu.se/education/course/homepage/os/vt18/module-4/simple-threads/</a:t>
            </a: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5"/>
              </a:rPr>
              <a:t>https://courses.cs.duke.edu/spring19/compsci590.1/slides/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CO" sz="2000" dirty="0">
                <a:latin typeface="+mn-lt"/>
                <a:hlinkClick r:id="rId16"/>
              </a:rPr>
              <a:t>https://github.com/ls1-sys-prog-course/docs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u="sng" dirty="0">
                <a:solidFill>
                  <a:schemeClr val="hlink"/>
                </a:solidFill>
                <a:latin typeface="+mn-lt"/>
                <a:hlinkClick r:id="rId17"/>
              </a:rPr>
              <a:t>https://www.merlot.org/merlot/viewMaterial.htm?id=773407108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  <a:hlinkClick r:id="rId18"/>
              </a:rPr>
              <a:t>https://github.com/silentzero192/Operating-Systems-Lab/tree/main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000" dirty="0">
                <a:latin typeface="+mn-lt"/>
                <a:hlinkClick r:id="rId19"/>
              </a:rPr>
              <a:t>https://github.com/getvmio/free-operating-system-resources</a:t>
            </a:r>
            <a:r>
              <a:rPr lang="es-ES" sz="20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8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296</TotalTime>
  <Words>2743</Words>
  <Application>Microsoft Office PowerPoint</Application>
  <PresentationFormat>Panorámica</PresentationFormat>
  <Paragraphs>754</Paragraphs>
  <Slides>36</Slides>
  <Notes>36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36</vt:i4>
      </vt:variant>
    </vt:vector>
  </HeadingPairs>
  <TitlesOfParts>
    <vt:vector size="46" baseType="lpstr">
      <vt:lpstr>Calibri</vt:lpstr>
      <vt:lpstr>Courier New</vt:lpstr>
      <vt:lpstr>Arial</vt:lpstr>
      <vt:lpstr>Calibri Light</vt:lpstr>
      <vt:lpstr>Times New Roman</vt:lpstr>
      <vt:lpstr>Roboto</vt:lpstr>
      <vt:lpstr>Cambria Math</vt:lpstr>
      <vt:lpstr>Roboto Slab</vt:lpstr>
      <vt:lpstr>Consolas</vt:lpstr>
      <vt:lpstr>Tema de Office</vt:lpstr>
      <vt:lpstr>Apuntes clase 6</vt:lpstr>
      <vt:lpstr>Repaso clase anterior</vt:lpstr>
      <vt:lpstr>Repaso clase anterior</vt:lpstr>
      <vt:lpstr>Repaso clase anterior</vt:lpstr>
      <vt:lpstr>Repaso clase anterior</vt:lpstr>
      <vt:lpstr>Repaso clase anterior</vt:lpstr>
      <vt:lpstr>Repaso clase anterior</vt:lpstr>
      <vt:lpstr>Contextualización</vt:lpstr>
      <vt:lpstr>Contextualización</vt:lpstr>
      <vt:lpstr>Tipos de procesos</vt:lpstr>
      <vt:lpstr>Planificador de propósito general</vt:lpstr>
      <vt:lpstr>MLFQ (Multi-Level Feedback Queue)</vt:lpstr>
      <vt:lpstr>MLFQ (Multi-Level Feedback Queue)</vt:lpstr>
      <vt:lpstr>MLFQ  - Reglas básicas</vt:lpstr>
      <vt:lpstr>MLFQ  - Reglas básicas</vt:lpstr>
      <vt:lpstr>MLFQ  - Reglas básicas</vt:lpstr>
      <vt:lpstr>MLFQ – Proceso CPU-bound</vt:lpstr>
      <vt:lpstr>MLFQ – Proceso CPU-bound</vt:lpstr>
      <vt:lpstr>MLFQ – Proceso CPU-bound</vt:lpstr>
      <vt:lpstr>MLFQ (Multi-Level Feedback Queue)</vt:lpstr>
      <vt:lpstr>MLFQ – Proceso CPU-bound</vt:lpstr>
      <vt:lpstr>MLFQ (Multi-Level Feedback Queue)</vt:lpstr>
      <vt:lpstr>MLFQ (Multi-Level Feedback Queue)</vt:lpstr>
      <vt:lpstr>MLFQ – Proceso CPU-bound</vt:lpstr>
      <vt:lpstr>MLFQ – Proceso CPU-bound</vt:lpstr>
      <vt:lpstr>Problemas del MLFQ básico - Cambio de comportamiento</vt:lpstr>
      <vt:lpstr>Problemas del MLFQ básico – Inanición</vt:lpstr>
      <vt:lpstr>Problemas del MLFQ básico – Inanición</vt:lpstr>
      <vt:lpstr>Priority boost</vt:lpstr>
      <vt:lpstr>MLFQ - Clásico</vt:lpstr>
      <vt:lpstr>Problemas del MLFQ básico - Engañar al planificador</vt:lpstr>
      <vt:lpstr>Problemas del MLFQ básico - Engañar al planificador</vt:lpstr>
      <vt:lpstr>Mejora del conteo (Better Accounting)</vt:lpstr>
      <vt:lpstr>MLFQ - Mejorado</vt:lpstr>
      <vt:lpstr>Mejoras al MLFQ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Apuntes clase 6</dc:title>
  <cp:lastModifiedBy>HENRY ALBERTO ARCILA RAMIREZ</cp:lastModifiedBy>
  <cp:revision>22</cp:revision>
  <dcterms:modified xsi:type="dcterms:W3CDTF">2026-08-21T02:35:34Z</dcterms:modified>
</cp:coreProperties>
</file>