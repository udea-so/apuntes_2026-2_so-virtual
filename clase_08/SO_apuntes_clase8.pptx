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36"/>
  </p:notesMasterIdLst>
  <p:sldIdLst>
    <p:sldId id="256" r:id="rId2"/>
    <p:sldId id="259" r:id="rId3"/>
    <p:sldId id="270" r:id="rId4"/>
    <p:sldId id="271" r:id="rId5"/>
    <p:sldId id="287" r:id="rId6"/>
    <p:sldId id="289" r:id="rId7"/>
    <p:sldId id="290" r:id="rId8"/>
    <p:sldId id="291" r:id="rId9"/>
    <p:sldId id="265" r:id="rId10"/>
    <p:sldId id="292" r:id="rId11"/>
    <p:sldId id="293" r:id="rId12"/>
    <p:sldId id="294" r:id="rId13"/>
    <p:sldId id="295" r:id="rId14"/>
    <p:sldId id="297" r:id="rId15"/>
    <p:sldId id="298" r:id="rId16"/>
    <p:sldId id="299" r:id="rId17"/>
    <p:sldId id="300" r:id="rId18"/>
    <p:sldId id="275" r:id="rId19"/>
    <p:sldId id="301" r:id="rId20"/>
    <p:sldId id="302" r:id="rId21"/>
    <p:sldId id="303" r:id="rId22"/>
    <p:sldId id="304" r:id="rId23"/>
    <p:sldId id="305" r:id="rId24"/>
    <p:sldId id="314" r:id="rId25"/>
    <p:sldId id="316" r:id="rId26"/>
    <p:sldId id="306" r:id="rId27"/>
    <p:sldId id="319" r:id="rId28"/>
    <p:sldId id="320" r:id="rId29"/>
    <p:sldId id="321" r:id="rId30"/>
    <p:sldId id="308" r:id="rId31"/>
    <p:sldId id="309" r:id="rId32"/>
    <p:sldId id="310" r:id="rId33"/>
    <p:sldId id="311" r:id="rId34"/>
    <p:sldId id="283" r:id="rId35"/>
  </p:sldIdLst>
  <p:sldSz cx="12192000" cy="6858000"/>
  <p:notesSz cx="6858000" cy="9144000"/>
  <p:embeddedFontLs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libri Light" panose="020F0302020204030204" pitchFamily="34" charset="0"/>
      <p:regular r:id="rId41"/>
      <p:italic r:id="rId42"/>
    </p:embeddedFont>
    <p:embeddedFont>
      <p:font typeface="Cambria Math" panose="02040503050406030204" pitchFamily="18" charset="0"/>
      <p:regular r:id="rId43"/>
    </p:embeddedFont>
    <p:embeddedFont>
      <p:font typeface="Consolas" panose="020B0609020204030204" pitchFamily="49" charset="0"/>
      <p:regular r:id="rId44"/>
      <p:bold r:id="rId45"/>
      <p:italic r:id="rId46"/>
      <p:boldItalic r:id="rId47"/>
    </p:embeddedFont>
    <p:embeddedFont>
      <p:font typeface="Roboto" panose="02000000000000000000" pitchFamily="2" charset="0"/>
      <p:regular r:id="rId48"/>
      <p:bold r:id="rId49"/>
      <p:italic r:id="rId50"/>
      <p:boldItalic r:id="rId51"/>
    </p:embeddedFont>
    <p:embeddedFont>
      <p:font typeface="Roboto Slab" panose="020B0604020202020204" charset="0"/>
      <p:regular r:id="rId52"/>
      <p:bold r:id="rId53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A52A41-BABC-4418-8BB8-58FADEB799A8}">
  <a:tblStyle styleId="{A3A52A41-BABC-4418-8BB8-58FADEB79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6:15:26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5 24575,'0'-1'0,"-1"1"0,1 0 0,0-1 0,-1 1 0,1 0 0,-1-1 0,1 1 0,-1 0 0,1-1 0,-1 1 0,0 0 0,1 0 0,-1 0 0,1-1 0,-1 1 0,1 0 0,-1 0 0,0 0 0,1 0 0,-1 0 0,1 0 0,-1 0 0,1 0 0,-1 0 0,0 1 0,1-1 0,-1 0 0,1 0 0,-1 0 0,1 1 0,-1-1 0,1 0 0,-1 1 0,1-1 0,-1 0 0,1 1 0,-1-1 0,0 1 0,-22 12 0,18-10 0,2 0 0,-1 0 0,0 1 0,1 0 0,-1 0 0,1 0 0,0 0 0,1 0 0,-1 1 0,1-1 0,-1 1 0,1-1 0,1 1 0,-1 0 0,-1 6 0,3-9 0,0 0 0,0-1 0,-1 1 0,1 0 0,0 0 0,0 0 0,1-1 0,-1 1 0,0 0 0,1 0 0,-1-1 0,1 1 0,-1 0 0,1 0 0,0-1 0,0 1 0,0-1 0,1 3 0,0-3 0,0 1 0,-1-1 0,1 0 0,0 0 0,0 1 0,0-1 0,0-1 0,0 1 0,0 0 0,0 0 0,1-1 0,-1 1 0,0-1 0,0 0 0,1 0 0,-1 0 0,0 0 0,4 0 0,-1-1 0,0 1 0,0 0 0,0 1 0,0-1 0,0 1 0,0 0 0,0 0 0,6 3 0,-11-4 0,1 0 0,0 1 0,0-1 0,-1 0 0,1 1 0,0-1 0,-1 1 0,1-1 0,0 1 0,-1 0 0,1-1 0,-1 1 0,1 0 0,-1-1 0,1 1 0,-1 0 0,0-1 0,1 1 0,-1 0 0,0 0 0,1 0 0,-1 1 0,0-1 0,0 1 0,-1 0 0,1-1 0,0 1 0,-1-1 0,1 1 0,-1 0 0,0-1 0,1 1 0,-1-1 0,0 0 0,0 1 0,0-1 0,0 1 0,0-1 0,-2 1 0,-1 2 0,1-1 0,-1 1 0,-1-1 0,1 0 0,0 0 0,-1 0 0,-7 2 0,9-4 0,0 1 0,0-1 0,0 1 0,0 0 0,0 0 0,0 0 0,0 0 0,0 0 0,1 1 0,-1-1 0,1 1 0,0-1 0,0 1 0,0 0 0,0 0 0,0 0 0,0 0 0,-1 5 0,2-6 0,0 0 0,0 0 0,0 0 0,0 0 0,1 0 0,-1 0 0,1 1 0,-1-1 0,1 0 0,0 0 0,-1 1 0,1-1 0,1 0 0,-1 0 0,0 1 0,0-1 0,1 0 0,-1 0 0,1 1 0,0-1 0,0 0 0,2 4 0,-1-4 0,1-1 0,0 1 0,0-1 0,0 1 0,0-1 0,0 0 0,1 0 0,-1 0 0,0-1 0,0 1 0,1-1 0,-1 0 0,0 1 0,1-2 0,4 1 0,-6-1 0,0 1 0,0 0 0,1 0 0,-1 0 0,0 0 0,0 0 0,0 1 0,0-1 0,0 1 0,0-1 0,0 1 0,0 0 0,0 0 0,0 0 0,0 0 0,0 0 0,-1 0 0,1 0 0,0 0 0,-1 1 0,1-1 0,-1 1 0,1-1 0,-1 1 0,0 0 0,1 0 0,-1-1 0,0 1 0,0 0 0,-1 0 0,1 0 0,0 0 0,-1 0 0,1 0 0,0 4 0,-1-2 0,0-1 0,-1 0 0,1 1 0,-1-1 0,1 1 0,-1-1 0,0 0 0,-1 0 0,1 1 0,0-1 0,-1 0 0,0 0 0,0 0 0,0-1 0,0 1 0,0 0 0,0-1 0,-1 1 0,1-1 0,-1 0 0,-5 4 0,4-3 0,1-1 0,0 1 0,0 0 0,0 0 0,0 0 0,0 1 0,1-1 0,0 1 0,-1-1 0,1 1 0,0 0 0,1 0 0,-1 0 0,1 0 0,-2 5 0,3-8 0,0 1 0,-1 0 0,1-1 0,0 1 0,0-1 0,0 1 0,0-1 0,0 1 0,1 0 0,-1-1 0,0 1 0,1-1 0,-1 1 0,1-1 0,-1 1 0,1-1 0,0 0 0,0 1 0,-1-1 0,1 0 0,0 1 0,0-1 0,0 0 0,1 0 0,-1 0 0,0 0 0,0 0 0,1 0 0,-1 0 0,0 0 0,1-1 0,-1 1 0,1 0 0,-1-1 0,1 0 0,-1 1 0,1-1 0,-1 0 0,1 1 0,-1-1 0,1 0 0,2 0 0,1 0 0,-1 1 0,0 0 0,1 0 0,-1 0 0,0 1 0,1 0 0,-1 0 0,6 4 0,-8-5 0,0 0 0,-1 0 0,1 0 0,0 0 0,-1 0 0,0 1 0,1-1 0,-1 0 0,0 1 0,1 0 0,-1-1 0,0 1 0,0-1 0,0 1 0,-1 0 0,1 0 0,0 0 0,-1 0 0,1-1 0,-1 1 0,0 0 0,1 4 0,-4-1 0,-1 0 0,0-1 0,0 1 0,0-1 0,0 1 0,-1-1 0,1-1 0,-8 6 0,4-3 0,5-4 0,0 0 0,1 0 0,-1 1 0,1-1 0,0 0 0,0 1 0,0-1 0,0 1 0,0 0 0,0 0 0,1 0 0,0 0 0,-1 0 0,1 0 0,0 0 0,0 0 0,1 0 0,-1 1 0,0 3 0,2-4 0,0-1 0,-1 0 0,1 0 0,0 1 0,0-1 0,0 0 0,1 0 0,-1 0 0,0 0 0,1 0 0,0-1 0,-1 1 0,1 0 0,0-1 0,0 1 0,0-1 0,0 0 0,0 0 0,0 1 0,0-1 0,0 0 0,0-1 0,1 1 0,-1 0 0,0-1 0,1 1 0,2-1 0,4 2 0,-2 0 0,0-1 0,0 1 0,0 1 0,0-1 0,9 5 0,-15-6 0,0 0 0,0-1 0,0 1 0,0 0 0,0-1 0,0 1 0,0 0 0,0 0 0,0 0 0,-1 0 0,1 0 0,0 0 0,-1 0 0,1 0 0,-1 0 0,1 0 0,-1 1 0,1-1 0,-1 0 0,0 0 0,1 0 0,-1 1 0,0-1 0,0 0 0,0 0 0,0 0 0,0 1 0,0-1 0,0 0 0,-1 0 0,1 1 0,0-1 0,-1 0 0,1 0 0,-1 0 0,1 0 0,-1 0 0,0 0 0,1 0 0,-2 2 0,-1-1 0,1 1 0,-1 0 0,0-1 0,0 0 0,0 0 0,0 0 0,-1 0 0,1 0 0,0-1 0,-1 1 0,0-1 0,1 0 0,-8 1 0,-30 15 0,39-16 0,1 0 0,-1 0 0,1 0 0,0 0 0,-1 0 0,1 1 0,0-1 0,0 0 0,0 1 0,0-1 0,0 1 0,0 0 0,1-1 0,-1 1 0,0-1 0,1 1 0,-1 0 0,1 0 0,0-1 0,-1 1 0,1 3 0,0-4 0,0 0 0,0 0 0,1 0 0,-1 0 0,0 0 0,0-1 0,1 1 0,-1 0 0,1 0 0,-1 0 0,1 0 0,-1 0 0,1-1 0,-1 1 0,1 0 0,0-1 0,-1 1 0,1 0 0,0-1 0,0 1 0,-1-1 0,1 1 0,0-1 0,0 1 0,0-1 0,0 0 0,1 1 0,33 8 0,-31-9 0,0 1 0,-1 0 0,1-1 0,-1 1 0,1 0 0,-1 1 0,1-1 0,-1 1 0,5 2 0,-7-3 0,0-1 0,0 1 0,0 0 0,0 0 0,0-1 0,0 1 0,-1 0 0,1 0 0,0 0 0,0 0 0,-1 0 0,1 0 0,-1 0 0,1 0 0,-1 1 0,1-1 0,-1 0 0,1 0 0,-1 0 0,0 1 0,0-1 0,0 0 0,0 0 0,0 0 0,0 1 0,0-1 0,0 0 0,0 0 0,0 1 0,-1-1 0,1 0 0,-1 0 0,1 0 0,-1 0 0,1 0 0,-1 1 0,1-1 0,-1 0 0,0 0 0,-1 1 0,-4 2 0,0 0 0,-1 0 0,1-1 0,-1 0 0,0 0 0,-8 2 0,10-4 0,1 0 0,0 0 0,0 1 0,0-1 0,-1 1 0,2 0 0,-1 0 0,0 0 0,0 1 0,1-1 0,-1 1 0,1 0 0,-6 6 0,8-7 0,0-1 0,1 1 0,-1-1 0,0 1 0,1-1 0,-1 1 0,1-1 0,0 1 0,-1-1 0,1 1 0,0 0 0,0-1 0,0 1 0,0-1 0,0 1 0,0 0 0,1-1 0,-1 1 0,1-1 0,-1 1 0,1-1 0,-1 1 0,1-1 0,0 1 0,-1-1 0,2 2 0,1-1 0,0 0 0,0-1 0,0 1 0,0-1 0,0 0 0,0 0 0,1 0 0,-1 0 0,7 0 0,10 3 0,-20-4-20,0 0 1,1 0-1,-1 1 0,0-1 0,0 0 1,0 0-1,0 0 0,0 0 0,0 0 0,1 0 1,-1 0-1,0 0 0,0 0 0,0 0 0,0 0 1,0 0-1,0 0 0,1 0 0,-1 0 1,0 1-1,0-1 0,0 0 0,0 0 0,0 0 1,0 0-1,0 0 0,0 0 0,0 0 0,0 1 1,0-1-1,0 0 0,0 0 0,1 0 1,-1 0-1,0 0 0,0 1 0,0-1 0,0 0 1,0 0-1,0 0 0,0 0 0,-1 0 0,1 1 1,0-1-1,0 0 0,0 0 0,0 0 1,0 0-1,0 0 0,0 0 0,0 1 0,0-1 1,0 0-1,0 0 0,0 0 0,0 0 0,-1 0 1,1 0-1,0 0 0,0 0 0,0 0 1,0 1-1,0-1 0,0 0 0,-1 0 0,1 0 1,0 0-1,0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b0d603767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0b0d603767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02fc7111b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g102fc7111b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b0d603767_0_1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g10b0d603767_0_1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0b0d603767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0b0d603767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0411c0b8f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g10411c0b8f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0e655267c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g10e655267c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0e65526bf7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g10e65526bf7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e65526bf7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g10e65526bf7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0e65526bf7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g10e65526bf7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0e65526bf7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g10e65526bf7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0e65526bf7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g10e65526bf7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0e65526bf7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0e65526bf7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0e65526bf7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0e65526bf7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0e65526bf7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0e65526bf7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0e65526bf7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0e65526bf7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e65526bf7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e65526bf7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0e65526bf7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0e65526bf7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0411c0b8f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0411c0b8ff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152071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063887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0e834b482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0e834b482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758453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599475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480650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0e834b482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6" name="Google Shape;616;g10e834b482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10e834b4827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4" name="Google Shape;624;g10e834b482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0e834b482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5" name="Google Shape;645;g10e834b482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0e834b482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7" name="Google Shape;657;g10e834b482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04304384e2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1" name="Google Shape;671;g104304384e2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83176-2AE6-4425-AF29-716B7A334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6A784E-3396-4F9C-8979-1A77C7E83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B45B00-4181-41C5-8A9C-B5C1D31D7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EFB3DD-2B42-4BA1-9961-486B0DBE2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E54CDC-52E1-43ED-992B-8E0592007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381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281D6-77CE-48A4-9892-744BC85D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8141B1-DAEE-4DB7-9836-AD530B3AC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29A8D1-53A5-4E1E-ACF1-4865B6C1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BCB5C2-5985-4FE2-887A-95776FC0D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0F4240-7265-4A4D-BAE4-FBF76E532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15765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AF25B-7583-4D56-840A-56C8D211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EF68F0-5020-4AAC-AFAD-4E2846B0C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F13D0C-2295-4D98-9E63-B99E84FBF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5BF590-BAC5-4D7C-A383-3D513C68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EA64B9-8A0C-42E4-9581-F8E6A7E0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248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0A06D-73DD-4163-BACD-F86C971F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DA0CE7-726C-4C1F-A6DB-6ECBD5714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738648-8411-4072-8CF5-22D7E876B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52D4D2-8F6E-40B6-800E-58471D663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20F6D4-6894-42D6-9CFD-6499C0C72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0B5BA3-5CA4-4EAC-8E9C-B95166F83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980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ED89C-C8B4-4630-AF38-19CA8314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50C6E1-EFCB-4B64-9467-47224E6E1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CD507D-A5CC-44EC-AA06-B070C8A9B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DAEA233-B47A-4A40-A3A7-49BE99054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F5F1ACF-4869-48B0-8FF6-777FE6674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D6E493-4611-4F9E-8BF9-6A45BE099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7570F28-5290-4268-B1A6-1DC5CECF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407DE3-6B19-476B-ABFE-F53AC852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739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8E7AF-113A-4C7A-949A-751A78D84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E07813-6E42-4C64-9471-4572BEEA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FD0D19-044F-44A6-9915-06C8D82C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F10DD9-1CAB-4ED7-BF65-23B3FF0B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180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7D329B-5131-4B16-9B8F-C5311F16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225E4D-BF16-4CA6-844A-A6B5125E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0BEAEB-397C-434C-8C0D-97057D2E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740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75509-1703-4EC0-B650-4900780F1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87CC8E-0112-4898-A3B2-F2798ED18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A45065-E2BF-49E2-B8B6-87B3B766C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B0E98C-7DCD-404C-B2F9-551A2CF6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DB60E7-D339-49BA-9EC6-3A7FC86A8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E5ACA3-F337-4573-9929-619C14E83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065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917A2-87A0-4BF2-9AE4-686900830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69965A6-EF00-4E68-93D3-A9CE8B165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761B7E-11D5-4562-8E14-D7A7675BD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5EF501-3FA3-4630-ABBE-83080E214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C9C617-0085-4B6E-909A-BE00961F4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31EBE9-E21D-4795-B4F3-4EB31321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76225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BF255-CB9F-4BBF-A935-4F124C30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F2F238-B951-45F3-82E6-DACC03176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3DEEB9-8CAB-44F2-89B8-869EDD595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E0143F-DE57-48FC-A70E-5CF750FD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35D36C-06E8-4C65-B679-53CBAE89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490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8D8602-AD9F-4DF0-970C-0589B9061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115B21-C694-46E2-B782-195A85B46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6AE4A8-9F61-4BA7-8B27-AFE1D053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DD4CA9-FA28-42EC-BE5B-D5F3584D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ABC836-10E3-448D-A026-45EDA278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7460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379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0104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602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D27C1BD-3B84-47A1-A28C-D7EB7ACC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C25C1C-FEF9-446A-AF29-34301A137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842EE3-E2BA-4280-8CD0-7BFB76FCC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A2BB7F-2CFA-4CB4-9552-8C4D4D53B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8498F9-6B8C-4309-BD00-C25BD9B24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897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applied-programming.github.io/Operating-Systems-Notes/" TargetMode="External"/><Relationship Id="rId13" Type="http://schemas.openxmlformats.org/officeDocument/2006/relationships/hyperlink" Target="http://www.it.uu.se/education/course/homepage/os/vt18/module-4/simple-threads/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s://www.os-book.com/OS10/index.html" TargetMode="External"/><Relationship Id="rId12" Type="http://schemas.openxmlformats.org/officeDocument/2006/relationships/hyperlink" Target="https://www.technologyuk.net/computing/computer-software/operating-systems/operating-system-utilities.shtml" TargetMode="External"/><Relationship Id="rId17" Type="http://schemas.openxmlformats.org/officeDocument/2006/relationships/hyperlink" Target="https://bob.cs.ucdavis.edu/classes/s24-ecs150/index.html" TargetMode="External"/><Relationship Id="rId2" Type="http://schemas.openxmlformats.org/officeDocument/2006/relationships/notesSlide" Target="../notesSlides/notesSlide34.xml"/><Relationship Id="rId16" Type="http://schemas.openxmlformats.org/officeDocument/2006/relationships/hyperlink" Target="https://web.stanford.edu/~ouster/cgi-bin/cs140-winter13/index.php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pages.cs.wisc.edu/~remzi/" TargetMode="External"/><Relationship Id="rId11" Type="http://schemas.openxmlformats.org/officeDocument/2006/relationships/hyperlink" Target="https://myaut.github.io/dtrace-stap-book/index.html" TargetMode="External"/><Relationship Id="rId5" Type="http://schemas.openxmlformats.org/officeDocument/2006/relationships/hyperlink" Target="https://www.youtube.com/playlist?list=PLlTZ99qnw3zKMsdok4wLn_e-zj8PPU-fp" TargetMode="External"/><Relationship Id="rId15" Type="http://schemas.openxmlformats.org/officeDocument/2006/relationships/hyperlink" Target="http://csl.snu.ac.kr/courses/4190.307/2020-1/" TargetMode="External"/><Relationship Id="rId10" Type="http://schemas.openxmlformats.org/officeDocument/2006/relationships/hyperlink" Target="https://myaut.github.io/dtrace-stap-book/kernel/proc.html" TargetMode="External"/><Relationship Id="rId4" Type="http://schemas.openxmlformats.org/officeDocument/2006/relationships/hyperlink" Target="https://pages.cs.wisc.edu/~remzi/OSTEP/vm-mechanism.pdf" TargetMode="External"/><Relationship Id="rId9" Type="http://schemas.openxmlformats.org/officeDocument/2006/relationships/hyperlink" Target="https://github.com/Aniruddha-Tapas/Operating-Systems-Notes/blob/master/1-Overview.md" TargetMode="External"/><Relationship Id="rId14" Type="http://schemas.openxmlformats.org/officeDocument/2006/relationships/hyperlink" Target="https://courses.cs.duke.edu/spring19/compsci590.1/slid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364479" y="2333762"/>
            <a:ext cx="1124250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– Clase 8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3447180"/>
            <a:ext cx="9144000" cy="311585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4400" b="1" dirty="0"/>
              <a:t>Traducción de direcciones</a:t>
            </a:r>
          </a:p>
          <a:p>
            <a:r>
              <a:rPr lang="es-CO" sz="4000" b="1" dirty="0"/>
              <a:t>Sistemas Operativos</a:t>
            </a:r>
          </a:p>
          <a:p>
            <a:r>
              <a:rPr lang="es-CO" sz="3200" dirty="0"/>
              <a:t>Universidad de Antioquia</a:t>
            </a:r>
          </a:p>
          <a:p>
            <a:r>
              <a:rPr lang="es-CO" sz="3200" dirty="0"/>
              <a:t>Facultad Ingeniería</a:t>
            </a:r>
          </a:p>
          <a:p>
            <a:r>
              <a:rPr lang="es-CO" sz="3200" dirty="0"/>
              <a:t>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379850" y="113988"/>
            <a:ext cx="10515600" cy="89871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</a:t>
            </a:r>
            <a:endParaRPr dirty="0"/>
          </a:p>
        </p:txBody>
      </p:sp>
      <p:sp>
        <p:nvSpPr>
          <p:cNvPr id="158" name="Google Shape;158;p20"/>
          <p:cNvSpPr txBox="1">
            <a:spLocks noGrp="1"/>
          </p:cNvSpPr>
          <p:nvPr>
            <p:ph idx="1"/>
          </p:nvPr>
        </p:nvSpPr>
        <p:spPr>
          <a:xfrm>
            <a:off x="379850" y="959124"/>
            <a:ext cx="10749300" cy="6996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400" dirty="0"/>
              <a:t>Un proceso es un </a:t>
            </a:r>
            <a:r>
              <a:rPr lang="es-ES" sz="2400" b="1" dirty="0">
                <a:solidFill>
                  <a:srgbClr val="0B6937"/>
                </a:solidFill>
              </a:rPr>
              <a:t>programa en ejecución</a:t>
            </a:r>
            <a:r>
              <a:rPr lang="es-ES" sz="2400" dirty="0"/>
              <a:t>.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3457" y="4069700"/>
            <a:ext cx="970343" cy="7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20"/>
          <p:cNvGrpSpPr/>
          <p:nvPr/>
        </p:nvGrpSpPr>
        <p:grpSpPr>
          <a:xfrm>
            <a:off x="7383000" y="2232650"/>
            <a:ext cx="4549500" cy="4393500"/>
            <a:chOff x="5458950" y="1790200"/>
            <a:chExt cx="4549500" cy="4393500"/>
          </a:xfrm>
        </p:grpSpPr>
        <p:sp>
          <p:nvSpPr>
            <p:cNvPr id="161" name="Google Shape;161;p20"/>
            <p:cNvSpPr/>
            <p:nvPr/>
          </p:nvSpPr>
          <p:spPr>
            <a:xfrm>
              <a:off x="5458950" y="1790200"/>
              <a:ext cx="4549500" cy="439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" name="Google Shape;162;p20"/>
            <p:cNvGrpSpPr/>
            <p:nvPr/>
          </p:nvGrpSpPr>
          <p:grpSpPr>
            <a:xfrm>
              <a:off x="5988151" y="2590500"/>
              <a:ext cx="1452724" cy="2122900"/>
              <a:chOff x="6077376" y="2623950"/>
              <a:chExt cx="1452724" cy="2122900"/>
            </a:xfrm>
          </p:grpSpPr>
          <p:sp>
            <p:nvSpPr>
              <p:cNvPr id="163" name="Google Shape;163;p20"/>
              <p:cNvSpPr txBox="1"/>
              <p:nvPr/>
            </p:nvSpPr>
            <p:spPr>
              <a:xfrm>
                <a:off x="6161500" y="2623950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CPU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164" name="Google Shape;164;p20"/>
              <p:cNvGrpSpPr/>
              <p:nvPr/>
            </p:nvGrpSpPr>
            <p:grpSpPr>
              <a:xfrm>
                <a:off x="6077376" y="3042363"/>
                <a:ext cx="1422424" cy="1401900"/>
                <a:chOff x="6077376" y="3042363"/>
                <a:chExt cx="1422424" cy="1401900"/>
              </a:xfrm>
            </p:grpSpPr>
            <p:sp>
              <p:nvSpPr>
                <p:cNvPr id="165" name="Google Shape;165;p20"/>
                <p:cNvSpPr/>
                <p:nvPr/>
              </p:nvSpPr>
              <p:spPr>
                <a:xfrm>
                  <a:off x="6161500" y="3042363"/>
                  <a:ext cx="1338300" cy="1401900"/>
                </a:xfrm>
                <a:prstGeom prst="rect">
                  <a:avLst/>
                </a:prstGeom>
                <a:solidFill>
                  <a:srgbClr val="FFE599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6" name="Google Shape;166;p20"/>
                <p:cNvGrpSpPr/>
                <p:nvPr/>
              </p:nvGrpSpPr>
              <p:grpSpPr>
                <a:xfrm>
                  <a:off x="6131200" y="3096950"/>
                  <a:ext cx="1178925" cy="461635"/>
                  <a:chOff x="6131200" y="3096950"/>
                  <a:chExt cx="1178925" cy="461635"/>
                </a:xfrm>
              </p:grpSpPr>
              <p:sp>
                <p:nvSpPr>
                  <p:cNvPr id="167" name="Google Shape;167;p20"/>
                  <p:cNvSpPr/>
                  <p:nvPr/>
                </p:nvSpPr>
                <p:spPr>
                  <a:xfrm>
                    <a:off x="6618625" y="3212150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20"/>
                  <p:cNvSpPr txBox="1"/>
                  <p:nvPr/>
                </p:nvSpPr>
                <p:spPr>
                  <a:xfrm>
                    <a:off x="6131200" y="3096950"/>
                    <a:ext cx="50985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PC</a:t>
                    </a:r>
                    <a:endParaRPr b="1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</p:grpSp>
            <p:grpSp>
              <p:nvGrpSpPr>
                <p:cNvPr id="169" name="Google Shape;169;p20"/>
                <p:cNvGrpSpPr/>
                <p:nvPr/>
              </p:nvGrpSpPr>
              <p:grpSpPr>
                <a:xfrm>
                  <a:off x="6077376" y="3412550"/>
                  <a:ext cx="1232749" cy="461635"/>
                  <a:chOff x="6077376" y="3412550"/>
                  <a:chExt cx="1232749" cy="461635"/>
                </a:xfrm>
              </p:grpSpPr>
              <p:sp>
                <p:nvSpPr>
                  <p:cNvPr id="170" name="Google Shape;170;p20"/>
                  <p:cNvSpPr txBox="1"/>
                  <p:nvPr/>
                </p:nvSpPr>
                <p:spPr>
                  <a:xfrm>
                    <a:off x="6077376" y="3412550"/>
                    <a:ext cx="563674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SP</a:t>
                    </a:r>
                    <a:endParaRPr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171" name="Google Shape;171;p20"/>
                  <p:cNvSpPr/>
                  <p:nvPr/>
                </p:nvSpPr>
                <p:spPr>
                  <a:xfrm>
                    <a:off x="6618625" y="3520825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72" name="Google Shape;172;p20"/>
                <p:cNvSpPr txBox="1"/>
                <p:nvPr/>
              </p:nvSpPr>
              <p:spPr>
                <a:xfrm>
                  <a:off x="6566050" y="3744900"/>
                  <a:ext cx="529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...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173" name="Google Shape;173;p20"/>
              <p:cNvSpPr txBox="1"/>
              <p:nvPr/>
            </p:nvSpPr>
            <p:spPr>
              <a:xfrm>
                <a:off x="6161500" y="4392850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Registros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74" name="Google Shape;174;p20"/>
            <p:cNvSpPr/>
            <p:nvPr/>
          </p:nvSpPr>
          <p:spPr>
            <a:xfrm>
              <a:off x="7948250" y="281312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5" name="Google Shape;175;p20"/>
            <p:cNvGrpSpPr/>
            <p:nvPr/>
          </p:nvGrpSpPr>
          <p:grpSpPr>
            <a:xfrm>
              <a:off x="7805450" y="2441425"/>
              <a:ext cx="1368600" cy="2457250"/>
              <a:chOff x="7805450" y="2441425"/>
              <a:chExt cx="1368600" cy="2457250"/>
            </a:xfrm>
          </p:grpSpPr>
          <p:grpSp>
            <p:nvGrpSpPr>
              <p:cNvPr id="176" name="Google Shape;176;p20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77" name="Google Shape;177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78" name="Google Shape;178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79" name="Google Shape;179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180" name="Google Shape;180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181" name="Google Shape;181;p20"/>
                <p:cNvCxnSpPr>
                  <a:stCxn id="179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82" name="Google Shape;182;p20"/>
                <p:cNvCxnSpPr>
                  <a:stCxn id="180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83" name="Google Shape;183;p20"/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MM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84" name="Google Shape;184;p20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 dirty="0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Address Space</a:t>
                </a:r>
                <a:endParaRPr sz="1100" b="1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85" name="Google Shape;185;p20"/>
            <p:cNvSpPr/>
            <p:nvPr/>
          </p:nvSpPr>
          <p:spPr>
            <a:xfrm>
              <a:off x="6930600" y="5055800"/>
              <a:ext cx="14469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186" name="Google Shape;186;p20"/>
          <p:cNvCxnSpPr/>
          <p:nvPr/>
        </p:nvCxnSpPr>
        <p:spPr>
          <a:xfrm>
            <a:off x="5918825" y="3486800"/>
            <a:ext cx="1401900" cy="4500"/>
          </a:xfrm>
          <a:prstGeom prst="straightConnector1">
            <a:avLst/>
          </a:prstGeom>
          <a:noFill/>
          <a:ln w="38100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87" name="Google Shape;18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130975" y="2704300"/>
            <a:ext cx="787000" cy="7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1285922" y="1658812"/>
            <a:ext cx="5631038" cy="50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>
                <a:latin typeface="Courier New"/>
                <a:ea typeface="Courier New"/>
                <a:cs typeface="Courier New"/>
                <a:sym typeface="Courier New"/>
              </a:rPr>
              <a:t>Proceso = CPU + </a:t>
            </a:r>
            <a:r>
              <a:rPr lang="es-ES" sz="2100" b="1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Memory</a:t>
            </a:r>
            <a:r>
              <a:rPr lang="es-ES" sz="2100" b="1" dirty="0">
                <a:latin typeface="Courier New"/>
                <a:ea typeface="Courier New"/>
                <a:cs typeface="Courier New"/>
                <a:sym typeface="Courier New"/>
              </a:rPr>
              <a:t> + I/O Info</a:t>
            </a:r>
            <a:endParaRPr sz="21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1088" y="4620713"/>
            <a:ext cx="418425" cy="4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4350" y="3985213"/>
            <a:ext cx="509450" cy="46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78225" y="3995140"/>
            <a:ext cx="1134175" cy="113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3559" y="3036049"/>
            <a:ext cx="1410191" cy="9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13862" y="5002989"/>
            <a:ext cx="1549725" cy="92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532" y="5985650"/>
            <a:ext cx="970343" cy="78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0"/>
          <p:cNvCxnSpPr/>
          <p:nvPr/>
        </p:nvCxnSpPr>
        <p:spPr>
          <a:xfrm rot="10800000" flipH="1">
            <a:off x="3086875" y="3486800"/>
            <a:ext cx="1131600" cy="5829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3075225" y="4862800"/>
            <a:ext cx="1002900" cy="641400"/>
          </a:xfrm>
          <a:prstGeom prst="straightConnector1">
            <a:avLst/>
          </a:prstGeom>
          <a:noFill/>
          <a:ln w="38100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97" name="Google Shape;197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86250" y="2773526"/>
            <a:ext cx="418399" cy="41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1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107378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Virtualización de Memoria - Contextualización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62" name="Google Shape;462;p31"/>
          <p:cNvSpPr txBox="1">
            <a:spLocks noGrp="1"/>
          </p:cNvSpPr>
          <p:nvPr>
            <p:ph type="body" idx="1"/>
          </p:nvPr>
        </p:nvSpPr>
        <p:spPr>
          <a:xfrm>
            <a:off x="294968" y="1156350"/>
            <a:ext cx="5589638" cy="94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400" b="1" dirty="0">
                <a:latin typeface="+mn-lt"/>
              </a:rPr>
              <a:t>Virtualización de memoria</a:t>
            </a:r>
            <a:r>
              <a:rPr lang="es-ES" sz="2400" dirty="0">
                <a:latin typeface="+mn-lt"/>
              </a:rPr>
              <a:t>: Cada proceso cree que </a:t>
            </a:r>
            <a:r>
              <a:rPr lang="es-ES" sz="2400" b="1" dirty="0">
                <a:solidFill>
                  <a:srgbClr val="C00000"/>
                </a:solidFill>
                <a:latin typeface="+mn-lt"/>
              </a:rPr>
              <a:t>tiene su propia memoria</a:t>
            </a:r>
            <a:r>
              <a:rPr lang="es-ES" sz="24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453" name="Google Shape;453;p31"/>
          <p:cNvSpPr txBox="1"/>
          <p:nvPr/>
        </p:nvSpPr>
        <p:spPr>
          <a:xfrm>
            <a:off x="9395250" y="5152113"/>
            <a:ext cx="22707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9900"/>
                </a:solidFill>
              </a:rPr>
              <a:t>Recurso</a:t>
            </a:r>
            <a:endParaRPr sz="2800" b="1">
              <a:solidFill>
                <a:srgbClr val="FF9900"/>
              </a:solidFill>
            </a:endParaRPr>
          </a:p>
        </p:txBody>
      </p:sp>
      <p:sp>
        <p:nvSpPr>
          <p:cNvPr id="454" name="Google Shape;454;p31"/>
          <p:cNvSpPr txBox="1"/>
          <p:nvPr/>
        </p:nvSpPr>
        <p:spPr>
          <a:xfrm>
            <a:off x="10046575" y="2174050"/>
            <a:ext cx="15777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9900"/>
                </a:solidFill>
              </a:rPr>
              <a:t>Ilusión</a:t>
            </a:r>
            <a:endParaRPr sz="2800" b="1">
              <a:solidFill>
                <a:srgbClr val="FF9900"/>
              </a:solidFill>
            </a:endParaRPr>
          </a:p>
        </p:txBody>
      </p:sp>
      <p:pic>
        <p:nvPicPr>
          <p:cNvPr id="455" name="Google Shape;4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517" y="4508325"/>
            <a:ext cx="1503075" cy="15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6763" y="3679000"/>
            <a:ext cx="2947038" cy="30084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7" name="Google Shape;457;p31"/>
          <p:cNvCxnSpPr/>
          <p:nvPr/>
        </p:nvCxnSpPr>
        <p:spPr>
          <a:xfrm>
            <a:off x="3180175" y="3678988"/>
            <a:ext cx="8444100" cy="117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58" name="Google Shape;45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2363" y="2963900"/>
            <a:ext cx="418425" cy="4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9800" y="2955375"/>
            <a:ext cx="509450" cy="4606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1"/>
          <p:cNvSpPr txBox="1"/>
          <p:nvPr/>
        </p:nvSpPr>
        <p:spPr>
          <a:xfrm>
            <a:off x="6787225" y="2947200"/>
            <a:ext cx="970200" cy="477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latin typeface="Courier New"/>
                <a:ea typeface="Courier New"/>
                <a:cs typeface="Courier New"/>
                <a:sym typeface="Courier New"/>
              </a:rPr>
              <a:t>P0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1" name="Google Shape;461;p31"/>
          <p:cNvSpPr txBox="1"/>
          <p:nvPr/>
        </p:nvSpPr>
        <p:spPr>
          <a:xfrm>
            <a:off x="9165400" y="2947213"/>
            <a:ext cx="970200" cy="4770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63" name="Google Shape;463;p31"/>
          <p:cNvGrpSpPr/>
          <p:nvPr/>
        </p:nvGrpSpPr>
        <p:grpSpPr>
          <a:xfrm>
            <a:off x="1425225" y="3108010"/>
            <a:ext cx="1076100" cy="1739700"/>
            <a:chOff x="1775100" y="4022850"/>
            <a:chExt cx="1076100" cy="1739700"/>
          </a:xfrm>
        </p:grpSpPr>
        <p:sp>
          <p:nvSpPr>
            <p:cNvPr id="464" name="Google Shape;464;p31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5" name="Google Shape;465;p31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66" name="Google Shape;466;p31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67" name="Google Shape;467;p31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468" name="Google Shape;468;p31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469" name="Google Shape;469;p31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470" name="Google Shape;470;p31"/>
              <p:cNvCxnSpPr>
                <a:stCxn id="468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71" name="Google Shape;471;p31"/>
              <p:cNvCxnSpPr>
                <a:stCxn id="469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72" name="Google Shape;472;p31"/>
          <p:cNvGrpSpPr/>
          <p:nvPr/>
        </p:nvGrpSpPr>
        <p:grpSpPr>
          <a:xfrm>
            <a:off x="6864154" y="1414618"/>
            <a:ext cx="806322" cy="1163511"/>
            <a:chOff x="1775100" y="4022850"/>
            <a:chExt cx="1076100" cy="1739700"/>
          </a:xfrm>
        </p:grpSpPr>
        <p:sp>
          <p:nvSpPr>
            <p:cNvPr id="473" name="Google Shape;473;p31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4" name="Google Shape;474;p31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75" name="Google Shape;475;p31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76" name="Google Shape;476;p31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477" name="Google Shape;477;p31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478" name="Google Shape;478;p31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479" name="Google Shape;479;p31"/>
              <p:cNvCxnSpPr>
                <a:stCxn id="477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0" name="Google Shape;480;p31"/>
              <p:cNvCxnSpPr>
                <a:stCxn id="478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81" name="Google Shape;481;p31"/>
          <p:cNvGrpSpPr/>
          <p:nvPr/>
        </p:nvGrpSpPr>
        <p:grpSpPr>
          <a:xfrm>
            <a:off x="9247342" y="1414618"/>
            <a:ext cx="806322" cy="1163511"/>
            <a:chOff x="1775100" y="4022850"/>
            <a:chExt cx="1076100" cy="1739700"/>
          </a:xfrm>
        </p:grpSpPr>
        <p:sp>
          <p:nvSpPr>
            <p:cNvPr id="482" name="Google Shape;482;p31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3" name="Google Shape;483;p31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84" name="Google Shape;484;p31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486" name="Google Shape;486;p31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487" name="Google Shape;487;p31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488" name="Google Shape;488;p31"/>
              <p:cNvCxnSpPr>
                <a:stCxn id="486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9" name="Google Shape;489;p31"/>
              <p:cNvCxnSpPr>
                <a:stCxn id="48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pic>
        <p:nvPicPr>
          <p:cNvPr id="40" name="Imagen 39">
            <a:extLst>
              <a:ext uri="{FF2B5EF4-FFF2-40B4-BE49-F238E27FC236}">
                <a16:creationId xmlns:a16="http://schemas.microsoft.com/office/drawing/2014/main" id="{1F2057AC-06B9-4DAA-B949-D158FB569E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6375" y="1326390"/>
            <a:ext cx="1120674" cy="644252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31CDE8BE-2622-419E-AF2D-03FB137A98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1311" y="4577230"/>
            <a:ext cx="1115738" cy="6276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2"/>
          <p:cNvSpPr txBox="1">
            <a:spLocks noGrp="1"/>
          </p:cNvSpPr>
          <p:nvPr>
            <p:ph type="title"/>
          </p:nvPr>
        </p:nvSpPr>
        <p:spPr>
          <a:xfrm>
            <a:off x="799050" y="81974"/>
            <a:ext cx="10358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Virtualización de Memoria - Contextualización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496" name="Google Shape;496;p32"/>
          <p:cNvGrpSpPr/>
          <p:nvPr/>
        </p:nvGrpSpPr>
        <p:grpSpPr>
          <a:xfrm>
            <a:off x="7738879" y="2144643"/>
            <a:ext cx="806322" cy="1163511"/>
            <a:chOff x="1775100" y="4022850"/>
            <a:chExt cx="1076100" cy="1739700"/>
          </a:xfrm>
        </p:grpSpPr>
        <p:sp>
          <p:nvSpPr>
            <p:cNvPr id="497" name="Google Shape;497;p32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8" name="Google Shape;498;p32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99" name="Google Shape;499;p32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00" name="Google Shape;500;p32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501" name="Google Shape;501;p32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502" name="Google Shape;502;p32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503" name="Google Shape;503;p32"/>
              <p:cNvCxnSpPr>
                <a:stCxn id="501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04" name="Google Shape;504;p32"/>
              <p:cNvCxnSpPr>
                <a:stCxn id="502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505" name="Google Shape;505;p32"/>
          <p:cNvGrpSpPr/>
          <p:nvPr/>
        </p:nvGrpSpPr>
        <p:grpSpPr>
          <a:xfrm>
            <a:off x="7738867" y="3751018"/>
            <a:ext cx="806322" cy="1163511"/>
            <a:chOff x="1775100" y="4022850"/>
            <a:chExt cx="1076100" cy="1739700"/>
          </a:xfrm>
        </p:grpSpPr>
        <p:sp>
          <p:nvSpPr>
            <p:cNvPr id="506" name="Google Shape;506;p32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7" name="Google Shape;507;p32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508" name="Google Shape;508;p32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09" name="Google Shape;509;p32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510" name="Google Shape;510;p32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511" name="Google Shape;511;p32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512" name="Google Shape;512;p32"/>
              <p:cNvCxnSpPr>
                <a:stCxn id="510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13" name="Google Shape;513;p32"/>
              <p:cNvCxnSpPr>
                <a:stCxn id="511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514" name="Google Shape;514;p32"/>
          <p:cNvGrpSpPr/>
          <p:nvPr/>
        </p:nvGrpSpPr>
        <p:grpSpPr>
          <a:xfrm>
            <a:off x="10684350" y="1375225"/>
            <a:ext cx="822300" cy="3936300"/>
            <a:chOff x="6401200" y="2480400"/>
            <a:chExt cx="822300" cy="3936300"/>
          </a:xfrm>
        </p:grpSpPr>
        <p:sp>
          <p:nvSpPr>
            <p:cNvPr id="515" name="Google Shape;515;p32"/>
            <p:cNvSpPr/>
            <p:nvPr/>
          </p:nvSpPr>
          <p:spPr>
            <a:xfrm>
              <a:off x="6401200" y="2480400"/>
              <a:ext cx="822300" cy="3936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6" name="Google Shape;516;p32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517" name="Google Shape;517;p32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18" name="Google Shape;518;p32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519" name="Google Shape;519;p32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20" name="Google Shape;520;p32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521" name="Google Shape;521;p32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522" name="Google Shape;522;p32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523" name="Google Shape;523;p32"/>
                <p:cNvCxnSpPr>
                  <a:stCxn id="521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24" name="Google Shape;524;p32"/>
                <p:cNvCxnSpPr>
                  <a:stCxn id="522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525" name="Google Shape;525;p32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526" name="Google Shape;526;p32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7" name="Google Shape;527;p32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528" name="Google Shape;528;p32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29" name="Google Shape;529;p32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530" name="Google Shape;530;p32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531" name="Google Shape;531;p32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532" name="Google Shape;532;p32"/>
                <p:cNvCxnSpPr>
                  <a:stCxn id="530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33" name="Google Shape;533;p32"/>
                <p:cNvCxnSpPr>
                  <a:stCxn id="531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534" name="Google Shape;534;p32"/>
          <p:cNvSpPr/>
          <p:nvPr/>
        </p:nvSpPr>
        <p:spPr>
          <a:xfrm>
            <a:off x="5916438" y="22748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5858125" y="3867975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36" name="Google Shape;536;p32"/>
          <p:cNvCxnSpPr/>
          <p:nvPr/>
        </p:nvCxnSpPr>
        <p:spPr>
          <a:xfrm rot="10800000" flipH="1">
            <a:off x="8555000" y="2002200"/>
            <a:ext cx="2125500" cy="137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32"/>
          <p:cNvCxnSpPr/>
          <p:nvPr/>
        </p:nvCxnSpPr>
        <p:spPr>
          <a:xfrm rot="10800000" flipH="1">
            <a:off x="8555000" y="3175250"/>
            <a:ext cx="2128500" cy="140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32"/>
          <p:cNvCxnSpPr/>
          <p:nvPr/>
        </p:nvCxnSpPr>
        <p:spPr>
          <a:xfrm rot="10800000" flipH="1">
            <a:off x="8555000" y="3720500"/>
            <a:ext cx="2128500" cy="2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9" name="Google Shape;539;p32"/>
          <p:cNvCxnSpPr/>
          <p:nvPr/>
        </p:nvCxnSpPr>
        <p:spPr>
          <a:xfrm rot="10800000" flipH="1">
            <a:off x="8549175" y="4893775"/>
            <a:ext cx="2134500" cy="24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40" name="Google Shape;540;p32"/>
          <p:cNvSpPr txBox="1"/>
          <p:nvPr/>
        </p:nvSpPr>
        <p:spPr>
          <a:xfrm>
            <a:off x="6708150" y="2486550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541" name="Google Shape;541;p32"/>
          <p:cNvSpPr txBox="1"/>
          <p:nvPr/>
        </p:nvSpPr>
        <p:spPr>
          <a:xfrm>
            <a:off x="6696425" y="4075125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cxnSp>
        <p:nvCxnSpPr>
          <p:cNvPr id="542" name="Google Shape;542;p32"/>
          <p:cNvCxnSpPr/>
          <p:nvPr/>
        </p:nvCxnSpPr>
        <p:spPr>
          <a:xfrm rot="10800000" flipH="1">
            <a:off x="7375100" y="42321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3" name="Google Shape;543;p32"/>
          <p:cNvCxnSpPr/>
          <p:nvPr/>
        </p:nvCxnSpPr>
        <p:spPr>
          <a:xfrm rot="10800000" flipH="1">
            <a:off x="7386750" y="26390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" name="Google Shape;544;p32"/>
          <p:cNvCxnSpPr>
            <a:stCxn id="501" idx="3"/>
            <a:endCxn id="521" idx="1"/>
          </p:cNvCxnSpPr>
          <p:nvPr/>
        </p:nvCxnSpPr>
        <p:spPr>
          <a:xfrm rot="10800000" flipH="1">
            <a:off x="8545201" y="2498895"/>
            <a:ext cx="2147100" cy="137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5" name="Google Shape;545;p32"/>
          <p:cNvCxnSpPr>
            <a:stCxn id="510" idx="3"/>
            <a:endCxn id="530" idx="1"/>
          </p:cNvCxnSpPr>
          <p:nvPr/>
        </p:nvCxnSpPr>
        <p:spPr>
          <a:xfrm rot="10800000" flipH="1">
            <a:off x="8545188" y="4213270"/>
            <a:ext cx="2147100" cy="29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6" name="Google Shape;546;p32"/>
          <p:cNvSpPr txBox="1"/>
          <p:nvPr/>
        </p:nvSpPr>
        <p:spPr>
          <a:xfrm>
            <a:off x="621456" y="3709050"/>
            <a:ext cx="4030800" cy="26396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./</a:t>
            </a:r>
            <a:r>
              <a:rPr lang="es-ES" sz="1200" dirty="0" err="1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&amp;; 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./</a:t>
            </a:r>
            <a:r>
              <a:rPr lang="es-ES" sz="12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</a:t>
            </a: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[1] </a:t>
            </a: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24113</a:t>
            </a:r>
            <a:endParaRPr sz="12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[2] 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24114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(24113) address </a:t>
            </a:r>
            <a:r>
              <a:rPr lang="es-ES" sz="12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2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2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200" dirty="0">
                <a:solidFill>
                  <a:srgbClr val="24292E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1200" dirty="0">
              <a:solidFill>
                <a:srgbClr val="24292E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address </a:t>
            </a:r>
            <a:r>
              <a:rPr lang="es-ES" sz="12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2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2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200" dirty="0">
                <a:solidFill>
                  <a:srgbClr val="24292E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1200" dirty="0">
              <a:solidFill>
                <a:srgbClr val="24292E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1</a:t>
            </a:r>
            <a:endParaRPr sz="12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1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2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2</a:t>
            </a:r>
            <a:endParaRPr sz="12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3</a:t>
            </a:r>
            <a:endParaRPr sz="1200" dirty="0">
              <a:solidFill>
                <a:srgbClr val="24292E"/>
              </a:solidFill>
              <a:highlight>
                <a:srgbClr val="CFE2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3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4</a:t>
            </a:r>
            <a:endParaRPr sz="12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4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7" name="Google Shape;547;p32"/>
          <p:cNvSpPr txBox="1"/>
          <p:nvPr/>
        </p:nvSpPr>
        <p:spPr>
          <a:xfrm>
            <a:off x="5371363" y="3131063"/>
            <a:ext cx="1704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pid(P1)= 21113</a:t>
            </a:r>
            <a:endParaRPr sz="1400" dirty="0">
              <a:highlight>
                <a:srgbClr val="C9DAF8"/>
              </a:highlight>
            </a:endParaRPr>
          </a:p>
        </p:txBody>
      </p:sp>
      <p:sp>
        <p:nvSpPr>
          <p:cNvPr id="548" name="Google Shape;548;p32"/>
          <p:cNvSpPr txBox="1"/>
          <p:nvPr/>
        </p:nvSpPr>
        <p:spPr>
          <a:xfrm>
            <a:off x="5429688" y="4807388"/>
            <a:ext cx="1704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pid(P2)= 21114</a:t>
            </a:r>
            <a:endParaRPr sz="1400" dirty="0">
              <a:highlight>
                <a:srgbClr val="F4CCCC"/>
              </a:highlight>
            </a:endParaRPr>
          </a:p>
        </p:txBody>
      </p:sp>
      <p:sp>
        <p:nvSpPr>
          <p:cNvPr id="549" name="Google Shape;549;p32"/>
          <p:cNvSpPr txBox="1"/>
          <p:nvPr/>
        </p:nvSpPr>
        <p:spPr>
          <a:xfrm>
            <a:off x="6199350" y="1318050"/>
            <a:ext cx="153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Dirección Virtual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0" name="Google Shape;550;p32"/>
          <p:cNvSpPr txBox="1"/>
          <p:nvPr/>
        </p:nvSpPr>
        <p:spPr>
          <a:xfrm>
            <a:off x="9035925" y="1246813"/>
            <a:ext cx="153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Dirección Física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51" name="Google Shape;551;p32"/>
          <p:cNvGrpSpPr/>
          <p:nvPr/>
        </p:nvGrpSpPr>
        <p:grpSpPr>
          <a:xfrm>
            <a:off x="7439250" y="5328100"/>
            <a:ext cx="4426050" cy="615600"/>
            <a:chOff x="7439250" y="5328100"/>
            <a:chExt cx="4426050" cy="615600"/>
          </a:xfrm>
        </p:grpSpPr>
        <p:sp>
          <p:nvSpPr>
            <p:cNvPr id="552" name="Google Shape;552;p32"/>
            <p:cNvSpPr txBox="1"/>
            <p:nvPr/>
          </p:nvSpPr>
          <p:spPr>
            <a:xfrm>
              <a:off x="743925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Virtual</a:t>
              </a:r>
              <a:endParaRPr b="1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53" name="Google Shape;553;p32"/>
            <p:cNvSpPr txBox="1"/>
            <p:nvPr/>
          </p:nvSpPr>
          <p:spPr>
            <a:xfrm>
              <a:off x="1032570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Física</a:t>
              </a:r>
              <a:endParaRPr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554" name="Google Shape;554;p32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555" name="Google Shape;555;p32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EA99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2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chemeClr val="lt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pic>
        <p:nvPicPr>
          <p:cNvPr id="557" name="Google Shape;5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6636" y="5890300"/>
            <a:ext cx="897725" cy="8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462;p31">
            <a:extLst>
              <a:ext uri="{FF2B5EF4-FFF2-40B4-BE49-F238E27FC236}">
                <a16:creationId xmlns:a16="http://schemas.microsoft.com/office/drawing/2014/main" id="{AE862F47-DCB8-4F2C-8201-18BE5F1DB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571" y="1144112"/>
            <a:ext cx="4178526" cy="13547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400" b="1" dirty="0">
                <a:latin typeface="+mn-lt"/>
              </a:rPr>
              <a:t>Virtualización de memoria</a:t>
            </a:r>
            <a:r>
              <a:rPr lang="es-ES" sz="2400" dirty="0">
                <a:latin typeface="+mn-lt"/>
              </a:rPr>
              <a:t>: Cada proceso cree que </a:t>
            </a:r>
            <a:r>
              <a:rPr lang="es-ES" sz="2400" b="1" dirty="0">
                <a:solidFill>
                  <a:srgbClr val="C00000"/>
                </a:solidFill>
                <a:latin typeface="+mn-lt"/>
              </a:rPr>
              <a:t>tiene su propia memoria</a:t>
            </a:r>
            <a:r>
              <a:rPr lang="es-ES" sz="24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>
            <a:spLocks noGrp="1"/>
          </p:cNvSpPr>
          <p:nvPr>
            <p:ph type="title"/>
          </p:nvPr>
        </p:nvSpPr>
        <p:spPr>
          <a:xfrm>
            <a:off x="324465" y="96038"/>
            <a:ext cx="1186753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dirty="0">
                <a:solidFill>
                  <a:schemeClr val="accent1"/>
                </a:solidFill>
              </a:rPr>
              <a:t>Hardware Address Translation - Address Translation (AT) </a:t>
            </a:r>
          </a:p>
        </p:txBody>
      </p:sp>
      <p:sp>
        <p:nvSpPr>
          <p:cNvPr id="223" name="Google Shape;223;p21"/>
          <p:cNvSpPr txBox="1">
            <a:spLocks noGrp="1"/>
          </p:cNvSpPr>
          <p:nvPr>
            <p:ph type="body" idx="1"/>
          </p:nvPr>
        </p:nvSpPr>
        <p:spPr>
          <a:xfrm>
            <a:off x="429952" y="1149983"/>
            <a:ext cx="11436097" cy="5925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89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None/>
            </a:pPr>
            <a:r>
              <a:rPr lang="es-ES" sz="2200" dirty="0"/>
              <a:t>Mecanismo mediante la traducción de </a:t>
            </a:r>
            <a:r>
              <a:rPr lang="es-ES" sz="2200" b="1" dirty="0">
                <a:solidFill>
                  <a:schemeClr val="accent2"/>
                </a:solidFill>
              </a:rPr>
              <a:t>direcciones virtuales</a:t>
            </a:r>
            <a:r>
              <a:rPr lang="es-ES" sz="2200" dirty="0"/>
              <a:t> a </a:t>
            </a:r>
            <a:r>
              <a:rPr lang="es-ES" sz="2200" b="1" dirty="0">
                <a:solidFill>
                  <a:schemeClr val="accent2"/>
                </a:solidFill>
              </a:rPr>
              <a:t>físicas</a:t>
            </a:r>
            <a:r>
              <a:rPr lang="es-ES" sz="2200" dirty="0"/>
              <a:t>.</a:t>
            </a: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>
              <a:solidFill>
                <a:srgbClr val="8CC63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24" name="Google Shape;224;p21"/>
          <p:cNvGrpSpPr/>
          <p:nvPr/>
        </p:nvGrpSpPr>
        <p:grpSpPr>
          <a:xfrm>
            <a:off x="842908" y="2597322"/>
            <a:ext cx="10949400" cy="2601000"/>
            <a:chOff x="1094825" y="3502875"/>
            <a:chExt cx="10949400" cy="2601000"/>
          </a:xfrm>
        </p:grpSpPr>
        <p:grpSp>
          <p:nvGrpSpPr>
            <p:cNvPr id="225" name="Google Shape;225;p21"/>
            <p:cNvGrpSpPr/>
            <p:nvPr/>
          </p:nvGrpSpPr>
          <p:grpSpPr>
            <a:xfrm>
              <a:off x="3591725" y="3502875"/>
              <a:ext cx="5773200" cy="2601000"/>
              <a:chOff x="3401900" y="3456225"/>
              <a:chExt cx="5773200" cy="2601000"/>
            </a:xfrm>
          </p:grpSpPr>
          <p:sp>
            <p:nvSpPr>
              <p:cNvPr id="226" name="Google Shape;226;p21"/>
              <p:cNvSpPr/>
              <p:nvPr/>
            </p:nvSpPr>
            <p:spPr>
              <a:xfrm>
                <a:off x="4883000" y="3456225"/>
                <a:ext cx="2811000" cy="2601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30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Address Translation</a:t>
                </a:r>
                <a:endParaRPr sz="30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227" name="Google Shape;227;p21"/>
              <p:cNvCxnSpPr/>
              <p:nvPr/>
            </p:nvCxnSpPr>
            <p:spPr>
              <a:xfrm>
                <a:off x="34019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28" name="Google Shape;228;p21"/>
              <p:cNvCxnSpPr/>
              <p:nvPr/>
            </p:nvCxnSpPr>
            <p:spPr>
              <a:xfrm>
                <a:off x="76940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29" name="Google Shape;229;p21"/>
            <p:cNvSpPr txBox="1"/>
            <p:nvPr/>
          </p:nvSpPr>
          <p:spPr>
            <a:xfrm>
              <a:off x="1094825" y="4403175"/>
              <a:ext cx="2496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Virtual Address</a:t>
              </a:r>
              <a:endParaRPr sz="20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VA</a:t>
              </a:r>
              <a:endParaRPr sz="2000" dirty="0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9364925" y="4403175"/>
              <a:ext cx="2679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Physical Address</a:t>
              </a:r>
              <a:endParaRPr sz="20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PA</a:t>
              </a:r>
              <a:endParaRPr sz="2000" dirty="0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31" name="Google Shape;2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3652" y="2309538"/>
            <a:ext cx="925475" cy="9812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21"/>
          <p:cNvGrpSpPr/>
          <p:nvPr/>
        </p:nvGrpSpPr>
        <p:grpSpPr>
          <a:xfrm>
            <a:off x="842895" y="2127190"/>
            <a:ext cx="2257351" cy="1163557"/>
            <a:chOff x="916638" y="3584818"/>
            <a:chExt cx="2257351" cy="1163557"/>
          </a:xfrm>
        </p:grpSpPr>
        <p:grpSp>
          <p:nvGrpSpPr>
            <p:cNvPr id="233" name="Google Shape;233;p21"/>
            <p:cNvGrpSpPr/>
            <p:nvPr/>
          </p:nvGrpSpPr>
          <p:grpSpPr>
            <a:xfrm>
              <a:off x="2367667" y="3584818"/>
              <a:ext cx="806322" cy="1163511"/>
              <a:chOff x="1775100" y="4022850"/>
              <a:chExt cx="1076100" cy="1739700"/>
            </a:xfrm>
          </p:grpSpPr>
          <p:sp>
            <p:nvSpPr>
              <p:cNvPr id="234" name="Google Shape;234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235" name="Google Shape;235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36" name="Google Shape;236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37" name="Google Shape;237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38" name="Google Shape;238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39" name="Google Shape;239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240" name="Google Shape;240;p21"/>
                <p:cNvCxnSpPr>
                  <a:stCxn id="238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41" name="Google Shape;241;p21"/>
                <p:cNvCxnSpPr>
                  <a:stCxn id="239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42" name="Google Shape;242;p21"/>
            <p:cNvSpPr/>
            <p:nvPr/>
          </p:nvSpPr>
          <p:spPr>
            <a:xfrm>
              <a:off x="916638" y="3801025"/>
              <a:ext cx="731100" cy="7311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</a:t>
              </a:r>
              <a:endParaRPr sz="1800" b="1" dirty="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43" name="Google Shape;243;p21"/>
            <p:cNvCxnSpPr/>
            <p:nvPr/>
          </p:nvCxnSpPr>
          <p:spPr>
            <a:xfrm rot="10800000" flipH="1">
              <a:off x="1281400" y="3586350"/>
              <a:ext cx="1065000" cy="1842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21"/>
            <p:cNvCxnSpPr/>
            <p:nvPr/>
          </p:nvCxnSpPr>
          <p:spPr>
            <a:xfrm>
              <a:off x="1274725" y="4564175"/>
              <a:ext cx="1064700" cy="1842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3FA78C08-1813-4F6D-95B9-5867871A4B42}"/>
              </a:ext>
            </a:extLst>
          </p:cNvPr>
          <p:cNvGrpSpPr/>
          <p:nvPr/>
        </p:nvGrpSpPr>
        <p:grpSpPr>
          <a:xfrm>
            <a:off x="1159582" y="4698222"/>
            <a:ext cx="2212199" cy="1129868"/>
            <a:chOff x="1054380" y="4836693"/>
            <a:chExt cx="2212199" cy="1129868"/>
          </a:xfrm>
        </p:grpSpPr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102F766A-B3C0-437C-AD49-92D36D7B7012}"/>
                </a:ext>
              </a:extLst>
            </p:cNvPr>
            <p:cNvGrpSpPr/>
            <p:nvPr/>
          </p:nvGrpSpPr>
          <p:grpSpPr>
            <a:xfrm>
              <a:off x="1054380" y="4836693"/>
              <a:ext cx="731100" cy="1090916"/>
              <a:chOff x="5902719" y="2562847"/>
              <a:chExt cx="731100" cy="1090916"/>
            </a:xfrm>
          </p:grpSpPr>
          <p:grpSp>
            <p:nvGrpSpPr>
              <p:cNvPr id="31" name="Grupo 30">
                <a:extLst>
                  <a:ext uri="{FF2B5EF4-FFF2-40B4-BE49-F238E27FC236}">
                    <a16:creationId xmlns:a16="http://schemas.microsoft.com/office/drawing/2014/main" id="{38F4796D-41E8-46C1-8E2C-A522F39793EF}"/>
                  </a:ext>
                </a:extLst>
              </p:cNvPr>
              <p:cNvGrpSpPr/>
              <p:nvPr/>
            </p:nvGrpSpPr>
            <p:grpSpPr>
              <a:xfrm>
                <a:off x="5902719" y="2922663"/>
                <a:ext cx="731100" cy="731100"/>
                <a:chOff x="5902719" y="2922663"/>
                <a:chExt cx="731100" cy="731100"/>
              </a:xfrm>
            </p:grpSpPr>
            <p:sp>
              <p:nvSpPr>
                <p:cNvPr id="33" name="Google Shape;425;p29">
                  <a:extLst>
                    <a:ext uri="{FF2B5EF4-FFF2-40B4-BE49-F238E27FC236}">
                      <a16:creationId xmlns:a16="http://schemas.microsoft.com/office/drawing/2014/main" id="{C687E5C6-2D6A-4A82-97BD-4D723F765FDC}"/>
                    </a:ext>
                  </a:extLst>
                </p:cNvPr>
                <p:cNvSpPr/>
                <p:nvPr/>
              </p:nvSpPr>
              <p:spPr>
                <a:xfrm>
                  <a:off x="5902719" y="2922663"/>
                  <a:ext cx="731100" cy="73110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grpSp>
              <p:nvGrpSpPr>
                <p:cNvPr id="34" name="Grupo 33">
                  <a:extLst>
                    <a:ext uri="{FF2B5EF4-FFF2-40B4-BE49-F238E27FC236}">
                      <a16:creationId xmlns:a16="http://schemas.microsoft.com/office/drawing/2014/main" id="{37634944-DB55-42C4-8C68-42874C769E4A}"/>
                    </a:ext>
                  </a:extLst>
                </p:cNvPr>
                <p:cNvGrpSpPr/>
                <p:nvPr/>
              </p:nvGrpSpPr>
              <p:grpSpPr>
                <a:xfrm>
                  <a:off x="6063540" y="3097569"/>
                  <a:ext cx="402694" cy="400320"/>
                  <a:chOff x="6063540" y="3097569"/>
                  <a:chExt cx="402694" cy="400320"/>
                </a:xfrm>
              </p:grpSpPr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4">
                    <p14:nvContentPartPr>
                      <p14:cNvPr id="35" name="Entrada de lápiz 34">
                        <a:extLst>
                          <a:ext uri="{FF2B5EF4-FFF2-40B4-BE49-F238E27FC236}">
                            <a16:creationId xmlns:a16="http://schemas.microsoft.com/office/drawing/2014/main" id="{D5415378-EE7E-4D34-A93A-D2EC404E2544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6063540" y="3097569"/>
                      <a:ext cx="70560" cy="400320"/>
                    </p14:xfrm>
                  </p:contentPart>
                </mc:Choice>
                <mc:Fallback xmlns="">
                  <p:pic>
                    <p:nvPicPr>
                      <p:cNvPr id="16" name="Entrada de lápiz 15">
                        <a:extLst>
                          <a:ext uri="{FF2B5EF4-FFF2-40B4-BE49-F238E27FC236}">
                            <a16:creationId xmlns:a16="http://schemas.microsoft.com/office/drawing/2014/main" id="{A7EE946D-C4CE-4B90-99F7-DFC103A08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59220" y="3093249"/>
                        <a:ext cx="79200" cy="40896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grpSp>
                <p:nvGrpSpPr>
                  <p:cNvPr id="36" name="Grupo 35">
                    <a:extLst>
                      <a:ext uri="{FF2B5EF4-FFF2-40B4-BE49-F238E27FC236}">
                        <a16:creationId xmlns:a16="http://schemas.microsoft.com/office/drawing/2014/main" id="{250036AC-B0A9-4714-9256-BA107D4EDED2}"/>
                      </a:ext>
                    </a:extLst>
                  </p:cNvPr>
                  <p:cNvGrpSpPr/>
                  <p:nvPr/>
                </p:nvGrpSpPr>
                <p:grpSpPr>
                  <a:xfrm>
                    <a:off x="6237634" y="3147427"/>
                    <a:ext cx="228600" cy="281573"/>
                    <a:chOff x="6237634" y="3147427"/>
                    <a:chExt cx="228600" cy="281573"/>
                  </a:xfrm>
                </p:grpSpPr>
                <p:sp>
                  <p:nvSpPr>
                    <p:cNvPr id="37" name="Rectángulo 36">
                      <a:extLst>
                        <a:ext uri="{FF2B5EF4-FFF2-40B4-BE49-F238E27FC236}">
                          <a16:creationId xmlns:a16="http://schemas.microsoft.com/office/drawing/2014/main" id="{AF5BC0BB-FE89-4E70-B2DF-AA383A2016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7634" y="3147427"/>
                      <a:ext cx="228600" cy="281573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CO"/>
                    </a:p>
                  </p:txBody>
                </p:sp>
                <p:cxnSp>
                  <p:nvCxnSpPr>
                    <p:cNvPr id="38" name="Conector recto 37">
                      <a:extLst>
                        <a:ext uri="{FF2B5EF4-FFF2-40B4-BE49-F238E27FC236}">
                          <a16:creationId xmlns:a16="http://schemas.microsoft.com/office/drawing/2014/main" id="{5A00B31E-1F5D-40BB-A693-BDE63081E244}"/>
                        </a:ext>
                      </a:extLst>
                    </p:cNvPr>
                    <p:cNvCxnSpPr>
                      <a:stCxn id="37" idx="1"/>
                      <a:endCxn id="37" idx="3"/>
                    </p:cNvCxnSpPr>
                    <p:nvPr/>
                  </p:nvCxnSpPr>
                  <p:spPr>
                    <a:xfrm>
                      <a:off x="6237634" y="3288214"/>
                      <a:ext cx="22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Conector recto 38">
                      <a:extLst>
                        <a:ext uri="{FF2B5EF4-FFF2-40B4-BE49-F238E27FC236}">
                          <a16:creationId xmlns:a16="http://schemas.microsoft.com/office/drawing/2014/main" id="{167D74A7-E405-4F8D-99E6-C835A4BCCA3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237634" y="3219158"/>
                      <a:ext cx="22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Conector recto 39">
                      <a:extLst>
                        <a:ext uri="{FF2B5EF4-FFF2-40B4-BE49-F238E27FC236}">
                          <a16:creationId xmlns:a16="http://schemas.microsoft.com/office/drawing/2014/main" id="{31CBC376-EBFB-4110-A5C4-5B63138B6B2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237634" y="3359652"/>
                      <a:ext cx="22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38AED386-2236-4B28-B26B-968330DC674E}"/>
                  </a:ext>
                </a:extLst>
              </p:cNvPr>
              <p:cNvSpPr txBox="1"/>
              <p:nvPr/>
            </p:nvSpPr>
            <p:spPr>
              <a:xfrm>
                <a:off x="5991281" y="2562847"/>
                <a:ext cx="5742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b="1" dirty="0">
                    <a:latin typeface="Consolas" panose="020B0609020204030204" pitchFamily="49" charset="0"/>
                  </a:rPr>
                  <a:t>P</a:t>
                </a:r>
              </a:p>
            </p:txBody>
          </p:sp>
        </p:grp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2D833E4B-0A3F-46B3-BC19-B122B3949F4C}"/>
                </a:ext>
              </a:extLst>
            </p:cNvPr>
            <p:cNvSpPr/>
            <p:nvPr/>
          </p:nvSpPr>
          <p:spPr>
            <a:xfrm>
              <a:off x="2186940" y="5421272"/>
              <a:ext cx="1079639" cy="545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BB1635A1-D006-486F-8E01-59613E17A459}"/>
                </a:ext>
              </a:extLst>
            </p:cNvPr>
            <p:cNvSpPr txBox="1"/>
            <p:nvPr/>
          </p:nvSpPr>
          <p:spPr>
            <a:xfrm>
              <a:off x="2463376" y="5386909"/>
              <a:ext cx="5742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P</a:t>
              </a:r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CF8CE0BE-0A8D-4E79-B57E-E81B0E07C028}"/>
                </a:ext>
              </a:extLst>
            </p:cNvPr>
            <p:cNvCxnSpPr/>
            <p:nvPr/>
          </p:nvCxnSpPr>
          <p:spPr>
            <a:xfrm>
              <a:off x="1617895" y="5421272"/>
              <a:ext cx="569045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E4C2889F-CBB9-4BDC-90B6-0C526A8F69B8}"/>
                </a:ext>
              </a:extLst>
            </p:cNvPr>
            <p:cNvCxnSpPr>
              <a:cxnSpLocks/>
            </p:cNvCxnSpPr>
            <p:nvPr/>
          </p:nvCxnSpPr>
          <p:spPr>
            <a:xfrm>
              <a:off x="1617895" y="5702846"/>
              <a:ext cx="561425" cy="248374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4881DB0-EE52-4BC5-ABB0-22C3C5EA8F2F}"/>
              </a:ext>
            </a:extLst>
          </p:cNvPr>
          <p:cNvGrpSpPr/>
          <p:nvPr/>
        </p:nvGrpSpPr>
        <p:grpSpPr>
          <a:xfrm>
            <a:off x="9942333" y="4414446"/>
            <a:ext cx="1079641" cy="1787160"/>
            <a:chOff x="9853845" y="4620923"/>
            <a:chExt cx="1079641" cy="1787160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6FCA7D8B-EF75-4DD2-B592-A5CD9C945E1D}"/>
                </a:ext>
              </a:extLst>
            </p:cNvPr>
            <p:cNvSpPr/>
            <p:nvPr/>
          </p:nvSpPr>
          <p:spPr>
            <a:xfrm>
              <a:off x="9853846" y="5522972"/>
              <a:ext cx="1079639" cy="545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F9E66AA3-3DB6-4B0E-AB7F-DF2CD2727994}"/>
                </a:ext>
              </a:extLst>
            </p:cNvPr>
            <p:cNvSpPr/>
            <p:nvPr/>
          </p:nvSpPr>
          <p:spPr>
            <a:xfrm>
              <a:off x="9853845" y="4621312"/>
              <a:ext cx="1079639" cy="54528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7C11E1BA-0E42-42DF-9288-F86A57BD6D79}"/>
                </a:ext>
              </a:extLst>
            </p:cNvPr>
            <p:cNvSpPr/>
            <p:nvPr/>
          </p:nvSpPr>
          <p:spPr>
            <a:xfrm>
              <a:off x="9853848" y="4620923"/>
              <a:ext cx="1079638" cy="178716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64BEA5BC-6E66-4901-A6F7-092110B8142A}"/>
                </a:ext>
              </a:extLst>
            </p:cNvPr>
            <p:cNvSpPr txBox="1"/>
            <p:nvPr/>
          </p:nvSpPr>
          <p:spPr>
            <a:xfrm>
              <a:off x="10106558" y="4687902"/>
              <a:ext cx="5742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SO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29CBB126-E8F8-415D-8FE4-7ED679B62275}"/>
                </a:ext>
              </a:extLst>
            </p:cNvPr>
            <p:cNvSpPr txBox="1"/>
            <p:nvPr/>
          </p:nvSpPr>
          <p:spPr>
            <a:xfrm>
              <a:off x="10106557" y="5479564"/>
              <a:ext cx="5742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P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105658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9" name="Google Shape;259;p23"/>
          <p:cNvSpPr txBox="1">
            <a:spLocks noGrp="1"/>
          </p:cNvSpPr>
          <p:nvPr>
            <p:ph type="body" idx="1"/>
          </p:nvPr>
        </p:nvSpPr>
        <p:spPr>
          <a:xfrm>
            <a:off x="347774" y="861525"/>
            <a:ext cx="7610551" cy="317953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Conceptos claves</a:t>
            </a:r>
            <a:endParaRPr sz="2800"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La Virtualización de memoria </a:t>
            </a:r>
            <a:r>
              <a:rPr lang="es-ES" sz="2400" b="1" dirty="0">
                <a:solidFill>
                  <a:schemeClr val="accent6"/>
                </a:solidFill>
                <a:latin typeface="+mn-lt"/>
              </a:rPr>
              <a:t>requiere soporte en hardware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>
                <a:latin typeface="+mn-lt"/>
              </a:rPr>
              <a:t>Similar al mecanismo de </a:t>
            </a:r>
            <a:r>
              <a:rPr lang="es-ES" sz="2200" b="1" dirty="0">
                <a:latin typeface="+mn-lt"/>
              </a:rPr>
              <a:t>Ejecución Directa Limitada</a:t>
            </a:r>
            <a:r>
              <a:rPr lang="es-ES" sz="2200" dirty="0">
                <a:latin typeface="+mn-lt"/>
              </a:rPr>
              <a:t> (</a:t>
            </a:r>
            <a:r>
              <a:rPr lang="es-ES" sz="2200" b="1" dirty="0">
                <a:latin typeface="+mn-lt"/>
              </a:rPr>
              <a:t>Limited Direct Execution</a:t>
            </a:r>
            <a:r>
              <a:rPr lang="es-ES" sz="2200" dirty="0">
                <a:latin typeface="+mn-lt"/>
              </a:rPr>
              <a:t>).</a:t>
            </a:r>
            <a:endParaRPr sz="22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b="1" dirty="0">
                <a:latin typeface="+mn-lt"/>
              </a:rPr>
              <a:t>Objetivos</a:t>
            </a:r>
            <a:r>
              <a:rPr lang="es-ES" dirty="0">
                <a:latin typeface="+mn-lt"/>
              </a:rPr>
              <a:t>: </a:t>
            </a:r>
            <a:endParaRPr dirty="0">
              <a:latin typeface="+mn-lt"/>
            </a:endParaRPr>
          </a:p>
          <a:p>
            <a:pPr marL="137160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s-ES" sz="2200" b="1" dirty="0">
                <a:latin typeface="+mn-lt"/>
              </a:rPr>
              <a:t>Eficiencia</a:t>
            </a:r>
            <a:r>
              <a:rPr lang="es-ES" sz="2200" dirty="0">
                <a:latin typeface="+mn-lt"/>
              </a:rPr>
              <a:t>: Uso del recurso lo mejor posible.</a:t>
            </a:r>
            <a:endParaRPr sz="2200" dirty="0">
              <a:latin typeface="+mn-lt"/>
            </a:endParaRPr>
          </a:p>
          <a:p>
            <a:pPr marL="137160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s-ES" sz="2200" b="1" dirty="0">
                <a:latin typeface="+mn-lt"/>
              </a:rPr>
              <a:t>Control</a:t>
            </a:r>
            <a:r>
              <a:rPr lang="es-ES" sz="2200" dirty="0">
                <a:latin typeface="+mn-lt"/>
              </a:rPr>
              <a:t>: Protección y acceso correcto a memoria.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260" name="Google Shape;260;p23"/>
          <p:cNvGrpSpPr/>
          <p:nvPr/>
        </p:nvGrpSpPr>
        <p:grpSpPr>
          <a:xfrm>
            <a:off x="8153066" y="1322000"/>
            <a:ext cx="3396400" cy="4214000"/>
            <a:chOff x="8238925" y="1952025"/>
            <a:chExt cx="3396400" cy="4214000"/>
          </a:xfrm>
        </p:grpSpPr>
        <p:grpSp>
          <p:nvGrpSpPr>
            <p:cNvPr id="261" name="Google Shape;261;p23"/>
            <p:cNvGrpSpPr/>
            <p:nvPr/>
          </p:nvGrpSpPr>
          <p:grpSpPr>
            <a:xfrm>
              <a:off x="8326925" y="1952025"/>
              <a:ext cx="3308400" cy="4214000"/>
              <a:chOff x="8326925" y="1952025"/>
              <a:chExt cx="3308400" cy="4214000"/>
            </a:xfrm>
          </p:grpSpPr>
          <p:grpSp>
            <p:nvGrpSpPr>
              <p:cNvPr id="262" name="Google Shape;262;p23"/>
              <p:cNvGrpSpPr/>
              <p:nvPr/>
            </p:nvGrpSpPr>
            <p:grpSpPr>
              <a:xfrm>
                <a:off x="8326925" y="1952025"/>
                <a:ext cx="3308400" cy="2861100"/>
                <a:chOff x="8326925" y="1952025"/>
                <a:chExt cx="3308400" cy="2861100"/>
              </a:xfrm>
            </p:grpSpPr>
            <p:sp>
              <p:nvSpPr>
                <p:cNvPr id="263" name="Google Shape;263;p23"/>
                <p:cNvSpPr/>
                <p:nvPr/>
              </p:nvSpPr>
              <p:spPr>
                <a:xfrm>
                  <a:off x="8326925" y="1952025"/>
                  <a:ext cx="3308400" cy="28611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64" name="Google Shape;264;p23"/>
                <p:cNvSpPr txBox="1"/>
                <p:nvPr/>
              </p:nvSpPr>
              <p:spPr>
                <a:xfrm>
                  <a:off x="8918725" y="2022248"/>
                  <a:ext cx="21030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 dirty="0">
                      <a:latin typeface="Consolas"/>
                      <a:ea typeface="Consolas"/>
                      <a:cs typeface="Consolas"/>
                      <a:sym typeface="Consolas"/>
                    </a:rPr>
                    <a:t>Chip CPU</a:t>
                  </a:r>
                  <a:endParaRPr sz="24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265" name="Google Shape;265;p23"/>
                <p:cNvSpPr/>
                <p:nvPr/>
              </p:nvSpPr>
              <p:spPr>
                <a:xfrm>
                  <a:off x="9475825" y="2651240"/>
                  <a:ext cx="988800" cy="995400"/>
                </a:xfrm>
                <a:prstGeom prst="ellipse">
                  <a:avLst/>
                </a:prstGeom>
                <a:solidFill>
                  <a:srgbClr val="EA99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CPU</a:t>
                  </a:r>
                  <a:endParaRPr sz="20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266" name="Google Shape;266;p23"/>
                <p:cNvSpPr/>
                <p:nvPr/>
              </p:nvSpPr>
              <p:spPr>
                <a:xfrm>
                  <a:off x="9265525" y="4103175"/>
                  <a:ext cx="1409400" cy="523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sp>
            <p:nvSpPr>
              <p:cNvPr id="267" name="Google Shape;267;p23"/>
              <p:cNvSpPr/>
              <p:nvPr/>
            </p:nvSpPr>
            <p:spPr>
              <a:xfrm>
                <a:off x="8873125" y="5394125"/>
                <a:ext cx="2194200" cy="7719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 dirty="0">
                    <a:latin typeface="Consolas"/>
                    <a:ea typeface="Consolas"/>
                    <a:cs typeface="Consolas"/>
                    <a:sym typeface="Consolas"/>
                  </a:rPr>
                  <a:t>Main Memory</a:t>
                </a:r>
                <a:endParaRPr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68" name="Google Shape;268;p23"/>
              <p:cNvCxnSpPr>
                <a:stCxn id="265" idx="4"/>
                <a:endCxn id="266" idx="0"/>
              </p:cNvCxnSpPr>
              <p:nvPr/>
            </p:nvCxnSpPr>
            <p:spPr>
              <a:xfrm>
                <a:off x="9970225" y="36466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69" name="Google Shape;269;p23"/>
              <p:cNvCxnSpPr>
                <a:stCxn id="266" idx="2"/>
                <a:endCxn id="267" idx="0"/>
              </p:cNvCxnSpPr>
              <p:nvPr/>
            </p:nvCxnSpPr>
            <p:spPr>
              <a:xfrm>
                <a:off x="9970225" y="4626375"/>
                <a:ext cx="0" cy="76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70" name="Google Shape;270;p23"/>
            <p:cNvSpPr txBox="1"/>
            <p:nvPr/>
          </p:nvSpPr>
          <p:spPr>
            <a:xfrm>
              <a:off x="8238925" y="3690250"/>
              <a:ext cx="166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Virtual Address</a:t>
              </a:r>
              <a:endParaRPr sz="1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1" name="Google Shape;271;p23"/>
            <p:cNvSpPr txBox="1"/>
            <p:nvPr/>
          </p:nvSpPr>
          <p:spPr>
            <a:xfrm>
              <a:off x="8238925" y="4918975"/>
              <a:ext cx="166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sz="1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A21EBE82-FF67-4259-885A-3B2532BFF57F}"/>
              </a:ext>
            </a:extLst>
          </p:cNvPr>
          <p:cNvGrpSpPr/>
          <p:nvPr/>
        </p:nvGrpSpPr>
        <p:grpSpPr>
          <a:xfrm>
            <a:off x="914408" y="4380200"/>
            <a:ext cx="6321779" cy="2150433"/>
            <a:chOff x="345875" y="4492445"/>
            <a:chExt cx="6321779" cy="2150433"/>
          </a:xfrm>
        </p:grpSpPr>
        <p:sp>
          <p:nvSpPr>
            <p:cNvPr id="272" name="Google Shape;272;p23"/>
            <p:cNvSpPr txBox="1"/>
            <p:nvPr/>
          </p:nvSpPr>
          <p:spPr>
            <a:xfrm>
              <a:off x="345875" y="5213675"/>
              <a:ext cx="2906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Soporte en hardware</a:t>
              </a:r>
              <a:endParaRPr sz="1200" dirty="0"/>
            </a:p>
          </p:txBody>
        </p:sp>
        <p:sp>
          <p:nvSpPr>
            <p:cNvPr id="273" name="Google Shape;273;p23"/>
            <p:cNvSpPr txBox="1"/>
            <p:nvPr/>
          </p:nvSpPr>
          <p:spPr>
            <a:xfrm>
              <a:off x="3520054" y="4518878"/>
              <a:ext cx="3147600" cy="21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SzPts val="1800"/>
                <a:buFont typeface="Consolas"/>
                <a:buChar char="●"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Modos de CPU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SzPts val="1800"/>
                <a:buFont typeface="Consolas"/>
                <a:buChar char="●"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Interrupciones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SzPts val="1800"/>
                <a:buFont typeface="Consolas"/>
                <a:buChar char="●"/>
              </a:pPr>
              <a:r>
                <a:rPr lang="es-ES" sz="18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Registros</a:t>
              </a:r>
              <a:endParaRPr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SzPts val="1800"/>
                <a:buFont typeface="Consolas"/>
                <a:buChar char="●"/>
              </a:pPr>
              <a:r>
                <a:rPr lang="es-E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Segment tables</a:t>
              </a:r>
              <a:endParaRPr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SzPts val="1800"/>
                <a:buFont typeface="Consolas"/>
                <a:buChar char="●"/>
              </a:pPr>
              <a:r>
                <a:rPr lang="es-E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TLB</a:t>
              </a:r>
              <a:endParaRPr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SzPts val="1800"/>
                <a:buFont typeface="Consolas"/>
                <a:buChar char="●"/>
              </a:pPr>
              <a:r>
                <a:rPr lang="es-E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Page Tables</a:t>
              </a:r>
              <a:endParaRPr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SzPts val="1800"/>
                <a:buFont typeface="Consolas"/>
                <a:buChar char="●"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4" name="Google Shape;274;p23"/>
            <p:cNvSpPr/>
            <p:nvPr/>
          </p:nvSpPr>
          <p:spPr>
            <a:xfrm>
              <a:off x="3447316" y="4492445"/>
              <a:ext cx="308100" cy="21240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10919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0" name="Google Shape;280;p24"/>
          <p:cNvSpPr txBox="1">
            <a:spLocks noGrp="1"/>
          </p:cNvSpPr>
          <p:nvPr>
            <p:ph type="body" idx="1"/>
          </p:nvPr>
        </p:nvSpPr>
        <p:spPr>
          <a:xfrm>
            <a:off x="294969" y="835600"/>
            <a:ext cx="11541382" cy="211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s-ES" sz="2200" dirty="0">
                <a:latin typeface="+mn-lt"/>
              </a:rPr>
              <a:t>Las direcciones del espacio de direcciones son </a:t>
            </a:r>
            <a:r>
              <a:rPr lang="es-ES" sz="2200" b="1" dirty="0">
                <a:solidFill>
                  <a:srgbClr val="FF0000"/>
                </a:solidFill>
                <a:latin typeface="+mn-lt"/>
              </a:rPr>
              <a:t>virtuales</a:t>
            </a:r>
            <a:r>
              <a:rPr lang="es-ES" sz="22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200" dirty="0">
                <a:latin typeface="+mn-lt"/>
              </a:rPr>
              <a:t>El hardware traduce las </a:t>
            </a:r>
            <a:r>
              <a:rPr lang="es-ES" sz="2200" b="1" dirty="0">
                <a:solidFill>
                  <a:srgbClr val="FF0000"/>
                </a:solidFill>
                <a:latin typeface="+mn-lt"/>
              </a:rPr>
              <a:t>direcciones virtuales</a:t>
            </a:r>
            <a:r>
              <a:rPr lang="es-ES" sz="2200" dirty="0">
                <a:latin typeface="+mn-lt"/>
              </a:rPr>
              <a:t> a </a:t>
            </a:r>
            <a:r>
              <a:rPr lang="es-ES" sz="2200" b="1" dirty="0">
                <a:solidFill>
                  <a:schemeClr val="accent6"/>
                </a:solidFill>
                <a:latin typeface="+mn-lt"/>
              </a:rPr>
              <a:t>direcciones físicas</a:t>
            </a:r>
            <a:r>
              <a:rPr lang="es-ES" sz="2200" dirty="0">
                <a:latin typeface="+mn-lt"/>
              </a:rPr>
              <a:t>:</a:t>
            </a:r>
            <a:endParaRPr sz="22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200" dirty="0">
                <a:latin typeface="+mn-lt"/>
              </a:rPr>
              <a:t>La información es </a:t>
            </a:r>
            <a:r>
              <a:rPr lang="es-ES" sz="2200" b="1" dirty="0">
                <a:latin typeface="+mn-lt"/>
              </a:rPr>
              <a:t>almacenada</a:t>
            </a:r>
            <a:r>
              <a:rPr lang="es-ES" sz="2200" dirty="0">
                <a:latin typeface="+mn-lt"/>
              </a:rPr>
              <a:t> en las direcciones físicas.</a:t>
            </a:r>
            <a:endParaRPr sz="2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200" dirty="0">
                <a:latin typeface="+mn-lt"/>
              </a:rPr>
              <a:t>El SO debe configurar el hardware en ciertos momentos clave.</a:t>
            </a:r>
            <a:endParaRPr sz="22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200" dirty="0">
                <a:latin typeface="+mn-lt"/>
              </a:rPr>
              <a:t>El SO administra la memoria e interviene cuando es necesario.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6096000" y="5582000"/>
            <a:ext cx="1085100" cy="8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MMU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1831961" y="5168945"/>
            <a:ext cx="1085100" cy="8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86" name="Google Shape;286;p24"/>
          <p:cNvGrpSpPr/>
          <p:nvPr/>
        </p:nvGrpSpPr>
        <p:grpSpPr>
          <a:xfrm>
            <a:off x="3304594" y="3643879"/>
            <a:ext cx="806322" cy="1163511"/>
            <a:chOff x="1775100" y="4022850"/>
            <a:chExt cx="1076100" cy="1739701"/>
          </a:xfrm>
        </p:grpSpPr>
        <p:sp>
          <p:nvSpPr>
            <p:cNvPr id="287" name="Google Shape;287;p24"/>
            <p:cNvSpPr/>
            <p:nvPr/>
          </p:nvSpPr>
          <p:spPr>
            <a:xfrm>
              <a:off x="1775100" y="4022851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8" name="Google Shape;288;p24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289" name="Google Shape;289;p24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/>
                    <a:ea typeface="Consolas"/>
                    <a:cs typeface="Consolas"/>
                    <a:sym typeface="Consolas"/>
                  </a:rPr>
                  <a:t>Code</a:t>
                </a:r>
                <a:endParaRPr sz="8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90" name="Google Shape;290;p24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/>
                    <a:ea typeface="Consolas"/>
                    <a:cs typeface="Consolas"/>
                    <a:sym typeface="Consolas"/>
                  </a:rPr>
                  <a:t>Data</a:t>
                </a:r>
                <a:endParaRPr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91" name="Google Shape;291;p24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/>
                    <a:ea typeface="Consolas"/>
                    <a:cs typeface="Consolas"/>
                    <a:sym typeface="Consolas"/>
                  </a:rPr>
                  <a:t>heap</a:t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92" name="Google Shape;292;p24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/>
                    <a:ea typeface="Consolas"/>
                    <a:cs typeface="Consolas"/>
                    <a:sym typeface="Consolas"/>
                  </a:rPr>
                  <a:t>stack</a:t>
                </a:r>
                <a:endParaRPr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93" name="Google Shape;293;p24"/>
              <p:cNvCxnSpPr>
                <a:stCxn id="291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94" name="Google Shape;294;p24"/>
              <p:cNvCxnSpPr>
                <a:stCxn id="292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95" name="Google Shape;295;p24"/>
          <p:cNvGrpSpPr/>
          <p:nvPr/>
        </p:nvGrpSpPr>
        <p:grpSpPr>
          <a:xfrm>
            <a:off x="9804811" y="4317920"/>
            <a:ext cx="822300" cy="2116200"/>
            <a:chOff x="10751325" y="1410900"/>
            <a:chExt cx="822300" cy="2116200"/>
          </a:xfrm>
        </p:grpSpPr>
        <p:sp>
          <p:nvSpPr>
            <p:cNvPr id="296" name="Google Shape;296;p24"/>
            <p:cNvSpPr/>
            <p:nvPr/>
          </p:nvSpPr>
          <p:spPr>
            <a:xfrm>
              <a:off x="10751325" y="1410900"/>
              <a:ext cx="822300" cy="21162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7" name="Google Shape;297;p24"/>
            <p:cNvGrpSpPr/>
            <p:nvPr/>
          </p:nvGrpSpPr>
          <p:grpSpPr>
            <a:xfrm>
              <a:off x="10759317" y="1913468"/>
              <a:ext cx="806322" cy="1163511"/>
              <a:chOff x="1775100" y="4022850"/>
              <a:chExt cx="1076100" cy="1739700"/>
            </a:xfrm>
          </p:grpSpPr>
          <p:sp>
            <p:nvSpPr>
              <p:cNvPr id="298" name="Google Shape;298;p24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9" name="Google Shape;299;p24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300" name="Google Shape;300;p24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301" name="Google Shape;301;p24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302" name="Google Shape;302;p24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303" name="Google Shape;303;p24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304" name="Google Shape;304;p24"/>
                <p:cNvCxnSpPr>
                  <a:stCxn id="302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05" name="Google Shape;305;p24"/>
                <p:cNvCxnSpPr>
                  <a:stCxn id="303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cxnSp>
        <p:nvCxnSpPr>
          <p:cNvPr id="306" name="Google Shape;306;p24"/>
          <p:cNvCxnSpPr>
            <a:cxnSpLocks/>
            <a:stCxn id="285" idx="3"/>
            <a:endCxn id="284" idx="1"/>
          </p:cNvCxnSpPr>
          <p:nvPr/>
        </p:nvCxnSpPr>
        <p:spPr>
          <a:xfrm>
            <a:off x="2917061" y="5609345"/>
            <a:ext cx="3178939" cy="41305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8" name="Google Shape;308;p24"/>
          <p:cNvCxnSpPr>
            <a:stCxn id="284" idx="3"/>
            <a:endCxn id="302" idx="1"/>
          </p:cNvCxnSpPr>
          <p:nvPr/>
        </p:nvCxnSpPr>
        <p:spPr>
          <a:xfrm flipV="1">
            <a:off x="7181100" y="5312140"/>
            <a:ext cx="2631703" cy="71026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9" name="Google Shape;309;p24"/>
          <p:cNvSpPr txBox="1"/>
          <p:nvPr/>
        </p:nvSpPr>
        <p:spPr>
          <a:xfrm>
            <a:off x="3010583" y="5231126"/>
            <a:ext cx="1728231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Virtual Address (VA)</a:t>
            </a:r>
            <a:endParaRPr sz="11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24"/>
          <p:cNvSpPr txBox="1"/>
          <p:nvPr/>
        </p:nvSpPr>
        <p:spPr>
          <a:xfrm>
            <a:off x="8679686" y="4684620"/>
            <a:ext cx="10200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Physical</a:t>
            </a:r>
            <a:endParaRPr sz="11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Address</a:t>
            </a:r>
            <a:endParaRPr sz="11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3088613" y="3265962"/>
            <a:ext cx="1331659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9851911" y="3681783"/>
            <a:ext cx="77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 Memory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AFB1D3B-5F05-4C1A-8BC3-8C5FF9294D14}"/>
              </a:ext>
            </a:extLst>
          </p:cNvPr>
          <p:cNvCxnSpPr/>
          <p:nvPr/>
        </p:nvCxnSpPr>
        <p:spPr>
          <a:xfrm>
            <a:off x="2959085" y="3738982"/>
            <a:ext cx="2641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Google Shape;309;p24">
            <a:extLst>
              <a:ext uri="{FF2B5EF4-FFF2-40B4-BE49-F238E27FC236}">
                <a16:creationId xmlns:a16="http://schemas.microsoft.com/office/drawing/2014/main" id="{EF243A74-7416-4D1F-B110-07F623C3B787}"/>
              </a:ext>
            </a:extLst>
          </p:cNvPr>
          <p:cNvSpPr txBox="1"/>
          <p:nvPr/>
        </p:nvSpPr>
        <p:spPr>
          <a:xfrm>
            <a:off x="1330853" y="3569720"/>
            <a:ext cx="1668397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8" name="Google Shape;318;p25"/>
          <p:cNvSpPr txBox="1">
            <a:spLocks noGrp="1"/>
          </p:cNvSpPr>
          <p:nvPr>
            <p:ph type="body" idx="1"/>
          </p:nvPr>
        </p:nvSpPr>
        <p:spPr>
          <a:xfrm>
            <a:off x="355650" y="835600"/>
            <a:ext cx="11480700" cy="565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Para el siguiente fragmento de código asuma que la variable x está en la dirección 15360 (15K) y que las direcciones de las instrucciones generadas en lenguaje ensamblador (similar al MIPS) están en las direcciones mostradas a continuación.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FF0000"/>
                </a:solidFill>
                <a:latin typeface="+mn-lt"/>
              </a:rPr>
              <a:t>¿Cómo se ejecutaría el código asociado a la instrucción </a:t>
            </a:r>
            <a:r>
              <a:rPr lang="es-ES" sz="2000" b="1" dirty="0">
                <a:solidFill>
                  <a:srgbClr val="FF0000"/>
                </a:solidFill>
                <a:latin typeface="+mn-lt"/>
                <a:ea typeface="Courier New"/>
                <a:cs typeface="Courier New"/>
                <a:sym typeface="Courier New"/>
              </a:rPr>
              <a:t>x = x + 3</a:t>
            </a:r>
            <a:r>
              <a:rPr lang="es-ES" sz="2000" dirty="0">
                <a:solidFill>
                  <a:srgbClr val="FF0000"/>
                </a:solidFill>
                <a:latin typeface="+mn-lt"/>
              </a:rPr>
              <a:t>?</a:t>
            </a:r>
            <a:endParaRPr sz="2000" dirty="0">
              <a:solidFill>
                <a:srgbClr val="FF0000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19" name="Google Shape;319;p25"/>
          <p:cNvGrpSpPr/>
          <p:nvPr/>
        </p:nvGrpSpPr>
        <p:grpSpPr>
          <a:xfrm>
            <a:off x="1348087" y="2725262"/>
            <a:ext cx="9495825" cy="1872375"/>
            <a:chOff x="1524825" y="3335225"/>
            <a:chExt cx="9495825" cy="1872375"/>
          </a:xfrm>
        </p:grpSpPr>
        <p:sp>
          <p:nvSpPr>
            <p:cNvPr id="320" name="Google Shape;320;p25"/>
            <p:cNvSpPr txBox="1"/>
            <p:nvPr/>
          </p:nvSpPr>
          <p:spPr>
            <a:xfrm>
              <a:off x="1524825" y="3947900"/>
              <a:ext cx="2724900" cy="12597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800">
                  <a:solidFill>
                    <a:srgbClr val="24292E"/>
                  </a:solidFill>
                  <a:highlight>
                    <a:srgbClr val="F3F3F3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void func() {</a:t>
              </a:r>
              <a:endParaRPr sz="1800">
                <a:solidFill>
                  <a:srgbClr val="24292E"/>
                </a:solidFill>
                <a:highlight>
                  <a:srgbClr val="F3F3F3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800">
                  <a:solidFill>
                    <a:srgbClr val="24292E"/>
                  </a:solidFill>
                  <a:highlight>
                    <a:srgbClr val="F3F3F3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   int x = 3000;</a:t>
              </a:r>
              <a:endParaRPr sz="1800">
                <a:solidFill>
                  <a:srgbClr val="24292E"/>
                </a:solidFill>
                <a:highlight>
                  <a:srgbClr val="F3F3F3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800">
                  <a:solidFill>
                    <a:srgbClr val="24292E"/>
                  </a:solidFill>
                  <a:highlight>
                    <a:srgbClr val="F3F3F3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   </a:t>
              </a:r>
              <a:r>
                <a:rPr lang="es-ES" sz="1800" b="1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x = x + 3;</a:t>
              </a:r>
              <a:endParaRPr sz="1800" b="1">
                <a:solidFill>
                  <a:srgbClr val="24292E"/>
                </a:solidFill>
                <a:highlight>
                  <a:srgbClr val="FFF2CC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24292E"/>
                  </a:solidFill>
                  <a:highlight>
                    <a:srgbClr val="F3F3F3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}</a:t>
              </a:r>
              <a:endParaRPr sz="1800">
                <a:solidFill>
                  <a:srgbClr val="24292E"/>
                </a:solidFill>
                <a:highlight>
                  <a:srgbClr val="F3F3F3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321" name="Google Shape;321;p25"/>
            <p:cNvCxnSpPr>
              <a:endCxn id="322" idx="1"/>
            </p:cNvCxnSpPr>
            <p:nvPr/>
          </p:nvCxnSpPr>
          <p:spPr>
            <a:xfrm rot="10800000" flipH="1">
              <a:off x="3499350" y="4424900"/>
              <a:ext cx="4132500" cy="305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3" name="Google Shape;323;p25"/>
            <p:cNvSpPr txBox="1"/>
            <p:nvPr/>
          </p:nvSpPr>
          <p:spPr>
            <a:xfrm>
              <a:off x="1735400" y="3423050"/>
              <a:ext cx="1928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Roboto"/>
                  <a:ea typeface="Roboto"/>
                  <a:cs typeface="Roboto"/>
                  <a:sym typeface="Roboto"/>
                </a:rPr>
                <a:t>Lenguaje C</a:t>
              </a:r>
              <a:endParaRPr sz="20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4" name="Google Shape;324;p25"/>
            <p:cNvSpPr txBox="1"/>
            <p:nvPr/>
          </p:nvSpPr>
          <p:spPr>
            <a:xfrm>
              <a:off x="8646925" y="3335225"/>
              <a:ext cx="1928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Roboto"/>
                  <a:ea typeface="Roboto"/>
                  <a:cs typeface="Roboto"/>
                  <a:sym typeface="Roboto"/>
                </a:rPr>
                <a:t>Ensamblador</a:t>
              </a:r>
              <a:endParaRPr sz="2000" b="1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25" name="Google Shape;325;p25"/>
            <p:cNvGrpSpPr/>
            <p:nvPr/>
          </p:nvGrpSpPr>
          <p:grpSpPr>
            <a:xfrm>
              <a:off x="7631850" y="3915650"/>
              <a:ext cx="3388800" cy="1018500"/>
              <a:chOff x="7631850" y="3915650"/>
              <a:chExt cx="3388800" cy="1018500"/>
            </a:xfrm>
          </p:grpSpPr>
          <p:sp>
            <p:nvSpPr>
              <p:cNvPr id="326" name="Google Shape;326;p25"/>
              <p:cNvSpPr txBox="1"/>
              <p:nvPr/>
            </p:nvSpPr>
            <p:spPr>
              <a:xfrm>
                <a:off x="8359050" y="3915650"/>
                <a:ext cx="2661600" cy="10185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lw $S0, 15360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addi $S0, $S0, 3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sw $S0, 15360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24292E"/>
                  </a:solidFill>
                  <a:highlight>
                    <a:srgbClr val="FFFFFF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24292E"/>
                  </a:solidFill>
                  <a:highlight>
                    <a:srgbClr val="FFFFFF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dirty="0">
                  <a:solidFill>
                    <a:srgbClr val="24292E"/>
                  </a:solidFill>
                  <a:highlight>
                    <a:srgbClr val="FFFFFF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22" name="Google Shape;322;p25"/>
              <p:cNvSpPr txBox="1"/>
              <p:nvPr/>
            </p:nvSpPr>
            <p:spPr>
              <a:xfrm>
                <a:off x="7631850" y="3917000"/>
                <a:ext cx="7272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FF0000"/>
                    </a:solidFill>
                    <a:highlight>
                      <a:schemeClr val="lt1"/>
                    </a:highlight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128</a:t>
                </a:r>
                <a:endParaRPr sz="1800" dirty="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FF0000"/>
                    </a:solidFill>
                    <a:highlight>
                      <a:schemeClr val="lt1"/>
                    </a:highlight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132</a:t>
                </a:r>
                <a:endParaRPr sz="1800" dirty="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FF0000"/>
                    </a:solidFill>
                    <a:highlight>
                      <a:schemeClr val="lt1"/>
                    </a:highlight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135</a:t>
                </a:r>
                <a:endParaRPr sz="1800" dirty="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"/>
          <p:cNvSpPr txBox="1">
            <a:spLocks noGrp="1"/>
          </p:cNvSpPr>
          <p:nvPr>
            <p:ph type="title"/>
          </p:nvPr>
        </p:nvSpPr>
        <p:spPr>
          <a:xfrm>
            <a:off x="264910" y="96038"/>
            <a:ext cx="895574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32" name="Google Shape;332;p26"/>
          <p:cNvSpPr txBox="1">
            <a:spLocks noGrp="1"/>
          </p:cNvSpPr>
          <p:nvPr>
            <p:ph type="body" idx="1"/>
          </p:nvPr>
        </p:nvSpPr>
        <p:spPr>
          <a:xfrm>
            <a:off x="264910" y="998514"/>
            <a:ext cx="11662179" cy="65937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33" name="Google Shape;333;p26"/>
          <p:cNvGrpSpPr/>
          <p:nvPr/>
        </p:nvGrpSpPr>
        <p:grpSpPr>
          <a:xfrm>
            <a:off x="510877" y="2294894"/>
            <a:ext cx="3388800" cy="1625725"/>
            <a:chOff x="1309163" y="2018550"/>
            <a:chExt cx="3388800" cy="1625725"/>
          </a:xfrm>
        </p:grpSpPr>
        <p:sp>
          <p:nvSpPr>
            <p:cNvPr id="334" name="Google Shape;334;p26"/>
            <p:cNvSpPr txBox="1"/>
            <p:nvPr/>
          </p:nvSpPr>
          <p:spPr>
            <a:xfrm>
              <a:off x="2378300" y="2018550"/>
              <a:ext cx="1928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Roboto"/>
                  <a:ea typeface="Roboto"/>
                  <a:cs typeface="Roboto"/>
                  <a:sym typeface="Roboto"/>
                </a:rPr>
                <a:t>Ensamblador</a:t>
              </a:r>
              <a:endParaRPr sz="2000" b="1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35" name="Google Shape;335;p26"/>
            <p:cNvGrpSpPr/>
            <p:nvPr/>
          </p:nvGrpSpPr>
          <p:grpSpPr>
            <a:xfrm>
              <a:off x="1309163" y="2625775"/>
              <a:ext cx="3388800" cy="1018500"/>
              <a:chOff x="7631850" y="3915650"/>
              <a:chExt cx="3388800" cy="1018500"/>
            </a:xfrm>
          </p:grpSpPr>
          <p:sp>
            <p:nvSpPr>
              <p:cNvPr id="336" name="Google Shape;336;p26"/>
              <p:cNvSpPr txBox="1"/>
              <p:nvPr/>
            </p:nvSpPr>
            <p:spPr>
              <a:xfrm>
                <a:off x="8359050" y="3915650"/>
                <a:ext cx="2661600" cy="10185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lw $S0, 15360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addi $S0, $S0, 3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sw $S0, 15360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24292E"/>
                  </a:solidFill>
                  <a:highlight>
                    <a:srgbClr val="FFFFFF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24292E"/>
                  </a:solidFill>
                  <a:highlight>
                    <a:srgbClr val="FFFFFF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dirty="0">
                  <a:solidFill>
                    <a:srgbClr val="24292E"/>
                  </a:solidFill>
                  <a:highlight>
                    <a:srgbClr val="FFFFFF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37" name="Google Shape;337;p26"/>
              <p:cNvSpPr txBox="1"/>
              <p:nvPr/>
            </p:nvSpPr>
            <p:spPr>
              <a:xfrm>
                <a:off x="7631850" y="3917000"/>
                <a:ext cx="7272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128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132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135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pic>
        <p:nvPicPr>
          <p:cNvPr id="338" name="Google Shape;3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726" y="2294894"/>
            <a:ext cx="6555025" cy="27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"/>
          <p:cNvSpPr txBox="1">
            <a:spLocks noGrp="1"/>
          </p:cNvSpPr>
          <p:nvPr>
            <p:ph type="title"/>
          </p:nvPr>
        </p:nvSpPr>
        <p:spPr>
          <a:xfrm>
            <a:off x="449477" y="96038"/>
            <a:ext cx="877117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44" name="Google Shape;3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590" y="779799"/>
            <a:ext cx="2615760" cy="594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77" y="2455129"/>
            <a:ext cx="2491500" cy="2152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6" name="Google Shape;346;p27"/>
          <p:cNvGrpSpPr/>
          <p:nvPr/>
        </p:nvGrpSpPr>
        <p:grpSpPr>
          <a:xfrm>
            <a:off x="3463152" y="1805762"/>
            <a:ext cx="3804000" cy="3246475"/>
            <a:chOff x="7362525" y="1459350"/>
            <a:chExt cx="3804000" cy="3246475"/>
          </a:xfrm>
        </p:grpSpPr>
        <p:sp>
          <p:nvSpPr>
            <p:cNvPr id="347" name="Google Shape;347;p27"/>
            <p:cNvSpPr/>
            <p:nvPr/>
          </p:nvSpPr>
          <p:spPr>
            <a:xfrm>
              <a:off x="7362525" y="2013625"/>
              <a:ext cx="3804000" cy="2692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8" name="Google Shape;348;p27"/>
            <p:cNvGrpSpPr/>
            <p:nvPr/>
          </p:nvGrpSpPr>
          <p:grpSpPr>
            <a:xfrm>
              <a:off x="7536650" y="2397550"/>
              <a:ext cx="3339000" cy="1924350"/>
              <a:chOff x="7536650" y="2397550"/>
              <a:chExt cx="3339000" cy="1924350"/>
            </a:xfrm>
          </p:grpSpPr>
          <p:grpSp>
            <p:nvGrpSpPr>
              <p:cNvPr id="349" name="Google Shape;349;p27"/>
              <p:cNvGrpSpPr/>
              <p:nvPr/>
            </p:nvGrpSpPr>
            <p:grpSpPr>
              <a:xfrm>
                <a:off x="7643750" y="2397550"/>
                <a:ext cx="3231900" cy="523200"/>
                <a:chOff x="7643750" y="2397550"/>
                <a:chExt cx="3231900" cy="523200"/>
              </a:xfrm>
            </p:grpSpPr>
            <p:sp>
              <p:nvSpPr>
                <p:cNvPr id="350" name="Google Shape;350;p27"/>
                <p:cNvSpPr/>
                <p:nvPr/>
              </p:nvSpPr>
              <p:spPr>
                <a:xfrm>
                  <a:off x="8259950" y="2458150"/>
                  <a:ext cx="2615700" cy="402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51;p27"/>
                <p:cNvSpPr txBox="1"/>
                <p:nvPr/>
              </p:nvSpPr>
              <p:spPr>
                <a:xfrm>
                  <a:off x="7643750" y="2397550"/>
                  <a:ext cx="5091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 b="1">
                      <a:latin typeface="Consolas"/>
                      <a:ea typeface="Consolas"/>
                      <a:cs typeface="Consolas"/>
                      <a:sym typeface="Consolas"/>
                    </a:rPr>
                    <a:t>IR</a:t>
                  </a:r>
                  <a:endParaRPr sz="2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grpSp>
            <p:nvGrpSpPr>
              <p:cNvPr id="352" name="Google Shape;352;p27"/>
              <p:cNvGrpSpPr/>
              <p:nvPr/>
            </p:nvGrpSpPr>
            <p:grpSpPr>
              <a:xfrm>
                <a:off x="7643750" y="3098125"/>
                <a:ext cx="3231900" cy="523200"/>
                <a:chOff x="7643750" y="3098125"/>
                <a:chExt cx="3231900" cy="523200"/>
              </a:xfrm>
            </p:grpSpPr>
            <p:sp>
              <p:nvSpPr>
                <p:cNvPr id="353" name="Google Shape;353;p27"/>
                <p:cNvSpPr/>
                <p:nvPr/>
              </p:nvSpPr>
              <p:spPr>
                <a:xfrm>
                  <a:off x="8259950" y="3158725"/>
                  <a:ext cx="2615700" cy="402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27"/>
                <p:cNvSpPr txBox="1"/>
                <p:nvPr/>
              </p:nvSpPr>
              <p:spPr>
                <a:xfrm>
                  <a:off x="7643750" y="3098125"/>
                  <a:ext cx="5091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 b="1">
                      <a:latin typeface="Consolas"/>
                      <a:ea typeface="Consolas"/>
                      <a:cs typeface="Consolas"/>
                      <a:sym typeface="Consolas"/>
                    </a:rPr>
                    <a:t>PC</a:t>
                  </a:r>
                  <a:endParaRPr sz="2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grpSp>
            <p:nvGrpSpPr>
              <p:cNvPr id="355" name="Google Shape;355;p27"/>
              <p:cNvGrpSpPr/>
              <p:nvPr/>
            </p:nvGrpSpPr>
            <p:grpSpPr>
              <a:xfrm>
                <a:off x="7536650" y="3798700"/>
                <a:ext cx="3339000" cy="523200"/>
                <a:chOff x="7536650" y="3798700"/>
                <a:chExt cx="3339000" cy="523200"/>
              </a:xfrm>
            </p:grpSpPr>
            <p:sp>
              <p:nvSpPr>
                <p:cNvPr id="356" name="Google Shape;356;p27"/>
                <p:cNvSpPr/>
                <p:nvPr/>
              </p:nvSpPr>
              <p:spPr>
                <a:xfrm>
                  <a:off x="8259950" y="3859300"/>
                  <a:ext cx="2615700" cy="402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57;p27"/>
                <p:cNvSpPr txBox="1"/>
                <p:nvPr/>
              </p:nvSpPr>
              <p:spPr>
                <a:xfrm>
                  <a:off x="7536650" y="3798700"/>
                  <a:ext cx="7233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 b="1">
                      <a:latin typeface="Consolas"/>
                      <a:ea typeface="Consolas"/>
                      <a:cs typeface="Consolas"/>
                      <a:sym typeface="Consolas"/>
                    </a:rPr>
                    <a:t>$s0</a:t>
                  </a:r>
                  <a:endParaRPr sz="2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sp>
          <p:nvSpPr>
            <p:cNvPr id="358" name="Google Shape;358;p27"/>
            <p:cNvSpPr txBox="1"/>
            <p:nvPr/>
          </p:nvSpPr>
          <p:spPr>
            <a:xfrm>
              <a:off x="8969875" y="1459350"/>
              <a:ext cx="7770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6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2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64" name="Google Shape;3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35" y="928914"/>
            <a:ext cx="2550678" cy="57314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" name="Google Shape;365;p28"/>
          <p:cNvGrpSpPr/>
          <p:nvPr/>
        </p:nvGrpSpPr>
        <p:grpSpPr>
          <a:xfrm>
            <a:off x="3344005" y="1058450"/>
            <a:ext cx="3388800" cy="1018500"/>
            <a:chOff x="7471100" y="3795100"/>
            <a:chExt cx="3388800" cy="1018500"/>
          </a:xfrm>
        </p:grpSpPr>
        <p:sp>
          <p:nvSpPr>
            <p:cNvPr id="366" name="Google Shape;366;p28"/>
            <p:cNvSpPr txBox="1"/>
            <p:nvPr/>
          </p:nvSpPr>
          <p:spPr>
            <a:xfrm>
              <a:off x="8198300" y="3795100"/>
              <a:ext cx="2661600" cy="10185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24292E"/>
                  </a:solidFill>
                  <a:highlight>
                    <a:srgbClr val="D9EAD3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lw $S0, 15360</a:t>
              </a:r>
              <a:endParaRPr sz="1800" b="1" dirty="0">
                <a:solidFill>
                  <a:srgbClr val="24292E"/>
                </a:solidFill>
                <a:highlight>
                  <a:srgbClr val="D9EAD3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addi $S0, $S0, 3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sw $S0, 15360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7" name="Google Shape;367;p28"/>
            <p:cNvSpPr txBox="1"/>
            <p:nvPr/>
          </p:nvSpPr>
          <p:spPr>
            <a:xfrm>
              <a:off x="7471100" y="3796450"/>
              <a:ext cx="7272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70AD47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128</a:t>
              </a:r>
              <a:endParaRPr sz="1800" b="1">
                <a:solidFill>
                  <a:srgbClr val="70AD47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132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135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68" name="Google Shape;368;p28"/>
          <p:cNvGrpSpPr/>
          <p:nvPr/>
        </p:nvGrpSpPr>
        <p:grpSpPr>
          <a:xfrm>
            <a:off x="3335794" y="3073121"/>
            <a:ext cx="3388800" cy="1018500"/>
            <a:chOff x="7318700" y="3788400"/>
            <a:chExt cx="3388800" cy="1018500"/>
          </a:xfrm>
        </p:grpSpPr>
        <p:sp>
          <p:nvSpPr>
            <p:cNvPr id="369" name="Google Shape;369;p28"/>
            <p:cNvSpPr txBox="1"/>
            <p:nvPr/>
          </p:nvSpPr>
          <p:spPr>
            <a:xfrm>
              <a:off x="8045900" y="3788400"/>
              <a:ext cx="2661600" cy="10185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lw $S0, 15360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24292E"/>
                  </a:solidFill>
                  <a:highlight>
                    <a:srgbClr val="D9EAD3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addi $S0, $S0, 3</a:t>
              </a:r>
              <a:endParaRPr sz="1800" b="1" dirty="0">
                <a:solidFill>
                  <a:srgbClr val="24292E"/>
                </a:solidFill>
                <a:highlight>
                  <a:srgbClr val="D9EAD3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sw $S0, 15360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0" name="Google Shape;370;p28"/>
            <p:cNvSpPr txBox="1"/>
            <p:nvPr/>
          </p:nvSpPr>
          <p:spPr>
            <a:xfrm>
              <a:off x="7318700" y="3789750"/>
              <a:ext cx="7272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128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70AD47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132</a:t>
              </a:r>
              <a:endParaRPr sz="1800" b="1">
                <a:solidFill>
                  <a:srgbClr val="70AD47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135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71" name="Google Shape;371;p28"/>
          <p:cNvGrpSpPr/>
          <p:nvPr/>
        </p:nvGrpSpPr>
        <p:grpSpPr>
          <a:xfrm>
            <a:off x="3335794" y="5038850"/>
            <a:ext cx="3388800" cy="1018500"/>
            <a:chOff x="7233275" y="4129925"/>
            <a:chExt cx="3388800" cy="1018500"/>
          </a:xfrm>
        </p:grpSpPr>
        <p:sp>
          <p:nvSpPr>
            <p:cNvPr id="372" name="Google Shape;372;p28"/>
            <p:cNvSpPr txBox="1"/>
            <p:nvPr/>
          </p:nvSpPr>
          <p:spPr>
            <a:xfrm>
              <a:off x="7960475" y="4129925"/>
              <a:ext cx="2661600" cy="10185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lw $S0, 15360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addi $S0, $S0, 3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24292E"/>
                  </a:solidFill>
                  <a:highlight>
                    <a:srgbClr val="D9EAD3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sw $S0, 15360</a:t>
              </a:r>
              <a:endParaRPr sz="1800" b="1" dirty="0">
                <a:solidFill>
                  <a:srgbClr val="24292E"/>
                </a:solidFill>
                <a:highlight>
                  <a:srgbClr val="D9EAD3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3" name="Google Shape;373;p28"/>
            <p:cNvSpPr txBox="1"/>
            <p:nvPr/>
          </p:nvSpPr>
          <p:spPr>
            <a:xfrm>
              <a:off x="7233275" y="4131275"/>
              <a:ext cx="7272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128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132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70AD47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135</a:t>
              </a:r>
              <a:endParaRPr sz="1800" b="1">
                <a:solidFill>
                  <a:srgbClr val="70AD47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74" name="Google Shape;374;p28"/>
          <p:cNvSpPr txBox="1"/>
          <p:nvPr/>
        </p:nvSpPr>
        <p:spPr>
          <a:xfrm>
            <a:off x="6732805" y="1058450"/>
            <a:ext cx="503251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b="1" dirty="0">
                <a:solidFill>
                  <a:srgbClr val="005CC5"/>
                </a:solidFill>
                <a:ea typeface="Roboto"/>
                <a:cs typeface="Roboto"/>
                <a:sym typeface="Roboto"/>
              </a:rPr>
              <a:t>Trae (fetch)</a:t>
            </a:r>
            <a:r>
              <a:rPr lang="es-ES" sz="2000" dirty="0">
                <a:ea typeface="Roboto"/>
                <a:cs typeface="Roboto"/>
                <a:sym typeface="Roboto"/>
              </a:rPr>
              <a:t> instrucción desde </a:t>
            </a:r>
            <a:r>
              <a:rPr lang="es-ES" dirty="0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dir.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128</a:t>
            </a:r>
            <a:endParaRPr dirty="0">
              <a:solidFill>
                <a:srgbClr val="FF0000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b="1" dirty="0">
                <a:solidFill>
                  <a:srgbClr val="005CC5"/>
                </a:solidFill>
                <a:ea typeface="Roboto"/>
                <a:cs typeface="Roboto"/>
                <a:sym typeface="Roboto"/>
              </a:rPr>
              <a:t>Ejecuta</a:t>
            </a:r>
            <a:r>
              <a:rPr lang="es-ES" sz="2000" dirty="0">
                <a:ea typeface="Roboto"/>
                <a:cs typeface="Roboto"/>
                <a:sym typeface="Roboto"/>
              </a:rPr>
              <a:t> esta instrucción </a:t>
            </a:r>
            <a:r>
              <a:rPr lang="es-ES" b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[Acceso a </a:t>
            </a:r>
            <a:r>
              <a:rPr lang="es-ES" b="1" dirty="0" err="1">
                <a:latin typeface="Consolas" panose="020B0609020204030204" pitchFamily="49" charset="0"/>
                <a:ea typeface="Roboto"/>
                <a:cs typeface="Roboto"/>
                <a:sym typeface="Roboto"/>
              </a:rPr>
              <a:t>Mem</a:t>
            </a:r>
            <a:r>
              <a:rPr lang="es-ES" b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]</a:t>
            </a:r>
            <a:endParaRPr b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2000" b="1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Carga</a:t>
            </a:r>
            <a:r>
              <a:rPr lang="es-ES" sz="2000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000" b="1" dirty="0">
                <a:solidFill>
                  <a:srgbClr val="0B6937"/>
                </a:solidFill>
                <a:ea typeface="Courier New"/>
                <a:cs typeface="Courier New"/>
                <a:sym typeface="Courier New"/>
              </a:rPr>
              <a:t>load</a:t>
            </a:r>
            <a:r>
              <a:rPr lang="es-ES" sz="2000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)</a:t>
            </a:r>
            <a:r>
              <a:rPr lang="es-ES" sz="2000" dirty="0">
                <a:ea typeface="Roboto"/>
                <a:cs typeface="Roboto"/>
                <a:sym typeface="Roboto"/>
              </a:rPr>
              <a:t> dato desde</a:t>
            </a:r>
            <a:r>
              <a:rPr lang="es-ES" sz="2000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dir.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15K</a:t>
            </a:r>
            <a:endParaRPr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375" name="Google Shape;375;p28"/>
          <p:cNvSpPr txBox="1"/>
          <p:nvPr/>
        </p:nvSpPr>
        <p:spPr>
          <a:xfrm>
            <a:off x="6732806" y="3073121"/>
            <a:ext cx="537562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b="1" dirty="0">
                <a:solidFill>
                  <a:srgbClr val="005CC5"/>
                </a:solidFill>
                <a:ea typeface="Roboto"/>
                <a:cs typeface="Roboto"/>
                <a:sym typeface="Roboto"/>
              </a:rPr>
              <a:t>Trae (fetch)</a:t>
            </a:r>
            <a:r>
              <a:rPr lang="es-ES" sz="2000" dirty="0">
                <a:ea typeface="Roboto"/>
                <a:cs typeface="Roboto"/>
                <a:sym typeface="Roboto"/>
              </a:rPr>
              <a:t> instrucción desde </a:t>
            </a:r>
            <a:r>
              <a:rPr lang="es-ES" dirty="0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dir.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132</a:t>
            </a:r>
            <a:endParaRPr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b="1" dirty="0">
                <a:solidFill>
                  <a:srgbClr val="005CC5"/>
                </a:solidFill>
                <a:ea typeface="Roboto"/>
                <a:cs typeface="Roboto"/>
                <a:sym typeface="Roboto"/>
              </a:rPr>
              <a:t>Ejecuta</a:t>
            </a:r>
            <a:r>
              <a:rPr lang="es-ES" sz="2000" dirty="0">
                <a:ea typeface="Roboto"/>
                <a:cs typeface="Roboto"/>
                <a:sym typeface="Roboto"/>
              </a:rPr>
              <a:t> esta instrucción </a:t>
            </a:r>
            <a:r>
              <a:rPr lang="es-ES" b="1" dirty="0">
                <a:solidFill>
                  <a:schemeClr val="dk1"/>
                </a:solidFill>
                <a:latin typeface="Consolas" panose="020B0609020204030204" pitchFamily="49" charset="0"/>
                <a:ea typeface="Roboto"/>
                <a:sym typeface="Roboto"/>
              </a:rPr>
              <a:t>[No acceso a </a:t>
            </a:r>
            <a:r>
              <a:rPr lang="es-ES" b="1" dirty="0" err="1">
                <a:solidFill>
                  <a:schemeClr val="dk1"/>
                </a:solidFill>
                <a:latin typeface="Consolas" panose="020B0609020204030204" pitchFamily="49" charset="0"/>
                <a:ea typeface="Roboto"/>
                <a:sym typeface="Roboto"/>
              </a:rPr>
              <a:t>Mem</a:t>
            </a:r>
            <a:r>
              <a:rPr lang="es-ES" b="1" dirty="0">
                <a:solidFill>
                  <a:schemeClr val="dk1"/>
                </a:solidFill>
                <a:latin typeface="Consolas" panose="020B0609020204030204" pitchFamily="49" charset="0"/>
                <a:ea typeface="Roboto"/>
                <a:sym typeface="Roboto"/>
              </a:rPr>
              <a:t>]</a:t>
            </a:r>
            <a:endParaRPr b="1" dirty="0">
              <a:solidFill>
                <a:schemeClr val="dk1"/>
              </a:solidFill>
              <a:latin typeface="Consolas" panose="020B0609020204030204" pitchFamily="49" charset="0"/>
              <a:ea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2000" b="1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Incremento</a:t>
            </a:r>
            <a:r>
              <a:rPr lang="es-ES" sz="2000" dirty="0">
                <a:ea typeface="Roboto"/>
                <a:cs typeface="Roboto"/>
                <a:sym typeface="Roboto"/>
              </a:rPr>
              <a:t> de 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$s0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  <a:ea typeface="Roboto"/>
                <a:cs typeface="Roboto"/>
                <a:sym typeface="Roboto"/>
              </a:rPr>
              <a:t> en 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</a:t>
            </a:r>
            <a:endParaRPr dirty="0">
              <a:solidFill>
                <a:srgbClr val="FF0000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376" name="Google Shape;376;p28"/>
          <p:cNvSpPr txBox="1"/>
          <p:nvPr/>
        </p:nvSpPr>
        <p:spPr>
          <a:xfrm>
            <a:off x="6732805" y="5021829"/>
            <a:ext cx="529937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b="1" dirty="0">
                <a:solidFill>
                  <a:srgbClr val="005CC5"/>
                </a:solidFill>
                <a:ea typeface="Roboto"/>
                <a:cs typeface="Roboto"/>
                <a:sym typeface="Roboto"/>
              </a:rPr>
              <a:t>Trae (fetch)</a:t>
            </a:r>
            <a:r>
              <a:rPr lang="es-ES" sz="2000" dirty="0">
                <a:ea typeface="Roboto"/>
                <a:cs typeface="Roboto"/>
                <a:sym typeface="Roboto"/>
              </a:rPr>
              <a:t> instrucción desde </a:t>
            </a:r>
            <a:r>
              <a:rPr lang="es-ES" dirty="0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dir.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135</a:t>
            </a:r>
            <a:endParaRPr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b="1" dirty="0">
                <a:solidFill>
                  <a:srgbClr val="005CC5"/>
                </a:solidFill>
                <a:ea typeface="Roboto"/>
                <a:cs typeface="Roboto"/>
                <a:sym typeface="Roboto"/>
              </a:rPr>
              <a:t>Ejecuta</a:t>
            </a:r>
            <a:r>
              <a:rPr lang="es-ES" sz="2000" dirty="0">
                <a:ea typeface="Roboto"/>
                <a:cs typeface="Roboto"/>
                <a:sym typeface="Roboto"/>
              </a:rPr>
              <a:t> esta instrucción </a:t>
            </a:r>
            <a:r>
              <a:rPr lang="es-ES" b="1" dirty="0">
                <a:solidFill>
                  <a:schemeClr val="dk1"/>
                </a:solidFill>
                <a:latin typeface="Consolas" panose="020B0609020204030204" pitchFamily="49" charset="0"/>
                <a:ea typeface="Roboto"/>
                <a:cs typeface="Roboto"/>
                <a:sym typeface="Roboto"/>
              </a:rPr>
              <a:t>[Acceso a </a:t>
            </a:r>
            <a:r>
              <a:rPr lang="es-ES" b="1" dirty="0" err="1">
                <a:solidFill>
                  <a:schemeClr val="dk1"/>
                </a:solidFill>
                <a:latin typeface="Consolas" panose="020B0609020204030204" pitchFamily="49" charset="0"/>
                <a:ea typeface="Roboto"/>
                <a:cs typeface="Roboto"/>
                <a:sym typeface="Roboto"/>
              </a:rPr>
              <a:t>Mem</a:t>
            </a:r>
            <a:r>
              <a:rPr lang="es-ES" b="1" dirty="0">
                <a:solidFill>
                  <a:schemeClr val="dk1"/>
                </a:solidFill>
                <a:latin typeface="Consolas" panose="020B0609020204030204" pitchFamily="49" charset="0"/>
                <a:ea typeface="Roboto"/>
                <a:cs typeface="Roboto"/>
                <a:sym typeface="Roboto"/>
              </a:rPr>
              <a:t>]</a:t>
            </a:r>
            <a:endParaRPr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2000" b="1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Guarda</a:t>
            </a:r>
            <a:r>
              <a:rPr lang="es-ES" sz="2000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000" b="1" dirty="0">
                <a:solidFill>
                  <a:srgbClr val="0B6937"/>
                </a:solidFill>
                <a:ea typeface="Courier New"/>
                <a:cs typeface="Courier New"/>
                <a:sym typeface="Courier New"/>
              </a:rPr>
              <a:t>store</a:t>
            </a:r>
            <a:r>
              <a:rPr lang="es-ES" sz="2000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)</a:t>
            </a:r>
            <a:r>
              <a:rPr lang="es-ES" sz="2000" dirty="0">
                <a:ea typeface="Roboto"/>
                <a:cs typeface="Roboto"/>
                <a:sym typeface="Roboto"/>
              </a:rPr>
              <a:t> dato desde </a:t>
            </a:r>
            <a:r>
              <a:rPr lang="es-ES" dirty="0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dir.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15K</a:t>
            </a:r>
            <a:endParaRPr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"/>
          <p:cNvSpPr txBox="1">
            <a:spLocks noGrp="1"/>
          </p:cNvSpPr>
          <p:nvPr>
            <p:ph type="title"/>
          </p:nvPr>
        </p:nvSpPr>
        <p:spPr>
          <a:xfrm>
            <a:off x="174801" y="96038"/>
            <a:ext cx="1123342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4400" b="1" dirty="0">
                <a:solidFill>
                  <a:schemeClr val="tx1"/>
                </a:solidFill>
                <a:latin typeface="+mj-lt"/>
              </a:rPr>
              <a:t>Reasignación del espacio de direccionamiento</a:t>
            </a:r>
          </a:p>
        </p:txBody>
      </p:sp>
      <p:pic>
        <p:nvPicPr>
          <p:cNvPr id="383" name="Google Shape;3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717" y="1377335"/>
            <a:ext cx="7001474" cy="515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9"/>
          <p:cNvSpPr txBox="1">
            <a:spLocks noGrp="1"/>
          </p:cNvSpPr>
          <p:nvPr>
            <p:ph type="body" idx="1"/>
          </p:nvPr>
        </p:nvSpPr>
        <p:spPr>
          <a:xfrm>
            <a:off x="421543" y="1165650"/>
            <a:ext cx="4740391" cy="4526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ES" sz="2200" dirty="0">
                <a:latin typeface="+mn-lt"/>
              </a:rPr>
              <a:t>El SO ubica el proceso en una dirección diferente de 0.</a:t>
            </a:r>
          </a:p>
          <a:p>
            <a:pPr marL="800100" lvl="1">
              <a:lnSpc>
                <a:spcPct val="100000"/>
              </a:lnSpc>
              <a:spcBef>
                <a:spcPts val="480"/>
              </a:spcBef>
            </a:pPr>
            <a:r>
              <a:rPr lang="es-ES" sz="2200" dirty="0">
                <a:latin typeface="+mn-lt"/>
              </a:rPr>
              <a:t>Potencialmente </a:t>
            </a:r>
            <a:r>
              <a:rPr lang="es-ES" sz="2200" b="1" dirty="0">
                <a:solidFill>
                  <a:srgbClr val="FF0000"/>
                </a:solidFill>
                <a:latin typeface="+mn-lt"/>
              </a:rPr>
              <a:t>cualquier lugar!</a:t>
            </a:r>
            <a:endParaRPr sz="2200" b="1" dirty="0">
              <a:solidFill>
                <a:srgbClr val="FF0000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"/>
          <p:cNvSpPr txBox="1">
            <a:spLocks noGrp="1"/>
          </p:cNvSpPr>
          <p:nvPr>
            <p:ph type="title"/>
          </p:nvPr>
        </p:nvSpPr>
        <p:spPr>
          <a:xfrm>
            <a:off x="566057" y="96038"/>
            <a:ext cx="86545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 – Pregunta clave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91" name="Google Shape;391;p30"/>
          <p:cNvSpPr txBox="1">
            <a:spLocks noGrp="1"/>
          </p:cNvSpPr>
          <p:nvPr>
            <p:ph type="body" idx="1"/>
          </p:nvPr>
        </p:nvSpPr>
        <p:spPr>
          <a:xfrm>
            <a:off x="1174725" y="1303534"/>
            <a:ext cx="10219200" cy="615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0000FF"/>
                </a:solidFill>
                <a:latin typeface="+mn-lt"/>
              </a:rPr>
              <a:t>¿Cómo virtualizar memoria de manera eficiente y flexible?</a:t>
            </a:r>
            <a:endParaRPr b="1" dirty="0">
              <a:solidFill>
                <a:srgbClr val="0000FF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92" name="Google Shape;392;p30"/>
          <p:cNvGrpSpPr/>
          <p:nvPr/>
        </p:nvGrpSpPr>
        <p:grpSpPr>
          <a:xfrm>
            <a:off x="540237" y="4786121"/>
            <a:ext cx="10949400" cy="1701054"/>
            <a:chOff x="1094825" y="3502875"/>
            <a:chExt cx="10949400" cy="2601000"/>
          </a:xfrm>
        </p:grpSpPr>
        <p:grpSp>
          <p:nvGrpSpPr>
            <p:cNvPr id="393" name="Google Shape;393;p30"/>
            <p:cNvGrpSpPr/>
            <p:nvPr/>
          </p:nvGrpSpPr>
          <p:grpSpPr>
            <a:xfrm>
              <a:off x="3591725" y="3502875"/>
              <a:ext cx="5773200" cy="2601000"/>
              <a:chOff x="3401900" y="3456225"/>
              <a:chExt cx="5773200" cy="2601000"/>
            </a:xfrm>
          </p:grpSpPr>
          <p:sp>
            <p:nvSpPr>
              <p:cNvPr id="394" name="Google Shape;394;p30"/>
              <p:cNvSpPr/>
              <p:nvPr/>
            </p:nvSpPr>
            <p:spPr>
              <a:xfrm>
                <a:off x="4883000" y="3456225"/>
                <a:ext cx="2811000" cy="2601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30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Address Translation</a:t>
                </a:r>
                <a:endParaRPr sz="30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395" name="Google Shape;395;p30"/>
              <p:cNvCxnSpPr/>
              <p:nvPr/>
            </p:nvCxnSpPr>
            <p:spPr>
              <a:xfrm>
                <a:off x="34019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96" name="Google Shape;396;p30"/>
              <p:cNvCxnSpPr/>
              <p:nvPr/>
            </p:nvCxnSpPr>
            <p:spPr>
              <a:xfrm>
                <a:off x="76940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397" name="Google Shape;397;p30"/>
            <p:cNvSpPr txBox="1"/>
            <p:nvPr/>
          </p:nvSpPr>
          <p:spPr>
            <a:xfrm>
              <a:off x="1094825" y="4403175"/>
              <a:ext cx="24969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Virtual Address</a:t>
              </a:r>
              <a:endParaRPr sz="20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VA</a:t>
              </a:r>
              <a:endParaRPr sz="2000" dirty="0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98" name="Google Shape;398;p30"/>
            <p:cNvSpPr txBox="1"/>
            <p:nvPr/>
          </p:nvSpPr>
          <p:spPr>
            <a:xfrm>
              <a:off x="9364925" y="4403175"/>
              <a:ext cx="26793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Physical Address</a:t>
              </a:r>
              <a:endParaRPr sz="20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PA</a:t>
              </a:r>
              <a:endParaRPr sz="2000" dirty="0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399" name="Google Shape;3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4775" y="2380513"/>
            <a:ext cx="2559875" cy="191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" name="Google Shape;400;p30"/>
          <p:cNvCxnSpPr/>
          <p:nvPr/>
        </p:nvCxnSpPr>
        <p:spPr>
          <a:xfrm>
            <a:off x="4938125" y="3862100"/>
            <a:ext cx="843900" cy="736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01" name="Google Shape;40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2025" y="3192350"/>
            <a:ext cx="1004600" cy="10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3972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Dynamic Relocation - Reasignación dinámica</a:t>
            </a:r>
            <a:endParaRPr dirty="0">
              <a:latin typeface="+mj-lt"/>
            </a:endParaRPr>
          </a:p>
        </p:txBody>
      </p:sp>
      <p:sp>
        <p:nvSpPr>
          <p:cNvPr id="413" name="Google Shape;413;p32"/>
          <p:cNvSpPr txBox="1">
            <a:spLocks noGrp="1"/>
          </p:cNvSpPr>
          <p:nvPr>
            <p:ph type="body" idx="1"/>
          </p:nvPr>
        </p:nvSpPr>
        <p:spPr>
          <a:xfrm>
            <a:off x="592675" y="1102125"/>
            <a:ext cx="6562868" cy="3163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Conceptos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rgbClr val="70AD47"/>
                </a:solidFill>
                <a:latin typeface="+mn-lt"/>
              </a:rPr>
              <a:t>Objetivo</a:t>
            </a:r>
            <a:r>
              <a:rPr lang="es-ES" sz="2000" dirty="0">
                <a:solidFill>
                  <a:srgbClr val="70AD47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Traducir una dirección virtual a una física al agregar un </a:t>
            </a:r>
            <a:r>
              <a:rPr lang="es-ES" sz="2000" b="1" dirty="0">
                <a:solidFill>
                  <a:srgbClr val="FF0000"/>
                </a:solidFill>
                <a:latin typeface="+mn-lt"/>
              </a:rPr>
              <a:t>offset</a:t>
            </a:r>
            <a:r>
              <a:rPr lang="es-ES" sz="2000" dirty="0">
                <a:latin typeface="+mn-lt"/>
              </a:rPr>
              <a:t> fijo cada vez 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Tambien conocida </a:t>
            </a:r>
            <a:r>
              <a:rPr lang="es-ES" sz="2000" b="1" dirty="0">
                <a:latin typeface="+mn-lt"/>
              </a:rPr>
              <a:t>Hardware-</a:t>
            </a:r>
            <a:r>
              <a:rPr lang="es-ES" sz="2000" b="1" dirty="0" err="1">
                <a:latin typeface="+mn-lt"/>
              </a:rPr>
              <a:t>based</a:t>
            </a:r>
            <a:r>
              <a:rPr lang="es-ES" sz="2000" b="1" dirty="0">
                <a:latin typeface="+mn-lt"/>
              </a:rPr>
              <a:t> realocation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ó</a:t>
            </a:r>
            <a:r>
              <a:rPr lang="es-ES" sz="2000" dirty="0">
                <a:latin typeface="+mn-lt"/>
              </a:rPr>
              <a:t> </a:t>
            </a:r>
            <a:r>
              <a:rPr lang="es-ES" sz="2000" b="1" dirty="0">
                <a:latin typeface="+mn-lt"/>
              </a:rPr>
              <a:t>base &amp; bound realocation</a:t>
            </a:r>
            <a:endParaRPr sz="2000"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Esta técnica hace uso de los registros </a:t>
            </a:r>
            <a:r>
              <a:rPr lang="es-ES" sz="2000" b="1" dirty="0">
                <a:latin typeface="+mn-lt"/>
              </a:rPr>
              <a:t>base</a:t>
            </a:r>
            <a:r>
              <a:rPr lang="es-ES" sz="2000" dirty="0">
                <a:latin typeface="+mn-lt"/>
              </a:rPr>
              <a:t> y </a:t>
            </a:r>
            <a:r>
              <a:rPr lang="es-ES" sz="2000" b="1" dirty="0">
                <a:latin typeface="+mn-lt"/>
              </a:rPr>
              <a:t>bounds</a:t>
            </a:r>
            <a:r>
              <a:rPr lang="es-ES" sz="2000" dirty="0">
                <a:latin typeface="+mn-lt"/>
              </a:rPr>
              <a:t>: 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base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Almacena la dirección física más pequeña.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bounds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Almacena el tamaño del segmento de memoria virtual asociada al proceso.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414" name="Google Shape;414;p32"/>
          <p:cNvGrpSpPr/>
          <p:nvPr/>
        </p:nvGrpSpPr>
        <p:grpSpPr>
          <a:xfrm>
            <a:off x="8005450" y="1566825"/>
            <a:ext cx="3308400" cy="4491900"/>
            <a:chOff x="8005450" y="1566825"/>
            <a:chExt cx="3308400" cy="4491900"/>
          </a:xfrm>
        </p:grpSpPr>
        <p:sp>
          <p:nvSpPr>
            <p:cNvPr id="415" name="Google Shape;415;p32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16" name="Google Shape;416;p32"/>
            <p:cNvSpPr txBox="1"/>
            <p:nvPr/>
          </p:nvSpPr>
          <p:spPr>
            <a:xfrm>
              <a:off x="8597250" y="1637048"/>
              <a:ext cx="2103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17" name="Google Shape;417;p32"/>
            <p:cNvGrpSpPr/>
            <p:nvPr/>
          </p:nvGrpSpPr>
          <p:grpSpPr>
            <a:xfrm>
              <a:off x="8587600" y="2266040"/>
              <a:ext cx="2112650" cy="3163135"/>
              <a:chOff x="8587600" y="2266040"/>
              <a:chExt cx="2112650" cy="3163135"/>
            </a:xfrm>
          </p:grpSpPr>
          <p:sp>
            <p:nvSpPr>
              <p:cNvPr id="418" name="Google Shape;418;p32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20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19" name="Google Shape;419;p32"/>
              <p:cNvCxnSpPr>
                <a:stCxn id="418" idx="4"/>
                <a:endCxn id="420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21" name="Google Shape;421;p32"/>
              <p:cNvGrpSpPr/>
              <p:nvPr/>
            </p:nvGrpSpPr>
            <p:grpSpPr>
              <a:xfrm>
                <a:off x="8587600" y="3717975"/>
                <a:ext cx="2112650" cy="1711200"/>
                <a:chOff x="8587600" y="3717975"/>
                <a:chExt cx="2112650" cy="1711200"/>
              </a:xfrm>
            </p:grpSpPr>
            <p:grpSp>
              <p:nvGrpSpPr>
                <p:cNvPr id="422" name="Google Shape;422;p32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420" name="Google Shape;420;p32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423" name="Google Shape;423;p32"/>
                  <p:cNvSpPr txBox="1"/>
                  <p:nvPr/>
                </p:nvSpPr>
                <p:spPr>
                  <a:xfrm>
                    <a:off x="9216100" y="3718050"/>
                    <a:ext cx="887100" cy="492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20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24" name="Google Shape;424;p32"/>
                <p:cNvGrpSpPr/>
                <p:nvPr/>
              </p:nvGrpSpPr>
              <p:grpSpPr>
                <a:xfrm>
                  <a:off x="8638450" y="4265550"/>
                  <a:ext cx="1901250" cy="461700"/>
                  <a:chOff x="8638450" y="4265550"/>
                  <a:chExt cx="1901250" cy="461700"/>
                </a:xfrm>
              </p:grpSpPr>
              <p:sp>
                <p:nvSpPr>
                  <p:cNvPr id="425" name="Google Shape;425;p32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6" name="Google Shape;426;p32"/>
                  <p:cNvSpPr txBox="1"/>
                  <p:nvPr/>
                </p:nvSpPr>
                <p:spPr>
                  <a:xfrm>
                    <a:off x="8638450" y="4265550"/>
                    <a:ext cx="8871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12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27" name="Google Shape;427;p32"/>
                <p:cNvGrpSpPr/>
                <p:nvPr/>
              </p:nvGrpSpPr>
              <p:grpSpPr>
                <a:xfrm>
                  <a:off x="8587600" y="4782150"/>
                  <a:ext cx="1952100" cy="461700"/>
                  <a:chOff x="8587600" y="4782150"/>
                  <a:chExt cx="1952100" cy="461700"/>
                </a:xfrm>
              </p:grpSpPr>
              <p:sp>
                <p:nvSpPr>
                  <p:cNvPr id="428" name="Google Shape;428;p32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9" name="Google Shape;429;p32"/>
                  <p:cNvSpPr txBox="1"/>
                  <p:nvPr/>
                </p:nvSpPr>
                <p:spPr>
                  <a:xfrm>
                    <a:off x="8587600" y="4782150"/>
                    <a:ext cx="9888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3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023257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Dynamic Relocation - Reasignación dinámica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35" name="Google Shape;435;p33"/>
          <p:cNvSpPr txBox="1">
            <a:spLocks noGrp="1"/>
          </p:cNvSpPr>
          <p:nvPr>
            <p:ph type="body" idx="1"/>
          </p:nvPr>
        </p:nvSpPr>
        <p:spPr>
          <a:xfrm>
            <a:off x="377371" y="965812"/>
            <a:ext cx="7880400" cy="53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j-lt"/>
              </a:rPr>
              <a:t>MMU (Memory Management Unit)</a:t>
            </a:r>
            <a:endParaRPr sz="3400" dirty="0"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 dirty="0"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</p:txBody>
      </p:sp>
      <p:pic>
        <p:nvPicPr>
          <p:cNvPr id="436" name="Google Shape;43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662" y="1687352"/>
            <a:ext cx="7880324" cy="4795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7" name="Google Shape;437;p33"/>
          <p:cNvGrpSpPr/>
          <p:nvPr/>
        </p:nvGrpSpPr>
        <p:grpSpPr>
          <a:xfrm>
            <a:off x="1203501" y="1880909"/>
            <a:ext cx="2340362" cy="3256628"/>
            <a:chOff x="8005450" y="1566825"/>
            <a:chExt cx="3308400" cy="4491900"/>
          </a:xfrm>
        </p:grpSpPr>
        <p:sp>
          <p:nvSpPr>
            <p:cNvPr id="438" name="Google Shape;438;p33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39" name="Google Shape;439;p33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40" name="Google Shape;440;p33"/>
            <p:cNvGrpSpPr/>
            <p:nvPr/>
          </p:nvGrpSpPr>
          <p:grpSpPr>
            <a:xfrm>
              <a:off x="8483375" y="2266040"/>
              <a:ext cx="2216875" cy="3163135"/>
              <a:chOff x="8483375" y="2266040"/>
              <a:chExt cx="2216875" cy="3163135"/>
            </a:xfrm>
          </p:grpSpPr>
          <p:sp>
            <p:nvSpPr>
              <p:cNvPr id="441" name="Google Shape;441;p33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42" name="Google Shape;442;p33"/>
              <p:cNvCxnSpPr>
                <a:stCxn id="441" idx="4"/>
                <a:endCxn id="443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44" name="Google Shape;444;p33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445" name="Google Shape;445;p33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443" name="Google Shape;443;p33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446" name="Google Shape;446;p33"/>
                  <p:cNvSpPr txBox="1"/>
                  <p:nvPr/>
                </p:nvSpPr>
                <p:spPr>
                  <a:xfrm>
                    <a:off x="9216100" y="3718050"/>
                    <a:ext cx="887100" cy="55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47" name="Google Shape;447;p33"/>
                <p:cNvGrpSpPr/>
                <p:nvPr/>
              </p:nvGrpSpPr>
              <p:grpSpPr>
                <a:xfrm>
                  <a:off x="8638450" y="4265550"/>
                  <a:ext cx="1901250" cy="509400"/>
                  <a:chOff x="8638450" y="4265550"/>
                  <a:chExt cx="1901250" cy="509400"/>
                </a:xfrm>
              </p:grpSpPr>
              <p:sp>
                <p:nvSpPr>
                  <p:cNvPr id="448" name="Google Shape;448;p33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9" name="Google Shape;449;p33"/>
                  <p:cNvSpPr txBox="1"/>
                  <p:nvPr/>
                </p:nvSpPr>
                <p:spPr>
                  <a:xfrm>
                    <a:off x="8638450" y="4265550"/>
                    <a:ext cx="8871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50" name="Google Shape;450;p33"/>
                <p:cNvGrpSpPr/>
                <p:nvPr/>
              </p:nvGrpSpPr>
              <p:grpSpPr>
                <a:xfrm>
                  <a:off x="8483375" y="4782162"/>
                  <a:ext cx="2056325" cy="509400"/>
                  <a:chOff x="8483375" y="4782162"/>
                  <a:chExt cx="2056325" cy="509400"/>
                </a:xfrm>
              </p:grpSpPr>
              <p:sp>
                <p:nvSpPr>
                  <p:cNvPr id="451" name="Google Shape;451;p33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2" name="Google Shape;452;p33"/>
                  <p:cNvSpPr txBox="1"/>
                  <p:nvPr/>
                </p:nvSpPr>
                <p:spPr>
                  <a:xfrm>
                    <a:off x="8483375" y="4782162"/>
                    <a:ext cx="10929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sp>
        <p:nvSpPr>
          <p:cNvPr id="453" name="Google Shape;453;p33"/>
          <p:cNvSpPr txBox="1"/>
          <p:nvPr/>
        </p:nvSpPr>
        <p:spPr>
          <a:xfrm>
            <a:off x="693105" y="5289380"/>
            <a:ext cx="3361151" cy="1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MMU</a:t>
            </a:r>
            <a:r>
              <a:rPr lang="es-ES" sz="2000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Hardware encargado de realizar la traducción de direcciones lógicas a físicas.</a:t>
            </a:r>
            <a:endParaRPr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4"/>
          <p:cNvSpPr txBox="1">
            <a:spLocks noGrp="1"/>
          </p:cNvSpPr>
          <p:nvPr>
            <p:ph type="title"/>
          </p:nvPr>
        </p:nvSpPr>
        <p:spPr>
          <a:xfrm>
            <a:off x="409277" y="96038"/>
            <a:ext cx="881137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59" name="Google Shape;459;p34"/>
          <p:cNvSpPr txBox="1">
            <a:spLocks noGrp="1"/>
          </p:cNvSpPr>
          <p:nvPr>
            <p:ph type="body" idx="1"/>
          </p:nvPr>
        </p:nvSpPr>
        <p:spPr>
          <a:xfrm>
            <a:off x="409276" y="904075"/>
            <a:ext cx="6761300" cy="565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200" dirty="0">
                <a:latin typeface="+mn-lt"/>
              </a:rPr>
              <a:t>Cuando el proceso es creado, el SO decide </a:t>
            </a:r>
            <a:r>
              <a:rPr lang="es-ES" sz="2200" b="1" dirty="0">
                <a:latin typeface="+mn-lt"/>
              </a:rPr>
              <a:t>dónde</a:t>
            </a:r>
            <a:r>
              <a:rPr lang="es-ES" sz="2200" dirty="0">
                <a:latin typeface="+mn-lt"/>
              </a:rPr>
              <a:t> (en memoria física) será </a:t>
            </a:r>
            <a:r>
              <a:rPr lang="es-ES" sz="2200" b="1" dirty="0">
                <a:latin typeface="+mn-lt"/>
              </a:rPr>
              <a:t>cargada</a:t>
            </a:r>
            <a:r>
              <a:rPr lang="es-ES" sz="2200" dirty="0">
                <a:latin typeface="+mn-lt"/>
              </a:rPr>
              <a:t> su imagen de memoria.  </a:t>
            </a:r>
            <a:endParaRPr sz="22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200" dirty="0">
                <a:latin typeface="+mn-lt"/>
              </a:rPr>
              <a:t>Fija un valor para el registro base.</a:t>
            </a:r>
            <a:endParaRPr sz="2200" dirty="0">
              <a:latin typeface="+mn-lt"/>
            </a:endParaRPr>
          </a:p>
          <a:p>
            <a:pPr marL="914400" lvl="1" indent="-3937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00"/>
              <a:buChar char="○"/>
            </a:pPr>
            <a:r>
              <a:rPr lang="es-ES" sz="2200" dirty="0">
                <a:latin typeface="+mn-lt"/>
              </a:rPr>
              <a:t>Las direcciones virtuales no deben ser mayores al valor en el registro bounds (limit) ni negativas.</a:t>
            </a:r>
          </a:p>
          <a:p>
            <a:pPr indent="-393700">
              <a:lnSpc>
                <a:spcPct val="100000"/>
              </a:lnSpc>
              <a:spcBef>
                <a:spcPts val="480"/>
              </a:spcBef>
              <a:buSzPts val="2600"/>
              <a:buChar char="○"/>
            </a:pPr>
            <a:r>
              <a:rPr lang="es-ES" sz="2600" dirty="0">
                <a:latin typeface="+mn-lt"/>
              </a:rPr>
              <a:t>La traducción implica 2 pasos:</a:t>
            </a:r>
            <a:endParaRPr sz="2600" dirty="0">
              <a:latin typeface="+mn-lt"/>
            </a:endParaRPr>
          </a:p>
          <a:p>
            <a:pPr marL="914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MX" sz="2200" dirty="0">
                <a:latin typeface="+mn-lt"/>
              </a:rPr>
              <a:t>Verificar que la dirección virtual sea valida (este dentro de los limites):</a:t>
            </a:r>
          </a:p>
          <a:p>
            <a:pPr marL="914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/>
            </a:pPr>
            <a:endParaRPr lang="es-MX" sz="2200" dirty="0">
              <a:latin typeface="+mn-lt"/>
            </a:endParaRPr>
          </a:p>
          <a:p>
            <a:pPr marL="914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/>
            </a:pPr>
            <a:endParaRPr lang="es-MX" sz="2200" dirty="0">
              <a:latin typeface="+mn-lt"/>
            </a:endParaRPr>
          </a:p>
          <a:p>
            <a:pPr marL="914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MX" sz="2200" dirty="0">
                <a:latin typeface="+mn-lt"/>
              </a:rPr>
              <a:t>Realizar la traducción a la dirección física (PA) si la dirección virtual es valida (VA):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</p:txBody>
      </p:sp>
      <p:grpSp>
        <p:nvGrpSpPr>
          <p:cNvPr id="466" name="Google Shape;466;p34"/>
          <p:cNvGrpSpPr/>
          <p:nvPr/>
        </p:nvGrpSpPr>
        <p:grpSpPr>
          <a:xfrm>
            <a:off x="7535925" y="1622175"/>
            <a:ext cx="4246800" cy="4214000"/>
            <a:chOff x="7924350" y="1952025"/>
            <a:chExt cx="4246800" cy="4214000"/>
          </a:xfrm>
        </p:grpSpPr>
        <p:grpSp>
          <p:nvGrpSpPr>
            <p:cNvPr id="467" name="Google Shape;467;p34"/>
            <p:cNvGrpSpPr/>
            <p:nvPr/>
          </p:nvGrpSpPr>
          <p:grpSpPr>
            <a:xfrm>
              <a:off x="7924350" y="1952025"/>
              <a:ext cx="4246800" cy="4214000"/>
              <a:chOff x="7924350" y="1952025"/>
              <a:chExt cx="4246800" cy="4214000"/>
            </a:xfrm>
          </p:grpSpPr>
          <p:grpSp>
            <p:nvGrpSpPr>
              <p:cNvPr id="468" name="Google Shape;468;p34"/>
              <p:cNvGrpSpPr/>
              <p:nvPr/>
            </p:nvGrpSpPr>
            <p:grpSpPr>
              <a:xfrm>
                <a:off x="7924350" y="1952025"/>
                <a:ext cx="4246800" cy="2861100"/>
                <a:chOff x="7924350" y="1952025"/>
                <a:chExt cx="4246800" cy="2861100"/>
              </a:xfrm>
            </p:grpSpPr>
            <p:sp>
              <p:nvSpPr>
                <p:cNvPr id="469" name="Google Shape;469;p34"/>
                <p:cNvSpPr/>
                <p:nvPr/>
              </p:nvSpPr>
              <p:spPr>
                <a:xfrm>
                  <a:off x="7924350" y="1952025"/>
                  <a:ext cx="4246800" cy="28611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70" name="Google Shape;470;p34"/>
                <p:cNvSpPr txBox="1"/>
                <p:nvPr/>
              </p:nvSpPr>
              <p:spPr>
                <a:xfrm>
                  <a:off x="8918725" y="2022248"/>
                  <a:ext cx="21030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nsolas"/>
                      <a:ea typeface="Consolas"/>
                      <a:cs typeface="Consolas"/>
                      <a:sym typeface="Consolas"/>
                    </a:rPr>
                    <a:t>Chip CPU</a:t>
                  </a:r>
                  <a:endParaRPr sz="24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71" name="Google Shape;471;p34"/>
                <p:cNvSpPr/>
                <p:nvPr/>
              </p:nvSpPr>
              <p:spPr>
                <a:xfrm>
                  <a:off x="9475825" y="2651240"/>
                  <a:ext cx="988800" cy="995400"/>
                </a:xfrm>
                <a:prstGeom prst="ellipse">
                  <a:avLst/>
                </a:prstGeom>
                <a:solidFill>
                  <a:srgbClr val="EA99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CPU</a:t>
                  </a:r>
                  <a:endParaRPr sz="20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72" name="Google Shape;472;p34"/>
                <p:cNvSpPr/>
                <p:nvPr/>
              </p:nvSpPr>
              <p:spPr>
                <a:xfrm>
                  <a:off x="9265525" y="4103175"/>
                  <a:ext cx="1409400" cy="523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sp>
            <p:nvSpPr>
              <p:cNvPr id="473" name="Google Shape;473;p34"/>
              <p:cNvSpPr/>
              <p:nvPr/>
            </p:nvSpPr>
            <p:spPr>
              <a:xfrm>
                <a:off x="8873125" y="5394125"/>
                <a:ext cx="2194200" cy="7719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 dirty="0">
                    <a:latin typeface="Consolas"/>
                    <a:ea typeface="Consolas"/>
                    <a:cs typeface="Consolas"/>
                    <a:sym typeface="Consolas"/>
                  </a:rPr>
                  <a:t>Main Memory</a:t>
                </a:r>
                <a:endParaRPr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74" name="Google Shape;474;p34"/>
              <p:cNvCxnSpPr>
                <a:stCxn id="471" idx="4"/>
                <a:endCxn id="472" idx="0"/>
              </p:cNvCxnSpPr>
              <p:nvPr/>
            </p:nvCxnSpPr>
            <p:spPr>
              <a:xfrm>
                <a:off x="9970225" y="36466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75" name="Google Shape;475;p34"/>
              <p:cNvCxnSpPr>
                <a:stCxn id="472" idx="2"/>
                <a:endCxn id="473" idx="0"/>
              </p:cNvCxnSpPr>
              <p:nvPr/>
            </p:nvCxnSpPr>
            <p:spPr>
              <a:xfrm>
                <a:off x="9970225" y="4626375"/>
                <a:ext cx="0" cy="76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476" name="Google Shape;476;p34"/>
            <p:cNvSpPr txBox="1"/>
            <p:nvPr/>
          </p:nvSpPr>
          <p:spPr>
            <a:xfrm>
              <a:off x="8023388" y="3690263"/>
              <a:ext cx="1915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Virtual Address (VA)</a:t>
              </a:r>
              <a:endParaRPr sz="1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77" name="Google Shape;477;p34"/>
            <p:cNvSpPr txBox="1"/>
            <p:nvPr/>
          </p:nvSpPr>
          <p:spPr>
            <a:xfrm>
              <a:off x="7958150" y="4918975"/>
              <a:ext cx="198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 (PA)</a:t>
              </a:r>
              <a:endParaRPr sz="1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32E0970-B612-4895-92A2-695DB5606120}"/>
                  </a:ext>
                </a:extLst>
              </p:cNvPr>
              <p:cNvSpPr txBox="1"/>
              <p:nvPr/>
            </p:nvSpPr>
            <p:spPr>
              <a:xfrm>
                <a:off x="2740497" y="5769259"/>
                <a:ext cx="259450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𝑃𝐴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𝑉𝐴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𝑏𝑎𝑠𝑒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32E0970-B612-4895-92A2-695DB5606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497" y="5769259"/>
                <a:ext cx="2594504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D592D36D-3489-437C-99DC-D5B81D9D1304}"/>
                  </a:ext>
                </a:extLst>
              </p:cNvPr>
              <p:cNvSpPr txBox="1"/>
              <p:nvPr/>
            </p:nvSpPr>
            <p:spPr>
              <a:xfrm>
                <a:off x="2740497" y="4219793"/>
                <a:ext cx="259450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𝑉𝐴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𝑏𝑜𝑢𝑛𝑑𝑠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D592D36D-3489-437C-99DC-D5B81D9D1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497" y="4219793"/>
                <a:ext cx="2594504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5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963495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 - Formulas</a:t>
            </a:r>
            <a:endParaRPr dirty="0">
              <a:latin typeface="+mj-lt"/>
            </a:endParaRPr>
          </a:p>
        </p:txBody>
      </p:sp>
      <p:pic>
        <p:nvPicPr>
          <p:cNvPr id="483" name="Google Shape;4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649" y="1045550"/>
            <a:ext cx="10248851" cy="475056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09A4583-67E4-4DF9-881B-464B57728241}"/>
                  </a:ext>
                </a:extLst>
              </p:cNvPr>
              <p:cNvSpPr txBox="1"/>
              <p:nvPr/>
            </p:nvSpPr>
            <p:spPr>
              <a:xfrm>
                <a:off x="5336213" y="6045056"/>
                <a:ext cx="259450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𝑃𝐴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𝑉𝐴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𝑏𝑎𝑠𝑒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09A4583-67E4-4DF9-881B-464B57728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213" y="6045056"/>
                <a:ext cx="2594504" cy="369332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72F26A4-BB0C-449C-83B4-BA30CF94F1A1}"/>
                  </a:ext>
                </a:extLst>
              </p:cNvPr>
              <p:cNvSpPr txBox="1"/>
              <p:nvPr/>
            </p:nvSpPr>
            <p:spPr>
              <a:xfrm>
                <a:off x="2564729" y="6045056"/>
                <a:ext cx="259450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𝑉𝐴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MX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𝑏𝑜𝑢𝑛𝑑𝑠</m:t>
                      </m:r>
                    </m:oMath>
                  </m:oMathPara>
                </a14:m>
                <a:endParaRPr lang="es-CO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72F26A4-BB0C-449C-83B4-BA30CF94F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729" y="6045056"/>
                <a:ext cx="2594504" cy="369332"/>
              </a:xfrm>
              <a:prstGeom prst="rect">
                <a:avLst/>
              </a:prstGeom>
              <a:blipFill>
                <a:blip r:embed="rId5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6"/>
          <p:cNvSpPr txBox="1">
            <a:spLocks noGrp="1"/>
          </p:cNvSpPr>
          <p:nvPr>
            <p:ph type="title"/>
          </p:nvPr>
        </p:nvSpPr>
        <p:spPr>
          <a:xfrm>
            <a:off x="362857" y="96038"/>
            <a:ext cx="8857793" cy="8202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96" name="Google Shape;496;p36"/>
          <p:cNvSpPr txBox="1">
            <a:spLocks noGrp="1"/>
          </p:cNvSpPr>
          <p:nvPr>
            <p:ph type="body" idx="1"/>
          </p:nvPr>
        </p:nvSpPr>
        <p:spPr>
          <a:xfrm>
            <a:off x="4214825" y="979163"/>
            <a:ext cx="7414200" cy="565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¿Como un programa accede a memoria?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Dado el siguiente espacio de memoria asociado a un proceso. Analice qué sucede cuando se ejecuta la instrucción.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Asuma que el registro base tiene un valor de 32 K.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497" name="Google Shape;49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085" y="905037"/>
            <a:ext cx="2550529" cy="57984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8" name="Google Shape;498;p36"/>
          <p:cNvGrpSpPr/>
          <p:nvPr/>
        </p:nvGrpSpPr>
        <p:grpSpPr>
          <a:xfrm>
            <a:off x="6096000" y="2680665"/>
            <a:ext cx="3388800" cy="524550"/>
            <a:chOff x="6225425" y="3045000"/>
            <a:chExt cx="3388800" cy="524550"/>
          </a:xfrm>
        </p:grpSpPr>
        <p:sp>
          <p:nvSpPr>
            <p:cNvPr id="499" name="Google Shape;499;p36"/>
            <p:cNvSpPr txBox="1"/>
            <p:nvPr/>
          </p:nvSpPr>
          <p:spPr>
            <a:xfrm>
              <a:off x="6952625" y="3045000"/>
              <a:ext cx="2661600" cy="4617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lw $S0, 15360</a:t>
              </a:r>
              <a:endParaRPr sz="2200" b="1" dirty="0">
                <a:solidFill>
                  <a:srgbClr val="24292E"/>
                </a:solidFill>
                <a:highlight>
                  <a:srgbClr val="FFF2CC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0" name="Google Shape;500;p36"/>
            <p:cNvSpPr txBox="1"/>
            <p:nvPr/>
          </p:nvSpPr>
          <p:spPr>
            <a:xfrm>
              <a:off x="6225425" y="3046350"/>
              <a:ext cx="727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128</a:t>
              </a:r>
              <a:endParaRPr sz="22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7"/>
          <p:cNvSpPr txBox="1">
            <a:spLocks noGrp="1"/>
          </p:cNvSpPr>
          <p:nvPr>
            <p:ph type="title"/>
          </p:nvPr>
        </p:nvSpPr>
        <p:spPr>
          <a:xfrm>
            <a:off x="275771" y="96038"/>
            <a:ext cx="89448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06" name="Google Shape;506;p37"/>
          <p:cNvSpPr txBox="1">
            <a:spLocks noGrp="1"/>
          </p:cNvSpPr>
          <p:nvPr>
            <p:ph type="body" idx="1"/>
          </p:nvPr>
        </p:nvSpPr>
        <p:spPr>
          <a:xfrm>
            <a:off x="3851471" y="972025"/>
            <a:ext cx="8064758" cy="565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¿Como un programa accede a memoria?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Para ejecutar la instrucción, se ejecutan dos accesos a memoria.</a:t>
            </a:r>
            <a:endParaRPr sz="2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200" dirty="0">
                <a:latin typeface="+mn-lt"/>
              </a:rPr>
              <a:t>Traer la instrucción de la dirección 128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533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+mj-lt"/>
              <a:buAutoNum type="arabicPeriod" startAt="2"/>
            </a:pPr>
            <a:r>
              <a:rPr lang="es-ES" sz="2200" dirty="0">
                <a:latin typeface="+mn-lt"/>
              </a:rPr>
              <a:t>Ejecutar la instrucción I: </a:t>
            </a:r>
            <a:r>
              <a:rPr lang="es-ES" sz="2200" b="1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lw $s0, 15360</a:t>
            </a:r>
            <a:endParaRPr sz="2200" b="1" dirty="0"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507" name="Google Shape;507;p37"/>
          <p:cNvGrpSpPr/>
          <p:nvPr/>
        </p:nvGrpSpPr>
        <p:grpSpPr>
          <a:xfrm>
            <a:off x="6189450" y="1903150"/>
            <a:ext cx="3388800" cy="524550"/>
            <a:chOff x="6373025" y="2576200"/>
            <a:chExt cx="3388800" cy="524550"/>
          </a:xfrm>
        </p:grpSpPr>
        <p:sp>
          <p:nvSpPr>
            <p:cNvPr id="508" name="Google Shape;508;p37"/>
            <p:cNvSpPr txBox="1"/>
            <p:nvPr/>
          </p:nvSpPr>
          <p:spPr>
            <a:xfrm>
              <a:off x="7100225" y="2576200"/>
              <a:ext cx="2661600" cy="4617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solidFill>
                    <a:srgbClr val="24292E"/>
                  </a:solidFill>
                  <a:highlight>
                    <a:srgbClr val="FFF2CC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lw $S0, 15360</a:t>
              </a:r>
              <a:endParaRPr sz="2200" b="1" dirty="0">
                <a:solidFill>
                  <a:srgbClr val="24292E"/>
                </a:solidFill>
                <a:highlight>
                  <a:srgbClr val="FFF2CC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9" name="Google Shape;509;p37"/>
            <p:cNvSpPr txBox="1"/>
            <p:nvPr/>
          </p:nvSpPr>
          <p:spPr>
            <a:xfrm>
              <a:off x="6373025" y="2577550"/>
              <a:ext cx="727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solidFill>
                    <a:srgbClr val="FF0000"/>
                  </a:solidFill>
                  <a:highlight>
                    <a:schemeClr val="lt1"/>
                  </a:highlight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128</a:t>
              </a:r>
              <a:endParaRPr sz="22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510" name="Google Shape;510;p37"/>
          <p:cNvSpPr txBox="1"/>
          <p:nvPr/>
        </p:nvSpPr>
        <p:spPr>
          <a:xfrm>
            <a:off x="6559050" y="3698612"/>
            <a:ext cx="2661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24292E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I = Fetch[</a:t>
            </a:r>
            <a:r>
              <a:rPr lang="es-ES" sz="2200" b="1" dirty="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128</a:t>
            </a:r>
            <a:r>
              <a:rPr lang="es-ES" sz="2200" b="1" dirty="0">
                <a:solidFill>
                  <a:srgbClr val="24292E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]</a:t>
            </a:r>
            <a:endParaRPr sz="2200" b="1" dirty="0">
              <a:solidFill>
                <a:srgbClr val="24292E"/>
              </a:solidFill>
              <a:highlight>
                <a:schemeClr val="lt1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511" name="Google Shape;511;p37"/>
          <p:cNvSpPr txBox="1"/>
          <p:nvPr/>
        </p:nvSpPr>
        <p:spPr>
          <a:xfrm>
            <a:off x="6553050" y="5062906"/>
            <a:ext cx="2661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24292E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execute(I)</a:t>
            </a:r>
            <a:endParaRPr sz="2200" b="1" dirty="0">
              <a:solidFill>
                <a:srgbClr val="24292E"/>
              </a:solidFill>
              <a:highlight>
                <a:schemeClr val="lt1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512" name="Google Shape;51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796" y="972025"/>
            <a:ext cx="2550529" cy="579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8"/>
          <p:cNvSpPr txBox="1">
            <a:spLocks noGrp="1"/>
          </p:cNvSpPr>
          <p:nvPr>
            <p:ph type="title"/>
          </p:nvPr>
        </p:nvSpPr>
        <p:spPr>
          <a:xfrm>
            <a:off x="449943" y="77485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18" name="Google Shape;518;p38"/>
          <p:cNvSpPr txBox="1">
            <a:spLocks noGrp="1"/>
          </p:cNvSpPr>
          <p:nvPr>
            <p:ph type="body" idx="1"/>
          </p:nvPr>
        </p:nvSpPr>
        <p:spPr>
          <a:xfrm>
            <a:off x="449943" y="918450"/>
            <a:ext cx="11142207" cy="9696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¿Como un programa accede a memoria?</a:t>
            </a:r>
            <a:endParaRPr sz="2400"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200" dirty="0">
                <a:latin typeface="+mn-lt"/>
              </a:rPr>
              <a:t>Traer la instrucción de la dirección </a:t>
            </a:r>
            <a:r>
              <a:rPr lang="es-ES" sz="2000" b="1" dirty="0">
                <a:latin typeface="Consolas" panose="020B0609020204030204" pitchFamily="49" charset="0"/>
              </a:rPr>
              <a:t>128</a:t>
            </a:r>
            <a:endParaRPr sz="2000" b="1" dirty="0">
              <a:latin typeface="Consolas" panose="020B0609020204030204" pitchFamily="49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519" name="Google Shape;519;p38"/>
          <p:cNvSpPr txBox="1"/>
          <p:nvPr/>
        </p:nvSpPr>
        <p:spPr>
          <a:xfrm>
            <a:off x="2513938" y="3076825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128</a:t>
            </a:r>
            <a:endParaRPr sz="2000" b="1">
              <a:solidFill>
                <a:srgbClr val="FF0000"/>
              </a:solidFill>
              <a:highlight>
                <a:schemeClr val="lt1"/>
              </a:highlight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520" name="Google Shape;520;p38"/>
          <p:cNvSpPr/>
          <p:nvPr/>
        </p:nvSpPr>
        <p:spPr>
          <a:xfrm>
            <a:off x="4884225" y="2294950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32768</a:t>
            </a:r>
            <a:endParaRPr sz="200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521" name="Google Shape;521;p38"/>
          <p:cNvSpPr/>
          <p:nvPr/>
        </p:nvSpPr>
        <p:spPr>
          <a:xfrm>
            <a:off x="3038525" y="2294950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16384</a:t>
            </a:r>
            <a:endParaRPr sz="200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522" name="Google Shape;522;p38"/>
          <p:cNvSpPr/>
          <p:nvPr/>
        </p:nvSpPr>
        <p:spPr>
          <a:xfrm>
            <a:off x="3306450" y="3288125"/>
            <a:ext cx="924225" cy="562575"/>
          </a:xfrm>
          <a:prstGeom prst="flowChartDecision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&lt;</a:t>
            </a:r>
            <a:endParaRPr sz="200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523" name="Google Shape;523;p38"/>
          <p:cNvSpPr/>
          <p:nvPr/>
        </p:nvSpPr>
        <p:spPr>
          <a:xfrm>
            <a:off x="5366475" y="3307063"/>
            <a:ext cx="495600" cy="524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+</a:t>
            </a:r>
            <a:endParaRPr>
              <a:latin typeface="Consolas" panose="020B0609020204030204" pitchFamily="49" charset="0"/>
            </a:endParaRPr>
          </a:p>
        </p:txBody>
      </p:sp>
      <p:sp>
        <p:nvSpPr>
          <p:cNvPr id="524" name="Google Shape;524;p38"/>
          <p:cNvSpPr/>
          <p:nvPr/>
        </p:nvSpPr>
        <p:spPr>
          <a:xfrm>
            <a:off x="1388575" y="3187675"/>
            <a:ext cx="736800" cy="763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CPU</a:t>
            </a:r>
            <a:endParaRPr sz="220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cxnSp>
        <p:nvCxnSpPr>
          <p:cNvPr id="525" name="Google Shape;525;p38"/>
          <p:cNvCxnSpPr>
            <a:stCxn id="524" idx="3"/>
            <a:endCxn id="522" idx="1"/>
          </p:cNvCxnSpPr>
          <p:nvPr/>
        </p:nvCxnSpPr>
        <p:spPr>
          <a:xfrm>
            <a:off x="2125375" y="3569425"/>
            <a:ext cx="118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6" name="Google Shape;526;p38"/>
          <p:cNvCxnSpPr>
            <a:stCxn id="521" idx="2"/>
            <a:endCxn id="522" idx="0"/>
          </p:cNvCxnSpPr>
          <p:nvPr/>
        </p:nvCxnSpPr>
        <p:spPr>
          <a:xfrm>
            <a:off x="3768575" y="2669950"/>
            <a:ext cx="0" cy="618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7" name="Google Shape;527;p38"/>
          <p:cNvCxnSpPr>
            <a:stCxn id="520" idx="2"/>
            <a:endCxn id="523" idx="0"/>
          </p:cNvCxnSpPr>
          <p:nvPr/>
        </p:nvCxnSpPr>
        <p:spPr>
          <a:xfrm>
            <a:off x="5614275" y="2669950"/>
            <a:ext cx="0" cy="6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8" name="Google Shape;528;p38"/>
          <p:cNvCxnSpPr>
            <a:stCxn id="522" idx="3"/>
            <a:endCxn id="523" idx="2"/>
          </p:cNvCxnSpPr>
          <p:nvPr/>
        </p:nvCxnSpPr>
        <p:spPr>
          <a:xfrm>
            <a:off x="4230675" y="3569413"/>
            <a:ext cx="113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9" name="Google Shape;529;p38"/>
          <p:cNvCxnSpPr/>
          <p:nvPr/>
        </p:nvCxnSpPr>
        <p:spPr>
          <a:xfrm>
            <a:off x="3768575" y="3850688"/>
            <a:ext cx="2400" cy="90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0" name="Google Shape;530;p38"/>
          <p:cNvSpPr txBox="1"/>
          <p:nvPr/>
        </p:nvSpPr>
        <p:spPr>
          <a:xfrm>
            <a:off x="3622188" y="3753550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No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531" name="Google Shape;531;p38"/>
          <p:cNvSpPr txBox="1"/>
          <p:nvPr/>
        </p:nvSpPr>
        <p:spPr>
          <a:xfrm>
            <a:off x="4134863" y="3153025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Yes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38"/>
          <p:cNvSpPr/>
          <p:nvPr/>
        </p:nvSpPr>
        <p:spPr>
          <a:xfrm>
            <a:off x="7769125" y="1644025"/>
            <a:ext cx="2212800" cy="4665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 panose="020B0609020204030204" pitchFamily="49" charset="0"/>
            </a:endParaRPr>
          </a:p>
        </p:txBody>
      </p:sp>
      <p:sp>
        <p:nvSpPr>
          <p:cNvPr id="533" name="Google Shape;533;p38"/>
          <p:cNvSpPr/>
          <p:nvPr/>
        </p:nvSpPr>
        <p:spPr>
          <a:xfrm>
            <a:off x="10562725" y="2710175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32768</a:t>
            </a:r>
            <a:endParaRPr sz="200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38"/>
          <p:cNvSpPr/>
          <p:nvPr/>
        </p:nvSpPr>
        <p:spPr>
          <a:xfrm>
            <a:off x="10562725" y="5027375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49152</a:t>
            </a:r>
            <a:endParaRPr sz="200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cxnSp>
        <p:nvCxnSpPr>
          <p:cNvPr id="535" name="Google Shape;535;p38"/>
          <p:cNvCxnSpPr/>
          <p:nvPr/>
        </p:nvCxnSpPr>
        <p:spPr>
          <a:xfrm rot="10800000">
            <a:off x="9981925" y="2897675"/>
            <a:ext cx="58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6" name="Google Shape;536;p38"/>
          <p:cNvSpPr/>
          <p:nvPr/>
        </p:nvSpPr>
        <p:spPr>
          <a:xfrm>
            <a:off x="7769125" y="2897675"/>
            <a:ext cx="2212800" cy="23172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 panose="020B0609020204030204" pitchFamily="49" charset="0"/>
            </a:endParaRPr>
          </a:p>
        </p:txBody>
      </p:sp>
      <p:sp>
        <p:nvSpPr>
          <p:cNvPr id="537" name="Google Shape;537;p38"/>
          <p:cNvSpPr txBox="1"/>
          <p:nvPr/>
        </p:nvSpPr>
        <p:spPr>
          <a:xfrm>
            <a:off x="7769125" y="3366125"/>
            <a:ext cx="2212800" cy="46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lw $S0, 15360</a:t>
            </a:r>
            <a:endParaRPr sz="2200" b="1" dirty="0">
              <a:solidFill>
                <a:srgbClr val="24292E"/>
              </a:solidFill>
              <a:highlight>
                <a:srgbClr val="FFF2CC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538" name="Google Shape;538;p38"/>
          <p:cNvSpPr txBox="1"/>
          <p:nvPr/>
        </p:nvSpPr>
        <p:spPr>
          <a:xfrm>
            <a:off x="7769125" y="4297700"/>
            <a:ext cx="2212800" cy="461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3000</a:t>
            </a:r>
            <a:endParaRPr sz="2200" b="1">
              <a:solidFill>
                <a:srgbClr val="24292E"/>
              </a:solidFill>
              <a:highlight>
                <a:srgbClr val="FFF2CC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39" name="Google Shape;539;p38"/>
          <p:cNvCxnSpPr/>
          <p:nvPr/>
        </p:nvCxnSpPr>
        <p:spPr>
          <a:xfrm rot="10800000">
            <a:off x="9981925" y="5214875"/>
            <a:ext cx="58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0" name="Google Shape;540;p38"/>
          <p:cNvCxnSpPr/>
          <p:nvPr/>
        </p:nvCxnSpPr>
        <p:spPr>
          <a:xfrm rot="10800000" flipH="1">
            <a:off x="5862075" y="3567313"/>
            <a:ext cx="18912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1" name="Google Shape;541;p38"/>
          <p:cNvSpPr txBox="1"/>
          <p:nvPr/>
        </p:nvSpPr>
        <p:spPr>
          <a:xfrm>
            <a:off x="10056150" y="3335150"/>
            <a:ext cx="12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32896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542" name="Google Shape;542;p38"/>
          <p:cNvSpPr txBox="1"/>
          <p:nvPr/>
        </p:nvSpPr>
        <p:spPr>
          <a:xfrm>
            <a:off x="10056150" y="4265225"/>
            <a:ext cx="12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48128</a:t>
            </a:r>
            <a:endParaRPr>
              <a:latin typeface="Consolas" panose="020B0609020204030204" pitchFamily="49" charset="0"/>
            </a:endParaRPr>
          </a:p>
        </p:txBody>
      </p:sp>
      <p:sp>
        <p:nvSpPr>
          <p:cNvPr id="543" name="Google Shape;543;p38"/>
          <p:cNvSpPr txBox="1"/>
          <p:nvPr/>
        </p:nvSpPr>
        <p:spPr>
          <a:xfrm>
            <a:off x="6328107" y="3076825"/>
            <a:ext cx="113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B6937"/>
                </a:solidFill>
                <a:highlight>
                  <a:schemeClr val="lt1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32896</a:t>
            </a:r>
            <a:endParaRPr sz="2000" b="1" dirty="0">
              <a:solidFill>
                <a:srgbClr val="0B6937"/>
              </a:solidFill>
              <a:highlight>
                <a:schemeClr val="lt1"/>
              </a:highlight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544" name="Google Shape;544;p38"/>
          <p:cNvSpPr/>
          <p:nvPr/>
        </p:nvSpPr>
        <p:spPr>
          <a:xfrm>
            <a:off x="1884175" y="3795125"/>
            <a:ext cx="6349000" cy="1404175"/>
          </a:xfrm>
          <a:custGeom>
            <a:avLst/>
            <a:gdLst/>
            <a:ahLst/>
            <a:cxnLst/>
            <a:rect l="l" t="t" r="r" b="b"/>
            <a:pathLst>
              <a:path w="253960" h="56167" extrusionOk="0">
                <a:moveTo>
                  <a:pt x="253960" y="0"/>
                </a:moveTo>
                <a:cubicBezTo>
                  <a:pt x="250477" y="3661"/>
                  <a:pt x="241458" y="15002"/>
                  <a:pt x="233064" y="21967"/>
                </a:cubicBezTo>
                <a:cubicBezTo>
                  <a:pt x="224670" y="28932"/>
                  <a:pt x="214312" y="36880"/>
                  <a:pt x="203596" y="41791"/>
                </a:cubicBezTo>
                <a:cubicBezTo>
                  <a:pt x="192881" y="46702"/>
                  <a:pt x="180558" y="49113"/>
                  <a:pt x="168771" y="51435"/>
                </a:cubicBezTo>
                <a:cubicBezTo>
                  <a:pt x="156984" y="53757"/>
                  <a:pt x="145732" y="55185"/>
                  <a:pt x="132873" y="55721"/>
                </a:cubicBezTo>
                <a:cubicBezTo>
                  <a:pt x="120014" y="56257"/>
                  <a:pt x="105013" y="56435"/>
                  <a:pt x="91618" y="54649"/>
                </a:cubicBezTo>
                <a:cubicBezTo>
                  <a:pt x="78224" y="52863"/>
                  <a:pt x="65365" y="49827"/>
                  <a:pt x="52506" y="45005"/>
                </a:cubicBezTo>
                <a:cubicBezTo>
                  <a:pt x="39647" y="40183"/>
                  <a:pt x="23217" y="30718"/>
                  <a:pt x="14466" y="25717"/>
                </a:cubicBezTo>
                <a:cubicBezTo>
                  <a:pt x="5715" y="20717"/>
                  <a:pt x="2411" y="16788"/>
                  <a:pt x="0" y="15002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45" name="Google Shape;545;p38"/>
          <p:cNvSpPr txBox="1"/>
          <p:nvPr/>
        </p:nvSpPr>
        <p:spPr>
          <a:xfrm>
            <a:off x="3770975" y="5348800"/>
            <a:ext cx="1749300" cy="37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lw $S0, </a:t>
            </a: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15360</a:t>
            </a:r>
            <a:endParaRPr sz="1800" b="1" dirty="0">
              <a:solidFill>
                <a:schemeClr val="dk1"/>
              </a:solidFill>
              <a:highlight>
                <a:srgbClr val="FFF2CC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546" name="Google Shape;546;p38"/>
          <p:cNvSpPr txBox="1"/>
          <p:nvPr/>
        </p:nvSpPr>
        <p:spPr>
          <a:xfrm>
            <a:off x="3768575" y="4430275"/>
            <a:ext cx="201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Protection fault</a:t>
            </a:r>
            <a:endParaRPr sz="1600" b="1">
              <a:solidFill>
                <a:srgbClr val="FF0000"/>
              </a:solidFill>
              <a:highlight>
                <a:schemeClr val="lt1"/>
              </a:highlight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9"/>
          <p:cNvSpPr txBox="1">
            <a:spLocks noGrp="1"/>
          </p:cNvSpPr>
          <p:nvPr>
            <p:ph type="title"/>
          </p:nvPr>
        </p:nvSpPr>
        <p:spPr>
          <a:xfrm>
            <a:off x="485975" y="96038"/>
            <a:ext cx="873467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52" name="Google Shape;552;p39"/>
          <p:cNvSpPr txBox="1">
            <a:spLocks noGrp="1"/>
          </p:cNvSpPr>
          <p:nvPr>
            <p:ph type="body" idx="1"/>
          </p:nvPr>
        </p:nvSpPr>
        <p:spPr>
          <a:xfrm>
            <a:off x="485975" y="917950"/>
            <a:ext cx="11277600" cy="1060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¿Como un programa accede a memoria?</a:t>
            </a:r>
            <a:endParaRPr sz="2400"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2"/>
            </a:pPr>
            <a:r>
              <a:rPr lang="es-ES" sz="2200" dirty="0">
                <a:latin typeface="+mn-lt"/>
              </a:rPr>
              <a:t>Ejecutar la instrucción I: </a:t>
            </a:r>
            <a:r>
              <a:rPr lang="es-ES" sz="2000" b="1" dirty="0">
                <a:latin typeface="Consolas" panose="020B0609020204030204" pitchFamily="49" charset="0"/>
                <a:ea typeface="Courier New"/>
                <a:cs typeface="Courier New" panose="02070309020205020404" pitchFamily="49" charset="0"/>
                <a:sym typeface="Courier New"/>
              </a:rPr>
              <a:t>lw $s0, 15360</a:t>
            </a:r>
            <a:endParaRPr sz="2200" b="1" dirty="0">
              <a:latin typeface="Consolas" panose="020B06090202040302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553" name="Google Shape;553;p39"/>
          <p:cNvSpPr txBox="1"/>
          <p:nvPr/>
        </p:nvSpPr>
        <p:spPr>
          <a:xfrm>
            <a:off x="2316928" y="3076825"/>
            <a:ext cx="92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15360</a:t>
            </a:r>
            <a:endParaRPr sz="2000" b="1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4" name="Google Shape;554;p39"/>
          <p:cNvSpPr/>
          <p:nvPr/>
        </p:nvSpPr>
        <p:spPr>
          <a:xfrm>
            <a:off x="4884225" y="2294950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32768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5" name="Google Shape;555;p39"/>
          <p:cNvSpPr/>
          <p:nvPr/>
        </p:nvSpPr>
        <p:spPr>
          <a:xfrm>
            <a:off x="3038525" y="2294950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16384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6" name="Google Shape;556;p39"/>
          <p:cNvSpPr/>
          <p:nvPr/>
        </p:nvSpPr>
        <p:spPr>
          <a:xfrm>
            <a:off x="3306450" y="3288125"/>
            <a:ext cx="924225" cy="562575"/>
          </a:xfrm>
          <a:prstGeom prst="flowChartDecision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7" name="Google Shape;557;p39"/>
          <p:cNvSpPr/>
          <p:nvPr/>
        </p:nvSpPr>
        <p:spPr>
          <a:xfrm>
            <a:off x="5366475" y="3307063"/>
            <a:ext cx="495600" cy="524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+</a:t>
            </a:r>
            <a:endParaRPr/>
          </a:p>
        </p:txBody>
      </p:sp>
      <p:sp>
        <p:nvSpPr>
          <p:cNvPr id="558" name="Google Shape;558;p39"/>
          <p:cNvSpPr/>
          <p:nvPr/>
        </p:nvSpPr>
        <p:spPr>
          <a:xfrm>
            <a:off x="1388575" y="3187675"/>
            <a:ext cx="736800" cy="763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59" name="Google Shape;559;p39"/>
          <p:cNvCxnSpPr>
            <a:stCxn id="558" idx="3"/>
            <a:endCxn id="556" idx="1"/>
          </p:cNvCxnSpPr>
          <p:nvPr/>
        </p:nvCxnSpPr>
        <p:spPr>
          <a:xfrm>
            <a:off x="2125375" y="3569425"/>
            <a:ext cx="118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0" name="Google Shape;560;p39"/>
          <p:cNvCxnSpPr>
            <a:stCxn id="555" idx="2"/>
            <a:endCxn id="556" idx="0"/>
          </p:cNvCxnSpPr>
          <p:nvPr/>
        </p:nvCxnSpPr>
        <p:spPr>
          <a:xfrm>
            <a:off x="3768575" y="2669950"/>
            <a:ext cx="0" cy="618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1" name="Google Shape;561;p39"/>
          <p:cNvCxnSpPr>
            <a:stCxn id="554" idx="2"/>
            <a:endCxn id="557" idx="0"/>
          </p:cNvCxnSpPr>
          <p:nvPr/>
        </p:nvCxnSpPr>
        <p:spPr>
          <a:xfrm>
            <a:off x="5614275" y="2669950"/>
            <a:ext cx="0" cy="6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2" name="Google Shape;562;p39"/>
          <p:cNvCxnSpPr>
            <a:stCxn id="556" idx="3"/>
            <a:endCxn id="557" idx="2"/>
          </p:cNvCxnSpPr>
          <p:nvPr/>
        </p:nvCxnSpPr>
        <p:spPr>
          <a:xfrm>
            <a:off x="4230675" y="3569413"/>
            <a:ext cx="113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3" name="Google Shape;563;p39"/>
          <p:cNvCxnSpPr/>
          <p:nvPr/>
        </p:nvCxnSpPr>
        <p:spPr>
          <a:xfrm>
            <a:off x="3768575" y="3850688"/>
            <a:ext cx="2400" cy="90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4" name="Google Shape;564;p39"/>
          <p:cNvSpPr txBox="1"/>
          <p:nvPr/>
        </p:nvSpPr>
        <p:spPr>
          <a:xfrm>
            <a:off x="3622188" y="3753550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No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5" name="Google Shape;565;p39"/>
          <p:cNvSpPr txBox="1"/>
          <p:nvPr/>
        </p:nvSpPr>
        <p:spPr>
          <a:xfrm>
            <a:off x="4134863" y="3153025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Yes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6" name="Google Shape;566;p39"/>
          <p:cNvSpPr/>
          <p:nvPr/>
        </p:nvSpPr>
        <p:spPr>
          <a:xfrm>
            <a:off x="7769125" y="1644025"/>
            <a:ext cx="2212800" cy="4665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9"/>
          <p:cNvSpPr/>
          <p:nvPr/>
        </p:nvSpPr>
        <p:spPr>
          <a:xfrm>
            <a:off x="10562725" y="2710175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32768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8" name="Google Shape;568;p39"/>
          <p:cNvSpPr/>
          <p:nvPr/>
        </p:nvSpPr>
        <p:spPr>
          <a:xfrm>
            <a:off x="10562725" y="5027375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49152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9" name="Google Shape;569;p39"/>
          <p:cNvCxnSpPr/>
          <p:nvPr/>
        </p:nvCxnSpPr>
        <p:spPr>
          <a:xfrm rot="10800000">
            <a:off x="9981925" y="2897675"/>
            <a:ext cx="58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0" name="Google Shape;570;p39"/>
          <p:cNvSpPr/>
          <p:nvPr/>
        </p:nvSpPr>
        <p:spPr>
          <a:xfrm>
            <a:off x="7769125" y="2897675"/>
            <a:ext cx="2212800" cy="23172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9"/>
          <p:cNvSpPr txBox="1"/>
          <p:nvPr/>
        </p:nvSpPr>
        <p:spPr>
          <a:xfrm>
            <a:off x="7769125" y="3366125"/>
            <a:ext cx="2212800" cy="46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lw $S0, 15360</a:t>
            </a:r>
            <a:endParaRPr sz="2200" b="1" dirty="0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2" name="Google Shape;572;p39"/>
          <p:cNvSpPr txBox="1"/>
          <p:nvPr/>
        </p:nvSpPr>
        <p:spPr>
          <a:xfrm>
            <a:off x="7769125" y="4297700"/>
            <a:ext cx="2212800" cy="461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2200" b="1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73" name="Google Shape;573;p39"/>
          <p:cNvCxnSpPr/>
          <p:nvPr/>
        </p:nvCxnSpPr>
        <p:spPr>
          <a:xfrm rot="10800000">
            <a:off x="9981925" y="5214875"/>
            <a:ext cx="58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4" name="Google Shape;574;p39"/>
          <p:cNvCxnSpPr/>
          <p:nvPr/>
        </p:nvCxnSpPr>
        <p:spPr>
          <a:xfrm rot="10800000" flipH="1">
            <a:off x="5862075" y="3567313"/>
            <a:ext cx="18912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5" name="Google Shape;575;p39"/>
          <p:cNvSpPr txBox="1"/>
          <p:nvPr/>
        </p:nvSpPr>
        <p:spPr>
          <a:xfrm>
            <a:off x="10056150" y="3335150"/>
            <a:ext cx="12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32896</a:t>
            </a:r>
            <a:endParaRPr dirty="0"/>
          </a:p>
        </p:txBody>
      </p:sp>
      <p:sp>
        <p:nvSpPr>
          <p:cNvPr id="576" name="Google Shape;576;p39"/>
          <p:cNvSpPr txBox="1"/>
          <p:nvPr/>
        </p:nvSpPr>
        <p:spPr>
          <a:xfrm>
            <a:off x="10056150" y="4265225"/>
            <a:ext cx="12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48128</a:t>
            </a:r>
            <a:endParaRPr/>
          </a:p>
        </p:txBody>
      </p:sp>
      <p:sp>
        <p:nvSpPr>
          <p:cNvPr id="577" name="Google Shape;577;p39"/>
          <p:cNvSpPr txBox="1"/>
          <p:nvPr/>
        </p:nvSpPr>
        <p:spPr>
          <a:xfrm>
            <a:off x="6328107" y="3076825"/>
            <a:ext cx="113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48128</a:t>
            </a:r>
            <a:endParaRPr sz="2000" b="1" dirty="0">
              <a:solidFill>
                <a:srgbClr val="0B6937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8" name="Google Shape;578;p39"/>
          <p:cNvSpPr txBox="1"/>
          <p:nvPr/>
        </p:nvSpPr>
        <p:spPr>
          <a:xfrm>
            <a:off x="903725" y="2753525"/>
            <a:ext cx="1749300" cy="37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lw $S0, 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15360</a:t>
            </a:r>
            <a:endParaRPr sz="1800" b="1" dirty="0">
              <a:solidFill>
                <a:srgbClr val="FF0000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9" name="Google Shape;579;p39"/>
          <p:cNvSpPr/>
          <p:nvPr/>
        </p:nvSpPr>
        <p:spPr>
          <a:xfrm>
            <a:off x="1723425" y="4089800"/>
            <a:ext cx="6456175" cy="1529200"/>
          </a:xfrm>
          <a:custGeom>
            <a:avLst/>
            <a:gdLst/>
            <a:ahLst/>
            <a:cxnLst/>
            <a:rect l="l" t="t" r="r" b="b"/>
            <a:pathLst>
              <a:path w="258247" h="61168" extrusionOk="0">
                <a:moveTo>
                  <a:pt x="258247" y="24646"/>
                </a:moveTo>
                <a:cubicBezTo>
                  <a:pt x="256640" y="26253"/>
                  <a:pt x="253782" y="30540"/>
                  <a:pt x="248603" y="34290"/>
                </a:cubicBezTo>
                <a:cubicBezTo>
                  <a:pt x="243424" y="38041"/>
                  <a:pt x="235386" y="43934"/>
                  <a:pt x="227171" y="47149"/>
                </a:cubicBezTo>
                <a:cubicBezTo>
                  <a:pt x="218956" y="50364"/>
                  <a:pt x="209669" y="51792"/>
                  <a:pt x="199311" y="53578"/>
                </a:cubicBezTo>
                <a:cubicBezTo>
                  <a:pt x="188953" y="55364"/>
                  <a:pt x="176630" y="56614"/>
                  <a:pt x="165021" y="57864"/>
                </a:cubicBezTo>
                <a:cubicBezTo>
                  <a:pt x="153412" y="59114"/>
                  <a:pt x="144661" y="61258"/>
                  <a:pt x="129659" y="61079"/>
                </a:cubicBezTo>
                <a:cubicBezTo>
                  <a:pt x="114657" y="60901"/>
                  <a:pt x="89565" y="58936"/>
                  <a:pt x="75010" y="56793"/>
                </a:cubicBezTo>
                <a:cubicBezTo>
                  <a:pt x="60455" y="54650"/>
                  <a:pt x="51346" y="51792"/>
                  <a:pt x="42327" y="48220"/>
                </a:cubicBezTo>
                <a:cubicBezTo>
                  <a:pt x="33308" y="44648"/>
                  <a:pt x="26879" y="40272"/>
                  <a:pt x="20896" y="35361"/>
                </a:cubicBezTo>
                <a:cubicBezTo>
                  <a:pt x="14913" y="30450"/>
                  <a:pt x="9913" y="24646"/>
                  <a:pt x="6430" y="18752"/>
                </a:cubicBezTo>
                <a:cubicBezTo>
                  <a:pt x="2947" y="12859"/>
                  <a:pt x="1072" y="3125"/>
                  <a:pt x="0" y="0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80" name="Google Shape;580;p39"/>
          <p:cNvSpPr txBox="1"/>
          <p:nvPr/>
        </p:nvSpPr>
        <p:spPr>
          <a:xfrm>
            <a:off x="4434975" y="5784075"/>
            <a:ext cx="727200" cy="375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800" b="1" dirty="0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1" name="Google Shape;581;p39"/>
          <p:cNvSpPr txBox="1"/>
          <p:nvPr/>
        </p:nvSpPr>
        <p:spPr>
          <a:xfrm>
            <a:off x="3768575" y="4430275"/>
            <a:ext cx="201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Protection fault</a:t>
            </a:r>
            <a:endParaRPr sz="1600" b="1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0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1138482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87" name="Google Shape;58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850" y="1102800"/>
            <a:ext cx="2150500" cy="488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125" y="1102800"/>
            <a:ext cx="8303999" cy="516572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0"/>
          <p:cNvSpPr/>
          <p:nvPr/>
        </p:nvSpPr>
        <p:spPr>
          <a:xfrm>
            <a:off x="1614775" y="6079100"/>
            <a:ext cx="496500" cy="508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90" name="Google Shape;59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4926" y="6049075"/>
            <a:ext cx="585500" cy="58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1" name="Google Shape;591;p40"/>
          <p:cNvCxnSpPr/>
          <p:nvPr/>
        </p:nvCxnSpPr>
        <p:spPr>
          <a:xfrm rot="10800000" flipH="1">
            <a:off x="2165500" y="6320075"/>
            <a:ext cx="475200" cy="360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92" name="Google Shape;592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56125" y="6079100"/>
            <a:ext cx="701150" cy="701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40"/>
          <p:cNvCxnSpPr/>
          <p:nvPr/>
        </p:nvCxnSpPr>
        <p:spPr>
          <a:xfrm flipH="1">
            <a:off x="3518375" y="1030250"/>
            <a:ext cx="11700" cy="56916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290285" y="96038"/>
            <a:ext cx="1042125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93871" y="889562"/>
            <a:ext cx="10877400" cy="151981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r>
              <a:rPr lang="es-ES" sz="2400" dirty="0">
                <a:solidFill>
                  <a:schemeClr val="accent5"/>
                </a:solidFill>
                <a:latin typeface="+mn-lt"/>
              </a:rPr>
              <a:t>:</a:t>
            </a:r>
            <a:endParaRPr sz="2400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Un proceso con un espacio de direccionamiento de 4KB fue asignado a una memoria física de 64K a partir de 16KB. Teniendo en cuenta lo anterior, realizar la traducción de direcciones virtuales a físicas mostradas en la siguiente tabla: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00" name="Google Shape;600;p41"/>
          <p:cNvGraphicFramePr/>
          <p:nvPr>
            <p:extLst>
              <p:ext uri="{D42A27DB-BD31-4B8C-83A1-F6EECF244321}">
                <p14:modId xmlns:p14="http://schemas.microsoft.com/office/powerpoint/2010/main" val="1416179546"/>
              </p:ext>
            </p:extLst>
          </p:nvPr>
        </p:nvGraphicFramePr>
        <p:xfrm>
          <a:off x="3622601" y="2712510"/>
          <a:ext cx="4946798" cy="23163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03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chemeClr val="bg1"/>
                          </a:solidFill>
                        </a:rPr>
                        <a:t>Virtual Address (VA)</a:t>
                      </a:r>
                      <a:endParaRPr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chemeClr val="bg1"/>
                          </a:solidFill>
                        </a:rPr>
                        <a:t>Physical Address (PA)</a:t>
                      </a:r>
                      <a:endParaRPr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413657" y="96038"/>
            <a:ext cx="1113433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600" name="Google Shape;600;p41"/>
          <p:cNvGraphicFramePr/>
          <p:nvPr>
            <p:extLst>
              <p:ext uri="{D42A27DB-BD31-4B8C-83A1-F6EECF244321}">
                <p14:modId xmlns:p14="http://schemas.microsoft.com/office/powerpoint/2010/main" val="1053459850"/>
              </p:ext>
            </p:extLst>
          </p:nvPr>
        </p:nvGraphicFramePr>
        <p:xfrm>
          <a:off x="413657" y="2157945"/>
          <a:ext cx="2351314" cy="21944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Virtual Address (VA)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Physical Address (PA)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Google Shape;599;p41">
            <a:extLst>
              <a:ext uri="{FF2B5EF4-FFF2-40B4-BE49-F238E27FC236}">
                <a16:creationId xmlns:a16="http://schemas.microsoft.com/office/drawing/2014/main" id="{F5373712-1144-4991-931E-1B73F446C14C}"/>
              </a:ext>
            </a:extLst>
          </p:cNvPr>
          <p:cNvSpPr txBox="1">
            <a:spLocks/>
          </p:cNvSpPr>
          <p:nvPr/>
        </p:nvSpPr>
        <p:spPr>
          <a:xfrm>
            <a:off x="304331" y="1026745"/>
            <a:ext cx="11583337" cy="10574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r>
              <a:rPr lang="es-MX" sz="2000" b="1" dirty="0">
                <a:latin typeface="+mn-lt"/>
              </a:rPr>
              <a:t>Solución</a:t>
            </a:r>
            <a:r>
              <a:rPr lang="es-MX" sz="2000" dirty="0">
                <a:latin typeface="+mn-lt"/>
              </a:rPr>
              <a:t>: Un proceso con un espacio de direccionamiento de 4KB fue asignado a una memoria física de 64k a partir de 16KB. Teniendo en cuenta lo anterior, realizar la traducción de direcciones virtuales a físicas mostradas en la siguiente tabla:</a:t>
            </a: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SzPts val="1100"/>
              <a:buFont typeface="Arial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45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413657" y="96038"/>
            <a:ext cx="1113433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600" name="Google Shape;600;p41"/>
          <p:cNvGraphicFramePr/>
          <p:nvPr/>
        </p:nvGraphicFramePr>
        <p:xfrm>
          <a:off x="413657" y="2157945"/>
          <a:ext cx="2351314" cy="21944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Virtual Address (VA)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Physical Address (PA)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Google Shape;599;p41">
            <a:extLst>
              <a:ext uri="{FF2B5EF4-FFF2-40B4-BE49-F238E27FC236}">
                <a16:creationId xmlns:a16="http://schemas.microsoft.com/office/drawing/2014/main" id="{F5373712-1144-4991-931E-1B73F446C14C}"/>
              </a:ext>
            </a:extLst>
          </p:cNvPr>
          <p:cNvSpPr txBox="1">
            <a:spLocks/>
          </p:cNvSpPr>
          <p:nvPr/>
        </p:nvSpPr>
        <p:spPr>
          <a:xfrm>
            <a:off x="304331" y="1026745"/>
            <a:ext cx="11583337" cy="10574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r>
              <a:rPr lang="es-MX" sz="2000" b="1" dirty="0">
                <a:latin typeface="+mn-lt"/>
              </a:rPr>
              <a:t>Solución</a:t>
            </a:r>
            <a:r>
              <a:rPr lang="es-MX" sz="2000" dirty="0">
                <a:latin typeface="+mn-lt"/>
              </a:rPr>
              <a:t>: Un proceso con un espacio de direccionamiento de 4KB fue asignado a una memoria física de 64k a partir de 16KB. Teniendo en cuenta lo anterior, realizar la traducción de direcciones virtuales a físicas mostradas en la siguiente tabla:</a:t>
            </a: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SzPts val="1100"/>
              <a:buFont typeface="Arial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7775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2"/>
          <p:cNvSpPr txBox="1">
            <a:spLocks noGrp="1"/>
          </p:cNvSpPr>
          <p:nvPr>
            <p:ph type="title"/>
          </p:nvPr>
        </p:nvSpPr>
        <p:spPr>
          <a:xfrm>
            <a:off x="368710" y="96038"/>
            <a:ext cx="1124409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06" name="Google Shape;606;p42"/>
          <p:cNvSpPr txBox="1">
            <a:spLocks noGrp="1"/>
          </p:cNvSpPr>
          <p:nvPr>
            <p:ph type="body" idx="1"/>
          </p:nvPr>
        </p:nvSpPr>
        <p:spPr>
          <a:xfrm>
            <a:off x="368709" y="904075"/>
            <a:ext cx="11454581" cy="215186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Respuestas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Un proceso con un espacio de direccionamiento de 4KB fue asignado a una memoria física de 64k a partir de 16KB. Teniendo en cuenta lo anterior, realizar la traducción de direcciones virtuales a físicas mostradas en la siguiente tabla: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ES" sz="1800" b="1" dirty="0">
                <a:latin typeface="Consolas" panose="020B0609020204030204" pitchFamily="49" charset="0"/>
              </a:rPr>
              <a:t>b</a:t>
            </a:r>
            <a:r>
              <a:rPr lang="es-MX" sz="1800" b="1" dirty="0" err="1">
                <a:latin typeface="Consolas" panose="020B0609020204030204" pitchFamily="49" charset="0"/>
              </a:rPr>
              <a:t>ounds</a:t>
            </a:r>
            <a:r>
              <a:rPr lang="es-MX" sz="1800" b="1" dirty="0">
                <a:latin typeface="Consolas" panose="020B0609020204030204" pitchFamily="49" charset="0"/>
              </a:rPr>
              <a:t> = 4K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1800" b="1" dirty="0">
                <a:latin typeface="Consolas" panose="020B0609020204030204" pitchFamily="49" charset="0"/>
              </a:rPr>
              <a:t>base = 16k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1800" b="1" dirty="0" err="1">
                <a:latin typeface="Consolas" panose="020B0609020204030204" pitchFamily="49" charset="0"/>
              </a:rPr>
              <a:t>size</a:t>
            </a:r>
            <a:r>
              <a:rPr lang="es-MX" sz="1800" b="1" dirty="0">
                <a:latin typeface="Consolas" panose="020B0609020204030204" pitchFamily="49" charset="0"/>
              </a:rPr>
              <a:t>(AS) = 4K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1800" b="1" dirty="0" err="1">
                <a:latin typeface="Consolas" panose="020B0609020204030204" pitchFamily="49" charset="0"/>
              </a:rPr>
              <a:t>size</a:t>
            </a:r>
            <a:r>
              <a:rPr lang="es-MX" sz="1800" b="1" dirty="0">
                <a:latin typeface="Consolas" panose="020B0609020204030204" pitchFamily="49" charset="0"/>
              </a:rPr>
              <a:t>(PM) = 64 K</a:t>
            </a:r>
            <a:endParaRPr sz="1800" b="1" dirty="0">
              <a:latin typeface="Consolas" panose="020B0609020204030204" pitchFamily="49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07" name="Google Shape;607;p42"/>
          <p:cNvGraphicFramePr/>
          <p:nvPr>
            <p:extLst>
              <p:ext uri="{D42A27DB-BD31-4B8C-83A1-F6EECF244321}">
                <p14:modId xmlns:p14="http://schemas.microsoft.com/office/powerpoint/2010/main" val="597006781"/>
              </p:ext>
            </p:extLst>
          </p:nvPr>
        </p:nvGraphicFramePr>
        <p:xfrm>
          <a:off x="738315" y="4114533"/>
          <a:ext cx="4150616" cy="22248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75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bg1"/>
                          </a:solidFill>
                        </a:rPr>
                        <a:t>Virtual Address (VA)</a:t>
                      </a:r>
                      <a:endParaRPr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bg1"/>
                          </a:solidFill>
                        </a:rPr>
                        <a:t>Physical Address (PA)</a:t>
                      </a:r>
                      <a:endParaRPr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 KB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 KB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19684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 err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Fault</a:t>
                      </a:r>
                      <a:r>
                        <a:rPr lang="es-ES" sz="14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s-ES" sz="1400" dirty="0" err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Out</a:t>
                      </a:r>
                      <a:r>
                        <a:rPr lang="es-ES" sz="14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es-ES" sz="14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bounds)</a:t>
                      </a:r>
                      <a:endParaRPr sz="14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oogle Shape;351;p25">
            <a:extLst>
              <a:ext uri="{FF2B5EF4-FFF2-40B4-BE49-F238E27FC236}">
                <a16:creationId xmlns:a16="http://schemas.microsoft.com/office/drawing/2014/main" id="{E7540781-DC54-482B-99B5-28F3C94A73A2}"/>
              </a:ext>
            </a:extLst>
          </p:cNvPr>
          <p:cNvGrpSpPr/>
          <p:nvPr/>
        </p:nvGrpSpPr>
        <p:grpSpPr>
          <a:xfrm>
            <a:off x="6772988" y="3481050"/>
            <a:ext cx="936207" cy="2406005"/>
            <a:chOff x="1775100" y="4022850"/>
            <a:chExt cx="1076100" cy="1739700"/>
          </a:xfrm>
        </p:grpSpPr>
        <p:sp>
          <p:nvSpPr>
            <p:cNvPr id="6" name="Google Shape;352;p25">
              <a:extLst>
                <a:ext uri="{FF2B5EF4-FFF2-40B4-BE49-F238E27FC236}">
                  <a16:creationId xmlns:a16="http://schemas.microsoft.com/office/drawing/2014/main" id="{6832411D-27AD-4360-9616-8497FC8E1639}"/>
                </a:ext>
              </a:extLst>
            </p:cNvPr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353;p25">
              <a:extLst>
                <a:ext uri="{FF2B5EF4-FFF2-40B4-BE49-F238E27FC236}">
                  <a16:creationId xmlns:a16="http://schemas.microsoft.com/office/drawing/2014/main" id="{636012A8-16D4-480D-9DBC-D86B7228C6B1}"/>
                </a:ext>
              </a:extLst>
            </p:cNvPr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8" name="Google Shape;354;p25">
                <a:extLst>
                  <a:ext uri="{FF2B5EF4-FFF2-40B4-BE49-F238E27FC236}">
                    <a16:creationId xmlns:a16="http://schemas.microsoft.com/office/drawing/2014/main" id="{2747CAE4-BDE9-409D-94C2-8C4B916BE0CF}"/>
                  </a:ext>
                </a:extLst>
              </p:cNvPr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9" name="Google Shape;355;p25">
                <a:extLst>
                  <a:ext uri="{FF2B5EF4-FFF2-40B4-BE49-F238E27FC236}">
                    <a16:creationId xmlns:a16="http://schemas.microsoft.com/office/drawing/2014/main" id="{CD2A7B46-A19C-4963-958A-BC41E244B0B5}"/>
                  </a:ext>
                </a:extLst>
              </p:cNvPr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 sz="1600"/>
              </a:p>
            </p:txBody>
          </p:sp>
          <p:sp>
            <p:nvSpPr>
              <p:cNvPr id="10" name="Google Shape;356;p25">
                <a:extLst>
                  <a:ext uri="{FF2B5EF4-FFF2-40B4-BE49-F238E27FC236}">
                    <a16:creationId xmlns:a16="http://schemas.microsoft.com/office/drawing/2014/main" id="{D64312DA-1EBA-4489-B833-F199CE3D3D27}"/>
                  </a:ext>
                </a:extLst>
              </p:cNvPr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1600" dirty="0"/>
              </a:p>
            </p:txBody>
          </p:sp>
          <p:sp>
            <p:nvSpPr>
              <p:cNvPr id="11" name="Google Shape;357;p25">
                <a:extLst>
                  <a:ext uri="{FF2B5EF4-FFF2-40B4-BE49-F238E27FC236}">
                    <a16:creationId xmlns:a16="http://schemas.microsoft.com/office/drawing/2014/main" id="{AB5533BC-680E-44AD-8D25-6A35B5BE4CC9}"/>
                  </a:ext>
                </a:extLst>
              </p:cNvPr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1600" dirty="0"/>
              </a:p>
            </p:txBody>
          </p:sp>
          <p:cxnSp>
            <p:nvCxnSpPr>
              <p:cNvPr id="12" name="Google Shape;358;p25">
                <a:extLst>
                  <a:ext uri="{FF2B5EF4-FFF2-40B4-BE49-F238E27FC236}">
                    <a16:creationId xmlns:a16="http://schemas.microsoft.com/office/drawing/2014/main" id="{63EA6D10-27B4-4936-8E72-28588E3AD66A}"/>
                  </a:ext>
                </a:extLst>
              </p:cNvPr>
              <p:cNvCxnSpPr>
                <a:stCxn id="10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" name="Google Shape;359;p25">
                <a:extLst>
                  <a:ext uri="{FF2B5EF4-FFF2-40B4-BE49-F238E27FC236}">
                    <a16:creationId xmlns:a16="http://schemas.microsoft.com/office/drawing/2014/main" id="{858C0705-8A2C-466A-ACC2-997416C903B2}"/>
                  </a:ext>
                </a:extLst>
              </p:cNvPr>
              <p:cNvCxnSpPr>
                <a:stCxn id="11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14" name="Google Shape;360;p25">
            <a:extLst>
              <a:ext uri="{FF2B5EF4-FFF2-40B4-BE49-F238E27FC236}">
                <a16:creationId xmlns:a16="http://schemas.microsoft.com/office/drawing/2014/main" id="{DCBB4B3A-D60F-41DB-A8AB-F40BD93849DD}"/>
              </a:ext>
            </a:extLst>
          </p:cNvPr>
          <p:cNvCxnSpPr/>
          <p:nvPr/>
        </p:nvCxnSpPr>
        <p:spPr>
          <a:xfrm rot="10800000" flipH="1">
            <a:off x="7709201" y="3446862"/>
            <a:ext cx="1911300" cy="34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5" name="Google Shape;361;p25">
            <a:extLst>
              <a:ext uri="{FF2B5EF4-FFF2-40B4-BE49-F238E27FC236}">
                <a16:creationId xmlns:a16="http://schemas.microsoft.com/office/drawing/2014/main" id="{5EF00FA7-8ED4-4FBA-8073-C8F91B8117DC}"/>
              </a:ext>
            </a:extLst>
          </p:cNvPr>
          <p:cNvCxnSpPr/>
          <p:nvPr/>
        </p:nvCxnSpPr>
        <p:spPr>
          <a:xfrm rot="10800000" flipH="1">
            <a:off x="7752101" y="5866762"/>
            <a:ext cx="1839600" cy="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Google Shape;362;p25">
            <a:extLst>
              <a:ext uri="{FF2B5EF4-FFF2-40B4-BE49-F238E27FC236}">
                <a16:creationId xmlns:a16="http://schemas.microsoft.com/office/drawing/2014/main" id="{26CBEB66-1014-4C15-B2D3-AE6EE245679F}"/>
              </a:ext>
            </a:extLst>
          </p:cNvPr>
          <p:cNvSpPr/>
          <p:nvPr/>
        </p:nvSpPr>
        <p:spPr>
          <a:xfrm>
            <a:off x="9645151" y="2290362"/>
            <a:ext cx="933000" cy="444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363;p25">
            <a:extLst>
              <a:ext uri="{FF2B5EF4-FFF2-40B4-BE49-F238E27FC236}">
                <a16:creationId xmlns:a16="http://schemas.microsoft.com/office/drawing/2014/main" id="{4843F6C8-4C76-4742-A6BF-B28746074ED3}"/>
              </a:ext>
            </a:extLst>
          </p:cNvPr>
          <p:cNvGrpSpPr/>
          <p:nvPr/>
        </p:nvGrpSpPr>
        <p:grpSpPr>
          <a:xfrm>
            <a:off x="9645163" y="3439250"/>
            <a:ext cx="936207" cy="2406005"/>
            <a:chOff x="1775100" y="4022850"/>
            <a:chExt cx="1076100" cy="1739700"/>
          </a:xfrm>
        </p:grpSpPr>
        <p:sp>
          <p:nvSpPr>
            <p:cNvPr id="18" name="Google Shape;364;p25">
              <a:extLst>
                <a:ext uri="{FF2B5EF4-FFF2-40B4-BE49-F238E27FC236}">
                  <a16:creationId xmlns:a16="http://schemas.microsoft.com/office/drawing/2014/main" id="{0D82D2A0-B542-4BFA-AB3D-E0E0BE87C32B}"/>
                </a:ext>
              </a:extLst>
            </p:cNvPr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365;p25">
              <a:extLst>
                <a:ext uri="{FF2B5EF4-FFF2-40B4-BE49-F238E27FC236}">
                  <a16:creationId xmlns:a16="http://schemas.microsoft.com/office/drawing/2014/main" id="{7B362161-EEEC-4129-8EC5-936248915A5B}"/>
                </a:ext>
              </a:extLst>
            </p:cNvPr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20" name="Google Shape;366;p25">
                <a:extLst>
                  <a:ext uri="{FF2B5EF4-FFF2-40B4-BE49-F238E27FC236}">
                    <a16:creationId xmlns:a16="http://schemas.microsoft.com/office/drawing/2014/main" id="{9D0E86CA-56F1-464E-8142-3968402C79C2}"/>
                  </a:ext>
                </a:extLst>
              </p:cNvPr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1" name="Google Shape;367;p25">
                <a:extLst>
                  <a:ext uri="{FF2B5EF4-FFF2-40B4-BE49-F238E27FC236}">
                    <a16:creationId xmlns:a16="http://schemas.microsoft.com/office/drawing/2014/main" id="{EA8B4B6A-F48F-448D-9380-C377E3664FD4}"/>
                  </a:ext>
                </a:extLst>
              </p:cNvPr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 sz="1600"/>
              </a:p>
            </p:txBody>
          </p:sp>
          <p:sp>
            <p:nvSpPr>
              <p:cNvPr id="22" name="Google Shape;368;p25">
                <a:extLst>
                  <a:ext uri="{FF2B5EF4-FFF2-40B4-BE49-F238E27FC236}">
                    <a16:creationId xmlns:a16="http://schemas.microsoft.com/office/drawing/2014/main" id="{0717C1CB-B5C5-4665-A6CC-EC2661B16A53}"/>
                  </a:ext>
                </a:extLst>
              </p:cNvPr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1600" dirty="0"/>
              </a:p>
            </p:txBody>
          </p:sp>
          <p:sp>
            <p:nvSpPr>
              <p:cNvPr id="23" name="Google Shape;369;p25">
                <a:extLst>
                  <a:ext uri="{FF2B5EF4-FFF2-40B4-BE49-F238E27FC236}">
                    <a16:creationId xmlns:a16="http://schemas.microsoft.com/office/drawing/2014/main" id="{DD705F41-2870-4056-95E9-7A6B90C81804}"/>
                  </a:ext>
                </a:extLst>
              </p:cNvPr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1600" dirty="0"/>
              </a:p>
            </p:txBody>
          </p:sp>
          <p:cxnSp>
            <p:nvCxnSpPr>
              <p:cNvPr id="24" name="Google Shape;370;p25">
                <a:extLst>
                  <a:ext uri="{FF2B5EF4-FFF2-40B4-BE49-F238E27FC236}">
                    <a16:creationId xmlns:a16="http://schemas.microsoft.com/office/drawing/2014/main" id="{BCD1BD10-4995-48C3-84AC-43076E1429E3}"/>
                  </a:ext>
                </a:extLst>
              </p:cNvPr>
              <p:cNvCxnSpPr>
                <a:stCxn id="22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5" name="Google Shape;371;p25">
                <a:extLst>
                  <a:ext uri="{FF2B5EF4-FFF2-40B4-BE49-F238E27FC236}">
                    <a16:creationId xmlns:a16="http://schemas.microsoft.com/office/drawing/2014/main" id="{6CE33968-5EA9-4E1C-9DC6-FD3CD4FA018C}"/>
                  </a:ext>
                </a:extLst>
              </p:cNvPr>
              <p:cNvCxnSpPr>
                <a:stCxn id="23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26" name="Google Shape;372;p25">
            <a:extLst>
              <a:ext uri="{FF2B5EF4-FFF2-40B4-BE49-F238E27FC236}">
                <a16:creationId xmlns:a16="http://schemas.microsoft.com/office/drawing/2014/main" id="{8389DAFD-7A2D-494F-8FFF-BF951E0707CC}"/>
              </a:ext>
            </a:extLst>
          </p:cNvPr>
          <p:cNvCxnSpPr/>
          <p:nvPr/>
        </p:nvCxnSpPr>
        <p:spPr>
          <a:xfrm>
            <a:off x="6267526" y="3481062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373;p25">
            <a:extLst>
              <a:ext uri="{FF2B5EF4-FFF2-40B4-BE49-F238E27FC236}">
                <a16:creationId xmlns:a16="http://schemas.microsoft.com/office/drawing/2014/main" id="{8A1ED980-0BD4-482C-93AE-E8129399CB4F}"/>
              </a:ext>
            </a:extLst>
          </p:cNvPr>
          <p:cNvCxnSpPr/>
          <p:nvPr/>
        </p:nvCxnSpPr>
        <p:spPr>
          <a:xfrm>
            <a:off x="6267526" y="3929587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374;p25">
            <a:extLst>
              <a:ext uri="{FF2B5EF4-FFF2-40B4-BE49-F238E27FC236}">
                <a16:creationId xmlns:a16="http://schemas.microsoft.com/office/drawing/2014/main" id="{E0F422DC-3DB4-4A85-A011-10EA4AD5DC0F}"/>
              </a:ext>
            </a:extLst>
          </p:cNvPr>
          <p:cNvCxnSpPr/>
          <p:nvPr/>
        </p:nvCxnSpPr>
        <p:spPr>
          <a:xfrm>
            <a:off x="6267526" y="5212387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375;p25">
            <a:extLst>
              <a:ext uri="{FF2B5EF4-FFF2-40B4-BE49-F238E27FC236}">
                <a16:creationId xmlns:a16="http://schemas.microsoft.com/office/drawing/2014/main" id="{A047027E-340D-453A-A23F-0F8499D47BB3}"/>
              </a:ext>
            </a:extLst>
          </p:cNvPr>
          <p:cNvCxnSpPr/>
          <p:nvPr/>
        </p:nvCxnSpPr>
        <p:spPr>
          <a:xfrm>
            <a:off x="6267526" y="6304312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376;p25">
            <a:extLst>
              <a:ext uri="{FF2B5EF4-FFF2-40B4-BE49-F238E27FC236}">
                <a16:creationId xmlns:a16="http://schemas.microsoft.com/office/drawing/2014/main" id="{834BBD9A-CE25-474A-94AE-3E53F648D028}"/>
              </a:ext>
            </a:extLst>
          </p:cNvPr>
          <p:cNvCxnSpPr/>
          <p:nvPr/>
        </p:nvCxnSpPr>
        <p:spPr>
          <a:xfrm>
            <a:off x="9246176" y="3439262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377;p25">
            <a:extLst>
              <a:ext uri="{FF2B5EF4-FFF2-40B4-BE49-F238E27FC236}">
                <a16:creationId xmlns:a16="http://schemas.microsoft.com/office/drawing/2014/main" id="{8618A924-DFD4-44A1-8C38-E24AA6A1DDAF}"/>
              </a:ext>
            </a:extLst>
          </p:cNvPr>
          <p:cNvCxnSpPr/>
          <p:nvPr/>
        </p:nvCxnSpPr>
        <p:spPr>
          <a:xfrm>
            <a:off x="9246176" y="3929587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378;p25">
            <a:extLst>
              <a:ext uri="{FF2B5EF4-FFF2-40B4-BE49-F238E27FC236}">
                <a16:creationId xmlns:a16="http://schemas.microsoft.com/office/drawing/2014/main" id="{7BEB7F5F-8CE4-4E56-828B-9BED83F1264E}"/>
              </a:ext>
            </a:extLst>
          </p:cNvPr>
          <p:cNvCxnSpPr/>
          <p:nvPr/>
        </p:nvCxnSpPr>
        <p:spPr>
          <a:xfrm>
            <a:off x="9211051" y="5212387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" name="Google Shape;379;p25">
            <a:extLst>
              <a:ext uri="{FF2B5EF4-FFF2-40B4-BE49-F238E27FC236}">
                <a16:creationId xmlns:a16="http://schemas.microsoft.com/office/drawing/2014/main" id="{DD00618E-45A4-4F44-8800-85AF29EE884D}"/>
              </a:ext>
            </a:extLst>
          </p:cNvPr>
          <p:cNvSpPr txBox="1"/>
          <p:nvPr/>
        </p:nvSpPr>
        <p:spPr>
          <a:xfrm>
            <a:off x="5800726" y="3311712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0 KB</a:t>
            </a:r>
            <a:endParaRPr sz="1000"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Google Shape;380;p25">
            <a:extLst>
              <a:ext uri="{FF2B5EF4-FFF2-40B4-BE49-F238E27FC236}">
                <a16:creationId xmlns:a16="http://schemas.microsoft.com/office/drawing/2014/main" id="{67CF6F63-6C04-4C67-BEC4-E7ECF6BAB55A}"/>
              </a:ext>
            </a:extLst>
          </p:cNvPr>
          <p:cNvSpPr txBox="1"/>
          <p:nvPr/>
        </p:nvSpPr>
        <p:spPr>
          <a:xfrm>
            <a:off x="8682976" y="3269912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16 KB</a:t>
            </a:r>
            <a:endParaRPr sz="1000"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" name="Google Shape;381;p25">
            <a:extLst>
              <a:ext uri="{FF2B5EF4-FFF2-40B4-BE49-F238E27FC236}">
                <a16:creationId xmlns:a16="http://schemas.microsoft.com/office/drawing/2014/main" id="{B2B4D790-4F23-440E-9ACD-0C080479AA59}"/>
              </a:ext>
            </a:extLst>
          </p:cNvPr>
          <p:cNvSpPr txBox="1"/>
          <p:nvPr/>
        </p:nvSpPr>
        <p:spPr>
          <a:xfrm>
            <a:off x="5800726" y="3760237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 KB</a:t>
            </a:r>
            <a:endParaRPr sz="10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" name="Google Shape;382;p25">
            <a:extLst>
              <a:ext uri="{FF2B5EF4-FFF2-40B4-BE49-F238E27FC236}">
                <a16:creationId xmlns:a16="http://schemas.microsoft.com/office/drawing/2014/main" id="{9352FDD2-EEBD-48D2-B875-87AAD77438A2}"/>
              </a:ext>
            </a:extLst>
          </p:cNvPr>
          <p:cNvSpPr txBox="1"/>
          <p:nvPr/>
        </p:nvSpPr>
        <p:spPr>
          <a:xfrm>
            <a:off x="8683076" y="3760237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17 KB</a:t>
            </a:r>
            <a:endParaRPr sz="10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" name="Google Shape;383;p25">
            <a:extLst>
              <a:ext uri="{FF2B5EF4-FFF2-40B4-BE49-F238E27FC236}">
                <a16:creationId xmlns:a16="http://schemas.microsoft.com/office/drawing/2014/main" id="{B08DE874-F86A-45FF-B522-CF7248A6B210}"/>
              </a:ext>
            </a:extLst>
          </p:cNvPr>
          <p:cNvSpPr txBox="1"/>
          <p:nvPr/>
        </p:nvSpPr>
        <p:spPr>
          <a:xfrm>
            <a:off x="5800726" y="5043037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3300</a:t>
            </a:r>
            <a:endParaRPr sz="1000" b="1">
              <a:solidFill>
                <a:srgbClr val="88888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" name="Google Shape;384;p25">
            <a:extLst>
              <a:ext uri="{FF2B5EF4-FFF2-40B4-BE49-F238E27FC236}">
                <a16:creationId xmlns:a16="http://schemas.microsoft.com/office/drawing/2014/main" id="{6AA366E0-3F1B-49D1-B5A7-6BF30D50C3BB}"/>
              </a:ext>
            </a:extLst>
          </p:cNvPr>
          <p:cNvSpPr txBox="1"/>
          <p:nvPr/>
        </p:nvSpPr>
        <p:spPr>
          <a:xfrm>
            <a:off x="8634826" y="5043037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19684</a:t>
            </a:r>
            <a:endParaRPr sz="1000" b="1">
              <a:solidFill>
                <a:srgbClr val="88888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" name="Google Shape;385;p25">
            <a:extLst>
              <a:ext uri="{FF2B5EF4-FFF2-40B4-BE49-F238E27FC236}">
                <a16:creationId xmlns:a16="http://schemas.microsoft.com/office/drawing/2014/main" id="{85F6026C-3066-49E7-A342-C58166D6D003}"/>
              </a:ext>
            </a:extLst>
          </p:cNvPr>
          <p:cNvSpPr txBox="1"/>
          <p:nvPr/>
        </p:nvSpPr>
        <p:spPr>
          <a:xfrm>
            <a:off x="5800726" y="6134962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4400</a:t>
            </a:r>
            <a:endParaRPr sz="1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0" name="Google Shape;386;p25">
            <a:extLst>
              <a:ext uri="{FF2B5EF4-FFF2-40B4-BE49-F238E27FC236}">
                <a16:creationId xmlns:a16="http://schemas.microsoft.com/office/drawing/2014/main" id="{18E499C6-0625-4E09-B060-1DF4A425473A}"/>
              </a:ext>
            </a:extLst>
          </p:cNvPr>
          <p:cNvCxnSpPr/>
          <p:nvPr/>
        </p:nvCxnSpPr>
        <p:spPr>
          <a:xfrm>
            <a:off x="6333401" y="5887062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" name="Google Shape;387;p25">
            <a:extLst>
              <a:ext uri="{FF2B5EF4-FFF2-40B4-BE49-F238E27FC236}">
                <a16:creationId xmlns:a16="http://schemas.microsoft.com/office/drawing/2014/main" id="{6EF7E7E0-AE87-4937-8E23-DDDB12470F19}"/>
              </a:ext>
            </a:extLst>
          </p:cNvPr>
          <p:cNvSpPr/>
          <p:nvPr/>
        </p:nvSpPr>
        <p:spPr>
          <a:xfrm>
            <a:off x="5764276" y="5793312"/>
            <a:ext cx="5397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4 KB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" name="Google Shape;388;p25">
            <a:extLst>
              <a:ext uri="{FF2B5EF4-FFF2-40B4-BE49-F238E27FC236}">
                <a16:creationId xmlns:a16="http://schemas.microsoft.com/office/drawing/2014/main" id="{C11E5681-15CB-4EFC-87AA-882D1D31B29F}"/>
              </a:ext>
            </a:extLst>
          </p:cNvPr>
          <p:cNvSpPr/>
          <p:nvPr/>
        </p:nvSpPr>
        <p:spPr>
          <a:xfrm>
            <a:off x="5693776" y="5579937"/>
            <a:ext cx="7032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Consolas"/>
                <a:ea typeface="Consolas"/>
                <a:cs typeface="Consolas"/>
                <a:sym typeface="Consolas"/>
              </a:rPr>
              <a:t>bounds</a:t>
            </a:r>
            <a:endParaRPr sz="1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" name="Google Shape;389;p25">
            <a:extLst>
              <a:ext uri="{FF2B5EF4-FFF2-40B4-BE49-F238E27FC236}">
                <a16:creationId xmlns:a16="http://schemas.microsoft.com/office/drawing/2014/main" id="{7077C185-7865-4554-B406-28ADE8C6F1B6}"/>
              </a:ext>
            </a:extLst>
          </p:cNvPr>
          <p:cNvSpPr/>
          <p:nvPr/>
        </p:nvSpPr>
        <p:spPr>
          <a:xfrm>
            <a:off x="10979801" y="5743562"/>
            <a:ext cx="6612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20 KB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" name="Google Shape;390;p25">
            <a:extLst>
              <a:ext uri="{FF2B5EF4-FFF2-40B4-BE49-F238E27FC236}">
                <a16:creationId xmlns:a16="http://schemas.microsoft.com/office/drawing/2014/main" id="{587649F5-869C-4BF4-B551-A23C608D56B2}"/>
              </a:ext>
            </a:extLst>
          </p:cNvPr>
          <p:cNvSpPr/>
          <p:nvPr/>
        </p:nvSpPr>
        <p:spPr>
          <a:xfrm>
            <a:off x="11021976" y="3345512"/>
            <a:ext cx="6612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16 KB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" name="Google Shape;391;p25">
            <a:extLst>
              <a:ext uri="{FF2B5EF4-FFF2-40B4-BE49-F238E27FC236}">
                <a16:creationId xmlns:a16="http://schemas.microsoft.com/office/drawing/2014/main" id="{815DBC9D-0607-42BE-B78E-7E34BFE48A35}"/>
              </a:ext>
            </a:extLst>
          </p:cNvPr>
          <p:cNvSpPr/>
          <p:nvPr/>
        </p:nvSpPr>
        <p:spPr>
          <a:xfrm>
            <a:off x="11000976" y="3124212"/>
            <a:ext cx="7032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base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" name="Google Shape;392;p25">
            <a:extLst>
              <a:ext uri="{FF2B5EF4-FFF2-40B4-BE49-F238E27FC236}">
                <a16:creationId xmlns:a16="http://schemas.microsoft.com/office/drawing/2014/main" id="{4AC31530-A997-4E48-A795-FC6973D5B30C}"/>
              </a:ext>
            </a:extLst>
          </p:cNvPr>
          <p:cNvSpPr/>
          <p:nvPr/>
        </p:nvSpPr>
        <p:spPr>
          <a:xfrm>
            <a:off x="10810476" y="5513512"/>
            <a:ext cx="13395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Consolas"/>
                <a:ea typeface="Consolas"/>
                <a:cs typeface="Consolas"/>
                <a:sym typeface="Consolas"/>
              </a:rPr>
              <a:t>base + bounds</a:t>
            </a:r>
            <a:endParaRPr sz="1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" name="Google Shape;393;p25">
            <a:extLst>
              <a:ext uri="{FF2B5EF4-FFF2-40B4-BE49-F238E27FC236}">
                <a16:creationId xmlns:a16="http://schemas.microsoft.com/office/drawing/2014/main" id="{CA557B8C-8E65-45A4-87DB-090E69D6652E}"/>
              </a:ext>
            </a:extLst>
          </p:cNvPr>
          <p:cNvCxnSpPr/>
          <p:nvPr/>
        </p:nvCxnSpPr>
        <p:spPr>
          <a:xfrm>
            <a:off x="10629214" y="3439262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8" name="Google Shape;394;p25">
            <a:extLst>
              <a:ext uri="{FF2B5EF4-FFF2-40B4-BE49-F238E27FC236}">
                <a16:creationId xmlns:a16="http://schemas.microsoft.com/office/drawing/2014/main" id="{56468F67-2967-4FBD-B4B8-FB1050A90902}"/>
              </a:ext>
            </a:extLst>
          </p:cNvPr>
          <p:cNvCxnSpPr/>
          <p:nvPr/>
        </p:nvCxnSpPr>
        <p:spPr>
          <a:xfrm>
            <a:off x="10608114" y="5837312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49" name="Google Shape;395;p25">
            <a:extLst>
              <a:ext uri="{FF2B5EF4-FFF2-40B4-BE49-F238E27FC236}">
                <a16:creationId xmlns:a16="http://schemas.microsoft.com/office/drawing/2014/main" id="{06A2CC75-C07A-4724-A04B-9127015E44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2976" y="6132787"/>
            <a:ext cx="364950" cy="3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62856" y="904075"/>
            <a:ext cx="11583337" cy="10574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s-ES" sz="2000" b="1" dirty="0">
                <a:latin typeface="+mn-lt"/>
              </a:rPr>
              <a:t>Simulador</a:t>
            </a:r>
            <a:r>
              <a:rPr lang="es-ES" sz="2000" dirty="0">
                <a:latin typeface="+mn-lt"/>
              </a:rPr>
              <a:t>: </a:t>
            </a:r>
            <a:r>
              <a:rPr lang="es-MX" sz="2000" dirty="0">
                <a:latin typeface="+mn-lt"/>
              </a:rPr>
              <a:t>Un proceso con un espacio de direccionamiento de 4KB fue asignado a una memoria física 64k a partir de 16KB.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789647-D10B-4D2F-908C-1898A9956990}"/>
              </a:ext>
            </a:extLst>
          </p:cNvPr>
          <p:cNvSpPr txBox="1"/>
          <p:nvPr/>
        </p:nvSpPr>
        <p:spPr>
          <a:xfrm>
            <a:off x="362855" y="1853575"/>
            <a:ext cx="110966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dirty="0"/>
              <a:t>.</a:t>
            </a:r>
            <a:r>
              <a:rPr lang="es-CO" dirty="0">
                <a:latin typeface="Consolas" panose="020B0609020204030204" pitchFamily="49" charset="0"/>
              </a:rPr>
              <a:t>/relocation.py -a 4k -p 64k -b 16k -l 4k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D89766-148A-4E37-AD14-D872D52285B7}"/>
              </a:ext>
            </a:extLst>
          </p:cNvPr>
          <p:cNvSpPr txBox="1"/>
          <p:nvPr/>
        </p:nvSpPr>
        <p:spPr>
          <a:xfrm>
            <a:off x="1152624" y="2665726"/>
            <a:ext cx="9280026" cy="36933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s-CO" dirty="0" err="1">
                <a:solidFill>
                  <a:schemeClr val="bg1"/>
                </a:solidFill>
                <a:latin typeface="Consolas" panose="020B0609020204030204" pitchFamily="49" charset="0"/>
              </a:rPr>
              <a:t>Address</a:t>
            </a:r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dirty="0" err="1">
                <a:solidFill>
                  <a:schemeClr val="bg1"/>
                </a:solidFill>
                <a:latin typeface="Consolas" panose="020B0609020204030204" pitchFamily="49" charset="0"/>
              </a:rPr>
              <a:t>Space</a:t>
            </a:r>
            <a:endParaRPr lang="es-CO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--------------  0KB</a:t>
            </a:r>
          </a:p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|    </a:t>
            </a:r>
            <a:r>
              <a:rPr lang="es-CO" dirty="0" err="1">
                <a:solidFill>
                  <a:schemeClr val="bg1"/>
                </a:solidFill>
                <a:latin typeface="Consolas" panose="020B0609020204030204" pitchFamily="49" charset="0"/>
              </a:rPr>
              <a:t>Code</a:t>
            </a:r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 |</a:t>
            </a:r>
          </a:p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--------------  1KB</a:t>
            </a:r>
          </a:p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|   </a:t>
            </a:r>
            <a:r>
              <a:rPr lang="es-CO" dirty="0" err="1">
                <a:solidFill>
                  <a:schemeClr val="bg1"/>
                </a:solidFill>
                <a:latin typeface="Consolas" panose="020B0609020204030204" pitchFamily="49" charset="0"/>
              </a:rPr>
              <a:t>Stack</a:t>
            </a:r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 |</a:t>
            </a:r>
          </a:p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--------------  2KB</a:t>
            </a:r>
          </a:p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|    </a:t>
            </a:r>
            <a:r>
              <a:rPr lang="es-CO" dirty="0" err="1">
                <a:solidFill>
                  <a:schemeClr val="bg1"/>
                </a:solidFill>
                <a:latin typeface="Consolas" panose="020B0609020204030204" pitchFamily="49" charset="0"/>
              </a:rPr>
              <a:t>Heap</a:t>
            </a:r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 |</a:t>
            </a:r>
          </a:p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|     |      |</a:t>
            </a:r>
          </a:p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|     v      |</a:t>
            </a:r>
          </a:p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--------------  3KB</a:t>
            </a:r>
          </a:p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|   (free)   |</a:t>
            </a:r>
          </a:p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|     ...    |</a:t>
            </a:r>
          </a:p>
          <a:p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  --------------  4KB   &lt;-- </a:t>
            </a:r>
            <a:r>
              <a:rPr lang="es-CO" dirty="0" err="1">
                <a:solidFill>
                  <a:schemeClr val="bg1"/>
                </a:solidFill>
                <a:latin typeface="Consolas" panose="020B0609020204030204" pitchFamily="49" charset="0"/>
              </a:rPr>
              <a:t>asize</a:t>
            </a:r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(-a 4k) = </a:t>
            </a:r>
            <a:r>
              <a:rPr lang="es-CO" dirty="0" err="1">
                <a:solidFill>
                  <a:schemeClr val="bg1"/>
                </a:solidFill>
                <a:latin typeface="Consolas" panose="020B0609020204030204" pitchFamily="49" charset="0"/>
              </a:rPr>
              <a:t>bounds</a:t>
            </a:r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/</a:t>
            </a:r>
            <a:r>
              <a:rPr lang="es-CO" dirty="0" err="1">
                <a:solidFill>
                  <a:schemeClr val="bg1"/>
                </a:solidFill>
                <a:latin typeface="Consolas" panose="020B0609020204030204" pitchFamily="49" charset="0"/>
              </a:rPr>
              <a:t>limit</a:t>
            </a:r>
            <a:r>
              <a:rPr lang="es-CO" dirty="0">
                <a:solidFill>
                  <a:schemeClr val="bg1"/>
                </a:solidFill>
                <a:latin typeface="Consolas" panose="020B0609020204030204" pitchFamily="49" charset="0"/>
              </a:rPr>
              <a:t> (-l 4k)</a:t>
            </a:r>
          </a:p>
        </p:txBody>
      </p:sp>
    </p:spTree>
    <p:extLst>
      <p:ext uri="{BB962C8B-B14F-4D97-AF65-F5344CB8AC3E}">
        <p14:creationId xmlns:p14="http://schemas.microsoft.com/office/powerpoint/2010/main" val="20510010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62856" y="904075"/>
            <a:ext cx="11583337" cy="10574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s-ES" sz="2000" b="1" dirty="0">
                <a:latin typeface="+mn-lt"/>
              </a:rPr>
              <a:t>Simulador</a:t>
            </a:r>
            <a:r>
              <a:rPr lang="es-ES" sz="2000" dirty="0">
                <a:latin typeface="+mn-lt"/>
              </a:rPr>
              <a:t>: </a:t>
            </a:r>
            <a:r>
              <a:rPr lang="es-MX" sz="2000" dirty="0">
                <a:latin typeface="+mn-lt"/>
              </a:rPr>
              <a:t>Un proceso con un espacio de direccionamiento de 4KB fue asignado a una memoria física 64k a partir de 16KB.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789647-D10B-4D2F-908C-1898A9956990}"/>
              </a:ext>
            </a:extLst>
          </p:cNvPr>
          <p:cNvSpPr txBox="1"/>
          <p:nvPr/>
        </p:nvSpPr>
        <p:spPr>
          <a:xfrm>
            <a:off x="536100" y="1776869"/>
            <a:ext cx="108791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./relocation.py -a 8k -p 64k -b 16k -l 4k -n 4 -s 7</a:t>
            </a:r>
            <a:endParaRPr lang="es-CO" dirty="0"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D89766-148A-4E37-AD14-D872D52285B7}"/>
              </a:ext>
            </a:extLst>
          </p:cNvPr>
          <p:cNvSpPr txBox="1"/>
          <p:nvPr/>
        </p:nvSpPr>
        <p:spPr>
          <a:xfrm>
            <a:off x="1137876" y="2326513"/>
            <a:ext cx="9280026" cy="41857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Address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Space</a:t>
            </a:r>
            <a:endParaRPr lang="es-CO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--------------  0KB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|   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Code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--------------  1KB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|  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Stack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--------------  2KB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|   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Heap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|     | 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|     v 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--------------  3KB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|   (free)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|     ...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--------------  4KB   &lt;--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bounds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/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limit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(-l 4k)  [proceso válido termina aquí]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##############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# fuera de   #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#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bounds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#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# (VIOLACIÓN)#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##############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--------------  8KB   &lt;--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asize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(-a 8k)  [rango del generador aleatorio]</a:t>
            </a:r>
          </a:p>
        </p:txBody>
      </p:sp>
    </p:spTree>
    <p:extLst>
      <p:ext uri="{BB962C8B-B14F-4D97-AF65-F5344CB8AC3E}">
        <p14:creationId xmlns:p14="http://schemas.microsoft.com/office/powerpoint/2010/main" val="1768289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62856" y="904075"/>
            <a:ext cx="11583337" cy="79199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s-ES" sz="2000" b="1" dirty="0">
                <a:latin typeface="+mn-lt"/>
              </a:rPr>
              <a:t>Simulador</a:t>
            </a:r>
            <a:r>
              <a:rPr lang="es-ES" sz="2000" dirty="0">
                <a:latin typeface="+mn-lt"/>
              </a:rPr>
              <a:t>: </a:t>
            </a:r>
            <a:r>
              <a:rPr lang="es-MX" sz="2000" dirty="0">
                <a:latin typeface="+mn-lt"/>
              </a:rPr>
              <a:t>Un proceso con un espacio de direccionamiento de 4KB fue asignado a una memoria física 64k a partir de 16KB.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789647-D10B-4D2F-908C-1898A9956990}"/>
              </a:ext>
            </a:extLst>
          </p:cNvPr>
          <p:cNvSpPr txBox="1"/>
          <p:nvPr/>
        </p:nvSpPr>
        <p:spPr>
          <a:xfrm>
            <a:off x="536100" y="1853575"/>
            <a:ext cx="108644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./relocation.py -a 8k -p 64k -b 16k -l 4k -n 4 -s 7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-c</a:t>
            </a:r>
            <a:endParaRPr lang="es-CO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D89766-148A-4E37-AD14-D872D52285B7}"/>
              </a:ext>
            </a:extLst>
          </p:cNvPr>
          <p:cNvSpPr txBox="1"/>
          <p:nvPr/>
        </p:nvSpPr>
        <p:spPr>
          <a:xfrm>
            <a:off x="715087" y="2636229"/>
            <a:ext cx="10685415" cy="35394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ARG </a:t>
            </a:r>
            <a:r>
              <a:rPr lang="es-CO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seed</a:t>
            </a:r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7</a:t>
            </a:r>
          </a:p>
          <a:p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ARG </a:t>
            </a:r>
            <a:r>
              <a:rPr lang="es-CO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address</a:t>
            </a:r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space</a:t>
            </a:r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size</a:t>
            </a:r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8k</a:t>
            </a:r>
          </a:p>
          <a:p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ARG </a:t>
            </a:r>
            <a:r>
              <a:rPr lang="es-CO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phys</a:t>
            </a:r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mem</a:t>
            </a:r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size</a:t>
            </a:r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64k</a:t>
            </a:r>
          </a:p>
          <a:p>
            <a:endParaRPr lang="es-CO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Base-and-</a:t>
            </a:r>
            <a:r>
              <a:rPr lang="es-CO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Bounds</a:t>
            </a:r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register</a:t>
            </a:r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information</a:t>
            </a:r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endParaRPr lang="es-CO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 Base   : 0x00004000 (decimal 16384)</a:t>
            </a:r>
          </a:p>
          <a:p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s-CO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Limit</a:t>
            </a:r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 : 4096</a:t>
            </a:r>
          </a:p>
          <a:p>
            <a:endParaRPr lang="es-CO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Virtual </a:t>
            </a:r>
            <a:r>
              <a:rPr lang="es-CO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Address</a:t>
            </a:r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Trace</a:t>
            </a:r>
          </a:p>
          <a:p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 VA  0: 0x00000a5c (decimal: 2652) --&gt; VALID: 0x00004a5c (decimal: 19036)</a:t>
            </a:r>
          </a:p>
          <a:p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 VA  1: 0x000004d3 (decimal: 1235) --&gt; VALID: 0x000044d3 (decimal: 17619)</a:t>
            </a:r>
          </a:p>
          <a:p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 VA  2: 0x000014d4 (decimal: 5332) --&gt; SEGMENTATION VIOLATION</a:t>
            </a:r>
          </a:p>
          <a:p>
            <a:r>
              <a:rPr lang="es-CO" sz="1600" dirty="0">
                <a:solidFill>
                  <a:schemeClr val="bg1"/>
                </a:solidFill>
                <a:latin typeface="Consolas" panose="020B0609020204030204" pitchFamily="49" charset="0"/>
              </a:rPr>
              <a:t>  VA  3: 0x00000251 (decimal:  593) --&gt; VALID: 0x00004251 (decimal: 16977)</a:t>
            </a:r>
          </a:p>
        </p:txBody>
      </p:sp>
    </p:spTree>
    <p:extLst>
      <p:ext uri="{BB962C8B-B14F-4D97-AF65-F5344CB8AC3E}">
        <p14:creationId xmlns:p14="http://schemas.microsoft.com/office/powerpoint/2010/main" val="1145688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4"/>
          <p:cNvSpPr txBox="1">
            <a:spLocks noGrp="1"/>
          </p:cNvSpPr>
          <p:nvPr>
            <p:ph type="title"/>
          </p:nvPr>
        </p:nvSpPr>
        <p:spPr>
          <a:xfrm>
            <a:off x="287700" y="50625"/>
            <a:ext cx="916109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Acciones del sistema operativo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619" name="Google Shape;619;p44"/>
          <p:cNvSpPr txBox="1">
            <a:spLocks noGrp="1"/>
          </p:cNvSpPr>
          <p:nvPr>
            <p:ph type="body" idx="1"/>
          </p:nvPr>
        </p:nvSpPr>
        <p:spPr>
          <a:xfrm>
            <a:off x="620015" y="1000126"/>
            <a:ext cx="5927660" cy="202329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El SO debe realizar acciones para el correcto funcionamiento del sistema </a:t>
            </a:r>
            <a:r>
              <a:rPr lang="es-ES" sz="2200" b="1" dirty="0">
                <a:solidFill>
                  <a:schemeClr val="accent2"/>
                </a:solidFill>
                <a:latin typeface="+mn-lt"/>
                <a:ea typeface="Consolas"/>
                <a:cs typeface="Consolas"/>
                <a:sym typeface="Consolas"/>
              </a:rPr>
              <a:t>base &amp; bound</a:t>
            </a:r>
            <a:r>
              <a:rPr lang="es-ES" sz="22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Cuando un proceso inicia su ejecución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Cuando un proceso termina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Cuando ocurre un cambio de contexto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620" name="Google Shape;620;p44"/>
          <p:cNvSpPr txBox="1"/>
          <p:nvPr/>
        </p:nvSpPr>
        <p:spPr>
          <a:xfrm>
            <a:off x="620014" y="3365237"/>
            <a:ext cx="5024311" cy="9386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Free list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Lista de rangos de espacio libre en memoria física.</a:t>
            </a:r>
            <a:endParaRPr sz="1200" dirty="0"/>
          </a:p>
        </p:txBody>
      </p:sp>
      <p:pic>
        <p:nvPicPr>
          <p:cNvPr id="621" name="Google Shape;62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7675" y="955801"/>
            <a:ext cx="5356625" cy="534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5"/>
          <p:cNvSpPr txBox="1">
            <a:spLocks noGrp="1"/>
          </p:cNvSpPr>
          <p:nvPr>
            <p:ph type="title"/>
          </p:nvPr>
        </p:nvSpPr>
        <p:spPr>
          <a:xfrm>
            <a:off x="391887" y="96038"/>
            <a:ext cx="882876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Acciones del sistema operativo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627" name="Google Shape;627;p45"/>
          <p:cNvSpPr txBox="1">
            <a:spLocks noGrp="1"/>
          </p:cNvSpPr>
          <p:nvPr>
            <p:ph type="body" idx="1"/>
          </p:nvPr>
        </p:nvSpPr>
        <p:spPr>
          <a:xfrm>
            <a:off x="275770" y="850037"/>
            <a:ext cx="11524343" cy="101166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Creación de un proceso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El SO debe encontrar un espacio para la memoria del nuevo proceso (</a:t>
            </a:r>
            <a:r>
              <a:rPr lang="es-ES" sz="2200" b="1" dirty="0">
                <a:latin typeface="+mn-lt"/>
              </a:rPr>
              <a:t>address space</a:t>
            </a:r>
            <a:r>
              <a:rPr lang="es-ES" sz="2200" dirty="0">
                <a:latin typeface="+mn-lt"/>
              </a:rPr>
              <a:t>).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628" name="Google Shape;628;p45"/>
          <p:cNvGrpSpPr/>
          <p:nvPr/>
        </p:nvGrpSpPr>
        <p:grpSpPr>
          <a:xfrm>
            <a:off x="9542762" y="3811610"/>
            <a:ext cx="2257351" cy="1163557"/>
            <a:chOff x="916638" y="3584818"/>
            <a:chExt cx="2257351" cy="1163557"/>
          </a:xfrm>
        </p:grpSpPr>
        <p:grpSp>
          <p:nvGrpSpPr>
            <p:cNvPr id="629" name="Google Shape;629;p45"/>
            <p:cNvGrpSpPr/>
            <p:nvPr/>
          </p:nvGrpSpPr>
          <p:grpSpPr>
            <a:xfrm>
              <a:off x="2367667" y="3584818"/>
              <a:ext cx="806322" cy="1163511"/>
              <a:chOff x="1775100" y="4022850"/>
              <a:chExt cx="1076100" cy="1739700"/>
            </a:xfrm>
          </p:grpSpPr>
          <p:sp>
            <p:nvSpPr>
              <p:cNvPr id="630" name="Google Shape;630;p45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1" name="Google Shape;631;p45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632" name="Google Shape;632;p45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633" name="Google Shape;633;p45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634" name="Google Shape;634;p45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635" name="Google Shape;635;p45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636" name="Google Shape;636;p45"/>
                <p:cNvCxnSpPr>
                  <a:stCxn id="63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37" name="Google Shape;637;p45"/>
                <p:cNvCxnSpPr>
                  <a:stCxn id="63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638" name="Google Shape;638;p45"/>
            <p:cNvSpPr/>
            <p:nvPr/>
          </p:nvSpPr>
          <p:spPr>
            <a:xfrm>
              <a:off x="916638" y="3801025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639" name="Google Shape;639;p45"/>
            <p:cNvCxnSpPr/>
            <p:nvPr/>
          </p:nvCxnSpPr>
          <p:spPr>
            <a:xfrm rot="10800000" flipH="1">
              <a:off x="1281400" y="3586350"/>
              <a:ext cx="1065000" cy="1842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45"/>
            <p:cNvCxnSpPr/>
            <p:nvPr/>
          </p:nvCxnSpPr>
          <p:spPr>
            <a:xfrm>
              <a:off x="1274725" y="4564175"/>
              <a:ext cx="1064700" cy="1842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41" name="Google Shape;641;p45"/>
          <p:cNvCxnSpPr/>
          <p:nvPr/>
        </p:nvCxnSpPr>
        <p:spPr>
          <a:xfrm rot="10800000">
            <a:off x="8295699" y="4404567"/>
            <a:ext cx="10263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42" name="Google Shape;64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099" y="2235917"/>
            <a:ext cx="3913550" cy="394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6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16148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Acciones del sistema operativo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648" name="Google Shape;648;p46"/>
          <p:cNvSpPr txBox="1">
            <a:spLocks noGrp="1"/>
          </p:cNvSpPr>
          <p:nvPr>
            <p:ph type="body" idx="1"/>
          </p:nvPr>
        </p:nvSpPr>
        <p:spPr>
          <a:xfrm>
            <a:off x="275772" y="978743"/>
            <a:ext cx="11538857" cy="9085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Terminación de un proceso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El SO recupera la memoria para su re-uso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649" name="Google Shape;64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587" y="2979150"/>
            <a:ext cx="3693538" cy="371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6973" y="2908750"/>
            <a:ext cx="3758500" cy="371987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6"/>
          <p:cNvSpPr/>
          <p:nvPr/>
        </p:nvSpPr>
        <p:spPr>
          <a:xfrm>
            <a:off x="4252375" y="2202000"/>
            <a:ext cx="537300" cy="541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2" name="Google Shape;652;p46"/>
          <p:cNvSpPr/>
          <p:nvPr/>
        </p:nvSpPr>
        <p:spPr>
          <a:xfrm>
            <a:off x="9326875" y="2202000"/>
            <a:ext cx="537300" cy="5418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53" name="Google Shape;653;p46"/>
          <p:cNvCxnSpPr/>
          <p:nvPr/>
        </p:nvCxnSpPr>
        <p:spPr>
          <a:xfrm>
            <a:off x="5897725" y="2488175"/>
            <a:ext cx="23211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54" name="Google Shape;654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06025" y="1975000"/>
            <a:ext cx="364950" cy="3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7"/>
          <p:cNvSpPr txBox="1">
            <a:spLocks noGrp="1"/>
          </p:cNvSpPr>
          <p:nvPr>
            <p:ph type="title"/>
          </p:nvPr>
        </p:nvSpPr>
        <p:spPr>
          <a:xfrm>
            <a:off x="290285" y="96038"/>
            <a:ext cx="1165497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Acciones del sistema operativo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660" name="Google Shape;660;p47"/>
          <p:cNvSpPr txBox="1">
            <a:spLocks noGrp="1"/>
          </p:cNvSpPr>
          <p:nvPr>
            <p:ph type="body" idx="1"/>
          </p:nvPr>
        </p:nvSpPr>
        <p:spPr>
          <a:xfrm>
            <a:off x="374460" y="917888"/>
            <a:ext cx="107991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Cambio de contexto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El SO almacena y restaura los registros </a:t>
            </a:r>
            <a:r>
              <a:rPr lang="es-ES" sz="2200" b="1" dirty="0">
                <a:latin typeface="+mn-lt"/>
              </a:rPr>
              <a:t>base</a:t>
            </a:r>
            <a:r>
              <a:rPr lang="es-ES" sz="2200" dirty="0">
                <a:latin typeface="+mn-lt"/>
              </a:rPr>
              <a:t> y </a:t>
            </a:r>
            <a:r>
              <a:rPr lang="es-ES" sz="2200" b="1" dirty="0">
                <a:latin typeface="+mn-lt"/>
              </a:rPr>
              <a:t>bound</a:t>
            </a:r>
            <a:r>
              <a:rPr lang="es-ES" sz="2200" dirty="0">
                <a:latin typeface="+mn-lt"/>
              </a:rPr>
              <a:t> en el PCB.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661" name="Google Shape;66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3314" y="2167337"/>
            <a:ext cx="7526898" cy="391414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7"/>
          <p:cNvSpPr/>
          <p:nvPr/>
        </p:nvSpPr>
        <p:spPr>
          <a:xfrm>
            <a:off x="9198354" y="2147438"/>
            <a:ext cx="537300" cy="5418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Google Shape;663;p47"/>
          <p:cNvSpPr/>
          <p:nvPr/>
        </p:nvSpPr>
        <p:spPr>
          <a:xfrm>
            <a:off x="5348946" y="2138308"/>
            <a:ext cx="537300" cy="541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64" name="Google Shape;664;p47"/>
          <p:cNvCxnSpPr/>
          <p:nvPr/>
        </p:nvCxnSpPr>
        <p:spPr>
          <a:xfrm>
            <a:off x="6096000" y="2409208"/>
            <a:ext cx="28926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4"/>
          <p:cNvSpPr txBox="1">
            <a:spLocks noGrp="1"/>
          </p:cNvSpPr>
          <p:nvPr>
            <p:ph type="title"/>
          </p:nvPr>
        </p:nvSpPr>
        <p:spPr>
          <a:xfrm>
            <a:off x="634181" y="96038"/>
            <a:ext cx="1089331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Referencias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674" name="Google Shape;674;p44"/>
          <p:cNvSpPr txBox="1">
            <a:spLocks noGrp="1"/>
          </p:cNvSpPr>
          <p:nvPr>
            <p:ph type="body" idx="1"/>
          </p:nvPr>
        </p:nvSpPr>
        <p:spPr>
          <a:xfrm>
            <a:off x="442452" y="1058099"/>
            <a:ext cx="11085048" cy="554917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000" b="1" dirty="0" err="1">
                <a:latin typeface="+mn-lt"/>
              </a:rPr>
              <a:t>Operating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b="1" dirty="0" err="1">
                <a:latin typeface="+mn-lt"/>
              </a:rPr>
              <a:t>Systems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b="1" dirty="0" err="1">
                <a:latin typeface="+mn-lt"/>
              </a:rPr>
              <a:t>Three</a:t>
            </a:r>
            <a:r>
              <a:rPr lang="es-ES" sz="2000" b="1" dirty="0">
                <a:latin typeface="+mn-lt"/>
              </a:rPr>
              <a:t> Easy </a:t>
            </a:r>
            <a:r>
              <a:rPr lang="es-ES" sz="2000" b="1" dirty="0" err="1">
                <a:latin typeface="+mn-lt"/>
              </a:rPr>
              <a:t>Pieces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dirty="0">
                <a:latin typeface="+mn-lt"/>
              </a:rPr>
              <a:t>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3"/>
              </a:rPr>
              <a:t>website</a:t>
            </a:r>
            <a:r>
              <a:rPr lang="es-ES" sz="2000" dirty="0">
                <a:latin typeface="+mn-lt"/>
              </a:rPr>
              <a:t>: Capítulos 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4"/>
              </a:rPr>
              <a:t>15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n-lt"/>
              </a:rPr>
              <a:t>Videos de </a:t>
            </a:r>
            <a:r>
              <a:rPr lang="es-ES" sz="2000" dirty="0" err="1">
                <a:latin typeface="+mn-lt"/>
              </a:rPr>
              <a:t>youtube</a:t>
            </a:r>
            <a:r>
              <a:rPr lang="es-ES" sz="2000" dirty="0">
                <a:latin typeface="+mn-lt"/>
              </a:rPr>
              <a:t>: Clase 6 – Virtualización de memoria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link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n-lt"/>
              </a:rPr>
              <a:t>Página de </a:t>
            </a:r>
            <a:r>
              <a:rPr lang="es-ES" sz="2000" dirty="0" err="1">
                <a:latin typeface="+mn-lt"/>
              </a:rPr>
              <a:t>Remzi</a:t>
            </a:r>
            <a:r>
              <a:rPr lang="es-ES" sz="2000" dirty="0">
                <a:latin typeface="+mn-lt"/>
              </a:rPr>
              <a:t> H. </a:t>
            </a:r>
            <a:r>
              <a:rPr lang="es-ES" sz="2000" dirty="0" err="1">
                <a:latin typeface="+mn-lt"/>
              </a:rPr>
              <a:t>Arpaci-Dusseau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Concepts</a:t>
            </a:r>
            <a:r>
              <a:rPr lang="es-ES" sz="2000" dirty="0">
                <a:latin typeface="+mn-lt"/>
              </a:rPr>
              <a:t> - </a:t>
            </a:r>
            <a:r>
              <a:rPr lang="es-ES" sz="2000" dirty="0" err="1">
                <a:latin typeface="+mn-lt"/>
              </a:rPr>
              <a:t>Tenth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Edition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7"/>
              </a:rPr>
              <a:t>website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Systems</a:t>
            </a:r>
            <a:r>
              <a:rPr lang="es-ES" sz="2000" dirty="0">
                <a:latin typeface="+mn-lt"/>
              </a:rPr>
              <a:t> Notes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https://github.com/Aniruddha-Tapas/Operating-Systems-Notes/blob/master/1-Overview.md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https://myaut.github.io/dtrace-stap-book/kernel/proc.html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https://myaut.github.io/dtrace-stap-book/index.html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https://www.technologyuk.net/computing/computer-software/operating-systems/operating-system-utilities.shtml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http://www.it.uu.se/education/course/homepage/os/vt18/module-4/simple-threads/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https://courses.cs.duke.edu/spring19/compsci590.1/slides/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http://csl.snu.ac.kr/courses/4190.307/2020-1/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CO" sz="2000" dirty="0">
                <a:latin typeface="+mn-lt"/>
                <a:hlinkClick r:id="rId16"/>
              </a:rPr>
              <a:t>https://web.stanford.edu/~ouster/cgi-bin/cs140-winter13/index.php</a:t>
            </a:r>
            <a:endParaRPr lang="es-CO"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n-lt"/>
                <a:hlinkClick r:id="rId17"/>
              </a:rPr>
              <a:t>https://bob.cs.ucdavis.edu/classes/s24-ecs150/index.html</a:t>
            </a:r>
            <a:endParaRPr lang="es-ES"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endParaRPr sz="20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794</TotalTime>
  <Words>2662</Words>
  <Application>Microsoft Office PowerPoint</Application>
  <PresentationFormat>Panorámica</PresentationFormat>
  <Paragraphs>987</Paragraphs>
  <Slides>34</Slides>
  <Notes>34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4" baseType="lpstr">
      <vt:lpstr>Consolas</vt:lpstr>
      <vt:lpstr>Roboto</vt:lpstr>
      <vt:lpstr>Calibri</vt:lpstr>
      <vt:lpstr>Courier New</vt:lpstr>
      <vt:lpstr>Arial</vt:lpstr>
      <vt:lpstr>Calibri Light</vt:lpstr>
      <vt:lpstr>Times New Roman</vt:lpstr>
      <vt:lpstr>Cambria Math</vt:lpstr>
      <vt:lpstr>Roboto Slab</vt:lpstr>
      <vt:lpstr>Tema de Office</vt:lpstr>
      <vt:lpstr>Apuntes – Clase 8</vt:lpstr>
      <vt:lpstr>Proceso</vt:lpstr>
      <vt:lpstr>Virtualización de Memoria - Contextualización</vt:lpstr>
      <vt:lpstr>Virtualización de Memoria - Contextualización</vt:lpstr>
      <vt:lpstr>Hardware Address Translation - Address Translation (AT) </vt:lpstr>
      <vt:lpstr>Contextualización</vt:lpstr>
      <vt:lpstr>Traducción de direcciones</vt:lpstr>
      <vt:lpstr>Contextualización</vt:lpstr>
      <vt:lpstr>Contextualización</vt:lpstr>
      <vt:lpstr>Contextualización</vt:lpstr>
      <vt:lpstr>Contextualización</vt:lpstr>
      <vt:lpstr>Reasignación del espacio de direccionamiento</vt:lpstr>
      <vt:lpstr>Contextualización – Pregunta clave</vt:lpstr>
      <vt:lpstr>Dynamic Relocation - Reasignación dinámica</vt:lpstr>
      <vt:lpstr>Dynamic Relocation - Reasignación dinámica</vt:lpstr>
      <vt:lpstr>Traducción de direcciones</vt:lpstr>
      <vt:lpstr>Traducción de direcciones - Formulas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Acciones del sistema operativo</vt:lpstr>
      <vt:lpstr>Acciones del sistema operativo</vt:lpstr>
      <vt:lpstr>Acciones del sistema operativo</vt:lpstr>
      <vt:lpstr>Acciones del sistema operativo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Apuntes – Clase 7</dc:title>
  <dc:creator>Usuario</dc:creator>
  <cp:lastModifiedBy>HENRY ALBERTO ARCILA RAMIREZ</cp:lastModifiedBy>
  <cp:revision>21</cp:revision>
  <dcterms:modified xsi:type="dcterms:W3CDTF">2026-09-03T00:48:17Z</dcterms:modified>
</cp:coreProperties>
</file>