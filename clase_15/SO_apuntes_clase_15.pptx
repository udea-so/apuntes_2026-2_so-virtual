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4" r:id="rId1"/>
    <p:sldMasterId id="2147483680" r:id="rId2"/>
  </p:sldMasterIdLst>
  <p:notesMasterIdLst>
    <p:notesMasterId r:id="rId73"/>
  </p:notesMasterIdLst>
  <p:sldIdLst>
    <p:sldId id="256" r:id="rId3"/>
    <p:sldId id="448" r:id="rId4"/>
    <p:sldId id="449" r:id="rId5"/>
    <p:sldId id="450" r:id="rId6"/>
    <p:sldId id="451" r:id="rId7"/>
    <p:sldId id="452" r:id="rId8"/>
    <p:sldId id="453" r:id="rId9"/>
    <p:sldId id="454" r:id="rId10"/>
    <p:sldId id="455" r:id="rId11"/>
    <p:sldId id="456" r:id="rId12"/>
    <p:sldId id="457" r:id="rId13"/>
    <p:sldId id="270" r:id="rId14"/>
    <p:sldId id="271" r:id="rId15"/>
    <p:sldId id="272" r:id="rId16"/>
    <p:sldId id="273" r:id="rId17"/>
    <p:sldId id="274" r:id="rId18"/>
    <p:sldId id="275" r:id="rId19"/>
    <p:sldId id="458" r:id="rId20"/>
    <p:sldId id="276" r:id="rId21"/>
    <p:sldId id="277" r:id="rId22"/>
    <p:sldId id="278" r:id="rId23"/>
    <p:sldId id="279" r:id="rId24"/>
    <p:sldId id="281" r:id="rId25"/>
    <p:sldId id="283" r:id="rId26"/>
    <p:sldId id="459" r:id="rId27"/>
    <p:sldId id="284" r:id="rId28"/>
    <p:sldId id="285" r:id="rId29"/>
    <p:sldId id="286" r:id="rId30"/>
    <p:sldId id="460" r:id="rId31"/>
    <p:sldId id="287" r:id="rId32"/>
    <p:sldId id="461" r:id="rId33"/>
    <p:sldId id="288" r:id="rId34"/>
    <p:sldId id="462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463" r:id="rId43"/>
    <p:sldId id="296" r:id="rId44"/>
    <p:sldId id="297" r:id="rId45"/>
    <p:sldId id="464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2" r:id="rId69"/>
    <p:sldId id="323" r:id="rId70"/>
    <p:sldId id="324" r:id="rId71"/>
    <p:sldId id="325" r:id="rId72"/>
  </p:sldIdLst>
  <p:sldSz cx="12192000" cy="6858000"/>
  <p:notesSz cx="6858000" cy="9144000"/>
  <p:embeddedFontLst>
    <p:embeddedFont>
      <p:font typeface="Calibri" panose="020F0502020204030204" pitchFamily="34" charset="0"/>
      <p:regular r:id="rId74"/>
      <p:bold r:id="rId75"/>
      <p:italic r:id="rId76"/>
      <p:boldItalic r:id="rId77"/>
    </p:embeddedFont>
    <p:embeddedFont>
      <p:font typeface="Calibri Light" panose="020F0302020204030204" pitchFamily="34" charset="0"/>
      <p:regular r:id="rId78"/>
      <p:italic r:id="rId79"/>
    </p:embeddedFont>
    <p:embeddedFont>
      <p:font typeface="Consolas" panose="020B0609020204030204" pitchFamily="49" charset="0"/>
      <p:regular r:id="rId80"/>
      <p:bold r:id="rId81"/>
      <p:italic r:id="rId82"/>
      <p:boldItalic r:id="rId83"/>
    </p:embeddedFont>
    <p:embeddedFont>
      <p:font typeface="Roboto" panose="02000000000000000000" pitchFamily="2" charset="0"/>
      <p:regular r:id="rId84"/>
      <p:bold r:id="rId85"/>
      <p:italic r:id="rId86"/>
      <p:boldItalic r:id="rId87"/>
    </p:embeddedFont>
    <p:embeddedFont>
      <p:font typeface="Roboto Slab" panose="020B0604020202020204" charset="0"/>
      <p:regular r:id="rId88"/>
      <p:bold r:id="rId89"/>
    </p:embeddedFont>
  </p:embeddedFontLst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66A2E93-5121-40D1-B61B-F19DAAD5E98B}">
  <a:tblStyle styleId="{F66A2E93-5121-40D1-B61B-F19DAAD5E98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931F8EA-094C-4022-B5A3-1638E5F4CCCB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432" y="-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font" Target="fonts/font11.fntdata"/><Relationship Id="rId89" Type="http://schemas.openxmlformats.org/officeDocument/2006/relationships/font" Target="fonts/font16.fntdata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font" Target="fonts/font1.fntdata"/><Relationship Id="rId79" Type="http://schemas.openxmlformats.org/officeDocument/2006/relationships/font" Target="fonts/font6.fntdata"/><Relationship Id="rId5" Type="http://schemas.openxmlformats.org/officeDocument/2006/relationships/slide" Target="slides/slide3.xml"/><Relationship Id="rId90" Type="http://schemas.openxmlformats.org/officeDocument/2006/relationships/presProps" Target="presProps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font" Target="fonts/font7.fntdata"/><Relationship Id="rId85" Type="http://schemas.openxmlformats.org/officeDocument/2006/relationships/font" Target="fonts/font12.fntdata"/><Relationship Id="rId93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font" Target="fonts/font2.fntdata"/><Relationship Id="rId83" Type="http://schemas.openxmlformats.org/officeDocument/2006/relationships/font" Target="fonts/font10.fntdata"/><Relationship Id="rId88" Type="http://schemas.openxmlformats.org/officeDocument/2006/relationships/font" Target="fonts/font15.fntdata"/><Relationship Id="rId9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notesMaster" Target="notesMasters/notesMaster1.xml"/><Relationship Id="rId78" Type="http://schemas.openxmlformats.org/officeDocument/2006/relationships/font" Target="fonts/font5.fntdata"/><Relationship Id="rId81" Type="http://schemas.openxmlformats.org/officeDocument/2006/relationships/font" Target="fonts/font8.fntdata"/><Relationship Id="rId86" Type="http://schemas.openxmlformats.org/officeDocument/2006/relationships/font" Target="fonts/font13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font" Target="fonts/font3.fntdata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font" Target="fonts/font14.fntdata"/><Relationship Id="rId61" Type="http://schemas.openxmlformats.org/officeDocument/2006/relationships/slide" Target="slides/slide59.xml"/><Relationship Id="rId82" Type="http://schemas.openxmlformats.org/officeDocument/2006/relationships/font" Target="fonts/font9.fntdata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78358aba08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78358aba08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17ac81a7f7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117ac81a7f7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117ac81a7f7_0_1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117ac81a7f7_0_1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117ac81a7f7_0_2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117ac81a7f7_0_2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117ac81a7f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117ac81a7f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 dirty="0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117ac81a7f7_0_3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117ac81a7f7_0_3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117ac81a7f7_0_4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117ac81a7f7_0_4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117ac81a7f7_0_4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117ac81a7f7_0_4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117ac81a7f7_0_5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117ac81a7f7_0_5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117ac81a7f7_0_6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117ac81a7f7_0_6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117ac81a7f7_0_6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6" name="Google Shape;516;g117ac81a7f7_0_6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117ac81a7f7_0_7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</a:t>
            </a:r>
            <a:r>
              <a:rPr lang="es-ES" sz="2400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condition</a:t>
            </a: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4" name="Google Shape;544;g117ac81a7f7_0_7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1188e369f14_0_3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</a:t>
            </a:r>
            <a:r>
              <a:rPr lang="es-ES" sz="2400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condition</a:t>
            </a: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8" name="Google Shape;558;g1188e369f14_0_3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1188e369f14_0_4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</a:t>
            </a:r>
            <a:r>
              <a:rPr lang="es-ES" sz="2400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condition</a:t>
            </a: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8" name="Google Shape;598;g1188e369f14_0_4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1188e369f14_0_4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</a:t>
            </a:r>
            <a:r>
              <a:rPr lang="es-ES" sz="2400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condition</a:t>
            </a: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9" name="Google Shape;619;g1188e369f14_0_4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1188e369f14_0_6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</a:t>
            </a:r>
            <a:r>
              <a:rPr lang="es-ES" sz="2400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condition</a:t>
            </a: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1" name="Google Shape;641;g1188e369f14_0_6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1188e369f14_0_6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</a:t>
            </a:r>
            <a:r>
              <a:rPr lang="es-ES" sz="2400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condition</a:t>
            </a: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9" name="Google Shape;679;g1188e369f14_0_6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1188e369f14_0_6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</a:t>
            </a:r>
            <a:r>
              <a:rPr lang="es-ES" sz="2400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condition</a:t>
            </a: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9" name="Google Shape;679;g1188e369f14_0_6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0210826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1188e369f14_0_6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</a:t>
            </a:r>
            <a:r>
              <a:rPr lang="es-ES" sz="2400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condition</a:t>
            </a: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6" name="Google Shape;706;g1188e369f14_0_6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g1188e369f14_0_7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</a:t>
            </a:r>
            <a:r>
              <a:rPr lang="es-ES" sz="2400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condition</a:t>
            </a: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6" name="Google Shape;726;g1188e369f14_0_7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g1188e369f14_0_8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</a:t>
            </a:r>
            <a:r>
              <a:rPr lang="es-ES" sz="2400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condition</a:t>
            </a: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2" name="Google Shape;772;g1188e369f14_0_8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g10e655267c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</a:t>
            </a:r>
            <a:r>
              <a:rPr lang="es-ES" sz="2400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condition</a:t>
            </a: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2" name="Google Shape;782;g10e655267c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g10411c0b8ff_0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7" name="Google Shape;807;g10411c0b8ff_0_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g10e4de43856_0_9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21" name="Google Shape;821;g10e4de43856_0_9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g10e4de43856_0_9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21" name="Google Shape;821;g10e4de43856_0_9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1822321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1172ea73a71_0_3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30" name="Google Shape;830;g1172ea73a71_0_3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g118e7b7acc1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37" name="Google Shape;837;g118e7b7acc1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g11829e52e61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46" name="Google Shape;846;g11829e52e61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g11829e52e61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46" name="Google Shape;846;g11829e52e61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9047319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g118e7b7acc1_1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65" name="Google Shape;865;g118e7b7acc1_1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g118e7b7acc1_1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65" name="Google Shape;865;g118e7b7acc1_1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g118e7b7acc1_1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94" name="Google Shape;894;g118e7b7acc1_1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g118e7b7acc1_1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94" name="Google Shape;894;g118e7b7acc1_1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0915923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g1172ea73a71_0_3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25" name="Google Shape;925;g1172ea73a71_0_3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g118e7b7acc1_1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81" name="Google Shape;981;g118e7b7acc1_1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11829e52e61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28" name="Google Shape;1028;g11829e52e61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g11829e52e61_0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36" name="Google Shape;1036;g11829e52e61_0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g11829e52e61_0_1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  <p:sp>
        <p:nvSpPr>
          <p:cNvPr id="1045" name="Google Shape;1045;g11829e52e61_0_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g118e7b7acc1_1_2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55" name="Google Shape;1055;g118e7b7acc1_1_2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g118e7b7acc1_1_3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68" name="Google Shape;1068;g118e7b7acc1_1_3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g118e7b7acc1_1_3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88" name="Google Shape;1088;g118e7b7acc1_1_3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0453981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g118e7b7acc1_1_3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88" name="Google Shape;1088;g118e7b7acc1_1_3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g118e7b7acc1_2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  <p:sp>
        <p:nvSpPr>
          <p:cNvPr id="1149" name="Google Shape;1149;g118e7b7acc1_2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g118e7b7acc1_2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49" name="Google Shape;1149;g118e7b7acc1_2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023480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Google Shape;1220;g118e7b7acc1_2_1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21" name="Google Shape;1221;g118e7b7acc1_2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Google Shape;1228;g118e7b7acc1_2_1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29" name="Google Shape;1229;g118e7b7acc1_2_1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g118e7b7acc1_2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38" name="Google Shape;1238;g118e7b7acc1_2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Google Shape;1249;g118e7b7acc1_2_2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50" name="Google Shape;1250;g118e7b7acc1_2_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" name="Google Shape;1260;g118e7b7acc1_2_2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61" name="Google Shape;1261;g118e7b7acc1_2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1" name="Google Shape;1271;g118e7b7acc1_2_2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72" name="Google Shape;1272;g118e7b7acc1_2_2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Google Shape;1282;g118e7b7acc1_2_2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83" name="Google Shape;1283;g118e7b7acc1_2_2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g118e7b7acc1_2_2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92" name="Google Shape;1292;g118e7b7acc1_2_2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g118e7b7acc1_2_3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05" name="Google Shape;1305;g118e7b7acc1_2_3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Google Shape;1315;g118e7b7acc1_2_3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16" name="Google Shape;1316;g118e7b7acc1_2_3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6" name="Google Shape;1326;g118e7b7acc1_2_3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27" name="Google Shape;1327;g118e7b7acc1_2_3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" name="Google Shape;1335;g118e7b7acc1_2_3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36" name="Google Shape;1336;g118e7b7acc1_2_3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Google Shape;1346;g118e7b7acc1_2_3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47" name="Google Shape;1347;g118e7b7acc1_2_3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Google Shape;1361;g118e7b7acc1_2_3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62" name="Google Shape;1362;g118e7b7acc1_2_3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Google Shape;1382;g118e7b7acc1_2_4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83" name="Google Shape;1383;g118e7b7acc1_2_4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5" name="Google Shape;1395;g10e4de43856_0_10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6" name="Google Shape;1396;g10e4de43856_0_10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" name="Google Shape;1404;g11829e52e61_0_1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5" name="Google Shape;1405;g11829e52e61_0_1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4" name="Google Shape;1414;g11359daf871_0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5" name="Google Shape;1415;g11359daf871_0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Google Shape;1422;g114975471eb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3" name="Google Shape;1423;g114975471eb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2" name="Google Shape;1432;g118e7b7acc1_2_5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3" name="Google Shape;1433;g118e7b7acc1_2_5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" name="Google Shape;1438;g118e7b7acc1_2_4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9" name="Google Shape;1439;g118e7b7acc1_2_4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4" name="Google Shape;1444;g118e7b7acc1_2_4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5" name="Google Shape;1445;g118e7b7acc1_2_4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9" name="Google Shape;1459;g115c7f9ec68_0_2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0" name="Google Shape;1460;g115c7f9ec68_0_2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5" name="Google Shape;1465;g114ae551f2c_0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6" name="Google Shape;1466;g114ae551f2c_0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1" name="Google Shape;1471;g117ac81a7f7_0_8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2" name="Google Shape;1472;g117ac81a7f7_0_8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7" name="Google Shape;1477;g117b835d7eb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8" name="Google Shape;1478;g117b835d7eb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54EFC6-2F92-4E13-B961-A63A460793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76F2C6D-CAFB-44D8-9D3D-F5A367BA19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5F026EC-B5D6-4D83-A457-01DAE0EA9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9191B12-6E98-4529-8DFE-C63E15B2C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F0FC392-DBA9-4D32-93B1-DF4E5BB1A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68102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5FF4AE-CAC7-4BBF-AE34-C379EC15E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C83AA2B-92AE-42A5-BCF6-E98BDE3583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7082BFE-1D32-4479-83ED-A11083042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5F20778-84C0-4301-A4E0-10F9266DF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19CCB08-11A5-48C7-93D0-9383D622F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74745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94BA23-0AB4-4AC3-93DC-F53881019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C9929E9-AF43-4475-9794-9B572F85C4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C50D247-5A16-4ED9-905C-B541C172A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66C9789-EE70-48D0-BC42-A6F6D7E34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2D6E942-C7E5-4333-BDF7-15CF95F1A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04204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938B16-3F67-406F-8896-C5A869B85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A60E17A-AD41-4672-9C99-944730E378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28A3F05-AEEE-48F9-8760-BA226C2BF4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840793A-4279-4444-93A4-9043D37A4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303B0D4-543E-46DA-BE81-54D2A4EA1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E875236-A285-4F7E-B2AA-02F956A11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70090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5C3896-951A-4DB9-8E22-DACD3A717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42C3865-E925-430F-BBFE-7CCF8668AD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E5588A4-4D2B-4258-A424-4AB644D24D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2518C85-5630-41BD-B5C7-0BE9B5CE96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7DF6C0B-3AF4-431B-8284-6CE72DCB17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4BDE952-7D99-4D51-B797-4DF6129DE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EB417C5-DA3D-446E-B651-152F4B987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6B7A783-CBCE-4D23-82A1-495BE8FAB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34238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12725F-C606-4002-81BA-57D4D40EF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6311ACD-59CB-473D-A95A-770B983BE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40A660C-36A3-45CD-8C5C-1ED4EEA51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17ED5B6-B4E1-43CC-9237-973602CE8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03594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D2DC51D-11D6-4E6C-A274-1502ED2A1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E48D94D-B572-4A3F-A07D-B3E7CA38C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13177E2-88CE-4061-A1E2-64D4BF5B9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63681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24E2D6-30D3-4D7C-92E0-7BD982CE8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12F63FE-F153-44EC-8B3F-9AB705E805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B53B2D7-2EBB-4DF4-85BE-E6F6C8A1DA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06675FD-5EDC-4BA5-89E6-5527FDA7B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ADDFFFF-DED3-443F-AF70-AE8622667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A51918A-4D8E-49A8-AED4-7E4D11032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12096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C07736-A43F-4823-A3D8-27A558EB1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A95A70B-4C45-4A90-927B-891E93A1B9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081C756-EC01-425F-81C9-E0CCFAD047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58AC5BF-EEBA-470C-9C6F-522C81E94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1E409BB-9B3B-4F69-8C28-47570F129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40C99D3-07A0-4E76-9435-F682D02AF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9742949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48ACD2-83F5-4E65-9816-AB21E7D4E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68C3005-8107-477C-A680-E897E310A3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7CBF435-23E7-497A-9ADC-36BE59324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D11B139-777A-4BC1-9C85-71598B28B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87BD15A-E716-4D55-B413-340CDF05A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60687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60A9933-DFFE-4FED-9733-EBC96A6A15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6F4986F-5D3E-4A01-A65E-23B40E95A0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0D6847E-AC2C-4D4E-8FD1-1B163A985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1A50FCC-0956-4A29-BB7C-AC033763C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6575AB2-90A3-4094-85A8-397A869CC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824374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deA-Nueva 1">
  <p:cSld name="UdeA-Nueva 1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F8A02B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body" idx="1"/>
          </p:nvPr>
        </p:nvSpPr>
        <p:spPr>
          <a:xfrm>
            <a:off x="838200" y="1318001"/>
            <a:ext cx="10515600" cy="48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dt" idx="10"/>
          </p:nvPr>
        </p:nvSpPr>
        <p:spPr>
          <a:xfrm>
            <a:off x="1204075" y="62974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ftr" idx="11"/>
          </p:nvPr>
        </p:nvSpPr>
        <p:spPr>
          <a:xfrm>
            <a:off x="4861675" y="62801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ldNum" idx="12"/>
          </p:nvPr>
        </p:nvSpPr>
        <p:spPr>
          <a:xfrm>
            <a:off x="91440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493098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deA-Nueva 1 1">
  <p:cSld name="UdeA-Nueva 1 1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8CC63E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"/>
          <p:cNvSpPr txBox="1">
            <a:spLocks noGrp="1"/>
          </p:cNvSpPr>
          <p:nvPr>
            <p:ph type="body" idx="1"/>
          </p:nvPr>
        </p:nvSpPr>
        <p:spPr>
          <a:xfrm>
            <a:off x="838200" y="1318001"/>
            <a:ext cx="10515600" cy="48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39" name="Google Shape;39;p4"/>
          <p:cNvSpPr txBox="1">
            <a:spLocks noGrp="1"/>
          </p:cNvSpPr>
          <p:nvPr>
            <p:ph type="dt" idx="10"/>
          </p:nvPr>
        </p:nvSpPr>
        <p:spPr>
          <a:xfrm>
            <a:off x="12646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4"/>
          <p:cNvSpPr txBox="1">
            <a:spLocks noGrp="1"/>
          </p:cNvSpPr>
          <p:nvPr>
            <p:ph type="ftr" idx="11"/>
          </p:nvPr>
        </p:nvSpPr>
        <p:spPr>
          <a:xfrm>
            <a:off x="4755775" y="62801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4"/>
          <p:cNvSpPr txBox="1">
            <a:spLocks noGrp="1"/>
          </p:cNvSpPr>
          <p:nvPr>
            <p:ph type="sldNum" idx="12"/>
          </p:nvPr>
        </p:nvSpPr>
        <p:spPr>
          <a:xfrm>
            <a:off x="91440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pic>
        <p:nvPicPr>
          <p:cNvPr id="42" name="Google Shape;42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403368" y="200380"/>
            <a:ext cx="2262624" cy="710577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4"/>
          <p:cNvSpPr/>
          <p:nvPr/>
        </p:nvSpPr>
        <p:spPr>
          <a:xfrm rot="5400000">
            <a:off x="-3061973" y="3062100"/>
            <a:ext cx="6858000" cy="733800"/>
          </a:xfrm>
          <a:prstGeom prst="rect">
            <a:avLst/>
          </a:prstGeom>
          <a:solidFill>
            <a:srgbClr val="8CC63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C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271779" y="466585"/>
            <a:ext cx="178200" cy="178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11347918" y="6390907"/>
            <a:ext cx="178200" cy="178200"/>
          </a:xfrm>
          <a:prstGeom prst="rect">
            <a:avLst/>
          </a:prstGeom>
          <a:solidFill>
            <a:srgbClr val="8CC63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11042181" y="6386352"/>
            <a:ext cx="178200" cy="178200"/>
          </a:xfrm>
          <a:prstGeom prst="rect">
            <a:avLst/>
          </a:prstGeom>
          <a:solidFill>
            <a:srgbClr val="701E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10736444" y="6390907"/>
            <a:ext cx="178200" cy="178200"/>
          </a:xfrm>
          <a:prstGeom prst="rect">
            <a:avLst/>
          </a:prstGeom>
          <a:solidFill>
            <a:srgbClr val="0B69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407081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deA-Nueva 1 1 1">
  <p:cSld name="UdeA-Nueva 1 1 1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701E5C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5"/>
          <p:cNvSpPr txBox="1">
            <a:spLocks noGrp="1"/>
          </p:cNvSpPr>
          <p:nvPr>
            <p:ph type="body" idx="1"/>
          </p:nvPr>
        </p:nvSpPr>
        <p:spPr>
          <a:xfrm>
            <a:off x="838200" y="1318001"/>
            <a:ext cx="10515600" cy="48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dt" idx="10"/>
          </p:nvPr>
        </p:nvSpPr>
        <p:spPr>
          <a:xfrm>
            <a:off x="12646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ftr" idx="11"/>
          </p:nvPr>
        </p:nvSpPr>
        <p:spPr>
          <a:xfrm>
            <a:off x="4755775" y="62801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sldNum" idx="12"/>
          </p:nvPr>
        </p:nvSpPr>
        <p:spPr>
          <a:xfrm>
            <a:off x="91440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pic>
        <p:nvPicPr>
          <p:cNvPr id="54" name="Google Shape;54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403368" y="200380"/>
            <a:ext cx="2262624" cy="710577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5"/>
          <p:cNvSpPr/>
          <p:nvPr/>
        </p:nvSpPr>
        <p:spPr>
          <a:xfrm rot="5400000">
            <a:off x="-3061973" y="3062100"/>
            <a:ext cx="6858000" cy="733800"/>
          </a:xfrm>
          <a:prstGeom prst="rect">
            <a:avLst/>
          </a:prstGeom>
          <a:solidFill>
            <a:srgbClr val="701E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C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271779" y="466585"/>
            <a:ext cx="178200" cy="178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11347918" y="6390907"/>
            <a:ext cx="178200" cy="178200"/>
          </a:xfrm>
          <a:prstGeom prst="rect">
            <a:avLst/>
          </a:prstGeom>
          <a:solidFill>
            <a:srgbClr val="701E5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11042181" y="6386352"/>
            <a:ext cx="178200" cy="178200"/>
          </a:xfrm>
          <a:prstGeom prst="rect">
            <a:avLst/>
          </a:prstGeom>
          <a:solidFill>
            <a:srgbClr val="0B69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10736444" y="6390907"/>
            <a:ext cx="178200" cy="178200"/>
          </a:xfrm>
          <a:prstGeom prst="rect">
            <a:avLst/>
          </a:prstGeom>
          <a:solidFill>
            <a:srgbClr val="F8A0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802085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731694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823380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296434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9654041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30131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00862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4110562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9220981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35301356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5809287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2215908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deA-Nueva 1 1">
  <p:cSld name="UdeA-Nueva 1 1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8CC63E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"/>
          <p:cNvSpPr txBox="1">
            <a:spLocks noGrp="1"/>
          </p:cNvSpPr>
          <p:nvPr>
            <p:ph type="body" idx="1"/>
          </p:nvPr>
        </p:nvSpPr>
        <p:spPr>
          <a:xfrm>
            <a:off x="838200" y="1318001"/>
            <a:ext cx="10515600" cy="48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39" name="Google Shape;39;p4"/>
          <p:cNvSpPr txBox="1">
            <a:spLocks noGrp="1"/>
          </p:cNvSpPr>
          <p:nvPr>
            <p:ph type="dt" idx="10"/>
          </p:nvPr>
        </p:nvSpPr>
        <p:spPr>
          <a:xfrm>
            <a:off x="12646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4"/>
          <p:cNvSpPr txBox="1">
            <a:spLocks noGrp="1"/>
          </p:cNvSpPr>
          <p:nvPr>
            <p:ph type="ftr" idx="11"/>
          </p:nvPr>
        </p:nvSpPr>
        <p:spPr>
          <a:xfrm>
            <a:off x="4755775" y="62801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4"/>
          <p:cNvSpPr txBox="1">
            <a:spLocks noGrp="1"/>
          </p:cNvSpPr>
          <p:nvPr>
            <p:ph type="sldNum" idx="12"/>
          </p:nvPr>
        </p:nvSpPr>
        <p:spPr>
          <a:xfrm>
            <a:off x="91440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0805555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deA-Nueva 1">
  <p:cSld name="UdeA-Nueva 1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F8A02B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body" idx="1"/>
          </p:nvPr>
        </p:nvSpPr>
        <p:spPr>
          <a:xfrm>
            <a:off x="838200" y="1318001"/>
            <a:ext cx="10515600" cy="48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dt" idx="10"/>
          </p:nvPr>
        </p:nvSpPr>
        <p:spPr>
          <a:xfrm>
            <a:off x="1204075" y="62974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ftr" idx="11"/>
          </p:nvPr>
        </p:nvSpPr>
        <p:spPr>
          <a:xfrm>
            <a:off x="4861675" y="62801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ldNum" idx="12"/>
          </p:nvPr>
        </p:nvSpPr>
        <p:spPr>
          <a:xfrm>
            <a:off x="91440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3608345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deA-Nueva 1 1 1">
  <p:cSld name="UdeA-Nueva 1 1 1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701E5C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5"/>
          <p:cNvSpPr txBox="1">
            <a:spLocks noGrp="1"/>
          </p:cNvSpPr>
          <p:nvPr>
            <p:ph type="body" idx="1"/>
          </p:nvPr>
        </p:nvSpPr>
        <p:spPr>
          <a:xfrm>
            <a:off x="838200" y="1318001"/>
            <a:ext cx="10515600" cy="48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dt" idx="10"/>
          </p:nvPr>
        </p:nvSpPr>
        <p:spPr>
          <a:xfrm>
            <a:off x="12646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ftr" idx="11"/>
          </p:nvPr>
        </p:nvSpPr>
        <p:spPr>
          <a:xfrm>
            <a:off x="4755775" y="62801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sldNum" idx="12"/>
          </p:nvPr>
        </p:nvSpPr>
        <p:spPr>
          <a:xfrm>
            <a:off x="91440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5368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195C28F-71F9-496E-A52E-B0A9C891B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F544CEF-7090-4EF7-ABC2-01FDE59871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2C934C1-DE25-48B2-9A9C-F22C174704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6529388-65E5-4496-A9AF-B22A7AC842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A2886E-44BF-4964-9363-44A3C2C64C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91832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7" r:id="rId12"/>
    <p:sldLayoutId id="2147483678" r:id="rId13"/>
    <p:sldLayoutId id="2147483679" r:id="rId1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62606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94" r:id="rId1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6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2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23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23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2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31.png"/><Relationship Id="rId5" Type="http://schemas.openxmlformats.org/officeDocument/2006/relationships/image" Target="../media/image29.png"/><Relationship Id="rId4" Type="http://schemas.openxmlformats.org/officeDocument/2006/relationships/image" Target="../media/image2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8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8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uilleiguaran/xv6/blob/master/spinlock.h" TargetMode="Externa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8.xml"/><Relationship Id="rId4" Type="http://schemas.openxmlformats.org/officeDocument/2006/relationships/hyperlink" Target="https://github.com/ctdk/xv6/blob/master/spinlock.c" TargetMode="Externa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8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23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8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8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22.png"/><Relationship Id="rId5" Type="http://schemas.openxmlformats.org/officeDocument/2006/relationships/image" Target="../media/image23.png"/><Relationship Id="rId4" Type="http://schemas.openxmlformats.org/officeDocument/2006/relationships/image" Target="../media/image29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8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8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8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8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8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35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8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8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8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8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8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8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8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8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8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6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6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6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42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7.xml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hyperlink" Target="https://medium.com/basecs" TargetMode="External"/><Relationship Id="rId13" Type="http://schemas.openxmlformats.org/officeDocument/2006/relationships/hyperlink" Target="http://turnoff.us/geek/arduino-project/" TargetMode="External"/><Relationship Id="rId18" Type="http://schemas.openxmlformats.org/officeDocument/2006/relationships/hyperlink" Target="https://www.cs.cornell.edu/courses/cs3410/2012sp/" TargetMode="External"/><Relationship Id="rId3" Type="http://schemas.openxmlformats.org/officeDocument/2006/relationships/hyperlink" Target="https://adit.io/posts/2013-05-15-Locks,-Actors,-And-STM-In-Pictures.html" TargetMode="External"/><Relationship Id="rId7" Type="http://schemas.openxmlformats.org/officeDocument/2006/relationships/hyperlink" Target="https://code-cartoons.com/" TargetMode="External"/><Relationship Id="rId12" Type="http://schemas.openxmlformats.org/officeDocument/2006/relationships/hyperlink" Target="http://turnoff.us/" TargetMode="External"/><Relationship Id="rId17" Type="http://schemas.openxmlformats.org/officeDocument/2006/relationships/hyperlink" Target="https://github.com/Marcombo/Programacion_de_servicios_y_procesos_en_Python" TargetMode="External"/><Relationship Id="rId2" Type="http://schemas.openxmlformats.org/officeDocument/2006/relationships/notesSlide" Target="../notesSlides/notesSlide67.xml"/><Relationship Id="rId16" Type="http://schemas.openxmlformats.org/officeDocument/2006/relationships/hyperlink" Target="https://realpython.com/intro-to-python-threading/" TargetMode="External"/><Relationship Id="rId20" Type="http://schemas.openxmlformats.org/officeDocument/2006/relationships/hyperlink" Target="https://www.cs.cornell.edu/courses/cs3410/2012sp/schedule.html" TargetMode="External"/><Relationship Id="rId1" Type="http://schemas.openxmlformats.org/officeDocument/2006/relationships/slideLayout" Target="../slideLayouts/slideLayout27.xml"/><Relationship Id="rId6" Type="http://schemas.openxmlformats.org/officeDocument/2006/relationships/hyperlink" Target="https://jvns.ca/teach-tech-with-cartoons/" TargetMode="External"/><Relationship Id="rId11" Type="http://schemas.openxmlformats.org/officeDocument/2006/relationships/hyperlink" Target="https://pbfcomics.com/" TargetMode="External"/><Relationship Id="rId5" Type="http://schemas.openxmlformats.org/officeDocument/2006/relationships/hyperlink" Target="https://preshing.com/20150316/semaphores-are-surprisingly-versatile/" TargetMode="External"/><Relationship Id="rId15" Type="http://schemas.openxmlformats.org/officeDocument/2006/relationships/hyperlink" Target="https://jakegut.com/posts/sg-os/" TargetMode="External"/><Relationship Id="rId10" Type="http://schemas.openxmlformats.org/officeDocument/2006/relationships/hyperlink" Target="https://www.qwantz.com/" TargetMode="External"/><Relationship Id="rId19" Type="http://schemas.openxmlformats.org/officeDocument/2006/relationships/hyperlink" Target="https://www.cs.cornell.edu/courses/cs3410/2012sp/lecture/25-sync-i-g.pdf" TargetMode="External"/><Relationship Id="rId4" Type="http://schemas.openxmlformats.org/officeDocument/2006/relationships/hyperlink" Target="https://link.springer.com/chapter/10.1007/978-1-4842-4398-5_5" TargetMode="External"/><Relationship Id="rId9" Type="http://schemas.openxmlformats.org/officeDocument/2006/relationships/hyperlink" Target="https://xkcd.com/" TargetMode="External"/><Relationship Id="rId14" Type="http://schemas.openxmlformats.org/officeDocument/2006/relationships/hyperlink" Target="https://prepinsta.com/operating-systems/critical-section-problem/" TargetMode="External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hyperlink" Target="https://emeryberger.com/teaching/grad-systems/" TargetMode="External"/><Relationship Id="rId13" Type="http://schemas.openxmlformats.org/officeDocument/2006/relationships/hyperlink" Target="https://oslab.kaist.ac.kr/ee415-spring-2022/" TargetMode="External"/><Relationship Id="rId18" Type="http://schemas.openxmlformats.org/officeDocument/2006/relationships/hyperlink" Target="https://realpython.com/python-concurrency/" TargetMode="External"/><Relationship Id="rId3" Type="http://schemas.openxmlformats.org/officeDocument/2006/relationships/hyperlink" Target="https://csapp.cs.cmu.edu/" TargetMode="External"/><Relationship Id="rId7" Type="http://schemas.openxmlformats.org/officeDocument/2006/relationships/hyperlink" Target="https://courses.engr.illinois.edu/cs241/sp2014/" TargetMode="External"/><Relationship Id="rId12" Type="http://schemas.openxmlformats.org/officeDocument/2006/relationships/hyperlink" Target="http://www.cs.toronto.edu/~ylzhang/csc258/" TargetMode="External"/><Relationship Id="rId17" Type="http://schemas.openxmlformats.org/officeDocument/2006/relationships/hyperlink" Target="https://cpentalk.com/986/examples-applications-benefit-directly-ability-throughput" TargetMode="External"/><Relationship Id="rId2" Type="http://schemas.openxmlformats.org/officeDocument/2006/relationships/notesSlide" Target="../notesSlides/notesSlide68.xml"/><Relationship Id="rId16" Type="http://schemas.openxmlformats.org/officeDocument/2006/relationships/hyperlink" Target="https://www.quora.com/What-are-some-best-examples-of-multithreaded-applications" TargetMode="External"/><Relationship Id="rId1" Type="http://schemas.openxmlformats.org/officeDocument/2006/relationships/slideLayout" Target="../slideLayouts/slideLayout27.xml"/><Relationship Id="rId6" Type="http://schemas.openxmlformats.org/officeDocument/2006/relationships/hyperlink" Target="https://web.eecs.umich.edu/~akamil/teaching/sp04/" TargetMode="External"/><Relationship Id="rId11" Type="http://schemas.openxmlformats.org/officeDocument/2006/relationships/hyperlink" Target="https://github.com/JoeCameron1/CSC369-OperatingSystems-Assignments/tree/master/Assignment2" TargetMode="External"/><Relationship Id="rId5" Type="http://schemas.openxmlformats.org/officeDocument/2006/relationships/hyperlink" Target="http://www.cs.cmu.edu/~213/" TargetMode="External"/><Relationship Id="rId15" Type="http://schemas.openxmlformats.org/officeDocument/2006/relationships/hyperlink" Target="https://www.iitk.ac.in/esc101/05Aug/tutorial/essential/threads/definition.html" TargetMode="External"/><Relationship Id="rId10" Type="http://schemas.openxmlformats.org/officeDocument/2006/relationships/hyperlink" Target="https://oslab.kaist.ac.kr/ee488-fall-2020/" TargetMode="External"/><Relationship Id="rId4" Type="http://schemas.openxmlformats.org/officeDocument/2006/relationships/hyperlink" Target="https://applied-programming.github.io/Operating-Systems-Notes/5-Memory-Management/" TargetMode="External"/><Relationship Id="rId9" Type="http://schemas.openxmlformats.org/officeDocument/2006/relationships/hyperlink" Target="https://oslab.kaist.ac.kr/courseware/" TargetMode="External"/><Relationship Id="rId14" Type="http://schemas.openxmlformats.org/officeDocument/2006/relationships/hyperlink" Target="https://prepinsta.com/operating-systems/multiprocessor-operating-systems/" TargetMode="External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hyperlink" Target="https://realpython.com/intro-to-python-threading/" TargetMode="External"/><Relationship Id="rId13" Type="http://schemas.openxmlformats.org/officeDocument/2006/relationships/hyperlink" Target="https://applied-programming.github.io/Operating-Systems-Notes/6-Inter-Process-Communication/" TargetMode="External"/><Relationship Id="rId18" Type="http://schemas.openxmlformats.org/officeDocument/2006/relationships/hyperlink" Target="http://www.cs.fsu.edu/~baker/realtime/restricted/notes/philos.html" TargetMode="External"/><Relationship Id="rId3" Type="http://schemas.openxmlformats.org/officeDocument/2006/relationships/hyperlink" Target="https://developers.google.com/web/updates/2018/09/inside-browser-part1" TargetMode="External"/><Relationship Id="rId21" Type="http://schemas.openxmlformats.org/officeDocument/2006/relationships/hyperlink" Target="http://people.cs.aau.dk/~ask/Undervisning/MVP/html/deadlock.pdf" TargetMode="External"/><Relationship Id="rId7" Type="http://schemas.openxmlformats.org/officeDocument/2006/relationships/hyperlink" Target="https://realpython.com/python-sockets/" TargetMode="External"/><Relationship Id="rId12" Type="http://schemas.openxmlformats.org/officeDocument/2006/relationships/hyperlink" Target="https://prepinsta.com/operating-systems/inter-process-communication/" TargetMode="External"/><Relationship Id="rId17" Type="http://schemas.openxmlformats.org/officeDocument/2006/relationships/hyperlink" Target="http://web.mit.edu/java_v1.0.2/www/tutorial/java/threads/deadlock.html" TargetMode="External"/><Relationship Id="rId2" Type="http://schemas.openxmlformats.org/officeDocument/2006/relationships/notesSlide" Target="../notesSlides/notesSlide69.xml"/><Relationship Id="rId16" Type="http://schemas.openxmlformats.org/officeDocument/2006/relationships/hyperlink" Target="https://singa.apache.org/" TargetMode="External"/><Relationship Id="rId20" Type="http://schemas.openxmlformats.org/officeDocument/2006/relationships/hyperlink" Target="https://www.kalasim.org/examples/dining_philosophers/" TargetMode="External"/><Relationship Id="rId1" Type="http://schemas.openxmlformats.org/officeDocument/2006/relationships/slideLayout" Target="../slideLayouts/slideLayout27.xml"/><Relationship Id="rId6" Type="http://schemas.openxmlformats.org/officeDocument/2006/relationships/hyperlink" Target="https://www.cs.uic.edu/~jbell/CourseNotes/OperatingSystems/4_Threads.html" TargetMode="External"/><Relationship Id="rId11" Type="http://schemas.openxmlformats.org/officeDocument/2006/relationships/hyperlink" Target="https://eecs485staff.github.io/p4-mapreduce/threads-sockets.html" TargetMode="External"/><Relationship Id="rId5" Type="http://schemas.openxmlformats.org/officeDocument/2006/relationships/hyperlink" Target="https://www.informit.com/articles/article.aspx?p=25075&amp;seqNum=3" TargetMode="External"/><Relationship Id="rId15" Type="http://schemas.openxmlformats.org/officeDocument/2006/relationships/hyperlink" Target="https://www.iitk.ac.in/esc101/05Aug/tutorial/essential/threads/definition.html" TargetMode="External"/><Relationship Id="rId10" Type="http://schemas.openxmlformats.org/officeDocument/2006/relationships/hyperlink" Target="https://www.geeksforgeeks.org/socket-programming-multi-threading-python/" TargetMode="External"/><Relationship Id="rId19" Type="http://schemas.openxmlformats.org/officeDocument/2006/relationships/hyperlink" Target="https://www2.seas.gwu.edu/~mfeldman/papers/portable-diners.html" TargetMode="External"/><Relationship Id="rId4" Type="http://schemas.openxmlformats.org/officeDocument/2006/relationships/hyperlink" Target="https://developers.google.com/web/updates/2018/09/inside-browser-part2" TargetMode="External"/><Relationship Id="rId9" Type="http://schemas.openxmlformats.org/officeDocument/2006/relationships/hyperlink" Target="https://realpython.com/python-concurrency/" TargetMode="External"/><Relationship Id="rId14" Type="http://schemas.openxmlformats.org/officeDocument/2006/relationships/hyperlink" Target="https://applied-programming.github.io/Operating-Systems-Notes/3-Threads-and-Concurrency/" TargetMode="External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eas.upenn.edu/~cse39904/" TargetMode="External"/><Relationship Id="rId13" Type="http://schemas.openxmlformats.org/officeDocument/2006/relationships/hyperlink" Target="https://github.com/ZzCalvinzZ/dining_philosophers_web_workers" TargetMode="External"/><Relationship Id="rId18" Type="http://schemas.openxmlformats.org/officeDocument/2006/relationships/hyperlink" Target="https://github.com/tpn/pdfs" TargetMode="External"/><Relationship Id="rId3" Type="http://schemas.openxmlformats.org/officeDocument/2006/relationships/hyperlink" Target="https://github.com/fab327/JavaFX_DiningPhilosophers" TargetMode="External"/><Relationship Id="rId7" Type="http://schemas.openxmlformats.org/officeDocument/2006/relationships/hyperlink" Target="https://www.seas.upenn.edu/~cse39904/homework/hw06.pdf" TargetMode="External"/><Relationship Id="rId12" Type="http://schemas.openxmlformats.org/officeDocument/2006/relationships/hyperlink" Target="https://jnafolayan.github.io/dining-philosopher/" TargetMode="External"/><Relationship Id="rId17" Type="http://schemas.openxmlformats.org/officeDocument/2006/relationships/hyperlink" Target="https://adit.io/posts/2013-05-11-The-Dining-Philosophers-Problem-With-Ron-Swanson.html" TargetMode="External"/><Relationship Id="rId2" Type="http://schemas.openxmlformats.org/officeDocument/2006/relationships/notesSlide" Target="../notesSlides/notesSlide70.xml"/><Relationship Id="rId16" Type="http://schemas.openxmlformats.org/officeDocument/2006/relationships/hyperlink" Target="https://www.wikiwand.com/en/Dining_philosophers_problem" TargetMode="External"/><Relationship Id="rId1" Type="http://schemas.openxmlformats.org/officeDocument/2006/relationships/slideLayout" Target="../slideLayouts/slideLayout27.xml"/><Relationship Id="rId6" Type="http://schemas.openxmlformats.org/officeDocument/2006/relationships/hyperlink" Target="https://rosettacode.org/wiki/Dining_philosophers" TargetMode="External"/><Relationship Id="rId11" Type="http://schemas.openxmlformats.org/officeDocument/2006/relationships/hyperlink" Target="https://github.com/jnafolayan/dining-philosopher" TargetMode="External"/><Relationship Id="rId5" Type="http://schemas.openxmlformats.org/officeDocument/2006/relationships/hyperlink" Target="https://www.geeksforgeeks.org/dining-philosopher-problem-using-semaphores/" TargetMode="External"/><Relationship Id="rId15" Type="http://schemas.openxmlformats.org/officeDocument/2006/relationships/hyperlink" Target="https://github.com/lievi/dining_philosophers" TargetMode="External"/><Relationship Id="rId10" Type="http://schemas.openxmlformats.org/officeDocument/2006/relationships/hyperlink" Target="https://github.com/smonn/hungrythinkers" TargetMode="External"/><Relationship Id="rId19" Type="http://schemas.openxmlformats.org/officeDocument/2006/relationships/hyperlink" Target="https://jakegut.com/posts/sg-os/" TargetMode="External"/><Relationship Id="rId4" Type="http://schemas.openxmlformats.org/officeDocument/2006/relationships/hyperlink" Target="https://github.com/djunderw/dining-philosophers" TargetMode="External"/><Relationship Id="rId9" Type="http://schemas.openxmlformats.org/officeDocument/2006/relationships/hyperlink" Target="https://www.seas.upenn.edu/~cse39904/notes.html" TargetMode="External"/><Relationship Id="rId14" Type="http://schemas.openxmlformats.org/officeDocument/2006/relationships/hyperlink" Target="https://dev.to/vunderkind/the-dining-philosophers-problem-or-your-introduction-to-thinking-in-computer-science-8ii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/>
          <p:cNvSpPr txBox="1">
            <a:spLocks noGrp="1"/>
          </p:cNvSpPr>
          <p:nvPr>
            <p:ph type="ctrTitle"/>
          </p:nvPr>
        </p:nvSpPr>
        <p:spPr>
          <a:xfrm>
            <a:off x="408724" y="2964875"/>
            <a:ext cx="11330991" cy="922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oboto Slab"/>
              <a:buNone/>
            </a:pPr>
            <a:r>
              <a:rPr lang="es-ES" b="1" dirty="0"/>
              <a:t>Apuntes – Clase 15</a:t>
            </a:r>
            <a:endParaRPr sz="3200" dirty="0"/>
          </a:p>
        </p:txBody>
      </p:sp>
      <p:sp>
        <p:nvSpPr>
          <p:cNvPr id="140" name="Google Shape;140;p17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4400" b="1" dirty="0">
                <a:ea typeface="Roboto"/>
                <a:cs typeface="Roboto"/>
                <a:sym typeface="Roboto"/>
              </a:rPr>
              <a:t>Locks</a:t>
            </a:r>
            <a:endParaRPr lang="es-ES" sz="4000" b="1" dirty="0"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MX" sz="4000" b="1" dirty="0"/>
              <a:t>Sistemas Operativos</a:t>
            </a:r>
          </a:p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MX" sz="3200" dirty="0">
                <a:ea typeface="Roboto"/>
                <a:cs typeface="Roboto"/>
                <a:sym typeface="Roboto"/>
              </a:rPr>
              <a:t>Universidad de Antioquia</a:t>
            </a:r>
          </a:p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MX" sz="3200" dirty="0">
                <a:ea typeface="Roboto"/>
                <a:cs typeface="Roboto"/>
                <a:sym typeface="Roboto"/>
              </a:rPr>
              <a:t>Facultad de Ingeniería</a:t>
            </a:r>
          </a:p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MX" sz="3200" dirty="0">
                <a:ea typeface="Roboto"/>
                <a:cs typeface="Roboto"/>
                <a:sym typeface="Roboto"/>
              </a:rPr>
              <a:t>Ingeniería de Sistemas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0"/>
          <p:cNvSpPr txBox="1">
            <a:spLocks noGrp="1"/>
          </p:cNvSpPr>
          <p:nvPr>
            <p:ph type="title"/>
          </p:nvPr>
        </p:nvSpPr>
        <p:spPr>
          <a:xfrm>
            <a:off x="575187" y="96038"/>
            <a:ext cx="8645463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Resumen virtualización</a:t>
            </a:r>
            <a:endParaRPr dirty="0"/>
          </a:p>
        </p:txBody>
      </p:sp>
      <p:sp>
        <p:nvSpPr>
          <p:cNvPr id="158" name="Google Shape;158;p20"/>
          <p:cNvSpPr txBox="1">
            <a:spLocks noGrp="1"/>
          </p:cNvSpPr>
          <p:nvPr>
            <p:ph type="body" idx="1"/>
          </p:nvPr>
        </p:nvSpPr>
        <p:spPr>
          <a:xfrm>
            <a:off x="647100" y="835600"/>
            <a:ext cx="4751100" cy="72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/>
              <a:t>Procesos y virtualización</a:t>
            </a:r>
            <a:endParaRPr sz="2800" b="1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/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159" name="Google Shape;159;p20"/>
          <p:cNvGrpSpPr/>
          <p:nvPr/>
        </p:nvGrpSpPr>
        <p:grpSpPr>
          <a:xfrm>
            <a:off x="10440900" y="1349675"/>
            <a:ext cx="1368600" cy="2104675"/>
            <a:chOff x="6161500" y="2642175"/>
            <a:chExt cx="1368600" cy="2104675"/>
          </a:xfrm>
        </p:grpSpPr>
        <p:sp>
          <p:nvSpPr>
            <p:cNvPr id="160" name="Google Shape;160;p20"/>
            <p:cNvSpPr txBox="1"/>
            <p:nvPr/>
          </p:nvSpPr>
          <p:spPr>
            <a:xfrm>
              <a:off x="6295300" y="2642175"/>
              <a:ext cx="9702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latin typeface="Consolas" panose="020B0609020204030204" pitchFamily="49" charset="0"/>
                  <a:ea typeface="Courier New"/>
                  <a:cs typeface="Courier New"/>
                  <a:sym typeface="Courier New"/>
                </a:rPr>
                <a:t>CPU</a:t>
              </a:r>
              <a:endParaRPr sz="1600" b="1">
                <a:latin typeface="Consolas" panose="020B0609020204030204" pitchFamily="49" charset="0"/>
                <a:ea typeface="Courier New"/>
                <a:cs typeface="Courier New"/>
                <a:sym typeface="Courier New"/>
              </a:endParaRPr>
            </a:p>
          </p:txBody>
        </p:sp>
        <p:grpSp>
          <p:nvGrpSpPr>
            <p:cNvPr id="161" name="Google Shape;161;p20"/>
            <p:cNvGrpSpPr/>
            <p:nvPr/>
          </p:nvGrpSpPr>
          <p:grpSpPr>
            <a:xfrm>
              <a:off x="6161500" y="3042363"/>
              <a:ext cx="1338300" cy="1401900"/>
              <a:chOff x="6161500" y="3042363"/>
              <a:chExt cx="1338300" cy="1401900"/>
            </a:xfrm>
          </p:grpSpPr>
          <p:sp>
            <p:nvSpPr>
              <p:cNvPr id="162" name="Google Shape;162;p20"/>
              <p:cNvSpPr/>
              <p:nvPr/>
            </p:nvSpPr>
            <p:spPr>
              <a:xfrm>
                <a:off x="6161500" y="3042363"/>
                <a:ext cx="1338300" cy="1401900"/>
              </a:xfrm>
              <a:prstGeom prst="rect">
                <a:avLst/>
              </a:prstGeom>
              <a:solidFill>
                <a:srgbClr val="FFE599"/>
              </a:solidFill>
              <a:ln w="1905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Consolas" panose="020B0609020204030204" pitchFamily="49" charset="0"/>
                </a:endParaRPr>
              </a:p>
            </p:txBody>
          </p:sp>
          <p:grpSp>
            <p:nvGrpSpPr>
              <p:cNvPr id="163" name="Google Shape;163;p20"/>
              <p:cNvGrpSpPr/>
              <p:nvPr/>
            </p:nvGrpSpPr>
            <p:grpSpPr>
              <a:xfrm>
                <a:off x="6213550" y="3096950"/>
                <a:ext cx="1096575" cy="430857"/>
                <a:chOff x="6213550" y="3096950"/>
                <a:chExt cx="1096575" cy="430857"/>
              </a:xfrm>
            </p:grpSpPr>
            <p:sp>
              <p:nvSpPr>
                <p:cNvPr id="164" name="Google Shape;164;p20"/>
                <p:cNvSpPr/>
                <p:nvPr/>
              </p:nvSpPr>
              <p:spPr>
                <a:xfrm>
                  <a:off x="6618625" y="3212150"/>
                  <a:ext cx="691500" cy="200400"/>
                </a:xfrm>
                <a:prstGeom prst="rect">
                  <a:avLst/>
                </a:prstGeom>
                <a:solidFill>
                  <a:srgbClr val="EA9999"/>
                </a:solidFill>
                <a:ln w="19050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Consolas" panose="020B0609020204030204" pitchFamily="49" charset="0"/>
                  </a:endParaRPr>
                </a:p>
              </p:txBody>
            </p:sp>
            <p:sp>
              <p:nvSpPr>
                <p:cNvPr id="165" name="Google Shape;165;p20"/>
                <p:cNvSpPr txBox="1"/>
                <p:nvPr/>
              </p:nvSpPr>
              <p:spPr>
                <a:xfrm>
                  <a:off x="6213550" y="3096950"/>
                  <a:ext cx="427500" cy="43085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600" b="1" dirty="0">
                      <a:latin typeface="Consolas" panose="020B0609020204030204" pitchFamily="49" charset="0"/>
                      <a:ea typeface="Courier New"/>
                      <a:cs typeface="Courier New"/>
                      <a:sym typeface="Courier New"/>
                    </a:rPr>
                    <a:t>PC</a:t>
                  </a:r>
                  <a:endParaRPr sz="1600" b="1" dirty="0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endParaRPr>
                </a:p>
              </p:txBody>
            </p:sp>
          </p:grpSp>
          <p:grpSp>
            <p:nvGrpSpPr>
              <p:cNvPr id="166" name="Google Shape;166;p20"/>
              <p:cNvGrpSpPr/>
              <p:nvPr/>
            </p:nvGrpSpPr>
            <p:grpSpPr>
              <a:xfrm>
                <a:off x="6213550" y="3412550"/>
                <a:ext cx="1096575" cy="430857"/>
                <a:chOff x="6213550" y="3412550"/>
                <a:chExt cx="1096575" cy="430857"/>
              </a:xfrm>
            </p:grpSpPr>
            <p:sp>
              <p:nvSpPr>
                <p:cNvPr id="167" name="Google Shape;167;p20"/>
                <p:cNvSpPr txBox="1"/>
                <p:nvPr/>
              </p:nvSpPr>
              <p:spPr>
                <a:xfrm>
                  <a:off x="6213550" y="3412550"/>
                  <a:ext cx="427500" cy="43085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600" b="1" dirty="0">
                      <a:latin typeface="Consolas" panose="020B0609020204030204" pitchFamily="49" charset="0"/>
                      <a:ea typeface="Courier New"/>
                      <a:cs typeface="Courier New"/>
                      <a:sym typeface="Courier New"/>
                    </a:rPr>
                    <a:t>SP</a:t>
                  </a:r>
                  <a:endParaRPr sz="1600" b="1" dirty="0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168" name="Google Shape;168;p20"/>
                <p:cNvSpPr/>
                <p:nvPr/>
              </p:nvSpPr>
              <p:spPr>
                <a:xfrm>
                  <a:off x="6618625" y="3520825"/>
                  <a:ext cx="691500" cy="200400"/>
                </a:xfrm>
                <a:prstGeom prst="rect">
                  <a:avLst/>
                </a:prstGeom>
                <a:solidFill>
                  <a:srgbClr val="EA9999"/>
                </a:solidFill>
                <a:ln w="19050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Consolas" panose="020B0609020204030204" pitchFamily="49" charset="0"/>
                  </a:endParaRPr>
                </a:p>
              </p:txBody>
            </p:sp>
          </p:grpSp>
          <p:sp>
            <p:nvSpPr>
              <p:cNvPr id="169" name="Google Shape;169;p20"/>
              <p:cNvSpPr txBox="1"/>
              <p:nvPr/>
            </p:nvSpPr>
            <p:spPr>
              <a:xfrm>
                <a:off x="6566050" y="3744900"/>
                <a:ext cx="761400" cy="4616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b="1" dirty="0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rPr>
                  <a:t>...</a:t>
                </a:r>
                <a:endParaRPr b="1" dirty="0">
                  <a:latin typeface="Consolas" panose="020B0609020204030204" pitchFamily="49" charset="0"/>
                  <a:ea typeface="Courier New"/>
                  <a:cs typeface="Courier New"/>
                  <a:sym typeface="Courier New"/>
                </a:endParaRPr>
              </a:p>
            </p:txBody>
          </p:sp>
        </p:grpSp>
        <p:sp>
          <p:nvSpPr>
            <p:cNvPr id="170" name="Google Shape;170;p20"/>
            <p:cNvSpPr txBox="1"/>
            <p:nvPr/>
          </p:nvSpPr>
          <p:spPr>
            <a:xfrm>
              <a:off x="6161500" y="4392850"/>
              <a:ext cx="13686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100" b="1">
                  <a:solidFill>
                    <a:srgbClr val="FF0000"/>
                  </a:solidFill>
                  <a:latin typeface="Consolas" panose="020B0609020204030204" pitchFamily="49" charset="0"/>
                  <a:ea typeface="Courier New"/>
                  <a:cs typeface="Courier New"/>
                  <a:sym typeface="Courier New"/>
                </a:rPr>
                <a:t>Registros</a:t>
              </a:r>
              <a:endParaRPr sz="1100" b="1">
                <a:solidFill>
                  <a:srgbClr val="FF0000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171" name="Google Shape;171;p20"/>
          <p:cNvGrpSpPr/>
          <p:nvPr/>
        </p:nvGrpSpPr>
        <p:grpSpPr>
          <a:xfrm>
            <a:off x="10440900" y="3910875"/>
            <a:ext cx="1368600" cy="2457250"/>
            <a:chOff x="6864325" y="3684375"/>
            <a:chExt cx="1368600" cy="2457250"/>
          </a:xfrm>
        </p:grpSpPr>
        <p:sp>
          <p:nvSpPr>
            <p:cNvPr id="172" name="Google Shape;172;p20"/>
            <p:cNvSpPr/>
            <p:nvPr/>
          </p:nvSpPr>
          <p:spPr>
            <a:xfrm>
              <a:off x="7007125" y="4056075"/>
              <a:ext cx="1076100" cy="1739700"/>
            </a:xfrm>
            <a:prstGeom prst="rect">
              <a:avLst/>
            </a:prstGeom>
            <a:solidFill>
              <a:srgbClr val="EFEFEF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onsolas" panose="020B0609020204030204" pitchFamily="49" charset="0"/>
              </a:endParaRPr>
            </a:p>
          </p:txBody>
        </p:sp>
        <p:grpSp>
          <p:nvGrpSpPr>
            <p:cNvPr id="173" name="Google Shape;173;p20"/>
            <p:cNvGrpSpPr/>
            <p:nvPr/>
          </p:nvGrpSpPr>
          <p:grpSpPr>
            <a:xfrm>
              <a:off x="6864325" y="3684375"/>
              <a:ext cx="1368600" cy="2457250"/>
              <a:chOff x="7805450" y="2441425"/>
              <a:chExt cx="1368600" cy="2457250"/>
            </a:xfrm>
          </p:grpSpPr>
          <p:grpSp>
            <p:nvGrpSpPr>
              <p:cNvPr id="174" name="Google Shape;174;p20"/>
              <p:cNvGrpSpPr/>
              <p:nvPr/>
            </p:nvGrpSpPr>
            <p:grpSpPr>
              <a:xfrm>
                <a:off x="7948250" y="2813125"/>
                <a:ext cx="1076100" cy="1739675"/>
                <a:chOff x="7948250" y="2813125"/>
                <a:chExt cx="1076100" cy="1739675"/>
              </a:xfrm>
            </p:grpSpPr>
            <p:sp>
              <p:nvSpPr>
                <p:cNvPr id="175" name="Google Shape;175;p20"/>
                <p:cNvSpPr/>
                <p:nvPr/>
              </p:nvSpPr>
              <p:spPr>
                <a:xfrm>
                  <a:off x="7948250" y="2813125"/>
                  <a:ext cx="1076100" cy="2844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nsolas" panose="020B0609020204030204" pitchFamily="49" charset="0"/>
                      <a:ea typeface="Courier New"/>
                      <a:cs typeface="Courier New"/>
                      <a:sym typeface="Courier New"/>
                    </a:rPr>
                    <a:t>Code</a:t>
                  </a:r>
                  <a:endParaRPr sz="800" b="1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176" name="Google Shape;176;p20"/>
                <p:cNvSpPr/>
                <p:nvPr/>
              </p:nvSpPr>
              <p:spPr>
                <a:xfrm>
                  <a:off x="7948250" y="310125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nsolas" panose="020B0609020204030204" pitchFamily="49" charset="0"/>
                      <a:ea typeface="Courier New"/>
                      <a:cs typeface="Courier New"/>
                      <a:sym typeface="Courier New"/>
                    </a:rPr>
                    <a:t>heap</a:t>
                  </a:r>
                  <a:endParaRPr>
                    <a:latin typeface="Consolas" panose="020B0609020204030204" pitchFamily="49" charset="0"/>
                  </a:endParaRPr>
                </a:p>
              </p:txBody>
            </p:sp>
            <p:sp>
              <p:nvSpPr>
                <p:cNvPr id="177" name="Google Shape;177;p20"/>
                <p:cNvSpPr/>
                <p:nvPr/>
              </p:nvSpPr>
              <p:spPr>
                <a:xfrm>
                  <a:off x="7948250" y="426840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nsolas" panose="020B0609020204030204" pitchFamily="49" charset="0"/>
                      <a:ea typeface="Courier New"/>
                      <a:cs typeface="Courier New"/>
                      <a:sym typeface="Courier New"/>
                    </a:rPr>
                    <a:t>stack</a:t>
                  </a:r>
                  <a:endParaRPr>
                    <a:latin typeface="Consolas" panose="020B0609020204030204" pitchFamily="49" charset="0"/>
                  </a:endParaRPr>
                </a:p>
              </p:txBody>
            </p:sp>
            <p:cxnSp>
              <p:nvCxnSpPr>
                <p:cNvPr id="178" name="Google Shape;178;p20"/>
                <p:cNvCxnSpPr>
                  <a:stCxn id="176" idx="2"/>
                </p:cNvCxnSpPr>
                <p:nvPr/>
              </p:nvCxnSpPr>
              <p:spPr>
                <a:xfrm>
                  <a:off x="8486300" y="3385650"/>
                  <a:ext cx="6900" cy="261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179" name="Google Shape;179;p20"/>
                <p:cNvCxnSpPr>
                  <a:stCxn id="177" idx="0"/>
                </p:cNvCxnSpPr>
                <p:nvPr/>
              </p:nvCxnSpPr>
              <p:spPr>
                <a:xfrm rot="10800000" flipH="1">
                  <a:off x="8486300" y="4035600"/>
                  <a:ext cx="4200" cy="232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  <p:sp>
            <p:nvSpPr>
              <p:cNvPr id="180" name="Google Shape;180;p20"/>
              <p:cNvSpPr txBox="1"/>
              <p:nvPr/>
            </p:nvSpPr>
            <p:spPr>
              <a:xfrm>
                <a:off x="8001200" y="2441425"/>
                <a:ext cx="9702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rPr>
                  <a:t>VM</a:t>
                </a:r>
                <a:endParaRPr sz="1600" b="1">
                  <a:latin typeface="Consolas" panose="020B0609020204030204" pitchFamily="49" charset="0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181" name="Google Shape;181;p20"/>
              <p:cNvSpPr txBox="1"/>
              <p:nvPr/>
            </p:nvSpPr>
            <p:spPr>
              <a:xfrm>
                <a:off x="7805450" y="4544675"/>
                <a:ext cx="1368600" cy="35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100" b="1" dirty="0">
                    <a:solidFill>
                      <a:srgbClr val="FF0000"/>
                    </a:solidFill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rPr>
                  <a:t>Address </a:t>
                </a:r>
                <a:r>
                  <a:rPr lang="es-ES" sz="1100" b="1" dirty="0" err="1">
                    <a:solidFill>
                      <a:srgbClr val="FF0000"/>
                    </a:solidFill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rPr>
                  <a:t>Space</a:t>
                </a:r>
                <a:endParaRPr sz="1100" b="1" dirty="0">
                  <a:solidFill>
                    <a:srgbClr val="FF0000"/>
                  </a:solidFill>
                  <a:latin typeface="Consolas" panose="020B0609020204030204" pitchFamily="49" charset="0"/>
                  <a:ea typeface="Courier New"/>
                  <a:cs typeface="Courier New"/>
                  <a:sym typeface="Courier New"/>
                </a:endParaRPr>
              </a:p>
            </p:txBody>
          </p:sp>
        </p:grpSp>
      </p:grpSp>
      <p:grpSp>
        <p:nvGrpSpPr>
          <p:cNvPr id="182" name="Google Shape;182;p20"/>
          <p:cNvGrpSpPr/>
          <p:nvPr/>
        </p:nvGrpSpPr>
        <p:grpSpPr>
          <a:xfrm>
            <a:off x="6206000" y="2281075"/>
            <a:ext cx="2510400" cy="2580600"/>
            <a:chOff x="1246925" y="2012725"/>
            <a:chExt cx="2510400" cy="2580600"/>
          </a:xfrm>
        </p:grpSpPr>
        <p:sp>
          <p:nvSpPr>
            <p:cNvPr id="183" name="Google Shape;183;p20"/>
            <p:cNvSpPr/>
            <p:nvPr/>
          </p:nvSpPr>
          <p:spPr>
            <a:xfrm>
              <a:off x="1246925" y="2012725"/>
              <a:ext cx="2510400" cy="25806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w="28575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onsolas" panose="020B0609020204030204" pitchFamily="49" charset="0"/>
              </a:endParaRPr>
            </a:p>
          </p:txBody>
        </p:sp>
        <p:sp>
          <p:nvSpPr>
            <p:cNvPr id="184" name="Google Shape;184;p20"/>
            <p:cNvSpPr/>
            <p:nvPr/>
          </p:nvSpPr>
          <p:spPr>
            <a:xfrm>
              <a:off x="1658025" y="3603150"/>
              <a:ext cx="827700" cy="468300"/>
            </a:xfrm>
            <a:prstGeom prst="rect">
              <a:avLst/>
            </a:prstGeom>
            <a:solidFill>
              <a:srgbClr val="B6D7A8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b="1">
                  <a:latin typeface="Consolas" panose="020B0609020204030204" pitchFamily="49" charset="0"/>
                  <a:ea typeface="Courier New"/>
                  <a:cs typeface="Courier New"/>
                  <a:sym typeface="Courier New"/>
                </a:rPr>
                <a:t>I/O</a:t>
              </a:r>
              <a:endParaRPr b="1">
                <a:latin typeface="Consolas" panose="020B0609020204030204" pitchFamily="49" charset="0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85" name="Google Shape;185;p20"/>
            <p:cNvSpPr/>
            <p:nvPr/>
          </p:nvSpPr>
          <p:spPr>
            <a:xfrm>
              <a:off x="1738125" y="2549275"/>
              <a:ext cx="667500" cy="722700"/>
            </a:xfrm>
            <a:prstGeom prst="rect">
              <a:avLst/>
            </a:prstGeom>
            <a:solidFill>
              <a:srgbClr val="FFE599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latin typeface="Consolas" panose="020B0609020204030204" pitchFamily="49" charset="0"/>
                  <a:ea typeface="Courier New"/>
                  <a:cs typeface="Courier New"/>
                  <a:sym typeface="Courier New"/>
                </a:rPr>
                <a:t>CPU</a:t>
              </a:r>
              <a:endParaRPr sz="1600" b="1">
                <a:latin typeface="Consolas" panose="020B0609020204030204" pitchFamily="49" charset="0"/>
                <a:ea typeface="Courier New"/>
                <a:cs typeface="Courier New"/>
                <a:sym typeface="Courier New"/>
              </a:endParaRPr>
            </a:p>
          </p:txBody>
        </p:sp>
        <p:grpSp>
          <p:nvGrpSpPr>
            <p:cNvPr id="186" name="Google Shape;186;p20"/>
            <p:cNvGrpSpPr/>
            <p:nvPr/>
          </p:nvGrpSpPr>
          <p:grpSpPr>
            <a:xfrm>
              <a:off x="2734937" y="2991777"/>
              <a:ext cx="587563" cy="949455"/>
              <a:chOff x="3483150" y="2820050"/>
              <a:chExt cx="1080675" cy="1170000"/>
            </a:xfrm>
          </p:grpSpPr>
          <p:sp>
            <p:nvSpPr>
              <p:cNvPr id="187" name="Google Shape;187;p20"/>
              <p:cNvSpPr/>
              <p:nvPr/>
            </p:nvSpPr>
            <p:spPr>
              <a:xfrm>
                <a:off x="3485100" y="2820050"/>
                <a:ext cx="1076100" cy="1170000"/>
              </a:xfrm>
              <a:prstGeom prst="rect">
                <a:avLst/>
              </a:prstGeom>
              <a:solidFill>
                <a:srgbClr val="EFEFEF"/>
              </a:solidFill>
              <a:ln w="19050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Consolas" panose="020B0609020204030204" pitchFamily="49" charset="0"/>
                </a:endParaRPr>
              </a:p>
            </p:txBody>
          </p:sp>
          <p:cxnSp>
            <p:nvCxnSpPr>
              <p:cNvPr id="188" name="Google Shape;188;p20"/>
              <p:cNvCxnSpPr/>
              <p:nvPr/>
            </p:nvCxnSpPr>
            <p:spPr>
              <a:xfrm>
                <a:off x="3483825" y="2962875"/>
                <a:ext cx="1080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9" name="Google Shape;189;p20"/>
              <p:cNvCxnSpPr/>
              <p:nvPr/>
            </p:nvCxnSpPr>
            <p:spPr>
              <a:xfrm>
                <a:off x="3483150" y="3111750"/>
                <a:ext cx="1080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0" name="Google Shape;190;p20"/>
              <p:cNvCxnSpPr/>
              <p:nvPr/>
            </p:nvCxnSpPr>
            <p:spPr>
              <a:xfrm>
                <a:off x="3483825" y="3257125"/>
                <a:ext cx="1080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1" name="Google Shape;191;p20"/>
              <p:cNvCxnSpPr/>
              <p:nvPr/>
            </p:nvCxnSpPr>
            <p:spPr>
              <a:xfrm>
                <a:off x="3483150" y="3844275"/>
                <a:ext cx="10800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92" name="Google Shape;192;p20"/>
            <p:cNvSpPr txBox="1"/>
            <p:nvPr/>
          </p:nvSpPr>
          <p:spPr>
            <a:xfrm>
              <a:off x="2832663" y="2667727"/>
              <a:ext cx="448200" cy="46163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b="1" dirty="0">
                  <a:latin typeface="Consolas" panose="020B0609020204030204" pitchFamily="49" charset="0"/>
                  <a:ea typeface="Courier New"/>
                  <a:cs typeface="Courier New"/>
                  <a:sym typeface="Courier New"/>
                </a:rPr>
                <a:t>AS</a:t>
              </a:r>
              <a:endParaRPr b="1" dirty="0">
                <a:latin typeface="Consolas" panose="020B0609020204030204" pitchFamily="49" charset="0"/>
                <a:ea typeface="Courier New"/>
                <a:cs typeface="Courier New"/>
                <a:sym typeface="Courier New"/>
              </a:endParaRPr>
            </a:p>
          </p:txBody>
        </p:sp>
      </p:grpSp>
      <p:cxnSp>
        <p:nvCxnSpPr>
          <p:cNvPr id="193" name="Google Shape;193;p20"/>
          <p:cNvCxnSpPr/>
          <p:nvPr/>
        </p:nvCxnSpPr>
        <p:spPr>
          <a:xfrm rot="10800000" flipH="1">
            <a:off x="7454175" y="1902450"/>
            <a:ext cx="2818800" cy="771300"/>
          </a:xfrm>
          <a:prstGeom prst="straightConnector1">
            <a:avLst/>
          </a:prstGeom>
          <a:noFill/>
          <a:ln w="28575" cap="flat" cmpd="sng">
            <a:solidFill>
              <a:srgbClr val="E46C0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4" name="Google Shape;194;p20"/>
          <p:cNvCxnSpPr/>
          <p:nvPr/>
        </p:nvCxnSpPr>
        <p:spPr>
          <a:xfrm>
            <a:off x="8449925" y="3753625"/>
            <a:ext cx="2019600" cy="883500"/>
          </a:xfrm>
          <a:prstGeom prst="straightConnector1">
            <a:avLst/>
          </a:prstGeom>
          <a:noFill/>
          <a:ln w="28575" cap="flat" cmpd="sng">
            <a:solidFill>
              <a:srgbClr val="E46C0A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95" name="Google Shape;195;p20"/>
          <p:cNvSpPr txBox="1"/>
          <p:nvPr/>
        </p:nvSpPr>
        <p:spPr>
          <a:xfrm>
            <a:off x="8029125" y="1550975"/>
            <a:ext cx="16689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>
                <a:solidFill>
                  <a:srgbClr val="E46C0A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Virtualización de la CPU</a:t>
            </a:r>
            <a:endParaRPr sz="1300">
              <a:solidFill>
                <a:srgbClr val="E46C0A"/>
              </a:solidFill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8940775" y="3542900"/>
            <a:ext cx="16689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>
                <a:solidFill>
                  <a:srgbClr val="E46C0A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Virtualización de memoria</a:t>
            </a:r>
            <a:endParaRPr sz="1300">
              <a:solidFill>
                <a:srgbClr val="E46C0A"/>
              </a:solidFill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</p:txBody>
      </p:sp>
      <p:pic>
        <p:nvPicPr>
          <p:cNvPr id="197" name="Google Shape;19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6450" y="3408355"/>
            <a:ext cx="1940759" cy="1574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8" name="Google Shape;198;p20"/>
          <p:cNvCxnSpPr/>
          <p:nvPr/>
        </p:nvCxnSpPr>
        <p:spPr>
          <a:xfrm rot="10800000" flipH="1">
            <a:off x="4612800" y="3653650"/>
            <a:ext cx="1430400" cy="490800"/>
          </a:xfrm>
          <a:prstGeom prst="straightConnector1">
            <a:avLst/>
          </a:prstGeom>
          <a:noFill/>
          <a:ln w="2857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199" name="Google Shape;19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4739750" y="3121763"/>
            <a:ext cx="787000" cy="7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0"/>
          <p:cNvSpPr txBox="1"/>
          <p:nvPr/>
        </p:nvSpPr>
        <p:spPr>
          <a:xfrm>
            <a:off x="1046625" y="5097925"/>
            <a:ext cx="5562600" cy="5079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100" b="1"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Proceso = CPU + Memory + I/O Info</a:t>
            </a:r>
            <a:endParaRPr sz="2100" b="1"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1"/>
          <p:cNvSpPr txBox="1">
            <a:spLocks noGrp="1"/>
          </p:cNvSpPr>
          <p:nvPr>
            <p:ph type="title"/>
          </p:nvPr>
        </p:nvSpPr>
        <p:spPr>
          <a:xfrm>
            <a:off x="355650" y="96038"/>
            <a:ext cx="8865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Resumen virtualización</a:t>
            </a:r>
            <a:endParaRPr dirty="0"/>
          </a:p>
        </p:txBody>
      </p:sp>
      <p:sp>
        <p:nvSpPr>
          <p:cNvPr id="206" name="Google Shape;206;p21"/>
          <p:cNvSpPr txBox="1">
            <a:spLocks noGrp="1"/>
          </p:cNvSpPr>
          <p:nvPr>
            <p:ph type="body" idx="1"/>
          </p:nvPr>
        </p:nvSpPr>
        <p:spPr>
          <a:xfrm>
            <a:off x="355650" y="973975"/>
            <a:ext cx="11480700" cy="562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/>
              <a:t>Procesos e hilos</a:t>
            </a:r>
            <a:endParaRPr sz="2200" b="1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207" name="Google Shape;20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6425" y="2178788"/>
            <a:ext cx="2976375" cy="40973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8" name="Google Shape;208;p21"/>
          <p:cNvGrpSpPr/>
          <p:nvPr/>
        </p:nvGrpSpPr>
        <p:grpSpPr>
          <a:xfrm>
            <a:off x="1031388" y="3875488"/>
            <a:ext cx="1366500" cy="1312500"/>
            <a:chOff x="1358163" y="3791363"/>
            <a:chExt cx="1366500" cy="1312500"/>
          </a:xfrm>
        </p:grpSpPr>
        <p:sp>
          <p:nvSpPr>
            <p:cNvPr id="209" name="Google Shape;209;p21"/>
            <p:cNvSpPr/>
            <p:nvPr/>
          </p:nvSpPr>
          <p:spPr>
            <a:xfrm>
              <a:off x="1358163" y="3791363"/>
              <a:ext cx="1366500" cy="13125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10" name="Google Shape;210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859785" y="4065838"/>
              <a:ext cx="363275" cy="7635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1" name="Google Shape;211;p21"/>
          <p:cNvSpPr txBox="1"/>
          <p:nvPr/>
        </p:nvSpPr>
        <p:spPr>
          <a:xfrm>
            <a:off x="925800" y="5480991"/>
            <a:ext cx="1577700" cy="8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FF0000"/>
                </a:solidFill>
                <a:ea typeface="Roboto Slab"/>
                <a:cs typeface="Roboto Slab"/>
                <a:sym typeface="Roboto Slab"/>
              </a:rPr>
              <a:t>Un</a:t>
            </a:r>
            <a:r>
              <a:rPr lang="es-ES" sz="2000" dirty="0">
                <a:ea typeface="Roboto Slab"/>
                <a:cs typeface="Roboto Slab"/>
                <a:sym typeface="Roboto Slab"/>
              </a:rPr>
              <a:t> hilo de ejecución</a:t>
            </a:r>
            <a:endParaRPr sz="2000" dirty="0">
              <a:ea typeface="Roboto Slab"/>
              <a:cs typeface="Roboto Slab"/>
              <a:sym typeface="Roboto Slab"/>
            </a:endParaRPr>
          </a:p>
        </p:txBody>
      </p:sp>
      <p:pic>
        <p:nvPicPr>
          <p:cNvPr id="212" name="Google Shape;212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25798" y="1913000"/>
            <a:ext cx="1577700" cy="1669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3" name="Google Shape;213;p21"/>
          <p:cNvGrpSpPr/>
          <p:nvPr/>
        </p:nvGrpSpPr>
        <p:grpSpPr>
          <a:xfrm>
            <a:off x="6411163" y="3722375"/>
            <a:ext cx="1425000" cy="1376700"/>
            <a:chOff x="8812663" y="3274038"/>
            <a:chExt cx="1425000" cy="1376700"/>
          </a:xfrm>
        </p:grpSpPr>
        <p:sp>
          <p:nvSpPr>
            <p:cNvPr id="214" name="Google Shape;214;p21"/>
            <p:cNvSpPr/>
            <p:nvPr/>
          </p:nvSpPr>
          <p:spPr>
            <a:xfrm>
              <a:off x="8812663" y="3274038"/>
              <a:ext cx="1425000" cy="13767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15" name="Google Shape;215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9343522" y="3580600"/>
              <a:ext cx="363275" cy="7635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6" name="Google Shape;216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980247" y="3580613"/>
              <a:ext cx="363275" cy="7635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7" name="Google Shape;217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9706797" y="3580613"/>
              <a:ext cx="363275" cy="7635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8" name="Google Shape;218;p21"/>
          <p:cNvSpPr txBox="1"/>
          <p:nvPr/>
        </p:nvSpPr>
        <p:spPr>
          <a:xfrm>
            <a:off x="6334813" y="5358002"/>
            <a:ext cx="1577700" cy="10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rgbClr val="38761D"/>
                </a:solidFill>
                <a:ea typeface="Roboto"/>
                <a:cs typeface="Roboto"/>
                <a:sym typeface="Roboto"/>
              </a:rPr>
              <a:t>Múltiples</a:t>
            </a:r>
            <a:r>
              <a:rPr lang="es-ES" sz="2000">
                <a:ea typeface="Roboto"/>
                <a:cs typeface="Roboto"/>
                <a:sym typeface="Roboto"/>
              </a:rPr>
              <a:t> hilos de ejecución</a:t>
            </a:r>
            <a:endParaRPr sz="2000">
              <a:ea typeface="Roboto"/>
              <a:cs typeface="Roboto"/>
              <a:sym typeface="Roboto"/>
            </a:endParaRPr>
          </a:p>
        </p:txBody>
      </p:sp>
      <p:pic>
        <p:nvPicPr>
          <p:cNvPr id="219" name="Google Shape;219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253583" y="2178800"/>
            <a:ext cx="3735918" cy="415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290474" y="2178801"/>
            <a:ext cx="1819075" cy="102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2"/>
          <p:cNvSpPr txBox="1">
            <a:spLocks noGrp="1"/>
          </p:cNvSpPr>
          <p:nvPr>
            <p:ph type="title"/>
          </p:nvPr>
        </p:nvSpPr>
        <p:spPr>
          <a:xfrm>
            <a:off x="355650" y="96038"/>
            <a:ext cx="8865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Resumen virtualización</a:t>
            </a:r>
            <a:endParaRPr dirty="0"/>
          </a:p>
        </p:txBody>
      </p:sp>
      <p:sp>
        <p:nvSpPr>
          <p:cNvPr id="226" name="Google Shape;226;p22"/>
          <p:cNvSpPr txBox="1">
            <a:spLocks noGrp="1"/>
          </p:cNvSpPr>
          <p:nvPr>
            <p:ph type="body" idx="1"/>
          </p:nvPr>
        </p:nvSpPr>
        <p:spPr>
          <a:xfrm>
            <a:off x="355650" y="973975"/>
            <a:ext cx="11480700" cy="562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/>
              <a:t>Aplicaciones y concurrencia</a:t>
            </a:r>
            <a:endParaRPr sz="2200" b="1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227" name="Google Shape;227;p22"/>
          <p:cNvGrpSpPr/>
          <p:nvPr/>
        </p:nvGrpSpPr>
        <p:grpSpPr>
          <a:xfrm>
            <a:off x="3759919" y="1844340"/>
            <a:ext cx="4962416" cy="1588031"/>
            <a:chOff x="5636325" y="2545650"/>
            <a:chExt cx="5157900" cy="1628750"/>
          </a:xfrm>
        </p:grpSpPr>
        <p:sp>
          <p:nvSpPr>
            <p:cNvPr id="228" name="Google Shape;228;p22"/>
            <p:cNvSpPr/>
            <p:nvPr/>
          </p:nvSpPr>
          <p:spPr>
            <a:xfrm>
              <a:off x="5636601" y="2545658"/>
              <a:ext cx="1122000" cy="1093800"/>
            </a:xfrm>
            <a:prstGeom prst="rect">
              <a:avLst/>
            </a:prstGeom>
            <a:solidFill>
              <a:srgbClr val="C9DAF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latin typeface="Consolas"/>
                  <a:ea typeface="Consolas"/>
                  <a:cs typeface="Consolas"/>
                  <a:sym typeface="Consolas"/>
                </a:rPr>
                <a:t>CPU1</a:t>
              </a:r>
              <a:endParaRPr sz="20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29" name="Google Shape;229;p22"/>
            <p:cNvSpPr/>
            <p:nvPr/>
          </p:nvSpPr>
          <p:spPr>
            <a:xfrm>
              <a:off x="7654275" y="2545650"/>
              <a:ext cx="1122000" cy="1093800"/>
            </a:xfrm>
            <a:prstGeom prst="rect">
              <a:avLst/>
            </a:prstGeom>
            <a:solidFill>
              <a:srgbClr val="C9DAF8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latin typeface="Consolas"/>
                  <a:ea typeface="Consolas"/>
                  <a:cs typeface="Consolas"/>
                  <a:sym typeface="Consolas"/>
                </a:rPr>
                <a:t>CPU2</a:t>
              </a:r>
              <a:endParaRPr sz="20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30" name="Google Shape;230;p22"/>
            <p:cNvSpPr/>
            <p:nvPr/>
          </p:nvSpPr>
          <p:spPr>
            <a:xfrm>
              <a:off x="9671950" y="2545650"/>
              <a:ext cx="1122000" cy="10938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latin typeface="Consolas"/>
                  <a:ea typeface="Consolas"/>
                  <a:cs typeface="Consolas"/>
                  <a:sym typeface="Consolas"/>
                </a:rPr>
                <a:t>RAM</a:t>
              </a:r>
              <a:endParaRPr sz="20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231" name="Google Shape;231;p22"/>
            <p:cNvCxnSpPr/>
            <p:nvPr/>
          </p:nvCxnSpPr>
          <p:spPr>
            <a:xfrm>
              <a:off x="5636325" y="4174400"/>
              <a:ext cx="51579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2" name="Google Shape;232;p22"/>
            <p:cNvCxnSpPr/>
            <p:nvPr/>
          </p:nvCxnSpPr>
          <p:spPr>
            <a:xfrm>
              <a:off x="6197600" y="3639450"/>
              <a:ext cx="2700" cy="5343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3" name="Google Shape;233;p22"/>
            <p:cNvCxnSpPr/>
            <p:nvPr/>
          </p:nvCxnSpPr>
          <p:spPr>
            <a:xfrm flipH="1">
              <a:off x="8216309" y="3624629"/>
              <a:ext cx="2700" cy="5493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4" name="Google Shape;234;p22"/>
            <p:cNvCxnSpPr/>
            <p:nvPr/>
          </p:nvCxnSpPr>
          <p:spPr>
            <a:xfrm>
              <a:off x="10230250" y="3639450"/>
              <a:ext cx="2700" cy="5343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235" name="Google Shape;23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92075" y="3739955"/>
            <a:ext cx="2019575" cy="28285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6" name="Google Shape;236;p22"/>
          <p:cNvGrpSpPr/>
          <p:nvPr/>
        </p:nvGrpSpPr>
        <p:grpSpPr>
          <a:xfrm>
            <a:off x="951872" y="4192626"/>
            <a:ext cx="4962642" cy="2386237"/>
            <a:chOff x="1332975" y="3395660"/>
            <a:chExt cx="4578505" cy="2020865"/>
          </a:xfrm>
        </p:grpSpPr>
        <p:pic>
          <p:nvPicPr>
            <p:cNvPr id="237" name="Google Shape;237;p2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332975" y="4039825"/>
              <a:ext cx="4578505" cy="13767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38" name="Google Shape;238;p22"/>
            <p:cNvGrpSpPr/>
            <p:nvPr/>
          </p:nvGrpSpPr>
          <p:grpSpPr>
            <a:xfrm>
              <a:off x="1516525" y="3395660"/>
              <a:ext cx="659100" cy="658200"/>
              <a:chOff x="1474450" y="3395660"/>
              <a:chExt cx="659100" cy="658200"/>
            </a:xfrm>
          </p:grpSpPr>
          <p:sp>
            <p:nvSpPr>
              <p:cNvPr id="239" name="Google Shape;239;p22"/>
              <p:cNvSpPr/>
              <p:nvPr/>
            </p:nvSpPr>
            <p:spPr>
              <a:xfrm>
                <a:off x="1474450" y="3395660"/>
                <a:ext cx="659100" cy="6582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w="1905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240" name="Google Shape;240;p22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1693003" y="3491443"/>
                <a:ext cx="221999" cy="4666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41" name="Google Shape;241;p22"/>
            <p:cNvGrpSpPr/>
            <p:nvPr/>
          </p:nvGrpSpPr>
          <p:grpSpPr>
            <a:xfrm>
              <a:off x="5119127" y="3395660"/>
              <a:ext cx="659100" cy="658200"/>
              <a:chOff x="1544752" y="3395660"/>
              <a:chExt cx="659100" cy="658200"/>
            </a:xfrm>
          </p:grpSpPr>
          <p:sp>
            <p:nvSpPr>
              <p:cNvPr id="242" name="Google Shape;242;p22"/>
              <p:cNvSpPr/>
              <p:nvPr/>
            </p:nvSpPr>
            <p:spPr>
              <a:xfrm>
                <a:off x="1544752" y="3395660"/>
                <a:ext cx="659100" cy="658200"/>
              </a:xfrm>
              <a:prstGeom prst="ellipse">
                <a:avLst/>
              </a:prstGeom>
              <a:solidFill>
                <a:srgbClr val="000000">
                  <a:alpha val="0"/>
                </a:srgbClr>
              </a:solidFill>
              <a:ln w="1905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243" name="Google Shape;243;p22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1763305" y="3491443"/>
                <a:ext cx="221999" cy="4666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244" name="Google Shape;244;p22"/>
          <p:cNvGrpSpPr/>
          <p:nvPr/>
        </p:nvGrpSpPr>
        <p:grpSpPr>
          <a:xfrm>
            <a:off x="9496467" y="4930173"/>
            <a:ext cx="1150357" cy="1166149"/>
            <a:chOff x="9325050" y="4376550"/>
            <a:chExt cx="877800" cy="847800"/>
          </a:xfrm>
        </p:grpSpPr>
        <p:sp>
          <p:nvSpPr>
            <p:cNvPr id="245" name="Google Shape;245;p22"/>
            <p:cNvSpPr/>
            <p:nvPr/>
          </p:nvSpPr>
          <p:spPr>
            <a:xfrm>
              <a:off x="9325050" y="4376550"/>
              <a:ext cx="877800" cy="8478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46" name="Google Shape;246;p2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9652132" y="4565337"/>
              <a:ext cx="223827" cy="470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7" name="Google Shape;247;p2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9428305" y="4565345"/>
              <a:ext cx="223827" cy="470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8" name="Google Shape;248;p2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9875959" y="4565345"/>
              <a:ext cx="223827" cy="4702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9" name="Google Shape;249;p22"/>
          <p:cNvSpPr txBox="1"/>
          <p:nvPr/>
        </p:nvSpPr>
        <p:spPr>
          <a:xfrm>
            <a:off x="1086900" y="3637550"/>
            <a:ext cx="4692600" cy="556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b="1" dirty="0">
                <a:latin typeface="Roboto"/>
                <a:ea typeface="Roboto"/>
                <a:cs typeface="Roboto"/>
                <a:sym typeface="Roboto"/>
              </a:rPr>
              <a:t>Procesos que se comunican entre sí</a:t>
            </a:r>
            <a:endParaRPr sz="600" dirty="0"/>
          </a:p>
        </p:txBody>
      </p:sp>
      <p:sp>
        <p:nvSpPr>
          <p:cNvPr id="250" name="Google Shape;250;p22"/>
          <p:cNvSpPr txBox="1"/>
          <p:nvPr/>
        </p:nvSpPr>
        <p:spPr>
          <a:xfrm>
            <a:off x="8311550" y="4018550"/>
            <a:ext cx="3520200" cy="556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b="1" dirty="0">
                <a:latin typeface="Roboto"/>
                <a:ea typeface="Roboto"/>
                <a:cs typeface="Roboto"/>
                <a:sym typeface="Roboto"/>
              </a:rPr>
              <a:t>Procesos multihilo</a:t>
            </a:r>
            <a:endParaRPr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3"/>
          <p:cNvSpPr txBox="1">
            <a:spLocks noGrp="1"/>
          </p:cNvSpPr>
          <p:nvPr>
            <p:ph type="title"/>
          </p:nvPr>
        </p:nvSpPr>
        <p:spPr>
          <a:xfrm>
            <a:off x="486697" y="96038"/>
            <a:ext cx="8733953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Resumen virtualización</a:t>
            </a:r>
            <a:endParaRPr dirty="0"/>
          </a:p>
        </p:txBody>
      </p:sp>
      <p:sp>
        <p:nvSpPr>
          <p:cNvPr id="256" name="Google Shape;256;p23"/>
          <p:cNvSpPr txBox="1">
            <a:spLocks noGrp="1"/>
          </p:cNvSpPr>
          <p:nvPr>
            <p:ph type="body" idx="1"/>
          </p:nvPr>
        </p:nvSpPr>
        <p:spPr>
          <a:xfrm>
            <a:off x="486697" y="833725"/>
            <a:ext cx="11349653" cy="585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/>
              <a:t>Virtualización de Memoria</a:t>
            </a:r>
            <a:endParaRPr sz="2200" b="1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cxnSp>
        <p:nvCxnSpPr>
          <p:cNvPr id="257" name="Google Shape;257;p23"/>
          <p:cNvCxnSpPr/>
          <p:nvPr/>
        </p:nvCxnSpPr>
        <p:spPr>
          <a:xfrm rot="10800000" flipH="1">
            <a:off x="4803050" y="2195175"/>
            <a:ext cx="2460000" cy="1449600"/>
          </a:xfrm>
          <a:prstGeom prst="straightConnector1">
            <a:avLst/>
          </a:prstGeom>
          <a:noFill/>
          <a:ln w="28575" cap="flat" cmpd="sng">
            <a:solidFill>
              <a:srgbClr val="E46C0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58" name="Google Shape;258;p23"/>
          <p:cNvCxnSpPr/>
          <p:nvPr/>
        </p:nvCxnSpPr>
        <p:spPr>
          <a:xfrm>
            <a:off x="5285525" y="4270675"/>
            <a:ext cx="1949400" cy="813300"/>
          </a:xfrm>
          <a:prstGeom prst="straightConnector1">
            <a:avLst/>
          </a:prstGeom>
          <a:noFill/>
          <a:ln w="28575" cap="flat" cmpd="sng">
            <a:solidFill>
              <a:srgbClr val="E46C0A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59" name="Google Shape;259;p23"/>
          <p:cNvSpPr txBox="1"/>
          <p:nvPr/>
        </p:nvSpPr>
        <p:spPr>
          <a:xfrm>
            <a:off x="4999350" y="2195175"/>
            <a:ext cx="16689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>
                <a:solidFill>
                  <a:srgbClr val="E46C0A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Virtualización de la CPU</a:t>
            </a:r>
            <a:endParaRPr sz="1300">
              <a:solidFill>
                <a:srgbClr val="E46C0A"/>
              </a:solidFill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</p:txBody>
      </p:sp>
      <p:sp>
        <p:nvSpPr>
          <p:cNvPr id="260" name="Google Shape;260;p23"/>
          <p:cNvSpPr txBox="1"/>
          <p:nvPr/>
        </p:nvSpPr>
        <p:spPr>
          <a:xfrm>
            <a:off x="5355650" y="5173075"/>
            <a:ext cx="16689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>
                <a:solidFill>
                  <a:srgbClr val="E46C0A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Virtualización de memoria</a:t>
            </a:r>
            <a:endParaRPr sz="1300">
              <a:solidFill>
                <a:srgbClr val="E46C0A"/>
              </a:solidFill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261" name="Google Shape;261;p23"/>
          <p:cNvGrpSpPr/>
          <p:nvPr/>
        </p:nvGrpSpPr>
        <p:grpSpPr>
          <a:xfrm>
            <a:off x="4229150" y="3185825"/>
            <a:ext cx="1430700" cy="1487100"/>
            <a:chOff x="4944875" y="4628350"/>
            <a:chExt cx="1430700" cy="1487100"/>
          </a:xfrm>
        </p:grpSpPr>
        <p:sp>
          <p:nvSpPr>
            <p:cNvPr id="262" name="Google Shape;262;p23"/>
            <p:cNvSpPr/>
            <p:nvPr/>
          </p:nvSpPr>
          <p:spPr>
            <a:xfrm>
              <a:off x="4944875" y="4628350"/>
              <a:ext cx="1430700" cy="1487100"/>
            </a:xfrm>
            <a:prstGeom prst="ellipse">
              <a:avLst/>
            </a:prstGeom>
            <a:solidFill>
              <a:srgbClr val="000000">
                <a:alpha val="0"/>
              </a:srgbClr>
            </a:solidFill>
            <a:ln w="28575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onsolas" panose="020B0609020204030204" pitchFamily="49" charset="0"/>
              </a:endParaRPr>
            </a:p>
          </p:txBody>
        </p:sp>
        <p:grpSp>
          <p:nvGrpSpPr>
            <p:cNvPr id="263" name="Google Shape;263;p23"/>
            <p:cNvGrpSpPr/>
            <p:nvPr/>
          </p:nvGrpSpPr>
          <p:grpSpPr>
            <a:xfrm>
              <a:off x="5827575" y="4966100"/>
              <a:ext cx="345307" cy="685359"/>
              <a:chOff x="5908225" y="4969600"/>
              <a:chExt cx="345307" cy="685359"/>
            </a:xfrm>
          </p:grpSpPr>
          <p:grpSp>
            <p:nvGrpSpPr>
              <p:cNvPr id="264" name="Google Shape;264;p23"/>
              <p:cNvGrpSpPr/>
              <p:nvPr/>
            </p:nvGrpSpPr>
            <p:grpSpPr>
              <a:xfrm>
                <a:off x="5908237" y="5236912"/>
                <a:ext cx="345294" cy="418047"/>
                <a:chOff x="3483121" y="2820042"/>
                <a:chExt cx="1080733" cy="714000"/>
              </a:xfrm>
            </p:grpSpPr>
            <p:sp>
              <p:nvSpPr>
                <p:cNvPr id="265" name="Google Shape;265;p23"/>
                <p:cNvSpPr/>
                <p:nvPr/>
              </p:nvSpPr>
              <p:spPr>
                <a:xfrm>
                  <a:off x="3485102" y="2820042"/>
                  <a:ext cx="1076100" cy="714000"/>
                </a:xfrm>
                <a:prstGeom prst="rect">
                  <a:avLst/>
                </a:prstGeom>
                <a:solidFill>
                  <a:srgbClr val="EFEFEF"/>
                </a:solidFill>
                <a:ln w="19050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Consolas" panose="020B0609020204030204" pitchFamily="49" charset="0"/>
                  </a:endParaRPr>
                </a:p>
              </p:txBody>
            </p:sp>
            <p:cxnSp>
              <p:nvCxnSpPr>
                <p:cNvPr id="266" name="Google Shape;266;p23"/>
                <p:cNvCxnSpPr/>
                <p:nvPr/>
              </p:nvCxnSpPr>
              <p:spPr>
                <a:xfrm>
                  <a:off x="3483825" y="2911027"/>
                  <a:ext cx="1080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67" name="Google Shape;267;p23"/>
                <p:cNvCxnSpPr/>
                <p:nvPr/>
              </p:nvCxnSpPr>
              <p:spPr>
                <a:xfrm>
                  <a:off x="3483854" y="3008053"/>
                  <a:ext cx="1080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68" name="Google Shape;268;p23"/>
                <p:cNvCxnSpPr/>
                <p:nvPr/>
              </p:nvCxnSpPr>
              <p:spPr>
                <a:xfrm>
                  <a:off x="3483121" y="3108635"/>
                  <a:ext cx="1080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69" name="Google Shape;269;p23"/>
                <p:cNvCxnSpPr/>
                <p:nvPr/>
              </p:nvCxnSpPr>
              <p:spPr>
                <a:xfrm>
                  <a:off x="3483150" y="3213468"/>
                  <a:ext cx="1080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270" name="Google Shape;270;p23"/>
              <p:cNvSpPr txBox="1"/>
              <p:nvPr/>
            </p:nvSpPr>
            <p:spPr>
              <a:xfrm>
                <a:off x="5908225" y="4969600"/>
                <a:ext cx="3453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000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rPr>
                  <a:t>AS</a:t>
                </a:r>
                <a:endParaRPr sz="1000">
                  <a:latin typeface="Consolas" panose="020B0609020204030204" pitchFamily="49" charset="0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271" name="Google Shape;271;p23"/>
            <p:cNvGrpSpPr/>
            <p:nvPr/>
          </p:nvGrpSpPr>
          <p:grpSpPr>
            <a:xfrm>
              <a:off x="5124375" y="5104400"/>
              <a:ext cx="345300" cy="532700"/>
              <a:chOff x="5126325" y="5016725"/>
              <a:chExt cx="345300" cy="532700"/>
            </a:xfrm>
          </p:grpSpPr>
          <p:pic>
            <p:nvPicPr>
              <p:cNvPr id="272" name="Google Shape;272;p23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5168375" y="5105866"/>
                <a:ext cx="211025" cy="44355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73" name="Google Shape;273;p23"/>
              <p:cNvSpPr/>
              <p:nvPr/>
            </p:nvSpPr>
            <p:spPr>
              <a:xfrm>
                <a:off x="5126325" y="5016725"/>
                <a:ext cx="345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900">
                    <a:latin typeface="Consolas" panose="020B0609020204030204" pitchFamily="49" charset="0"/>
                    <a:ea typeface="Consolas"/>
                    <a:cs typeface="Consolas"/>
                    <a:sym typeface="Consolas"/>
                  </a:rPr>
                  <a:t>T1</a:t>
                </a:r>
                <a:endParaRPr sz="900">
                  <a:latin typeface="Consolas" panose="020B0609020204030204" pitchFamily="49" charset="0"/>
                  <a:ea typeface="Consolas"/>
                  <a:cs typeface="Consolas"/>
                  <a:sym typeface="Consolas"/>
                </a:endParaRPr>
              </a:p>
            </p:txBody>
          </p:sp>
        </p:grpSp>
        <p:grpSp>
          <p:nvGrpSpPr>
            <p:cNvPr id="274" name="Google Shape;274;p23"/>
            <p:cNvGrpSpPr/>
            <p:nvPr/>
          </p:nvGrpSpPr>
          <p:grpSpPr>
            <a:xfrm>
              <a:off x="5340313" y="5357525"/>
              <a:ext cx="345300" cy="526875"/>
              <a:chOff x="5357863" y="5389075"/>
              <a:chExt cx="345300" cy="526875"/>
            </a:xfrm>
          </p:grpSpPr>
          <p:pic>
            <p:nvPicPr>
              <p:cNvPr id="275" name="Google Shape;275;p23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5400450" y="5472391"/>
                <a:ext cx="211025" cy="44355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76" name="Google Shape;276;p23"/>
              <p:cNvSpPr/>
              <p:nvPr/>
            </p:nvSpPr>
            <p:spPr>
              <a:xfrm>
                <a:off x="5357863" y="5389075"/>
                <a:ext cx="345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900">
                    <a:latin typeface="Consolas" panose="020B0609020204030204" pitchFamily="49" charset="0"/>
                    <a:ea typeface="Consolas"/>
                    <a:cs typeface="Consolas"/>
                    <a:sym typeface="Consolas"/>
                  </a:rPr>
                  <a:t>T2</a:t>
                </a:r>
                <a:endParaRPr sz="900">
                  <a:latin typeface="Consolas" panose="020B0609020204030204" pitchFamily="49" charset="0"/>
                  <a:ea typeface="Consolas"/>
                  <a:cs typeface="Consolas"/>
                  <a:sym typeface="Consolas"/>
                </a:endParaRPr>
              </a:p>
            </p:txBody>
          </p:sp>
        </p:grpSp>
        <p:grpSp>
          <p:nvGrpSpPr>
            <p:cNvPr id="277" name="Google Shape;277;p23"/>
            <p:cNvGrpSpPr/>
            <p:nvPr/>
          </p:nvGrpSpPr>
          <p:grpSpPr>
            <a:xfrm>
              <a:off x="5516300" y="5148950"/>
              <a:ext cx="345300" cy="526938"/>
              <a:chOff x="5565375" y="4994713"/>
              <a:chExt cx="345300" cy="526938"/>
            </a:xfrm>
          </p:grpSpPr>
          <p:pic>
            <p:nvPicPr>
              <p:cNvPr id="278" name="Google Shape;278;p23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5632525" y="5078091"/>
                <a:ext cx="211025" cy="44355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79" name="Google Shape;279;p23"/>
              <p:cNvSpPr/>
              <p:nvPr/>
            </p:nvSpPr>
            <p:spPr>
              <a:xfrm>
                <a:off x="5565375" y="4994713"/>
                <a:ext cx="345300" cy="11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900">
                    <a:latin typeface="Consolas" panose="020B0609020204030204" pitchFamily="49" charset="0"/>
                    <a:ea typeface="Consolas"/>
                    <a:cs typeface="Consolas"/>
                    <a:sym typeface="Consolas"/>
                  </a:rPr>
                  <a:t>T3</a:t>
                </a:r>
                <a:endParaRPr sz="900">
                  <a:latin typeface="Consolas" panose="020B0609020204030204" pitchFamily="49" charset="0"/>
                  <a:ea typeface="Consolas"/>
                  <a:cs typeface="Consolas"/>
                  <a:sym typeface="Consolas"/>
                </a:endParaRPr>
              </a:p>
            </p:txBody>
          </p:sp>
        </p:grpSp>
      </p:grpSp>
      <p:grpSp>
        <p:nvGrpSpPr>
          <p:cNvPr id="280" name="Google Shape;280;p23"/>
          <p:cNvGrpSpPr/>
          <p:nvPr/>
        </p:nvGrpSpPr>
        <p:grpSpPr>
          <a:xfrm>
            <a:off x="7423700" y="1418725"/>
            <a:ext cx="1389687" cy="2103125"/>
            <a:chOff x="6161513" y="2642175"/>
            <a:chExt cx="1389687" cy="2103125"/>
          </a:xfrm>
        </p:grpSpPr>
        <p:sp>
          <p:nvSpPr>
            <p:cNvPr id="281" name="Google Shape;281;p23"/>
            <p:cNvSpPr txBox="1"/>
            <p:nvPr/>
          </p:nvSpPr>
          <p:spPr>
            <a:xfrm>
              <a:off x="6295300" y="2642175"/>
              <a:ext cx="10938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latin typeface="Consolas" panose="020B0609020204030204" pitchFamily="49" charset="0"/>
                  <a:ea typeface="Courier New"/>
                  <a:cs typeface="Courier New"/>
                  <a:sym typeface="Courier New"/>
                </a:rPr>
                <a:t>CPU[T1]</a:t>
              </a:r>
              <a:endParaRPr sz="1600" b="1">
                <a:latin typeface="Consolas" panose="020B0609020204030204" pitchFamily="49" charset="0"/>
                <a:ea typeface="Courier New"/>
                <a:cs typeface="Courier New"/>
                <a:sym typeface="Courier New"/>
              </a:endParaRPr>
            </a:p>
          </p:txBody>
        </p:sp>
        <p:grpSp>
          <p:nvGrpSpPr>
            <p:cNvPr id="282" name="Google Shape;282;p23"/>
            <p:cNvGrpSpPr/>
            <p:nvPr/>
          </p:nvGrpSpPr>
          <p:grpSpPr>
            <a:xfrm>
              <a:off x="6161513" y="3042375"/>
              <a:ext cx="1338300" cy="1301700"/>
              <a:chOff x="6161513" y="3042375"/>
              <a:chExt cx="1338300" cy="1301700"/>
            </a:xfrm>
          </p:grpSpPr>
          <p:sp>
            <p:nvSpPr>
              <p:cNvPr id="283" name="Google Shape;283;p23"/>
              <p:cNvSpPr/>
              <p:nvPr/>
            </p:nvSpPr>
            <p:spPr>
              <a:xfrm>
                <a:off x="6161513" y="3042375"/>
                <a:ext cx="1338300" cy="1301700"/>
              </a:xfrm>
              <a:prstGeom prst="rect">
                <a:avLst/>
              </a:prstGeom>
              <a:solidFill>
                <a:srgbClr val="FFE599"/>
              </a:solidFill>
              <a:ln w="1905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Consolas" panose="020B0609020204030204" pitchFamily="49" charset="0"/>
                </a:endParaRPr>
              </a:p>
            </p:txBody>
          </p:sp>
          <p:grpSp>
            <p:nvGrpSpPr>
              <p:cNvPr id="284" name="Google Shape;284;p23"/>
              <p:cNvGrpSpPr/>
              <p:nvPr/>
            </p:nvGrpSpPr>
            <p:grpSpPr>
              <a:xfrm>
                <a:off x="6213550" y="3096950"/>
                <a:ext cx="1096575" cy="430857"/>
                <a:chOff x="6213550" y="3096950"/>
                <a:chExt cx="1096575" cy="430857"/>
              </a:xfrm>
            </p:grpSpPr>
            <p:sp>
              <p:nvSpPr>
                <p:cNvPr id="285" name="Google Shape;285;p23"/>
                <p:cNvSpPr/>
                <p:nvPr/>
              </p:nvSpPr>
              <p:spPr>
                <a:xfrm>
                  <a:off x="6618625" y="3212150"/>
                  <a:ext cx="691500" cy="200400"/>
                </a:xfrm>
                <a:prstGeom prst="rect">
                  <a:avLst/>
                </a:prstGeom>
                <a:solidFill>
                  <a:srgbClr val="EA9999"/>
                </a:solidFill>
                <a:ln w="19050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Consolas" panose="020B0609020204030204" pitchFamily="49" charset="0"/>
                  </a:endParaRPr>
                </a:p>
              </p:txBody>
            </p:sp>
            <p:sp>
              <p:nvSpPr>
                <p:cNvPr id="286" name="Google Shape;286;p23"/>
                <p:cNvSpPr txBox="1"/>
                <p:nvPr/>
              </p:nvSpPr>
              <p:spPr>
                <a:xfrm>
                  <a:off x="6213550" y="3096950"/>
                  <a:ext cx="427500" cy="43085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600" b="1" dirty="0">
                      <a:latin typeface="Consolas" panose="020B0609020204030204" pitchFamily="49" charset="0"/>
                      <a:ea typeface="Courier New"/>
                      <a:cs typeface="Courier New"/>
                      <a:sym typeface="Courier New"/>
                    </a:rPr>
                    <a:t>PC</a:t>
                  </a:r>
                  <a:endParaRPr sz="1600" b="1" dirty="0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endParaRPr>
                </a:p>
              </p:txBody>
            </p:sp>
          </p:grpSp>
          <p:grpSp>
            <p:nvGrpSpPr>
              <p:cNvPr id="287" name="Google Shape;287;p23"/>
              <p:cNvGrpSpPr/>
              <p:nvPr/>
            </p:nvGrpSpPr>
            <p:grpSpPr>
              <a:xfrm>
                <a:off x="6213550" y="3412550"/>
                <a:ext cx="1096575" cy="430857"/>
                <a:chOff x="6213550" y="3412550"/>
                <a:chExt cx="1096575" cy="430857"/>
              </a:xfrm>
            </p:grpSpPr>
            <p:sp>
              <p:nvSpPr>
                <p:cNvPr id="288" name="Google Shape;288;p23"/>
                <p:cNvSpPr txBox="1"/>
                <p:nvPr/>
              </p:nvSpPr>
              <p:spPr>
                <a:xfrm>
                  <a:off x="6213550" y="3412550"/>
                  <a:ext cx="427500" cy="43085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600" b="1" dirty="0">
                      <a:latin typeface="Consolas" panose="020B0609020204030204" pitchFamily="49" charset="0"/>
                      <a:ea typeface="Courier New"/>
                      <a:cs typeface="Courier New"/>
                      <a:sym typeface="Courier New"/>
                    </a:rPr>
                    <a:t>SP</a:t>
                  </a:r>
                  <a:endParaRPr sz="1600" b="1" dirty="0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289" name="Google Shape;289;p23"/>
                <p:cNvSpPr/>
                <p:nvPr/>
              </p:nvSpPr>
              <p:spPr>
                <a:xfrm>
                  <a:off x="6618625" y="3520825"/>
                  <a:ext cx="691500" cy="200400"/>
                </a:xfrm>
                <a:prstGeom prst="rect">
                  <a:avLst/>
                </a:prstGeom>
                <a:solidFill>
                  <a:srgbClr val="EA9999"/>
                </a:solidFill>
                <a:ln w="19050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Consolas" panose="020B0609020204030204" pitchFamily="49" charset="0"/>
                  </a:endParaRPr>
                </a:p>
              </p:txBody>
            </p:sp>
          </p:grpSp>
          <p:sp>
            <p:nvSpPr>
              <p:cNvPr id="290" name="Google Shape;290;p23"/>
              <p:cNvSpPr txBox="1"/>
              <p:nvPr/>
            </p:nvSpPr>
            <p:spPr>
              <a:xfrm>
                <a:off x="6609249" y="3810275"/>
                <a:ext cx="581237" cy="4616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b="1" dirty="0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rPr>
                  <a:t>...</a:t>
                </a:r>
                <a:endParaRPr b="1" dirty="0">
                  <a:latin typeface="Consolas" panose="020B0609020204030204" pitchFamily="49" charset="0"/>
                  <a:ea typeface="Courier New"/>
                  <a:cs typeface="Courier New"/>
                  <a:sym typeface="Courier New"/>
                </a:endParaRPr>
              </a:p>
            </p:txBody>
          </p:sp>
        </p:grpSp>
        <p:sp>
          <p:nvSpPr>
            <p:cNvPr id="291" name="Google Shape;291;p23"/>
            <p:cNvSpPr txBox="1"/>
            <p:nvPr/>
          </p:nvSpPr>
          <p:spPr>
            <a:xfrm>
              <a:off x="6182600" y="4391300"/>
              <a:ext cx="13686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100" b="1">
                  <a:solidFill>
                    <a:srgbClr val="FF0000"/>
                  </a:solidFill>
                  <a:latin typeface="Consolas" panose="020B0609020204030204" pitchFamily="49" charset="0"/>
                  <a:ea typeface="Courier New"/>
                  <a:cs typeface="Courier New"/>
                  <a:sym typeface="Courier New"/>
                </a:rPr>
                <a:t>Registros</a:t>
              </a:r>
              <a:endParaRPr sz="1100" b="1">
                <a:solidFill>
                  <a:srgbClr val="FF0000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292" name="Google Shape;292;p23"/>
          <p:cNvGrpSpPr/>
          <p:nvPr/>
        </p:nvGrpSpPr>
        <p:grpSpPr>
          <a:xfrm>
            <a:off x="8974050" y="1418725"/>
            <a:ext cx="1389687" cy="2103125"/>
            <a:chOff x="6161513" y="2642175"/>
            <a:chExt cx="1389687" cy="2103125"/>
          </a:xfrm>
        </p:grpSpPr>
        <p:sp>
          <p:nvSpPr>
            <p:cNvPr id="293" name="Google Shape;293;p23"/>
            <p:cNvSpPr txBox="1"/>
            <p:nvPr/>
          </p:nvSpPr>
          <p:spPr>
            <a:xfrm>
              <a:off x="6295300" y="2642175"/>
              <a:ext cx="10938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latin typeface="Consolas" panose="020B0609020204030204" pitchFamily="49" charset="0"/>
                  <a:ea typeface="Courier New"/>
                  <a:cs typeface="Courier New"/>
                  <a:sym typeface="Courier New"/>
                </a:rPr>
                <a:t>CPU[T2]</a:t>
              </a:r>
              <a:endParaRPr sz="1600" b="1">
                <a:latin typeface="Consolas" panose="020B0609020204030204" pitchFamily="49" charset="0"/>
                <a:ea typeface="Courier New"/>
                <a:cs typeface="Courier New"/>
                <a:sym typeface="Courier New"/>
              </a:endParaRPr>
            </a:p>
          </p:txBody>
        </p:sp>
        <p:grpSp>
          <p:nvGrpSpPr>
            <p:cNvPr id="294" name="Google Shape;294;p23"/>
            <p:cNvGrpSpPr/>
            <p:nvPr/>
          </p:nvGrpSpPr>
          <p:grpSpPr>
            <a:xfrm>
              <a:off x="6161513" y="3042375"/>
              <a:ext cx="1338300" cy="1301700"/>
              <a:chOff x="6161513" y="3042375"/>
              <a:chExt cx="1338300" cy="1301700"/>
            </a:xfrm>
          </p:grpSpPr>
          <p:sp>
            <p:nvSpPr>
              <p:cNvPr id="295" name="Google Shape;295;p23"/>
              <p:cNvSpPr/>
              <p:nvPr/>
            </p:nvSpPr>
            <p:spPr>
              <a:xfrm>
                <a:off x="6161513" y="3042375"/>
                <a:ext cx="1338300" cy="1301700"/>
              </a:xfrm>
              <a:prstGeom prst="rect">
                <a:avLst/>
              </a:prstGeom>
              <a:solidFill>
                <a:srgbClr val="FFE599"/>
              </a:solidFill>
              <a:ln w="1905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Consolas" panose="020B0609020204030204" pitchFamily="49" charset="0"/>
                </a:endParaRPr>
              </a:p>
            </p:txBody>
          </p:sp>
          <p:grpSp>
            <p:nvGrpSpPr>
              <p:cNvPr id="296" name="Google Shape;296;p23"/>
              <p:cNvGrpSpPr/>
              <p:nvPr/>
            </p:nvGrpSpPr>
            <p:grpSpPr>
              <a:xfrm>
                <a:off x="6213550" y="3096950"/>
                <a:ext cx="1096575" cy="430857"/>
                <a:chOff x="6213550" y="3096950"/>
                <a:chExt cx="1096575" cy="430857"/>
              </a:xfrm>
            </p:grpSpPr>
            <p:sp>
              <p:nvSpPr>
                <p:cNvPr id="297" name="Google Shape;297;p23"/>
                <p:cNvSpPr/>
                <p:nvPr/>
              </p:nvSpPr>
              <p:spPr>
                <a:xfrm>
                  <a:off x="6618625" y="3212150"/>
                  <a:ext cx="691500" cy="200400"/>
                </a:xfrm>
                <a:prstGeom prst="rect">
                  <a:avLst/>
                </a:prstGeom>
                <a:solidFill>
                  <a:srgbClr val="EA9999"/>
                </a:solidFill>
                <a:ln w="19050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Consolas" panose="020B0609020204030204" pitchFamily="49" charset="0"/>
                  </a:endParaRPr>
                </a:p>
              </p:txBody>
            </p:sp>
            <p:sp>
              <p:nvSpPr>
                <p:cNvPr id="298" name="Google Shape;298;p23"/>
                <p:cNvSpPr txBox="1"/>
                <p:nvPr/>
              </p:nvSpPr>
              <p:spPr>
                <a:xfrm>
                  <a:off x="6213550" y="3096950"/>
                  <a:ext cx="427500" cy="43085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600" b="1" dirty="0">
                      <a:latin typeface="Consolas" panose="020B0609020204030204" pitchFamily="49" charset="0"/>
                      <a:ea typeface="Courier New"/>
                      <a:cs typeface="Courier New"/>
                      <a:sym typeface="Courier New"/>
                    </a:rPr>
                    <a:t>PC</a:t>
                  </a:r>
                  <a:endParaRPr sz="1600" b="1" dirty="0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endParaRPr>
                </a:p>
              </p:txBody>
            </p:sp>
          </p:grpSp>
          <p:grpSp>
            <p:nvGrpSpPr>
              <p:cNvPr id="299" name="Google Shape;299;p23"/>
              <p:cNvGrpSpPr/>
              <p:nvPr/>
            </p:nvGrpSpPr>
            <p:grpSpPr>
              <a:xfrm>
                <a:off x="6213550" y="3412550"/>
                <a:ext cx="1096575" cy="430857"/>
                <a:chOff x="6213550" y="3412550"/>
                <a:chExt cx="1096575" cy="430857"/>
              </a:xfrm>
            </p:grpSpPr>
            <p:sp>
              <p:nvSpPr>
                <p:cNvPr id="300" name="Google Shape;300;p23"/>
                <p:cNvSpPr txBox="1"/>
                <p:nvPr/>
              </p:nvSpPr>
              <p:spPr>
                <a:xfrm>
                  <a:off x="6213550" y="3412550"/>
                  <a:ext cx="427500" cy="43085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600" b="1">
                      <a:latin typeface="Consolas" panose="020B0609020204030204" pitchFamily="49" charset="0"/>
                      <a:ea typeface="Courier New"/>
                      <a:cs typeface="Courier New"/>
                      <a:sym typeface="Courier New"/>
                    </a:rPr>
                    <a:t>SP</a:t>
                  </a:r>
                  <a:endParaRPr sz="1600" b="1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301" name="Google Shape;301;p23"/>
                <p:cNvSpPr/>
                <p:nvPr/>
              </p:nvSpPr>
              <p:spPr>
                <a:xfrm>
                  <a:off x="6618625" y="3520825"/>
                  <a:ext cx="691500" cy="200400"/>
                </a:xfrm>
                <a:prstGeom prst="rect">
                  <a:avLst/>
                </a:prstGeom>
                <a:solidFill>
                  <a:srgbClr val="EA9999"/>
                </a:solidFill>
                <a:ln w="19050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Consolas" panose="020B0609020204030204" pitchFamily="49" charset="0"/>
                  </a:endParaRPr>
                </a:p>
              </p:txBody>
            </p:sp>
          </p:grpSp>
          <p:sp>
            <p:nvSpPr>
              <p:cNvPr id="302" name="Google Shape;302;p23"/>
              <p:cNvSpPr txBox="1"/>
              <p:nvPr/>
            </p:nvSpPr>
            <p:spPr>
              <a:xfrm>
                <a:off x="6609250" y="3810275"/>
                <a:ext cx="710950" cy="4616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b="1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rPr>
                  <a:t>...</a:t>
                </a:r>
                <a:endParaRPr b="1">
                  <a:latin typeface="Consolas" panose="020B0609020204030204" pitchFamily="49" charset="0"/>
                  <a:ea typeface="Courier New"/>
                  <a:cs typeface="Courier New"/>
                  <a:sym typeface="Courier New"/>
                </a:endParaRPr>
              </a:p>
            </p:txBody>
          </p:sp>
        </p:grpSp>
        <p:sp>
          <p:nvSpPr>
            <p:cNvPr id="303" name="Google Shape;303;p23"/>
            <p:cNvSpPr txBox="1"/>
            <p:nvPr/>
          </p:nvSpPr>
          <p:spPr>
            <a:xfrm>
              <a:off x="6182600" y="4391300"/>
              <a:ext cx="13686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100" b="1">
                  <a:solidFill>
                    <a:srgbClr val="FF0000"/>
                  </a:solidFill>
                  <a:latin typeface="Consolas" panose="020B0609020204030204" pitchFamily="49" charset="0"/>
                  <a:ea typeface="Courier New"/>
                  <a:cs typeface="Courier New"/>
                  <a:sym typeface="Courier New"/>
                </a:rPr>
                <a:t>Registros</a:t>
              </a:r>
              <a:endParaRPr sz="1100" b="1">
                <a:solidFill>
                  <a:srgbClr val="FF0000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304" name="Google Shape;304;p23"/>
          <p:cNvGrpSpPr/>
          <p:nvPr/>
        </p:nvGrpSpPr>
        <p:grpSpPr>
          <a:xfrm>
            <a:off x="10524400" y="1418713"/>
            <a:ext cx="1389687" cy="2103125"/>
            <a:chOff x="6161513" y="2642175"/>
            <a:chExt cx="1389687" cy="2103125"/>
          </a:xfrm>
        </p:grpSpPr>
        <p:sp>
          <p:nvSpPr>
            <p:cNvPr id="305" name="Google Shape;305;p23"/>
            <p:cNvSpPr txBox="1"/>
            <p:nvPr/>
          </p:nvSpPr>
          <p:spPr>
            <a:xfrm>
              <a:off x="6295300" y="2642175"/>
              <a:ext cx="10938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latin typeface="Consolas" panose="020B0609020204030204" pitchFamily="49" charset="0"/>
                  <a:ea typeface="Courier New"/>
                  <a:cs typeface="Courier New"/>
                  <a:sym typeface="Courier New"/>
                </a:rPr>
                <a:t>CPU[T3]</a:t>
              </a:r>
              <a:endParaRPr sz="1600" b="1">
                <a:latin typeface="Consolas" panose="020B0609020204030204" pitchFamily="49" charset="0"/>
                <a:ea typeface="Courier New"/>
                <a:cs typeface="Courier New"/>
                <a:sym typeface="Courier New"/>
              </a:endParaRPr>
            </a:p>
          </p:txBody>
        </p:sp>
        <p:grpSp>
          <p:nvGrpSpPr>
            <p:cNvPr id="306" name="Google Shape;306;p23"/>
            <p:cNvGrpSpPr/>
            <p:nvPr/>
          </p:nvGrpSpPr>
          <p:grpSpPr>
            <a:xfrm>
              <a:off x="6161513" y="3042375"/>
              <a:ext cx="1338300" cy="1301700"/>
              <a:chOff x="6161513" y="3042375"/>
              <a:chExt cx="1338300" cy="1301700"/>
            </a:xfrm>
          </p:grpSpPr>
          <p:sp>
            <p:nvSpPr>
              <p:cNvPr id="307" name="Google Shape;307;p23"/>
              <p:cNvSpPr/>
              <p:nvPr/>
            </p:nvSpPr>
            <p:spPr>
              <a:xfrm>
                <a:off x="6161513" y="3042375"/>
                <a:ext cx="1338300" cy="1301700"/>
              </a:xfrm>
              <a:prstGeom prst="rect">
                <a:avLst/>
              </a:prstGeom>
              <a:solidFill>
                <a:srgbClr val="FFE599"/>
              </a:solidFill>
              <a:ln w="1905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Consolas" panose="020B0609020204030204" pitchFamily="49" charset="0"/>
                </a:endParaRPr>
              </a:p>
            </p:txBody>
          </p:sp>
          <p:grpSp>
            <p:nvGrpSpPr>
              <p:cNvPr id="308" name="Google Shape;308;p23"/>
              <p:cNvGrpSpPr/>
              <p:nvPr/>
            </p:nvGrpSpPr>
            <p:grpSpPr>
              <a:xfrm>
                <a:off x="6213550" y="3096950"/>
                <a:ext cx="1096575" cy="430857"/>
                <a:chOff x="6213550" y="3096950"/>
                <a:chExt cx="1096575" cy="430857"/>
              </a:xfrm>
            </p:grpSpPr>
            <p:sp>
              <p:nvSpPr>
                <p:cNvPr id="309" name="Google Shape;309;p23"/>
                <p:cNvSpPr/>
                <p:nvPr/>
              </p:nvSpPr>
              <p:spPr>
                <a:xfrm>
                  <a:off x="6618625" y="3212150"/>
                  <a:ext cx="691500" cy="200400"/>
                </a:xfrm>
                <a:prstGeom prst="rect">
                  <a:avLst/>
                </a:prstGeom>
                <a:solidFill>
                  <a:srgbClr val="EA9999"/>
                </a:solidFill>
                <a:ln w="19050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Consolas" panose="020B0609020204030204" pitchFamily="49" charset="0"/>
                  </a:endParaRPr>
                </a:p>
              </p:txBody>
            </p:sp>
            <p:sp>
              <p:nvSpPr>
                <p:cNvPr id="310" name="Google Shape;310;p23"/>
                <p:cNvSpPr txBox="1"/>
                <p:nvPr/>
              </p:nvSpPr>
              <p:spPr>
                <a:xfrm>
                  <a:off x="6213550" y="3096950"/>
                  <a:ext cx="427500" cy="43085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600" b="1" dirty="0">
                      <a:latin typeface="Consolas" panose="020B0609020204030204" pitchFamily="49" charset="0"/>
                      <a:ea typeface="Courier New"/>
                      <a:cs typeface="Courier New"/>
                      <a:sym typeface="Courier New"/>
                    </a:rPr>
                    <a:t>PC</a:t>
                  </a:r>
                  <a:endParaRPr sz="1600" b="1" dirty="0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endParaRPr>
                </a:p>
              </p:txBody>
            </p:sp>
          </p:grpSp>
          <p:grpSp>
            <p:nvGrpSpPr>
              <p:cNvPr id="311" name="Google Shape;311;p23"/>
              <p:cNvGrpSpPr/>
              <p:nvPr/>
            </p:nvGrpSpPr>
            <p:grpSpPr>
              <a:xfrm>
                <a:off x="6213550" y="3412550"/>
                <a:ext cx="1096575" cy="430857"/>
                <a:chOff x="6213550" y="3412550"/>
                <a:chExt cx="1096575" cy="430857"/>
              </a:xfrm>
            </p:grpSpPr>
            <p:sp>
              <p:nvSpPr>
                <p:cNvPr id="312" name="Google Shape;312;p23"/>
                <p:cNvSpPr txBox="1"/>
                <p:nvPr/>
              </p:nvSpPr>
              <p:spPr>
                <a:xfrm>
                  <a:off x="6213550" y="3412550"/>
                  <a:ext cx="427500" cy="43085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600" b="1">
                      <a:latin typeface="Consolas" panose="020B0609020204030204" pitchFamily="49" charset="0"/>
                      <a:ea typeface="Courier New"/>
                      <a:cs typeface="Courier New"/>
                      <a:sym typeface="Courier New"/>
                    </a:rPr>
                    <a:t>SP</a:t>
                  </a:r>
                  <a:endParaRPr sz="1600" b="1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313" name="Google Shape;313;p23"/>
                <p:cNvSpPr/>
                <p:nvPr/>
              </p:nvSpPr>
              <p:spPr>
                <a:xfrm>
                  <a:off x="6618625" y="3520825"/>
                  <a:ext cx="691500" cy="200400"/>
                </a:xfrm>
                <a:prstGeom prst="rect">
                  <a:avLst/>
                </a:prstGeom>
                <a:solidFill>
                  <a:srgbClr val="EA9999"/>
                </a:solidFill>
                <a:ln w="19050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Consolas" panose="020B0609020204030204" pitchFamily="49" charset="0"/>
                  </a:endParaRPr>
                </a:p>
              </p:txBody>
            </p:sp>
          </p:grpSp>
          <p:sp>
            <p:nvSpPr>
              <p:cNvPr id="314" name="Google Shape;314;p23"/>
              <p:cNvSpPr txBox="1"/>
              <p:nvPr/>
            </p:nvSpPr>
            <p:spPr>
              <a:xfrm>
                <a:off x="6609250" y="3810275"/>
                <a:ext cx="691500" cy="4616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b="1" dirty="0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rPr>
                  <a:t>...</a:t>
                </a:r>
                <a:endParaRPr b="1" dirty="0">
                  <a:latin typeface="Consolas" panose="020B0609020204030204" pitchFamily="49" charset="0"/>
                  <a:ea typeface="Courier New"/>
                  <a:cs typeface="Courier New"/>
                  <a:sym typeface="Courier New"/>
                </a:endParaRPr>
              </a:p>
            </p:txBody>
          </p:sp>
        </p:grpSp>
        <p:sp>
          <p:nvSpPr>
            <p:cNvPr id="315" name="Google Shape;315;p23"/>
            <p:cNvSpPr txBox="1"/>
            <p:nvPr/>
          </p:nvSpPr>
          <p:spPr>
            <a:xfrm>
              <a:off x="6182600" y="4391300"/>
              <a:ext cx="13686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100" b="1">
                  <a:solidFill>
                    <a:srgbClr val="FF0000"/>
                  </a:solidFill>
                  <a:latin typeface="Consolas" panose="020B0609020204030204" pitchFamily="49" charset="0"/>
                  <a:ea typeface="Courier New"/>
                  <a:cs typeface="Courier New"/>
                  <a:sym typeface="Courier New"/>
                </a:rPr>
                <a:t>Registros</a:t>
              </a:r>
              <a:endParaRPr sz="1100" b="1">
                <a:solidFill>
                  <a:srgbClr val="FF0000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316" name="Google Shape;316;p23"/>
          <p:cNvGrpSpPr/>
          <p:nvPr/>
        </p:nvGrpSpPr>
        <p:grpSpPr>
          <a:xfrm>
            <a:off x="7434250" y="3886575"/>
            <a:ext cx="1368600" cy="2885700"/>
            <a:chOff x="5681650" y="3886575"/>
            <a:chExt cx="1368600" cy="2885700"/>
          </a:xfrm>
        </p:grpSpPr>
        <p:sp>
          <p:nvSpPr>
            <p:cNvPr id="317" name="Google Shape;317;p23"/>
            <p:cNvSpPr txBox="1"/>
            <p:nvPr/>
          </p:nvSpPr>
          <p:spPr>
            <a:xfrm>
              <a:off x="5681650" y="6249075"/>
              <a:ext cx="13686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100" b="1" dirty="0">
                  <a:solidFill>
                    <a:srgbClr val="FF0000"/>
                  </a:solidFill>
                  <a:latin typeface="Consolas" panose="020B0609020204030204" pitchFamily="49" charset="0"/>
                  <a:ea typeface="Courier New"/>
                  <a:cs typeface="Courier New"/>
                  <a:sym typeface="Courier New"/>
                </a:rPr>
                <a:t>Address </a:t>
              </a:r>
              <a:r>
                <a:rPr lang="es-ES" sz="1100" b="1" dirty="0" err="1">
                  <a:solidFill>
                    <a:srgbClr val="FF0000"/>
                  </a:solidFill>
                  <a:latin typeface="Consolas" panose="020B0609020204030204" pitchFamily="49" charset="0"/>
                  <a:ea typeface="Courier New"/>
                  <a:cs typeface="Courier New"/>
                  <a:sym typeface="Courier New"/>
                </a:rPr>
                <a:t>Space</a:t>
              </a:r>
              <a:r>
                <a:rPr lang="es-ES" sz="1100" b="1" dirty="0">
                  <a:solidFill>
                    <a:srgbClr val="FF0000"/>
                  </a:solidFill>
                  <a:latin typeface="Consolas" panose="020B0609020204030204" pitchFamily="49" charset="0"/>
                  <a:ea typeface="Courier New"/>
                  <a:cs typeface="Courier New"/>
                  <a:sym typeface="Courier New"/>
                </a:rPr>
                <a:t> multi </a:t>
              </a:r>
              <a:r>
                <a:rPr lang="es-ES" sz="1100" b="1" dirty="0" err="1">
                  <a:solidFill>
                    <a:srgbClr val="FF0000"/>
                  </a:solidFill>
                  <a:latin typeface="Consolas" panose="020B0609020204030204" pitchFamily="49" charset="0"/>
                  <a:ea typeface="Courier New"/>
                  <a:cs typeface="Courier New"/>
                  <a:sym typeface="Courier New"/>
                </a:rPr>
                <a:t>Stack</a:t>
              </a:r>
              <a:endParaRPr sz="1100" b="1" dirty="0">
                <a:solidFill>
                  <a:srgbClr val="FF0000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endParaRPr>
            </a:p>
          </p:txBody>
        </p:sp>
        <p:grpSp>
          <p:nvGrpSpPr>
            <p:cNvPr id="318" name="Google Shape;318;p23"/>
            <p:cNvGrpSpPr/>
            <p:nvPr/>
          </p:nvGrpSpPr>
          <p:grpSpPr>
            <a:xfrm>
              <a:off x="5835000" y="3886575"/>
              <a:ext cx="1079550" cy="2362500"/>
              <a:chOff x="5835000" y="4191375"/>
              <a:chExt cx="1079550" cy="2362500"/>
            </a:xfrm>
          </p:grpSpPr>
          <p:sp>
            <p:nvSpPr>
              <p:cNvPr id="319" name="Google Shape;319;p23"/>
              <p:cNvSpPr/>
              <p:nvPr/>
            </p:nvSpPr>
            <p:spPr>
              <a:xfrm>
                <a:off x="5835000" y="4563075"/>
                <a:ext cx="1076100" cy="1990800"/>
              </a:xfrm>
              <a:prstGeom prst="rect">
                <a:avLst/>
              </a:prstGeom>
              <a:solidFill>
                <a:srgbClr val="EFEFEF"/>
              </a:solidFill>
              <a:ln w="19050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Consolas" panose="020B0609020204030204" pitchFamily="49" charset="0"/>
                </a:endParaRPr>
              </a:p>
            </p:txBody>
          </p:sp>
          <p:sp>
            <p:nvSpPr>
              <p:cNvPr id="320" name="Google Shape;320;p23"/>
              <p:cNvSpPr/>
              <p:nvPr/>
            </p:nvSpPr>
            <p:spPr>
              <a:xfrm>
                <a:off x="5835000" y="4563075"/>
                <a:ext cx="1076100" cy="2844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rPr>
                  <a:t>Code</a:t>
                </a:r>
                <a:endParaRPr sz="800" b="1">
                  <a:latin typeface="Consolas" panose="020B0609020204030204" pitchFamily="49" charset="0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321" name="Google Shape;321;p23"/>
              <p:cNvSpPr/>
              <p:nvPr/>
            </p:nvSpPr>
            <p:spPr>
              <a:xfrm>
                <a:off x="5835000" y="485120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rPr>
                  <a:t>heap</a:t>
                </a:r>
                <a:endParaRPr>
                  <a:latin typeface="Consolas" panose="020B0609020204030204" pitchFamily="49" charset="0"/>
                </a:endParaRPr>
              </a:p>
            </p:txBody>
          </p:sp>
          <p:cxnSp>
            <p:nvCxnSpPr>
              <p:cNvPr id="322" name="Google Shape;322;p23"/>
              <p:cNvCxnSpPr>
                <a:stCxn id="321" idx="2"/>
              </p:cNvCxnSpPr>
              <p:nvPr/>
            </p:nvCxnSpPr>
            <p:spPr>
              <a:xfrm>
                <a:off x="6373050" y="5135600"/>
                <a:ext cx="6900" cy="261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grpSp>
            <p:nvGrpSpPr>
              <p:cNvPr id="323" name="Google Shape;323;p23"/>
              <p:cNvGrpSpPr/>
              <p:nvPr/>
            </p:nvGrpSpPr>
            <p:grpSpPr>
              <a:xfrm>
                <a:off x="5835000" y="6263025"/>
                <a:ext cx="1076100" cy="289800"/>
                <a:chOff x="5835000" y="6263025"/>
                <a:chExt cx="1076100" cy="289800"/>
              </a:xfrm>
            </p:grpSpPr>
            <p:sp>
              <p:nvSpPr>
                <p:cNvPr id="324" name="Google Shape;324;p23"/>
                <p:cNvSpPr/>
                <p:nvPr/>
              </p:nvSpPr>
              <p:spPr>
                <a:xfrm>
                  <a:off x="5835000" y="6433125"/>
                  <a:ext cx="1076100" cy="119700"/>
                </a:xfrm>
                <a:prstGeom prst="rect">
                  <a:avLst/>
                </a:prstGeom>
                <a:solidFill>
                  <a:srgbClr val="FCE5CD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nsolas" panose="020B0609020204030204" pitchFamily="49" charset="0"/>
                      <a:ea typeface="Courier New"/>
                      <a:cs typeface="Courier New"/>
                      <a:sym typeface="Courier New"/>
                    </a:rPr>
                    <a:t>stack[T1]</a:t>
                  </a:r>
                  <a:endParaRPr>
                    <a:latin typeface="Consolas" panose="020B0609020204030204" pitchFamily="49" charset="0"/>
                  </a:endParaRPr>
                </a:p>
              </p:txBody>
            </p:sp>
            <p:cxnSp>
              <p:nvCxnSpPr>
                <p:cNvPr id="325" name="Google Shape;325;p23"/>
                <p:cNvCxnSpPr>
                  <a:stCxn id="324" idx="0"/>
                </p:cNvCxnSpPr>
                <p:nvPr/>
              </p:nvCxnSpPr>
              <p:spPr>
                <a:xfrm rot="10800000" flipH="1">
                  <a:off x="6373050" y="6263025"/>
                  <a:ext cx="300" cy="1701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  <p:sp>
            <p:nvSpPr>
              <p:cNvPr id="326" name="Google Shape;326;p23"/>
              <p:cNvSpPr txBox="1"/>
              <p:nvPr/>
            </p:nvSpPr>
            <p:spPr>
              <a:xfrm>
                <a:off x="5887950" y="4191375"/>
                <a:ext cx="9702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rPr>
                  <a:t>VM</a:t>
                </a:r>
                <a:endParaRPr sz="1600" b="1">
                  <a:latin typeface="Consolas" panose="020B0609020204030204" pitchFamily="49" charset="0"/>
                  <a:ea typeface="Courier New"/>
                  <a:cs typeface="Courier New"/>
                  <a:sym typeface="Courier New"/>
                </a:endParaRPr>
              </a:p>
            </p:txBody>
          </p:sp>
          <p:grpSp>
            <p:nvGrpSpPr>
              <p:cNvPr id="327" name="Google Shape;327;p23"/>
              <p:cNvGrpSpPr/>
              <p:nvPr/>
            </p:nvGrpSpPr>
            <p:grpSpPr>
              <a:xfrm>
                <a:off x="5835000" y="5908725"/>
                <a:ext cx="1076100" cy="289800"/>
                <a:chOff x="5835000" y="6263025"/>
                <a:chExt cx="1076100" cy="289800"/>
              </a:xfrm>
            </p:grpSpPr>
            <p:sp>
              <p:nvSpPr>
                <p:cNvPr id="328" name="Google Shape;328;p23"/>
                <p:cNvSpPr/>
                <p:nvPr/>
              </p:nvSpPr>
              <p:spPr>
                <a:xfrm>
                  <a:off x="5835000" y="6433125"/>
                  <a:ext cx="1076100" cy="1197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nsolas" panose="020B0609020204030204" pitchFamily="49" charset="0"/>
                      <a:ea typeface="Courier New"/>
                      <a:cs typeface="Courier New"/>
                      <a:sym typeface="Courier New"/>
                    </a:rPr>
                    <a:t>stack[T2]</a:t>
                  </a:r>
                  <a:endParaRPr>
                    <a:latin typeface="Consolas" panose="020B0609020204030204" pitchFamily="49" charset="0"/>
                  </a:endParaRPr>
                </a:p>
              </p:txBody>
            </p:sp>
            <p:cxnSp>
              <p:nvCxnSpPr>
                <p:cNvPr id="329" name="Google Shape;329;p23"/>
                <p:cNvCxnSpPr>
                  <a:stCxn id="328" idx="0"/>
                </p:cNvCxnSpPr>
                <p:nvPr/>
              </p:nvCxnSpPr>
              <p:spPr>
                <a:xfrm rot="10800000" flipH="1">
                  <a:off x="6373050" y="6263025"/>
                  <a:ext cx="300" cy="1701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  <p:grpSp>
            <p:nvGrpSpPr>
              <p:cNvPr id="330" name="Google Shape;330;p23"/>
              <p:cNvGrpSpPr/>
              <p:nvPr/>
            </p:nvGrpSpPr>
            <p:grpSpPr>
              <a:xfrm>
                <a:off x="5838450" y="5554413"/>
                <a:ext cx="1076100" cy="289800"/>
                <a:chOff x="5835000" y="6263025"/>
                <a:chExt cx="1076100" cy="289800"/>
              </a:xfrm>
            </p:grpSpPr>
            <p:sp>
              <p:nvSpPr>
                <p:cNvPr id="331" name="Google Shape;331;p23"/>
                <p:cNvSpPr/>
                <p:nvPr/>
              </p:nvSpPr>
              <p:spPr>
                <a:xfrm>
                  <a:off x="5835000" y="6433125"/>
                  <a:ext cx="1076100" cy="119700"/>
                </a:xfrm>
                <a:prstGeom prst="rect">
                  <a:avLst/>
                </a:prstGeom>
                <a:solidFill>
                  <a:srgbClr val="FFF2CC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nsolas" panose="020B0609020204030204" pitchFamily="49" charset="0"/>
                      <a:ea typeface="Courier New"/>
                      <a:cs typeface="Courier New"/>
                      <a:sym typeface="Courier New"/>
                    </a:rPr>
                    <a:t>stack[T1]</a:t>
                  </a:r>
                  <a:endParaRPr>
                    <a:latin typeface="Consolas" panose="020B0609020204030204" pitchFamily="49" charset="0"/>
                  </a:endParaRPr>
                </a:p>
              </p:txBody>
            </p:sp>
            <p:cxnSp>
              <p:nvCxnSpPr>
                <p:cNvPr id="332" name="Google Shape;332;p23"/>
                <p:cNvCxnSpPr>
                  <a:stCxn id="331" idx="0"/>
                </p:cNvCxnSpPr>
                <p:nvPr/>
              </p:nvCxnSpPr>
              <p:spPr>
                <a:xfrm rot="10800000" flipH="1">
                  <a:off x="6373050" y="6263025"/>
                  <a:ext cx="300" cy="1701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</p:grpSp>
      </p:grpSp>
      <p:pic>
        <p:nvPicPr>
          <p:cNvPr id="333" name="Google Shape;333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8050" y="2896250"/>
            <a:ext cx="3394024" cy="207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4"/>
          <p:cNvSpPr txBox="1">
            <a:spLocks noGrp="1"/>
          </p:cNvSpPr>
          <p:nvPr>
            <p:ph type="title"/>
          </p:nvPr>
        </p:nvSpPr>
        <p:spPr>
          <a:xfrm>
            <a:off x="533400" y="96038"/>
            <a:ext cx="868725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Resumen virtualización</a:t>
            </a:r>
            <a:endParaRPr dirty="0"/>
          </a:p>
        </p:txBody>
      </p:sp>
      <p:sp>
        <p:nvSpPr>
          <p:cNvPr id="339" name="Google Shape;339;p24"/>
          <p:cNvSpPr txBox="1">
            <a:spLocks noGrp="1"/>
          </p:cNvSpPr>
          <p:nvPr>
            <p:ph type="body" idx="1"/>
          </p:nvPr>
        </p:nvSpPr>
        <p:spPr>
          <a:xfrm>
            <a:off x="624125" y="973975"/>
            <a:ext cx="11212225" cy="595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/>
              <a:t>Virtualización de Memoria</a:t>
            </a:r>
            <a:endParaRPr sz="2200" b="1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340" name="Google Shape;340;p24"/>
          <p:cNvGrpSpPr/>
          <p:nvPr/>
        </p:nvGrpSpPr>
        <p:grpSpPr>
          <a:xfrm>
            <a:off x="1017020" y="3244336"/>
            <a:ext cx="1069049" cy="1100714"/>
            <a:chOff x="2019475" y="2346963"/>
            <a:chExt cx="590700" cy="628800"/>
          </a:xfrm>
        </p:grpSpPr>
        <p:sp>
          <p:nvSpPr>
            <p:cNvPr id="341" name="Google Shape;341;p24"/>
            <p:cNvSpPr/>
            <p:nvPr/>
          </p:nvSpPr>
          <p:spPr>
            <a:xfrm>
              <a:off x="2019475" y="2346963"/>
              <a:ext cx="590700" cy="628800"/>
            </a:xfrm>
            <a:prstGeom prst="ellipse">
              <a:avLst/>
            </a:prstGeom>
            <a:solidFill>
              <a:srgbClr val="FFF2CC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24"/>
            <p:cNvSpPr/>
            <p:nvPr/>
          </p:nvSpPr>
          <p:spPr>
            <a:xfrm>
              <a:off x="2164688" y="2523250"/>
              <a:ext cx="90725" cy="295275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43" name="Google Shape;343;p24"/>
            <p:cNvSpPr/>
            <p:nvPr/>
          </p:nvSpPr>
          <p:spPr>
            <a:xfrm>
              <a:off x="2336138" y="2523250"/>
              <a:ext cx="90725" cy="295275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344" name="Google Shape;344;p24"/>
          <p:cNvSpPr/>
          <p:nvPr/>
        </p:nvSpPr>
        <p:spPr>
          <a:xfrm>
            <a:off x="1256188" y="4766700"/>
            <a:ext cx="90725" cy="295275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45" name="Google Shape;345;p24"/>
          <p:cNvSpPr/>
          <p:nvPr/>
        </p:nvSpPr>
        <p:spPr>
          <a:xfrm>
            <a:off x="1185213" y="5309763"/>
            <a:ext cx="90725" cy="295275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46" name="Google Shape;346;p24"/>
          <p:cNvSpPr/>
          <p:nvPr/>
        </p:nvSpPr>
        <p:spPr>
          <a:xfrm>
            <a:off x="1380100" y="4804838"/>
            <a:ext cx="4668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endParaRPr b="1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7" name="Google Shape;347;p24"/>
          <p:cNvSpPr/>
          <p:nvPr/>
        </p:nvSpPr>
        <p:spPr>
          <a:xfrm>
            <a:off x="1309125" y="5309750"/>
            <a:ext cx="466800" cy="2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T2</a:t>
            </a:r>
            <a:endParaRPr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348" name="Google Shape;348;p24"/>
          <p:cNvGrpSpPr/>
          <p:nvPr/>
        </p:nvGrpSpPr>
        <p:grpSpPr>
          <a:xfrm>
            <a:off x="2506800" y="2853675"/>
            <a:ext cx="1430400" cy="1713775"/>
            <a:chOff x="3490825" y="3157175"/>
            <a:chExt cx="1430400" cy="1713775"/>
          </a:xfrm>
        </p:grpSpPr>
        <p:sp>
          <p:nvSpPr>
            <p:cNvPr id="349" name="Google Shape;349;p24"/>
            <p:cNvSpPr/>
            <p:nvPr/>
          </p:nvSpPr>
          <p:spPr>
            <a:xfrm>
              <a:off x="3490825" y="3513150"/>
              <a:ext cx="1430400" cy="13578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50" name="Google Shape;350;p24"/>
            <p:cNvGrpSpPr/>
            <p:nvPr/>
          </p:nvGrpSpPr>
          <p:grpSpPr>
            <a:xfrm>
              <a:off x="3669122" y="4044450"/>
              <a:ext cx="1140003" cy="295200"/>
              <a:chOff x="3669122" y="4044450"/>
              <a:chExt cx="1140003" cy="295200"/>
            </a:xfrm>
          </p:grpSpPr>
          <p:sp>
            <p:nvSpPr>
              <p:cNvPr id="351" name="Google Shape;351;p24"/>
              <p:cNvSpPr/>
              <p:nvPr/>
            </p:nvSpPr>
            <p:spPr>
              <a:xfrm>
                <a:off x="4135925" y="4044450"/>
                <a:ext cx="673200" cy="295200"/>
              </a:xfrm>
              <a:prstGeom prst="rect">
                <a:avLst/>
              </a:prstGeom>
              <a:solidFill>
                <a:srgbClr val="FFF2CC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Google Shape;352;p24"/>
              <p:cNvSpPr/>
              <p:nvPr/>
            </p:nvSpPr>
            <p:spPr>
              <a:xfrm>
                <a:off x="3669122" y="4044450"/>
                <a:ext cx="466800" cy="295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>
                    <a:latin typeface="Consolas"/>
                    <a:ea typeface="Consolas"/>
                    <a:cs typeface="Consolas"/>
                    <a:sym typeface="Consolas"/>
                  </a:rPr>
                  <a:t>PC</a:t>
                </a:r>
                <a:endParaRPr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p:grpSp>
        <p:grpSp>
          <p:nvGrpSpPr>
            <p:cNvPr id="353" name="Google Shape;353;p24"/>
            <p:cNvGrpSpPr/>
            <p:nvPr/>
          </p:nvGrpSpPr>
          <p:grpSpPr>
            <a:xfrm>
              <a:off x="3669122" y="4435275"/>
              <a:ext cx="1140003" cy="295200"/>
              <a:chOff x="3669122" y="4435275"/>
              <a:chExt cx="1140003" cy="295200"/>
            </a:xfrm>
          </p:grpSpPr>
          <p:sp>
            <p:nvSpPr>
              <p:cNvPr id="354" name="Google Shape;354;p24"/>
              <p:cNvSpPr/>
              <p:nvPr/>
            </p:nvSpPr>
            <p:spPr>
              <a:xfrm>
                <a:off x="4135925" y="4435275"/>
                <a:ext cx="673200" cy="295200"/>
              </a:xfrm>
              <a:prstGeom prst="rect">
                <a:avLst/>
              </a:prstGeom>
              <a:solidFill>
                <a:srgbClr val="FFF2CC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Google Shape;355;p24"/>
              <p:cNvSpPr/>
              <p:nvPr/>
            </p:nvSpPr>
            <p:spPr>
              <a:xfrm>
                <a:off x="3669122" y="4435275"/>
                <a:ext cx="466800" cy="295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>
                    <a:latin typeface="Consolas"/>
                    <a:ea typeface="Consolas"/>
                    <a:cs typeface="Consolas"/>
                    <a:sym typeface="Consolas"/>
                  </a:rPr>
                  <a:t>SP</a:t>
                </a:r>
                <a:endParaRPr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p:grpSp>
        <p:sp>
          <p:nvSpPr>
            <p:cNvPr id="356" name="Google Shape;356;p24"/>
            <p:cNvSpPr/>
            <p:nvPr/>
          </p:nvSpPr>
          <p:spPr>
            <a:xfrm>
              <a:off x="3972626" y="3157175"/>
              <a:ext cx="612000" cy="295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dirty="0">
                  <a:latin typeface="Consolas"/>
                  <a:ea typeface="Consolas"/>
                  <a:cs typeface="Consolas"/>
                  <a:sym typeface="Consolas"/>
                </a:rPr>
                <a:t>CPU</a:t>
              </a:r>
              <a:endParaRPr sz="1800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aphicFrame>
        <p:nvGraphicFramePr>
          <p:cNvPr id="357" name="Google Shape;357;p24"/>
          <p:cNvGraphicFramePr/>
          <p:nvPr/>
        </p:nvGraphicFramePr>
        <p:xfrm>
          <a:off x="4695100" y="2552813"/>
          <a:ext cx="1337550" cy="13105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6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T1 TCB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PC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SP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58" name="Google Shape;358;p24"/>
          <p:cNvGraphicFramePr/>
          <p:nvPr/>
        </p:nvGraphicFramePr>
        <p:xfrm>
          <a:off x="4695100" y="4478463"/>
          <a:ext cx="1337550" cy="13105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668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T2 TCB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PC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SP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59" name="Google Shape;359;p24"/>
          <p:cNvSpPr/>
          <p:nvPr/>
        </p:nvSpPr>
        <p:spPr>
          <a:xfrm>
            <a:off x="4357919" y="2684225"/>
            <a:ext cx="90725" cy="949486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60" name="Google Shape;360;p24"/>
          <p:cNvSpPr/>
          <p:nvPr/>
        </p:nvSpPr>
        <p:spPr>
          <a:xfrm>
            <a:off x="4357919" y="4539400"/>
            <a:ext cx="90725" cy="949486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61" name="Google Shape;361;p24"/>
          <p:cNvSpPr/>
          <p:nvPr/>
        </p:nvSpPr>
        <p:spPr>
          <a:xfrm>
            <a:off x="6905740" y="3110620"/>
            <a:ext cx="201019" cy="785845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62" name="Google Shape;362;p24"/>
          <p:cNvSpPr/>
          <p:nvPr/>
        </p:nvSpPr>
        <p:spPr>
          <a:xfrm>
            <a:off x="11322912" y="4340199"/>
            <a:ext cx="201019" cy="785845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sp>
      <p:cxnSp>
        <p:nvCxnSpPr>
          <p:cNvPr id="363" name="Google Shape;363;p24"/>
          <p:cNvCxnSpPr/>
          <p:nvPr/>
        </p:nvCxnSpPr>
        <p:spPr>
          <a:xfrm rot="10800000" flipH="1">
            <a:off x="7081796" y="4130324"/>
            <a:ext cx="4344000" cy="21600"/>
          </a:xfrm>
          <a:prstGeom prst="straightConnector1">
            <a:avLst/>
          </a:prstGeom>
          <a:noFill/>
          <a:ln w="19050" cap="flat" cmpd="sng">
            <a:solidFill>
              <a:srgbClr val="E46C0A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64" name="Google Shape;364;p24"/>
          <p:cNvSpPr/>
          <p:nvPr/>
        </p:nvSpPr>
        <p:spPr>
          <a:xfrm>
            <a:off x="6720500" y="2409000"/>
            <a:ext cx="571500" cy="4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T1</a:t>
            </a:r>
            <a:endParaRPr sz="2200" b="1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5" name="Google Shape;365;p24"/>
          <p:cNvSpPr/>
          <p:nvPr/>
        </p:nvSpPr>
        <p:spPr>
          <a:xfrm>
            <a:off x="11137653" y="2409000"/>
            <a:ext cx="571500" cy="4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T2</a:t>
            </a:r>
            <a:endParaRPr sz="220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6" name="Google Shape;366;p24"/>
          <p:cNvSpPr/>
          <p:nvPr/>
        </p:nvSpPr>
        <p:spPr>
          <a:xfrm>
            <a:off x="8535754" y="3570276"/>
            <a:ext cx="1436100" cy="448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T1 </a:t>
            </a:r>
            <a:r>
              <a:rPr lang="es-ES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→</a:t>
            </a:r>
            <a:r>
              <a:rPr lang="es-ES" sz="2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2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T2</a:t>
            </a:r>
            <a:endParaRPr sz="20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7" name="Google Shape;367;p24"/>
          <p:cNvSpPr/>
          <p:nvPr/>
        </p:nvSpPr>
        <p:spPr>
          <a:xfrm>
            <a:off x="7416611" y="4334552"/>
            <a:ext cx="3674400" cy="7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AutoNum type="arabicPeriod"/>
            </a:pPr>
            <a:r>
              <a:rPr lang="es-ES" sz="1800" dirty="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Save T1: </a:t>
            </a: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CPU → TCB(T1)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olas"/>
              <a:buAutoNum type="arabicPeriod"/>
            </a:pPr>
            <a:r>
              <a:rPr lang="es-ES" sz="18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Load T2:</a:t>
            </a: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TCB(T2) → CPU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5"/>
          <p:cNvSpPr txBox="1">
            <a:spLocks noGrp="1"/>
          </p:cNvSpPr>
          <p:nvPr>
            <p:ph type="title"/>
          </p:nvPr>
        </p:nvSpPr>
        <p:spPr>
          <a:xfrm>
            <a:off x="495300" y="96038"/>
            <a:ext cx="872535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Resumen virtualización</a:t>
            </a:r>
            <a:endParaRPr dirty="0"/>
          </a:p>
        </p:txBody>
      </p:sp>
      <p:sp>
        <p:nvSpPr>
          <p:cNvPr id="373" name="Google Shape;373;p25"/>
          <p:cNvSpPr txBox="1">
            <a:spLocks noGrp="1"/>
          </p:cNvSpPr>
          <p:nvPr>
            <p:ph type="body" idx="1"/>
          </p:nvPr>
        </p:nvSpPr>
        <p:spPr>
          <a:xfrm>
            <a:off x="495300" y="889825"/>
            <a:ext cx="5548050" cy="595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/>
              <a:t>Concurrencia .vs. Paralelismo</a:t>
            </a:r>
            <a:endParaRPr sz="2200" b="1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374" name="Google Shape;37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2825" y="2333838"/>
            <a:ext cx="5328726" cy="59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82938" y="4193175"/>
            <a:ext cx="3211626" cy="1113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44787" y="2994112"/>
            <a:ext cx="3752425" cy="113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950849" y="5047388"/>
            <a:ext cx="3740302" cy="12208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8" name="Google Shape;378;p25"/>
          <p:cNvCxnSpPr/>
          <p:nvPr/>
        </p:nvCxnSpPr>
        <p:spPr>
          <a:xfrm rot="10800000" flipH="1">
            <a:off x="5875025" y="3499350"/>
            <a:ext cx="1935300" cy="9396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9" name="Google Shape;379;p25"/>
          <p:cNvCxnSpPr/>
          <p:nvPr/>
        </p:nvCxnSpPr>
        <p:spPr>
          <a:xfrm>
            <a:off x="5846975" y="4859700"/>
            <a:ext cx="1837200" cy="8976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80" name="Google Shape;380;p25"/>
          <p:cNvSpPr txBox="1">
            <a:spLocks noGrp="1"/>
          </p:cNvSpPr>
          <p:nvPr>
            <p:ph type="body" idx="1"/>
          </p:nvPr>
        </p:nvSpPr>
        <p:spPr>
          <a:xfrm>
            <a:off x="3196375" y="1611825"/>
            <a:ext cx="2398200" cy="595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400" b="1" dirty="0">
                <a:solidFill>
                  <a:srgbClr val="E06666"/>
                </a:solidFill>
                <a:latin typeface="Consolas"/>
                <a:ea typeface="Consolas"/>
                <a:cs typeface="Consolas"/>
                <a:sym typeface="Consolas"/>
              </a:rPr>
              <a:t>Concurrencia</a:t>
            </a:r>
            <a:endParaRPr sz="2400" b="1" dirty="0">
              <a:solidFill>
                <a:srgbClr val="E0666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81" name="Google Shape;381;p25"/>
          <p:cNvSpPr txBox="1">
            <a:spLocks noGrp="1"/>
          </p:cNvSpPr>
          <p:nvPr>
            <p:ph type="body" idx="1"/>
          </p:nvPr>
        </p:nvSpPr>
        <p:spPr>
          <a:xfrm>
            <a:off x="3119550" y="3499338"/>
            <a:ext cx="2398200" cy="595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400" b="1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Paralelismo</a:t>
            </a:r>
            <a:endParaRPr sz="2400" b="1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25"/>
          <p:cNvSpPr txBox="1">
            <a:spLocks noGrp="1"/>
          </p:cNvSpPr>
          <p:nvPr>
            <p:ph type="body" idx="1"/>
          </p:nvPr>
        </p:nvSpPr>
        <p:spPr>
          <a:xfrm>
            <a:off x="5734800" y="3329650"/>
            <a:ext cx="1479300" cy="632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Paralelismo</a:t>
            </a:r>
            <a:endParaRPr sz="1200" dirty="0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de datos</a:t>
            </a:r>
            <a:endParaRPr sz="1200" dirty="0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83" name="Google Shape;383;p25"/>
          <p:cNvSpPr txBox="1">
            <a:spLocks noGrp="1"/>
          </p:cNvSpPr>
          <p:nvPr>
            <p:ph type="body" idx="1"/>
          </p:nvPr>
        </p:nvSpPr>
        <p:spPr>
          <a:xfrm>
            <a:off x="5734800" y="5425763"/>
            <a:ext cx="1479300" cy="632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Paralelismo</a:t>
            </a:r>
            <a:endParaRPr sz="1200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20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de tareas</a:t>
            </a:r>
            <a:endParaRPr sz="1200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6"/>
          <p:cNvSpPr txBox="1">
            <a:spLocks noGrp="1"/>
          </p:cNvSpPr>
          <p:nvPr>
            <p:ph type="title"/>
          </p:nvPr>
        </p:nvSpPr>
        <p:spPr>
          <a:xfrm>
            <a:off x="457200" y="96038"/>
            <a:ext cx="876345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Resumen virtualización</a:t>
            </a:r>
            <a:endParaRPr dirty="0"/>
          </a:p>
        </p:txBody>
      </p:sp>
      <p:sp>
        <p:nvSpPr>
          <p:cNvPr id="389" name="Google Shape;389;p26"/>
          <p:cNvSpPr txBox="1">
            <a:spLocks noGrp="1"/>
          </p:cNvSpPr>
          <p:nvPr>
            <p:ph type="body" idx="1"/>
          </p:nvPr>
        </p:nvSpPr>
        <p:spPr>
          <a:xfrm>
            <a:off x="457200" y="973975"/>
            <a:ext cx="11379150" cy="595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/>
              <a:t>Paralelizar código</a:t>
            </a:r>
            <a:endParaRPr sz="2200" b="1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390" name="Google Shape;390;p26"/>
          <p:cNvGrpSpPr/>
          <p:nvPr/>
        </p:nvGrpSpPr>
        <p:grpSpPr>
          <a:xfrm>
            <a:off x="8111745" y="2528186"/>
            <a:ext cx="1068900" cy="1100700"/>
            <a:chOff x="1293070" y="3233273"/>
            <a:chExt cx="1068900" cy="1100700"/>
          </a:xfrm>
        </p:grpSpPr>
        <p:sp>
          <p:nvSpPr>
            <p:cNvPr id="391" name="Google Shape;391;p26"/>
            <p:cNvSpPr/>
            <p:nvPr/>
          </p:nvSpPr>
          <p:spPr>
            <a:xfrm>
              <a:off x="1293070" y="3233273"/>
              <a:ext cx="1068900" cy="1100700"/>
            </a:xfrm>
            <a:prstGeom prst="ellipse">
              <a:avLst/>
            </a:prstGeom>
            <a:solidFill>
              <a:srgbClr val="F3F3F3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26"/>
            <p:cNvSpPr/>
            <p:nvPr/>
          </p:nvSpPr>
          <p:spPr>
            <a:xfrm>
              <a:off x="1885751" y="3525189"/>
              <a:ext cx="164194" cy="516879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93" name="Google Shape;393;p26"/>
            <p:cNvSpPr/>
            <p:nvPr/>
          </p:nvSpPr>
          <p:spPr>
            <a:xfrm>
              <a:off x="1561301" y="3525202"/>
              <a:ext cx="164194" cy="516879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394" name="Google Shape;394;p26"/>
          <p:cNvGrpSpPr/>
          <p:nvPr/>
        </p:nvGrpSpPr>
        <p:grpSpPr>
          <a:xfrm>
            <a:off x="3719345" y="2590361"/>
            <a:ext cx="1069049" cy="1100714"/>
            <a:chOff x="2019475" y="2346963"/>
            <a:chExt cx="590700" cy="628800"/>
          </a:xfrm>
        </p:grpSpPr>
        <p:sp>
          <p:nvSpPr>
            <p:cNvPr id="395" name="Google Shape;395;p26"/>
            <p:cNvSpPr/>
            <p:nvPr/>
          </p:nvSpPr>
          <p:spPr>
            <a:xfrm>
              <a:off x="2019475" y="2346963"/>
              <a:ext cx="590700" cy="628800"/>
            </a:xfrm>
            <a:prstGeom prst="ellipse">
              <a:avLst/>
            </a:prstGeom>
            <a:solidFill>
              <a:srgbClr val="F3F3F3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26"/>
            <p:cNvSpPr/>
            <p:nvPr/>
          </p:nvSpPr>
          <p:spPr>
            <a:xfrm>
              <a:off x="2269464" y="2513724"/>
              <a:ext cx="90725" cy="295275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397" name="Google Shape;397;p26"/>
          <p:cNvSpPr/>
          <p:nvPr/>
        </p:nvSpPr>
        <p:spPr>
          <a:xfrm>
            <a:off x="5103675" y="2699925"/>
            <a:ext cx="2692800" cy="757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latin typeface="Consolas"/>
                <a:ea typeface="Consolas"/>
                <a:cs typeface="Consolas"/>
                <a:sym typeface="Consolas"/>
              </a:rPr>
              <a:t>Paralelizar</a:t>
            </a:r>
            <a:endParaRPr sz="16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98" name="Google Shape;398;p26"/>
          <p:cNvSpPr/>
          <p:nvPr/>
        </p:nvSpPr>
        <p:spPr>
          <a:xfrm>
            <a:off x="3812725" y="4512950"/>
            <a:ext cx="882300" cy="8286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latin typeface="Consolas"/>
                <a:ea typeface="Consolas"/>
                <a:cs typeface="Consolas"/>
                <a:sym typeface="Consolas"/>
              </a:rPr>
              <a:t>CPU</a:t>
            </a:r>
            <a:endParaRPr sz="2000" b="1"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399" name="Google Shape;399;p26"/>
          <p:cNvGrpSpPr/>
          <p:nvPr/>
        </p:nvGrpSpPr>
        <p:grpSpPr>
          <a:xfrm>
            <a:off x="7486550" y="4479913"/>
            <a:ext cx="2319300" cy="1165875"/>
            <a:chOff x="840200" y="4591400"/>
            <a:chExt cx="2319300" cy="1165875"/>
          </a:xfrm>
        </p:grpSpPr>
        <p:sp>
          <p:nvSpPr>
            <p:cNvPr id="400" name="Google Shape;400;p26"/>
            <p:cNvSpPr/>
            <p:nvPr/>
          </p:nvSpPr>
          <p:spPr>
            <a:xfrm>
              <a:off x="1000800" y="4591400"/>
              <a:ext cx="872400" cy="8415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latin typeface="Consolas"/>
                  <a:ea typeface="Consolas"/>
                  <a:cs typeface="Consolas"/>
                  <a:sym typeface="Consolas"/>
                </a:rPr>
                <a:t>CPU1</a:t>
              </a:r>
              <a:endParaRPr sz="20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401" name="Google Shape;401;p26"/>
            <p:cNvSpPr/>
            <p:nvPr/>
          </p:nvSpPr>
          <p:spPr>
            <a:xfrm>
              <a:off x="2148950" y="4591400"/>
              <a:ext cx="872400" cy="8415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latin typeface="Consolas"/>
                  <a:ea typeface="Consolas"/>
                  <a:cs typeface="Consolas"/>
                  <a:sym typeface="Consolas"/>
                </a:rPr>
                <a:t>CPU2</a:t>
              </a:r>
              <a:endParaRPr sz="20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402" name="Google Shape;402;p26"/>
            <p:cNvCxnSpPr/>
            <p:nvPr/>
          </p:nvCxnSpPr>
          <p:spPr>
            <a:xfrm rot="10800000" flipH="1">
              <a:off x="840200" y="5746475"/>
              <a:ext cx="2319300" cy="1080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3" name="Google Shape;403;p26"/>
            <p:cNvCxnSpPr>
              <a:stCxn id="400" idx="2"/>
            </p:cNvCxnSpPr>
            <p:nvPr/>
          </p:nvCxnSpPr>
          <p:spPr>
            <a:xfrm>
              <a:off x="1437000" y="5432900"/>
              <a:ext cx="6300" cy="31050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4" name="Google Shape;404;p26"/>
            <p:cNvCxnSpPr/>
            <p:nvPr/>
          </p:nvCxnSpPr>
          <p:spPr>
            <a:xfrm>
              <a:off x="2582000" y="5432900"/>
              <a:ext cx="6300" cy="31050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27"/>
          <p:cNvSpPr txBox="1">
            <a:spLocks noGrp="1"/>
          </p:cNvSpPr>
          <p:nvPr>
            <p:ph type="title"/>
          </p:nvPr>
        </p:nvSpPr>
        <p:spPr>
          <a:xfrm>
            <a:off x="355650" y="32976"/>
            <a:ext cx="8468625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Resumen virtualización</a:t>
            </a:r>
            <a:endParaRPr dirty="0"/>
          </a:p>
        </p:txBody>
      </p:sp>
      <p:sp>
        <p:nvSpPr>
          <p:cNvPr id="410" name="Google Shape;410;p27"/>
          <p:cNvSpPr txBox="1">
            <a:spLocks noGrp="1"/>
          </p:cNvSpPr>
          <p:nvPr>
            <p:ph type="body" idx="1"/>
          </p:nvPr>
        </p:nvSpPr>
        <p:spPr>
          <a:xfrm>
            <a:off x="355650" y="973975"/>
            <a:ext cx="11480700" cy="576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/>
              <a:t>Comparación entre procesos e hilos</a:t>
            </a: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411" name="Google Shape;411;p27"/>
          <p:cNvGrpSpPr/>
          <p:nvPr/>
        </p:nvGrpSpPr>
        <p:grpSpPr>
          <a:xfrm>
            <a:off x="2198693" y="3770696"/>
            <a:ext cx="612969" cy="600504"/>
            <a:chOff x="2019475" y="2346963"/>
            <a:chExt cx="590700" cy="628800"/>
          </a:xfrm>
        </p:grpSpPr>
        <p:sp>
          <p:nvSpPr>
            <p:cNvPr id="412" name="Google Shape;412;p27"/>
            <p:cNvSpPr/>
            <p:nvPr/>
          </p:nvSpPr>
          <p:spPr>
            <a:xfrm>
              <a:off x="2019475" y="2346963"/>
              <a:ext cx="590700" cy="628800"/>
            </a:xfrm>
            <a:prstGeom prst="ellipse">
              <a:avLst/>
            </a:prstGeom>
            <a:solidFill>
              <a:srgbClr val="F9CB9C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27"/>
            <p:cNvSpPr/>
            <p:nvPr/>
          </p:nvSpPr>
          <p:spPr>
            <a:xfrm>
              <a:off x="2269464" y="2513724"/>
              <a:ext cx="90725" cy="295275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414" name="Google Shape;414;p27"/>
          <p:cNvGrpSpPr/>
          <p:nvPr/>
        </p:nvGrpSpPr>
        <p:grpSpPr>
          <a:xfrm>
            <a:off x="9840703" y="3135737"/>
            <a:ext cx="700372" cy="3071100"/>
            <a:chOff x="3674128" y="2910437"/>
            <a:chExt cx="700372" cy="3071100"/>
          </a:xfrm>
        </p:grpSpPr>
        <p:cxnSp>
          <p:nvCxnSpPr>
            <p:cNvPr id="415" name="Google Shape;415;p27"/>
            <p:cNvCxnSpPr/>
            <p:nvPr/>
          </p:nvCxnSpPr>
          <p:spPr>
            <a:xfrm flipH="1">
              <a:off x="3674128" y="2910437"/>
              <a:ext cx="2100" cy="30711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16" name="Google Shape;416;p27"/>
            <p:cNvCxnSpPr/>
            <p:nvPr/>
          </p:nvCxnSpPr>
          <p:spPr>
            <a:xfrm>
              <a:off x="3687200" y="3373100"/>
              <a:ext cx="687300" cy="5751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7" name="Google Shape;417;p27"/>
            <p:cNvCxnSpPr/>
            <p:nvPr/>
          </p:nvCxnSpPr>
          <p:spPr>
            <a:xfrm>
              <a:off x="4360375" y="3948100"/>
              <a:ext cx="0" cy="11079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8" name="Google Shape;418;p27"/>
            <p:cNvCxnSpPr/>
            <p:nvPr/>
          </p:nvCxnSpPr>
          <p:spPr>
            <a:xfrm rot="10800000" flipH="1">
              <a:off x="3687200" y="5084075"/>
              <a:ext cx="687300" cy="448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dash"/>
              <a:round/>
              <a:headEnd type="triangle" w="med" len="med"/>
              <a:tailEnd type="none" w="med" len="med"/>
            </a:ln>
          </p:spPr>
        </p:cxnSp>
      </p:grpSp>
      <p:grpSp>
        <p:nvGrpSpPr>
          <p:cNvPr id="419" name="Google Shape;419;p27"/>
          <p:cNvGrpSpPr/>
          <p:nvPr/>
        </p:nvGrpSpPr>
        <p:grpSpPr>
          <a:xfrm>
            <a:off x="1851606" y="2853733"/>
            <a:ext cx="612969" cy="600504"/>
            <a:chOff x="2019475" y="2346963"/>
            <a:chExt cx="590700" cy="628800"/>
          </a:xfrm>
        </p:grpSpPr>
        <p:sp>
          <p:nvSpPr>
            <p:cNvPr id="420" name="Google Shape;420;p27"/>
            <p:cNvSpPr/>
            <p:nvPr/>
          </p:nvSpPr>
          <p:spPr>
            <a:xfrm>
              <a:off x="2019475" y="2346963"/>
              <a:ext cx="590700" cy="628800"/>
            </a:xfrm>
            <a:prstGeom prst="ellipse">
              <a:avLst/>
            </a:prstGeom>
            <a:solidFill>
              <a:srgbClr val="B6D7A8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27"/>
            <p:cNvSpPr/>
            <p:nvPr/>
          </p:nvSpPr>
          <p:spPr>
            <a:xfrm>
              <a:off x="2269464" y="2513724"/>
              <a:ext cx="90725" cy="295275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422" name="Google Shape;422;p27"/>
          <p:cNvGrpSpPr/>
          <p:nvPr/>
        </p:nvGrpSpPr>
        <p:grpSpPr>
          <a:xfrm>
            <a:off x="3872803" y="3135737"/>
            <a:ext cx="700372" cy="3071100"/>
            <a:chOff x="3674128" y="2910437"/>
            <a:chExt cx="700372" cy="3071100"/>
          </a:xfrm>
        </p:grpSpPr>
        <p:cxnSp>
          <p:nvCxnSpPr>
            <p:cNvPr id="423" name="Google Shape;423;p27"/>
            <p:cNvCxnSpPr/>
            <p:nvPr/>
          </p:nvCxnSpPr>
          <p:spPr>
            <a:xfrm flipH="1">
              <a:off x="3674128" y="2910437"/>
              <a:ext cx="2100" cy="30711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24" name="Google Shape;424;p27"/>
            <p:cNvCxnSpPr/>
            <p:nvPr/>
          </p:nvCxnSpPr>
          <p:spPr>
            <a:xfrm>
              <a:off x="3687200" y="3373100"/>
              <a:ext cx="687300" cy="5751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5" name="Google Shape;425;p27"/>
            <p:cNvCxnSpPr/>
            <p:nvPr/>
          </p:nvCxnSpPr>
          <p:spPr>
            <a:xfrm>
              <a:off x="4360375" y="3948100"/>
              <a:ext cx="0" cy="11079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6" name="Google Shape;426;p27"/>
            <p:cNvCxnSpPr/>
            <p:nvPr/>
          </p:nvCxnSpPr>
          <p:spPr>
            <a:xfrm rot="10800000" flipH="1">
              <a:off x="3687200" y="5084075"/>
              <a:ext cx="687300" cy="448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dash"/>
              <a:round/>
              <a:headEnd type="triangle" w="med" len="med"/>
              <a:tailEnd type="none" w="med" len="med"/>
            </a:ln>
          </p:spPr>
        </p:cxnSp>
      </p:grpSp>
      <p:sp>
        <p:nvSpPr>
          <p:cNvPr id="427" name="Google Shape;427;p27"/>
          <p:cNvSpPr/>
          <p:nvPr/>
        </p:nvSpPr>
        <p:spPr>
          <a:xfrm>
            <a:off x="3102375" y="3405900"/>
            <a:ext cx="7005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1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fork</a:t>
            </a:r>
            <a:endParaRPr sz="1400" b="1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28" name="Google Shape;428;p27"/>
          <p:cNvSpPr/>
          <p:nvPr/>
        </p:nvSpPr>
        <p:spPr>
          <a:xfrm>
            <a:off x="2693175" y="5530450"/>
            <a:ext cx="1109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1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waitpid</a:t>
            </a:r>
            <a:endParaRPr sz="1400" b="1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29" name="Google Shape;429;p27"/>
          <p:cNvSpPr/>
          <p:nvPr/>
        </p:nvSpPr>
        <p:spPr>
          <a:xfrm>
            <a:off x="4672275" y="5165650"/>
            <a:ext cx="1637934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 dirty="0" err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s-ES" b="1" dirty="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lang="es-ES" b="1" dirty="0" err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exit</a:t>
            </a:r>
            <a:endParaRPr b="1" dirty="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30" name="Google Shape;430;p27"/>
          <p:cNvSpPr/>
          <p:nvPr/>
        </p:nvSpPr>
        <p:spPr>
          <a:xfrm>
            <a:off x="8019467" y="3405900"/>
            <a:ext cx="1820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1" dirty="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pthread_create</a:t>
            </a:r>
            <a:endParaRPr sz="1400" b="1" dirty="0">
              <a:solidFill>
                <a:schemeClr val="accent6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31" name="Google Shape;431;p27"/>
          <p:cNvSpPr/>
          <p:nvPr/>
        </p:nvSpPr>
        <p:spPr>
          <a:xfrm>
            <a:off x="10636450" y="5107675"/>
            <a:ext cx="13752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endParaRPr b="1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32" name="Google Shape;432;p27"/>
          <p:cNvSpPr/>
          <p:nvPr/>
        </p:nvSpPr>
        <p:spPr>
          <a:xfrm>
            <a:off x="8084199" y="5598700"/>
            <a:ext cx="1598701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1" dirty="0" err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pthread_join</a:t>
            </a:r>
            <a:endParaRPr sz="1400" b="1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33" name="Google Shape;433;p27"/>
          <p:cNvCxnSpPr/>
          <p:nvPr/>
        </p:nvCxnSpPr>
        <p:spPr>
          <a:xfrm rot="10800000">
            <a:off x="1205150" y="3588300"/>
            <a:ext cx="15987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</p:cxnSp>
      <p:grpSp>
        <p:nvGrpSpPr>
          <p:cNvPr id="434" name="Google Shape;434;p27"/>
          <p:cNvGrpSpPr/>
          <p:nvPr/>
        </p:nvGrpSpPr>
        <p:grpSpPr>
          <a:xfrm>
            <a:off x="7222181" y="2853733"/>
            <a:ext cx="612969" cy="600504"/>
            <a:chOff x="2019475" y="2346963"/>
            <a:chExt cx="590700" cy="628800"/>
          </a:xfrm>
        </p:grpSpPr>
        <p:sp>
          <p:nvSpPr>
            <p:cNvPr id="435" name="Google Shape;435;p27"/>
            <p:cNvSpPr/>
            <p:nvPr/>
          </p:nvSpPr>
          <p:spPr>
            <a:xfrm>
              <a:off x="2019475" y="2346963"/>
              <a:ext cx="590700" cy="628800"/>
            </a:xfrm>
            <a:prstGeom prst="ellipse">
              <a:avLst/>
            </a:prstGeom>
            <a:solidFill>
              <a:srgbClr val="B6D7A8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27"/>
            <p:cNvSpPr/>
            <p:nvPr/>
          </p:nvSpPr>
          <p:spPr>
            <a:xfrm>
              <a:off x="2269464" y="2513724"/>
              <a:ext cx="90725" cy="295275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437" name="Google Shape;437;p27"/>
          <p:cNvGrpSpPr/>
          <p:nvPr/>
        </p:nvGrpSpPr>
        <p:grpSpPr>
          <a:xfrm>
            <a:off x="7222181" y="3770708"/>
            <a:ext cx="612900" cy="600600"/>
            <a:chOff x="6778856" y="5262408"/>
            <a:chExt cx="612900" cy="600600"/>
          </a:xfrm>
        </p:grpSpPr>
        <p:sp>
          <p:nvSpPr>
            <p:cNvPr id="438" name="Google Shape;438;p27"/>
            <p:cNvSpPr/>
            <p:nvPr/>
          </p:nvSpPr>
          <p:spPr>
            <a:xfrm>
              <a:off x="6778856" y="5262408"/>
              <a:ext cx="612900" cy="600600"/>
            </a:xfrm>
            <a:prstGeom prst="ellipse">
              <a:avLst/>
            </a:prstGeom>
            <a:solidFill>
              <a:srgbClr val="B6D7A8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27"/>
            <p:cNvSpPr/>
            <p:nvPr/>
          </p:nvSpPr>
          <p:spPr>
            <a:xfrm>
              <a:off x="6940106" y="5421650"/>
              <a:ext cx="94145" cy="281988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40" name="Google Shape;440;p27"/>
            <p:cNvSpPr/>
            <p:nvPr/>
          </p:nvSpPr>
          <p:spPr>
            <a:xfrm>
              <a:off x="7114470" y="5421653"/>
              <a:ext cx="94145" cy="281988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441" name="Google Shape;441;p27"/>
          <p:cNvGrpSpPr/>
          <p:nvPr/>
        </p:nvGrpSpPr>
        <p:grpSpPr>
          <a:xfrm>
            <a:off x="1359481" y="3754058"/>
            <a:ext cx="612969" cy="600504"/>
            <a:chOff x="2019475" y="2346963"/>
            <a:chExt cx="590700" cy="628800"/>
          </a:xfrm>
        </p:grpSpPr>
        <p:sp>
          <p:nvSpPr>
            <p:cNvPr id="442" name="Google Shape;442;p27"/>
            <p:cNvSpPr/>
            <p:nvPr/>
          </p:nvSpPr>
          <p:spPr>
            <a:xfrm>
              <a:off x="2019475" y="2346963"/>
              <a:ext cx="590700" cy="628800"/>
            </a:xfrm>
            <a:prstGeom prst="ellipse">
              <a:avLst/>
            </a:prstGeom>
            <a:solidFill>
              <a:srgbClr val="B6D7A8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27"/>
            <p:cNvSpPr/>
            <p:nvPr/>
          </p:nvSpPr>
          <p:spPr>
            <a:xfrm>
              <a:off x="2269464" y="2513724"/>
              <a:ext cx="90725" cy="295275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cxnSp>
        <p:nvCxnSpPr>
          <p:cNvPr id="444" name="Google Shape;444;p27"/>
          <p:cNvCxnSpPr/>
          <p:nvPr/>
        </p:nvCxnSpPr>
        <p:spPr>
          <a:xfrm rot="10800000">
            <a:off x="6631138" y="3588300"/>
            <a:ext cx="15987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445" name="Google Shape;445;p27"/>
          <p:cNvCxnSpPr/>
          <p:nvPr/>
        </p:nvCxnSpPr>
        <p:spPr>
          <a:xfrm rot="10800000">
            <a:off x="1302638" y="5712850"/>
            <a:ext cx="15987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</p:cxnSp>
      <p:grpSp>
        <p:nvGrpSpPr>
          <p:cNvPr id="446" name="Google Shape;446;p27"/>
          <p:cNvGrpSpPr/>
          <p:nvPr/>
        </p:nvGrpSpPr>
        <p:grpSpPr>
          <a:xfrm>
            <a:off x="1851606" y="5895258"/>
            <a:ext cx="612969" cy="600504"/>
            <a:chOff x="2019475" y="2346963"/>
            <a:chExt cx="590700" cy="628800"/>
          </a:xfrm>
        </p:grpSpPr>
        <p:sp>
          <p:nvSpPr>
            <p:cNvPr id="447" name="Google Shape;447;p27"/>
            <p:cNvSpPr/>
            <p:nvPr/>
          </p:nvSpPr>
          <p:spPr>
            <a:xfrm>
              <a:off x="2019475" y="2346963"/>
              <a:ext cx="590700" cy="628800"/>
            </a:xfrm>
            <a:prstGeom prst="ellipse">
              <a:avLst/>
            </a:prstGeom>
            <a:solidFill>
              <a:srgbClr val="B6D7A8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27"/>
            <p:cNvSpPr/>
            <p:nvPr/>
          </p:nvSpPr>
          <p:spPr>
            <a:xfrm>
              <a:off x="2269464" y="2513724"/>
              <a:ext cx="90725" cy="295275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cxnSp>
        <p:nvCxnSpPr>
          <p:cNvPr id="449" name="Google Shape;449;p27"/>
          <p:cNvCxnSpPr/>
          <p:nvPr/>
        </p:nvCxnSpPr>
        <p:spPr>
          <a:xfrm rot="10800000">
            <a:off x="6631150" y="5781100"/>
            <a:ext cx="1598700" cy="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</p:cxnSp>
      <p:grpSp>
        <p:nvGrpSpPr>
          <p:cNvPr id="450" name="Google Shape;450;p27"/>
          <p:cNvGrpSpPr/>
          <p:nvPr/>
        </p:nvGrpSpPr>
        <p:grpSpPr>
          <a:xfrm>
            <a:off x="7347506" y="5895258"/>
            <a:ext cx="612969" cy="600504"/>
            <a:chOff x="2019475" y="2346963"/>
            <a:chExt cx="590700" cy="628800"/>
          </a:xfrm>
        </p:grpSpPr>
        <p:sp>
          <p:nvSpPr>
            <p:cNvPr id="451" name="Google Shape;451;p27"/>
            <p:cNvSpPr/>
            <p:nvPr/>
          </p:nvSpPr>
          <p:spPr>
            <a:xfrm>
              <a:off x="2019475" y="2346963"/>
              <a:ext cx="590700" cy="628800"/>
            </a:xfrm>
            <a:prstGeom prst="ellipse">
              <a:avLst/>
            </a:prstGeom>
            <a:solidFill>
              <a:srgbClr val="B6D7A8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27"/>
            <p:cNvSpPr/>
            <p:nvPr/>
          </p:nvSpPr>
          <p:spPr>
            <a:xfrm>
              <a:off x="2269464" y="2513724"/>
              <a:ext cx="90725" cy="295275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453" name="Google Shape;453;p27"/>
          <p:cNvSpPr/>
          <p:nvPr/>
        </p:nvSpPr>
        <p:spPr>
          <a:xfrm>
            <a:off x="3102375" y="2573325"/>
            <a:ext cx="13752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rPr>
              <a:t>Procesos</a:t>
            </a:r>
            <a:endParaRPr sz="2000" b="1">
              <a:solidFill>
                <a:srgbClr val="0B693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54" name="Google Shape;454;p27"/>
          <p:cNvSpPr/>
          <p:nvPr/>
        </p:nvSpPr>
        <p:spPr>
          <a:xfrm>
            <a:off x="9134213" y="2573325"/>
            <a:ext cx="13752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rPr>
              <a:t>Hilos</a:t>
            </a:r>
            <a:endParaRPr sz="2000" b="1">
              <a:solidFill>
                <a:srgbClr val="E46C0A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455" name="Google Shape;45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29649" y="1837599"/>
            <a:ext cx="733551" cy="7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82287" y="1977811"/>
            <a:ext cx="879074" cy="49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8"/>
          <p:cNvSpPr txBox="1">
            <a:spLocks noGrp="1"/>
          </p:cNvSpPr>
          <p:nvPr>
            <p:ph type="title"/>
          </p:nvPr>
        </p:nvSpPr>
        <p:spPr>
          <a:xfrm>
            <a:off x="635000" y="96038"/>
            <a:ext cx="858565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Resumen virtualización</a:t>
            </a:r>
            <a:endParaRPr dirty="0"/>
          </a:p>
        </p:txBody>
      </p:sp>
      <p:sp>
        <p:nvSpPr>
          <p:cNvPr id="462" name="Google Shape;462;p28"/>
          <p:cNvSpPr txBox="1">
            <a:spLocks noGrp="1"/>
          </p:cNvSpPr>
          <p:nvPr>
            <p:ph type="body" idx="1"/>
          </p:nvPr>
        </p:nvSpPr>
        <p:spPr>
          <a:xfrm>
            <a:off x="635000" y="833725"/>
            <a:ext cx="11201350" cy="579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/>
              <a:t>Virtualización de Memoria - Virtual memory</a:t>
            </a:r>
            <a:endParaRPr sz="2200" b="1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3" name="Google Shape;463;p28"/>
          <p:cNvGrpSpPr/>
          <p:nvPr/>
        </p:nvGrpSpPr>
        <p:grpSpPr>
          <a:xfrm>
            <a:off x="4876763" y="1949700"/>
            <a:ext cx="4078194" cy="4449350"/>
            <a:chOff x="7168838" y="1887525"/>
            <a:chExt cx="4078194" cy="4449350"/>
          </a:xfrm>
        </p:grpSpPr>
        <p:grpSp>
          <p:nvGrpSpPr>
            <p:cNvPr id="464" name="Google Shape;464;p28"/>
            <p:cNvGrpSpPr/>
            <p:nvPr/>
          </p:nvGrpSpPr>
          <p:grpSpPr>
            <a:xfrm>
              <a:off x="9835838" y="2382275"/>
              <a:ext cx="705238" cy="3954600"/>
              <a:chOff x="3669263" y="2842775"/>
              <a:chExt cx="705238" cy="3954600"/>
            </a:xfrm>
          </p:grpSpPr>
          <p:cxnSp>
            <p:nvCxnSpPr>
              <p:cNvPr id="465" name="Google Shape;465;p28"/>
              <p:cNvCxnSpPr/>
              <p:nvPr/>
            </p:nvCxnSpPr>
            <p:spPr>
              <a:xfrm>
                <a:off x="3669263" y="2842775"/>
                <a:ext cx="18900" cy="39546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466" name="Google Shape;466;p28"/>
              <p:cNvCxnSpPr/>
              <p:nvPr/>
            </p:nvCxnSpPr>
            <p:spPr>
              <a:xfrm>
                <a:off x="3691400" y="4100075"/>
                <a:ext cx="683100" cy="2292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67" name="Google Shape;467;p28"/>
              <p:cNvCxnSpPr/>
              <p:nvPr/>
            </p:nvCxnSpPr>
            <p:spPr>
              <a:xfrm>
                <a:off x="4360375" y="4329100"/>
                <a:ext cx="0" cy="11079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68" name="Google Shape;468;p28"/>
              <p:cNvCxnSpPr/>
              <p:nvPr/>
            </p:nvCxnSpPr>
            <p:spPr>
              <a:xfrm rot="10800000" flipH="1">
                <a:off x="3687200" y="5465075"/>
                <a:ext cx="687300" cy="448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dash"/>
                <a:round/>
                <a:headEnd type="triangle" w="med" len="med"/>
                <a:tailEnd type="none" w="med" len="med"/>
              </a:ln>
            </p:spPr>
          </p:cxnSp>
        </p:grpSp>
        <p:sp>
          <p:nvSpPr>
            <p:cNvPr id="469" name="Google Shape;469;p28"/>
            <p:cNvSpPr/>
            <p:nvPr/>
          </p:nvSpPr>
          <p:spPr>
            <a:xfrm>
              <a:off x="8036150" y="2575888"/>
              <a:ext cx="1820700" cy="36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b="1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pthread_create</a:t>
              </a:r>
              <a:endParaRPr sz="1200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470" name="Google Shape;470;p28"/>
            <p:cNvSpPr/>
            <p:nvPr/>
          </p:nvSpPr>
          <p:spPr>
            <a:xfrm>
              <a:off x="8408700" y="4912900"/>
              <a:ext cx="1375200" cy="36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b="1" dirty="0">
                  <a:solidFill>
                    <a:srgbClr val="E46C0A"/>
                  </a:solidFill>
                  <a:latin typeface="Consolas"/>
                  <a:ea typeface="Consolas"/>
                  <a:cs typeface="Consolas"/>
                  <a:sym typeface="Consolas"/>
                </a:rPr>
                <a:t>pthread_join</a:t>
              </a:r>
              <a:endParaRPr sz="1400" b="1" dirty="0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471" name="Google Shape;471;p28"/>
            <p:cNvGrpSpPr/>
            <p:nvPr/>
          </p:nvGrpSpPr>
          <p:grpSpPr>
            <a:xfrm>
              <a:off x="7239668" y="2252333"/>
              <a:ext cx="612969" cy="600504"/>
              <a:chOff x="2019475" y="2346963"/>
              <a:chExt cx="590700" cy="628800"/>
            </a:xfrm>
          </p:grpSpPr>
          <p:sp>
            <p:nvSpPr>
              <p:cNvPr id="472" name="Google Shape;472;p28"/>
              <p:cNvSpPr/>
              <p:nvPr/>
            </p:nvSpPr>
            <p:spPr>
              <a:xfrm>
                <a:off x="2019475" y="2346963"/>
                <a:ext cx="590700" cy="628800"/>
              </a:xfrm>
              <a:prstGeom prst="ellipse">
                <a:avLst/>
              </a:prstGeom>
              <a:solidFill>
                <a:srgbClr val="B6D7A8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Google Shape;473;p28"/>
              <p:cNvSpPr/>
              <p:nvPr/>
            </p:nvSpPr>
            <p:spPr>
              <a:xfrm>
                <a:off x="2269464" y="2513724"/>
                <a:ext cx="90725" cy="295275"/>
              </a:xfrm>
              <a:custGeom>
                <a:avLst/>
                <a:gdLst/>
                <a:ahLst/>
                <a:cxnLst/>
                <a:rect l="l" t="t" r="r" b="b"/>
                <a:pathLst>
                  <a:path w="3629" h="11811" extrusionOk="0">
                    <a:moveTo>
                      <a:pt x="2413" y="0"/>
                    </a:moveTo>
                    <a:cubicBezTo>
                      <a:pt x="1515" y="180"/>
                      <a:pt x="-381" y="762"/>
                      <a:pt x="127" y="1524"/>
                    </a:cubicBezTo>
                    <a:cubicBezTo>
                      <a:pt x="695" y="2376"/>
                      <a:pt x="2717" y="989"/>
                      <a:pt x="3175" y="1905"/>
                    </a:cubicBezTo>
                    <a:cubicBezTo>
                      <a:pt x="3633" y="2821"/>
                      <a:pt x="1232" y="2705"/>
                      <a:pt x="508" y="3429"/>
                    </a:cubicBezTo>
                    <a:cubicBezTo>
                      <a:pt x="-339" y="4276"/>
                      <a:pt x="3847" y="4172"/>
                      <a:pt x="3556" y="5334"/>
                    </a:cubicBezTo>
                    <a:cubicBezTo>
                      <a:pt x="3156" y="6936"/>
                      <a:pt x="2173" y="8340"/>
                      <a:pt x="1651" y="9906"/>
                    </a:cubicBezTo>
                    <a:cubicBezTo>
                      <a:pt x="1394" y="10677"/>
                      <a:pt x="3750" y="11236"/>
                      <a:pt x="3175" y="11811"/>
                    </a:cubicBezTo>
                  </a:path>
                </a:pathLst>
              </a:cu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474" name="Google Shape;474;p28"/>
            <p:cNvGrpSpPr/>
            <p:nvPr/>
          </p:nvGrpSpPr>
          <p:grpSpPr>
            <a:xfrm>
              <a:off x="7239706" y="2963133"/>
              <a:ext cx="612900" cy="600600"/>
              <a:chOff x="6778856" y="5262408"/>
              <a:chExt cx="612900" cy="600600"/>
            </a:xfrm>
          </p:grpSpPr>
          <p:sp>
            <p:nvSpPr>
              <p:cNvPr id="475" name="Google Shape;475;p28"/>
              <p:cNvSpPr/>
              <p:nvPr/>
            </p:nvSpPr>
            <p:spPr>
              <a:xfrm>
                <a:off x="6778856" y="5262408"/>
                <a:ext cx="612900" cy="600600"/>
              </a:xfrm>
              <a:prstGeom prst="ellipse">
                <a:avLst/>
              </a:prstGeom>
              <a:solidFill>
                <a:srgbClr val="B6D7A8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Google Shape;476;p28"/>
              <p:cNvSpPr/>
              <p:nvPr/>
            </p:nvSpPr>
            <p:spPr>
              <a:xfrm>
                <a:off x="6940106" y="5421650"/>
                <a:ext cx="94145" cy="281988"/>
              </a:xfrm>
              <a:custGeom>
                <a:avLst/>
                <a:gdLst/>
                <a:ahLst/>
                <a:cxnLst/>
                <a:rect l="l" t="t" r="r" b="b"/>
                <a:pathLst>
                  <a:path w="3629" h="11811" extrusionOk="0">
                    <a:moveTo>
                      <a:pt x="2413" y="0"/>
                    </a:moveTo>
                    <a:cubicBezTo>
                      <a:pt x="1515" y="180"/>
                      <a:pt x="-381" y="762"/>
                      <a:pt x="127" y="1524"/>
                    </a:cubicBezTo>
                    <a:cubicBezTo>
                      <a:pt x="695" y="2376"/>
                      <a:pt x="2717" y="989"/>
                      <a:pt x="3175" y="1905"/>
                    </a:cubicBezTo>
                    <a:cubicBezTo>
                      <a:pt x="3633" y="2821"/>
                      <a:pt x="1232" y="2705"/>
                      <a:pt x="508" y="3429"/>
                    </a:cubicBezTo>
                    <a:cubicBezTo>
                      <a:pt x="-339" y="4276"/>
                      <a:pt x="3847" y="4172"/>
                      <a:pt x="3556" y="5334"/>
                    </a:cubicBezTo>
                    <a:cubicBezTo>
                      <a:pt x="3156" y="6936"/>
                      <a:pt x="2173" y="8340"/>
                      <a:pt x="1651" y="9906"/>
                    </a:cubicBezTo>
                    <a:cubicBezTo>
                      <a:pt x="1394" y="10677"/>
                      <a:pt x="3750" y="11236"/>
                      <a:pt x="3175" y="11811"/>
                    </a:cubicBezTo>
                  </a:path>
                </a:pathLst>
              </a:cu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77" name="Google Shape;477;p28"/>
              <p:cNvSpPr/>
              <p:nvPr/>
            </p:nvSpPr>
            <p:spPr>
              <a:xfrm>
                <a:off x="7114470" y="5421653"/>
                <a:ext cx="94145" cy="281988"/>
              </a:xfrm>
              <a:custGeom>
                <a:avLst/>
                <a:gdLst/>
                <a:ahLst/>
                <a:cxnLst/>
                <a:rect l="l" t="t" r="r" b="b"/>
                <a:pathLst>
                  <a:path w="3629" h="11811" extrusionOk="0">
                    <a:moveTo>
                      <a:pt x="2413" y="0"/>
                    </a:moveTo>
                    <a:cubicBezTo>
                      <a:pt x="1515" y="180"/>
                      <a:pt x="-381" y="762"/>
                      <a:pt x="127" y="1524"/>
                    </a:cubicBezTo>
                    <a:cubicBezTo>
                      <a:pt x="695" y="2376"/>
                      <a:pt x="2717" y="989"/>
                      <a:pt x="3175" y="1905"/>
                    </a:cubicBezTo>
                    <a:cubicBezTo>
                      <a:pt x="3633" y="2821"/>
                      <a:pt x="1232" y="2705"/>
                      <a:pt x="508" y="3429"/>
                    </a:cubicBezTo>
                    <a:cubicBezTo>
                      <a:pt x="-339" y="4276"/>
                      <a:pt x="3847" y="4172"/>
                      <a:pt x="3556" y="5334"/>
                    </a:cubicBezTo>
                    <a:cubicBezTo>
                      <a:pt x="3156" y="6936"/>
                      <a:pt x="2173" y="8340"/>
                      <a:pt x="1651" y="9906"/>
                    </a:cubicBezTo>
                    <a:cubicBezTo>
                      <a:pt x="1394" y="10677"/>
                      <a:pt x="3750" y="11236"/>
                      <a:pt x="3175" y="11811"/>
                    </a:cubicBezTo>
                  </a:path>
                </a:pathLst>
              </a:custGeom>
              <a:noFill/>
              <a:ln w="190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cxnSp>
          <p:nvCxnSpPr>
            <p:cNvPr id="478" name="Google Shape;478;p28"/>
            <p:cNvCxnSpPr/>
            <p:nvPr/>
          </p:nvCxnSpPr>
          <p:spPr>
            <a:xfrm rot="10800000">
              <a:off x="7168838" y="2917725"/>
              <a:ext cx="2577000" cy="6600"/>
            </a:xfrm>
            <a:prstGeom prst="straightConnector1">
              <a:avLst/>
            </a:prstGeom>
            <a:noFill/>
            <a:ln w="19050" cap="flat" cmpd="sng">
              <a:solidFill>
                <a:srgbClr val="0000FF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479" name="Google Shape;479;p28"/>
            <p:cNvCxnSpPr/>
            <p:nvPr/>
          </p:nvCxnSpPr>
          <p:spPr>
            <a:xfrm flipH="1">
              <a:off x="7221250" y="5460100"/>
              <a:ext cx="2608500" cy="2700"/>
            </a:xfrm>
            <a:prstGeom prst="straightConnector1">
              <a:avLst/>
            </a:prstGeom>
            <a:noFill/>
            <a:ln w="19050" cap="flat" cmpd="sng">
              <a:solidFill>
                <a:srgbClr val="E46C0A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grpSp>
          <p:nvGrpSpPr>
            <p:cNvPr id="480" name="Google Shape;480;p28"/>
            <p:cNvGrpSpPr/>
            <p:nvPr/>
          </p:nvGrpSpPr>
          <p:grpSpPr>
            <a:xfrm>
              <a:off x="7319456" y="5560058"/>
              <a:ext cx="612969" cy="600504"/>
              <a:chOff x="2019475" y="2346963"/>
              <a:chExt cx="590700" cy="628800"/>
            </a:xfrm>
          </p:grpSpPr>
          <p:sp>
            <p:nvSpPr>
              <p:cNvPr id="481" name="Google Shape;481;p28"/>
              <p:cNvSpPr/>
              <p:nvPr/>
            </p:nvSpPr>
            <p:spPr>
              <a:xfrm>
                <a:off x="2019475" y="2346963"/>
                <a:ext cx="590700" cy="628800"/>
              </a:xfrm>
              <a:prstGeom prst="ellipse">
                <a:avLst/>
              </a:prstGeom>
              <a:solidFill>
                <a:srgbClr val="B6D7A8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Google Shape;482;p28"/>
              <p:cNvSpPr/>
              <p:nvPr/>
            </p:nvSpPr>
            <p:spPr>
              <a:xfrm>
                <a:off x="2269464" y="2513724"/>
                <a:ext cx="90725" cy="295275"/>
              </a:xfrm>
              <a:custGeom>
                <a:avLst/>
                <a:gdLst/>
                <a:ahLst/>
                <a:cxnLst/>
                <a:rect l="l" t="t" r="r" b="b"/>
                <a:pathLst>
                  <a:path w="3629" h="11811" extrusionOk="0">
                    <a:moveTo>
                      <a:pt x="2413" y="0"/>
                    </a:moveTo>
                    <a:cubicBezTo>
                      <a:pt x="1515" y="180"/>
                      <a:pt x="-381" y="762"/>
                      <a:pt x="127" y="1524"/>
                    </a:cubicBezTo>
                    <a:cubicBezTo>
                      <a:pt x="695" y="2376"/>
                      <a:pt x="2717" y="989"/>
                      <a:pt x="3175" y="1905"/>
                    </a:cubicBezTo>
                    <a:cubicBezTo>
                      <a:pt x="3633" y="2821"/>
                      <a:pt x="1232" y="2705"/>
                      <a:pt x="508" y="3429"/>
                    </a:cubicBezTo>
                    <a:cubicBezTo>
                      <a:pt x="-339" y="4276"/>
                      <a:pt x="3847" y="4172"/>
                      <a:pt x="3556" y="5334"/>
                    </a:cubicBezTo>
                    <a:cubicBezTo>
                      <a:pt x="3156" y="6936"/>
                      <a:pt x="2173" y="8340"/>
                      <a:pt x="1651" y="9906"/>
                    </a:cubicBezTo>
                    <a:cubicBezTo>
                      <a:pt x="1394" y="10677"/>
                      <a:pt x="3750" y="11236"/>
                      <a:pt x="3175" y="11811"/>
                    </a:cubicBezTo>
                  </a:path>
                </a:pathLst>
              </a:cu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483" name="Google Shape;483;p28"/>
            <p:cNvSpPr/>
            <p:nvPr/>
          </p:nvSpPr>
          <p:spPr>
            <a:xfrm>
              <a:off x="9134213" y="1887525"/>
              <a:ext cx="1375200" cy="36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solidFill>
                    <a:srgbClr val="E46C0A"/>
                  </a:solidFill>
                  <a:latin typeface="Consolas"/>
                  <a:ea typeface="Consolas"/>
                  <a:cs typeface="Consolas"/>
                  <a:sym typeface="Consolas"/>
                </a:rPr>
                <a:t>Hilos</a:t>
              </a:r>
              <a:endParaRPr sz="2000" b="1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484" name="Google Shape;484;p28"/>
            <p:cNvGrpSpPr/>
            <p:nvPr/>
          </p:nvGrpSpPr>
          <p:grpSpPr>
            <a:xfrm>
              <a:off x="9829750" y="2924320"/>
              <a:ext cx="1417281" cy="2566677"/>
              <a:chOff x="3687200" y="3373100"/>
              <a:chExt cx="687300" cy="2159775"/>
            </a:xfrm>
          </p:grpSpPr>
          <p:cxnSp>
            <p:nvCxnSpPr>
              <p:cNvPr id="485" name="Google Shape;485;p28"/>
              <p:cNvCxnSpPr/>
              <p:nvPr/>
            </p:nvCxnSpPr>
            <p:spPr>
              <a:xfrm>
                <a:off x="3687200" y="3373100"/>
                <a:ext cx="687300" cy="5751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86" name="Google Shape;486;p28"/>
              <p:cNvCxnSpPr/>
              <p:nvPr/>
            </p:nvCxnSpPr>
            <p:spPr>
              <a:xfrm>
                <a:off x="4360375" y="3948100"/>
                <a:ext cx="0" cy="11079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87" name="Google Shape;487;p28"/>
              <p:cNvCxnSpPr/>
              <p:nvPr/>
            </p:nvCxnSpPr>
            <p:spPr>
              <a:xfrm rot="10800000" flipH="1">
                <a:off x="3687200" y="5084075"/>
                <a:ext cx="687300" cy="448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dash"/>
                <a:round/>
                <a:headEnd type="triangle" w="med" len="med"/>
                <a:tailEnd type="none" w="med" len="med"/>
              </a:ln>
            </p:spPr>
          </p:cxnSp>
        </p:grpSp>
        <p:sp>
          <p:nvSpPr>
            <p:cNvPr id="488" name="Google Shape;488;p28"/>
            <p:cNvSpPr/>
            <p:nvPr/>
          </p:nvSpPr>
          <p:spPr>
            <a:xfrm>
              <a:off x="8036150" y="3260913"/>
              <a:ext cx="1820700" cy="36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b="1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pthread_create</a:t>
              </a:r>
              <a:endParaRPr sz="1200" b="1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489" name="Google Shape;489;p28"/>
            <p:cNvCxnSpPr/>
            <p:nvPr/>
          </p:nvCxnSpPr>
          <p:spPr>
            <a:xfrm rot="10800000">
              <a:off x="7186563" y="3622425"/>
              <a:ext cx="2570100" cy="3300"/>
            </a:xfrm>
            <a:prstGeom prst="straightConnector1">
              <a:avLst/>
            </a:prstGeom>
            <a:noFill/>
            <a:ln w="19050" cap="flat" cmpd="sng">
              <a:solidFill>
                <a:srgbClr val="0B6937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grpSp>
          <p:nvGrpSpPr>
            <p:cNvPr id="490" name="Google Shape;490;p28"/>
            <p:cNvGrpSpPr/>
            <p:nvPr/>
          </p:nvGrpSpPr>
          <p:grpSpPr>
            <a:xfrm>
              <a:off x="7255356" y="3684433"/>
              <a:ext cx="612900" cy="600600"/>
              <a:chOff x="7290431" y="4001983"/>
              <a:chExt cx="612900" cy="600600"/>
            </a:xfrm>
          </p:grpSpPr>
          <p:sp>
            <p:nvSpPr>
              <p:cNvPr id="491" name="Google Shape;491;p28"/>
              <p:cNvSpPr/>
              <p:nvPr/>
            </p:nvSpPr>
            <p:spPr>
              <a:xfrm>
                <a:off x="7290431" y="4001983"/>
                <a:ext cx="612900" cy="600600"/>
              </a:xfrm>
              <a:prstGeom prst="ellipse">
                <a:avLst/>
              </a:prstGeom>
              <a:solidFill>
                <a:srgbClr val="B6D7A8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Google Shape;492;p28"/>
              <p:cNvSpPr/>
              <p:nvPr/>
            </p:nvSpPr>
            <p:spPr>
              <a:xfrm>
                <a:off x="7385081" y="4164725"/>
                <a:ext cx="94145" cy="281988"/>
              </a:xfrm>
              <a:custGeom>
                <a:avLst/>
                <a:gdLst/>
                <a:ahLst/>
                <a:cxnLst/>
                <a:rect l="l" t="t" r="r" b="b"/>
                <a:pathLst>
                  <a:path w="3629" h="11811" extrusionOk="0">
                    <a:moveTo>
                      <a:pt x="2413" y="0"/>
                    </a:moveTo>
                    <a:cubicBezTo>
                      <a:pt x="1515" y="180"/>
                      <a:pt x="-381" y="762"/>
                      <a:pt x="127" y="1524"/>
                    </a:cubicBezTo>
                    <a:cubicBezTo>
                      <a:pt x="695" y="2376"/>
                      <a:pt x="2717" y="989"/>
                      <a:pt x="3175" y="1905"/>
                    </a:cubicBezTo>
                    <a:cubicBezTo>
                      <a:pt x="3633" y="2821"/>
                      <a:pt x="1232" y="2705"/>
                      <a:pt x="508" y="3429"/>
                    </a:cubicBezTo>
                    <a:cubicBezTo>
                      <a:pt x="-339" y="4276"/>
                      <a:pt x="3847" y="4172"/>
                      <a:pt x="3556" y="5334"/>
                    </a:cubicBezTo>
                    <a:cubicBezTo>
                      <a:pt x="3156" y="6936"/>
                      <a:pt x="2173" y="8340"/>
                      <a:pt x="1651" y="9906"/>
                    </a:cubicBezTo>
                    <a:cubicBezTo>
                      <a:pt x="1394" y="10677"/>
                      <a:pt x="3750" y="11236"/>
                      <a:pt x="3175" y="11811"/>
                    </a:cubicBezTo>
                  </a:path>
                </a:pathLst>
              </a:cu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93" name="Google Shape;493;p28"/>
              <p:cNvSpPr/>
              <p:nvPr/>
            </p:nvSpPr>
            <p:spPr>
              <a:xfrm>
                <a:off x="7534895" y="4161228"/>
                <a:ext cx="94145" cy="281988"/>
              </a:xfrm>
              <a:custGeom>
                <a:avLst/>
                <a:gdLst/>
                <a:ahLst/>
                <a:cxnLst/>
                <a:rect l="l" t="t" r="r" b="b"/>
                <a:pathLst>
                  <a:path w="3629" h="11811" extrusionOk="0">
                    <a:moveTo>
                      <a:pt x="2413" y="0"/>
                    </a:moveTo>
                    <a:cubicBezTo>
                      <a:pt x="1515" y="180"/>
                      <a:pt x="-381" y="762"/>
                      <a:pt x="127" y="1524"/>
                    </a:cubicBezTo>
                    <a:cubicBezTo>
                      <a:pt x="695" y="2376"/>
                      <a:pt x="2717" y="989"/>
                      <a:pt x="3175" y="1905"/>
                    </a:cubicBezTo>
                    <a:cubicBezTo>
                      <a:pt x="3633" y="2821"/>
                      <a:pt x="1232" y="2705"/>
                      <a:pt x="508" y="3429"/>
                    </a:cubicBezTo>
                    <a:cubicBezTo>
                      <a:pt x="-339" y="4276"/>
                      <a:pt x="3847" y="4172"/>
                      <a:pt x="3556" y="5334"/>
                    </a:cubicBezTo>
                    <a:cubicBezTo>
                      <a:pt x="3156" y="6936"/>
                      <a:pt x="2173" y="8340"/>
                      <a:pt x="1651" y="9906"/>
                    </a:cubicBezTo>
                    <a:cubicBezTo>
                      <a:pt x="1394" y="10677"/>
                      <a:pt x="3750" y="11236"/>
                      <a:pt x="3175" y="11811"/>
                    </a:cubicBezTo>
                  </a:path>
                </a:pathLst>
              </a:custGeom>
              <a:noFill/>
              <a:ln w="190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494" name="Google Shape;494;p28"/>
              <p:cNvSpPr/>
              <p:nvPr/>
            </p:nvSpPr>
            <p:spPr>
              <a:xfrm>
                <a:off x="7676795" y="4162853"/>
                <a:ext cx="94145" cy="281988"/>
              </a:xfrm>
              <a:custGeom>
                <a:avLst/>
                <a:gdLst/>
                <a:ahLst/>
                <a:cxnLst/>
                <a:rect l="l" t="t" r="r" b="b"/>
                <a:pathLst>
                  <a:path w="3629" h="11811" extrusionOk="0">
                    <a:moveTo>
                      <a:pt x="2413" y="0"/>
                    </a:moveTo>
                    <a:cubicBezTo>
                      <a:pt x="1515" y="180"/>
                      <a:pt x="-381" y="762"/>
                      <a:pt x="127" y="1524"/>
                    </a:cubicBezTo>
                    <a:cubicBezTo>
                      <a:pt x="695" y="2376"/>
                      <a:pt x="2717" y="989"/>
                      <a:pt x="3175" y="1905"/>
                    </a:cubicBezTo>
                    <a:cubicBezTo>
                      <a:pt x="3633" y="2821"/>
                      <a:pt x="1232" y="2705"/>
                      <a:pt x="508" y="3429"/>
                    </a:cubicBezTo>
                    <a:cubicBezTo>
                      <a:pt x="-339" y="4276"/>
                      <a:pt x="3847" y="4172"/>
                      <a:pt x="3556" y="5334"/>
                    </a:cubicBezTo>
                    <a:cubicBezTo>
                      <a:pt x="3156" y="6936"/>
                      <a:pt x="2173" y="8340"/>
                      <a:pt x="1651" y="9906"/>
                    </a:cubicBezTo>
                    <a:cubicBezTo>
                      <a:pt x="1394" y="10677"/>
                      <a:pt x="3750" y="11236"/>
                      <a:pt x="3175" y="11811"/>
                    </a:cubicBezTo>
                  </a:path>
                </a:pathLst>
              </a:custGeom>
              <a:noFill/>
              <a:ln w="19050" cap="flat" cmpd="sng">
                <a:solidFill>
                  <a:srgbClr val="0B6937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495" name="Google Shape;495;p28"/>
            <p:cNvSpPr/>
            <p:nvPr/>
          </p:nvSpPr>
          <p:spPr>
            <a:xfrm>
              <a:off x="8408700" y="5095300"/>
              <a:ext cx="1375200" cy="36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b="1" dirty="0">
                  <a:solidFill>
                    <a:srgbClr val="E46C0A"/>
                  </a:solidFill>
                  <a:latin typeface="Consolas"/>
                  <a:ea typeface="Consolas"/>
                  <a:cs typeface="Consolas"/>
                  <a:sym typeface="Consolas"/>
                </a:rPr>
                <a:t>pthread_join</a:t>
              </a:r>
              <a:endParaRPr sz="1400" b="1" dirty="0">
                <a:solidFill>
                  <a:srgbClr val="E46C0A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496" name="Google Shape;496;p28"/>
            <p:cNvSpPr/>
            <p:nvPr/>
          </p:nvSpPr>
          <p:spPr>
            <a:xfrm>
              <a:off x="9651707" y="2271441"/>
              <a:ext cx="94145" cy="281988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97" name="Google Shape;497;p28"/>
            <p:cNvSpPr/>
            <p:nvPr/>
          </p:nvSpPr>
          <p:spPr>
            <a:xfrm>
              <a:off x="11023495" y="3625728"/>
              <a:ext cx="94145" cy="281988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98" name="Google Shape;498;p28"/>
            <p:cNvSpPr/>
            <p:nvPr/>
          </p:nvSpPr>
          <p:spPr>
            <a:xfrm>
              <a:off x="10339570" y="3955628"/>
              <a:ext cx="94145" cy="281988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0B6937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99" name="Google Shape;499;p28"/>
            <p:cNvSpPr txBox="1"/>
            <p:nvPr/>
          </p:nvSpPr>
          <p:spPr>
            <a:xfrm>
              <a:off x="9079300" y="2243075"/>
              <a:ext cx="5724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main</a:t>
              </a:r>
              <a:endParaRPr sz="1200">
                <a:solidFill>
                  <a:srgbClr val="FF0000"/>
                </a:solidFill>
              </a:endParaRPr>
            </a:p>
          </p:txBody>
        </p:sp>
        <p:sp>
          <p:nvSpPr>
            <p:cNvPr id="500" name="Google Shape;500;p28"/>
            <p:cNvSpPr txBox="1"/>
            <p:nvPr/>
          </p:nvSpPr>
          <p:spPr>
            <a:xfrm>
              <a:off x="10451100" y="3597375"/>
              <a:ext cx="5724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b="1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p1</a:t>
              </a:r>
              <a:endParaRPr sz="1200">
                <a:solidFill>
                  <a:srgbClr val="0000FF"/>
                </a:solidFill>
              </a:endParaRPr>
            </a:p>
          </p:txBody>
        </p:sp>
        <p:sp>
          <p:nvSpPr>
            <p:cNvPr id="501" name="Google Shape;501;p28"/>
            <p:cNvSpPr txBox="1"/>
            <p:nvPr/>
          </p:nvSpPr>
          <p:spPr>
            <a:xfrm>
              <a:off x="9756675" y="3927275"/>
              <a:ext cx="5724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b="1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p2</a:t>
              </a:r>
              <a:endParaRPr sz="1200">
                <a:solidFill>
                  <a:srgbClr val="0B6937"/>
                </a:solidFill>
              </a:endParaRPr>
            </a:p>
          </p:txBody>
        </p:sp>
      </p:grpSp>
      <p:pic>
        <p:nvPicPr>
          <p:cNvPr id="502" name="Google Shape;50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49924" y="2277325"/>
            <a:ext cx="702250" cy="702250"/>
          </a:xfrm>
          <a:prstGeom prst="rect">
            <a:avLst/>
          </a:prstGeom>
          <a:noFill/>
          <a:ln>
            <a:noFill/>
          </a:ln>
        </p:spPr>
      </p:pic>
      <p:sp>
        <p:nvSpPr>
          <p:cNvPr id="503" name="Google Shape;503;p28"/>
          <p:cNvSpPr txBox="1"/>
          <p:nvPr/>
        </p:nvSpPr>
        <p:spPr>
          <a:xfrm>
            <a:off x="9438150" y="3620200"/>
            <a:ext cx="2398200" cy="8004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000" dirty="0">
                <a:latin typeface="Consolas"/>
                <a:ea typeface="Consolas"/>
                <a:cs typeface="Consolas"/>
                <a:sym typeface="Consolas"/>
              </a:rPr>
              <a:t>void *</a:t>
            </a:r>
            <a:r>
              <a:rPr lang="es-ES" sz="1000" dirty="0" err="1">
                <a:latin typeface="Consolas"/>
                <a:ea typeface="Consolas"/>
                <a:cs typeface="Consolas"/>
                <a:sym typeface="Consolas"/>
              </a:rPr>
              <a:t>mythread</a:t>
            </a:r>
            <a:r>
              <a:rPr lang="es-ES" sz="1000" dirty="0">
                <a:latin typeface="Consolas"/>
                <a:ea typeface="Consolas"/>
                <a:cs typeface="Consolas"/>
                <a:sym typeface="Consolas"/>
              </a:rPr>
              <a:t>(void *</a:t>
            </a:r>
            <a:r>
              <a:rPr lang="es-ES" sz="1000" dirty="0" err="1">
                <a:latin typeface="Consolas"/>
                <a:ea typeface="Consolas"/>
                <a:cs typeface="Consolas"/>
                <a:sym typeface="Consolas"/>
              </a:rPr>
              <a:t>arg</a:t>
            </a:r>
            <a:r>
              <a:rPr lang="es-ES" sz="1000" dirty="0"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0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000" dirty="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000" dirty="0" err="1">
                <a:latin typeface="Consolas"/>
                <a:ea typeface="Consolas"/>
                <a:cs typeface="Consolas"/>
                <a:sym typeface="Consolas"/>
              </a:rPr>
              <a:t>printf</a:t>
            </a:r>
            <a:r>
              <a:rPr lang="es-ES" sz="1000" dirty="0">
                <a:latin typeface="Consolas"/>
                <a:ea typeface="Consolas"/>
                <a:cs typeface="Consolas"/>
                <a:sym typeface="Consolas"/>
              </a:rPr>
              <a:t>("%s\n", (</a:t>
            </a:r>
            <a:r>
              <a:rPr lang="es-ES" sz="1000" dirty="0" err="1"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lang="es-ES" sz="1000" dirty="0">
                <a:latin typeface="Consolas"/>
                <a:ea typeface="Consolas"/>
                <a:cs typeface="Consolas"/>
                <a:sym typeface="Consolas"/>
              </a:rPr>
              <a:t> *) </a:t>
            </a:r>
            <a:r>
              <a:rPr lang="es-ES" sz="1000" dirty="0" err="1">
                <a:latin typeface="Consolas"/>
                <a:ea typeface="Consolas"/>
                <a:cs typeface="Consolas"/>
                <a:sym typeface="Consolas"/>
              </a:rPr>
              <a:t>arg</a:t>
            </a:r>
            <a:r>
              <a:rPr lang="es-ES" sz="1000" dirty="0"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000" dirty="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000" dirty="0" err="1"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s-ES" sz="1000" dirty="0">
                <a:latin typeface="Consolas"/>
                <a:ea typeface="Consolas"/>
                <a:cs typeface="Consolas"/>
                <a:sym typeface="Consolas"/>
              </a:rPr>
              <a:t> NULL;</a:t>
            </a:r>
            <a:endParaRPr sz="10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dirty="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04" name="Google Shape;504;p28"/>
          <p:cNvSpPr txBox="1"/>
          <p:nvPr/>
        </p:nvSpPr>
        <p:spPr>
          <a:xfrm>
            <a:off x="1597525" y="2207200"/>
            <a:ext cx="3203700" cy="4032900"/>
          </a:xfrm>
          <a:prstGeom prst="rect">
            <a:avLst/>
          </a:prstGeom>
          <a:solidFill>
            <a:srgbClr val="F3F3F3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dirty="0">
                <a:latin typeface="Consolas"/>
                <a:ea typeface="Consolas"/>
                <a:cs typeface="Consolas"/>
                <a:sym typeface="Consolas"/>
              </a:rPr>
              <a:t>int </a:t>
            </a:r>
            <a:r>
              <a:rPr lang="es-ES" sz="1000" dirty="0" err="1">
                <a:latin typeface="Consolas"/>
                <a:ea typeface="Consolas"/>
                <a:cs typeface="Consolas"/>
                <a:sym typeface="Consolas"/>
              </a:rPr>
              <a:t>main</a:t>
            </a:r>
            <a:r>
              <a:rPr lang="es-ES" sz="1000" dirty="0">
                <a:latin typeface="Consolas"/>
                <a:ea typeface="Consolas"/>
                <a:cs typeface="Consolas"/>
                <a:sym typeface="Consolas"/>
              </a:rPr>
              <a:t>(int </a:t>
            </a:r>
            <a:r>
              <a:rPr lang="es-ES" sz="1000" dirty="0" err="1">
                <a:latin typeface="Consolas"/>
                <a:ea typeface="Consolas"/>
                <a:cs typeface="Consolas"/>
                <a:sym typeface="Consolas"/>
              </a:rPr>
              <a:t>argc</a:t>
            </a:r>
            <a:r>
              <a:rPr lang="es-ES" sz="1000" dirty="0"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s-ES" sz="1000" dirty="0" err="1"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lang="es-ES" sz="1000" dirty="0"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lang="es-ES" sz="1000" dirty="0" err="1">
                <a:latin typeface="Consolas"/>
                <a:ea typeface="Consolas"/>
                <a:cs typeface="Consolas"/>
                <a:sym typeface="Consolas"/>
              </a:rPr>
              <a:t>argv</a:t>
            </a:r>
            <a:r>
              <a:rPr lang="es-ES" sz="1000" dirty="0">
                <a:latin typeface="Consolas"/>
                <a:ea typeface="Consolas"/>
                <a:cs typeface="Consolas"/>
                <a:sym typeface="Consolas"/>
              </a:rPr>
              <a:t>[]) {                    </a:t>
            </a:r>
            <a:endParaRPr sz="10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dirty="0">
                <a:latin typeface="Consolas"/>
                <a:ea typeface="Consolas"/>
                <a:cs typeface="Consolas"/>
                <a:sym typeface="Consolas"/>
              </a:rPr>
              <a:t>  ...</a:t>
            </a:r>
            <a:endParaRPr sz="10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dirty="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000" dirty="0" err="1">
                <a:latin typeface="Consolas"/>
                <a:ea typeface="Consolas"/>
                <a:cs typeface="Consolas"/>
                <a:sym typeface="Consolas"/>
              </a:rPr>
              <a:t>pthread_t</a:t>
            </a:r>
            <a:r>
              <a:rPr lang="es-ES" sz="1000" dirty="0">
                <a:latin typeface="Consolas"/>
                <a:ea typeface="Consolas"/>
                <a:cs typeface="Consolas"/>
                <a:sym typeface="Consolas"/>
              </a:rPr>
              <a:t> p1, p2;</a:t>
            </a:r>
            <a:endParaRPr sz="10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dirty="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000" dirty="0" err="1">
                <a:latin typeface="Consolas"/>
                <a:ea typeface="Consolas"/>
                <a:cs typeface="Consolas"/>
                <a:sym typeface="Consolas"/>
              </a:rPr>
              <a:t>printf</a:t>
            </a:r>
            <a:r>
              <a:rPr lang="es-ES" sz="1000" dirty="0">
                <a:latin typeface="Consolas"/>
                <a:ea typeface="Consolas"/>
                <a:cs typeface="Consolas"/>
                <a:sym typeface="Consolas"/>
              </a:rPr>
              <a:t>("</a:t>
            </a:r>
            <a:r>
              <a:rPr lang="es-ES" sz="1000" dirty="0" err="1">
                <a:latin typeface="Consolas"/>
                <a:ea typeface="Consolas"/>
                <a:cs typeface="Consolas"/>
                <a:sym typeface="Consolas"/>
              </a:rPr>
              <a:t>main</a:t>
            </a:r>
            <a:r>
              <a:rPr lang="es-ES" sz="1000" dirty="0"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s-ES" sz="1000" dirty="0" err="1">
                <a:latin typeface="Consolas"/>
                <a:ea typeface="Consolas"/>
                <a:cs typeface="Consolas"/>
                <a:sym typeface="Consolas"/>
              </a:rPr>
              <a:t>begin</a:t>
            </a:r>
            <a:r>
              <a:rPr lang="es-ES" sz="1000" dirty="0">
                <a:latin typeface="Consolas"/>
                <a:ea typeface="Consolas"/>
                <a:cs typeface="Consolas"/>
                <a:sym typeface="Consolas"/>
              </a:rPr>
              <a:t>\n");</a:t>
            </a:r>
            <a:endParaRPr sz="10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dirty="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000" dirty="0" err="1">
                <a:highlight>
                  <a:srgbClr val="CFE2F3"/>
                </a:highlight>
                <a:latin typeface="Consolas"/>
                <a:ea typeface="Consolas"/>
                <a:cs typeface="Consolas"/>
                <a:sym typeface="Consolas"/>
              </a:rPr>
              <a:t>Pthread_create</a:t>
            </a:r>
            <a:r>
              <a:rPr lang="es-ES" sz="1000" dirty="0">
                <a:highlight>
                  <a:srgbClr val="CFE2F3"/>
                </a:highlight>
                <a:latin typeface="Consolas"/>
                <a:ea typeface="Consolas"/>
                <a:cs typeface="Consolas"/>
                <a:sym typeface="Consolas"/>
              </a:rPr>
              <a:t>(&amp;p1, NULL, </a:t>
            </a:r>
            <a:r>
              <a:rPr lang="es-ES" sz="1000" dirty="0" err="1">
                <a:highlight>
                  <a:srgbClr val="FCE5CD"/>
                </a:highlight>
                <a:latin typeface="Consolas"/>
                <a:ea typeface="Consolas"/>
                <a:cs typeface="Consolas"/>
                <a:sym typeface="Consolas"/>
              </a:rPr>
              <a:t>mythread</a:t>
            </a:r>
            <a:r>
              <a:rPr lang="es-ES" sz="1000" dirty="0">
                <a:highlight>
                  <a:srgbClr val="CFE2F3"/>
                </a:highlight>
                <a:latin typeface="Consolas"/>
                <a:ea typeface="Consolas"/>
                <a:cs typeface="Consolas"/>
                <a:sym typeface="Consolas"/>
              </a:rPr>
              <a:t>, "A");</a:t>
            </a:r>
            <a:endParaRPr sz="1000" dirty="0">
              <a:highlight>
                <a:srgbClr val="CFE2F3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dirty="0"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0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dirty="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000" dirty="0" err="1"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rPr>
              <a:t>Pthread_create</a:t>
            </a:r>
            <a:r>
              <a:rPr lang="es-ES" sz="1000" dirty="0"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rPr>
              <a:t>(&amp;p2, NULL, </a:t>
            </a:r>
            <a:r>
              <a:rPr lang="es-ES" sz="1000" dirty="0" err="1">
                <a:highlight>
                  <a:srgbClr val="FCE5CD"/>
                </a:highlight>
                <a:latin typeface="Consolas"/>
                <a:ea typeface="Consolas"/>
                <a:cs typeface="Consolas"/>
                <a:sym typeface="Consolas"/>
              </a:rPr>
              <a:t>mythread</a:t>
            </a:r>
            <a:r>
              <a:rPr lang="es-ES" sz="1000" dirty="0"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rPr>
              <a:t>, "B");</a:t>
            </a:r>
            <a:endParaRPr sz="1000" dirty="0">
              <a:highlight>
                <a:srgbClr val="D9EAD3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dirty="0">
                <a:latin typeface="Consolas"/>
                <a:ea typeface="Consolas"/>
                <a:cs typeface="Consolas"/>
                <a:sym typeface="Consolas"/>
              </a:rPr>
              <a:t>  </a:t>
            </a:r>
            <a:endParaRPr sz="10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dirty="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000" dirty="0" err="1">
                <a:highlight>
                  <a:srgbClr val="CFE2F3"/>
                </a:highlight>
                <a:latin typeface="Consolas"/>
                <a:ea typeface="Consolas"/>
                <a:cs typeface="Consolas"/>
                <a:sym typeface="Consolas"/>
              </a:rPr>
              <a:t>Pthread_join</a:t>
            </a:r>
            <a:r>
              <a:rPr lang="es-ES" sz="1000" dirty="0">
                <a:highlight>
                  <a:srgbClr val="CFE2F3"/>
                </a:highlight>
                <a:latin typeface="Consolas"/>
                <a:ea typeface="Consolas"/>
                <a:cs typeface="Consolas"/>
                <a:sym typeface="Consolas"/>
              </a:rPr>
              <a:t>(p1, NULL);</a:t>
            </a:r>
            <a:r>
              <a:rPr lang="es-ES" sz="1000" dirty="0"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0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dirty="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000" dirty="0" err="1"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rPr>
              <a:t>Pthread_join</a:t>
            </a:r>
            <a:r>
              <a:rPr lang="es-ES" sz="1000" dirty="0"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rPr>
              <a:t>(p2, NULL); </a:t>
            </a:r>
            <a:endParaRPr sz="1000" dirty="0">
              <a:highlight>
                <a:srgbClr val="D9EAD3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dirty="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000" dirty="0" err="1">
                <a:latin typeface="Consolas"/>
                <a:ea typeface="Consolas"/>
                <a:cs typeface="Consolas"/>
                <a:sym typeface="Consolas"/>
              </a:rPr>
              <a:t>printf</a:t>
            </a:r>
            <a:r>
              <a:rPr lang="es-ES" sz="1000" dirty="0">
                <a:latin typeface="Consolas"/>
                <a:ea typeface="Consolas"/>
                <a:cs typeface="Consolas"/>
                <a:sym typeface="Consolas"/>
              </a:rPr>
              <a:t>("</a:t>
            </a:r>
            <a:r>
              <a:rPr lang="es-ES" sz="1000" dirty="0" err="1">
                <a:latin typeface="Consolas"/>
                <a:ea typeface="Consolas"/>
                <a:cs typeface="Consolas"/>
                <a:sym typeface="Consolas"/>
              </a:rPr>
              <a:t>main</a:t>
            </a:r>
            <a:r>
              <a:rPr lang="es-ES" sz="1000" dirty="0"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s-ES" sz="1000" dirty="0" err="1">
                <a:latin typeface="Consolas"/>
                <a:ea typeface="Consolas"/>
                <a:cs typeface="Consolas"/>
                <a:sym typeface="Consolas"/>
              </a:rPr>
              <a:t>end</a:t>
            </a:r>
            <a:r>
              <a:rPr lang="es-ES" sz="1000" dirty="0">
                <a:latin typeface="Consolas"/>
                <a:ea typeface="Consolas"/>
                <a:cs typeface="Consolas"/>
                <a:sym typeface="Consolas"/>
              </a:rPr>
              <a:t>\n");</a:t>
            </a:r>
            <a:endParaRPr sz="10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dirty="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000" dirty="0" err="1"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s-ES" sz="1000" dirty="0">
                <a:latin typeface="Consolas"/>
                <a:ea typeface="Consolas"/>
                <a:cs typeface="Consolas"/>
                <a:sym typeface="Consolas"/>
              </a:rPr>
              <a:t> 0;</a:t>
            </a:r>
            <a:endParaRPr sz="10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dirty="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 dirty="0"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505" name="Google Shape;505;p28"/>
          <p:cNvGrpSpPr/>
          <p:nvPr/>
        </p:nvGrpSpPr>
        <p:grpSpPr>
          <a:xfrm>
            <a:off x="881777" y="3226800"/>
            <a:ext cx="640200" cy="1431720"/>
            <a:chOff x="881677" y="2888100"/>
            <a:chExt cx="640200" cy="1431720"/>
          </a:xfrm>
        </p:grpSpPr>
        <p:sp>
          <p:nvSpPr>
            <p:cNvPr id="506" name="Google Shape;506;p28"/>
            <p:cNvSpPr/>
            <p:nvPr/>
          </p:nvSpPr>
          <p:spPr>
            <a:xfrm>
              <a:off x="1122708" y="3370334"/>
              <a:ext cx="158125" cy="949486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07" name="Google Shape;507;p28"/>
            <p:cNvSpPr txBox="1"/>
            <p:nvPr/>
          </p:nvSpPr>
          <p:spPr>
            <a:xfrm>
              <a:off x="881677" y="2888100"/>
              <a:ext cx="640200" cy="4308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main</a:t>
              </a:r>
              <a:endParaRPr sz="1400">
                <a:solidFill>
                  <a:srgbClr val="FF0000"/>
                </a:solidFill>
              </a:endParaRPr>
            </a:p>
          </p:txBody>
        </p:sp>
      </p:grpSp>
      <p:grpSp>
        <p:nvGrpSpPr>
          <p:cNvPr id="508" name="Google Shape;508;p28"/>
          <p:cNvGrpSpPr/>
          <p:nvPr/>
        </p:nvGrpSpPr>
        <p:grpSpPr>
          <a:xfrm>
            <a:off x="9869525" y="2058875"/>
            <a:ext cx="572400" cy="1420382"/>
            <a:chOff x="9869525" y="1806425"/>
            <a:chExt cx="572400" cy="1420382"/>
          </a:xfrm>
        </p:grpSpPr>
        <p:sp>
          <p:nvSpPr>
            <p:cNvPr id="509" name="Google Shape;509;p28"/>
            <p:cNvSpPr/>
            <p:nvPr/>
          </p:nvSpPr>
          <p:spPr>
            <a:xfrm>
              <a:off x="10076670" y="2277321"/>
              <a:ext cx="158125" cy="949486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0" name="Google Shape;510;p28"/>
            <p:cNvSpPr txBox="1"/>
            <p:nvPr/>
          </p:nvSpPr>
          <p:spPr>
            <a:xfrm>
              <a:off x="9869525" y="1806425"/>
              <a:ext cx="572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b="1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p1</a:t>
              </a:r>
              <a:endParaRPr sz="1600">
                <a:solidFill>
                  <a:srgbClr val="0000FF"/>
                </a:solidFill>
              </a:endParaRPr>
            </a:p>
          </p:txBody>
        </p:sp>
      </p:grpSp>
      <p:grpSp>
        <p:nvGrpSpPr>
          <p:cNvPr id="511" name="Google Shape;511;p28"/>
          <p:cNvGrpSpPr/>
          <p:nvPr/>
        </p:nvGrpSpPr>
        <p:grpSpPr>
          <a:xfrm>
            <a:off x="10610950" y="2058875"/>
            <a:ext cx="572400" cy="1420382"/>
            <a:chOff x="10639000" y="1806425"/>
            <a:chExt cx="572400" cy="1420382"/>
          </a:xfrm>
        </p:grpSpPr>
        <p:sp>
          <p:nvSpPr>
            <p:cNvPr id="512" name="Google Shape;512;p28"/>
            <p:cNvSpPr/>
            <p:nvPr/>
          </p:nvSpPr>
          <p:spPr>
            <a:xfrm>
              <a:off x="10846145" y="2277321"/>
              <a:ext cx="158125" cy="949486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0B6937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13" name="Google Shape;513;p28"/>
            <p:cNvSpPr txBox="1"/>
            <p:nvPr/>
          </p:nvSpPr>
          <p:spPr>
            <a:xfrm>
              <a:off x="10639000" y="1806425"/>
              <a:ext cx="572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b="1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p2</a:t>
              </a:r>
              <a:endParaRPr sz="1600">
                <a:solidFill>
                  <a:srgbClr val="0B6937"/>
                </a:solidFill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29"/>
          <p:cNvSpPr txBox="1">
            <a:spLocks noGrp="1"/>
          </p:cNvSpPr>
          <p:nvPr>
            <p:ph type="title"/>
          </p:nvPr>
        </p:nvSpPr>
        <p:spPr>
          <a:xfrm>
            <a:off x="457200" y="96038"/>
            <a:ext cx="876345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Resumen virtualización</a:t>
            </a:r>
            <a:endParaRPr dirty="0"/>
          </a:p>
        </p:txBody>
      </p:sp>
      <p:sp>
        <p:nvSpPr>
          <p:cNvPr id="519" name="Google Shape;519;p29"/>
          <p:cNvSpPr txBox="1">
            <a:spLocks noGrp="1"/>
          </p:cNvSpPr>
          <p:nvPr>
            <p:ph type="body" idx="1"/>
          </p:nvPr>
        </p:nvSpPr>
        <p:spPr>
          <a:xfrm>
            <a:off x="584200" y="973975"/>
            <a:ext cx="4884050" cy="579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/>
              <a:t>Virtualización de Memoria</a:t>
            </a: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20" name="Google Shape;520;p29"/>
          <p:cNvSpPr txBox="1"/>
          <p:nvPr/>
        </p:nvSpPr>
        <p:spPr>
          <a:xfrm>
            <a:off x="5037650" y="2127700"/>
            <a:ext cx="2649600" cy="4311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counter = counter + 1;</a:t>
            </a:r>
            <a:endParaRPr sz="1600"/>
          </a:p>
        </p:txBody>
      </p:sp>
      <p:grpSp>
        <p:nvGrpSpPr>
          <p:cNvPr id="521" name="Google Shape;521;p29"/>
          <p:cNvGrpSpPr/>
          <p:nvPr/>
        </p:nvGrpSpPr>
        <p:grpSpPr>
          <a:xfrm>
            <a:off x="8681661" y="1881550"/>
            <a:ext cx="3232811" cy="923400"/>
            <a:chOff x="3715281" y="2736425"/>
            <a:chExt cx="3851794" cy="923400"/>
          </a:xfrm>
        </p:grpSpPr>
        <p:sp>
          <p:nvSpPr>
            <p:cNvPr id="522" name="Google Shape;522;p29"/>
            <p:cNvSpPr txBox="1"/>
            <p:nvPr/>
          </p:nvSpPr>
          <p:spPr>
            <a:xfrm>
              <a:off x="4442276" y="2736425"/>
              <a:ext cx="3124800" cy="9234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mov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0x8049a1c, %eax 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add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$0x1, %eax 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mov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%eax, 0x8049a1c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523" name="Google Shape;523;p29"/>
            <p:cNvSpPr txBox="1"/>
            <p:nvPr/>
          </p:nvSpPr>
          <p:spPr>
            <a:xfrm>
              <a:off x="3715281" y="2736425"/>
              <a:ext cx="641700" cy="92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100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105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108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524" name="Google Shape;524;p29"/>
          <p:cNvSpPr/>
          <p:nvPr/>
        </p:nvSpPr>
        <p:spPr>
          <a:xfrm>
            <a:off x="7882150" y="2174950"/>
            <a:ext cx="799500" cy="3366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25" name="Google Shape;52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73800" y="3085925"/>
            <a:ext cx="7041850" cy="34138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6" name="Google Shape;526;p29"/>
          <p:cNvGrpSpPr/>
          <p:nvPr/>
        </p:nvGrpSpPr>
        <p:grpSpPr>
          <a:xfrm>
            <a:off x="3334800" y="3458800"/>
            <a:ext cx="572400" cy="1420382"/>
            <a:chOff x="9869525" y="1806425"/>
            <a:chExt cx="572400" cy="1420382"/>
          </a:xfrm>
        </p:grpSpPr>
        <p:sp>
          <p:nvSpPr>
            <p:cNvPr id="527" name="Google Shape;527;p29"/>
            <p:cNvSpPr/>
            <p:nvPr/>
          </p:nvSpPr>
          <p:spPr>
            <a:xfrm>
              <a:off x="10076670" y="2277321"/>
              <a:ext cx="158125" cy="949486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28" name="Google Shape;528;p29"/>
            <p:cNvSpPr txBox="1"/>
            <p:nvPr/>
          </p:nvSpPr>
          <p:spPr>
            <a:xfrm>
              <a:off x="9869525" y="1806425"/>
              <a:ext cx="5724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T1</a:t>
              </a:r>
              <a:endParaRPr sz="1800">
                <a:solidFill>
                  <a:srgbClr val="0000FF"/>
                </a:solidFill>
              </a:endParaRPr>
            </a:p>
          </p:txBody>
        </p:sp>
      </p:grpSp>
      <p:grpSp>
        <p:nvGrpSpPr>
          <p:cNvPr id="529" name="Google Shape;529;p29"/>
          <p:cNvGrpSpPr/>
          <p:nvPr/>
        </p:nvGrpSpPr>
        <p:grpSpPr>
          <a:xfrm>
            <a:off x="4019400" y="3458800"/>
            <a:ext cx="572400" cy="1420382"/>
            <a:chOff x="10639000" y="1806425"/>
            <a:chExt cx="572400" cy="1420382"/>
          </a:xfrm>
        </p:grpSpPr>
        <p:sp>
          <p:nvSpPr>
            <p:cNvPr id="530" name="Google Shape;530;p29"/>
            <p:cNvSpPr/>
            <p:nvPr/>
          </p:nvSpPr>
          <p:spPr>
            <a:xfrm>
              <a:off x="10846145" y="2277321"/>
              <a:ext cx="158125" cy="949486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531" name="Google Shape;531;p29"/>
            <p:cNvSpPr txBox="1"/>
            <p:nvPr/>
          </p:nvSpPr>
          <p:spPr>
            <a:xfrm>
              <a:off x="10639000" y="1806425"/>
              <a:ext cx="5724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T2</a:t>
              </a:r>
              <a:endParaRPr sz="1800">
                <a:solidFill>
                  <a:srgbClr val="FF0000"/>
                </a:solidFill>
              </a:endParaRPr>
            </a:p>
          </p:txBody>
        </p:sp>
      </p:grpSp>
      <p:graphicFrame>
        <p:nvGraphicFramePr>
          <p:cNvPr id="532" name="Google Shape;532;p29"/>
          <p:cNvGraphicFramePr/>
          <p:nvPr>
            <p:extLst>
              <p:ext uri="{D42A27DB-BD31-4B8C-83A1-F6EECF244321}">
                <p14:modId xmlns:p14="http://schemas.microsoft.com/office/powerpoint/2010/main" val="3933468900"/>
              </p:ext>
            </p:extLst>
          </p:nvPr>
        </p:nvGraphicFramePr>
        <p:xfrm>
          <a:off x="1149600" y="2127695"/>
          <a:ext cx="1886650" cy="387684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943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3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33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PC[T1]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PC[T2]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4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4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105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4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108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4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4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105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4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108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4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113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4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113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31"/>
          <p:cNvSpPr txBox="1">
            <a:spLocks noGrp="1"/>
          </p:cNvSpPr>
          <p:nvPr>
            <p:ph type="title"/>
          </p:nvPr>
        </p:nvSpPr>
        <p:spPr>
          <a:xfrm>
            <a:off x="257475" y="96038"/>
            <a:ext cx="8963175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  <a:cs typeface="Segoe UI" panose="020B0502040204020203" pitchFamily="34" charset="0"/>
              </a:rPr>
              <a:t>Contextualización</a:t>
            </a:r>
            <a:endParaRPr dirty="0">
              <a:solidFill>
                <a:schemeClr val="tx1"/>
              </a:solidFill>
              <a:latin typeface="+mj-lt"/>
              <a:cs typeface="Segoe UI" panose="020B0502040204020203" pitchFamily="34" charset="0"/>
            </a:endParaRPr>
          </a:p>
        </p:txBody>
      </p:sp>
      <p:sp>
        <p:nvSpPr>
          <p:cNvPr id="547" name="Google Shape;547;p31"/>
          <p:cNvSpPr txBox="1">
            <a:spLocks noGrp="1"/>
          </p:cNvSpPr>
          <p:nvPr>
            <p:ph type="body" idx="1"/>
          </p:nvPr>
        </p:nvSpPr>
        <p:spPr>
          <a:xfrm>
            <a:off x="257475" y="1001600"/>
            <a:ext cx="11419575" cy="444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latin typeface="+mn-lt"/>
              </a:rPr>
              <a:t>Sección crítica</a:t>
            </a:r>
            <a:endParaRPr sz="2800" b="1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sp>
        <p:nvSpPr>
          <p:cNvPr id="548" name="Google Shape;548;p31"/>
          <p:cNvSpPr txBox="1">
            <a:spLocks noGrp="1"/>
          </p:cNvSpPr>
          <p:nvPr>
            <p:ph type="body" idx="4294967295"/>
          </p:nvPr>
        </p:nvSpPr>
        <p:spPr>
          <a:xfrm>
            <a:off x="257475" y="1506600"/>
            <a:ext cx="11677050" cy="889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dirty="0"/>
              <a:t>Es una </a:t>
            </a:r>
            <a:r>
              <a:rPr lang="es-ES" sz="2400" b="1" dirty="0"/>
              <a:t>pieza de código</a:t>
            </a:r>
            <a:r>
              <a:rPr lang="es-ES" sz="2400" dirty="0"/>
              <a:t> que accede a un recurso compartido, usualmente una variable o estructura de datos. </a:t>
            </a:r>
            <a:endParaRPr sz="2800" b="1" dirty="0">
              <a:solidFill>
                <a:schemeClr val="accent5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549" name="Google Shape;54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4600" y="2772100"/>
            <a:ext cx="2769325" cy="2076994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31"/>
          <p:cNvSpPr txBox="1"/>
          <p:nvPr/>
        </p:nvSpPr>
        <p:spPr>
          <a:xfrm>
            <a:off x="4458525" y="2557625"/>
            <a:ext cx="6956100" cy="2647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void *</a:t>
            </a:r>
            <a:r>
              <a:rPr lang="es-ES" sz="1600" dirty="0" err="1">
                <a:latin typeface="Consolas"/>
                <a:ea typeface="Consolas"/>
                <a:cs typeface="Consolas"/>
                <a:sym typeface="Consolas"/>
              </a:rPr>
              <a:t>mythread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(void *</a:t>
            </a:r>
            <a:r>
              <a:rPr lang="es-ES" sz="1600" dirty="0" err="1">
                <a:latin typeface="Consolas"/>
                <a:ea typeface="Consolas"/>
                <a:cs typeface="Consolas"/>
                <a:sym typeface="Consolas"/>
              </a:rPr>
              <a:t>arg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600" dirty="0" err="1">
                <a:latin typeface="Consolas"/>
                <a:ea typeface="Consolas"/>
                <a:cs typeface="Consolas"/>
                <a:sym typeface="Consolas"/>
              </a:rPr>
              <a:t>char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 *</a:t>
            </a:r>
            <a:r>
              <a:rPr lang="es-ES" sz="1600" dirty="0" err="1">
                <a:latin typeface="Consolas"/>
                <a:ea typeface="Consolas"/>
                <a:cs typeface="Consolas"/>
                <a:sym typeface="Consolas"/>
              </a:rPr>
              <a:t>letter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s-ES" sz="1600" dirty="0" err="1">
                <a:latin typeface="Consolas"/>
                <a:ea typeface="Consolas"/>
                <a:cs typeface="Consolas"/>
                <a:sym typeface="Consolas"/>
              </a:rPr>
              <a:t>arg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  int i; // </a:t>
            </a:r>
            <a:r>
              <a:rPr lang="es-ES" sz="1600" dirty="0" err="1">
                <a:latin typeface="Consolas"/>
                <a:ea typeface="Consolas"/>
                <a:cs typeface="Consolas"/>
                <a:sym typeface="Consolas"/>
              </a:rPr>
              <a:t>stack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s-ES" sz="1600" dirty="0" err="1"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 per </a:t>
            </a:r>
            <a:r>
              <a:rPr lang="es-ES" sz="1600" dirty="0" err="1">
                <a:latin typeface="Consolas"/>
                <a:ea typeface="Consolas"/>
                <a:cs typeface="Consolas"/>
                <a:sym typeface="Consolas"/>
              </a:rPr>
              <a:t>thread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) 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600" dirty="0" err="1">
                <a:latin typeface="Consolas"/>
                <a:ea typeface="Consolas"/>
                <a:cs typeface="Consolas"/>
                <a:sym typeface="Consolas"/>
              </a:rPr>
              <a:t>printf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("%s: </a:t>
            </a:r>
            <a:r>
              <a:rPr lang="es-ES" sz="1600" dirty="0" err="1">
                <a:latin typeface="Consolas"/>
                <a:ea typeface="Consolas"/>
                <a:cs typeface="Consolas"/>
                <a:sym typeface="Consolas"/>
              </a:rPr>
              <a:t>begin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 [</a:t>
            </a:r>
            <a:r>
              <a:rPr lang="es-ES" sz="1600" dirty="0" err="1">
                <a:latin typeface="Consolas"/>
                <a:ea typeface="Consolas"/>
                <a:cs typeface="Consolas"/>
                <a:sym typeface="Consolas"/>
              </a:rPr>
              <a:t>addr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 dirty="0" err="1">
                <a:latin typeface="Consolas"/>
                <a:ea typeface="Consolas"/>
                <a:cs typeface="Consolas"/>
                <a:sym typeface="Consolas"/>
              </a:rPr>
              <a:t>of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 i: %p]\n", </a:t>
            </a:r>
            <a:r>
              <a:rPr lang="es-ES" sz="1600" dirty="0" err="1">
                <a:latin typeface="Consolas"/>
                <a:ea typeface="Consolas"/>
                <a:cs typeface="Consolas"/>
                <a:sym typeface="Consolas"/>
              </a:rPr>
              <a:t>letter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, &amp;i);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600" dirty="0" err="1"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 (i = 0; i &lt; </a:t>
            </a:r>
            <a:r>
              <a:rPr lang="es-ES" sz="1600" dirty="0" err="1">
                <a:latin typeface="Consolas"/>
                <a:ea typeface="Consolas"/>
                <a:cs typeface="Consolas"/>
                <a:sym typeface="Consolas"/>
              </a:rPr>
              <a:t>max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; i++) {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600" dirty="0" err="1">
                <a:solidFill>
                  <a:srgbClr val="FF0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counter</a:t>
            </a:r>
            <a:r>
              <a:rPr lang="es-ES" sz="1600" dirty="0">
                <a:solidFill>
                  <a:srgbClr val="FF0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s-ES" sz="1600" dirty="0" err="1">
                <a:solidFill>
                  <a:srgbClr val="FF0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counter</a:t>
            </a:r>
            <a:r>
              <a:rPr lang="es-ES" sz="1600" dirty="0">
                <a:solidFill>
                  <a:srgbClr val="FF0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+ 1; // sección critica</a:t>
            </a:r>
            <a:endParaRPr sz="1600" dirty="0">
              <a:solidFill>
                <a:srgbClr val="FF0000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600" dirty="0" err="1">
                <a:latin typeface="Consolas"/>
                <a:ea typeface="Consolas"/>
                <a:cs typeface="Consolas"/>
                <a:sym typeface="Consolas"/>
              </a:rPr>
              <a:t>printf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("%s: done\n", </a:t>
            </a:r>
            <a:r>
              <a:rPr lang="es-ES" sz="1600" dirty="0" err="1">
                <a:latin typeface="Consolas"/>
                <a:ea typeface="Consolas"/>
                <a:cs typeface="Consolas"/>
                <a:sym typeface="Consolas"/>
              </a:rPr>
              <a:t>letter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600" dirty="0" err="1"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 NULL;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51" name="Google Shape;551;p31"/>
          <p:cNvSpPr txBox="1"/>
          <p:nvPr/>
        </p:nvSpPr>
        <p:spPr>
          <a:xfrm>
            <a:off x="1403425" y="5785775"/>
            <a:ext cx="2957100" cy="4311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counter = counter + 1;</a:t>
            </a:r>
            <a:endParaRPr sz="1600"/>
          </a:p>
        </p:txBody>
      </p:sp>
      <p:grpSp>
        <p:nvGrpSpPr>
          <p:cNvPr id="552" name="Google Shape;552;p31"/>
          <p:cNvGrpSpPr/>
          <p:nvPr/>
        </p:nvGrpSpPr>
        <p:grpSpPr>
          <a:xfrm>
            <a:off x="6372786" y="5539625"/>
            <a:ext cx="4010092" cy="923400"/>
            <a:chOff x="3715281" y="2736425"/>
            <a:chExt cx="4777901" cy="923400"/>
          </a:xfrm>
        </p:grpSpPr>
        <p:sp>
          <p:nvSpPr>
            <p:cNvPr id="553" name="Google Shape;553;p31"/>
            <p:cNvSpPr txBox="1"/>
            <p:nvPr/>
          </p:nvSpPr>
          <p:spPr>
            <a:xfrm>
              <a:off x="4442282" y="2736425"/>
              <a:ext cx="4050900" cy="9234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mov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0x8049a1c, %eax 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add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$0x1, %eax 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mov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%eax, 0x8049a1c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554" name="Google Shape;554;p31"/>
            <p:cNvSpPr txBox="1"/>
            <p:nvPr/>
          </p:nvSpPr>
          <p:spPr>
            <a:xfrm>
              <a:off x="3715281" y="2736425"/>
              <a:ext cx="641700" cy="92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100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105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108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555" name="Google Shape;555;p31"/>
          <p:cNvSpPr/>
          <p:nvPr/>
        </p:nvSpPr>
        <p:spPr>
          <a:xfrm>
            <a:off x="5117675" y="5833025"/>
            <a:ext cx="799500" cy="3366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2"/>
          <p:cNvSpPr txBox="1">
            <a:spLocks noGrp="1"/>
          </p:cNvSpPr>
          <p:nvPr>
            <p:ph type="title"/>
          </p:nvPr>
        </p:nvSpPr>
        <p:spPr>
          <a:xfrm>
            <a:off x="294968" y="96038"/>
            <a:ext cx="8925682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Contextualización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561" name="Google Shape;561;p32"/>
          <p:cNvSpPr txBox="1">
            <a:spLocks noGrp="1"/>
          </p:cNvSpPr>
          <p:nvPr>
            <p:ph type="body" idx="1"/>
          </p:nvPr>
        </p:nvSpPr>
        <p:spPr>
          <a:xfrm>
            <a:off x="251275" y="767813"/>
            <a:ext cx="10760400" cy="72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latin typeface="+mn-lt"/>
              </a:rPr>
              <a:t>Race condition (condición de carrera)</a:t>
            </a:r>
            <a:endParaRPr sz="2800" b="1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sp>
        <p:nvSpPr>
          <p:cNvPr id="562" name="Google Shape;562;p32"/>
          <p:cNvSpPr txBox="1">
            <a:spLocks noGrp="1"/>
          </p:cNvSpPr>
          <p:nvPr>
            <p:ph type="body" idx="4294967295"/>
          </p:nvPr>
        </p:nvSpPr>
        <p:spPr>
          <a:xfrm>
            <a:off x="335333" y="1362950"/>
            <a:ext cx="11513767" cy="20637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/>
              <a:t>Condición que se da cuando múltiples hilos de ejecución ingresan en la sección crítica a la misma vez.</a:t>
            </a:r>
            <a:endParaRPr sz="2400" dirty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/>
              <a:t>Cuando los hilos que se encuentran en la región crítica intentan modificar datos compartidos </a:t>
            </a:r>
            <a:r>
              <a:rPr lang="es-ES" sz="2400" b="1" dirty="0">
                <a:solidFill>
                  <a:srgbClr val="FF0000"/>
                </a:solidFill>
              </a:rPr>
              <a:t>los resultados son inesperados</a:t>
            </a:r>
            <a:r>
              <a:rPr lang="es-ES" sz="2400" dirty="0"/>
              <a:t>.</a:t>
            </a: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dirty="0"/>
              <a:t> </a:t>
            </a: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563" name="Google Shape;56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20650" y="3597705"/>
            <a:ext cx="2533735" cy="25758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64" name="Google Shape;564;p32"/>
          <p:cNvGrpSpPr/>
          <p:nvPr/>
        </p:nvGrpSpPr>
        <p:grpSpPr>
          <a:xfrm>
            <a:off x="493000" y="3337500"/>
            <a:ext cx="8285725" cy="3101075"/>
            <a:chOff x="2207500" y="3489900"/>
            <a:chExt cx="8285725" cy="3101075"/>
          </a:xfrm>
        </p:grpSpPr>
        <p:grpSp>
          <p:nvGrpSpPr>
            <p:cNvPr id="565" name="Google Shape;565;p32"/>
            <p:cNvGrpSpPr/>
            <p:nvPr/>
          </p:nvGrpSpPr>
          <p:grpSpPr>
            <a:xfrm>
              <a:off x="2207500" y="3489900"/>
              <a:ext cx="8285725" cy="3007350"/>
              <a:chOff x="1293100" y="3718500"/>
              <a:chExt cx="8285725" cy="3007350"/>
            </a:xfrm>
          </p:grpSpPr>
          <p:cxnSp>
            <p:nvCxnSpPr>
              <p:cNvPr id="566" name="Google Shape;566;p32"/>
              <p:cNvCxnSpPr/>
              <p:nvPr/>
            </p:nvCxnSpPr>
            <p:spPr>
              <a:xfrm rot="10800000" flipH="1">
                <a:off x="2678525" y="4747600"/>
                <a:ext cx="6870900" cy="81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67" name="Google Shape;567;p32"/>
              <p:cNvCxnSpPr/>
              <p:nvPr/>
            </p:nvCxnSpPr>
            <p:spPr>
              <a:xfrm rot="10800000" flipH="1">
                <a:off x="2678525" y="5906475"/>
                <a:ext cx="6900300" cy="18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568" name="Google Shape;568;p32"/>
              <p:cNvSpPr txBox="1"/>
              <p:nvPr/>
            </p:nvSpPr>
            <p:spPr>
              <a:xfrm>
                <a:off x="1293100" y="4540150"/>
                <a:ext cx="13143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>
                    <a:solidFill>
                      <a:srgbClr val="0000FF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Thread T1</a:t>
                </a:r>
                <a:endParaRPr sz="1600" b="1">
                  <a:solidFill>
                    <a:srgbClr val="0000FF"/>
                  </a:solidFill>
                </a:endParaRPr>
              </a:p>
            </p:txBody>
          </p:sp>
          <p:sp>
            <p:nvSpPr>
              <p:cNvPr id="569" name="Google Shape;569;p32"/>
              <p:cNvSpPr txBox="1"/>
              <p:nvPr/>
            </p:nvSpPr>
            <p:spPr>
              <a:xfrm>
                <a:off x="1293100" y="5692725"/>
                <a:ext cx="13143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>
                    <a:solidFill>
                      <a:srgbClr val="FF000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Thread T2</a:t>
                </a:r>
                <a:endParaRPr sz="1600" b="1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570" name="Google Shape;570;p32"/>
              <p:cNvCxnSpPr/>
              <p:nvPr/>
            </p:nvCxnSpPr>
            <p:spPr>
              <a:xfrm>
                <a:off x="3813400" y="4567125"/>
                <a:ext cx="0" cy="1556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dash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571" name="Google Shape;571;p32"/>
              <p:cNvSpPr txBox="1"/>
              <p:nvPr/>
            </p:nvSpPr>
            <p:spPr>
              <a:xfrm>
                <a:off x="4051825" y="4005225"/>
                <a:ext cx="1178100" cy="49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000">
                    <a:solidFill>
                      <a:srgbClr val="0000FF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T1 entra a la región crítica</a:t>
                </a:r>
                <a:endParaRPr sz="1000">
                  <a:solidFill>
                    <a:srgbClr val="0000FF"/>
                  </a:solidFill>
                </a:endParaRPr>
              </a:p>
            </p:txBody>
          </p:sp>
          <p:sp>
            <p:nvSpPr>
              <p:cNvPr id="572" name="Google Shape;572;p32"/>
              <p:cNvSpPr txBox="1"/>
              <p:nvPr/>
            </p:nvSpPr>
            <p:spPr>
              <a:xfrm>
                <a:off x="7135350" y="4005225"/>
                <a:ext cx="1178100" cy="49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000">
                    <a:solidFill>
                      <a:srgbClr val="0000FF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T1 sale de la región crítica</a:t>
                </a:r>
                <a:endParaRPr sz="1000">
                  <a:solidFill>
                    <a:srgbClr val="0000FF"/>
                  </a:solidFill>
                </a:endParaRPr>
              </a:p>
            </p:txBody>
          </p:sp>
          <p:cxnSp>
            <p:nvCxnSpPr>
              <p:cNvPr id="573" name="Google Shape;573;p32"/>
              <p:cNvCxnSpPr/>
              <p:nvPr/>
            </p:nvCxnSpPr>
            <p:spPr>
              <a:xfrm flipH="1">
                <a:off x="3852325" y="4252900"/>
                <a:ext cx="199500" cy="3873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574" name="Google Shape;574;p32"/>
              <p:cNvSpPr/>
              <p:nvPr/>
            </p:nvSpPr>
            <p:spPr>
              <a:xfrm>
                <a:off x="3813400" y="4671550"/>
                <a:ext cx="3097500" cy="1683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Google Shape;575;p32"/>
              <p:cNvSpPr/>
              <p:nvPr/>
            </p:nvSpPr>
            <p:spPr>
              <a:xfrm>
                <a:off x="5732875" y="5822850"/>
                <a:ext cx="2326200" cy="1683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76" name="Google Shape;576;p32"/>
              <p:cNvCxnSpPr/>
              <p:nvPr/>
            </p:nvCxnSpPr>
            <p:spPr>
              <a:xfrm>
                <a:off x="5718875" y="4567125"/>
                <a:ext cx="0" cy="1556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dash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77" name="Google Shape;577;p32"/>
              <p:cNvCxnSpPr/>
              <p:nvPr/>
            </p:nvCxnSpPr>
            <p:spPr>
              <a:xfrm>
                <a:off x="8059100" y="4567125"/>
                <a:ext cx="0" cy="1556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dash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78" name="Google Shape;578;p32"/>
              <p:cNvCxnSpPr/>
              <p:nvPr/>
            </p:nvCxnSpPr>
            <p:spPr>
              <a:xfrm flipH="1">
                <a:off x="6935850" y="4251025"/>
                <a:ext cx="199500" cy="3873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579" name="Google Shape;579;p32"/>
              <p:cNvSpPr txBox="1"/>
              <p:nvPr/>
            </p:nvSpPr>
            <p:spPr>
              <a:xfrm>
                <a:off x="5943225" y="6233250"/>
                <a:ext cx="1178100" cy="49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000">
                    <a:solidFill>
                      <a:srgbClr val="FF000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T2 entra a la región crítica</a:t>
                </a:r>
                <a:endParaRPr sz="1000">
                  <a:solidFill>
                    <a:srgbClr val="FF0000"/>
                  </a:solidFill>
                </a:endParaRPr>
              </a:p>
            </p:txBody>
          </p:sp>
          <p:sp>
            <p:nvSpPr>
              <p:cNvPr id="580" name="Google Shape;580;p32"/>
              <p:cNvSpPr txBox="1"/>
              <p:nvPr/>
            </p:nvSpPr>
            <p:spPr>
              <a:xfrm>
                <a:off x="8327175" y="6233250"/>
                <a:ext cx="1178100" cy="49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000">
                    <a:solidFill>
                      <a:srgbClr val="FF000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T2 sale de la región crítica</a:t>
                </a:r>
                <a:endParaRPr sz="100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581" name="Google Shape;581;p32"/>
              <p:cNvCxnSpPr/>
              <p:nvPr/>
            </p:nvCxnSpPr>
            <p:spPr>
              <a:xfrm rot="10800000">
                <a:off x="5773400" y="6046150"/>
                <a:ext cx="199500" cy="3873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582" name="Google Shape;582;p32"/>
              <p:cNvCxnSpPr/>
              <p:nvPr/>
            </p:nvCxnSpPr>
            <p:spPr>
              <a:xfrm rot="10800000">
                <a:off x="8127675" y="6002225"/>
                <a:ext cx="199500" cy="3873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grpSp>
            <p:nvGrpSpPr>
              <p:cNvPr id="583" name="Google Shape;583;p32"/>
              <p:cNvGrpSpPr/>
              <p:nvPr/>
            </p:nvGrpSpPr>
            <p:grpSpPr>
              <a:xfrm>
                <a:off x="6369161" y="4976182"/>
                <a:ext cx="452438" cy="626189"/>
                <a:chOff x="6940106" y="5421650"/>
                <a:chExt cx="268509" cy="281991"/>
              </a:xfrm>
            </p:grpSpPr>
            <p:sp>
              <p:nvSpPr>
                <p:cNvPr id="584" name="Google Shape;584;p32"/>
                <p:cNvSpPr/>
                <p:nvPr/>
              </p:nvSpPr>
              <p:spPr>
                <a:xfrm>
                  <a:off x="6940106" y="5421650"/>
                  <a:ext cx="94145" cy="2819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29" h="11811" extrusionOk="0">
                      <a:moveTo>
                        <a:pt x="2413" y="0"/>
                      </a:moveTo>
                      <a:cubicBezTo>
                        <a:pt x="1515" y="180"/>
                        <a:pt x="-381" y="762"/>
                        <a:pt x="127" y="1524"/>
                      </a:cubicBezTo>
                      <a:cubicBezTo>
                        <a:pt x="695" y="2376"/>
                        <a:pt x="2717" y="989"/>
                        <a:pt x="3175" y="1905"/>
                      </a:cubicBezTo>
                      <a:cubicBezTo>
                        <a:pt x="3633" y="2821"/>
                        <a:pt x="1232" y="2705"/>
                        <a:pt x="508" y="3429"/>
                      </a:cubicBezTo>
                      <a:cubicBezTo>
                        <a:pt x="-339" y="4276"/>
                        <a:pt x="3847" y="4172"/>
                        <a:pt x="3556" y="5334"/>
                      </a:cubicBezTo>
                      <a:cubicBezTo>
                        <a:pt x="3156" y="6936"/>
                        <a:pt x="2173" y="8340"/>
                        <a:pt x="1651" y="9906"/>
                      </a:cubicBezTo>
                      <a:cubicBezTo>
                        <a:pt x="1394" y="10677"/>
                        <a:pt x="3750" y="11236"/>
                        <a:pt x="3175" y="11811"/>
                      </a:cubicBezTo>
                    </a:path>
                  </a:pathLst>
                </a:custGeom>
                <a:noFill/>
                <a:ln w="19050" cap="flat" cmpd="sng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  <p:sp>
              <p:nvSpPr>
                <p:cNvPr id="585" name="Google Shape;585;p32"/>
                <p:cNvSpPr/>
                <p:nvPr/>
              </p:nvSpPr>
              <p:spPr>
                <a:xfrm>
                  <a:off x="7114470" y="5421653"/>
                  <a:ext cx="94145" cy="2819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29" h="11811" extrusionOk="0">
                      <a:moveTo>
                        <a:pt x="2413" y="0"/>
                      </a:moveTo>
                      <a:cubicBezTo>
                        <a:pt x="1515" y="180"/>
                        <a:pt x="-381" y="762"/>
                        <a:pt x="127" y="1524"/>
                      </a:cubicBezTo>
                      <a:cubicBezTo>
                        <a:pt x="695" y="2376"/>
                        <a:pt x="2717" y="989"/>
                        <a:pt x="3175" y="1905"/>
                      </a:cubicBezTo>
                      <a:cubicBezTo>
                        <a:pt x="3633" y="2821"/>
                        <a:pt x="1232" y="2705"/>
                        <a:pt x="508" y="3429"/>
                      </a:cubicBezTo>
                      <a:cubicBezTo>
                        <a:pt x="-339" y="4276"/>
                        <a:pt x="3847" y="4172"/>
                        <a:pt x="3556" y="5334"/>
                      </a:cubicBezTo>
                      <a:cubicBezTo>
                        <a:pt x="3156" y="6936"/>
                        <a:pt x="2173" y="8340"/>
                        <a:pt x="1651" y="9906"/>
                      </a:cubicBezTo>
                      <a:cubicBezTo>
                        <a:pt x="1394" y="10677"/>
                        <a:pt x="3750" y="11236"/>
                        <a:pt x="3175" y="11811"/>
                      </a:cubicBezTo>
                    </a:path>
                  </a:pathLst>
                </a:custGeom>
                <a:noFill/>
                <a:ln w="19050" cap="flat" cmpd="sng">
                  <a:solidFill>
                    <a:srgbClr val="0000FF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586" name="Google Shape;586;p32"/>
              <p:cNvSpPr/>
              <p:nvPr/>
            </p:nvSpPr>
            <p:spPr>
              <a:xfrm>
                <a:off x="7721261" y="4976182"/>
                <a:ext cx="158633" cy="626190"/>
              </a:xfrm>
              <a:custGeom>
                <a:avLst/>
                <a:gdLst/>
                <a:ahLst/>
                <a:cxnLst/>
                <a:rect l="l" t="t" r="r" b="b"/>
                <a:pathLst>
                  <a:path w="3629" h="11811" extrusionOk="0">
                    <a:moveTo>
                      <a:pt x="2413" y="0"/>
                    </a:moveTo>
                    <a:cubicBezTo>
                      <a:pt x="1515" y="180"/>
                      <a:pt x="-381" y="762"/>
                      <a:pt x="127" y="1524"/>
                    </a:cubicBezTo>
                    <a:cubicBezTo>
                      <a:pt x="695" y="2376"/>
                      <a:pt x="2717" y="989"/>
                      <a:pt x="3175" y="1905"/>
                    </a:cubicBezTo>
                    <a:cubicBezTo>
                      <a:pt x="3633" y="2821"/>
                      <a:pt x="1232" y="2705"/>
                      <a:pt x="508" y="3429"/>
                    </a:cubicBezTo>
                    <a:cubicBezTo>
                      <a:pt x="-339" y="4276"/>
                      <a:pt x="3847" y="4172"/>
                      <a:pt x="3556" y="5334"/>
                    </a:cubicBezTo>
                    <a:cubicBezTo>
                      <a:pt x="3156" y="6936"/>
                      <a:pt x="2173" y="8340"/>
                      <a:pt x="1651" y="9906"/>
                    </a:cubicBezTo>
                    <a:cubicBezTo>
                      <a:pt x="1394" y="10677"/>
                      <a:pt x="3750" y="11236"/>
                      <a:pt x="3175" y="11811"/>
                    </a:cubicBezTo>
                  </a:path>
                </a:pathLst>
              </a:cu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587" name="Google Shape;587;p32"/>
              <p:cNvSpPr/>
              <p:nvPr/>
            </p:nvSpPr>
            <p:spPr>
              <a:xfrm>
                <a:off x="5083764" y="5017988"/>
                <a:ext cx="158633" cy="626190"/>
              </a:xfrm>
              <a:custGeom>
                <a:avLst/>
                <a:gdLst/>
                <a:ahLst/>
                <a:cxnLst/>
                <a:rect l="l" t="t" r="r" b="b"/>
                <a:pathLst>
                  <a:path w="3629" h="11811" extrusionOk="0">
                    <a:moveTo>
                      <a:pt x="2413" y="0"/>
                    </a:moveTo>
                    <a:cubicBezTo>
                      <a:pt x="1515" y="180"/>
                      <a:pt x="-381" y="762"/>
                      <a:pt x="127" y="1524"/>
                    </a:cubicBezTo>
                    <a:cubicBezTo>
                      <a:pt x="695" y="2376"/>
                      <a:pt x="2717" y="989"/>
                      <a:pt x="3175" y="1905"/>
                    </a:cubicBezTo>
                    <a:cubicBezTo>
                      <a:pt x="3633" y="2821"/>
                      <a:pt x="1232" y="2705"/>
                      <a:pt x="508" y="3429"/>
                    </a:cubicBezTo>
                    <a:cubicBezTo>
                      <a:pt x="-339" y="4276"/>
                      <a:pt x="3847" y="4172"/>
                      <a:pt x="3556" y="5334"/>
                    </a:cubicBezTo>
                    <a:cubicBezTo>
                      <a:pt x="3156" y="6936"/>
                      <a:pt x="2173" y="8340"/>
                      <a:pt x="1651" y="9906"/>
                    </a:cubicBezTo>
                    <a:cubicBezTo>
                      <a:pt x="1394" y="10677"/>
                      <a:pt x="3750" y="11236"/>
                      <a:pt x="3175" y="11811"/>
                    </a:cubicBezTo>
                  </a:path>
                </a:pathLst>
              </a:custGeom>
              <a:noFill/>
              <a:ln w="19050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cxnSp>
            <p:nvCxnSpPr>
              <p:cNvPr id="588" name="Google Shape;588;p32"/>
              <p:cNvCxnSpPr/>
              <p:nvPr/>
            </p:nvCxnSpPr>
            <p:spPr>
              <a:xfrm>
                <a:off x="6910950" y="4567125"/>
                <a:ext cx="0" cy="15567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dash"/>
                <a:round/>
                <a:headEnd type="none" w="med" len="med"/>
                <a:tailEnd type="none" w="med" len="med"/>
              </a:ln>
            </p:spPr>
          </p:cxnSp>
          <p:pic>
            <p:nvPicPr>
              <p:cNvPr id="589" name="Google Shape;589;p32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4277475" y="5103200"/>
                <a:ext cx="589281" cy="45577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90" name="Google Shape;590;p32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 rot="10800000" flipH="1">
                <a:off x="5837287" y="5173038"/>
                <a:ext cx="589281" cy="45577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91" name="Google Shape;591;p32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7021462" y="5103188"/>
                <a:ext cx="589281" cy="45577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92" name="Google Shape;592;p32"/>
              <p:cNvSpPr/>
              <p:nvPr/>
            </p:nvSpPr>
            <p:spPr>
              <a:xfrm rot="5400000">
                <a:off x="6237000" y="3844900"/>
                <a:ext cx="158700" cy="1189500"/>
              </a:xfrm>
              <a:prstGeom prst="leftBrace">
                <a:avLst>
                  <a:gd name="adj1" fmla="val 50000"/>
                  <a:gd name="adj2" fmla="val 50000"/>
                </a:avLst>
              </a:prstGeom>
              <a:noFill/>
              <a:ln w="28575" cap="flat" cmpd="sng">
                <a:solidFill>
                  <a:srgbClr val="FF99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Google Shape;593;p32"/>
              <p:cNvSpPr txBox="1"/>
              <p:nvPr/>
            </p:nvSpPr>
            <p:spPr>
              <a:xfrm>
                <a:off x="5698201" y="3718500"/>
                <a:ext cx="1236300" cy="67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solidFill>
                      <a:srgbClr val="FF990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Race condition</a:t>
                </a:r>
                <a:endParaRPr sz="1600" b="1" dirty="0">
                  <a:solidFill>
                    <a:srgbClr val="FF9900"/>
                  </a:solidFill>
                </a:endParaRPr>
              </a:p>
            </p:txBody>
          </p:sp>
        </p:grpSp>
        <p:cxnSp>
          <p:nvCxnSpPr>
            <p:cNvPr id="594" name="Google Shape;594;p32"/>
            <p:cNvCxnSpPr/>
            <p:nvPr/>
          </p:nvCxnSpPr>
          <p:spPr>
            <a:xfrm rot="10800000" flipH="1">
              <a:off x="5216475" y="6389975"/>
              <a:ext cx="1339200" cy="18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595" name="Google Shape;595;p32"/>
            <p:cNvSpPr txBox="1"/>
            <p:nvPr/>
          </p:nvSpPr>
          <p:spPr>
            <a:xfrm>
              <a:off x="4515975" y="6190775"/>
              <a:ext cx="700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Time</a:t>
              </a:r>
              <a:endParaRPr>
                <a:solidFill>
                  <a:schemeClr val="dk1"/>
                </a:solidFill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3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Contextualización</a:t>
            </a:r>
            <a:endParaRPr/>
          </a:p>
        </p:txBody>
      </p:sp>
      <p:sp>
        <p:nvSpPr>
          <p:cNvPr id="601" name="Google Shape;601;p33"/>
          <p:cNvSpPr txBox="1">
            <a:spLocks noGrp="1"/>
          </p:cNvSpPr>
          <p:nvPr>
            <p:ph type="body" idx="1"/>
          </p:nvPr>
        </p:nvSpPr>
        <p:spPr>
          <a:xfrm>
            <a:off x="916638" y="868588"/>
            <a:ext cx="10760400" cy="72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5"/>
                </a:solidFill>
              </a:rPr>
              <a:t>Race condition (condición de carrera)</a:t>
            </a:r>
            <a:endParaRPr sz="2800" b="1" dirty="0">
              <a:solidFill>
                <a:schemeClr val="accent5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602" name="Google Shape;602;p33"/>
          <p:cNvGrpSpPr/>
          <p:nvPr/>
        </p:nvGrpSpPr>
        <p:grpSpPr>
          <a:xfrm>
            <a:off x="8800036" y="1813750"/>
            <a:ext cx="3125547" cy="923400"/>
            <a:chOff x="3715281" y="2736425"/>
            <a:chExt cx="3723992" cy="923400"/>
          </a:xfrm>
        </p:grpSpPr>
        <p:sp>
          <p:nvSpPr>
            <p:cNvPr id="603" name="Google Shape;603;p33"/>
            <p:cNvSpPr txBox="1"/>
            <p:nvPr/>
          </p:nvSpPr>
          <p:spPr>
            <a:xfrm>
              <a:off x="4442274" y="2736425"/>
              <a:ext cx="2997000" cy="9234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mov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0x8049a1c, %eax 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add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$0x1, %eax 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 err="1">
                  <a:latin typeface="Consolas"/>
                  <a:ea typeface="Consolas"/>
                  <a:cs typeface="Consolas"/>
                  <a:sym typeface="Consolas"/>
                </a:rPr>
                <a:t>mov</a:t>
              </a:r>
              <a:r>
                <a:rPr lang="es-ES" sz="1600" dirty="0">
                  <a:latin typeface="Consolas"/>
                  <a:ea typeface="Consolas"/>
                  <a:cs typeface="Consolas"/>
                  <a:sym typeface="Consolas"/>
                </a:rPr>
                <a:t> %eax, 0x8049a1c</a:t>
              </a:r>
              <a:endParaRPr sz="1600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604" name="Google Shape;604;p33"/>
            <p:cNvSpPr txBox="1"/>
            <p:nvPr/>
          </p:nvSpPr>
          <p:spPr>
            <a:xfrm>
              <a:off x="3715281" y="2736425"/>
              <a:ext cx="641700" cy="92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100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105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108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605" name="Google Shape;605;p33"/>
          <p:cNvGrpSpPr/>
          <p:nvPr/>
        </p:nvGrpSpPr>
        <p:grpSpPr>
          <a:xfrm>
            <a:off x="8800334" y="2857729"/>
            <a:ext cx="3125564" cy="431113"/>
            <a:chOff x="2998267" y="2736425"/>
            <a:chExt cx="4499157" cy="431113"/>
          </a:xfrm>
        </p:grpSpPr>
        <p:sp>
          <p:nvSpPr>
            <p:cNvPr id="606" name="Google Shape;606;p33"/>
            <p:cNvSpPr txBox="1"/>
            <p:nvPr/>
          </p:nvSpPr>
          <p:spPr>
            <a:xfrm>
              <a:off x="5035324" y="2736438"/>
              <a:ext cx="2462100" cy="4311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latin typeface="Consolas"/>
                  <a:ea typeface="Consolas"/>
                  <a:cs typeface="Consolas"/>
                  <a:sym typeface="Consolas"/>
                </a:rPr>
                <a:t>50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607" name="Google Shape;607;p33"/>
            <p:cNvSpPr txBox="1"/>
            <p:nvPr/>
          </p:nvSpPr>
          <p:spPr>
            <a:xfrm>
              <a:off x="2998267" y="2736425"/>
              <a:ext cx="18807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0x8049a1c</a:t>
              </a:r>
              <a:endParaRPr sz="160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608" name="Google Shape;608;p33"/>
          <p:cNvSpPr txBox="1"/>
          <p:nvPr/>
        </p:nvSpPr>
        <p:spPr>
          <a:xfrm>
            <a:off x="5374317" y="2031787"/>
            <a:ext cx="2706584" cy="430857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counter = counter + 1;</a:t>
            </a:r>
            <a:endParaRPr sz="1600"/>
          </a:p>
        </p:txBody>
      </p:sp>
      <p:sp>
        <p:nvSpPr>
          <p:cNvPr id="609" name="Google Shape;609;p33"/>
          <p:cNvSpPr/>
          <p:nvPr/>
        </p:nvSpPr>
        <p:spPr>
          <a:xfrm>
            <a:off x="8289970" y="2088850"/>
            <a:ext cx="538580" cy="3366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610" name="Google Shape;610;p33"/>
          <p:cNvGraphicFramePr/>
          <p:nvPr>
            <p:extLst>
              <p:ext uri="{D42A27DB-BD31-4B8C-83A1-F6EECF244321}">
                <p14:modId xmlns:p14="http://schemas.microsoft.com/office/powerpoint/2010/main" val="2588818921"/>
              </p:ext>
            </p:extLst>
          </p:nvPr>
        </p:nvGraphicFramePr>
        <p:xfrm>
          <a:off x="266102" y="1602058"/>
          <a:ext cx="4899146" cy="481548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84626">
                  <a:extLst>
                    <a:ext uri="{9D8B030D-6E8A-4147-A177-3AD203B41FA5}">
                      <a16:colId xmlns:a16="http://schemas.microsoft.com/office/drawing/2014/main" val="1077154393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3398492762"/>
                    </a:ext>
                  </a:extLst>
                </a:gridCol>
                <a:gridCol w="593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36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36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36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36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36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56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8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Mem</a:t>
                      </a:r>
                      <a:endParaRPr sz="18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CPU</a:t>
                      </a:r>
                      <a:endParaRPr sz="18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T1</a:t>
                      </a:r>
                      <a:endParaRPr sz="1800" b="1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T2</a:t>
                      </a:r>
                      <a:endParaRPr sz="1800" b="1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22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4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Ti</a:t>
                      </a:r>
                      <a:endParaRPr sz="14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4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counter</a:t>
                      </a:r>
                      <a:endParaRPr sz="14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PC</a:t>
                      </a:r>
                      <a:endParaRPr sz="14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%eax</a:t>
                      </a:r>
                      <a:endParaRPr sz="1400" b="1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PC</a:t>
                      </a:r>
                      <a:endParaRPr sz="1400" b="1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%eax</a:t>
                      </a:r>
                      <a:endParaRPr sz="1400" b="1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PC</a:t>
                      </a:r>
                      <a:endParaRPr sz="1400" b="1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%eax</a:t>
                      </a:r>
                      <a:endParaRPr sz="1400" b="1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22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400" b="0" dirty="0">
                          <a:latin typeface="Consolas" panose="020B0609020204030204" pitchFamily="49" charset="0"/>
                        </a:rPr>
                        <a:t>?</a:t>
                      </a:r>
                      <a:endParaRPr sz="1400" b="0" dirty="0"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50</a:t>
                      </a:r>
                      <a:endParaRPr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400" b="0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?</a:t>
                      </a:r>
                      <a:endParaRPr sz="1400" b="0" dirty="0">
                        <a:solidFill>
                          <a:srgbClr val="0070C0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400" b="0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?</a:t>
                      </a:r>
                      <a:endParaRPr sz="1400" b="0" dirty="0">
                        <a:solidFill>
                          <a:srgbClr val="0070C0"/>
                        </a:solidFill>
                        <a:latin typeface="Consolas" panose="020B0609020204030204" pitchFamily="49" charset="0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400" b="0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400" b="0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400" b="0" dirty="0">
                        <a:solidFill>
                          <a:schemeClr val="accent1"/>
                        </a:solidFill>
                        <a:latin typeface="Consolas" panose="020B0609020204030204" pitchFamily="49" charset="0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400" b="0" dirty="0"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endParaRPr sz="1400" b="0" dirty="0">
                        <a:latin typeface="Consolas" panose="020B0609020204030204" pitchFamily="49" charset="0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400" b="0" dirty="0"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400" b="0" dirty="0">
                        <a:latin typeface="Consolas" panose="020B0609020204030204" pitchFamily="49" charset="0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22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400" b="0" dirty="0">
                          <a:latin typeface="Consolas" panose="020B0609020204030204" pitchFamily="49" charset="0"/>
                        </a:rPr>
                        <a:t>T1</a:t>
                      </a:r>
                      <a:endParaRPr sz="1400" b="0" dirty="0"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dirty="0"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400" b="0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100</a:t>
                      </a:r>
                      <a:endParaRPr sz="1400" b="0" dirty="0">
                        <a:solidFill>
                          <a:srgbClr val="0070C0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400" b="0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400" b="0" dirty="0">
                        <a:solidFill>
                          <a:srgbClr val="0070C0"/>
                        </a:solidFill>
                        <a:latin typeface="Consolas" panose="020B0609020204030204" pitchFamily="49" charset="0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400" b="0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108</a:t>
                      </a:r>
                      <a:endParaRPr sz="1400" b="0" dirty="0">
                        <a:solidFill>
                          <a:schemeClr val="accent1"/>
                        </a:solidFill>
                        <a:latin typeface="Consolas" panose="020B0609020204030204" pitchFamily="49" charset="0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400" b="0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51</a:t>
                      </a:r>
                      <a:endParaRPr sz="1400" b="0" dirty="0">
                        <a:solidFill>
                          <a:schemeClr val="accent1"/>
                        </a:solidFill>
                        <a:latin typeface="Consolas" panose="020B0609020204030204" pitchFamily="49" charset="0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400" b="0" dirty="0"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113</a:t>
                      </a:r>
                      <a:endParaRPr sz="1400" b="0" dirty="0">
                        <a:latin typeface="Consolas" panose="020B0609020204030204" pitchFamily="49" charset="0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400" b="0" dirty="0"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51</a:t>
                      </a:r>
                      <a:endParaRPr sz="1400" b="0" dirty="0">
                        <a:latin typeface="Consolas" panose="020B0609020204030204" pitchFamily="49" charset="0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22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dirty="0"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dirty="0"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400" b="0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105</a:t>
                      </a:r>
                      <a:endParaRPr sz="1400" b="0" dirty="0">
                        <a:solidFill>
                          <a:srgbClr val="0070C0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400" b="0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50</a:t>
                      </a:r>
                      <a:endParaRPr sz="1400" b="0" dirty="0">
                        <a:solidFill>
                          <a:srgbClr val="0070C0"/>
                        </a:solidFill>
                        <a:latin typeface="Consolas" panose="020B0609020204030204" pitchFamily="49" charset="0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>
                        <a:latin typeface="Consolas" panose="020B0609020204030204" pitchFamily="49" charset="0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dirty="0">
                        <a:latin typeface="Consolas" panose="020B0609020204030204" pitchFamily="49" charset="0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dirty="0">
                        <a:latin typeface="Consolas" panose="020B0609020204030204" pitchFamily="49" charset="0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dirty="0">
                        <a:latin typeface="Consolas" panose="020B0609020204030204" pitchFamily="49" charset="0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422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dirty="0">
                        <a:latin typeface="Consolas" panose="020B0609020204030204" pitchFamily="49" charset="0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dirty="0">
                        <a:latin typeface="Consolas" panose="020B0609020204030204" pitchFamily="49" charset="0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400" b="0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108</a:t>
                      </a:r>
                      <a:endParaRPr sz="1400" b="0" dirty="0">
                        <a:solidFill>
                          <a:srgbClr val="0070C0"/>
                        </a:solidFill>
                        <a:latin typeface="Consolas" panose="020B0609020204030204" pitchFamily="49" charset="0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400" b="0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</a:rPr>
                        <a:t>51</a:t>
                      </a:r>
                      <a:endParaRPr sz="1400" b="0" dirty="0">
                        <a:solidFill>
                          <a:srgbClr val="0070C0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dirty="0"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dirty="0"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dirty="0"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dirty="0"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422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400" b="0" dirty="0"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T2</a:t>
                      </a:r>
                      <a:endParaRPr sz="1400" b="0" dirty="0">
                        <a:latin typeface="Consolas" panose="020B0609020204030204" pitchFamily="49" charset="0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dirty="0">
                        <a:latin typeface="Consolas" panose="020B0609020204030204" pitchFamily="49" charset="0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400" b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endParaRPr sz="1400" b="0" dirty="0">
                        <a:solidFill>
                          <a:srgbClr val="FF0000"/>
                        </a:solidFill>
                        <a:latin typeface="Consolas" panose="020B0609020204030204" pitchFamily="49" charset="0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400" b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0</a:t>
                      </a:r>
                      <a:endParaRPr sz="1400" b="0" dirty="0">
                        <a:solidFill>
                          <a:srgbClr val="FF0000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dirty="0"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dirty="0"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dirty="0"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422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dirty="0">
                        <a:latin typeface="Consolas" panose="020B0609020204030204" pitchFamily="49" charset="0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>
                        <a:latin typeface="Consolas" panose="020B0609020204030204" pitchFamily="49" charset="0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400" b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105</a:t>
                      </a:r>
                      <a:endParaRPr sz="1400" b="0" dirty="0">
                        <a:solidFill>
                          <a:srgbClr val="FF0000"/>
                        </a:solidFill>
                        <a:latin typeface="Consolas" panose="020B0609020204030204" pitchFamily="49" charset="0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400" b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50</a:t>
                      </a:r>
                      <a:endParaRPr sz="1400" b="0" dirty="0">
                        <a:solidFill>
                          <a:srgbClr val="FF0000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dirty="0"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dirty="0"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dirty="0"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422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dirty="0">
                        <a:latin typeface="Consolas" panose="020B0609020204030204" pitchFamily="49" charset="0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>
                        <a:latin typeface="Consolas" panose="020B0609020204030204" pitchFamily="49" charset="0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400" b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108</a:t>
                      </a:r>
                      <a:endParaRPr sz="1400" b="0" dirty="0">
                        <a:solidFill>
                          <a:srgbClr val="FF0000"/>
                        </a:solidFill>
                        <a:latin typeface="Consolas" panose="020B0609020204030204" pitchFamily="49" charset="0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400" b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51</a:t>
                      </a:r>
                      <a:endParaRPr sz="1400" b="0" dirty="0">
                        <a:solidFill>
                          <a:srgbClr val="FF0000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dirty="0"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dirty="0"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dirty="0"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422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dirty="0">
                        <a:latin typeface="Consolas" panose="020B0609020204030204" pitchFamily="49" charset="0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400" b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51</a:t>
                      </a:r>
                      <a:endParaRPr sz="1400" b="0" dirty="0">
                        <a:solidFill>
                          <a:srgbClr val="FF0000"/>
                        </a:solidFill>
                        <a:latin typeface="Consolas" panose="020B0609020204030204" pitchFamily="49" charset="0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400" b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113</a:t>
                      </a:r>
                      <a:endParaRPr sz="1400" b="0" dirty="0">
                        <a:solidFill>
                          <a:srgbClr val="FF0000"/>
                        </a:solidFill>
                        <a:latin typeface="Consolas" panose="020B0609020204030204" pitchFamily="49" charset="0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400" b="0" dirty="0">
                          <a:solidFill>
                            <a:srgbClr val="FF0000"/>
                          </a:solidFill>
                          <a:latin typeface="Consolas" panose="020B0609020204030204" pitchFamily="49" charset="0"/>
                        </a:rPr>
                        <a:t>51</a:t>
                      </a:r>
                      <a:endParaRPr sz="1400" b="0" dirty="0">
                        <a:solidFill>
                          <a:srgbClr val="FF0000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dirty="0"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dirty="0"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dirty="0"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9208092"/>
                  </a:ext>
                </a:extLst>
              </a:tr>
              <a:tr h="33422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400" b="0" dirty="0"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T1</a:t>
                      </a:r>
                      <a:endParaRPr sz="1400" b="0" dirty="0">
                        <a:latin typeface="Consolas" panose="020B0609020204030204" pitchFamily="49" charset="0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dirty="0">
                        <a:latin typeface="Consolas" panose="020B0609020204030204" pitchFamily="49" charset="0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400" b="0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108</a:t>
                      </a:r>
                      <a:endParaRPr sz="1400" b="0" dirty="0">
                        <a:solidFill>
                          <a:schemeClr val="accent1"/>
                        </a:solidFill>
                        <a:latin typeface="Consolas" panose="020B0609020204030204" pitchFamily="49" charset="0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400" b="0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</a:rPr>
                        <a:t>51</a:t>
                      </a:r>
                      <a:endParaRPr sz="1400" b="0" dirty="0">
                        <a:solidFill>
                          <a:schemeClr val="accent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dirty="0"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dirty="0"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dirty="0"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7603546"/>
                  </a:ext>
                </a:extLst>
              </a:tr>
              <a:tr h="33422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dirty="0"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400" b="0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</a:rPr>
                        <a:t>51</a:t>
                      </a:r>
                      <a:endParaRPr sz="1400" b="0" dirty="0">
                        <a:solidFill>
                          <a:schemeClr val="accent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400" b="0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</a:rPr>
                        <a:t>113</a:t>
                      </a:r>
                      <a:endParaRPr sz="1400" b="0" dirty="0">
                        <a:solidFill>
                          <a:schemeClr val="accent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400" b="0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51</a:t>
                      </a:r>
                      <a:endParaRPr sz="1400" b="0" dirty="0">
                        <a:solidFill>
                          <a:schemeClr val="accent1"/>
                        </a:solidFill>
                        <a:latin typeface="Consolas" panose="020B0609020204030204" pitchFamily="49" charset="0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>
                        <a:latin typeface="Consolas" panose="020B0609020204030204" pitchFamily="49" charset="0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dirty="0">
                        <a:latin typeface="Consolas" panose="020B0609020204030204" pitchFamily="49" charset="0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dirty="0">
                        <a:latin typeface="Consolas" panose="020B0609020204030204" pitchFamily="49" charset="0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dirty="0">
                        <a:latin typeface="Consolas" panose="020B0609020204030204" pitchFamily="49" charset="0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611" name="Google Shape;611;p33"/>
          <p:cNvGrpSpPr/>
          <p:nvPr/>
        </p:nvGrpSpPr>
        <p:grpSpPr>
          <a:xfrm>
            <a:off x="8478300" y="6375442"/>
            <a:ext cx="2039700" cy="400200"/>
            <a:chOff x="6579700" y="6365775"/>
            <a:chExt cx="2039700" cy="400200"/>
          </a:xfrm>
        </p:grpSpPr>
        <p:cxnSp>
          <p:nvCxnSpPr>
            <p:cNvPr id="612" name="Google Shape;612;p33"/>
            <p:cNvCxnSpPr/>
            <p:nvPr/>
          </p:nvCxnSpPr>
          <p:spPr>
            <a:xfrm rot="10800000" flipH="1">
              <a:off x="7280200" y="6564975"/>
              <a:ext cx="1339200" cy="18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613" name="Google Shape;613;p33"/>
            <p:cNvSpPr txBox="1"/>
            <p:nvPr/>
          </p:nvSpPr>
          <p:spPr>
            <a:xfrm>
              <a:off x="6579700" y="6365775"/>
              <a:ext cx="700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Time</a:t>
              </a:r>
              <a:endParaRPr dirty="0">
                <a:solidFill>
                  <a:schemeClr val="dk1"/>
                </a:solidFill>
              </a:endParaRPr>
            </a:p>
          </p:txBody>
        </p:sp>
      </p:grpSp>
      <p:graphicFrame>
        <p:nvGraphicFramePr>
          <p:cNvPr id="614" name="Google Shape;614;p33"/>
          <p:cNvGraphicFramePr/>
          <p:nvPr>
            <p:extLst>
              <p:ext uri="{D42A27DB-BD31-4B8C-83A1-F6EECF244321}">
                <p14:modId xmlns:p14="http://schemas.microsoft.com/office/powerpoint/2010/main" val="42985864"/>
              </p:ext>
            </p:extLst>
          </p:nvPr>
        </p:nvGraphicFramePr>
        <p:xfrm>
          <a:off x="5829298" y="4755257"/>
          <a:ext cx="6146951" cy="36573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1466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00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00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00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00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00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003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003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003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003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0003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PC[T2]</a:t>
                      </a:r>
                      <a:endParaRPr sz="12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105</a:t>
                      </a: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108</a:t>
                      </a: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113</a:t>
                      </a: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15" name="Google Shape;615;p33"/>
          <p:cNvGraphicFramePr/>
          <p:nvPr>
            <p:extLst>
              <p:ext uri="{D42A27DB-BD31-4B8C-83A1-F6EECF244321}">
                <p14:modId xmlns:p14="http://schemas.microsoft.com/office/powerpoint/2010/main" val="2813601525"/>
              </p:ext>
            </p:extLst>
          </p:nvPr>
        </p:nvGraphicFramePr>
        <p:xfrm>
          <a:off x="5829299" y="3816788"/>
          <a:ext cx="6146930" cy="36573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146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00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00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00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00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00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00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003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003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003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0003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65725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2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PC[T1]</a:t>
                      </a:r>
                      <a:endParaRPr sz="12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105</a:t>
                      </a: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108</a:t>
                      </a: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113</a:t>
                      </a: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16" name="Google Shape;616;p33"/>
          <p:cNvGraphicFramePr/>
          <p:nvPr>
            <p:extLst>
              <p:ext uri="{D42A27DB-BD31-4B8C-83A1-F6EECF244321}">
                <p14:modId xmlns:p14="http://schemas.microsoft.com/office/powerpoint/2010/main" val="2544680454"/>
              </p:ext>
            </p:extLst>
          </p:nvPr>
        </p:nvGraphicFramePr>
        <p:xfrm>
          <a:off x="5841998" y="5925138"/>
          <a:ext cx="6146951" cy="42669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1369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9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00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00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00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00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003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003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003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003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0003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counter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50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3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Contextualización</a:t>
            </a:r>
            <a:endParaRPr dirty="0"/>
          </a:p>
        </p:txBody>
      </p:sp>
      <p:sp>
        <p:nvSpPr>
          <p:cNvPr id="622" name="Google Shape;622;p34"/>
          <p:cNvSpPr txBox="1">
            <a:spLocks noGrp="1"/>
          </p:cNvSpPr>
          <p:nvPr>
            <p:ph type="body" idx="1"/>
          </p:nvPr>
        </p:nvSpPr>
        <p:spPr>
          <a:xfrm>
            <a:off x="146400" y="859076"/>
            <a:ext cx="10419300" cy="72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5"/>
                </a:solidFill>
                <a:latin typeface="+mn-lt"/>
              </a:rPr>
              <a:t>Race condition (condición de carrera)</a:t>
            </a:r>
            <a:endParaRPr sz="2800" b="1" dirty="0">
              <a:solidFill>
                <a:schemeClr val="accent5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grpSp>
        <p:nvGrpSpPr>
          <p:cNvPr id="623" name="Google Shape;623;p34"/>
          <p:cNvGrpSpPr/>
          <p:nvPr/>
        </p:nvGrpSpPr>
        <p:grpSpPr>
          <a:xfrm>
            <a:off x="6700911" y="1537950"/>
            <a:ext cx="3473638" cy="1475008"/>
            <a:chOff x="6700911" y="1813750"/>
            <a:chExt cx="3473638" cy="1475008"/>
          </a:xfrm>
        </p:grpSpPr>
        <p:grpSp>
          <p:nvGrpSpPr>
            <p:cNvPr id="624" name="Google Shape;624;p34"/>
            <p:cNvGrpSpPr/>
            <p:nvPr/>
          </p:nvGrpSpPr>
          <p:grpSpPr>
            <a:xfrm>
              <a:off x="6700911" y="1813750"/>
              <a:ext cx="3473270" cy="923400"/>
              <a:chOff x="3715281" y="2736425"/>
              <a:chExt cx="4138293" cy="923400"/>
            </a:xfrm>
          </p:grpSpPr>
          <p:sp>
            <p:nvSpPr>
              <p:cNvPr id="625" name="Google Shape;625;p34"/>
              <p:cNvSpPr txBox="1"/>
              <p:nvPr/>
            </p:nvSpPr>
            <p:spPr>
              <a:xfrm>
                <a:off x="4442275" y="2736425"/>
                <a:ext cx="3411300" cy="923400"/>
              </a:xfrm>
              <a:prstGeom prst="rect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dirty="0" err="1">
                    <a:latin typeface="Consolas"/>
                    <a:ea typeface="Consolas"/>
                    <a:cs typeface="Consolas"/>
                    <a:sym typeface="Consolas"/>
                  </a:rPr>
                  <a:t>mov</a:t>
                </a:r>
                <a:r>
                  <a:rPr lang="es-ES" sz="1600" dirty="0">
                    <a:latin typeface="Consolas"/>
                    <a:ea typeface="Consolas"/>
                    <a:cs typeface="Consolas"/>
                    <a:sym typeface="Consolas"/>
                  </a:rPr>
                  <a:t> 0x8049a1c, %eax </a:t>
                </a:r>
                <a:endParaRPr sz="1600" dirty="0"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dirty="0" err="1">
                    <a:latin typeface="Consolas"/>
                    <a:ea typeface="Consolas"/>
                    <a:cs typeface="Consolas"/>
                    <a:sym typeface="Consolas"/>
                  </a:rPr>
                  <a:t>add</a:t>
                </a:r>
                <a:r>
                  <a:rPr lang="es-ES" sz="1600" dirty="0">
                    <a:latin typeface="Consolas"/>
                    <a:ea typeface="Consolas"/>
                    <a:cs typeface="Consolas"/>
                    <a:sym typeface="Consolas"/>
                  </a:rPr>
                  <a:t> $0x1, %eax </a:t>
                </a:r>
                <a:endParaRPr sz="1600" dirty="0"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dirty="0" err="1">
                    <a:latin typeface="Consolas"/>
                    <a:ea typeface="Consolas"/>
                    <a:cs typeface="Consolas"/>
                    <a:sym typeface="Consolas"/>
                  </a:rPr>
                  <a:t>mov</a:t>
                </a:r>
                <a:r>
                  <a:rPr lang="es-ES" sz="1600" dirty="0">
                    <a:latin typeface="Consolas"/>
                    <a:ea typeface="Consolas"/>
                    <a:cs typeface="Consolas"/>
                    <a:sym typeface="Consolas"/>
                  </a:rPr>
                  <a:t> %eax, 0x8049a1c</a:t>
                </a:r>
                <a:endParaRPr sz="1600" dirty="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626" name="Google Shape;626;p34"/>
              <p:cNvSpPr txBox="1"/>
              <p:nvPr/>
            </p:nvSpPr>
            <p:spPr>
              <a:xfrm>
                <a:off x="3715281" y="2736425"/>
                <a:ext cx="641700" cy="92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latin typeface="Consolas"/>
                    <a:ea typeface="Consolas"/>
                    <a:cs typeface="Consolas"/>
                    <a:sym typeface="Consolas"/>
                  </a:rPr>
                  <a:t>100</a:t>
                </a:r>
                <a:endParaRPr sz="1600"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latin typeface="Consolas"/>
                    <a:ea typeface="Consolas"/>
                    <a:cs typeface="Consolas"/>
                    <a:sym typeface="Consolas"/>
                  </a:rPr>
                  <a:t>105</a:t>
                </a:r>
                <a:endParaRPr sz="1600">
                  <a:latin typeface="Consolas"/>
                  <a:ea typeface="Consolas"/>
                  <a:cs typeface="Consolas"/>
                  <a:sym typeface="Consolas"/>
                </a:endParaRPr>
              </a:p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latin typeface="Consolas"/>
                    <a:ea typeface="Consolas"/>
                    <a:cs typeface="Consolas"/>
                    <a:sym typeface="Consolas"/>
                  </a:rPr>
                  <a:t>108</a:t>
                </a:r>
                <a:endParaRPr sz="160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p:grpSp>
        <p:grpSp>
          <p:nvGrpSpPr>
            <p:cNvPr id="627" name="Google Shape;627;p34"/>
            <p:cNvGrpSpPr/>
            <p:nvPr/>
          </p:nvGrpSpPr>
          <p:grpSpPr>
            <a:xfrm>
              <a:off x="6701199" y="2857646"/>
              <a:ext cx="3473349" cy="431112"/>
              <a:chOff x="2998267" y="2736425"/>
              <a:chExt cx="4499157" cy="431113"/>
            </a:xfrm>
          </p:grpSpPr>
          <p:sp>
            <p:nvSpPr>
              <p:cNvPr id="628" name="Google Shape;628;p34"/>
              <p:cNvSpPr txBox="1"/>
              <p:nvPr/>
            </p:nvSpPr>
            <p:spPr>
              <a:xfrm>
                <a:off x="5035324" y="2736438"/>
                <a:ext cx="2462100" cy="431100"/>
              </a:xfrm>
              <a:prstGeom prst="rect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latin typeface="Consolas"/>
                    <a:ea typeface="Consolas"/>
                    <a:cs typeface="Consolas"/>
                    <a:sym typeface="Consolas"/>
                  </a:rPr>
                  <a:t>50</a:t>
                </a:r>
                <a:endParaRPr sz="160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629" name="Google Shape;629;p34"/>
              <p:cNvSpPr txBox="1"/>
              <p:nvPr/>
            </p:nvSpPr>
            <p:spPr>
              <a:xfrm>
                <a:off x="2998267" y="2736425"/>
                <a:ext cx="18807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0x8049a1c</a:t>
                </a:r>
                <a:endParaRPr sz="160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p:grpSp>
      </p:grpSp>
      <p:sp>
        <p:nvSpPr>
          <p:cNvPr id="630" name="Google Shape;630;p34"/>
          <p:cNvSpPr txBox="1"/>
          <p:nvPr/>
        </p:nvSpPr>
        <p:spPr>
          <a:xfrm>
            <a:off x="2398950" y="1793450"/>
            <a:ext cx="2957100" cy="4311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counter = counter + 1;</a:t>
            </a:r>
            <a:endParaRPr sz="1600"/>
          </a:p>
        </p:txBody>
      </p:sp>
      <p:sp>
        <p:nvSpPr>
          <p:cNvPr id="631" name="Google Shape;631;p34"/>
          <p:cNvSpPr/>
          <p:nvPr/>
        </p:nvSpPr>
        <p:spPr>
          <a:xfrm>
            <a:off x="5628713" y="1840700"/>
            <a:ext cx="799500" cy="3366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2" name="Google Shape;632;p34"/>
          <p:cNvGrpSpPr/>
          <p:nvPr/>
        </p:nvGrpSpPr>
        <p:grpSpPr>
          <a:xfrm>
            <a:off x="5520875" y="6375950"/>
            <a:ext cx="2148650" cy="400200"/>
            <a:chOff x="6264175" y="6229625"/>
            <a:chExt cx="2148650" cy="400200"/>
          </a:xfrm>
        </p:grpSpPr>
        <p:cxnSp>
          <p:nvCxnSpPr>
            <p:cNvPr id="633" name="Google Shape;633;p34"/>
            <p:cNvCxnSpPr/>
            <p:nvPr/>
          </p:nvCxnSpPr>
          <p:spPr>
            <a:xfrm rot="10800000" flipH="1">
              <a:off x="7073625" y="6428825"/>
              <a:ext cx="1339200" cy="18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634" name="Google Shape;634;p34"/>
            <p:cNvSpPr txBox="1"/>
            <p:nvPr/>
          </p:nvSpPr>
          <p:spPr>
            <a:xfrm>
              <a:off x="6264175" y="6229625"/>
              <a:ext cx="700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Time</a:t>
              </a:r>
              <a:endParaRPr>
                <a:solidFill>
                  <a:schemeClr val="dk1"/>
                </a:solidFill>
              </a:endParaRPr>
            </a:p>
          </p:txBody>
        </p:sp>
      </p:grpSp>
      <p:graphicFrame>
        <p:nvGraphicFramePr>
          <p:cNvPr id="635" name="Google Shape;635;p34"/>
          <p:cNvGraphicFramePr/>
          <p:nvPr/>
        </p:nvGraphicFramePr>
        <p:xfrm>
          <a:off x="2956800" y="3998700"/>
          <a:ext cx="6867150" cy="24077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280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8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8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8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8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8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86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8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586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586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586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33425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PC[T1]</a:t>
                      </a:r>
                      <a:endParaRPr sz="12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105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108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113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995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Thread T1</a:t>
                      </a:r>
                      <a:endParaRPr sz="1200" b="1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995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Thread T2</a:t>
                      </a:r>
                      <a:endParaRPr sz="1600" b="1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25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PC[T2]</a:t>
                      </a:r>
                      <a:endParaRPr sz="1600" b="1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100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105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108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2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113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25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995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counter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51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51</a:t>
                      </a:r>
                      <a:endParaRPr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636" name="Google Shape;636;p34"/>
          <p:cNvGrpSpPr/>
          <p:nvPr/>
        </p:nvGrpSpPr>
        <p:grpSpPr>
          <a:xfrm>
            <a:off x="6463874" y="3356888"/>
            <a:ext cx="2294129" cy="573688"/>
            <a:chOff x="5693693" y="3945325"/>
            <a:chExt cx="1240807" cy="573688"/>
          </a:xfrm>
        </p:grpSpPr>
        <p:sp>
          <p:nvSpPr>
            <p:cNvPr id="637" name="Google Shape;637;p34"/>
            <p:cNvSpPr/>
            <p:nvPr/>
          </p:nvSpPr>
          <p:spPr>
            <a:xfrm rot="5400000">
              <a:off x="6223043" y="3830963"/>
              <a:ext cx="158700" cy="1217400"/>
            </a:xfrm>
            <a:prstGeom prst="leftBrace">
              <a:avLst>
                <a:gd name="adj1" fmla="val 50000"/>
                <a:gd name="adj2" fmla="val 50000"/>
              </a:avLst>
            </a:prstGeom>
            <a:noFill/>
            <a:ln w="28575" cap="flat" cmpd="sng">
              <a:solidFill>
                <a:srgbClr val="FF99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34"/>
            <p:cNvSpPr txBox="1"/>
            <p:nvPr/>
          </p:nvSpPr>
          <p:spPr>
            <a:xfrm>
              <a:off x="5698201" y="3945325"/>
              <a:ext cx="1236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 dirty="0">
                  <a:solidFill>
                    <a:srgbClr val="FF9900"/>
                  </a:solidFill>
                  <a:latin typeface="Consolas"/>
                  <a:ea typeface="Consolas"/>
                  <a:cs typeface="Consolas"/>
                  <a:sym typeface="Consolas"/>
                </a:rPr>
                <a:t>Race condition</a:t>
              </a:r>
              <a:endParaRPr sz="1600" b="1" dirty="0">
                <a:solidFill>
                  <a:srgbClr val="FF9900"/>
                </a:solidFill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35"/>
          <p:cNvSpPr txBox="1">
            <a:spLocks noGrp="1"/>
          </p:cNvSpPr>
          <p:nvPr>
            <p:ph type="title"/>
          </p:nvPr>
        </p:nvSpPr>
        <p:spPr>
          <a:xfrm>
            <a:off x="250723" y="96038"/>
            <a:ext cx="8969927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Contextualización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644" name="Google Shape;644;p35"/>
          <p:cNvSpPr txBox="1">
            <a:spLocks noGrp="1"/>
          </p:cNvSpPr>
          <p:nvPr>
            <p:ph type="body" idx="1"/>
          </p:nvPr>
        </p:nvSpPr>
        <p:spPr>
          <a:xfrm>
            <a:off x="307899" y="859704"/>
            <a:ext cx="11308750" cy="72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latin typeface="+mn-lt"/>
              </a:rPr>
              <a:t>Exclusión mutua</a:t>
            </a:r>
            <a:endParaRPr sz="2800" b="1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sp>
        <p:nvSpPr>
          <p:cNvPr id="645" name="Google Shape;645;p35"/>
          <p:cNvSpPr txBox="1">
            <a:spLocks noGrp="1"/>
          </p:cNvSpPr>
          <p:nvPr>
            <p:ph type="body" idx="4294967295"/>
          </p:nvPr>
        </p:nvSpPr>
        <p:spPr>
          <a:xfrm>
            <a:off x="368301" y="1523516"/>
            <a:ext cx="4435697" cy="139170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200" dirty="0"/>
              <a:t>Garantía de que si un hilo se encuentra dentro de una sección crítica, ningún otro hilo puede acceder a esta. </a:t>
            </a:r>
            <a:endParaRPr sz="2200" dirty="0"/>
          </a:p>
          <a:p>
            <a:pPr marL="0" lvl="0" indent="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200" dirty="0"/>
          </a:p>
          <a:p>
            <a:pPr marL="0" lvl="0" indent="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</p:txBody>
      </p:sp>
      <p:cxnSp>
        <p:nvCxnSpPr>
          <p:cNvPr id="646" name="Google Shape;646;p35"/>
          <p:cNvCxnSpPr/>
          <p:nvPr/>
        </p:nvCxnSpPr>
        <p:spPr>
          <a:xfrm rot="10800000" flipH="1">
            <a:off x="3669125" y="4519000"/>
            <a:ext cx="6870900" cy="810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47" name="Google Shape;647;p35"/>
          <p:cNvCxnSpPr/>
          <p:nvPr/>
        </p:nvCxnSpPr>
        <p:spPr>
          <a:xfrm rot="10800000" flipH="1">
            <a:off x="3669125" y="5677875"/>
            <a:ext cx="6900300" cy="18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48" name="Google Shape;648;p35"/>
          <p:cNvSpPr txBox="1"/>
          <p:nvPr/>
        </p:nvSpPr>
        <p:spPr>
          <a:xfrm>
            <a:off x="2283700" y="4311550"/>
            <a:ext cx="1314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Thread T1</a:t>
            </a:r>
            <a:endParaRPr sz="1600" b="1">
              <a:solidFill>
                <a:srgbClr val="0000FF"/>
              </a:solidFill>
            </a:endParaRPr>
          </a:p>
        </p:txBody>
      </p:sp>
      <p:sp>
        <p:nvSpPr>
          <p:cNvPr id="649" name="Google Shape;649;p35"/>
          <p:cNvSpPr txBox="1"/>
          <p:nvPr/>
        </p:nvSpPr>
        <p:spPr>
          <a:xfrm>
            <a:off x="2283700" y="5464125"/>
            <a:ext cx="1314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Thread T2</a:t>
            </a:r>
            <a:endParaRPr sz="1600" b="1">
              <a:solidFill>
                <a:srgbClr val="FF0000"/>
              </a:solidFill>
            </a:endParaRPr>
          </a:p>
        </p:txBody>
      </p:sp>
      <p:cxnSp>
        <p:nvCxnSpPr>
          <p:cNvPr id="650" name="Google Shape;650;p35"/>
          <p:cNvCxnSpPr/>
          <p:nvPr/>
        </p:nvCxnSpPr>
        <p:spPr>
          <a:xfrm>
            <a:off x="4804000" y="4338525"/>
            <a:ext cx="0" cy="1556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651" name="Google Shape;651;p35"/>
          <p:cNvSpPr txBox="1"/>
          <p:nvPr/>
        </p:nvSpPr>
        <p:spPr>
          <a:xfrm>
            <a:off x="5042425" y="3776625"/>
            <a:ext cx="11781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T1 entra a la región crítica</a:t>
            </a:r>
            <a:endParaRPr sz="1000">
              <a:solidFill>
                <a:srgbClr val="0000FF"/>
              </a:solidFill>
            </a:endParaRPr>
          </a:p>
        </p:txBody>
      </p:sp>
      <p:sp>
        <p:nvSpPr>
          <p:cNvPr id="652" name="Google Shape;652;p35"/>
          <p:cNvSpPr txBox="1"/>
          <p:nvPr/>
        </p:nvSpPr>
        <p:spPr>
          <a:xfrm>
            <a:off x="8125950" y="3776625"/>
            <a:ext cx="11781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T1 sale de la región crítica</a:t>
            </a:r>
            <a:endParaRPr sz="1000">
              <a:solidFill>
                <a:srgbClr val="0000FF"/>
              </a:solidFill>
            </a:endParaRPr>
          </a:p>
        </p:txBody>
      </p:sp>
      <p:cxnSp>
        <p:nvCxnSpPr>
          <p:cNvPr id="653" name="Google Shape;653;p35"/>
          <p:cNvCxnSpPr/>
          <p:nvPr/>
        </p:nvCxnSpPr>
        <p:spPr>
          <a:xfrm flipH="1">
            <a:off x="4842925" y="4024300"/>
            <a:ext cx="199500" cy="38730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54" name="Google Shape;654;p35"/>
          <p:cNvSpPr/>
          <p:nvPr/>
        </p:nvSpPr>
        <p:spPr>
          <a:xfrm>
            <a:off x="4804000" y="4442950"/>
            <a:ext cx="3097500" cy="1683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5" name="Google Shape;655;p35"/>
          <p:cNvSpPr/>
          <p:nvPr/>
        </p:nvSpPr>
        <p:spPr>
          <a:xfrm>
            <a:off x="7908575" y="5594250"/>
            <a:ext cx="1141200" cy="1683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56" name="Google Shape;656;p35"/>
          <p:cNvCxnSpPr/>
          <p:nvPr/>
        </p:nvCxnSpPr>
        <p:spPr>
          <a:xfrm>
            <a:off x="6709475" y="4338525"/>
            <a:ext cx="0" cy="1556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657" name="Google Shape;657;p35"/>
          <p:cNvCxnSpPr/>
          <p:nvPr/>
        </p:nvCxnSpPr>
        <p:spPr>
          <a:xfrm>
            <a:off x="9049700" y="4338525"/>
            <a:ext cx="0" cy="1556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658" name="Google Shape;658;p35"/>
          <p:cNvCxnSpPr/>
          <p:nvPr/>
        </p:nvCxnSpPr>
        <p:spPr>
          <a:xfrm flipH="1">
            <a:off x="7926450" y="4022425"/>
            <a:ext cx="199500" cy="38730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59" name="Google Shape;659;p35"/>
          <p:cNvSpPr txBox="1"/>
          <p:nvPr/>
        </p:nvSpPr>
        <p:spPr>
          <a:xfrm>
            <a:off x="7003363" y="5943350"/>
            <a:ext cx="9381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T2 intenta entrar a la región crítica</a:t>
            </a:r>
            <a:endParaRPr sz="1000">
              <a:solidFill>
                <a:srgbClr val="FF0000"/>
              </a:solidFill>
            </a:endParaRPr>
          </a:p>
        </p:txBody>
      </p:sp>
      <p:sp>
        <p:nvSpPr>
          <p:cNvPr id="660" name="Google Shape;660;p35"/>
          <p:cNvSpPr txBox="1"/>
          <p:nvPr/>
        </p:nvSpPr>
        <p:spPr>
          <a:xfrm>
            <a:off x="9317775" y="6004650"/>
            <a:ext cx="11781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T2 sale de la región crítica</a:t>
            </a:r>
            <a:endParaRPr sz="1000">
              <a:solidFill>
                <a:srgbClr val="FF0000"/>
              </a:solidFill>
            </a:endParaRPr>
          </a:p>
        </p:txBody>
      </p:sp>
      <p:cxnSp>
        <p:nvCxnSpPr>
          <p:cNvPr id="661" name="Google Shape;661;p35"/>
          <p:cNvCxnSpPr/>
          <p:nvPr/>
        </p:nvCxnSpPr>
        <p:spPr>
          <a:xfrm rot="10800000">
            <a:off x="6764000" y="5817550"/>
            <a:ext cx="199500" cy="3873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2" name="Google Shape;662;p35"/>
          <p:cNvCxnSpPr/>
          <p:nvPr/>
        </p:nvCxnSpPr>
        <p:spPr>
          <a:xfrm rot="10800000">
            <a:off x="9118275" y="5773625"/>
            <a:ext cx="199500" cy="3873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63" name="Google Shape;663;p35"/>
          <p:cNvSpPr/>
          <p:nvPr/>
        </p:nvSpPr>
        <p:spPr>
          <a:xfrm>
            <a:off x="7393102" y="4789388"/>
            <a:ext cx="158633" cy="626190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64" name="Google Shape;664;p35"/>
          <p:cNvSpPr/>
          <p:nvPr/>
        </p:nvSpPr>
        <p:spPr>
          <a:xfrm>
            <a:off x="8711861" y="4747582"/>
            <a:ext cx="158633" cy="626190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65" name="Google Shape;665;p35"/>
          <p:cNvSpPr/>
          <p:nvPr/>
        </p:nvSpPr>
        <p:spPr>
          <a:xfrm>
            <a:off x="6074364" y="4789388"/>
            <a:ext cx="158633" cy="626190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sp>
      <p:cxnSp>
        <p:nvCxnSpPr>
          <p:cNvPr id="666" name="Google Shape;666;p35"/>
          <p:cNvCxnSpPr/>
          <p:nvPr/>
        </p:nvCxnSpPr>
        <p:spPr>
          <a:xfrm>
            <a:off x="7901550" y="4338525"/>
            <a:ext cx="0" cy="15567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667" name="Google Shape;667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68075" y="4874600"/>
            <a:ext cx="589281" cy="455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68" name="Google Shape;66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72637" y="4874588"/>
            <a:ext cx="589281" cy="455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69" name="Google Shape;669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12062" y="4874588"/>
            <a:ext cx="589281" cy="455776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35"/>
          <p:cNvSpPr/>
          <p:nvPr/>
        </p:nvSpPr>
        <p:spPr>
          <a:xfrm rot="5400000">
            <a:off x="7227600" y="3616300"/>
            <a:ext cx="158700" cy="1189500"/>
          </a:xfrm>
          <a:prstGeom prst="leftBrace">
            <a:avLst>
              <a:gd name="adj1" fmla="val 50000"/>
              <a:gd name="adj2" fmla="val 50000"/>
            </a:avLst>
          </a:prstGeom>
          <a:noFill/>
          <a:ln w="28575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1" name="Google Shape;671;p35"/>
          <p:cNvSpPr txBox="1"/>
          <p:nvPr/>
        </p:nvSpPr>
        <p:spPr>
          <a:xfrm>
            <a:off x="6688801" y="3489900"/>
            <a:ext cx="12363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rgbClr val="FF9900"/>
                </a:solidFill>
                <a:latin typeface="Consolas"/>
                <a:ea typeface="Consolas"/>
                <a:cs typeface="Consolas"/>
                <a:sym typeface="Consolas"/>
              </a:rPr>
              <a:t>T2 es bloqueado</a:t>
            </a:r>
            <a:endParaRPr sz="1600" b="1">
              <a:solidFill>
                <a:srgbClr val="FF9900"/>
              </a:solidFill>
            </a:endParaRPr>
          </a:p>
        </p:txBody>
      </p:sp>
      <p:cxnSp>
        <p:nvCxnSpPr>
          <p:cNvPr id="672" name="Google Shape;672;p35"/>
          <p:cNvCxnSpPr/>
          <p:nvPr/>
        </p:nvCxnSpPr>
        <p:spPr>
          <a:xfrm rot="10800000" flipH="1">
            <a:off x="5292675" y="6389975"/>
            <a:ext cx="1339200" cy="1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73" name="Google Shape;673;p35"/>
          <p:cNvSpPr txBox="1"/>
          <p:nvPr/>
        </p:nvSpPr>
        <p:spPr>
          <a:xfrm>
            <a:off x="4592175" y="6190775"/>
            <a:ext cx="700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Time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674" name="Google Shape;674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22529" y="1240462"/>
            <a:ext cx="6672100" cy="20228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75" name="Google Shape;675;p35"/>
          <p:cNvCxnSpPr/>
          <p:nvPr/>
        </p:nvCxnSpPr>
        <p:spPr>
          <a:xfrm rot="10800000">
            <a:off x="7941138" y="5795250"/>
            <a:ext cx="199500" cy="3873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76" name="Google Shape;676;p35"/>
          <p:cNvSpPr txBox="1"/>
          <p:nvPr/>
        </p:nvSpPr>
        <p:spPr>
          <a:xfrm>
            <a:off x="8160400" y="6026425"/>
            <a:ext cx="9381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T2 entra a la región crítica</a:t>
            </a:r>
            <a:endParaRPr sz="10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6"/>
          <p:cNvSpPr txBox="1">
            <a:spLocks noGrp="1"/>
          </p:cNvSpPr>
          <p:nvPr>
            <p:ph type="title"/>
          </p:nvPr>
        </p:nvSpPr>
        <p:spPr>
          <a:xfrm>
            <a:off x="353961" y="96038"/>
            <a:ext cx="8866689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Contextualización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682" name="Google Shape;682;p36"/>
          <p:cNvSpPr txBox="1">
            <a:spLocks noGrp="1"/>
          </p:cNvSpPr>
          <p:nvPr>
            <p:ph type="body" idx="1"/>
          </p:nvPr>
        </p:nvSpPr>
        <p:spPr>
          <a:xfrm>
            <a:off x="514950" y="734650"/>
            <a:ext cx="11162100" cy="72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latin typeface="+mn-lt"/>
              </a:rPr>
              <a:t>Locks</a:t>
            </a:r>
            <a:endParaRPr sz="2800" b="1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sp>
        <p:nvSpPr>
          <p:cNvPr id="683" name="Google Shape;683;p36"/>
          <p:cNvSpPr txBox="1">
            <a:spLocks noGrp="1"/>
          </p:cNvSpPr>
          <p:nvPr>
            <p:ph type="body" idx="4294967295"/>
          </p:nvPr>
        </p:nvSpPr>
        <p:spPr>
          <a:xfrm>
            <a:off x="514950" y="1284288"/>
            <a:ext cx="10114950" cy="72231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300" dirty="0"/>
              <a:t>Un lock es un objeto (en memoria) que proporciona exclusión mutua.</a:t>
            </a:r>
            <a:endParaRPr sz="2700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dirty="0"/>
              <a:t> </a:t>
            </a: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684" name="Google Shape;684;p36"/>
          <p:cNvGrpSpPr/>
          <p:nvPr/>
        </p:nvGrpSpPr>
        <p:grpSpPr>
          <a:xfrm>
            <a:off x="2831350" y="2042888"/>
            <a:ext cx="1580700" cy="1570800"/>
            <a:chOff x="4336300" y="3050525"/>
            <a:chExt cx="1580700" cy="1570800"/>
          </a:xfrm>
        </p:grpSpPr>
        <p:sp>
          <p:nvSpPr>
            <p:cNvPr id="685" name="Google Shape;685;p36"/>
            <p:cNvSpPr/>
            <p:nvPr/>
          </p:nvSpPr>
          <p:spPr>
            <a:xfrm>
              <a:off x="4336300" y="3050525"/>
              <a:ext cx="1580700" cy="1570800"/>
            </a:xfrm>
            <a:prstGeom prst="ellipse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686" name="Google Shape;686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867478" y="3666975"/>
              <a:ext cx="518325" cy="722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7" name="Google Shape;687;p36"/>
            <p:cNvSpPr/>
            <p:nvPr/>
          </p:nvSpPr>
          <p:spPr>
            <a:xfrm>
              <a:off x="4607788" y="3267750"/>
              <a:ext cx="1037700" cy="32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LOCKED</a:t>
              </a:r>
              <a:endParaRPr sz="20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688" name="Google Shape;688;p36"/>
          <p:cNvGrpSpPr/>
          <p:nvPr/>
        </p:nvGrpSpPr>
        <p:grpSpPr>
          <a:xfrm>
            <a:off x="7532025" y="2042900"/>
            <a:ext cx="1580700" cy="1570800"/>
            <a:chOff x="7705250" y="3150825"/>
            <a:chExt cx="1580700" cy="1570800"/>
          </a:xfrm>
        </p:grpSpPr>
        <p:sp>
          <p:nvSpPr>
            <p:cNvPr id="689" name="Google Shape;689;p36"/>
            <p:cNvSpPr/>
            <p:nvPr/>
          </p:nvSpPr>
          <p:spPr>
            <a:xfrm>
              <a:off x="7705250" y="3150825"/>
              <a:ext cx="1580700" cy="1570800"/>
            </a:xfrm>
            <a:prstGeom prst="ellipse">
              <a:avLst/>
            </a:prstGeom>
            <a:noFill/>
            <a:ln w="28575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690" name="Google Shape;690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246181" y="3765050"/>
              <a:ext cx="683019" cy="722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1" name="Google Shape;691;p36"/>
            <p:cNvSpPr/>
            <p:nvPr/>
          </p:nvSpPr>
          <p:spPr>
            <a:xfrm>
              <a:off x="7976750" y="3341000"/>
              <a:ext cx="1037700" cy="32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  <a:sym typeface="Consolas"/>
                </a:rPr>
                <a:t>FREE</a:t>
              </a:r>
              <a:endParaRPr sz="2000" b="1" dirty="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692" name="Google Shape;692;p36"/>
          <p:cNvSpPr txBox="1"/>
          <p:nvPr/>
        </p:nvSpPr>
        <p:spPr>
          <a:xfrm>
            <a:off x="4515088" y="2043350"/>
            <a:ext cx="2761500" cy="1606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800" b="1" dirty="0" err="1">
                <a:solidFill>
                  <a:srgbClr val="FF0000"/>
                </a:solidFill>
                <a:ea typeface="Roboto"/>
                <a:cs typeface="Roboto"/>
                <a:sym typeface="Roboto"/>
              </a:rPr>
              <a:t>acquired</a:t>
            </a:r>
            <a:r>
              <a:rPr lang="es-ES" sz="1800" b="1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 (</a:t>
            </a:r>
            <a:r>
              <a:rPr lang="es-ES" sz="1800" b="1" dirty="0" err="1">
                <a:solidFill>
                  <a:srgbClr val="FF0000"/>
                </a:solidFill>
                <a:ea typeface="Roboto"/>
                <a:cs typeface="Roboto"/>
                <a:sym typeface="Roboto"/>
              </a:rPr>
              <a:t>locked</a:t>
            </a:r>
            <a:r>
              <a:rPr lang="es-ES" sz="1800" b="1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, </a:t>
            </a:r>
            <a:r>
              <a:rPr lang="es-ES" sz="1800" b="1" dirty="0" err="1">
                <a:solidFill>
                  <a:srgbClr val="FF0000"/>
                </a:solidFill>
                <a:ea typeface="Roboto"/>
                <a:cs typeface="Roboto"/>
                <a:sym typeface="Roboto"/>
              </a:rPr>
              <a:t>held</a:t>
            </a:r>
            <a:r>
              <a:rPr lang="es-ES" sz="1800" b="1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)</a:t>
            </a:r>
            <a:r>
              <a:rPr lang="es-ES" sz="1800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: </a:t>
            </a:r>
            <a:endParaRPr sz="1800" dirty="0">
              <a:solidFill>
                <a:srgbClr val="FF0000"/>
              </a:solidFill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Indica que un </a:t>
            </a:r>
            <a:r>
              <a:rPr lang="es-ES" sz="1800" dirty="0" err="1">
                <a:solidFill>
                  <a:schemeClr val="dk1"/>
                </a:solidFill>
                <a:ea typeface="Roboto"/>
                <a:cs typeface="Roboto"/>
                <a:sym typeface="Roboto"/>
              </a:rPr>
              <a:t>un</a:t>
            </a:r>
            <a:r>
              <a:rPr lang="es-ES" sz="18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hilo ha </a:t>
            </a:r>
            <a:r>
              <a:rPr lang="es-ES" sz="1800" b="1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adquirido</a:t>
            </a:r>
            <a:r>
              <a:rPr lang="es-ES" sz="18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el lock y que este, se está ejecutando en la sección crítica</a:t>
            </a:r>
            <a:endParaRPr sz="1800" dirty="0">
              <a:ea typeface="Roboto"/>
              <a:cs typeface="Roboto"/>
              <a:sym typeface="Roboto"/>
            </a:endParaRPr>
          </a:p>
        </p:txBody>
      </p:sp>
      <p:sp>
        <p:nvSpPr>
          <p:cNvPr id="693" name="Google Shape;693;p36"/>
          <p:cNvSpPr txBox="1"/>
          <p:nvPr/>
        </p:nvSpPr>
        <p:spPr>
          <a:xfrm>
            <a:off x="9254325" y="2320400"/>
            <a:ext cx="2761500" cy="9966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s-ES" sz="1800" b="1" dirty="0" err="1">
                <a:solidFill>
                  <a:schemeClr val="accent6"/>
                </a:solidFill>
                <a:ea typeface="Roboto"/>
                <a:cs typeface="Roboto"/>
                <a:sym typeface="Roboto"/>
              </a:rPr>
              <a:t>available</a:t>
            </a:r>
            <a:r>
              <a:rPr lang="es-ES" sz="1800" b="1" dirty="0">
                <a:solidFill>
                  <a:schemeClr val="accent6"/>
                </a:solidFill>
                <a:ea typeface="Roboto"/>
                <a:cs typeface="Roboto"/>
                <a:sym typeface="Roboto"/>
              </a:rPr>
              <a:t> (</a:t>
            </a:r>
            <a:r>
              <a:rPr lang="es-ES" sz="1800" b="1" dirty="0" err="1">
                <a:solidFill>
                  <a:schemeClr val="accent6"/>
                </a:solidFill>
                <a:ea typeface="Roboto"/>
                <a:cs typeface="Roboto"/>
                <a:sym typeface="Roboto"/>
              </a:rPr>
              <a:t>unlocked</a:t>
            </a:r>
            <a:r>
              <a:rPr lang="es-ES" sz="1800" b="1" dirty="0">
                <a:solidFill>
                  <a:schemeClr val="accent6"/>
                </a:solidFill>
                <a:ea typeface="Roboto"/>
                <a:cs typeface="Roboto"/>
                <a:sym typeface="Roboto"/>
              </a:rPr>
              <a:t>, free)</a:t>
            </a:r>
            <a:r>
              <a:rPr lang="es-ES" sz="1800" dirty="0">
                <a:solidFill>
                  <a:schemeClr val="accent6"/>
                </a:solidFill>
                <a:ea typeface="Roboto"/>
                <a:cs typeface="Roboto"/>
                <a:sym typeface="Roboto"/>
              </a:rPr>
              <a:t>: </a:t>
            </a:r>
            <a:r>
              <a:rPr lang="es-ES" sz="18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Indica que ningún hilo ha obtenido el lock.</a:t>
            </a:r>
            <a:endParaRPr sz="18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694" name="Google Shape;694;p36"/>
          <p:cNvSpPr txBox="1"/>
          <p:nvPr/>
        </p:nvSpPr>
        <p:spPr>
          <a:xfrm>
            <a:off x="1026575" y="2591401"/>
            <a:ext cx="1510800" cy="64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rgbClr val="E46C0A"/>
                </a:solidFill>
                <a:latin typeface="Roboto"/>
                <a:ea typeface="Roboto"/>
                <a:cs typeface="Roboto"/>
                <a:sym typeface="Roboto"/>
              </a:rPr>
              <a:t>Estados</a:t>
            </a:r>
            <a:endParaRPr b="1" dirty="0">
              <a:solidFill>
                <a:srgbClr val="E46C0A"/>
              </a:solidFill>
            </a:endParaRPr>
          </a:p>
        </p:txBody>
      </p:sp>
      <p:sp>
        <p:nvSpPr>
          <p:cNvPr id="695" name="Google Shape;695;p36"/>
          <p:cNvSpPr txBox="1"/>
          <p:nvPr/>
        </p:nvSpPr>
        <p:spPr>
          <a:xfrm>
            <a:off x="878300" y="5010337"/>
            <a:ext cx="1935300" cy="64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rgbClr val="E46C0A"/>
                </a:solidFill>
                <a:latin typeface="Roboto"/>
                <a:ea typeface="Roboto"/>
                <a:cs typeface="Roboto"/>
                <a:sym typeface="Roboto"/>
              </a:rPr>
              <a:t>Operaciones</a:t>
            </a:r>
            <a:endParaRPr b="1" dirty="0">
              <a:solidFill>
                <a:srgbClr val="E46C0A"/>
              </a:solidFill>
            </a:endParaRPr>
          </a:p>
        </p:txBody>
      </p:sp>
      <p:sp>
        <p:nvSpPr>
          <p:cNvPr id="696" name="Google Shape;696;p36"/>
          <p:cNvSpPr txBox="1"/>
          <p:nvPr/>
        </p:nvSpPr>
        <p:spPr>
          <a:xfrm>
            <a:off x="3223350" y="5617125"/>
            <a:ext cx="3643500" cy="9966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s-ES" sz="1800" b="1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acquire() [</a:t>
            </a:r>
            <a:r>
              <a:rPr lang="es-ES" sz="1800" b="1" dirty="0" err="1">
                <a:solidFill>
                  <a:srgbClr val="FF0000"/>
                </a:solidFill>
                <a:ea typeface="Roboto"/>
                <a:cs typeface="Roboto"/>
                <a:sym typeface="Roboto"/>
              </a:rPr>
              <a:t>ó</a:t>
            </a:r>
            <a:r>
              <a:rPr lang="es-ES" sz="1800" b="1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 lock()]</a:t>
            </a:r>
            <a:r>
              <a:rPr lang="es-ES" sz="1800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:</a:t>
            </a:r>
            <a:r>
              <a:rPr lang="es-ES" sz="18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 espera hasta que un lock este libre, y cuando lo esta, lo toma.</a:t>
            </a:r>
            <a:endParaRPr sz="18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697" name="Google Shape;697;p36"/>
          <p:cNvSpPr txBox="1"/>
          <p:nvPr/>
        </p:nvSpPr>
        <p:spPr>
          <a:xfrm>
            <a:off x="7276600" y="5617125"/>
            <a:ext cx="4483800" cy="9966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s-ES" sz="1800" b="1" dirty="0">
                <a:solidFill>
                  <a:schemeClr val="accent6"/>
                </a:solidFill>
                <a:ea typeface="Roboto"/>
                <a:cs typeface="Roboto"/>
                <a:sym typeface="Roboto"/>
              </a:rPr>
              <a:t>release() [</a:t>
            </a:r>
            <a:r>
              <a:rPr lang="es-ES" sz="1800" b="1" dirty="0" err="1">
                <a:solidFill>
                  <a:schemeClr val="accent6"/>
                </a:solidFill>
                <a:ea typeface="Roboto"/>
                <a:cs typeface="Roboto"/>
                <a:sym typeface="Roboto"/>
              </a:rPr>
              <a:t>ó</a:t>
            </a:r>
            <a:r>
              <a:rPr lang="es-ES" sz="1800" b="1" dirty="0">
                <a:solidFill>
                  <a:schemeClr val="accent6"/>
                </a:solidFill>
                <a:ea typeface="Roboto"/>
                <a:cs typeface="Roboto"/>
                <a:sym typeface="Roboto"/>
              </a:rPr>
              <a:t> </a:t>
            </a:r>
            <a:r>
              <a:rPr lang="es-ES" sz="1800" b="1" dirty="0" err="1">
                <a:solidFill>
                  <a:schemeClr val="accent6"/>
                </a:solidFill>
                <a:ea typeface="Roboto"/>
                <a:cs typeface="Roboto"/>
                <a:sym typeface="Roboto"/>
              </a:rPr>
              <a:t>unclock</a:t>
            </a:r>
            <a:r>
              <a:rPr lang="es-ES" sz="1800" b="1" dirty="0">
                <a:solidFill>
                  <a:schemeClr val="accent6"/>
                </a:solidFill>
                <a:ea typeface="Roboto"/>
                <a:cs typeface="Roboto"/>
                <a:sym typeface="Roboto"/>
              </a:rPr>
              <a:t>()]</a:t>
            </a:r>
            <a:r>
              <a:rPr lang="es-ES" sz="1800" dirty="0">
                <a:solidFill>
                  <a:schemeClr val="accent6"/>
                </a:solidFill>
                <a:ea typeface="Roboto"/>
                <a:cs typeface="Roboto"/>
                <a:sym typeface="Roboto"/>
              </a:rPr>
              <a:t>:</a:t>
            </a:r>
            <a:r>
              <a:rPr lang="es-ES" sz="18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libera el lock y permitiendo que cualquier hilo que está esperando por este para tomarlo.</a:t>
            </a:r>
            <a:endParaRPr sz="18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pic>
        <p:nvPicPr>
          <p:cNvPr id="698" name="Google Shape;698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79450" y="4044350"/>
            <a:ext cx="1025900" cy="128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9" name="Google Shape;699;p3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61700" y="4044350"/>
            <a:ext cx="1070275" cy="131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0" name="Google Shape;700;p3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91950" y="4044362"/>
            <a:ext cx="1070275" cy="131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1" name="Google Shape;701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256050" y="4044350"/>
            <a:ext cx="1025900" cy="1288625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36"/>
          <p:cNvSpPr/>
          <p:nvPr/>
        </p:nvSpPr>
        <p:spPr>
          <a:xfrm>
            <a:off x="4412050" y="4452975"/>
            <a:ext cx="1252500" cy="302400"/>
          </a:xfrm>
          <a:prstGeom prst="chevron">
            <a:avLst>
              <a:gd name="adj" fmla="val 50000"/>
            </a:avLst>
          </a:prstGeom>
          <a:solidFill>
            <a:srgbClr val="EA99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acquire()</a:t>
            </a:r>
            <a:endParaRPr sz="1200" b="1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03" name="Google Shape;703;p36"/>
          <p:cNvSpPr/>
          <p:nvPr/>
        </p:nvSpPr>
        <p:spPr>
          <a:xfrm>
            <a:off x="8882888" y="4464213"/>
            <a:ext cx="1252500" cy="302400"/>
          </a:xfrm>
          <a:prstGeom prst="chevron">
            <a:avLst>
              <a:gd name="adj" fmla="val 50000"/>
            </a:avLst>
          </a:prstGeom>
          <a:solidFill>
            <a:srgbClr val="B6D7A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release()</a:t>
            </a:r>
            <a:endParaRPr sz="1200" b="1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36"/>
          <p:cNvSpPr txBox="1">
            <a:spLocks noGrp="1"/>
          </p:cNvSpPr>
          <p:nvPr>
            <p:ph type="title"/>
          </p:nvPr>
        </p:nvSpPr>
        <p:spPr>
          <a:xfrm>
            <a:off x="353961" y="96038"/>
            <a:ext cx="8866689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Contextualización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682" name="Google Shape;682;p36"/>
          <p:cNvSpPr txBox="1">
            <a:spLocks noGrp="1"/>
          </p:cNvSpPr>
          <p:nvPr>
            <p:ph type="body" idx="1"/>
          </p:nvPr>
        </p:nvSpPr>
        <p:spPr>
          <a:xfrm>
            <a:off x="353961" y="760913"/>
            <a:ext cx="11162100" cy="72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latin typeface="+mn-lt"/>
              </a:rPr>
              <a:t>Locks</a:t>
            </a:r>
            <a:endParaRPr sz="2800" b="1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graphicFrame>
        <p:nvGraphicFramePr>
          <p:cNvPr id="16" name="Tabla 16">
            <a:extLst>
              <a:ext uri="{FF2B5EF4-FFF2-40B4-BE49-F238E27FC236}">
                <a16:creationId xmlns:a16="http://schemas.microsoft.com/office/drawing/2014/main" id="{81BC54ED-53D6-4967-A5C3-8AEBA5C6BC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8983547"/>
              </p:ext>
            </p:extLst>
          </p:nvPr>
        </p:nvGraphicFramePr>
        <p:xfrm>
          <a:off x="845709" y="2421223"/>
          <a:ext cx="3468238" cy="1859280"/>
        </p:xfrm>
        <a:graphic>
          <a:graphicData uri="http://schemas.openxmlformats.org/drawingml/2006/table">
            <a:tbl>
              <a:tblPr firstRow="1" bandRow="1">
                <a:tableStyleId>{F66A2E93-5121-40D1-B61B-F19DAAD5E98B}</a:tableStyleId>
              </a:tblPr>
              <a:tblGrid>
                <a:gridCol w="3468238">
                  <a:extLst>
                    <a:ext uri="{9D8B030D-6E8A-4147-A177-3AD203B41FA5}">
                      <a16:colId xmlns:a16="http://schemas.microsoft.com/office/drawing/2014/main" val="10891006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2400" b="1" dirty="0">
                          <a:latin typeface="Consolas" panose="020B0609020204030204" pitchFamily="49" charset="0"/>
                        </a:rPr>
                        <a:t>Lock (ADT)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61317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2000" b="1" dirty="0">
                          <a:latin typeface="Consolas" panose="020B0609020204030204" pitchFamily="49" charset="0"/>
                        </a:rPr>
                        <a:t>Estado: {FREE, LOCKED}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3445869"/>
                  </a:ext>
                </a:extLst>
              </a:tr>
              <a:tr h="382459">
                <a:tc>
                  <a:txBody>
                    <a:bodyPr/>
                    <a:lstStyle/>
                    <a:p>
                      <a:r>
                        <a:rPr lang="es-CO" sz="2000" b="1" dirty="0">
                          <a:latin typeface="Consolas" panose="020B0609020204030204" pitchFamily="49" charset="0"/>
                        </a:rPr>
                        <a:t>init()</a:t>
                      </a:r>
                    </a:p>
                    <a:p>
                      <a:r>
                        <a:rPr lang="es-CO" sz="2000" b="1" dirty="0">
                          <a:latin typeface="Consolas" panose="020B0609020204030204" pitchFamily="49" charset="0"/>
                        </a:rPr>
                        <a:t>acquire()</a:t>
                      </a:r>
                    </a:p>
                    <a:p>
                      <a:r>
                        <a:rPr lang="es-CO" sz="2000" b="1" dirty="0">
                          <a:latin typeface="Consolas" panose="020B0609020204030204" pitchFamily="49" charset="0"/>
                        </a:rPr>
                        <a:t>release()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7120763"/>
                  </a:ext>
                </a:extLst>
              </a:tr>
            </a:tbl>
          </a:graphicData>
        </a:graphic>
      </p:graphicFrame>
      <p:grpSp>
        <p:nvGrpSpPr>
          <p:cNvPr id="7" name="Grupo 6">
            <a:extLst>
              <a:ext uri="{FF2B5EF4-FFF2-40B4-BE49-F238E27FC236}">
                <a16:creationId xmlns:a16="http://schemas.microsoft.com/office/drawing/2014/main" id="{8A59F5CD-F2C5-48A8-8CD7-D3ADD3AE393E}"/>
              </a:ext>
            </a:extLst>
          </p:cNvPr>
          <p:cNvGrpSpPr/>
          <p:nvPr/>
        </p:nvGrpSpPr>
        <p:grpSpPr>
          <a:xfrm>
            <a:off x="5065845" y="1769405"/>
            <a:ext cx="6280446" cy="2829392"/>
            <a:chOff x="4913559" y="1483613"/>
            <a:chExt cx="6280446" cy="2829392"/>
          </a:xfrm>
        </p:grpSpPr>
        <p:grpSp>
          <p:nvGrpSpPr>
            <p:cNvPr id="684" name="Google Shape;684;p36"/>
            <p:cNvGrpSpPr/>
            <p:nvPr/>
          </p:nvGrpSpPr>
          <p:grpSpPr>
            <a:xfrm>
              <a:off x="9613305" y="2169713"/>
              <a:ext cx="1580700" cy="1570800"/>
              <a:chOff x="4336300" y="3050525"/>
              <a:chExt cx="1580700" cy="1570800"/>
            </a:xfrm>
          </p:grpSpPr>
          <p:sp>
            <p:nvSpPr>
              <p:cNvPr id="685" name="Google Shape;685;p36"/>
              <p:cNvSpPr/>
              <p:nvPr/>
            </p:nvSpPr>
            <p:spPr>
              <a:xfrm>
                <a:off x="4336300" y="3050525"/>
                <a:ext cx="1580700" cy="1570800"/>
              </a:xfrm>
              <a:prstGeom prst="ellipse">
                <a:avLst/>
              </a:prstGeom>
              <a:noFill/>
              <a:ln w="28575" cap="flat" cmpd="sng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686" name="Google Shape;686;p36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4867478" y="3666975"/>
                <a:ext cx="518325" cy="7227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87" name="Google Shape;687;p36"/>
              <p:cNvSpPr/>
              <p:nvPr/>
            </p:nvSpPr>
            <p:spPr>
              <a:xfrm>
                <a:off x="4607788" y="3267750"/>
                <a:ext cx="1037700" cy="32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 dirty="0">
                    <a:solidFill>
                      <a:srgbClr val="FF000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LOCKED</a:t>
                </a:r>
                <a:endParaRPr sz="2000" b="1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p:grpSp>
        <p:grpSp>
          <p:nvGrpSpPr>
            <p:cNvPr id="688" name="Google Shape;688;p36"/>
            <p:cNvGrpSpPr/>
            <p:nvPr/>
          </p:nvGrpSpPr>
          <p:grpSpPr>
            <a:xfrm>
              <a:off x="5779580" y="2148488"/>
              <a:ext cx="1580700" cy="1570800"/>
              <a:chOff x="7705250" y="3150825"/>
              <a:chExt cx="1580700" cy="1570800"/>
            </a:xfrm>
          </p:grpSpPr>
          <p:sp>
            <p:nvSpPr>
              <p:cNvPr id="689" name="Google Shape;689;p36"/>
              <p:cNvSpPr/>
              <p:nvPr/>
            </p:nvSpPr>
            <p:spPr>
              <a:xfrm>
                <a:off x="7705250" y="3150825"/>
                <a:ext cx="1580700" cy="1570800"/>
              </a:xfrm>
              <a:prstGeom prst="ellipse">
                <a:avLst/>
              </a:prstGeom>
              <a:noFill/>
              <a:ln w="2857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690" name="Google Shape;690;p36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8246181" y="3765050"/>
                <a:ext cx="683019" cy="7227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91" name="Google Shape;691;p36"/>
              <p:cNvSpPr/>
              <p:nvPr/>
            </p:nvSpPr>
            <p:spPr>
              <a:xfrm>
                <a:off x="7976750" y="3341000"/>
                <a:ext cx="1037700" cy="32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 dirty="0">
                    <a:solidFill>
                      <a:schemeClr val="accent6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FREE</a:t>
                </a:r>
                <a:endParaRPr sz="2000" b="1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p:grpSp>
        <p:cxnSp>
          <p:nvCxnSpPr>
            <p:cNvPr id="6" name="Conector: curvado 5">
              <a:extLst>
                <a:ext uri="{FF2B5EF4-FFF2-40B4-BE49-F238E27FC236}">
                  <a16:creationId xmlns:a16="http://schemas.microsoft.com/office/drawing/2014/main" id="{0471A8BC-C52F-4999-95FB-4003555AC8D8}"/>
                </a:ext>
              </a:extLst>
            </p:cNvPr>
            <p:cNvCxnSpPr>
              <a:stCxn id="689" idx="7"/>
              <a:endCxn id="685" idx="1"/>
            </p:cNvCxnSpPr>
            <p:nvPr/>
          </p:nvCxnSpPr>
          <p:spPr>
            <a:xfrm rot="16200000" flipH="1">
              <a:off x="8476179" y="1031138"/>
              <a:ext cx="21225" cy="2716001"/>
            </a:xfrm>
            <a:prstGeom prst="curvedConnector3">
              <a:avLst>
                <a:gd name="adj1" fmla="val -1917640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ector: curvado 29">
              <a:extLst>
                <a:ext uri="{FF2B5EF4-FFF2-40B4-BE49-F238E27FC236}">
                  <a16:creationId xmlns:a16="http://schemas.microsoft.com/office/drawing/2014/main" id="{B071DB38-726A-4905-A3A6-4972650992EB}"/>
                </a:ext>
              </a:extLst>
            </p:cNvPr>
            <p:cNvCxnSpPr>
              <a:cxnSpLocks/>
              <a:stCxn id="685" idx="3"/>
              <a:endCxn id="689" idx="5"/>
            </p:cNvCxnSpPr>
            <p:nvPr/>
          </p:nvCxnSpPr>
          <p:spPr>
            <a:xfrm rot="5400000" flipH="1">
              <a:off x="8476180" y="2141863"/>
              <a:ext cx="21225" cy="2716001"/>
            </a:xfrm>
            <a:prstGeom prst="curvedConnector3">
              <a:avLst>
                <a:gd name="adj1" fmla="val -1749720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: curvado 9">
              <a:extLst>
                <a:ext uri="{FF2B5EF4-FFF2-40B4-BE49-F238E27FC236}">
                  <a16:creationId xmlns:a16="http://schemas.microsoft.com/office/drawing/2014/main" id="{D9C3C9FE-4C1F-4F74-8364-A34531332D60}"/>
                </a:ext>
              </a:extLst>
            </p:cNvPr>
            <p:cNvCxnSpPr>
              <a:cxnSpLocks/>
              <a:endCxn id="689" idx="0"/>
            </p:cNvCxnSpPr>
            <p:nvPr/>
          </p:nvCxnSpPr>
          <p:spPr>
            <a:xfrm>
              <a:off x="6051080" y="1673788"/>
              <a:ext cx="518850" cy="474700"/>
            </a:xfrm>
            <a:prstGeom prst="curvedConnector2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Google Shape;691;p36">
              <a:extLst>
                <a:ext uri="{FF2B5EF4-FFF2-40B4-BE49-F238E27FC236}">
                  <a16:creationId xmlns:a16="http://schemas.microsoft.com/office/drawing/2014/main" id="{22F23036-B368-4BC1-A291-A5477C4336DD}"/>
                </a:ext>
              </a:extLst>
            </p:cNvPr>
            <p:cNvSpPr/>
            <p:nvPr/>
          </p:nvSpPr>
          <p:spPr>
            <a:xfrm>
              <a:off x="7695580" y="1537111"/>
              <a:ext cx="1541585" cy="40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 dirty="0">
                  <a:latin typeface="Consolas"/>
                  <a:ea typeface="Consolas"/>
                  <a:cs typeface="Consolas"/>
                  <a:sym typeface="Consolas"/>
                </a:rPr>
                <a:t>acquire()</a:t>
              </a:r>
              <a:endParaRPr sz="20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41" name="Google Shape;691;p36">
              <a:extLst>
                <a:ext uri="{FF2B5EF4-FFF2-40B4-BE49-F238E27FC236}">
                  <a16:creationId xmlns:a16="http://schemas.microsoft.com/office/drawing/2014/main" id="{C5E627BE-B029-4A50-A292-8F3C8B0CF205}"/>
                </a:ext>
              </a:extLst>
            </p:cNvPr>
            <p:cNvSpPr/>
            <p:nvPr/>
          </p:nvSpPr>
          <p:spPr>
            <a:xfrm>
              <a:off x="7773230" y="3946094"/>
              <a:ext cx="1463935" cy="3669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 dirty="0">
                  <a:latin typeface="Consolas"/>
                  <a:ea typeface="Consolas"/>
                  <a:cs typeface="Consolas"/>
                  <a:sym typeface="Consolas"/>
                </a:rPr>
                <a:t>release()</a:t>
              </a:r>
              <a:endParaRPr sz="20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8" name="Google Shape;691;p36">
              <a:extLst>
                <a:ext uri="{FF2B5EF4-FFF2-40B4-BE49-F238E27FC236}">
                  <a16:creationId xmlns:a16="http://schemas.microsoft.com/office/drawing/2014/main" id="{A538BC30-5871-466A-A5B0-C3396F36E543}"/>
                </a:ext>
              </a:extLst>
            </p:cNvPr>
            <p:cNvSpPr/>
            <p:nvPr/>
          </p:nvSpPr>
          <p:spPr>
            <a:xfrm>
              <a:off x="4913559" y="1483613"/>
              <a:ext cx="1182441" cy="32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 dirty="0">
                  <a:latin typeface="Consolas"/>
                  <a:ea typeface="Consolas"/>
                  <a:cs typeface="Consolas"/>
                  <a:sym typeface="Consolas"/>
                </a:rPr>
                <a:t>init()</a:t>
              </a:r>
              <a:endParaRPr sz="20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8" name="CuadroTexto 7">
            <a:extLst>
              <a:ext uri="{FF2B5EF4-FFF2-40B4-BE49-F238E27FC236}">
                <a16:creationId xmlns:a16="http://schemas.microsoft.com/office/drawing/2014/main" id="{005623BB-8AD5-41AB-8364-72D4B8DCE027}"/>
              </a:ext>
            </a:extLst>
          </p:cNvPr>
          <p:cNvSpPr txBox="1"/>
          <p:nvPr/>
        </p:nvSpPr>
        <p:spPr>
          <a:xfrm>
            <a:off x="845709" y="4415341"/>
            <a:ext cx="34682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000" b="1" dirty="0">
                <a:latin typeface="Consolas" panose="020B0609020204030204" pitchFamily="49" charset="0"/>
              </a:rPr>
              <a:t>ADT</a:t>
            </a:r>
            <a:r>
              <a:rPr lang="es-CO" sz="2000" dirty="0"/>
              <a:t>: Abstract Data Type</a:t>
            </a:r>
          </a:p>
        </p:txBody>
      </p:sp>
    </p:spTree>
    <p:extLst>
      <p:ext uri="{BB962C8B-B14F-4D97-AF65-F5344CB8AC3E}">
        <p14:creationId xmlns:p14="http://schemas.microsoft.com/office/powerpoint/2010/main" val="568061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37"/>
          <p:cNvSpPr txBox="1">
            <a:spLocks noGrp="1"/>
          </p:cNvSpPr>
          <p:nvPr>
            <p:ph type="title"/>
          </p:nvPr>
        </p:nvSpPr>
        <p:spPr>
          <a:xfrm>
            <a:off x="383458" y="96038"/>
            <a:ext cx="8837192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Contextualización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709" name="Google Shape;709;p37"/>
          <p:cNvSpPr txBox="1">
            <a:spLocks noGrp="1"/>
          </p:cNvSpPr>
          <p:nvPr>
            <p:ph type="body" idx="1"/>
          </p:nvPr>
        </p:nvSpPr>
        <p:spPr>
          <a:xfrm>
            <a:off x="383458" y="947800"/>
            <a:ext cx="11293592" cy="72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latin typeface="+mn-lt"/>
              </a:rPr>
              <a:t>Usando Looks</a:t>
            </a:r>
            <a:endParaRPr sz="2800" b="1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sp>
        <p:nvSpPr>
          <p:cNvPr id="710" name="Google Shape;710;p37"/>
          <p:cNvSpPr txBox="1">
            <a:spLocks noGrp="1"/>
          </p:cNvSpPr>
          <p:nvPr>
            <p:ph type="body" idx="4294967295"/>
          </p:nvPr>
        </p:nvSpPr>
        <p:spPr>
          <a:xfrm>
            <a:off x="514950" y="1597025"/>
            <a:ext cx="6714526" cy="21327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rgbClr val="E46C0A"/>
                </a:solidFill>
              </a:rPr>
              <a:t>Procedimiento:</a:t>
            </a:r>
            <a:endParaRPr sz="2400" b="1" dirty="0">
              <a:solidFill>
                <a:srgbClr val="E46C0A"/>
              </a:solidFill>
            </a:endParaRPr>
          </a:p>
          <a:p>
            <a:pPr marL="457200" lvl="0" indent="-355600" algn="l" rtl="0">
              <a:spcBef>
                <a:spcPts val="1000"/>
              </a:spcBef>
              <a:spcAft>
                <a:spcPts val="0"/>
              </a:spcAft>
              <a:buSzPts val="2000"/>
              <a:buAutoNum type="arabicPeriod"/>
            </a:pPr>
            <a:r>
              <a:rPr lang="es-ES" sz="2000" dirty="0"/>
              <a:t>Inicialmente el </a:t>
            </a:r>
            <a:r>
              <a:rPr lang="es-ES" sz="2000" b="1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lock</a:t>
            </a:r>
            <a:r>
              <a:rPr lang="es-ES" sz="2000" dirty="0"/>
              <a:t> está libre.</a:t>
            </a:r>
            <a:endParaRPr sz="2000" dirty="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s-ES" sz="2000" dirty="0"/>
              <a:t>Se llama </a:t>
            </a:r>
            <a:r>
              <a:rPr lang="es-ES" sz="20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acquire()</a:t>
            </a:r>
            <a:r>
              <a:rPr lang="es-ES" sz="2000" dirty="0"/>
              <a:t> antes de entrar a la región crítica.</a:t>
            </a:r>
            <a:endParaRPr sz="2000" dirty="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s-ES" sz="2000" dirty="0"/>
              <a:t>Se ejecuta el código de la </a:t>
            </a:r>
            <a:r>
              <a:rPr lang="es-ES" sz="2000" b="1" dirty="0"/>
              <a:t>región crítica</a:t>
            </a:r>
            <a:r>
              <a:rPr lang="es-ES" sz="2000" dirty="0"/>
              <a:t>.</a:t>
            </a:r>
            <a:endParaRPr sz="2000" dirty="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s-ES" sz="2000" dirty="0"/>
              <a:t>Se llama </a:t>
            </a:r>
            <a:r>
              <a:rPr lang="es-ES" sz="2000" b="1" dirty="0">
                <a:solidFill>
                  <a:schemeClr val="accent6"/>
                </a:solidFill>
                <a:latin typeface="Consolas"/>
                <a:ea typeface="Consolas"/>
                <a:cs typeface="Consolas"/>
                <a:sym typeface="Consolas"/>
              </a:rPr>
              <a:t>release()</a:t>
            </a:r>
            <a:r>
              <a:rPr lang="es-ES" sz="2000" dirty="0"/>
              <a:t> para liberar el </a:t>
            </a:r>
            <a:r>
              <a:rPr lang="es-ES" sz="2000" b="1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look</a:t>
            </a:r>
            <a:r>
              <a:rPr lang="es-ES" sz="2000" dirty="0"/>
              <a:t> previamente adquirido.</a:t>
            </a: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dirty="0"/>
              <a:t> </a:t>
            </a: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11" name="Google Shape;711;p37"/>
          <p:cNvSpPr txBox="1"/>
          <p:nvPr/>
        </p:nvSpPr>
        <p:spPr>
          <a:xfrm>
            <a:off x="8072550" y="1872484"/>
            <a:ext cx="3604500" cy="1299556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100" dirty="0">
                <a:solidFill>
                  <a:schemeClr val="dk1"/>
                </a:solidFill>
                <a:highlight>
                  <a:srgbClr val="F4CCCC"/>
                </a:highlight>
                <a:latin typeface="Consolas"/>
                <a:ea typeface="Consolas"/>
                <a:cs typeface="Consolas"/>
                <a:sym typeface="Consolas"/>
              </a:rPr>
              <a:t>adquire(</a:t>
            </a:r>
            <a:r>
              <a:rPr lang="es-ES" sz="2100" dirty="0">
                <a:solidFill>
                  <a:srgbClr val="FF0000"/>
                </a:solidFill>
                <a:highlight>
                  <a:srgbClr val="F4CCCC"/>
                </a:highlight>
                <a:latin typeface="Consolas"/>
                <a:ea typeface="Consolas"/>
                <a:cs typeface="Consolas"/>
                <a:sym typeface="Consolas"/>
              </a:rPr>
              <a:t>lock</a:t>
            </a:r>
            <a:r>
              <a:rPr lang="es-ES" sz="2100" dirty="0">
                <a:solidFill>
                  <a:schemeClr val="dk1"/>
                </a:solidFill>
                <a:highlight>
                  <a:srgbClr val="F4CCCC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100" dirty="0">
              <a:solidFill>
                <a:schemeClr val="dk1"/>
              </a:solidFill>
              <a:highlight>
                <a:srgbClr val="F4CCCC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100" b="1" dirty="0">
                <a:solidFill>
                  <a:srgbClr val="FF0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Región crítica</a:t>
            </a:r>
            <a:endParaRPr sz="2100" b="1" dirty="0">
              <a:solidFill>
                <a:srgbClr val="FF0000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100" dirty="0">
                <a:solidFill>
                  <a:schemeClr val="dk1"/>
                </a:solidFill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rPr>
              <a:t>release(</a:t>
            </a:r>
            <a:r>
              <a:rPr lang="es-ES" sz="2100" dirty="0">
                <a:solidFill>
                  <a:srgbClr val="FF0000"/>
                </a:solidFill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rPr>
              <a:t>lock</a:t>
            </a:r>
            <a:r>
              <a:rPr lang="es-ES" sz="2100" dirty="0">
                <a:solidFill>
                  <a:schemeClr val="dk1"/>
                </a:solidFill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100" dirty="0">
              <a:solidFill>
                <a:schemeClr val="dk1"/>
              </a:solidFill>
              <a:highlight>
                <a:srgbClr val="D9EAD3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712" name="Google Shape;712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89785" y="4422887"/>
            <a:ext cx="5528574" cy="16761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13" name="Google Shape;713;p37"/>
          <p:cNvGrpSpPr/>
          <p:nvPr/>
        </p:nvGrpSpPr>
        <p:grpSpPr>
          <a:xfrm>
            <a:off x="609984" y="4354712"/>
            <a:ext cx="4699200" cy="1937200"/>
            <a:chOff x="1231875" y="4742650"/>
            <a:chExt cx="4699200" cy="1937200"/>
          </a:xfrm>
        </p:grpSpPr>
        <p:pic>
          <p:nvPicPr>
            <p:cNvPr id="714" name="Google Shape;71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028288" y="4806473"/>
              <a:ext cx="384675" cy="5363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15" name="Google Shape;715;p3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067388" y="4742650"/>
              <a:ext cx="513925" cy="5437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716" name="Google Shape;716;p37"/>
            <p:cNvCxnSpPr/>
            <p:nvPr/>
          </p:nvCxnSpPr>
          <p:spPr>
            <a:xfrm>
              <a:off x="2649375" y="5701175"/>
              <a:ext cx="32817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17" name="Google Shape;717;p37"/>
            <p:cNvSpPr txBox="1"/>
            <p:nvPr/>
          </p:nvSpPr>
          <p:spPr>
            <a:xfrm>
              <a:off x="1231875" y="5470325"/>
              <a:ext cx="13143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Thread </a:t>
              </a:r>
              <a:endParaRPr sz="1800" b="1">
                <a:solidFill>
                  <a:schemeClr val="dk1"/>
                </a:solidFill>
              </a:endParaRPr>
            </a:p>
          </p:txBody>
        </p:sp>
        <p:sp>
          <p:nvSpPr>
            <p:cNvPr id="718" name="Google Shape;718;p37"/>
            <p:cNvSpPr/>
            <p:nvPr/>
          </p:nvSpPr>
          <p:spPr>
            <a:xfrm>
              <a:off x="3216988" y="5617025"/>
              <a:ext cx="2103600" cy="1683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719" name="Google Shape;719;p37"/>
            <p:cNvCxnSpPr/>
            <p:nvPr/>
          </p:nvCxnSpPr>
          <p:spPr>
            <a:xfrm flipH="1">
              <a:off x="3216875" y="5406650"/>
              <a:ext cx="7500" cy="596100"/>
            </a:xfrm>
            <a:prstGeom prst="straightConnector1">
              <a:avLst/>
            </a:prstGeom>
            <a:noFill/>
            <a:ln w="28575" cap="flat" cmpd="sng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720" name="Google Shape;720;p37"/>
            <p:cNvCxnSpPr/>
            <p:nvPr/>
          </p:nvCxnSpPr>
          <p:spPr>
            <a:xfrm flipH="1">
              <a:off x="5320600" y="5406650"/>
              <a:ext cx="7500" cy="596100"/>
            </a:xfrm>
            <a:prstGeom prst="straightConnector1">
              <a:avLst/>
            </a:prstGeom>
            <a:noFill/>
            <a:ln w="28575" cap="flat" cmpd="sng">
              <a:solidFill>
                <a:srgbClr val="0B6937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721" name="Google Shape;721;p37"/>
            <p:cNvSpPr txBox="1"/>
            <p:nvPr/>
          </p:nvSpPr>
          <p:spPr>
            <a:xfrm>
              <a:off x="2729825" y="6002750"/>
              <a:ext cx="9816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lock </a:t>
              </a:r>
              <a:r>
                <a:rPr lang="es-ES" sz="1600" b="1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(L)</a:t>
              </a:r>
              <a:endParaRPr sz="1600" b="1" dirty="0">
                <a:solidFill>
                  <a:srgbClr val="FF0000"/>
                </a:solidFill>
              </a:endParaRPr>
            </a:p>
          </p:txBody>
        </p:sp>
        <p:sp>
          <p:nvSpPr>
            <p:cNvPr id="722" name="Google Shape;722;p37"/>
            <p:cNvSpPr txBox="1"/>
            <p:nvPr/>
          </p:nvSpPr>
          <p:spPr>
            <a:xfrm>
              <a:off x="4833550" y="6002750"/>
              <a:ext cx="9816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unlock </a:t>
              </a:r>
              <a:r>
                <a:rPr lang="es-ES" sz="1600" b="1" dirty="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(U)</a:t>
              </a:r>
              <a:endParaRPr sz="1600" b="1" dirty="0">
                <a:solidFill>
                  <a:srgbClr val="0B6937"/>
                </a:solidFill>
              </a:endParaRPr>
            </a:p>
          </p:txBody>
        </p:sp>
        <p:sp>
          <p:nvSpPr>
            <p:cNvPr id="723" name="Google Shape;723;p37"/>
            <p:cNvSpPr txBox="1"/>
            <p:nvPr/>
          </p:nvSpPr>
          <p:spPr>
            <a:xfrm>
              <a:off x="3875963" y="5006825"/>
              <a:ext cx="9816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critical section</a:t>
              </a:r>
              <a:endParaRPr sz="1200" b="1" dirty="0">
                <a:solidFill>
                  <a:srgbClr val="0B6937"/>
                </a:solidFill>
              </a:endParaRPr>
            </a:p>
          </p:txBody>
        </p:sp>
      </p:grpSp>
      <p:sp>
        <p:nvSpPr>
          <p:cNvPr id="18" name="Google Shape;587;p32">
            <a:extLst>
              <a:ext uri="{FF2B5EF4-FFF2-40B4-BE49-F238E27FC236}">
                <a16:creationId xmlns:a16="http://schemas.microsoft.com/office/drawing/2014/main" id="{E67C024E-5B4D-416E-9C8F-E42DCB02DBD7}"/>
              </a:ext>
            </a:extLst>
          </p:cNvPr>
          <p:cNvSpPr/>
          <p:nvPr/>
        </p:nvSpPr>
        <p:spPr>
          <a:xfrm>
            <a:off x="729924" y="4988622"/>
            <a:ext cx="158633" cy="626190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2857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3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Contextualización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729" name="Google Shape;729;p38"/>
          <p:cNvSpPr txBox="1"/>
          <p:nvPr/>
        </p:nvSpPr>
        <p:spPr>
          <a:xfrm>
            <a:off x="1005175" y="1246774"/>
            <a:ext cx="3604500" cy="12006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acquire</a:t>
            </a:r>
            <a:r>
              <a:rPr lang="es-ES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2000" b="1" dirty="0">
                <a:solidFill>
                  <a:srgbClr val="3A81BA"/>
                </a:solidFill>
                <a:latin typeface="Consolas"/>
                <a:ea typeface="Consolas"/>
                <a:cs typeface="Consolas"/>
                <a:sym typeface="Consolas"/>
              </a:rPr>
              <a:t>look</a:t>
            </a:r>
            <a:r>
              <a:rPr lang="es-ES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0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critical section</a:t>
            </a:r>
            <a:r>
              <a:rPr lang="es-ES" sz="20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2000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release</a:t>
            </a:r>
            <a:r>
              <a:rPr lang="es-ES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2000" b="1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lock</a:t>
            </a:r>
            <a:r>
              <a:rPr lang="es-ES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0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30" name="Google Shape;730;p38"/>
          <p:cNvSpPr txBox="1"/>
          <p:nvPr/>
        </p:nvSpPr>
        <p:spPr>
          <a:xfrm>
            <a:off x="7566884" y="1236719"/>
            <a:ext cx="4023900" cy="12006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</a:t>
            </a:r>
            <a:r>
              <a:rPr lang="es-ES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2000" b="1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&amp;mutex</a:t>
            </a:r>
            <a:r>
              <a:rPr lang="es-ES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0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balance = balance + 1;</a:t>
            </a:r>
            <a:endParaRPr sz="2000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unlock</a:t>
            </a:r>
            <a:r>
              <a:rPr lang="es-ES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2000" b="1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&amp;mutex</a:t>
            </a:r>
            <a:r>
              <a:rPr lang="es-ES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0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731" name="Google Shape;731;p38"/>
          <p:cNvGrpSpPr/>
          <p:nvPr/>
        </p:nvGrpSpPr>
        <p:grpSpPr>
          <a:xfrm>
            <a:off x="2243975" y="2863288"/>
            <a:ext cx="8296325" cy="3643300"/>
            <a:chOff x="2664700" y="2905363"/>
            <a:chExt cx="8296325" cy="3643300"/>
          </a:xfrm>
        </p:grpSpPr>
        <p:cxnSp>
          <p:nvCxnSpPr>
            <p:cNvPr id="732" name="Google Shape;732;p38"/>
            <p:cNvCxnSpPr/>
            <p:nvPr/>
          </p:nvCxnSpPr>
          <p:spPr>
            <a:xfrm rot="10800000" flipH="1">
              <a:off x="4050125" y="4138000"/>
              <a:ext cx="6870900" cy="8100"/>
            </a:xfrm>
            <a:prstGeom prst="straightConnector1">
              <a:avLst/>
            </a:pr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3" name="Google Shape;733;p38"/>
            <p:cNvCxnSpPr/>
            <p:nvPr/>
          </p:nvCxnSpPr>
          <p:spPr>
            <a:xfrm rot="10800000" flipH="1">
              <a:off x="4050125" y="5296875"/>
              <a:ext cx="6900300" cy="180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34" name="Google Shape;734;p38"/>
            <p:cNvSpPr txBox="1"/>
            <p:nvPr/>
          </p:nvSpPr>
          <p:spPr>
            <a:xfrm>
              <a:off x="2664700" y="3930550"/>
              <a:ext cx="1314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Thread T1</a:t>
              </a:r>
              <a:endParaRPr sz="1600" b="1">
                <a:solidFill>
                  <a:srgbClr val="0000FF"/>
                </a:solidFill>
              </a:endParaRPr>
            </a:p>
          </p:txBody>
        </p:sp>
        <p:sp>
          <p:nvSpPr>
            <p:cNvPr id="735" name="Google Shape;735;p38"/>
            <p:cNvSpPr txBox="1"/>
            <p:nvPr/>
          </p:nvSpPr>
          <p:spPr>
            <a:xfrm>
              <a:off x="2664700" y="5083125"/>
              <a:ext cx="1314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Thread T2</a:t>
              </a:r>
              <a:endParaRPr sz="1600" b="1">
                <a:solidFill>
                  <a:srgbClr val="FF0000"/>
                </a:solidFill>
              </a:endParaRPr>
            </a:p>
          </p:txBody>
        </p:sp>
        <p:cxnSp>
          <p:nvCxnSpPr>
            <p:cNvPr id="736" name="Google Shape;736;p38"/>
            <p:cNvCxnSpPr/>
            <p:nvPr/>
          </p:nvCxnSpPr>
          <p:spPr>
            <a:xfrm>
              <a:off x="5185000" y="3957525"/>
              <a:ext cx="0" cy="15567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737" name="Google Shape;737;p38"/>
            <p:cNvSpPr txBox="1"/>
            <p:nvPr/>
          </p:nvSpPr>
          <p:spPr>
            <a:xfrm>
              <a:off x="5428475" y="3588775"/>
              <a:ext cx="11781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T1 entra a RC</a:t>
              </a:r>
              <a:endParaRPr sz="1000">
                <a:solidFill>
                  <a:srgbClr val="0000FF"/>
                </a:solidFill>
              </a:endParaRPr>
            </a:p>
          </p:txBody>
        </p:sp>
        <p:sp>
          <p:nvSpPr>
            <p:cNvPr id="738" name="Google Shape;738;p38"/>
            <p:cNvSpPr txBox="1"/>
            <p:nvPr/>
          </p:nvSpPr>
          <p:spPr>
            <a:xfrm>
              <a:off x="8526375" y="3569875"/>
              <a:ext cx="11781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T1 sale de la región crítica</a:t>
              </a:r>
              <a:endParaRPr sz="1000">
                <a:solidFill>
                  <a:srgbClr val="0000FF"/>
                </a:solidFill>
              </a:endParaRPr>
            </a:p>
          </p:txBody>
        </p:sp>
        <p:cxnSp>
          <p:nvCxnSpPr>
            <p:cNvPr id="739" name="Google Shape;739;p38"/>
            <p:cNvCxnSpPr>
              <a:stCxn id="737" idx="1"/>
            </p:cNvCxnSpPr>
            <p:nvPr/>
          </p:nvCxnSpPr>
          <p:spPr>
            <a:xfrm flipH="1">
              <a:off x="5223875" y="3758125"/>
              <a:ext cx="204600" cy="195600"/>
            </a:xfrm>
            <a:prstGeom prst="straightConnector1">
              <a:avLst/>
            </a:pr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740" name="Google Shape;740;p38"/>
            <p:cNvSpPr/>
            <p:nvPr/>
          </p:nvSpPr>
          <p:spPr>
            <a:xfrm>
              <a:off x="5185000" y="4061950"/>
              <a:ext cx="3097500" cy="1683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Google Shape;741;p38"/>
            <p:cNvSpPr/>
            <p:nvPr/>
          </p:nvSpPr>
          <p:spPr>
            <a:xfrm>
              <a:off x="8289575" y="5213250"/>
              <a:ext cx="1141200" cy="1683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742" name="Google Shape;742;p38"/>
            <p:cNvCxnSpPr/>
            <p:nvPr/>
          </p:nvCxnSpPr>
          <p:spPr>
            <a:xfrm>
              <a:off x="7090475" y="3957525"/>
              <a:ext cx="0" cy="15567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743" name="Google Shape;743;p38"/>
            <p:cNvCxnSpPr/>
            <p:nvPr/>
          </p:nvCxnSpPr>
          <p:spPr>
            <a:xfrm>
              <a:off x="9430700" y="3957525"/>
              <a:ext cx="0" cy="15567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744" name="Google Shape;744;p38"/>
            <p:cNvCxnSpPr>
              <a:stCxn id="738" idx="1"/>
            </p:cNvCxnSpPr>
            <p:nvPr/>
          </p:nvCxnSpPr>
          <p:spPr>
            <a:xfrm flipH="1">
              <a:off x="8307375" y="3816175"/>
              <a:ext cx="219000" cy="212700"/>
            </a:xfrm>
            <a:prstGeom prst="straightConnector1">
              <a:avLst/>
            </a:pr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745" name="Google Shape;745;p38"/>
            <p:cNvSpPr txBox="1"/>
            <p:nvPr/>
          </p:nvSpPr>
          <p:spPr>
            <a:xfrm>
              <a:off x="7375638" y="5384863"/>
              <a:ext cx="938100" cy="646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T2 intenta entrar a RC</a:t>
              </a:r>
              <a:endParaRPr sz="1000">
                <a:solidFill>
                  <a:srgbClr val="FF0000"/>
                </a:solidFill>
              </a:endParaRPr>
            </a:p>
          </p:txBody>
        </p:sp>
        <p:sp>
          <p:nvSpPr>
            <p:cNvPr id="746" name="Google Shape;746;p38"/>
            <p:cNvSpPr txBox="1"/>
            <p:nvPr/>
          </p:nvSpPr>
          <p:spPr>
            <a:xfrm>
              <a:off x="9782925" y="5398525"/>
              <a:ext cx="11781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T2 sale de RC</a:t>
              </a:r>
              <a:endParaRPr sz="1000">
                <a:solidFill>
                  <a:srgbClr val="FF0000"/>
                </a:solidFill>
              </a:endParaRPr>
            </a:p>
          </p:txBody>
        </p:sp>
        <p:cxnSp>
          <p:nvCxnSpPr>
            <p:cNvPr id="747" name="Google Shape;747;p38"/>
            <p:cNvCxnSpPr>
              <a:stCxn id="745" idx="1"/>
            </p:cNvCxnSpPr>
            <p:nvPr/>
          </p:nvCxnSpPr>
          <p:spPr>
            <a:xfrm rot="10800000">
              <a:off x="7144938" y="5436613"/>
              <a:ext cx="230700" cy="27150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48" name="Google Shape;748;p38"/>
            <p:cNvCxnSpPr/>
            <p:nvPr/>
          </p:nvCxnSpPr>
          <p:spPr>
            <a:xfrm rot="10800000">
              <a:off x="9499275" y="5392475"/>
              <a:ext cx="232500" cy="19650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749" name="Google Shape;749;p38"/>
            <p:cNvSpPr/>
            <p:nvPr/>
          </p:nvSpPr>
          <p:spPr>
            <a:xfrm>
              <a:off x="7774102" y="4408388"/>
              <a:ext cx="158633" cy="626190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50" name="Google Shape;750;p38"/>
            <p:cNvSpPr/>
            <p:nvPr/>
          </p:nvSpPr>
          <p:spPr>
            <a:xfrm>
              <a:off x="9144561" y="4408394"/>
              <a:ext cx="158633" cy="626190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51" name="Google Shape;751;p38"/>
            <p:cNvSpPr/>
            <p:nvPr/>
          </p:nvSpPr>
          <p:spPr>
            <a:xfrm>
              <a:off x="6455364" y="4408388"/>
              <a:ext cx="158633" cy="626190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cxnSp>
          <p:nvCxnSpPr>
            <p:cNvPr id="752" name="Google Shape;752;p38"/>
            <p:cNvCxnSpPr/>
            <p:nvPr/>
          </p:nvCxnSpPr>
          <p:spPr>
            <a:xfrm>
              <a:off x="8282550" y="3957525"/>
              <a:ext cx="0" cy="1556700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753" name="Google Shape;753;p38"/>
            <p:cNvCxnSpPr/>
            <p:nvPr/>
          </p:nvCxnSpPr>
          <p:spPr>
            <a:xfrm rot="10800000" flipH="1">
              <a:off x="4579750" y="6116250"/>
              <a:ext cx="1339200" cy="18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754" name="Google Shape;754;p38"/>
            <p:cNvSpPr txBox="1"/>
            <p:nvPr/>
          </p:nvSpPr>
          <p:spPr>
            <a:xfrm>
              <a:off x="3795100" y="5809775"/>
              <a:ext cx="700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Time</a:t>
              </a:r>
              <a:endParaRPr>
                <a:solidFill>
                  <a:schemeClr val="dk1"/>
                </a:solidFill>
              </a:endParaRPr>
            </a:p>
          </p:txBody>
        </p:sp>
        <p:cxnSp>
          <p:nvCxnSpPr>
            <p:cNvPr id="755" name="Google Shape;755;p38"/>
            <p:cNvCxnSpPr/>
            <p:nvPr/>
          </p:nvCxnSpPr>
          <p:spPr>
            <a:xfrm rot="10800000">
              <a:off x="8343250" y="5435825"/>
              <a:ext cx="238500" cy="23730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756" name="Google Shape;756;p38"/>
            <p:cNvSpPr txBox="1"/>
            <p:nvPr/>
          </p:nvSpPr>
          <p:spPr>
            <a:xfrm>
              <a:off x="8526375" y="5560225"/>
              <a:ext cx="7731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T2 entra a RC</a:t>
              </a:r>
              <a:endParaRPr sz="1000">
                <a:solidFill>
                  <a:srgbClr val="FF0000"/>
                </a:solidFill>
              </a:endParaRPr>
            </a:p>
          </p:txBody>
        </p:sp>
        <p:pic>
          <p:nvPicPr>
            <p:cNvPr id="757" name="Google Shape;757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746313" y="4453311"/>
              <a:ext cx="384675" cy="5363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58" name="Google Shape;75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272888" y="4449600"/>
              <a:ext cx="513925" cy="543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59" name="Google Shape;759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239950" y="4453323"/>
              <a:ext cx="384675" cy="5363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60" name="Google Shape;760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030400" y="3372700"/>
              <a:ext cx="309200" cy="431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61" name="Google Shape;76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090211" y="3403109"/>
              <a:ext cx="384675" cy="40701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62" name="Google Shape;762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127962" y="5600360"/>
              <a:ext cx="309183" cy="431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63" name="Google Shape;763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2375" y="4453311"/>
              <a:ext cx="384675" cy="53635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64" name="Google Shape;764;p38"/>
            <p:cNvSpPr txBox="1"/>
            <p:nvPr/>
          </p:nvSpPr>
          <p:spPr>
            <a:xfrm>
              <a:off x="4715950" y="2905363"/>
              <a:ext cx="938100" cy="431100"/>
            </a:xfrm>
            <a:prstGeom prst="rect">
              <a:avLst/>
            </a:prstGeom>
            <a:solidFill>
              <a:srgbClr val="F4CCCC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L(T1)</a:t>
              </a:r>
              <a:endParaRPr sz="2000" b="1">
                <a:solidFill>
                  <a:schemeClr val="dk1"/>
                </a:solidFill>
              </a:endParaRPr>
            </a:p>
          </p:txBody>
        </p:sp>
        <p:sp>
          <p:nvSpPr>
            <p:cNvPr id="765" name="Google Shape;765;p38"/>
            <p:cNvSpPr txBox="1"/>
            <p:nvPr/>
          </p:nvSpPr>
          <p:spPr>
            <a:xfrm>
              <a:off x="7813488" y="2930950"/>
              <a:ext cx="938100" cy="431100"/>
            </a:xfrm>
            <a:prstGeom prst="rect">
              <a:avLst/>
            </a:prstGeom>
            <a:solidFill>
              <a:srgbClr val="D9EAD3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U(T1)</a:t>
              </a:r>
              <a:endParaRPr sz="2000" b="1">
                <a:solidFill>
                  <a:schemeClr val="dk1"/>
                </a:solidFill>
              </a:endParaRPr>
            </a:p>
          </p:txBody>
        </p:sp>
        <p:sp>
          <p:nvSpPr>
            <p:cNvPr id="766" name="Google Shape;766;p38"/>
            <p:cNvSpPr txBox="1"/>
            <p:nvPr/>
          </p:nvSpPr>
          <p:spPr>
            <a:xfrm>
              <a:off x="7813488" y="6117563"/>
              <a:ext cx="938100" cy="431100"/>
            </a:xfrm>
            <a:prstGeom prst="rect">
              <a:avLst/>
            </a:prstGeom>
            <a:solidFill>
              <a:srgbClr val="F4CCCC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L(T2)</a:t>
              </a:r>
              <a:endParaRPr sz="2000" b="1">
                <a:solidFill>
                  <a:schemeClr val="dk1"/>
                </a:solidFill>
              </a:endParaRPr>
            </a:p>
          </p:txBody>
        </p:sp>
        <p:pic>
          <p:nvPicPr>
            <p:cNvPr id="767" name="Google Shape;76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9238361" y="5612384"/>
              <a:ext cx="384675" cy="40701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68" name="Google Shape;768;p38"/>
            <p:cNvSpPr txBox="1"/>
            <p:nvPr/>
          </p:nvSpPr>
          <p:spPr>
            <a:xfrm>
              <a:off x="8961638" y="6117563"/>
              <a:ext cx="938100" cy="431100"/>
            </a:xfrm>
            <a:prstGeom prst="rect">
              <a:avLst/>
            </a:prstGeom>
            <a:solidFill>
              <a:srgbClr val="D9EAD3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U(T2)</a:t>
              </a:r>
              <a:endParaRPr sz="2000" b="1">
                <a:solidFill>
                  <a:schemeClr val="dk1"/>
                </a:solidFill>
              </a:endParaRPr>
            </a:p>
          </p:txBody>
        </p:sp>
        <p:pic>
          <p:nvPicPr>
            <p:cNvPr id="769" name="Google Shape;769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9951088" y="4449612"/>
              <a:ext cx="513925" cy="5437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39"/>
          <p:cNvSpPr txBox="1">
            <a:spLocks noGrp="1"/>
          </p:cNvSpPr>
          <p:nvPr>
            <p:ph type="title"/>
          </p:nvPr>
        </p:nvSpPr>
        <p:spPr>
          <a:xfrm>
            <a:off x="191729" y="96038"/>
            <a:ext cx="9028921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Contextualización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775" name="Google Shape;775;p39"/>
          <p:cNvSpPr txBox="1">
            <a:spLocks noGrp="1"/>
          </p:cNvSpPr>
          <p:nvPr>
            <p:ph type="body" idx="1"/>
          </p:nvPr>
        </p:nvSpPr>
        <p:spPr>
          <a:xfrm>
            <a:off x="191729" y="832825"/>
            <a:ext cx="11485309" cy="72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5"/>
                </a:solidFill>
                <a:latin typeface="+mn-lt"/>
              </a:rPr>
              <a:t>Usando locks - Estrategias</a:t>
            </a:r>
            <a:endParaRPr sz="2800" b="1" dirty="0">
              <a:solidFill>
                <a:schemeClr val="accent5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sp>
        <p:nvSpPr>
          <p:cNvPr id="776" name="Google Shape;776;p39"/>
          <p:cNvSpPr txBox="1">
            <a:spLocks noGrp="1"/>
          </p:cNvSpPr>
          <p:nvPr>
            <p:ph type="body" idx="4294967295"/>
          </p:nvPr>
        </p:nvSpPr>
        <p:spPr>
          <a:xfrm>
            <a:off x="191729" y="1356333"/>
            <a:ext cx="5596333" cy="100319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rgbClr val="E46C0A"/>
                </a:solidFill>
              </a:rPr>
              <a:t>Estrategia 1 - Coarse-grained locking strategy</a:t>
            </a:r>
            <a:r>
              <a:rPr lang="es-ES" sz="2200" dirty="0">
                <a:solidFill>
                  <a:srgbClr val="E46C0A"/>
                </a:solidFill>
              </a:rPr>
              <a:t>:</a:t>
            </a:r>
            <a:r>
              <a:rPr lang="es-ES" sz="2200" dirty="0"/>
              <a:t> Un lock global se emplea cada vez que se accede a una región crítica </a:t>
            </a:r>
            <a:r>
              <a:rPr lang="es-ES" sz="2200" b="1" dirty="0"/>
              <a:t>(Forma antigua)</a:t>
            </a:r>
            <a:r>
              <a:rPr lang="es-ES" sz="2200" dirty="0"/>
              <a:t>.</a:t>
            </a: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77" name="Google Shape;777;p39"/>
          <p:cNvSpPr txBox="1">
            <a:spLocks noGrp="1"/>
          </p:cNvSpPr>
          <p:nvPr>
            <p:ph type="body" idx="4294967295"/>
          </p:nvPr>
        </p:nvSpPr>
        <p:spPr>
          <a:xfrm>
            <a:off x="5934382" y="1372905"/>
            <a:ext cx="6059945" cy="1078031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rgbClr val="E46C0A"/>
                </a:solidFill>
              </a:rPr>
              <a:t>Estrategia 2 - </a:t>
            </a:r>
            <a:r>
              <a:rPr lang="es-ES" sz="2200" b="1" dirty="0" err="1">
                <a:solidFill>
                  <a:srgbClr val="E46C0A"/>
                </a:solidFill>
              </a:rPr>
              <a:t>Fined-grained</a:t>
            </a:r>
            <a:r>
              <a:rPr lang="es-ES" sz="2200" b="1" dirty="0">
                <a:solidFill>
                  <a:srgbClr val="E46C0A"/>
                </a:solidFill>
              </a:rPr>
              <a:t> locking strategy</a:t>
            </a:r>
            <a:r>
              <a:rPr lang="es-ES" sz="2200" dirty="0">
                <a:solidFill>
                  <a:srgbClr val="E46C0A"/>
                </a:solidFill>
              </a:rPr>
              <a:t>:</a:t>
            </a:r>
            <a:r>
              <a:rPr lang="es-ES" sz="2200" dirty="0"/>
              <a:t> Se protegen diferentes secciones críticas empleando diferentes locks.</a:t>
            </a:r>
            <a:endParaRPr sz="2200" dirty="0"/>
          </a:p>
          <a:p>
            <a:pPr marL="0" lvl="0" indent="0" algn="l" rtl="0">
              <a:spcBef>
                <a:spcPts val="500"/>
              </a:spcBef>
              <a:spcAft>
                <a:spcPts val="0"/>
              </a:spcAft>
              <a:buNone/>
            </a:pPr>
            <a:endParaRPr sz="2400" b="1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dirty="0"/>
              <a:t> </a:t>
            </a: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78" name="Google Shape;778;p39"/>
          <p:cNvSpPr txBox="1"/>
          <p:nvPr/>
        </p:nvSpPr>
        <p:spPr>
          <a:xfrm>
            <a:off x="257417" y="2593402"/>
            <a:ext cx="5530645" cy="1671196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1" dirty="0" err="1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lock_t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400" b="1" dirty="0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mutex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s-ES" sz="1400" b="1" dirty="0">
                <a:solidFill>
                  <a:schemeClr val="bg1">
                    <a:lumMod val="50000"/>
                  </a:schemeClr>
                </a:solidFill>
                <a:latin typeface="Consolas"/>
                <a:ea typeface="Consolas"/>
                <a:cs typeface="Consolas"/>
                <a:sym typeface="Consolas"/>
              </a:rPr>
              <a:t>// some globally-allocated lock </a:t>
            </a:r>
            <a:endParaRPr sz="1400" b="1" dirty="0">
              <a:solidFill>
                <a:schemeClr val="bg1">
                  <a:lumMod val="50000"/>
                </a:schemeClr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</a:t>
            </a:r>
            <a:r>
              <a:rPr lang="es-ES" sz="1400" b="1" dirty="0">
                <a:solidFill>
                  <a:schemeClr val="bg1">
                    <a:lumMod val="50000"/>
                  </a:schemeClr>
                </a:solidFill>
                <a:latin typeface="Consolas"/>
                <a:ea typeface="Consolas"/>
                <a:cs typeface="Consolas"/>
                <a:sym typeface="Consolas"/>
              </a:rPr>
              <a:t>// </a:t>
            </a:r>
            <a:r>
              <a:rPr lang="en-US" sz="1400" b="1" dirty="0">
                <a:solidFill>
                  <a:schemeClr val="bg1">
                    <a:lumMod val="50000"/>
                  </a:schemeClr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lang="es-ES" sz="1400" b="1" dirty="0">
                <a:solidFill>
                  <a:schemeClr val="bg1">
                    <a:lumMod val="50000"/>
                  </a:schemeClr>
                </a:solidFill>
                <a:latin typeface="Consolas"/>
                <a:ea typeface="Consolas"/>
                <a:cs typeface="Consolas"/>
                <a:sym typeface="Consolas"/>
              </a:rPr>
              <a:t>mutex</a:t>
            </a:r>
            <a:r>
              <a:rPr lang="en-US" sz="1400" b="1" dirty="0">
                <a:solidFill>
                  <a:schemeClr val="bg1">
                    <a:lumMod val="50000"/>
                  </a:schemeClr>
                </a:solidFill>
                <a:latin typeface="Consolas"/>
                <a:ea typeface="Consolas"/>
                <a:cs typeface="Consolas"/>
                <a:sym typeface="Consolas"/>
              </a:rPr>
              <a:t>'</a:t>
            </a:r>
            <a:r>
              <a:rPr lang="es-ES" sz="1400" b="1" dirty="0">
                <a:solidFill>
                  <a:schemeClr val="bg1">
                    <a:lumMod val="50000"/>
                  </a:schemeClr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400" b="1" dirty="0">
              <a:solidFill>
                <a:schemeClr val="bg1">
                  <a:lumMod val="50000"/>
                </a:schemeClr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1400" b="1" dirty="0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&amp;mutex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balance = balance + 1;</a:t>
            </a:r>
            <a:endParaRPr sz="1400" b="1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unlock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1400" b="1" dirty="0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&amp;mutex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79" name="Google Shape;779;p39"/>
          <p:cNvSpPr txBox="1"/>
          <p:nvPr/>
        </p:nvSpPr>
        <p:spPr>
          <a:xfrm>
            <a:off x="6096000" y="2593402"/>
            <a:ext cx="5530645" cy="4148798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 err="1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lock_t</a:t>
            </a:r>
            <a:r>
              <a:rPr lang="en-US" sz="14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 b="1" dirty="0" err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lock_balance</a:t>
            </a:r>
            <a:r>
              <a:rPr lang="en-US" sz="14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 </a:t>
            </a:r>
            <a:r>
              <a:rPr lang="en-US" sz="1400" b="1" dirty="0">
                <a:solidFill>
                  <a:schemeClr val="bg1">
                    <a:lumMod val="50000"/>
                  </a:schemeClr>
                </a:solidFill>
                <a:latin typeface="Consolas"/>
                <a:ea typeface="Consolas"/>
                <a:cs typeface="Consolas"/>
                <a:sym typeface="Consolas"/>
              </a:rPr>
              <a:t>// protege 'balance'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 err="1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lock_t</a:t>
            </a:r>
            <a:r>
              <a:rPr lang="en-US" sz="14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1400" b="1" dirty="0" err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lock_other</a:t>
            </a:r>
            <a:r>
              <a:rPr lang="en-US" sz="14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   </a:t>
            </a:r>
            <a:r>
              <a:rPr lang="en-US" sz="1400" b="1" dirty="0">
                <a:solidFill>
                  <a:schemeClr val="bg1">
                    <a:lumMod val="50000"/>
                  </a:schemeClr>
                </a:solidFill>
                <a:latin typeface="Consolas"/>
                <a:ea typeface="Consolas"/>
                <a:cs typeface="Consolas"/>
                <a:sym typeface="Consolas"/>
              </a:rPr>
              <a:t>// protege 'other' (otra sección 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      </a:t>
            </a:r>
            <a:r>
              <a:rPr lang="en-US" sz="1400" b="1" dirty="0">
                <a:solidFill>
                  <a:schemeClr val="bg1">
                    <a:lumMod val="50000"/>
                  </a:schemeClr>
                </a:solidFill>
                <a:latin typeface="Consolas"/>
                <a:ea typeface="Consolas"/>
                <a:cs typeface="Consolas"/>
                <a:sym typeface="Consolas"/>
              </a:rPr>
              <a:t>// crítica, independiente)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00" b="1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00" b="1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bg1">
                    <a:lumMod val="50000"/>
                  </a:schemeClr>
                </a:solidFill>
                <a:latin typeface="Consolas"/>
                <a:ea typeface="Consolas"/>
                <a:cs typeface="Consolas"/>
                <a:sym typeface="Consolas"/>
              </a:rPr>
              <a:t>// Hilo que actualiza 'balance'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lock(</a:t>
            </a:r>
            <a:r>
              <a:rPr lang="en-US" sz="14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&amp;</a:t>
            </a:r>
            <a:r>
              <a:rPr lang="en-US" sz="1400" b="1" dirty="0" err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lock_balance</a:t>
            </a:r>
            <a:r>
              <a:rPr lang="en-US" sz="14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balance = balance + 1;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unlock(</a:t>
            </a:r>
            <a:r>
              <a:rPr lang="en-US" sz="14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&amp;</a:t>
            </a:r>
            <a:r>
              <a:rPr lang="en-US" sz="1400" b="1" dirty="0" err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lock_balance</a:t>
            </a:r>
            <a:r>
              <a:rPr lang="en-US" sz="14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00" b="1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bg1">
                    <a:lumMod val="50000"/>
                  </a:schemeClr>
                </a:solidFill>
                <a:latin typeface="Consolas"/>
                <a:ea typeface="Consolas"/>
                <a:cs typeface="Consolas"/>
                <a:sym typeface="Consolas"/>
              </a:rPr>
              <a:t>// Hilo que actualiza 'other' — puede ejecutarse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bg1">
                    <a:lumMod val="50000"/>
                  </a:schemeClr>
                </a:solidFill>
                <a:latin typeface="Consolas"/>
                <a:ea typeface="Consolas"/>
                <a:cs typeface="Consolas"/>
                <a:sym typeface="Consolas"/>
              </a:rPr>
              <a:t>// en paralelo, NO espera a lock_balance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lock(</a:t>
            </a:r>
            <a:r>
              <a:rPr lang="en-US" sz="14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&amp;</a:t>
            </a:r>
            <a:r>
              <a:rPr lang="en-US" sz="1400" b="1" dirty="0" err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lock_other</a:t>
            </a:r>
            <a:r>
              <a:rPr lang="en-US" sz="14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other = other + 1;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unlock(</a:t>
            </a:r>
            <a:r>
              <a:rPr lang="en-US" sz="1400" b="1" dirty="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&amp;</a:t>
            </a:r>
            <a:r>
              <a:rPr lang="en-US" sz="1400" b="1" dirty="0" err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lock_other</a:t>
            </a:r>
            <a:r>
              <a:rPr lang="en-US" sz="14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40"/>
          <p:cNvSpPr txBox="1">
            <a:spLocks noGrp="1"/>
          </p:cNvSpPr>
          <p:nvPr>
            <p:ph type="title"/>
          </p:nvPr>
        </p:nvSpPr>
        <p:spPr>
          <a:xfrm>
            <a:off x="457200" y="96038"/>
            <a:ext cx="876345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Contextualización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785" name="Google Shape;785;p40"/>
          <p:cNvSpPr txBox="1">
            <a:spLocks noGrp="1"/>
          </p:cNvSpPr>
          <p:nvPr>
            <p:ph type="body" idx="1"/>
          </p:nvPr>
        </p:nvSpPr>
        <p:spPr>
          <a:xfrm>
            <a:off x="457200" y="835600"/>
            <a:ext cx="5098075" cy="72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1"/>
                </a:solidFill>
                <a:latin typeface="+mn-lt"/>
              </a:rPr>
              <a:t>Implementación de locks</a:t>
            </a:r>
            <a:endParaRPr sz="2800" b="1" dirty="0">
              <a:solidFill>
                <a:schemeClr val="accent1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sp>
        <p:nvSpPr>
          <p:cNvPr id="786" name="Google Shape;786;p40"/>
          <p:cNvSpPr txBox="1">
            <a:spLocks noGrp="1"/>
          </p:cNvSpPr>
          <p:nvPr>
            <p:ph type="body" idx="4294967295"/>
          </p:nvPr>
        </p:nvSpPr>
        <p:spPr>
          <a:xfrm>
            <a:off x="648929" y="1487488"/>
            <a:ext cx="10766323" cy="1800225"/>
          </a:xfrm>
          <a:prstGeom prst="rect">
            <a:avLst/>
          </a:prstGeom>
          <a:solidFill>
            <a:srgbClr val="F3F3F3"/>
          </a:solidFill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b="1" dirty="0">
                <a:solidFill>
                  <a:srgbClr val="E46C0A"/>
                </a:solidFill>
              </a:rPr>
              <a:t>¿Cómo construir un lock?</a:t>
            </a:r>
            <a:endParaRPr sz="2400" b="1" dirty="0">
              <a:solidFill>
                <a:srgbClr val="E46C0A"/>
              </a:solidFill>
            </a:endParaRPr>
          </a:p>
          <a:p>
            <a:pPr marL="457200" lvl="0" indent="-368300" algn="l" rtl="0">
              <a:spcBef>
                <a:spcPts val="500"/>
              </a:spcBef>
              <a:spcAft>
                <a:spcPts val="0"/>
              </a:spcAft>
              <a:buSzPts val="2200"/>
              <a:buChar char="●"/>
            </a:pPr>
            <a:r>
              <a:rPr lang="es-ES" sz="2200" dirty="0"/>
              <a:t>¿Cómo construir un lock que sea eficiente?</a:t>
            </a:r>
            <a:endParaRPr sz="2200" dirty="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ES" sz="2200" dirty="0"/>
              <a:t>¿Qué hardware es necesario (Primitivas del ISA, su uso, </a:t>
            </a:r>
            <a:r>
              <a:rPr lang="es-ES" sz="2200" dirty="0" err="1"/>
              <a:t>etc</a:t>
            </a:r>
            <a:r>
              <a:rPr lang="es-ES" sz="2200" dirty="0"/>
              <a:t>)?</a:t>
            </a:r>
            <a:endParaRPr sz="2200" dirty="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ES" sz="2200" dirty="0"/>
              <a:t>¿Cuál es el soporte del SO (Qué necesitamos usar de este)?</a:t>
            </a: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</p:txBody>
      </p:sp>
      <p:sp>
        <p:nvSpPr>
          <p:cNvPr id="787" name="Google Shape;787;p40"/>
          <p:cNvSpPr txBox="1">
            <a:spLocks noGrp="1"/>
          </p:cNvSpPr>
          <p:nvPr>
            <p:ph type="body" idx="4294967295"/>
          </p:nvPr>
        </p:nvSpPr>
        <p:spPr>
          <a:xfrm>
            <a:off x="648929" y="3386138"/>
            <a:ext cx="10766323" cy="63182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400" b="1" dirty="0">
                <a:solidFill>
                  <a:srgbClr val="E06666"/>
                </a:solidFill>
              </a:rPr>
              <a:t>Objetivo</a:t>
            </a:r>
            <a:r>
              <a:rPr lang="es-ES" sz="2400" dirty="0">
                <a:solidFill>
                  <a:srgbClr val="E06666"/>
                </a:solidFill>
              </a:rPr>
              <a:t>:</a:t>
            </a:r>
            <a:r>
              <a:rPr lang="es-ES" sz="2400" dirty="0">
                <a:solidFill>
                  <a:schemeClr val="accent1"/>
                </a:solidFill>
              </a:rPr>
              <a:t> </a:t>
            </a:r>
            <a:r>
              <a:rPr lang="es-ES" sz="2400" dirty="0"/>
              <a:t>Obtener exclusión mutua con el menor costo posible.</a:t>
            </a: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88" name="Google Shape;788;p40"/>
          <p:cNvSpPr txBox="1"/>
          <p:nvPr/>
        </p:nvSpPr>
        <p:spPr>
          <a:xfrm>
            <a:off x="4753125" y="4494675"/>
            <a:ext cx="2117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monitors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89" name="Google Shape;789;p40"/>
          <p:cNvSpPr txBox="1"/>
          <p:nvPr/>
        </p:nvSpPr>
        <p:spPr>
          <a:xfrm>
            <a:off x="6240925" y="4081500"/>
            <a:ext cx="1934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semaphores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90" name="Google Shape;790;p40"/>
          <p:cNvSpPr txBox="1"/>
          <p:nvPr/>
        </p:nvSpPr>
        <p:spPr>
          <a:xfrm>
            <a:off x="3450075" y="4772538"/>
            <a:ext cx="1934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locks</a:t>
            </a:r>
            <a:endParaRPr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91" name="Google Shape;791;p40"/>
          <p:cNvSpPr txBox="1"/>
          <p:nvPr/>
        </p:nvSpPr>
        <p:spPr>
          <a:xfrm>
            <a:off x="7124500" y="466512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Condition variables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92" name="Google Shape;792;p40"/>
          <p:cNvSpPr txBox="1"/>
          <p:nvPr/>
        </p:nvSpPr>
        <p:spPr>
          <a:xfrm>
            <a:off x="4069975" y="5744875"/>
            <a:ext cx="1485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loads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93" name="Google Shape;793;p40"/>
          <p:cNvSpPr txBox="1"/>
          <p:nvPr/>
        </p:nvSpPr>
        <p:spPr>
          <a:xfrm>
            <a:off x="5699750" y="5432750"/>
            <a:ext cx="1346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stores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94" name="Google Shape;794;p40"/>
          <p:cNvSpPr txBox="1"/>
          <p:nvPr/>
        </p:nvSpPr>
        <p:spPr>
          <a:xfrm>
            <a:off x="7496850" y="5773650"/>
            <a:ext cx="1667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test&amp;set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95" name="Google Shape;795;p40"/>
          <p:cNvSpPr txBox="1"/>
          <p:nvPr/>
        </p:nvSpPr>
        <p:spPr>
          <a:xfrm>
            <a:off x="5482325" y="624722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Disable interrupts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796" name="Google Shape;796;p40"/>
          <p:cNvCxnSpPr/>
          <p:nvPr/>
        </p:nvCxnSpPr>
        <p:spPr>
          <a:xfrm>
            <a:off x="1555450" y="5336525"/>
            <a:ext cx="9059700" cy="282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97" name="Google Shape;797;p40"/>
          <p:cNvSpPr txBox="1"/>
          <p:nvPr/>
        </p:nvSpPr>
        <p:spPr>
          <a:xfrm>
            <a:off x="2286775" y="4494675"/>
            <a:ext cx="10497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 b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SW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98" name="Google Shape;798;p40"/>
          <p:cNvSpPr txBox="1"/>
          <p:nvPr/>
        </p:nvSpPr>
        <p:spPr>
          <a:xfrm>
            <a:off x="2286775" y="5529475"/>
            <a:ext cx="10497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HW</a:t>
            </a:r>
            <a:endParaRPr sz="320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42"/>
          <p:cNvSpPr txBox="1">
            <a:spLocks noGrp="1"/>
          </p:cNvSpPr>
          <p:nvPr>
            <p:ph type="title"/>
          </p:nvPr>
        </p:nvSpPr>
        <p:spPr>
          <a:xfrm>
            <a:off x="538950" y="96038"/>
            <a:ext cx="86817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latin typeface="+mj-lt"/>
              </a:rPr>
              <a:t>Evaluación de locks</a:t>
            </a:r>
            <a:endParaRPr dirty="0">
              <a:latin typeface="+mj-lt"/>
            </a:endParaRPr>
          </a:p>
        </p:txBody>
      </p:sp>
      <p:sp>
        <p:nvSpPr>
          <p:cNvPr id="810" name="Google Shape;810;p42"/>
          <p:cNvSpPr txBox="1"/>
          <p:nvPr/>
        </p:nvSpPr>
        <p:spPr>
          <a:xfrm>
            <a:off x="353961" y="955875"/>
            <a:ext cx="11592233" cy="5755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dirty="0">
                <a:ea typeface="Roboto"/>
                <a:cs typeface="Roboto"/>
                <a:sym typeface="Roboto"/>
              </a:rPr>
              <a:t>Para evaluar la efectividad en la implementación de un lock se utilizan las siguientes métricas:</a:t>
            </a:r>
            <a:endParaRPr sz="2200" dirty="0"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Roboto"/>
              <a:buChar char="●"/>
            </a:pPr>
            <a:r>
              <a:rPr lang="es-ES" sz="2000" b="1" dirty="0">
                <a:ea typeface="Roboto"/>
                <a:cs typeface="Roboto"/>
                <a:sym typeface="Roboto"/>
              </a:rPr>
              <a:t>Mutual exclusion (Exclusión mutua)</a:t>
            </a:r>
            <a:r>
              <a:rPr lang="es-ES" sz="2000" dirty="0">
                <a:ea typeface="Roboto"/>
                <a:cs typeface="Roboto"/>
                <a:sym typeface="Roboto"/>
              </a:rPr>
              <a:t>: Sólo un hilo en la sección crítica.</a:t>
            </a:r>
            <a:endParaRPr sz="2000" dirty="0"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 sz="2000" dirty="0"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Roboto"/>
              <a:buChar char="●"/>
            </a:pPr>
            <a:endParaRPr lang="es-ES" sz="2000" b="1" dirty="0"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Roboto"/>
              <a:buChar char="●"/>
            </a:pPr>
            <a:r>
              <a:rPr lang="es-ES" sz="2000" b="1" dirty="0">
                <a:ea typeface="Roboto"/>
                <a:cs typeface="Roboto"/>
                <a:sym typeface="Roboto"/>
              </a:rPr>
              <a:t>Fairness (Equidad)</a:t>
            </a:r>
            <a:r>
              <a:rPr lang="es-ES" sz="2000" dirty="0">
                <a:ea typeface="Roboto"/>
                <a:cs typeface="Roboto"/>
                <a:sym typeface="Roboto"/>
              </a:rPr>
              <a:t>: Cada hilo tiene igual probabilidad de adquirir el lock.</a:t>
            </a:r>
            <a:endParaRPr sz="2000" dirty="0">
              <a:ea typeface="Roboto"/>
              <a:cs typeface="Roboto"/>
              <a:sym typeface="Robo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ea typeface="Roboto"/>
              <a:cs typeface="Roboto"/>
              <a:sym typeface="Robo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ea typeface="Roboto"/>
              <a:cs typeface="Roboto"/>
              <a:sym typeface="Robo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ea typeface="Roboto"/>
              <a:cs typeface="Roboto"/>
              <a:sym typeface="Robo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s-MX" sz="2000" dirty="0">
              <a:ea typeface="Roboto"/>
              <a:cs typeface="Roboto"/>
              <a:sym typeface="Robo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ea typeface="Roboto"/>
              <a:cs typeface="Roboto"/>
              <a:sym typeface="Robo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Roboto"/>
              <a:buChar char="●"/>
            </a:pPr>
            <a:r>
              <a:rPr lang="es-ES" sz="2000" b="1" dirty="0">
                <a:ea typeface="Roboto"/>
                <a:cs typeface="Roboto"/>
                <a:sym typeface="Roboto"/>
              </a:rPr>
              <a:t>Performance (Desempeño)</a:t>
            </a:r>
            <a:r>
              <a:rPr lang="es-ES" sz="2000" dirty="0">
                <a:ea typeface="Roboto"/>
                <a:cs typeface="Roboto"/>
                <a:sym typeface="Roboto"/>
              </a:rPr>
              <a:t>: Relacionado con el time overhead (tiempo tomado en la adquisición/liberación con o sin competencia). </a:t>
            </a:r>
            <a:endParaRPr sz="2000" dirty="0">
              <a:ea typeface="Roboto"/>
              <a:cs typeface="Roboto"/>
              <a:sym typeface="Roboto"/>
            </a:endParaRPr>
          </a:p>
        </p:txBody>
      </p:sp>
      <p:pic>
        <p:nvPicPr>
          <p:cNvPr id="811" name="Google Shape;811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52848" y="2143460"/>
            <a:ext cx="2732853" cy="1527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2" name="Google Shape;812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56982" y="4330385"/>
            <a:ext cx="2954080" cy="1527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44"/>
          <p:cNvSpPr txBox="1">
            <a:spLocks noGrp="1"/>
          </p:cNvSpPr>
          <p:nvPr>
            <p:ph type="title"/>
          </p:nvPr>
        </p:nvSpPr>
        <p:spPr>
          <a:xfrm>
            <a:off x="366362" y="96038"/>
            <a:ext cx="11459276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Implementación de locks</a:t>
            </a:r>
            <a:endParaRPr sz="3200" b="1" dirty="0">
              <a:solidFill>
                <a:schemeClr val="tx1"/>
              </a:solidFill>
              <a:latin typeface="+mj-lt"/>
              <a:ea typeface="Roboto Slab"/>
              <a:cs typeface="Roboto Slab"/>
              <a:sym typeface="Roboto Slab"/>
            </a:endParaRPr>
          </a:p>
        </p:txBody>
      </p:sp>
      <p:sp>
        <p:nvSpPr>
          <p:cNvPr id="826" name="Google Shape;826;p44"/>
          <p:cNvSpPr txBox="1">
            <a:spLocks noGrp="1"/>
          </p:cNvSpPr>
          <p:nvPr>
            <p:ph type="body" idx="4294967295"/>
          </p:nvPr>
        </p:nvSpPr>
        <p:spPr>
          <a:xfrm>
            <a:off x="366362" y="856715"/>
            <a:ext cx="11594580" cy="58862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1"/>
                </a:solidFill>
              </a:rPr>
              <a:t>Implementación -  ¿Cómo implementar en código la estructura de datos asociada al Lock?</a:t>
            </a: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</p:txBody>
      </p:sp>
      <p:sp>
        <p:nvSpPr>
          <p:cNvPr id="827" name="Google Shape;827;p44"/>
          <p:cNvSpPr txBox="1"/>
          <p:nvPr/>
        </p:nvSpPr>
        <p:spPr>
          <a:xfrm>
            <a:off x="5663382" y="4472149"/>
            <a:ext cx="5609168" cy="2123628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400" dirty="0">
                <a:solidFill>
                  <a:srgbClr val="FF9900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400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400" b="1" dirty="0">
                <a:latin typeface="Consolas"/>
                <a:ea typeface="Consolas"/>
                <a:cs typeface="Consolas"/>
                <a:sym typeface="Consolas"/>
              </a:rPr>
              <a:t>lock</a:t>
            </a:r>
            <a:r>
              <a:rPr lang="es-ES" sz="1400" dirty="0">
                <a:latin typeface="Consolas"/>
                <a:ea typeface="Consolas"/>
                <a:cs typeface="Consolas"/>
                <a:sym typeface="Consolas"/>
              </a:rPr>
              <a:t>() {</a:t>
            </a:r>
            <a:endParaRPr sz="14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400" dirty="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400" dirty="0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rPr>
              <a:t>// Instrucciones lock</a:t>
            </a:r>
            <a:endParaRPr sz="1400" dirty="0">
              <a:solidFill>
                <a:srgbClr val="0B693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400" dirty="0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rPr>
              <a:t>  // ...</a:t>
            </a:r>
            <a:endParaRPr sz="1400" dirty="0">
              <a:solidFill>
                <a:srgbClr val="0B693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400" dirty="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400" dirty="0">
                <a:solidFill>
                  <a:srgbClr val="F8A02B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400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400" b="1" dirty="0">
                <a:latin typeface="Consolas"/>
                <a:ea typeface="Consolas"/>
                <a:cs typeface="Consolas"/>
                <a:sym typeface="Consolas"/>
              </a:rPr>
              <a:t>unlock</a:t>
            </a:r>
            <a:r>
              <a:rPr lang="es-ES" sz="1400" dirty="0">
                <a:latin typeface="Consolas"/>
                <a:ea typeface="Consolas"/>
                <a:cs typeface="Consolas"/>
                <a:sym typeface="Consolas"/>
              </a:rPr>
              <a:t>() {</a:t>
            </a:r>
            <a:endParaRPr sz="14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400" dirty="0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rPr>
              <a:t>// Instrucciones unlock</a:t>
            </a:r>
            <a:endParaRPr sz="1400" dirty="0">
              <a:solidFill>
                <a:srgbClr val="0B693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400" dirty="0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rPr>
              <a:t>  // ...</a:t>
            </a:r>
            <a:endParaRPr sz="1400" dirty="0">
              <a:solidFill>
                <a:srgbClr val="0B693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 dirty="0"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9" name="Tabla 16">
            <a:extLst>
              <a:ext uri="{FF2B5EF4-FFF2-40B4-BE49-F238E27FC236}">
                <a16:creationId xmlns:a16="http://schemas.microsoft.com/office/drawing/2014/main" id="{3A3E16DA-207F-4526-A4A2-FF6B6C5759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6854216"/>
              </p:ext>
            </p:extLst>
          </p:nvPr>
        </p:nvGraphicFramePr>
        <p:xfrm>
          <a:off x="1014004" y="2678868"/>
          <a:ext cx="3468238" cy="1859280"/>
        </p:xfrm>
        <a:graphic>
          <a:graphicData uri="http://schemas.openxmlformats.org/drawingml/2006/table">
            <a:tbl>
              <a:tblPr firstRow="1" bandRow="1">
                <a:tableStyleId>{F66A2E93-5121-40D1-B61B-F19DAAD5E98B}</a:tableStyleId>
              </a:tblPr>
              <a:tblGrid>
                <a:gridCol w="3468238">
                  <a:extLst>
                    <a:ext uri="{9D8B030D-6E8A-4147-A177-3AD203B41FA5}">
                      <a16:colId xmlns:a16="http://schemas.microsoft.com/office/drawing/2014/main" val="10891006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2400" b="1" dirty="0">
                          <a:latin typeface="Consolas" panose="020B0609020204030204" pitchFamily="49" charset="0"/>
                        </a:rPr>
                        <a:t>Lock (ADT)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61317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2000" b="1" dirty="0">
                          <a:latin typeface="Consolas" panose="020B0609020204030204" pitchFamily="49" charset="0"/>
                        </a:rPr>
                        <a:t>Estado: {FREE, LOCKED}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3445869"/>
                  </a:ext>
                </a:extLst>
              </a:tr>
              <a:tr h="382459">
                <a:tc>
                  <a:txBody>
                    <a:bodyPr/>
                    <a:lstStyle/>
                    <a:p>
                      <a:r>
                        <a:rPr lang="es-CO" sz="2000" b="1" dirty="0">
                          <a:latin typeface="Consolas" panose="020B0609020204030204" pitchFamily="49" charset="0"/>
                        </a:rPr>
                        <a:t>init()</a:t>
                      </a:r>
                    </a:p>
                    <a:p>
                      <a:r>
                        <a:rPr lang="es-CO" sz="2000" b="1" dirty="0">
                          <a:latin typeface="Consolas" panose="020B0609020204030204" pitchFamily="49" charset="0"/>
                        </a:rPr>
                        <a:t>lock()</a:t>
                      </a:r>
                    </a:p>
                    <a:p>
                      <a:r>
                        <a:rPr lang="es-CO" sz="2000" b="1" dirty="0">
                          <a:latin typeface="Consolas" panose="020B0609020204030204" pitchFamily="49" charset="0"/>
                        </a:rPr>
                        <a:t>unlock()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7120763"/>
                  </a:ext>
                </a:extLst>
              </a:tr>
            </a:tbl>
          </a:graphicData>
        </a:graphic>
      </p:graphicFrame>
      <p:sp>
        <p:nvSpPr>
          <p:cNvPr id="10" name="CuadroTexto 9">
            <a:extLst>
              <a:ext uri="{FF2B5EF4-FFF2-40B4-BE49-F238E27FC236}">
                <a16:creationId xmlns:a16="http://schemas.microsoft.com/office/drawing/2014/main" id="{7EDC8FFC-954C-45A9-AD0B-013C9C6D1329}"/>
              </a:ext>
            </a:extLst>
          </p:cNvPr>
          <p:cNvSpPr txBox="1"/>
          <p:nvPr/>
        </p:nvSpPr>
        <p:spPr>
          <a:xfrm>
            <a:off x="984444" y="4687407"/>
            <a:ext cx="34682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000" b="1" dirty="0">
                <a:latin typeface="Consolas" panose="020B0609020204030204" pitchFamily="49" charset="0"/>
              </a:rPr>
              <a:t>ADT</a:t>
            </a:r>
            <a:r>
              <a:rPr lang="es-CO" sz="2000" dirty="0"/>
              <a:t>: Abstract Data Type</a:t>
            </a:r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1254C9C5-34B9-468A-A1B8-818D74D34DB1}"/>
              </a:ext>
            </a:extLst>
          </p:cNvPr>
          <p:cNvGrpSpPr/>
          <p:nvPr/>
        </p:nvGrpSpPr>
        <p:grpSpPr>
          <a:xfrm>
            <a:off x="5498329" y="1625963"/>
            <a:ext cx="5774220" cy="2605045"/>
            <a:chOff x="4913559" y="1483613"/>
            <a:chExt cx="6280446" cy="2829392"/>
          </a:xfrm>
        </p:grpSpPr>
        <p:grpSp>
          <p:nvGrpSpPr>
            <p:cNvPr id="12" name="Google Shape;684;p36">
              <a:extLst>
                <a:ext uri="{FF2B5EF4-FFF2-40B4-BE49-F238E27FC236}">
                  <a16:creationId xmlns:a16="http://schemas.microsoft.com/office/drawing/2014/main" id="{D0CE2DE9-7B18-41A0-85EB-3EA999B2AAFD}"/>
                </a:ext>
              </a:extLst>
            </p:cNvPr>
            <p:cNvGrpSpPr/>
            <p:nvPr/>
          </p:nvGrpSpPr>
          <p:grpSpPr>
            <a:xfrm>
              <a:off x="9613305" y="2169713"/>
              <a:ext cx="1580700" cy="1570800"/>
              <a:chOff x="4336300" y="3050525"/>
              <a:chExt cx="1580700" cy="1570800"/>
            </a:xfrm>
          </p:grpSpPr>
          <p:sp>
            <p:nvSpPr>
              <p:cNvPr id="23" name="Google Shape;685;p36">
                <a:extLst>
                  <a:ext uri="{FF2B5EF4-FFF2-40B4-BE49-F238E27FC236}">
                    <a16:creationId xmlns:a16="http://schemas.microsoft.com/office/drawing/2014/main" id="{89C90666-AF92-4C14-8228-1243C8E754EF}"/>
                  </a:ext>
                </a:extLst>
              </p:cNvPr>
              <p:cNvSpPr/>
              <p:nvPr/>
            </p:nvSpPr>
            <p:spPr>
              <a:xfrm>
                <a:off x="4336300" y="3050525"/>
                <a:ext cx="1580700" cy="1570800"/>
              </a:xfrm>
              <a:prstGeom prst="ellipse">
                <a:avLst/>
              </a:prstGeom>
              <a:noFill/>
              <a:ln w="28575" cap="flat" cmpd="sng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24" name="Google Shape;686;p36">
                <a:extLst>
                  <a:ext uri="{FF2B5EF4-FFF2-40B4-BE49-F238E27FC236}">
                    <a16:creationId xmlns:a16="http://schemas.microsoft.com/office/drawing/2014/main" id="{3FF78154-7DBA-4613-AD0D-B61E9D11DAA7}"/>
                  </a:ext>
                </a:extLst>
              </p:cNvPr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4867478" y="3666975"/>
                <a:ext cx="518325" cy="7227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5" name="Google Shape;687;p36">
                <a:extLst>
                  <a:ext uri="{FF2B5EF4-FFF2-40B4-BE49-F238E27FC236}">
                    <a16:creationId xmlns:a16="http://schemas.microsoft.com/office/drawing/2014/main" id="{F79D15AD-76A6-4670-B5C4-27DA66829DB4}"/>
                  </a:ext>
                </a:extLst>
              </p:cNvPr>
              <p:cNvSpPr/>
              <p:nvPr/>
            </p:nvSpPr>
            <p:spPr>
              <a:xfrm>
                <a:off x="4607788" y="3267750"/>
                <a:ext cx="1037700" cy="32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b="1" dirty="0">
                    <a:solidFill>
                      <a:srgbClr val="FF0000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LOCKED</a:t>
                </a:r>
                <a:endParaRPr b="1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p:grpSp>
        <p:grpSp>
          <p:nvGrpSpPr>
            <p:cNvPr id="13" name="Google Shape;688;p36">
              <a:extLst>
                <a:ext uri="{FF2B5EF4-FFF2-40B4-BE49-F238E27FC236}">
                  <a16:creationId xmlns:a16="http://schemas.microsoft.com/office/drawing/2014/main" id="{D3AD58CC-0BDF-4BF2-9505-A18F096C8185}"/>
                </a:ext>
              </a:extLst>
            </p:cNvPr>
            <p:cNvGrpSpPr/>
            <p:nvPr/>
          </p:nvGrpSpPr>
          <p:grpSpPr>
            <a:xfrm>
              <a:off x="5779580" y="2148488"/>
              <a:ext cx="1580700" cy="1570800"/>
              <a:chOff x="7705250" y="3150825"/>
              <a:chExt cx="1580700" cy="1570800"/>
            </a:xfrm>
          </p:grpSpPr>
          <p:sp>
            <p:nvSpPr>
              <p:cNvPr id="20" name="Google Shape;689;p36">
                <a:extLst>
                  <a:ext uri="{FF2B5EF4-FFF2-40B4-BE49-F238E27FC236}">
                    <a16:creationId xmlns:a16="http://schemas.microsoft.com/office/drawing/2014/main" id="{6F669B8C-BA2F-4096-9FF3-9D3465526345}"/>
                  </a:ext>
                </a:extLst>
              </p:cNvPr>
              <p:cNvSpPr/>
              <p:nvPr/>
            </p:nvSpPr>
            <p:spPr>
              <a:xfrm>
                <a:off x="7705250" y="3150825"/>
                <a:ext cx="1580700" cy="1570800"/>
              </a:xfrm>
              <a:prstGeom prst="ellipse">
                <a:avLst/>
              </a:prstGeom>
              <a:noFill/>
              <a:ln w="2857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pic>
            <p:nvPicPr>
              <p:cNvPr id="21" name="Google Shape;690;p36">
                <a:extLst>
                  <a:ext uri="{FF2B5EF4-FFF2-40B4-BE49-F238E27FC236}">
                    <a16:creationId xmlns:a16="http://schemas.microsoft.com/office/drawing/2014/main" id="{9C054305-D8FB-4AB3-8DAB-8C06D5FBC27A}"/>
                  </a:ext>
                </a:extLst>
              </p:cNvPr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8246181" y="3765050"/>
                <a:ext cx="683019" cy="7227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2" name="Google Shape;691;p36">
                <a:extLst>
                  <a:ext uri="{FF2B5EF4-FFF2-40B4-BE49-F238E27FC236}">
                    <a16:creationId xmlns:a16="http://schemas.microsoft.com/office/drawing/2014/main" id="{54432700-193F-4365-AFA7-42D23A46EE0F}"/>
                  </a:ext>
                </a:extLst>
              </p:cNvPr>
              <p:cNvSpPr/>
              <p:nvPr/>
            </p:nvSpPr>
            <p:spPr>
              <a:xfrm>
                <a:off x="7976750" y="3341000"/>
                <a:ext cx="1037700" cy="32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b="1" dirty="0">
                    <a:solidFill>
                      <a:schemeClr val="accent6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FREE</a:t>
                </a:r>
                <a:endParaRPr b="1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p:grpSp>
        <p:cxnSp>
          <p:nvCxnSpPr>
            <p:cNvPr id="14" name="Conector: curvado 13">
              <a:extLst>
                <a:ext uri="{FF2B5EF4-FFF2-40B4-BE49-F238E27FC236}">
                  <a16:creationId xmlns:a16="http://schemas.microsoft.com/office/drawing/2014/main" id="{ABDCF0CD-DE68-488E-AFC4-0E738C2DF298}"/>
                </a:ext>
              </a:extLst>
            </p:cNvPr>
            <p:cNvCxnSpPr>
              <a:stCxn id="20" idx="7"/>
              <a:endCxn id="23" idx="1"/>
            </p:cNvCxnSpPr>
            <p:nvPr/>
          </p:nvCxnSpPr>
          <p:spPr>
            <a:xfrm rot="16200000" flipH="1">
              <a:off x="8476179" y="1031138"/>
              <a:ext cx="21225" cy="2716001"/>
            </a:xfrm>
            <a:prstGeom prst="curvedConnector3">
              <a:avLst>
                <a:gd name="adj1" fmla="val -1917640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: curvado 14">
              <a:extLst>
                <a:ext uri="{FF2B5EF4-FFF2-40B4-BE49-F238E27FC236}">
                  <a16:creationId xmlns:a16="http://schemas.microsoft.com/office/drawing/2014/main" id="{9BCFC382-F6AC-440A-9B84-3E3A0458A09C}"/>
                </a:ext>
              </a:extLst>
            </p:cNvPr>
            <p:cNvCxnSpPr>
              <a:cxnSpLocks/>
              <a:stCxn id="23" idx="3"/>
              <a:endCxn id="20" idx="5"/>
            </p:cNvCxnSpPr>
            <p:nvPr/>
          </p:nvCxnSpPr>
          <p:spPr>
            <a:xfrm rot="5400000" flipH="1">
              <a:off x="8476180" y="2141863"/>
              <a:ext cx="21225" cy="2716001"/>
            </a:xfrm>
            <a:prstGeom prst="curvedConnector3">
              <a:avLst>
                <a:gd name="adj1" fmla="val -1749720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: curvado 15">
              <a:extLst>
                <a:ext uri="{FF2B5EF4-FFF2-40B4-BE49-F238E27FC236}">
                  <a16:creationId xmlns:a16="http://schemas.microsoft.com/office/drawing/2014/main" id="{CA279B62-2417-4111-BC91-C93CDB2BDF5F}"/>
                </a:ext>
              </a:extLst>
            </p:cNvPr>
            <p:cNvCxnSpPr>
              <a:cxnSpLocks/>
              <a:endCxn id="20" idx="0"/>
            </p:cNvCxnSpPr>
            <p:nvPr/>
          </p:nvCxnSpPr>
          <p:spPr>
            <a:xfrm>
              <a:off x="6051080" y="1673788"/>
              <a:ext cx="518850" cy="474700"/>
            </a:xfrm>
            <a:prstGeom prst="curvedConnector2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Google Shape;691;p36">
              <a:extLst>
                <a:ext uri="{FF2B5EF4-FFF2-40B4-BE49-F238E27FC236}">
                  <a16:creationId xmlns:a16="http://schemas.microsoft.com/office/drawing/2014/main" id="{20A54FD9-5AC5-4A95-9357-D0B1A8ED13C6}"/>
                </a:ext>
              </a:extLst>
            </p:cNvPr>
            <p:cNvSpPr/>
            <p:nvPr/>
          </p:nvSpPr>
          <p:spPr>
            <a:xfrm>
              <a:off x="7695580" y="1537111"/>
              <a:ext cx="1541585" cy="40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 dirty="0">
                  <a:latin typeface="Consolas"/>
                  <a:ea typeface="Consolas"/>
                  <a:cs typeface="Consolas"/>
                  <a:sym typeface="Consolas"/>
                </a:rPr>
                <a:t>lock()</a:t>
              </a:r>
              <a:endParaRPr sz="20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8" name="Google Shape;691;p36">
              <a:extLst>
                <a:ext uri="{FF2B5EF4-FFF2-40B4-BE49-F238E27FC236}">
                  <a16:creationId xmlns:a16="http://schemas.microsoft.com/office/drawing/2014/main" id="{09A09082-65BC-41AA-8BB8-0AC7040C7762}"/>
                </a:ext>
              </a:extLst>
            </p:cNvPr>
            <p:cNvSpPr/>
            <p:nvPr/>
          </p:nvSpPr>
          <p:spPr>
            <a:xfrm>
              <a:off x="7773230" y="3946094"/>
              <a:ext cx="1463935" cy="3669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 dirty="0">
                  <a:latin typeface="Consolas"/>
                  <a:ea typeface="Consolas"/>
                  <a:cs typeface="Consolas"/>
                  <a:sym typeface="Consolas"/>
                </a:rPr>
                <a:t>unlock()</a:t>
              </a:r>
              <a:endParaRPr sz="20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9" name="Google Shape;691;p36">
              <a:extLst>
                <a:ext uri="{FF2B5EF4-FFF2-40B4-BE49-F238E27FC236}">
                  <a16:creationId xmlns:a16="http://schemas.microsoft.com/office/drawing/2014/main" id="{4D56BB27-B24F-4DF1-B55C-2333D2B58042}"/>
                </a:ext>
              </a:extLst>
            </p:cNvPr>
            <p:cNvSpPr/>
            <p:nvPr/>
          </p:nvSpPr>
          <p:spPr>
            <a:xfrm>
              <a:off x="4913559" y="1483613"/>
              <a:ext cx="1182441" cy="32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 dirty="0">
                  <a:latin typeface="Consolas"/>
                  <a:ea typeface="Consolas"/>
                  <a:cs typeface="Consolas"/>
                  <a:sym typeface="Consolas"/>
                </a:rPr>
                <a:t>init()</a:t>
              </a:r>
              <a:endParaRPr sz="20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44"/>
          <p:cNvSpPr txBox="1">
            <a:spLocks noGrp="1"/>
          </p:cNvSpPr>
          <p:nvPr>
            <p:ph type="title"/>
          </p:nvPr>
        </p:nvSpPr>
        <p:spPr>
          <a:xfrm>
            <a:off x="366362" y="96038"/>
            <a:ext cx="11459276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Implementación de locks</a:t>
            </a:r>
            <a:endParaRPr sz="3200" b="1" dirty="0">
              <a:solidFill>
                <a:schemeClr val="tx1"/>
              </a:solidFill>
              <a:latin typeface="+mj-lt"/>
              <a:ea typeface="Roboto Slab"/>
              <a:cs typeface="Roboto Slab"/>
              <a:sym typeface="Roboto Slab"/>
            </a:endParaRPr>
          </a:p>
        </p:txBody>
      </p:sp>
      <p:sp>
        <p:nvSpPr>
          <p:cNvPr id="826" name="Google Shape;826;p44"/>
          <p:cNvSpPr txBox="1">
            <a:spLocks noGrp="1"/>
          </p:cNvSpPr>
          <p:nvPr>
            <p:ph type="body" idx="4294967295"/>
          </p:nvPr>
        </p:nvSpPr>
        <p:spPr>
          <a:xfrm>
            <a:off x="366361" y="989451"/>
            <a:ext cx="11107884" cy="94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1"/>
                </a:solidFill>
              </a:rPr>
              <a:t>Formas de implementación de locks </a:t>
            </a:r>
          </a:p>
          <a:p>
            <a:pPr marL="0" indent="0">
              <a:lnSpc>
                <a:spcPct val="100000"/>
              </a:lnSpc>
              <a:spcBef>
                <a:spcPts val="480"/>
              </a:spcBef>
              <a:buNone/>
            </a:pPr>
            <a:r>
              <a:rPr lang="es-MX" sz="2200" dirty="0">
                <a:latin typeface="+mn-lt"/>
              </a:rPr>
              <a:t>La siguiente tabla muestra algunas formas de implementar </a:t>
            </a:r>
            <a:r>
              <a:rPr lang="es-MX" sz="2200" b="1" dirty="0">
                <a:latin typeface="+mn-lt"/>
              </a:rPr>
              <a:t>locks</a:t>
            </a:r>
            <a:r>
              <a:rPr lang="es-MX" sz="2200" dirty="0">
                <a:latin typeface="+mn-lt"/>
              </a:rPr>
              <a:t>:</a:t>
            </a: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lang="es-ES" sz="2400" b="1" dirty="0">
              <a:solidFill>
                <a:schemeClr val="accent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solidFill>
                <a:schemeClr val="accent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solidFill>
                <a:schemeClr val="accent1"/>
              </a:solidFill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solidFill>
                <a:schemeClr val="accent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solidFill>
                <a:schemeClr val="accent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solidFill>
                <a:schemeClr val="accent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solidFill>
                <a:schemeClr val="accent1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solidFill>
                <a:schemeClr val="accent1"/>
              </a:solidFill>
            </a:endParaRPr>
          </a:p>
        </p:txBody>
      </p:sp>
      <p:graphicFrame>
        <p:nvGraphicFramePr>
          <p:cNvPr id="825" name="Google Shape;825;p44"/>
          <p:cNvGraphicFramePr/>
          <p:nvPr>
            <p:extLst>
              <p:ext uri="{D42A27DB-BD31-4B8C-83A1-F6EECF244321}">
                <p14:modId xmlns:p14="http://schemas.microsoft.com/office/powerpoint/2010/main" val="589801450"/>
              </p:ext>
            </p:extLst>
          </p:nvPr>
        </p:nvGraphicFramePr>
        <p:xfrm>
          <a:off x="524922" y="2424158"/>
          <a:ext cx="10949323" cy="249489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9614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878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0401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 dirty="0">
                          <a:latin typeface="+mn-lt"/>
                          <a:ea typeface="Roboto"/>
                          <a:cs typeface="Roboto"/>
                          <a:sym typeface="Roboto"/>
                        </a:rPr>
                        <a:t>Algoritmos de solo software</a:t>
                      </a:r>
                      <a:endParaRPr sz="2000" b="1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 dirty="0">
                          <a:latin typeface="+mn-lt"/>
                          <a:ea typeface="Roboto"/>
                          <a:cs typeface="Roboto"/>
                          <a:sym typeface="Roboto"/>
                        </a:rPr>
                        <a:t>Instrucciones atómicas</a:t>
                      </a:r>
                      <a:endParaRPr sz="2000" b="1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0401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dirty="0">
                          <a:latin typeface="+mn-lt"/>
                          <a:ea typeface="Roboto"/>
                          <a:cs typeface="Roboto"/>
                          <a:sym typeface="Roboto"/>
                        </a:rPr>
                        <a:t>Algoritmo de Dekker (1965)</a:t>
                      </a:r>
                      <a:endParaRPr sz="20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latin typeface="Consolas" panose="020B0609020204030204" pitchFamily="49" charset="0"/>
                          <a:ea typeface="Roboto"/>
                          <a:cs typeface="Roboto"/>
                          <a:sym typeface="Roboto"/>
                        </a:rPr>
                        <a:t>Test &amp; Set</a:t>
                      </a:r>
                      <a:endParaRPr sz="1800" dirty="0">
                        <a:latin typeface="Consolas" panose="020B0609020204030204" pitchFamily="49" charset="0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0401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dirty="0">
                          <a:latin typeface="+mn-lt"/>
                          <a:ea typeface="Roboto"/>
                          <a:cs typeface="Roboto"/>
                          <a:sym typeface="Roboto"/>
                        </a:rPr>
                        <a:t>Algoritmo de Peterson (1981)</a:t>
                      </a:r>
                      <a:endParaRPr sz="20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latin typeface="Consolas" panose="020B0609020204030204" pitchFamily="49" charset="0"/>
                          <a:ea typeface="Roboto"/>
                          <a:cs typeface="Roboto"/>
                          <a:sym typeface="Roboto"/>
                        </a:rPr>
                        <a:t>Compare &amp; Swap</a:t>
                      </a:r>
                      <a:endParaRPr sz="1800" dirty="0">
                        <a:latin typeface="Consolas" panose="020B0609020204030204" pitchFamily="49" charset="0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0401">
                <a:tc rowSpan="2"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dirty="0">
                          <a:latin typeface="+mn-lt"/>
                          <a:ea typeface="Roboto"/>
                          <a:cs typeface="Roboto"/>
                          <a:sym typeface="Roboto"/>
                        </a:rPr>
                        <a:t>Algoritmo de Lamport para más de dos procesos (1974)</a:t>
                      </a:r>
                      <a:endParaRPr sz="20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latin typeface="Consolas" panose="020B0609020204030204" pitchFamily="49" charset="0"/>
                          <a:ea typeface="Roboto"/>
                          <a:cs typeface="Roboto"/>
                          <a:sym typeface="Roboto"/>
                        </a:rPr>
                        <a:t>Load-</a:t>
                      </a:r>
                      <a:r>
                        <a:rPr lang="es-ES" sz="1800" dirty="0" err="1">
                          <a:latin typeface="Consolas" panose="020B0609020204030204" pitchFamily="49" charset="0"/>
                          <a:ea typeface="Roboto"/>
                          <a:cs typeface="Roboto"/>
                          <a:sym typeface="Roboto"/>
                        </a:rPr>
                        <a:t>Linked</a:t>
                      </a:r>
                      <a:r>
                        <a:rPr lang="es-ES" sz="1800" dirty="0">
                          <a:latin typeface="Consolas" panose="020B0609020204030204" pitchFamily="49" charset="0"/>
                          <a:ea typeface="Roboto"/>
                          <a:cs typeface="Roboto"/>
                          <a:sym typeface="Roboto"/>
                        </a:rPr>
                        <a:t> (LL) &amp; Store-</a:t>
                      </a:r>
                      <a:r>
                        <a:rPr lang="es-ES" sz="1800" dirty="0" err="1">
                          <a:latin typeface="Consolas" panose="020B0609020204030204" pitchFamily="49" charset="0"/>
                          <a:ea typeface="Roboto"/>
                          <a:cs typeface="Roboto"/>
                          <a:sym typeface="Roboto"/>
                        </a:rPr>
                        <a:t>Conditional</a:t>
                      </a:r>
                      <a:endParaRPr sz="1800" dirty="0">
                        <a:latin typeface="Consolas" panose="020B0609020204030204" pitchFamily="49" charset="0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3477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 err="1">
                          <a:latin typeface="Consolas" panose="020B0609020204030204" pitchFamily="49" charset="0"/>
                          <a:ea typeface="Roboto"/>
                          <a:cs typeface="Roboto"/>
                          <a:sym typeface="Roboto"/>
                        </a:rPr>
                        <a:t>Fetch</a:t>
                      </a:r>
                      <a:r>
                        <a:rPr lang="es-ES" sz="1800" dirty="0">
                          <a:latin typeface="Consolas" panose="020B0609020204030204" pitchFamily="49" charset="0"/>
                          <a:ea typeface="Roboto"/>
                          <a:cs typeface="Roboto"/>
                          <a:sym typeface="Roboto"/>
                        </a:rPr>
                        <a:t> &amp; </a:t>
                      </a:r>
                      <a:r>
                        <a:rPr lang="es-ES" sz="1800" dirty="0" err="1">
                          <a:latin typeface="Consolas" panose="020B0609020204030204" pitchFamily="49" charset="0"/>
                          <a:ea typeface="Roboto"/>
                          <a:cs typeface="Roboto"/>
                          <a:sym typeface="Roboto"/>
                        </a:rPr>
                        <a:t>add</a:t>
                      </a:r>
                      <a:endParaRPr sz="1800" dirty="0">
                        <a:latin typeface="Consolas" panose="020B0609020204030204" pitchFamily="49" charset="0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34709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45"/>
          <p:cNvSpPr txBox="1">
            <a:spLocks noGrp="1"/>
          </p:cNvSpPr>
          <p:nvPr>
            <p:ph type="title"/>
          </p:nvPr>
        </p:nvSpPr>
        <p:spPr>
          <a:xfrm>
            <a:off x="353960" y="96038"/>
            <a:ext cx="8866689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Implementación de locks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33" name="Google Shape;833;p45"/>
          <p:cNvSpPr txBox="1">
            <a:spLocks noGrp="1"/>
          </p:cNvSpPr>
          <p:nvPr>
            <p:ph type="body" idx="1"/>
          </p:nvPr>
        </p:nvSpPr>
        <p:spPr>
          <a:xfrm>
            <a:off x="353961" y="919325"/>
            <a:ext cx="11530439" cy="62957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b="1" dirty="0">
                <a:solidFill>
                  <a:schemeClr val="accent5"/>
                </a:solidFill>
                <a:latin typeface="+mn-lt"/>
              </a:rPr>
              <a:t>Implementación mediante el control de interrupciones:</a:t>
            </a:r>
            <a:endParaRPr b="1" dirty="0">
              <a:solidFill>
                <a:srgbClr val="E06666"/>
              </a:solidFill>
              <a:latin typeface="+mn-lt"/>
            </a:endParaRPr>
          </a:p>
        </p:txBody>
      </p:sp>
      <p:graphicFrame>
        <p:nvGraphicFramePr>
          <p:cNvPr id="5" name="Tabla 16">
            <a:extLst>
              <a:ext uri="{FF2B5EF4-FFF2-40B4-BE49-F238E27FC236}">
                <a16:creationId xmlns:a16="http://schemas.microsoft.com/office/drawing/2014/main" id="{81BCDC0E-67E1-45D4-8E03-767C421292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201539"/>
              </p:ext>
            </p:extLst>
          </p:nvPr>
        </p:nvGraphicFramePr>
        <p:xfrm>
          <a:off x="8198529" y="1655173"/>
          <a:ext cx="3468238" cy="1859280"/>
        </p:xfrm>
        <a:graphic>
          <a:graphicData uri="http://schemas.openxmlformats.org/drawingml/2006/table">
            <a:tbl>
              <a:tblPr firstRow="1" bandRow="1">
                <a:tableStyleId>{F66A2E93-5121-40D1-B61B-F19DAAD5E98B}</a:tableStyleId>
              </a:tblPr>
              <a:tblGrid>
                <a:gridCol w="3468238">
                  <a:extLst>
                    <a:ext uri="{9D8B030D-6E8A-4147-A177-3AD203B41FA5}">
                      <a16:colId xmlns:a16="http://schemas.microsoft.com/office/drawing/2014/main" val="10891006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2400" b="1" dirty="0">
                          <a:latin typeface="Consolas" panose="020B0609020204030204" pitchFamily="49" charset="0"/>
                        </a:rPr>
                        <a:t>Lock (ADT)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61317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2000" b="1" dirty="0">
                          <a:latin typeface="Consolas" panose="020B0609020204030204" pitchFamily="49" charset="0"/>
                        </a:rPr>
                        <a:t>Estado: {FREE, LOCKED}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3445869"/>
                  </a:ext>
                </a:extLst>
              </a:tr>
              <a:tr h="382459">
                <a:tc>
                  <a:txBody>
                    <a:bodyPr/>
                    <a:lstStyle/>
                    <a:p>
                      <a:r>
                        <a:rPr lang="es-CO" sz="2000" b="1" dirty="0">
                          <a:latin typeface="Consolas" panose="020B0609020204030204" pitchFamily="49" charset="0"/>
                        </a:rPr>
                        <a:t>init()</a:t>
                      </a:r>
                    </a:p>
                    <a:p>
                      <a:r>
                        <a:rPr lang="es-CO" sz="2000" b="1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</a:rPr>
                        <a:t>lock()</a:t>
                      </a:r>
                    </a:p>
                    <a:p>
                      <a:r>
                        <a:rPr lang="es-CO" sz="2000" b="1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</a:rPr>
                        <a:t>unlock()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7120763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C61B6368-6517-4D7A-AF84-8B7B1192389F}"/>
              </a:ext>
            </a:extLst>
          </p:cNvPr>
          <p:cNvSpPr txBox="1"/>
          <p:nvPr/>
        </p:nvSpPr>
        <p:spPr>
          <a:xfrm>
            <a:off x="8303216" y="3509804"/>
            <a:ext cx="3468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b="1" dirty="0">
                <a:latin typeface="Consolas" panose="020B0609020204030204" pitchFamily="49" charset="0"/>
              </a:rPr>
              <a:t>ADT</a:t>
            </a:r>
            <a:r>
              <a:rPr lang="es-CO" dirty="0"/>
              <a:t>: Abstract Data Type</a:t>
            </a: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4E46197C-EE73-44A6-800B-A3CB2F75C1D6}"/>
              </a:ext>
            </a:extLst>
          </p:cNvPr>
          <p:cNvGrpSpPr/>
          <p:nvPr/>
        </p:nvGrpSpPr>
        <p:grpSpPr>
          <a:xfrm>
            <a:off x="8198529" y="4168281"/>
            <a:ext cx="3518405" cy="2496248"/>
            <a:chOff x="7461213" y="3777620"/>
            <a:chExt cx="3518405" cy="2496248"/>
          </a:xfrm>
        </p:grpSpPr>
        <p:sp>
          <p:nvSpPr>
            <p:cNvPr id="834" name="Google Shape;834;p45"/>
            <p:cNvSpPr txBox="1"/>
            <p:nvPr/>
          </p:nvSpPr>
          <p:spPr>
            <a:xfrm>
              <a:off x="7461213" y="3777620"/>
              <a:ext cx="3468238" cy="201630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700" b="1" dirty="0">
                  <a:solidFill>
                    <a:srgbClr val="FF9900"/>
                  </a:solidFill>
                  <a:latin typeface="Consolas"/>
                  <a:ea typeface="Consolas"/>
                  <a:cs typeface="Consolas"/>
                  <a:sym typeface="Consolas"/>
                </a:rPr>
                <a:t>void</a:t>
              </a:r>
              <a:r>
                <a:rPr lang="es-ES" sz="1700" dirty="0"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7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  <a:sym typeface="Consolas"/>
                </a:rPr>
                <a:t>lock</a:t>
              </a:r>
              <a:r>
                <a:rPr lang="es-ES" sz="17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  <a:sym typeface="Consolas"/>
                </a:rPr>
                <a:t>()</a:t>
              </a:r>
              <a:r>
                <a:rPr lang="es-ES" sz="1700" dirty="0">
                  <a:latin typeface="Consolas"/>
                  <a:ea typeface="Consolas"/>
                  <a:cs typeface="Consolas"/>
                  <a:sym typeface="Consolas"/>
                </a:rPr>
                <a:t> {</a:t>
              </a:r>
              <a:endParaRPr sz="17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700" dirty="0">
                  <a:latin typeface="Consolas"/>
                  <a:ea typeface="Consolas"/>
                  <a:cs typeface="Consolas"/>
                  <a:sym typeface="Consolas"/>
                </a:rPr>
                <a:t>  DisableInterrupts();</a:t>
              </a:r>
              <a:endParaRPr sz="17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700" dirty="0"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7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17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700" b="1" dirty="0">
                  <a:solidFill>
                    <a:srgbClr val="FF9900"/>
                  </a:solidFill>
                  <a:latin typeface="Consolas"/>
                  <a:ea typeface="Consolas"/>
                  <a:cs typeface="Consolas"/>
                  <a:sym typeface="Consolas"/>
                </a:rPr>
                <a:t>void</a:t>
              </a:r>
              <a:r>
                <a:rPr lang="es-ES" sz="1700" dirty="0">
                  <a:solidFill>
                    <a:srgbClr val="FF9900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700" b="1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  <a:sym typeface="Consolas"/>
                </a:rPr>
                <a:t>unlock</a:t>
              </a:r>
              <a:r>
                <a:rPr lang="es-ES" sz="17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  <a:sym typeface="Consolas"/>
                </a:rPr>
                <a:t>()</a:t>
              </a:r>
              <a:r>
                <a:rPr lang="es-ES" sz="1700" dirty="0">
                  <a:latin typeface="Consolas"/>
                  <a:ea typeface="Consolas"/>
                  <a:cs typeface="Consolas"/>
                  <a:sym typeface="Consolas"/>
                </a:rPr>
                <a:t> {</a:t>
              </a:r>
              <a:endParaRPr sz="17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-ES" sz="1700" dirty="0">
                  <a:latin typeface="Consolas"/>
                  <a:ea typeface="Consolas"/>
                  <a:cs typeface="Consolas"/>
                  <a:sym typeface="Consolas"/>
                </a:rPr>
                <a:t>  EnableInterrupts();</a:t>
              </a:r>
              <a:endParaRPr sz="17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700" dirty="0"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700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63C5D569-8A22-4E76-88A4-AC2FF9D075E2}"/>
                </a:ext>
              </a:extLst>
            </p:cNvPr>
            <p:cNvSpPr txBox="1"/>
            <p:nvPr/>
          </p:nvSpPr>
          <p:spPr>
            <a:xfrm>
              <a:off x="7511380" y="5904536"/>
              <a:ext cx="346823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b="1" dirty="0"/>
                <a:t>Código funciones </a:t>
              </a:r>
              <a:r>
                <a:rPr lang="es-CO" sz="1600" b="1" dirty="0">
                  <a:solidFill>
                    <a:schemeClr val="accent1"/>
                  </a:solidFill>
                  <a:latin typeface="Consolas" panose="020B0609020204030204" pitchFamily="49" charset="0"/>
                </a:rPr>
                <a:t>lock</a:t>
              </a:r>
              <a:r>
                <a:rPr lang="es-CO" b="1" dirty="0"/>
                <a:t> y </a:t>
              </a:r>
              <a:r>
                <a:rPr lang="es-CO" sz="1600" b="1" dirty="0">
                  <a:solidFill>
                    <a:srgbClr val="C00000"/>
                  </a:solidFill>
                  <a:latin typeface="Consolas" panose="020B0609020204030204" pitchFamily="49" charset="0"/>
                </a:rPr>
                <a:t>unlock()</a:t>
              </a:r>
              <a:endParaRPr lang="es-CO" b="1" dirty="0">
                <a:solidFill>
                  <a:srgbClr val="C00000"/>
                </a:solidFill>
                <a:latin typeface="Consolas" panose="020B0609020204030204" pitchFamily="49" charset="0"/>
              </a:endParaRPr>
            </a:p>
          </p:txBody>
        </p:sp>
      </p:grpSp>
      <p:sp>
        <p:nvSpPr>
          <p:cNvPr id="9" name="Google Shape;833;p45">
            <a:extLst>
              <a:ext uri="{FF2B5EF4-FFF2-40B4-BE49-F238E27FC236}">
                <a16:creationId xmlns:a16="http://schemas.microsoft.com/office/drawing/2014/main" id="{22A7EB72-9595-4CB2-818E-1E10A4613628}"/>
              </a:ext>
            </a:extLst>
          </p:cNvPr>
          <p:cNvSpPr txBox="1">
            <a:spLocks/>
          </p:cNvSpPr>
          <p:nvPr/>
        </p:nvSpPr>
        <p:spPr>
          <a:xfrm>
            <a:off x="307601" y="1606149"/>
            <a:ext cx="7553290" cy="483889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457200" lvl="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28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24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20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8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8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-368300">
              <a:lnSpc>
                <a:spcPct val="100000"/>
              </a:lnSpc>
              <a:spcBef>
                <a:spcPts val="480"/>
              </a:spcBef>
              <a:buSzPts val="2200"/>
            </a:pPr>
            <a:r>
              <a:rPr lang="es-MX" sz="2200" dirty="0">
                <a:latin typeface="+mn-lt"/>
              </a:rPr>
              <a:t>Deshabilitar interrupciones al entrar a las regiones críticas.</a:t>
            </a:r>
          </a:p>
          <a:p>
            <a:pPr lvl="1" indent="-368300">
              <a:lnSpc>
                <a:spcPct val="100000"/>
              </a:lnSpc>
              <a:spcBef>
                <a:spcPts val="0"/>
              </a:spcBef>
              <a:buSzPts val="2200"/>
            </a:pPr>
            <a:r>
              <a:rPr lang="es-MX" sz="2000" dirty="0">
                <a:latin typeface="+mn-lt"/>
              </a:rPr>
              <a:t>Cuando se deshabilitan las interrupciones se bloquean eventos externos que podrían generar un cambio de contexto.</a:t>
            </a:r>
          </a:p>
          <a:p>
            <a:pPr lvl="1" indent="-368300">
              <a:lnSpc>
                <a:spcPct val="100000"/>
              </a:lnSpc>
              <a:spcBef>
                <a:spcPts val="0"/>
              </a:spcBef>
              <a:buSzPts val="2200"/>
            </a:pPr>
            <a:r>
              <a:rPr lang="es-MX" sz="2000" dirty="0">
                <a:latin typeface="+mn-lt"/>
              </a:rPr>
              <a:t>El código dentro de la sección crítica no será interrumpido.</a:t>
            </a:r>
          </a:p>
          <a:p>
            <a:pPr lvl="1" indent="-368300">
              <a:lnSpc>
                <a:spcPct val="100000"/>
              </a:lnSpc>
              <a:spcBef>
                <a:spcPts val="0"/>
              </a:spcBef>
              <a:buSzPts val="2200"/>
            </a:pPr>
            <a:r>
              <a:rPr lang="es-MX" sz="2000" dirty="0">
                <a:latin typeface="+mn-lt"/>
              </a:rPr>
              <a:t>No se requiere una variable de estado explícita en esta implementación (el propio hardware de interrupciones cumple ese papel).</a:t>
            </a:r>
          </a:p>
          <a:p>
            <a:pPr indent="-368300">
              <a:lnSpc>
                <a:spcPct val="100000"/>
              </a:lnSpc>
              <a:spcBef>
                <a:spcPts val="0"/>
              </a:spcBef>
              <a:buSzPts val="2200"/>
            </a:pPr>
            <a:r>
              <a:rPr lang="es-MX" sz="2200" dirty="0">
                <a:latin typeface="+mn-lt"/>
              </a:rPr>
              <a:t>Solo garantiza exclusión mutua en sistemas de </a:t>
            </a:r>
            <a:r>
              <a:rPr lang="es-MX" sz="2200" b="1" dirty="0">
                <a:latin typeface="+mn-lt"/>
              </a:rPr>
              <a:t>un solo procesador</a:t>
            </a:r>
            <a:r>
              <a:rPr lang="es-MX" sz="2200" dirty="0">
                <a:latin typeface="+mn-lt"/>
              </a:rPr>
              <a:t>.</a:t>
            </a:r>
          </a:p>
          <a:p>
            <a:pPr lvl="1" indent="-368300">
              <a:lnSpc>
                <a:spcPct val="100000"/>
              </a:lnSpc>
              <a:spcBef>
                <a:spcPts val="0"/>
              </a:spcBef>
              <a:buSzPts val="2200"/>
            </a:pPr>
            <a:r>
              <a:rPr lang="es-MX" sz="2000" dirty="0">
                <a:latin typeface="+mn-lt"/>
              </a:rPr>
              <a:t>No evita que otro hilo entre a la sección crítica desde otro CPU.</a:t>
            </a:r>
          </a:p>
          <a:p>
            <a:pPr lvl="1" indent="-368300">
              <a:lnSpc>
                <a:spcPct val="100000"/>
              </a:lnSpc>
              <a:spcBef>
                <a:spcPts val="0"/>
              </a:spcBef>
              <a:buSzPts val="2200"/>
            </a:pPr>
            <a:r>
              <a:rPr lang="es-MX" sz="2000" dirty="0">
                <a:latin typeface="+mn-lt"/>
              </a:rPr>
              <a:t>Requiere confiar en que el código reactive las interrupciones.</a:t>
            </a:r>
          </a:p>
          <a:p>
            <a:pPr lvl="1" indent="-368300">
              <a:lnSpc>
                <a:spcPct val="100000"/>
              </a:lnSpc>
              <a:spcBef>
                <a:spcPts val="0"/>
              </a:spcBef>
              <a:buSzPts val="2200"/>
            </a:pPr>
            <a:r>
              <a:rPr lang="es-MX" sz="2000" dirty="0">
                <a:latin typeface="+mn-lt"/>
              </a:rPr>
              <a:t>Se usa solo en secciones críticas pequeñas dentro del propio SO.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46"/>
          <p:cNvSpPr txBox="1">
            <a:spLocks noGrp="1"/>
          </p:cNvSpPr>
          <p:nvPr>
            <p:ph type="title"/>
          </p:nvPr>
        </p:nvSpPr>
        <p:spPr>
          <a:xfrm>
            <a:off x="294968" y="96038"/>
            <a:ext cx="8925682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Implementación de locks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40" name="Google Shape;840;p46"/>
          <p:cNvSpPr txBox="1">
            <a:spLocks noGrp="1"/>
          </p:cNvSpPr>
          <p:nvPr>
            <p:ph type="body" idx="1"/>
          </p:nvPr>
        </p:nvSpPr>
        <p:spPr>
          <a:xfrm>
            <a:off x="235974" y="919325"/>
            <a:ext cx="11648426" cy="546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b="1" dirty="0">
                <a:solidFill>
                  <a:schemeClr val="accent5"/>
                </a:solidFill>
                <a:latin typeface="+mn-lt"/>
              </a:rPr>
              <a:t>Implementación mediante el control de interrupciones</a:t>
            </a:r>
            <a:endParaRPr sz="2400" dirty="0">
              <a:latin typeface="+mn-lt"/>
            </a:endParaRPr>
          </a:p>
        </p:txBody>
      </p:sp>
      <p:sp>
        <p:nvSpPr>
          <p:cNvPr id="841" name="Google Shape;841;p46"/>
          <p:cNvSpPr txBox="1"/>
          <p:nvPr/>
        </p:nvSpPr>
        <p:spPr>
          <a:xfrm>
            <a:off x="607335" y="1627035"/>
            <a:ext cx="3037885" cy="1938962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600" dirty="0">
                <a:solidFill>
                  <a:srgbClr val="FF9900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 b="1" dirty="0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lock</a:t>
            </a:r>
            <a:r>
              <a:rPr lang="es-ES" sz="1600" dirty="0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  DisableInterrupts();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600" dirty="0">
                <a:solidFill>
                  <a:srgbClr val="FF9900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 b="1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unlock</a:t>
            </a:r>
            <a:r>
              <a:rPr lang="es-ES" sz="1600" dirty="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  EnableInterrupts();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842" name="Google Shape;842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4973" y="3727407"/>
            <a:ext cx="1735285" cy="246383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43" name="Google Shape;843;p46"/>
          <p:cNvGraphicFramePr/>
          <p:nvPr>
            <p:extLst>
              <p:ext uri="{D42A27DB-BD31-4B8C-83A1-F6EECF244321}">
                <p14:modId xmlns:p14="http://schemas.microsoft.com/office/powerpoint/2010/main" val="2144825373"/>
              </p:ext>
            </p:extLst>
          </p:nvPr>
        </p:nvGraphicFramePr>
        <p:xfrm>
          <a:off x="4070580" y="1627035"/>
          <a:ext cx="7813820" cy="45719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906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06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latin typeface="+mn-lt"/>
                          <a:ea typeface="Roboto"/>
                          <a:cs typeface="Roboto"/>
                          <a:sym typeface="Roboto"/>
                        </a:rPr>
                        <a:t>Lo bueno</a:t>
                      </a:r>
                      <a:endParaRPr sz="1800" b="1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latin typeface="+mn-lt"/>
                          <a:ea typeface="Roboto"/>
                          <a:cs typeface="Roboto"/>
                          <a:sym typeface="Roboto"/>
                        </a:rPr>
                        <a:t>Lo malo</a:t>
                      </a:r>
                      <a:endParaRPr sz="1800" b="1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36400">
                <a:tc>
                  <a:txBody>
                    <a:bodyPr/>
                    <a:lstStyle/>
                    <a:p>
                      <a:pPr marL="457200" lvl="0" indent="-3302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600"/>
                        <a:buFont typeface="Roboto"/>
                        <a:buChar char="●"/>
                      </a:pPr>
                      <a:r>
                        <a:rPr lang="es-ES" sz="1600" dirty="0">
                          <a:latin typeface="+mn-lt"/>
                          <a:ea typeface="Roboto"/>
                          <a:cs typeface="Roboto"/>
                          <a:sym typeface="Roboto"/>
                        </a:rPr>
                        <a:t>Simple.</a:t>
                      </a:r>
                      <a:endParaRPr sz="16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302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600"/>
                        <a:buFont typeface="Roboto"/>
                        <a:buChar char="●"/>
                      </a:pPr>
                      <a:r>
                        <a:rPr lang="es-ES" sz="1600" dirty="0">
                          <a:latin typeface="+mn-lt"/>
                          <a:ea typeface="Roboto"/>
                          <a:cs typeface="Roboto"/>
                          <a:sym typeface="Roboto"/>
                        </a:rPr>
                        <a:t>Útil para un sistema con un solo procesador.</a:t>
                      </a:r>
                      <a:endParaRPr sz="16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302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600"/>
                        <a:buFont typeface="Roboto"/>
                        <a:buChar char="●"/>
                      </a:pPr>
                      <a:r>
                        <a:rPr lang="es-ES" sz="1600" dirty="0">
                          <a:latin typeface="+mn-lt"/>
                          <a:ea typeface="Roboto"/>
                          <a:cs typeface="Roboto"/>
                          <a:sym typeface="Roboto"/>
                        </a:rPr>
                        <a:t>Uso inadecuado al abusar de la capacidad de habilitar y deshabilitar interrupciones.</a:t>
                      </a:r>
                      <a:endParaRPr sz="16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302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600"/>
                        <a:buFont typeface="Roboto"/>
                        <a:buChar char="●"/>
                      </a:pPr>
                      <a:r>
                        <a:rPr lang="es-ES" sz="1600" dirty="0">
                          <a:latin typeface="+mn-lt"/>
                          <a:ea typeface="Roboto"/>
                          <a:cs typeface="Roboto"/>
                          <a:sym typeface="Roboto"/>
                        </a:rPr>
                        <a:t>Esta aproximación no trabaja con sistemas con varios procesadores.</a:t>
                      </a:r>
                      <a:endParaRPr sz="16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302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600"/>
                        <a:buFont typeface="Roboto"/>
                        <a:buChar char="●"/>
                      </a:pPr>
                      <a:r>
                        <a:rPr lang="es-ES" sz="1600" dirty="0">
                          <a:latin typeface="+mn-lt"/>
                          <a:ea typeface="Roboto"/>
                          <a:cs typeface="Roboto"/>
                          <a:sym typeface="Roboto"/>
                        </a:rPr>
                        <a:t>Cuando se desactivan las interrupciones durante un periodo de tiempo largo, las interrupciones importantes pueden perderse.</a:t>
                      </a:r>
                      <a:endParaRPr sz="16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302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600"/>
                        <a:buFont typeface="Roboto"/>
                        <a:buChar char="●"/>
                      </a:pPr>
                      <a:r>
                        <a:rPr lang="es-ES" sz="1600" dirty="0">
                          <a:latin typeface="+mn-lt"/>
                          <a:ea typeface="Roboto"/>
                          <a:cs typeface="Roboto"/>
                          <a:sym typeface="Roboto"/>
                        </a:rPr>
                        <a:t>Ineficiente: el código para habilitar y deshabilitar interrupciones es lento (respecto al código que se ejecuta normalmente) en procesadores modernos.</a:t>
                      </a:r>
                      <a:endParaRPr sz="16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47"/>
          <p:cNvSpPr txBox="1">
            <a:spLocks noGrp="1"/>
          </p:cNvSpPr>
          <p:nvPr>
            <p:ph type="title"/>
          </p:nvPr>
        </p:nvSpPr>
        <p:spPr>
          <a:xfrm>
            <a:off x="397825" y="96038"/>
            <a:ext cx="8822825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Implementación de locks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49" name="Google Shape;849;p47"/>
          <p:cNvSpPr txBox="1">
            <a:spLocks noGrp="1"/>
          </p:cNvSpPr>
          <p:nvPr>
            <p:ph type="body" idx="1"/>
          </p:nvPr>
        </p:nvSpPr>
        <p:spPr>
          <a:xfrm>
            <a:off x="294968" y="961400"/>
            <a:ext cx="11499207" cy="602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b="1" dirty="0">
                <a:solidFill>
                  <a:schemeClr val="accent5"/>
                </a:solidFill>
                <a:latin typeface="+mn-lt"/>
              </a:rPr>
              <a:t>Implementación mediante el uso de instrucciones Load/Store</a:t>
            </a:r>
            <a:endParaRPr b="1" dirty="0">
              <a:solidFill>
                <a:schemeClr val="accent5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solidFill>
                <a:schemeClr val="accent5"/>
              </a:solidFill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sp>
        <p:nvSpPr>
          <p:cNvPr id="850" name="Google Shape;850;p47"/>
          <p:cNvSpPr txBox="1"/>
          <p:nvPr/>
        </p:nvSpPr>
        <p:spPr>
          <a:xfrm>
            <a:off x="294967" y="1612577"/>
            <a:ext cx="11710219" cy="1423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23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En esta solución por software, se usa una </a:t>
            </a:r>
            <a:r>
              <a:rPr lang="es-ES" sz="2000" b="1" dirty="0">
                <a:solidFill>
                  <a:schemeClr val="accent6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flag</a:t>
            </a:r>
            <a:r>
              <a:rPr lang="es-ES" sz="2300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 </a:t>
            </a:r>
            <a:r>
              <a:rPr lang="es-ES" sz="23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para determinar el </a:t>
            </a:r>
            <a:r>
              <a:rPr lang="es-ES" sz="23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estado</a:t>
            </a:r>
            <a:r>
              <a:rPr lang="es-ES" sz="23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.</a:t>
            </a: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23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La actualización se hace empleando instrucciones no atómicas.</a:t>
            </a:r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MX" sz="2200" dirty="0"/>
              <a:t>Esta solución </a:t>
            </a:r>
            <a:r>
              <a:rPr lang="es-MX" sz="2200" b="1" dirty="0"/>
              <a:t>no garantiza exclusión mutua</a:t>
            </a:r>
            <a:r>
              <a:rPr lang="es-MX" sz="2200" dirty="0"/>
              <a:t> — es un intento fallido (en breve veremos por que).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854" name="Google Shape;854;p47"/>
          <p:cNvSpPr/>
          <p:nvPr/>
        </p:nvSpPr>
        <p:spPr>
          <a:xfrm>
            <a:off x="6881536" y="3639156"/>
            <a:ext cx="3464100" cy="1009800"/>
          </a:xfrm>
          <a:prstGeom prst="diamond">
            <a:avLst/>
          </a:prstGeom>
          <a:solidFill>
            <a:srgbClr val="F3F3F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 err="1">
                <a:latin typeface="Consolas"/>
                <a:ea typeface="Consolas"/>
                <a:cs typeface="Consolas"/>
                <a:sym typeface="Consolas"/>
              </a:rPr>
              <a:t>mutex.</a:t>
            </a:r>
            <a:r>
              <a:rPr lang="es-ES" sz="1400" dirty="0" err="1">
                <a:solidFill>
                  <a:srgbClr val="CC0000"/>
                </a:solidFill>
                <a:latin typeface="Consolas"/>
                <a:ea typeface="Consolas"/>
                <a:cs typeface="Consolas"/>
                <a:sym typeface="Consolas"/>
              </a:rPr>
              <a:t>flag</a:t>
            </a:r>
            <a:r>
              <a:rPr lang="es-ES" sz="1400" dirty="0">
                <a:latin typeface="Consolas"/>
                <a:ea typeface="Consolas"/>
                <a:cs typeface="Consolas"/>
                <a:sym typeface="Consolas"/>
              </a:rPr>
              <a:t> == 1</a:t>
            </a:r>
            <a:endParaRPr sz="1400" dirty="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855" name="Google Shape;855;p47"/>
          <p:cNvCxnSpPr>
            <a:stCxn id="854" idx="3"/>
          </p:cNvCxnSpPr>
          <p:nvPr/>
        </p:nvCxnSpPr>
        <p:spPr>
          <a:xfrm>
            <a:off x="10345636" y="4144056"/>
            <a:ext cx="507000" cy="1122000"/>
          </a:xfrm>
          <a:prstGeom prst="bentConnector2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56" name="Google Shape;856;p47"/>
          <p:cNvCxnSpPr>
            <a:stCxn id="854" idx="1"/>
          </p:cNvCxnSpPr>
          <p:nvPr/>
        </p:nvCxnSpPr>
        <p:spPr>
          <a:xfrm flipH="1">
            <a:off x="6406936" y="4144056"/>
            <a:ext cx="474600" cy="967800"/>
          </a:xfrm>
          <a:prstGeom prst="bentConnector2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57" name="Google Shape;857;p47"/>
          <p:cNvSpPr/>
          <p:nvPr/>
        </p:nvSpPr>
        <p:spPr>
          <a:xfrm>
            <a:off x="6374536" y="3877656"/>
            <a:ext cx="507000" cy="2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latin typeface="Consolas"/>
                <a:ea typeface="Consolas"/>
                <a:cs typeface="Consolas"/>
                <a:sym typeface="Consolas"/>
              </a:rPr>
              <a:t>yes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58" name="Google Shape;858;p47"/>
          <p:cNvSpPr/>
          <p:nvPr/>
        </p:nvSpPr>
        <p:spPr>
          <a:xfrm>
            <a:off x="10345636" y="3877656"/>
            <a:ext cx="507000" cy="2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latin typeface="Consolas"/>
                <a:ea typeface="Consolas"/>
                <a:cs typeface="Consolas"/>
                <a:sym typeface="Consolas"/>
              </a:rPr>
              <a:t>no</a:t>
            </a:r>
            <a:endParaRPr sz="1200"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859" name="Google Shape;859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37639" y="5292393"/>
            <a:ext cx="518325" cy="72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0" name="Google Shape;860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92629" y="5352531"/>
            <a:ext cx="683019" cy="722700"/>
          </a:xfrm>
          <a:prstGeom prst="rect">
            <a:avLst/>
          </a:prstGeom>
          <a:noFill/>
          <a:ln>
            <a:noFill/>
          </a:ln>
        </p:spPr>
      </p:pic>
      <p:sp>
        <p:nvSpPr>
          <p:cNvPr id="861" name="Google Shape;861;p47"/>
          <p:cNvSpPr/>
          <p:nvPr/>
        </p:nvSpPr>
        <p:spPr>
          <a:xfrm>
            <a:off x="5719711" y="5352531"/>
            <a:ext cx="861600" cy="6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1" dirty="0">
                <a:latin typeface="Consolas"/>
                <a:ea typeface="Consolas"/>
                <a:cs typeface="Consolas"/>
                <a:sym typeface="Consolas"/>
              </a:rPr>
              <a:t>mutex </a:t>
            </a:r>
            <a:r>
              <a:rPr lang="es-ES" sz="1400" b="1" dirty="0" err="1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held</a:t>
            </a:r>
            <a:endParaRPr sz="1400" b="1" dirty="0">
              <a:solidFill>
                <a:srgbClr val="C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62" name="Google Shape;862;p47"/>
          <p:cNvSpPr/>
          <p:nvPr/>
        </p:nvSpPr>
        <p:spPr>
          <a:xfrm>
            <a:off x="10462775" y="5424687"/>
            <a:ext cx="1331400" cy="6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1" dirty="0">
                <a:latin typeface="Consolas"/>
                <a:ea typeface="Consolas"/>
                <a:cs typeface="Consolas"/>
                <a:sym typeface="Consolas"/>
              </a:rPr>
              <a:t>mutex </a:t>
            </a:r>
            <a:endParaRPr sz="1400" b="1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b="1" dirty="0" err="1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available</a:t>
            </a:r>
            <a:endParaRPr sz="1400" b="1" dirty="0">
              <a:solidFill>
                <a:srgbClr val="00B05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17" name="Tabla 16">
            <a:extLst>
              <a:ext uri="{FF2B5EF4-FFF2-40B4-BE49-F238E27FC236}">
                <a16:creationId xmlns:a16="http://schemas.microsoft.com/office/drawing/2014/main" id="{F5B5E424-94DB-446D-955F-6140DAE408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8801916"/>
              </p:ext>
            </p:extLst>
          </p:nvPr>
        </p:nvGraphicFramePr>
        <p:xfrm>
          <a:off x="1465867" y="3916067"/>
          <a:ext cx="3468238" cy="1859280"/>
        </p:xfrm>
        <a:graphic>
          <a:graphicData uri="http://schemas.openxmlformats.org/drawingml/2006/table">
            <a:tbl>
              <a:tblPr firstRow="1" bandRow="1">
                <a:tableStyleId>{F66A2E93-5121-40D1-B61B-F19DAAD5E98B}</a:tableStyleId>
              </a:tblPr>
              <a:tblGrid>
                <a:gridCol w="3468238">
                  <a:extLst>
                    <a:ext uri="{9D8B030D-6E8A-4147-A177-3AD203B41FA5}">
                      <a16:colId xmlns:a16="http://schemas.microsoft.com/office/drawing/2014/main" val="10891006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2400" b="1" dirty="0">
                          <a:latin typeface="Consolas" panose="020B0609020204030204" pitchFamily="49" charset="0"/>
                        </a:rPr>
                        <a:t>Lock (ADT)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61317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2000" b="1" dirty="0">
                          <a:solidFill>
                            <a:schemeClr val="accent6"/>
                          </a:solidFill>
                          <a:latin typeface="Consolas" panose="020B0609020204030204" pitchFamily="49" charset="0"/>
                        </a:rPr>
                        <a:t>flag</a:t>
                      </a:r>
                      <a:r>
                        <a:rPr lang="es-CO" sz="2000" b="1" dirty="0">
                          <a:latin typeface="Consolas" panose="020B0609020204030204" pitchFamily="49" charset="0"/>
                        </a:rPr>
                        <a:t>: {0, 1}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3445869"/>
                  </a:ext>
                </a:extLst>
              </a:tr>
              <a:tr h="382459">
                <a:tc>
                  <a:txBody>
                    <a:bodyPr/>
                    <a:lstStyle/>
                    <a:p>
                      <a:r>
                        <a:rPr lang="es-CO" sz="2000" b="1" dirty="0">
                          <a:latin typeface="Consolas" panose="020B0609020204030204" pitchFamily="49" charset="0"/>
                        </a:rPr>
                        <a:t>init()</a:t>
                      </a:r>
                    </a:p>
                    <a:p>
                      <a:r>
                        <a:rPr lang="es-CO" sz="2000" b="1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</a:rPr>
                        <a:t>lock()</a:t>
                      </a:r>
                    </a:p>
                    <a:p>
                      <a:r>
                        <a:rPr lang="es-CO" sz="2000" b="1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</a:rPr>
                        <a:t>unlock()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712076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4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/>
              <a:t>Implementación de locks</a:t>
            </a:r>
            <a:endParaRPr dirty="0"/>
          </a:p>
        </p:txBody>
      </p:sp>
      <p:sp>
        <p:nvSpPr>
          <p:cNvPr id="849" name="Google Shape;849;p47"/>
          <p:cNvSpPr txBox="1">
            <a:spLocks noGrp="1"/>
          </p:cNvSpPr>
          <p:nvPr>
            <p:ph type="body" idx="1"/>
          </p:nvPr>
        </p:nvSpPr>
        <p:spPr>
          <a:xfrm>
            <a:off x="294968" y="961400"/>
            <a:ext cx="11499207" cy="602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b="1" dirty="0">
                <a:solidFill>
                  <a:schemeClr val="accent5"/>
                </a:solidFill>
                <a:latin typeface="+mn-lt"/>
              </a:rPr>
              <a:t>Implementación mediante el uso de instrucciones Load/Store</a:t>
            </a:r>
            <a:endParaRPr b="1" dirty="0">
              <a:solidFill>
                <a:schemeClr val="accent5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solidFill>
                <a:schemeClr val="accent5"/>
              </a:solidFill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pSp>
        <p:nvGrpSpPr>
          <p:cNvPr id="851" name="Google Shape;851;p47"/>
          <p:cNvGrpSpPr/>
          <p:nvPr/>
        </p:nvGrpSpPr>
        <p:grpSpPr>
          <a:xfrm>
            <a:off x="5811439" y="1848588"/>
            <a:ext cx="6046838" cy="4672368"/>
            <a:chOff x="4906725" y="1676225"/>
            <a:chExt cx="6071975" cy="4672368"/>
          </a:xfrm>
        </p:grpSpPr>
        <p:sp>
          <p:nvSpPr>
            <p:cNvPr id="852" name="Google Shape;852;p47"/>
            <p:cNvSpPr txBox="1"/>
            <p:nvPr/>
          </p:nvSpPr>
          <p:spPr>
            <a:xfrm>
              <a:off x="5468300" y="1704275"/>
              <a:ext cx="5510400" cy="464431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typedef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struct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__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lock_t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{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int flag;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}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lock_t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;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void init(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lock_t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*mutex) {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// 0 -&gt; lock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is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available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, 1 -&gt;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held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mutex-&gt;flag = 0;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void lock(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lock_t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*mutex) {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while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(mutex-&gt;flag == 1) // TEST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the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flag</a:t>
              </a: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  ;                      // spin-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wait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(do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nothing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)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mutex-&gt;flag = 1;         //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now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SET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it!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void unlock(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lock_t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*mutex) {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mutex-&gt;flag = 0;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853" name="Google Shape;853;p47"/>
            <p:cNvSpPr txBox="1"/>
            <p:nvPr/>
          </p:nvSpPr>
          <p:spPr>
            <a:xfrm>
              <a:off x="4906725" y="1676225"/>
              <a:ext cx="463500" cy="46443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2</a:t>
              </a:r>
              <a:endParaRPr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3</a:t>
              </a:r>
              <a:endParaRPr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4</a:t>
              </a:r>
              <a:endParaRPr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5</a:t>
              </a:r>
              <a:endParaRPr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6</a:t>
              </a:r>
              <a:endParaRPr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7</a:t>
              </a:r>
              <a:endParaRPr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8</a:t>
              </a:r>
              <a:endParaRPr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9</a:t>
              </a:r>
              <a:endParaRPr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10</a:t>
              </a:r>
              <a:endParaRPr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11</a:t>
              </a:r>
              <a:endParaRPr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12</a:t>
              </a:r>
              <a:endParaRPr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13</a:t>
              </a:r>
              <a:endParaRPr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14</a:t>
              </a:r>
              <a:endParaRPr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15</a:t>
              </a:r>
              <a:endParaRPr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16</a:t>
              </a:r>
              <a:endParaRPr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17</a:t>
              </a:r>
              <a:endParaRPr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18</a:t>
              </a:r>
              <a:endParaRPr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2" name="Grupo 1">
            <a:extLst>
              <a:ext uri="{FF2B5EF4-FFF2-40B4-BE49-F238E27FC236}">
                <a16:creationId xmlns:a16="http://schemas.microsoft.com/office/drawing/2014/main" id="{4BC02018-60B9-406D-88F7-F8B30398CE1B}"/>
              </a:ext>
            </a:extLst>
          </p:cNvPr>
          <p:cNvGrpSpPr/>
          <p:nvPr/>
        </p:nvGrpSpPr>
        <p:grpSpPr>
          <a:xfrm>
            <a:off x="48484" y="4098545"/>
            <a:ext cx="6074464" cy="2436075"/>
            <a:chOff x="426521" y="4111069"/>
            <a:chExt cx="6074464" cy="2436075"/>
          </a:xfrm>
        </p:grpSpPr>
        <p:sp>
          <p:nvSpPr>
            <p:cNvPr id="854" name="Google Shape;854;p47"/>
            <p:cNvSpPr/>
            <p:nvPr/>
          </p:nvSpPr>
          <p:spPr>
            <a:xfrm>
              <a:off x="1588346" y="4111069"/>
              <a:ext cx="3464100" cy="1009800"/>
            </a:xfrm>
            <a:prstGeom prst="diamond">
              <a:avLst/>
            </a:prstGeom>
            <a:solidFill>
              <a:srgbClr val="F3F3F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 err="1">
                  <a:latin typeface="Consolas"/>
                  <a:ea typeface="Consolas"/>
                  <a:cs typeface="Consolas"/>
                  <a:sym typeface="Consolas"/>
                </a:rPr>
                <a:t>mutex.</a:t>
              </a:r>
              <a:r>
                <a:rPr lang="es-ES" sz="1400" dirty="0" err="1">
                  <a:solidFill>
                    <a:srgbClr val="CC0000"/>
                  </a:solidFill>
                  <a:latin typeface="Consolas"/>
                  <a:ea typeface="Consolas"/>
                  <a:cs typeface="Consolas"/>
                  <a:sym typeface="Consolas"/>
                </a:rPr>
                <a:t>flag</a:t>
              </a:r>
              <a:r>
                <a:rPr lang="es-ES" sz="1400" dirty="0">
                  <a:latin typeface="Consolas"/>
                  <a:ea typeface="Consolas"/>
                  <a:cs typeface="Consolas"/>
                  <a:sym typeface="Consolas"/>
                </a:rPr>
                <a:t> == 1</a:t>
              </a:r>
              <a:endParaRPr sz="1400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855" name="Google Shape;855;p47"/>
            <p:cNvCxnSpPr>
              <a:stCxn id="854" idx="3"/>
            </p:cNvCxnSpPr>
            <p:nvPr/>
          </p:nvCxnSpPr>
          <p:spPr>
            <a:xfrm>
              <a:off x="5052446" y="4615969"/>
              <a:ext cx="507000" cy="1122000"/>
            </a:xfrm>
            <a:prstGeom prst="bentConnector2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856" name="Google Shape;856;p47"/>
            <p:cNvCxnSpPr>
              <a:stCxn id="854" idx="1"/>
            </p:cNvCxnSpPr>
            <p:nvPr/>
          </p:nvCxnSpPr>
          <p:spPr>
            <a:xfrm flipH="1">
              <a:off x="1113746" y="4615969"/>
              <a:ext cx="474600" cy="967800"/>
            </a:xfrm>
            <a:prstGeom prst="bentConnector2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857" name="Google Shape;857;p47"/>
            <p:cNvSpPr/>
            <p:nvPr/>
          </p:nvSpPr>
          <p:spPr>
            <a:xfrm>
              <a:off x="1081346" y="4349569"/>
              <a:ext cx="507000" cy="26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latin typeface="Consolas"/>
                  <a:ea typeface="Consolas"/>
                  <a:cs typeface="Consolas"/>
                  <a:sym typeface="Consolas"/>
                </a:rPr>
                <a:t>yes</a:t>
              </a:r>
              <a:endParaRPr sz="12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858" name="Google Shape;858;p47"/>
            <p:cNvSpPr/>
            <p:nvPr/>
          </p:nvSpPr>
          <p:spPr>
            <a:xfrm>
              <a:off x="5052446" y="4349569"/>
              <a:ext cx="507000" cy="26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latin typeface="Consolas"/>
                  <a:ea typeface="Consolas"/>
                  <a:cs typeface="Consolas"/>
                  <a:sym typeface="Consolas"/>
                </a:rPr>
                <a:t>no</a:t>
              </a:r>
              <a:endParaRPr sz="12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pic>
          <p:nvPicPr>
            <p:cNvPr id="859" name="Google Shape;859;p4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344449" y="5764306"/>
              <a:ext cx="518325" cy="722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60" name="Google Shape;860;p4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299439" y="5824444"/>
              <a:ext cx="683019" cy="722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61" name="Google Shape;861;p47"/>
            <p:cNvSpPr/>
            <p:nvPr/>
          </p:nvSpPr>
          <p:spPr>
            <a:xfrm>
              <a:off x="426521" y="5824444"/>
              <a:ext cx="861600" cy="60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b="1" dirty="0">
                  <a:latin typeface="Consolas"/>
                  <a:ea typeface="Consolas"/>
                  <a:cs typeface="Consolas"/>
                  <a:sym typeface="Consolas"/>
                </a:rPr>
                <a:t>mutex </a:t>
              </a:r>
              <a:r>
                <a:rPr lang="es-ES" sz="1400" b="1" dirty="0" err="1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held</a:t>
              </a:r>
              <a:endParaRPr sz="1400" b="1" dirty="0">
                <a:solidFill>
                  <a:srgbClr val="0B6937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862" name="Google Shape;862;p47"/>
            <p:cNvSpPr/>
            <p:nvPr/>
          </p:nvSpPr>
          <p:spPr>
            <a:xfrm>
              <a:off x="5169585" y="5896600"/>
              <a:ext cx="1331400" cy="60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b="1" dirty="0">
                  <a:latin typeface="Consolas"/>
                  <a:ea typeface="Consolas"/>
                  <a:cs typeface="Consolas"/>
                  <a:sym typeface="Consolas"/>
                </a:rPr>
                <a:t>mutex </a:t>
              </a:r>
              <a:endParaRPr sz="1400" b="1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b="1" dirty="0" err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available</a:t>
              </a:r>
              <a:endParaRPr sz="14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aphicFrame>
        <p:nvGraphicFramePr>
          <p:cNvPr id="17" name="Tabla 16">
            <a:extLst>
              <a:ext uri="{FF2B5EF4-FFF2-40B4-BE49-F238E27FC236}">
                <a16:creationId xmlns:a16="http://schemas.microsoft.com/office/drawing/2014/main" id="{EAC642A7-1B46-4759-8215-0D3E87193B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5264072"/>
              </p:ext>
            </p:extLst>
          </p:nvPr>
        </p:nvGraphicFramePr>
        <p:xfrm>
          <a:off x="1151166" y="1776386"/>
          <a:ext cx="3468238" cy="1859280"/>
        </p:xfrm>
        <a:graphic>
          <a:graphicData uri="http://schemas.openxmlformats.org/drawingml/2006/table">
            <a:tbl>
              <a:tblPr firstRow="1" bandRow="1">
                <a:tableStyleId>{F66A2E93-5121-40D1-B61B-F19DAAD5E98B}</a:tableStyleId>
              </a:tblPr>
              <a:tblGrid>
                <a:gridCol w="3468238">
                  <a:extLst>
                    <a:ext uri="{9D8B030D-6E8A-4147-A177-3AD203B41FA5}">
                      <a16:colId xmlns:a16="http://schemas.microsoft.com/office/drawing/2014/main" val="10891006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2400" b="1" dirty="0">
                          <a:latin typeface="Consolas" panose="020B0609020204030204" pitchFamily="49" charset="0"/>
                        </a:rPr>
                        <a:t>Lock (ADT)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61317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2000" b="1" dirty="0">
                          <a:solidFill>
                            <a:schemeClr val="accent6"/>
                          </a:solidFill>
                          <a:latin typeface="Consolas" panose="020B0609020204030204" pitchFamily="49" charset="0"/>
                        </a:rPr>
                        <a:t>flag</a:t>
                      </a:r>
                      <a:r>
                        <a:rPr lang="es-CO" sz="2000" b="1" dirty="0">
                          <a:latin typeface="Consolas" panose="020B0609020204030204" pitchFamily="49" charset="0"/>
                        </a:rPr>
                        <a:t>: {0, 1}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3445869"/>
                  </a:ext>
                </a:extLst>
              </a:tr>
              <a:tr h="382459">
                <a:tc>
                  <a:txBody>
                    <a:bodyPr/>
                    <a:lstStyle/>
                    <a:p>
                      <a:r>
                        <a:rPr lang="es-CO" sz="2000" b="1" dirty="0">
                          <a:latin typeface="Consolas" panose="020B0609020204030204" pitchFamily="49" charset="0"/>
                        </a:rPr>
                        <a:t>init()</a:t>
                      </a:r>
                    </a:p>
                    <a:p>
                      <a:r>
                        <a:rPr lang="es-CO" sz="2000" b="1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</a:rPr>
                        <a:t>lock()</a:t>
                      </a:r>
                    </a:p>
                    <a:p>
                      <a:r>
                        <a:rPr lang="es-CO" sz="2000" b="1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</a:rPr>
                        <a:t>unlock()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71207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39520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48"/>
          <p:cNvSpPr txBox="1">
            <a:spLocks noGrp="1"/>
          </p:cNvSpPr>
          <p:nvPr>
            <p:ph type="title"/>
          </p:nvPr>
        </p:nvSpPr>
        <p:spPr>
          <a:xfrm>
            <a:off x="370649" y="96038"/>
            <a:ext cx="11310073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Implementación de locks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68" name="Google Shape;868;p48"/>
          <p:cNvSpPr txBox="1">
            <a:spLocks noGrp="1"/>
          </p:cNvSpPr>
          <p:nvPr>
            <p:ph type="body" idx="1"/>
          </p:nvPr>
        </p:nvSpPr>
        <p:spPr>
          <a:xfrm>
            <a:off x="370650" y="931217"/>
            <a:ext cx="10904700" cy="94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b="1" dirty="0">
                <a:solidFill>
                  <a:schemeClr val="accent5"/>
                </a:solidFill>
                <a:latin typeface="+mn-lt"/>
              </a:rPr>
              <a:t>Implementación mediante el uso de instrucciones Load/Store</a:t>
            </a:r>
            <a:endParaRPr b="1" dirty="0">
              <a:solidFill>
                <a:schemeClr val="accent5"/>
              </a:solidFill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200"/>
              <a:buChar char="●"/>
            </a:pPr>
            <a:r>
              <a:rPr lang="es-ES" sz="2200" b="1" dirty="0">
                <a:solidFill>
                  <a:schemeClr val="accent2"/>
                </a:solidFill>
                <a:latin typeface="+mn-lt"/>
              </a:rPr>
              <a:t>Análisis - Caso 1</a:t>
            </a:r>
            <a:r>
              <a:rPr lang="es-ES" sz="2200" dirty="0">
                <a:solidFill>
                  <a:schemeClr val="accent2"/>
                </a:solidFill>
                <a:latin typeface="+mn-lt"/>
              </a:rPr>
              <a:t>:</a:t>
            </a:r>
            <a:r>
              <a:rPr lang="es-ES" sz="2200" dirty="0">
                <a:latin typeface="+mn-lt"/>
              </a:rPr>
              <a:t> </a:t>
            </a: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 dirty="0">
              <a:solidFill>
                <a:srgbClr val="E06666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 dirty="0">
              <a:solidFill>
                <a:schemeClr val="accent1"/>
              </a:solidFill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pSp>
        <p:nvGrpSpPr>
          <p:cNvPr id="873" name="Google Shape;873;p48"/>
          <p:cNvGrpSpPr/>
          <p:nvPr/>
        </p:nvGrpSpPr>
        <p:grpSpPr>
          <a:xfrm>
            <a:off x="1045388" y="2016532"/>
            <a:ext cx="3587224" cy="1175676"/>
            <a:chOff x="1045388" y="1898038"/>
            <a:chExt cx="3587224" cy="1175676"/>
          </a:xfrm>
        </p:grpSpPr>
        <p:sp>
          <p:nvSpPr>
            <p:cNvPr id="874" name="Google Shape;874;p48"/>
            <p:cNvSpPr txBox="1"/>
            <p:nvPr/>
          </p:nvSpPr>
          <p:spPr>
            <a:xfrm>
              <a:off x="1679112" y="1898038"/>
              <a:ext cx="2953500" cy="1175676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void lock(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lock_t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*mutex) {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while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(mutex-&gt;flag == 1);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mutex-&gt;flag = 1; 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875" name="Google Shape;875;p48"/>
            <p:cNvSpPr txBox="1"/>
            <p:nvPr/>
          </p:nvSpPr>
          <p:spPr>
            <a:xfrm>
              <a:off x="1045388" y="1898038"/>
              <a:ext cx="536700" cy="11756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10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11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12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13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aphicFrame>
        <p:nvGraphicFramePr>
          <p:cNvPr id="876" name="Google Shape;876;p48"/>
          <p:cNvGraphicFramePr/>
          <p:nvPr>
            <p:extLst>
              <p:ext uri="{D42A27DB-BD31-4B8C-83A1-F6EECF244321}">
                <p14:modId xmlns:p14="http://schemas.microsoft.com/office/powerpoint/2010/main" val="951871502"/>
              </p:ext>
            </p:extLst>
          </p:nvPr>
        </p:nvGraphicFramePr>
        <p:xfrm>
          <a:off x="916650" y="3465400"/>
          <a:ext cx="3844700" cy="3163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922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2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9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Thread 1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Thread 2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call</a:t>
                      </a:r>
                      <a:r>
                        <a:rPr lang="es-ES" sz="10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lock() </a:t>
                      </a:r>
                      <a:endParaRPr sz="10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while</a:t>
                      </a:r>
                      <a:r>
                        <a:rPr lang="es-ES" sz="10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(flag == 1) </a:t>
                      </a:r>
                      <a:endParaRPr sz="10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flag = 1; </a:t>
                      </a:r>
                      <a:endParaRPr sz="10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interrupt: T1 → T2 </a:t>
                      </a:r>
                      <a:endParaRPr sz="10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call</a:t>
                      </a:r>
                      <a:r>
                        <a:rPr lang="es-ES" sz="10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lock()</a:t>
                      </a:r>
                      <a:endParaRPr sz="10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while</a:t>
                      </a:r>
                      <a:r>
                        <a:rPr lang="es-ES" sz="10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(flag == 1)</a:t>
                      </a:r>
                      <a:endParaRPr sz="10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 err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while</a:t>
                      </a:r>
                      <a:r>
                        <a:rPr lang="es-ES" sz="10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(flag == 1)</a:t>
                      </a:r>
                      <a:endParaRPr sz="10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b="1" dirty="0" err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interrupt</a:t>
                      </a:r>
                      <a:r>
                        <a:rPr lang="es-ES" sz="10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: T2 → T1</a:t>
                      </a:r>
                      <a:endParaRPr sz="10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30" name="Google Shape;610;p33">
            <a:extLst>
              <a:ext uri="{FF2B5EF4-FFF2-40B4-BE49-F238E27FC236}">
                <a16:creationId xmlns:a16="http://schemas.microsoft.com/office/drawing/2014/main" id="{F74FD8AC-1C4F-4133-8AE5-8B3E132B193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4162613"/>
              </p:ext>
            </p:extLst>
          </p:nvPr>
        </p:nvGraphicFramePr>
        <p:xfrm>
          <a:off x="5310017" y="2265735"/>
          <a:ext cx="1571966" cy="36268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52299">
                  <a:extLst>
                    <a:ext uri="{9D8B030D-6E8A-4147-A177-3AD203B41FA5}">
                      <a16:colId xmlns:a16="http://schemas.microsoft.com/office/drawing/2014/main" val="1077154393"/>
                    </a:ext>
                  </a:extLst>
                </a:gridCol>
                <a:gridCol w="5259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36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458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Linea</a:t>
                      </a:r>
                      <a:endParaRPr sz="1800" b="1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63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4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Ti</a:t>
                      </a:r>
                      <a:endParaRPr sz="14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T1</a:t>
                      </a:r>
                      <a:endParaRPr sz="1400" b="1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4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T2</a:t>
                      </a:r>
                      <a:endParaRPr sz="1400" b="1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63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400" b="0" dirty="0">
                          <a:latin typeface="Consolas" panose="020B0609020204030204" pitchFamily="49" charset="0"/>
                        </a:rPr>
                        <a:t>T1</a:t>
                      </a:r>
                      <a:endParaRPr sz="1400" b="0" dirty="0"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400" b="0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 sz="1400" b="0" dirty="0">
                        <a:solidFill>
                          <a:schemeClr val="accent1"/>
                        </a:solidFill>
                        <a:latin typeface="Consolas" panose="020B0609020204030204" pitchFamily="49" charset="0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dirty="0">
                        <a:solidFill>
                          <a:schemeClr val="accent1"/>
                        </a:solidFill>
                        <a:latin typeface="Consolas" panose="020B0609020204030204" pitchFamily="49" charset="0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63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dirty="0"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400" b="0" dirty="0"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  <a:endParaRPr sz="1400" b="0" dirty="0">
                        <a:latin typeface="Consolas" panose="020B0609020204030204" pitchFamily="49" charset="0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dirty="0">
                        <a:latin typeface="Consolas" panose="020B0609020204030204" pitchFamily="49" charset="0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863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dirty="0">
                        <a:latin typeface="Consolas" panose="020B0609020204030204" pitchFamily="49" charset="0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400" b="0" dirty="0">
                          <a:latin typeface="Consolas" panose="020B0609020204030204" pitchFamily="49" charset="0"/>
                        </a:rPr>
                        <a:t>12</a:t>
                      </a:r>
                      <a:endParaRPr sz="1400" b="0" dirty="0"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dirty="0"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863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400" b="0" dirty="0"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T2</a:t>
                      </a:r>
                      <a:endParaRPr sz="1400" b="0" dirty="0">
                        <a:latin typeface="Consolas" panose="020B0609020204030204" pitchFamily="49" charset="0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dirty="0"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400" b="0" dirty="0">
                          <a:latin typeface="Consolas" panose="020B0609020204030204" pitchFamily="49" charset="0"/>
                        </a:rPr>
                        <a:t>10</a:t>
                      </a:r>
                      <a:endParaRPr sz="1400" b="0" dirty="0"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863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dirty="0">
                        <a:latin typeface="Consolas" panose="020B0609020204030204" pitchFamily="49" charset="0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dirty="0"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400" b="0" dirty="0">
                          <a:latin typeface="Consolas" panose="020B0609020204030204" pitchFamily="49" charset="0"/>
                        </a:rPr>
                        <a:t>11</a:t>
                      </a:r>
                      <a:endParaRPr sz="1400" b="0" dirty="0"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863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dirty="0">
                        <a:latin typeface="Consolas" panose="020B0609020204030204" pitchFamily="49" charset="0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dirty="0"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400" b="0" dirty="0">
                          <a:latin typeface="Consolas" panose="020B0609020204030204" pitchFamily="49" charset="0"/>
                        </a:rPr>
                        <a:t>11</a:t>
                      </a:r>
                      <a:endParaRPr sz="1400" b="0" dirty="0"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9208092"/>
                  </a:ext>
                </a:extLst>
              </a:tr>
              <a:tr h="29863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400" b="0" dirty="0">
                          <a:latin typeface="Consolas" panose="020B0609020204030204" pitchFamily="49" charset="0"/>
                        </a:rPr>
                        <a:t>T1</a:t>
                      </a:r>
                      <a:endParaRPr sz="1400" b="0" dirty="0"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400" b="0" dirty="0"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  <a:endParaRPr sz="1400" b="0" dirty="0">
                        <a:latin typeface="Consolas" panose="020B0609020204030204" pitchFamily="49" charset="0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dirty="0">
                        <a:latin typeface="Consolas" panose="020B0609020204030204" pitchFamily="49" charset="0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1" name="Google Shape;730;p38">
            <a:extLst>
              <a:ext uri="{FF2B5EF4-FFF2-40B4-BE49-F238E27FC236}">
                <a16:creationId xmlns:a16="http://schemas.microsoft.com/office/drawing/2014/main" id="{1533EAE0-0F39-415C-88D6-DEC63696E423}"/>
              </a:ext>
            </a:extLst>
          </p:cNvPr>
          <p:cNvSpPr txBox="1"/>
          <p:nvPr/>
        </p:nvSpPr>
        <p:spPr>
          <a:xfrm>
            <a:off x="7559388" y="2239708"/>
            <a:ext cx="4023900" cy="12006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</a:t>
            </a:r>
            <a:r>
              <a:rPr lang="es-ES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2000" b="1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&amp;mutex</a:t>
            </a:r>
            <a:r>
              <a:rPr lang="es-ES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0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balance = balance + 1;</a:t>
            </a:r>
            <a:endParaRPr sz="2000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unlock</a:t>
            </a:r>
            <a:r>
              <a:rPr lang="es-ES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2000" b="1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&amp;mutex</a:t>
            </a:r>
            <a:r>
              <a:rPr lang="es-ES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0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5" name="Tabla 5">
            <a:extLst>
              <a:ext uri="{FF2B5EF4-FFF2-40B4-BE49-F238E27FC236}">
                <a16:creationId xmlns:a16="http://schemas.microsoft.com/office/drawing/2014/main" id="{6A9E6A7E-B7F6-4357-BCE8-CC9E5070F9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0929373"/>
              </p:ext>
            </p:extLst>
          </p:nvPr>
        </p:nvGraphicFramePr>
        <p:xfrm>
          <a:off x="7614338" y="4277265"/>
          <a:ext cx="3968950" cy="1742440"/>
        </p:xfrm>
        <a:graphic>
          <a:graphicData uri="http://schemas.openxmlformats.org/drawingml/2006/table">
            <a:tbl>
              <a:tblPr firstRow="1" bandRow="1">
                <a:tableStyleId>{F66A2E93-5121-40D1-B61B-F19DAAD5E98B}</a:tableStyleId>
              </a:tblPr>
              <a:tblGrid>
                <a:gridCol w="1963170">
                  <a:extLst>
                    <a:ext uri="{9D8B030D-6E8A-4147-A177-3AD203B41FA5}">
                      <a16:colId xmlns:a16="http://schemas.microsoft.com/office/drawing/2014/main" val="1691757651"/>
                    </a:ext>
                  </a:extLst>
                </a:gridCol>
                <a:gridCol w="2005780">
                  <a:extLst>
                    <a:ext uri="{9D8B030D-6E8A-4147-A177-3AD203B41FA5}">
                      <a16:colId xmlns:a16="http://schemas.microsoft.com/office/drawing/2014/main" val="14192729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CO" dirty="0"/>
                        <a:t>🔐</a:t>
                      </a:r>
                      <a:r>
                        <a:rPr lang="es-CO" b="1" dirty="0">
                          <a:latin typeface="Consolas" panose="020B0609020204030204" pitchFamily="49" charset="0"/>
                        </a:rPr>
                        <a:t>mutex.flag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740320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endParaRPr lang="es-CO" dirty="0"/>
                    </a:p>
                    <a:p>
                      <a:pPr algn="ctr"/>
                      <a:r>
                        <a:rPr lang="es-CO" sz="4800" dirty="0"/>
                        <a:t>🚽</a:t>
                      </a:r>
                      <a:endParaRPr lang="es-CO" dirty="0"/>
                    </a:p>
                    <a:p>
                      <a:endParaRPr lang="es-CO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658521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48"/>
          <p:cNvSpPr txBox="1">
            <a:spLocks noGrp="1"/>
          </p:cNvSpPr>
          <p:nvPr>
            <p:ph type="title"/>
          </p:nvPr>
        </p:nvSpPr>
        <p:spPr>
          <a:xfrm>
            <a:off x="370650" y="96038"/>
            <a:ext cx="8850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Implementación de locks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68" name="Google Shape;868;p48"/>
          <p:cNvSpPr txBox="1">
            <a:spLocks noGrp="1"/>
          </p:cNvSpPr>
          <p:nvPr>
            <p:ph type="body" idx="1"/>
          </p:nvPr>
        </p:nvSpPr>
        <p:spPr>
          <a:xfrm>
            <a:off x="370650" y="902189"/>
            <a:ext cx="10904700" cy="94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b="1" dirty="0">
                <a:solidFill>
                  <a:schemeClr val="accent5"/>
                </a:solidFill>
                <a:latin typeface="+mn-lt"/>
              </a:rPr>
              <a:t>Implementación mediante el uso de instrucciones Load/Store</a:t>
            </a:r>
            <a:endParaRPr b="1" dirty="0">
              <a:solidFill>
                <a:schemeClr val="accent5"/>
              </a:solidFill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200"/>
              <a:buChar char="●"/>
            </a:pPr>
            <a:r>
              <a:rPr lang="es-ES" sz="2200" b="1" dirty="0">
                <a:solidFill>
                  <a:schemeClr val="accent2"/>
                </a:solidFill>
                <a:latin typeface="+mn-lt"/>
              </a:rPr>
              <a:t>Análisis - Caso 1</a:t>
            </a:r>
            <a:r>
              <a:rPr lang="es-ES" sz="2200" dirty="0">
                <a:solidFill>
                  <a:schemeClr val="accent2"/>
                </a:solidFill>
                <a:latin typeface="+mn-lt"/>
              </a:rPr>
              <a:t>:</a:t>
            </a:r>
            <a:r>
              <a:rPr lang="es-ES" sz="2200" dirty="0">
                <a:latin typeface="+mn-lt"/>
              </a:rPr>
              <a:t> </a:t>
            </a: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 dirty="0">
              <a:solidFill>
                <a:srgbClr val="E06666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 dirty="0">
              <a:solidFill>
                <a:schemeClr val="accent1"/>
              </a:solidFill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pSp>
        <p:nvGrpSpPr>
          <p:cNvPr id="869" name="Google Shape;869;p48"/>
          <p:cNvGrpSpPr/>
          <p:nvPr/>
        </p:nvGrpSpPr>
        <p:grpSpPr>
          <a:xfrm>
            <a:off x="7765500" y="5700875"/>
            <a:ext cx="2148650" cy="400200"/>
            <a:chOff x="6264175" y="6229625"/>
            <a:chExt cx="2148650" cy="400200"/>
          </a:xfrm>
        </p:grpSpPr>
        <p:cxnSp>
          <p:nvCxnSpPr>
            <p:cNvPr id="870" name="Google Shape;870;p48"/>
            <p:cNvCxnSpPr/>
            <p:nvPr/>
          </p:nvCxnSpPr>
          <p:spPr>
            <a:xfrm rot="10800000" flipH="1">
              <a:off x="7073625" y="6428825"/>
              <a:ext cx="1339200" cy="18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871" name="Google Shape;871;p48"/>
            <p:cNvSpPr txBox="1"/>
            <p:nvPr/>
          </p:nvSpPr>
          <p:spPr>
            <a:xfrm>
              <a:off x="6264175" y="6229625"/>
              <a:ext cx="700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Time</a:t>
              </a:r>
              <a:endParaRPr>
                <a:solidFill>
                  <a:schemeClr val="dk1"/>
                </a:solidFill>
              </a:endParaRPr>
            </a:p>
          </p:txBody>
        </p:sp>
      </p:grpSp>
      <p:graphicFrame>
        <p:nvGraphicFramePr>
          <p:cNvPr id="872" name="Google Shape;872;p48"/>
          <p:cNvGraphicFramePr/>
          <p:nvPr/>
        </p:nvGraphicFramePr>
        <p:xfrm>
          <a:off x="5273775" y="2860063"/>
          <a:ext cx="6308525" cy="27734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280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8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8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8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8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8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86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8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586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586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3425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línea[T1]</a:t>
                      </a:r>
                      <a:endParaRPr sz="12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995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Thread T1</a:t>
                      </a:r>
                      <a:endParaRPr sz="1200" b="1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995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Thread T2</a:t>
                      </a:r>
                      <a:endParaRPr sz="1600" b="1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25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línea[T2]</a:t>
                      </a:r>
                      <a:endParaRPr sz="1600" b="1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25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425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995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flag</a:t>
                      </a:r>
                      <a:endParaRPr sz="16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873" name="Google Shape;873;p48"/>
          <p:cNvGrpSpPr/>
          <p:nvPr/>
        </p:nvGrpSpPr>
        <p:grpSpPr>
          <a:xfrm>
            <a:off x="1045388" y="2031046"/>
            <a:ext cx="3587224" cy="1175676"/>
            <a:chOff x="1045388" y="1898038"/>
            <a:chExt cx="3587224" cy="1175676"/>
          </a:xfrm>
        </p:grpSpPr>
        <p:sp>
          <p:nvSpPr>
            <p:cNvPr id="874" name="Google Shape;874;p48"/>
            <p:cNvSpPr txBox="1"/>
            <p:nvPr/>
          </p:nvSpPr>
          <p:spPr>
            <a:xfrm>
              <a:off x="1679112" y="1898038"/>
              <a:ext cx="2953500" cy="1175676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void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lock(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lock_t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*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mutex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) {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while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(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mutex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-&gt;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flag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== 1);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mutex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-&gt;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flag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= 1; 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875" name="Google Shape;875;p48"/>
            <p:cNvSpPr txBox="1"/>
            <p:nvPr/>
          </p:nvSpPr>
          <p:spPr>
            <a:xfrm>
              <a:off x="1045388" y="1898038"/>
              <a:ext cx="536700" cy="11756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10</a:t>
              </a:r>
              <a:endParaRPr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11</a:t>
              </a:r>
              <a:endParaRPr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12</a:t>
              </a:r>
              <a:endParaRPr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13</a:t>
              </a:r>
              <a:endParaRPr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aphicFrame>
        <p:nvGraphicFramePr>
          <p:cNvPr id="876" name="Google Shape;876;p48"/>
          <p:cNvGraphicFramePr/>
          <p:nvPr/>
        </p:nvGraphicFramePr>
        <p:xfrm>
          <a:off x="916650" y="3465400"/>
          <a:ext cx="3844700" cy="3163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922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2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9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Thread 1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Thread 2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call</a:t>
                      </a:r>
                      <a:r>
                        <a:rPr lang="es-ES" sz="10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lock() </a:t>
                      </a:r>
                      <a:endParaRPr sz="10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while (flag == 1) 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flag = 1; 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interrupt: T1 → T2 </a:t>
                      </a:r>
                      <a:endParaRPr sz="10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call</a:t>
                      </a:r>
                      <a:r>
                        <a:rPr lang="es-ES" sz="10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lock()</a:t>
                      </a:r>
                      <a:endParaRPr sz="10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while (flag == 1)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while (flag == 1)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interrupt: T2 → T1</a:t>
                      </a:r>
                      <a:endParaRPr sz="10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77" name="Google Shape;877;p48"/>
          <p:cNvSpPr txBox="1"/>
          <p:nvPr/>
        </p:nvSpPr>
        <p:spPr>
          <a:xfrm>
            <a:off x="6943725" y="2149150"/>
            <a:ext cx="933450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L(T1)</a:t>
            </a:r>
            <a:endParaRPr sz="1600" b="1" dirty="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78" name="Google Shape;878;p48"/>
          <p:cNvSpPr txBox="1"/>
          <p:nvPr/>
        </p:nvSpPr>
        <p:spPr>
          <a:xfrm>
            <a:off x="8686799" y="4776175"/>
            <a:ext cx="828675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L(T2)</a:t>
            </a:r>
            <a:endParaRPr sz="1600" b="1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879" name="Google Shape;879;p48"/>
          <p:cNvCxnSpPr>
            <a:cxnSpLocks/>
            <a:stCxn id="877" idx="2"/>
          </p:cNvCxnSpPr>
          <p:nvPr/>
        </p:nvCxnSpPr>
        <p:spPr>
          <a:xfrm flipH="1">
            <a:off x="7407900" y="2580007"/>
            <a:ext cx="2550" cy="290043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80" name="Google Shape;880;p48"/>
          <p:cNvCxnSpPr>
            <a:cxnSpLocks/>
            <a:stCxn id="878" idx="0"/>
          </p:cNvCxnSpPr>
          <p:nvPr/>
        </p:nvCxnSpPr>
        <p:spPr>
          <a:xfrm flipH="1" flipV="1">
            <a:off x="9095351" y="4472275"/>
            <a:ext cx="5786" cy="3039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881" name="Google Shape;881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09336" y="3704534"/>
            <a:ext cx="229850" cy="32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2" name="Google Shape;882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65646" y="3422608"/>
            <a:ext cx="384650" cy="406991"/>
          </a:xfrm>
          <a:prstGeom prst="rect">
            <a:avLst/>
          </a:prstGeom>
          <a:noFill/>
          <a:ln>
            <a:noFill/>
          </a:ln>
        </p:spPr>
      </p:pic>
      <p:sp>
        <p:nvSpPr>
          <p:cNvPr id="883" name="Google Shape;883;p48"/>
          <p:cNvSpPr/>
          <p:nvPr/>
        </p:nvSpPr>
        <p:spPr>
          <a:xfrm>
            <a:off x="7912550" y="3313000"/>
            <a:ext cx="67127" cy="303927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sp>
      <p:pic>
        <p:nvPicPr>
          <p:cNvPr id="884" name="Google Shape;884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10174" y="3712850"/>
            <a:ext cx="287212" cy="30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5" name="Google Shape;885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59749" y="3712837"/>
            <a:ext cx="287212" cy="30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6" name="Google Shape;886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56411" y="3704546"/>
            <a:ext cx="229850" cy="32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7" name="Google Shape;887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51136" y="3704559"/>
            <a:ext cx="229850" cy="32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8" name="Google Shape;888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72636" y="3704559"/>
            <a:ext cx="229850" cy="32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9" name="Google Shape;889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17736" y="3704534"/>
            <a:ext cx="229850" cy="320525"/>
          </a:xfrm>
          <a:prstGeom prst="rect">
            <a:avLst/>
          </a:prstGeom>
          <a:noFill/>
          <a:ln>
            <a:noFill/>
          </a:ln>
        </p:spPr>
      </p:pic>
      <p:sp>
        <p:nvSpPr>
          <p:cNvPr id="890" name="Google Shape;890;p48"/>
          <p:cNvSpPr/>
          <p:nvPr/>
        </p:nvSpPr>
        <p:spPr>
          <a:xfrm>
            <a:off x="9313150" y="3313000"/>
            <a:ext cx="67127" cy="303927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891" name="Google Shape;891;p48"/>
          <p:cNvSpPr/>
          <p:nvPr/>
        </p:nvSpPr>
        <p:spPr>
          <a:xfrm>
            <a:off x="10429725" y="3295225"/>
            <a:ext cx="67127" cy="303927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p49"/>
          <p:cNvSpPr txBox="1">
            <a:spLocks noGrp="1"/>
          </p:cNvSpPr>
          <p:nvPr>
            <p:ph type="title"/>
          </p:nvPr>
        </p:nvSpPr>
        <p:spPr>
          <a:xfrm>
            <a:off x="353485" y="96038"/>
            <a:ext cx="8867166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Implementación de locks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97" name="Google Shape;897;p49"/>
          <p:cNvSpPr txBox="1">
            <a:spLocks noGrp="1"/>
          </p:cNvSpPr>
          <p:nvPr>
            <p:ph type="body" idx="1"/>
          </p:nvPr>
        </p:nvSpPr>
        <p:spPr>
          <a:xfrm>
            <a:off x="353484" y="783222"/>
            <a:ext cx="11485031" cy="94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b="1" dirty="0">
                <a:solidFill>
                  <a:schemeClr val="accent5"/>
                </a:solidFill>
                <a:latin typeface="+mn-lt"/>
              </a:rPr>
              <a:t>Implementación mediante el uso de instrucciones Load/Store</a:t>
            </a:r>
            <a:endParaRPr b="1" dirty="0">
              <a:solidFill>
                <a:schemeClr val="accent5"/>
              </a:solidFill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200"/>
              <a:buChar char="●"/>
            </a:pPr>
            <a:r>
              <a:rPr lang="es-ES" sz="2200" b="1" dirty="0">
                <a:solidFill>
                  <a:schemeClr val="accent2"/>
                </a:solidFill>
                <a:latin typeface="+mn-lt"/>
              </a:rPr>
              <a:t>Análisis - Caso 2</a:t>
            </a:r>
            <a:r>
              <a:rPr lang="es-ES" sz="2200" dirty="0">
                <a:solidFill>
                  <a:schemeClr val="accent2"/>
                </a:solidFill>
                <a:latin typeface="+mn-lt"/>
              </a:rPr>
              <a:t>: </a:t>
            </a:r>
            <a:r>
              <a:rPr lang="es-ES" sz="2200" b="1" dirty="0">
                <a:solidFill>
                  <a:srgbClr val="FF0000"/>
                </a:solidFill>
                <a:latin typeface="+mn-lt"/>
              </a:rPr>
              <a:t>Problema - La exclusión mutua deja de satisfacerse</a:t>
            </a:r>
            <a:r>
              <a:rPr lang="es-ES" sz="2200" dirty="0">
                <a:latin typeface="+mn-lt"/>
              </a:rPr>
              <a:t> </a:t>
            </a: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 dirty="0">
              <a:solidFill>
                <a:srgbClr val="E06666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 dirty="0">
              <a:solidFill>
                <a:schemeClr val="accent1"/>
              </a:solidFill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pSp>
        <p:nvGrpSpPr>
          <p:cNvPr id="902" name="Google Shape;902;p49"/>
          <p:cNvGrpSpPr/>
          <p:nvPr/>
        </p:nvGrpSpPr>
        <p:grpSpPr>
          <a:xfrm>
            <a:off x="1045388" y="1924432"/>
            <a:ext cx="3587224" cy="1175676"/>
            <a:chOff x="1045388" y="1898038"/>
            <a:chExt cx="3587224" cy="1175676"/>
          </a:xfrm>
        </p:grpSpPr>
        <p:sp>
          <p:nvSpPr>
            <p:cNvPr id="903" name="Google Shape;903;p49"/>
            <p:cNvSpPr txBox="1"/>
            <p:nvPr/>
          </p:nvSpPr>
          <p:spPr>
            <a:xfrm>
              <a:off x="1679112" y="1898038"/>
              <a:ext cx="2953500" cy="1175676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void lock(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lock_t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*mutex) {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while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(mutex-&gt;flag == 1);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mutex-&gt;flag = 1; 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904" name="Google Shape;904;p49"/>
            <p:cNvSpPr txBox="1"/>
            <p:nvPr/>
          </p:nvSpPr>
          <p:spPr>
            <a:xfrm>
              <a:off x="1045388" y="1898038"/>
              <a:ext cx="536700" cy="11756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10</a:t>
              </a:r>
              <a:endParaRPr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11</a:t>
              </a:r>
              <a:endParaRPr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12</a:t>
              </a:r>
              <a:endParaRPr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13</a:t>
              </a:r>
              <a:endParaRPr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aphicFrame>
        <p:nvGraphicFramePr>
          <p:cNvPr id="905" name="Google Shape;905;p49"/>
          <p:cNvGraphicFramePr/>
          <p:nvPr/>
        </p:nvGraphicFramePr>
        <p:xfrm>
          <a:off x="992850" y="3251050"/>
          <a:ext cx="3844700" cy="3163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922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2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9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Thread 1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Thread 2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call</a:t>
                      </a:r>
                      <a:r>
                        <a:rPr lang="es-ES" sz="10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lock() </a:t>
                      </a:r>
                      <a:endParaRPr sz="10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while</a:t>
                      </a:r>
                      <a:r>
                        <a:rPr lang="es-ES" sz="10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(flag == 1) </a:t>
                      </a:r>
                      <a:endParaRPr sz="10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interrupt: T1 → T2</a:t>
                      </a:r>
                      <a:endParaRPr sz="10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 err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call</a:t>
                      </a:r>
                      <a:r>
                        <a:rPr lang="es-ES" sz="10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lock()</a:t>
                      </a:r>
                      <a:endParaRPr sz="10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 err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while</a:t>
                      </a:r>
                      <a:r>
                        <a:rPr lang="es-ES" sz="10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(flag == 1)</a:t>
                      </a:r>
                      <a:endParaRPr sz="10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flag = 1;</a:t>
                      </a:r>
                      <a:endParaRPr sz="10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interrupt: T2 → T1</a:t>
                      </a:r>
                      <a:endParaRPr sz="10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flag = 1; </a:t>
                      </a:r>
                      <a:endParaRPr sz="10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29" name="Google Shape;610;p33">
            <a:extLst>
              <a:ext uri="{FF2B5EF4-FFF2-40B4-BE49-F238E27FC236}">
                <a16:creationId xmlns:a16="http://schemas.microsoft.com/office/drawing/2014/main" id="{B63427EE-2B98-4A46-82AD-855950E64C3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61185375"/>
              </p:ext>
            </p:extLst>
          </p:nvPr>
        </p:nvGraphicFramePr>
        <p:xfrm>
          <a:off x="5439961" y="2485738"/>
          <a:ext cx="1571966" cy="32306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52299">
                  <a:extLst>
                    <a:ext uri="{9D8B030D-6E8A-4147-A177-3AD203B41FA5}">
                      <a16:colId xmlns:a16="http://schemas.microsoft.com/office/drawing/2014/main" val="1077154393"/>
                    </a:ext>
                  </a:extLst>
                </a:gridCol>
                <a:gridCol w="5259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36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458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Linea</a:t>
                      </a:r>
                      <a:endParaRPr sz="1800" b="1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863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4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Ti</a:t>
                      </a:r>
                      <a:endParaRPr sz="14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T1</a:t>
                      </a:r>
                      <a:endParaRPr sz="1400" b="1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4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T2</a:t>
                      </a:r>
                      <a:endParaRPr sz="1400" b="1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63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400" b="0" dirty="0">
                          <a:latin typeface="Consolas" panose="020B0609020204030204" pitchFamily="49" charset="0"/>
                        </a:rPr>
                        <a:t>T1</a:t>
                      </a:r>
                      <a:endParaRPr sz="1400" b="0" dirty="0"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dirty="0">
                        <a:solidFill>
                          <a:schemeClr val="accent1"/>
                        </a:solidFill>
                        <a:latin typeface="Consolas" panose="020B0609020204030204" pitchFamily="49" charset="0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63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dirty="0">
                        <a:latin typeface="Consolas" panose="020B0609020204030204" pitchFamily="49" charset="0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400" b="0" dirty="0">
                          <a:solidFill>
                            <a:schemeClr val="tx1"/>
                          </a:solidFill>
                          <a:latin typeface="Consolas" panose="020B0609020204030204" pitchFamily="49" charset="0"/>
                        </a:rPr>
                        <a:t>11</a:t>
                      </a:r>
                      <a:endParaRPr sz="1400" b="0" dirty="0">
                        <a:solidFill>
                          <a:schemeClr val="tx1"/>
                        </a:solidFill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dirty="0"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863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400" b="0" dirty="0"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T2</a:t>
                      </a:r>
                      <a:endParaRPr sz="1400" b="0" dirty="0">
                        <a:latin typeface="Consolas" panose="020B0609020204030204" pitchFamily="49" charset="0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dirty="0"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400" b="0" dirty="0">
                          <a:latin typeface="Consolas" panose="020B0609020204030204" pitchFamily="49" charset="0"/>
                        </a:rPr>
                        <a:t>10</a:t>
                      </a:r>
                      <a:endParaRPr sz="1400" b="0" dirty="0"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863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dirty="0">
                        <a:latin typeface="Consolas" panose="020B0609020204030204" pitchFamily="49" charset="0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dirty="0"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400" b="0" dirty="0">
                          <a:latin typeface="Consolas" panose="020B0609020204030204" pitchFamily="49" charset="0"/>
                        </a:rPr>
                        <a:t>11</a:t>
                      </a:r>
                      <a:endParaRPr sz="1400" b="0" dirty="0"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863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dirty="0">
                        <a:latin typeface="Consolas" panose="020B0609020204030204" pitchFamily="49" charset="0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dirty="0"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400" b="0" dirty="0">
                          <a:latin typeface="Consolas" panose="020B0609020204030204" pitchFamily="49" charset="0"/>
                        </a:rPr>
                        <a:t>12</a:t>
                      </a:r>
                      <a:endParaRPr sz="1400" b="0" dirty="0"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9208092"/>
                  </a:ext>
                </a:extLst>
              </a:tr>
              <a:tr h="298639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400" b="0" dirty="0">
                          <a:latin typeface="Consolas" panose="020B0609020204030204" pitchFamily="49" charset="0"/>
                        </a:rPr>
                        <a:t>T1</a:t>
                      </a:r>
                      <a:endParaRPr sz="1400" b="0" dirty="0">
                        <a:latin typeface="Consolas" panose="020B0609020204030204" pitchFamily="49" charset="0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400" b="0" dirty="0">
                          <a:latin typeface="Consolas" panose="020B0609020204030204" pitchFamily="49" charset="0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  <a:endParaRPr sz="1400" b="0" dirty="0">
                        <a:latin typeface="Consolas" panose="020B0609020204030204" pitchFamily="49" charset="0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b="0" dirty="0">
                        <a:latin typeface="Consolas" panose="020B0609020204030204" pitchFamily="49" charset="0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0" name="Google Shape;730;p38">
            <a:extLst>
              <a:ext uri="{FF2B5EF4-FFF2-40B4-BE49-F238E27FC236}">
                <a16:creationId xmlns:a16="http://schemas.microsoft.com/office/drawing/2014/main" id="{5C7965F8-DB8C-4B58-A0B9-A0D0B626AF22}"/>
              </a:ext>
            </a:extLst>
          </p:cNvPr>
          <p:cNvSpPr txBox="1"/>
          <p:nvPr/>
        </p:nvSpPr>
        <p:spPr>
          <a:xfrm>
            <a:off x="7559388" y="2239708"/>
            <a:ext cx="4023900" cy="1200600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</a:t>
            </a:r>
            <a:r>
              <a:rPr lang="es-ES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2000" b="1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&amp;mutex</a:t>
            </a:r>
            <a:r>
              <a:rPr lang="es-ES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0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balance = balance + 1;</a:t>
            </a:r>
            <a:endParaRPr sz="2000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unlock</a:t>
            </a:r>
            <a:r>
              <a:rPr lang="es-ES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2000" b="1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&amp;mutex</a:t>
            </a:r>
            <a:r>
              <a:rPr lang="es-ES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0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31" name="Tabla 5">
            <a:extLst>
              <a:ext uri="{FF2B5EF4-FFF2-40B4-BE49-F238E27FC236}">
                <a16:creationId xmlns:a16="http://schemas.microsoft.com/office/drawing/2014/main" id="{061EC44A-DA01-4603-B65A-86CF19BF3E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8362648"/>
              </p:ext>
            </p:extLst>
          </p:nvPr>
        </p:nvGraphicFramePr>
        <p:xfrm>
          <a:off x="7614338" y="4277265"/>
          <a:ext cx="3968950" cy="1742440"/>
        </p:xfrm>
        <a:graphic>
          <a:graphicData uri="http://schemas.openxmlformats.org/drawingml/2006/table">
            <a:tbl>
              <a:tblPr firstRow="1" bandRow="1">
                <a:tableStyleId>{F66A2E93-5121-40D1-B61B-F19DAAD5E98B}</a:tableStyleId>
              </a:tblPr>
              <a:tblGrid>
                <a:gridCol w="1963170">
                  <a:extLst>
                    <a:ext uri="{9D8B030D-6E8A-4147-A177-3AD203B41FA5}">
                      <a16:colId xmlns:a16="http://schemas.microsoft.com/office/drawing/2014/main" val="1691757651"/>
                    </a:ext>
                  </a:extLst>
                </a:gridCol>
                <a:gridCol w="2005780">
                  <a:extLst>
                    <a:ext uri="{9D8B030D-6E8A-4147-A177-3AD203B41FA5}">
                      <a16:colId xmlns:a16="http://schemas.microsoft.com/office/drawing/2014/main" val="14192729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CO" dirty="0"/>
                        <a:t>🔐</a:t>
                      </a:r>
                      <a:r>
                        <a:rPr lang="es-CO" b="1" dirty="0">
                          <a:latin typeface="Consolas" panose="020B0609020204030204" pitchFamily="49" charset="0"/>
                        </a:rPr>
                        <a:t>mutex.flag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740320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endParaRPr lang="es-CO" dirty="0"/>
                    </a:p>
                    <a:p>
                      <a:pPr algn="ctr"/>
                      <a:r>
                        <a:rPr lang="es-CO" sz="4800" dirty="0"/>
                        <a:t>🚽</a:t>
                      </a:r>
                      <a:endParaRPr lang="es-CO" dirty="0"/>
                    </a:p>
                    <a:p>
                      <a:endParaRPr lang="es-CO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658521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p49"/>
          <p:cNvSpPr txBox="1">
            <a:spLocks noGrp="1"/>
          </p:cNvSpPr>
          <p:nvPr>
            <p:ph type="title"/>
          </p:nvPr>
        </p:nvSpPr>
        <p:spPr>
          <a:xfrm>
            <a:off x="353484" y="96038"/>
            <a:ext cx="8867166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Implementación de locks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97" name="Google Shape;897;p49"/>
          <p:cNvSpPr txBox="1">
            <a:spLocks noGrp="1"/>
          </p:cNvSpPr>
          <p:nvPr>
            <p:ph type="body" idx="1"/>
          </p:nvPr>
        </p:nvSpPr>
        <p:spPr>
          <a:xfrm>
            <a:off x="353484" y="783222"/>
            <a:ext cx="11485031" cy="94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b="1" dirty="0">
                <a:solidFill>
                  <a:schemeClr val="accent5"/>
                </a:solidFill>
                <a:latin typeface="+mn-lt"/>
              </a:rPr>
              <a:t>Implementación mediante el uso de instrucciones Load/Store</a:t>
            </a:r>
            <a:endParaRPr b="1" dirty="0">
              <a:solidFill>
                <a:schemeClr val="accent5"/>
              </a:solidFill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200"/>
              <a:buChar char="●"/>
            </a:pPr>
            <a:r>
              <a:rPr lang="es-ES" sz="2200" b="1" dirty="0">
                <a:solidFill>
                  <a:schemeClr val="accent2"/>
                </a:solidFill>
                <a:latin typeface="+mn-lt"/>
              </a:rPr>
              <a:t>Análisis - Caso 2</a:t>
            </a:r>
            <a:r>
              <a:rPr lang="es-ES" sz="2200" dirty="0">
                <a:solidFill>
                  <a:schemeClr val="accent2"/>
                </a:solidFill>
                <a:latin typeface="+mn-lt"/>
              </a:rPr>
              <a:t>: </a:t>
            </a:r>
            <a:r>
              <a:rPr lang="es-ES" sz="2200" b="1" dirty="0">
                <a:solidFill>
                  <a:srgbClr val="FF0000"/>
                </a:solidFill>
                <a:latin typeface="+mn-lt"/>
              </a:rPr>
              <a:t>Problema - La exclusión mutua deja de satisfacerse</a:t>
            </a:r>
            <a:r>
              <a:rPr lang="es-ES" sz="2200" dirty="0">
                <a:latin typeface="+mn-lt"/>
              </a:rPr>
              <a:t> </a:t>
            </a: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 dirty="0">
              <a:solidFill>
                <a:srgbClr val="E06666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 dirty="0">
              <a:solidFill>
                <a:schemeClr val="accent1"/>
              </a:solidFill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pSp>
        <p:nvGrpSpPr>
          <p:cNvPr id="898" name="Google Shape;898;p49"/>
          <p:cNvGrpSpPr/>
          <p:nvPr/>
        </p:nvGrpSpPr>
        <p:grpSpPr>
          <a:xfrm>
            <a:off x="7689300" y="5853275"/>
            <a:ext cx="2148650" cy="400200"/>
            <a:chOff x="6264175" y="6229625"/>
            <a:chExt cx="2148650" cy="400200"/>
          </a:xfrm>
        </p:grpSpPr>
        <p:cxnSp>
          <p:nvCxnSpPr>
            <p:cNvPr id="899" name="Google Shape;899;p49"/>
            <p:cNvCxnSpPr/>
            <p:nvPr/>
          </p:nvCxnSpPr>
          <p:spPr>
            <a:xfrm rot="10800000" flipH="1">
              <a:off x="7073625" y="6428825"/>
              <a:ext cx="1339200" cy="18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900" name="Google Shape;900;p49"/>
            <p:cNvSpPr txBox="1"/>
            <p:nvPr/>
          </p:nvSpPr>
          <p:spPr>
            <a:xfrm>
              <a:off x="6264175" y="6229625"/>
              <a:ext cx="700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Time</a:t>
              </a:r>
              <a:endParaRPr>
                <a:solidFill>
                  <a:schemeClr val="dk1"/>
                </a:solidFill>
              </a:endParaRPr>
            </a:p>
          </p:txBody>
        </p:sp>
      </p:grpSp>
      <p:graphicFrame>
        <p:nvGraphicFramePr>
          <p:cNvPr id="901" name="Google Shape;901;p49"/>
          <p:cNvGraphicFramePr/>
          <p:nvPr/>
        </p:nvGraphicFramePr>
        <p:xfrm>
          <a:off x="5197575" y="2707663"/>
          <a:ext cx="6308525" cy="304779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280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8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8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8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58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58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586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58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586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586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3425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línea[T1]</a:t>
                      </a:r>
                      <a:endParaRPr sz="12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...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995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0000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Thread T1</a:t>
                      </a:r>
                      <a:endParaRPr sz="1200" b="1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>
                          <a:alpha val="0"/>
                        </a:schemeClr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>
                          <a:alpha val="0"/>
                        </a:schemeClr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995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Thread T2</a:t>
                      </a:r>
                      <a:endParaRPr sz="1600" b="1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>
                          <a:alpha val="0"/>
                        </a:schemeClr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>
                          <a:alpha val="0"/>
                        </a:schemeClr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0000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25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 dirty="0" err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linea</a:t>
                      </a:r>
                      <a:r>
                        <a:rPr lang="es-ES" sz="12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[T2]</a:t>
                      </a:r>
                      <a:endParaRPr sz="1600" b="1" dirty="0">
                        <a:solidFill>
                          <a:srgbClr val="0000FF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25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>
                          <a:alpha val="0"/>
                        </a:schemeClr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>
                          <a:alpha val="0"/>
                        </a:schemeClr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425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rgbClr val="FF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>
                          <a:alpha val="0"/>
                        </a:schemeClr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>
                          <a:alpha val="0"/>
                        </a:schemeClr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9950"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flag</a:t>
                      </a:r>
                      <a:endParaRPr sz="1600" b="1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trike="sngStrike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trike="sngStrike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902" name="Google Shape;902;p49"/>
          <p:cNvGrpSpPr/>
          <p:nvPr/>
        </p:nvGrpSpPr>
        <p:grpSpPr>
          <a:xfrm>
            <a:off x="1045388" y="1953460"/>
            <a:ext cx="3587224" cy="1175676"/>
            <a:chOff x="1045388" y="1898038"/>
            <a:chExt cx="3587224" cy="1175676"/>
          </a:xfrm>
        </p:grpSpPr>
        <p:sp>
          <p:nvSpPr>
            <p:cNvPr id="903" name="Google Shape;903;p49"/>
            <p:cNvSpPr txBox="1"/>
            <p:nvPr/>
          </p:nvSpPr>
          <p:spPr>
            <a:xfrm>
              <a:off x="1679112" y="1898038"/>
              <a:ext cx="2953500" cy="1175676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void lock(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lock_t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*mutex) {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while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(mutex-&gt;flag == 1);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mutex-&gt;flag = 1; 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904" name="Google Shape;904;p49"/>
            <p:cNvSpPr txBox="1"/>
            <p:nvPr/>
          </p:nvSpPr>
          <p:spPr>
            <a:xfrm>
              <a:off x="1045388" y="1898038"/>
              <a:ext cx="536700" cy="11756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10</a:t>
              </a:r>
              <a:endParaRPr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11</a:t>
              </a:r>
              <a:endParaRPr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12</a:t>
              </a:r>
              <a:endParaRPr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13</a:t>
              </a:r>
              <a:endParaRPr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aphicFrame>
        <p:nvGraphicFramePr>
          <p:cNvPr id="905" name="Google Shape;905;p49"/>
          <p:cNvGraphicFramePr/>
          <p:nvPr/>
        </p:nvGraphicFramePr>
        <p:xfrm>
          <a:off x="992850" y="3251050"/>
          <a:ext cx="3844700" cy="31637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922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2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98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Thread 1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Thread 2</a:t>
                      </a:r>
                      <a:endParaRPr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call</a:t>
                      </a:r>
                      <a:r>
                        <a:rPr lang="es-ES" sz="10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lock() </a:t>
                      </a:r>
                      <a:endParaRPr sz="10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while</a:t>
                      </a:r>
                      <a:r>
                        <a:rPr lang="es-ES" sz="10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(flag == 1) </a:t>
                      </a:r>
                      <a:endParaRPr sz="10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interrupt: T1 → T2</a:t>
                      </a:r>
                      <a:endParaRPr sz="10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 err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call</a:t>
                      </a:r>
                      <a:r>
                        <a:rPr lang="es-ES" sz="10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lock()</a:t>
                      </a:r>
                      <a:endParaRPr sz="10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 err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while</a:t>
                      </a:r>
                      <a:r>
                        <a:rPr lang="es-ES" sz="10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(flag == 1)</a:t>
                      </a:r>
                      <a:endParaRPr sz="10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flag = 1;</a:t>
                      </a:r>
                      <a:endParaRPr sz="10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interrupt: T2 → T1</a:t>
                      </a:r>
                      <a:endParaRPr sz="10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flag = 1; </a:t>
                      </a:r>
                      <a:endParaRPr sz="10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3F3F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06" name="Google Shape;906;p49"/>
          <p:cNvSpPr txBox="1"/>
          <p:nvPr/>
        </p:nvSpPr>
        <p:spPr>
          <a:xfrm>
            <a:off x="6861147" y="1937316"/>
            <a:ext cx="1002409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 dirty="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L(T1)</a:t>
            </a:r>
            <a:endParaRPr b="1" dirty="0"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07" name="Google Shape;907;p49"/>
          <p:cNvSpPr txBox="1"/>
          <p:nvPr/>
        </p:nvSpPr>
        <p:spPr>
          <a:xfrm>
            <a:off x="8112799" y="4571850"/>
            <a:ext cx="1027511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L(T2)</a:t>
            </a:r>
            <a:endParaRPr b="1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908" name="Google Shape;908;p49"/>
          <p:cNvCxnSpPr/>
          <p:nvPr/>
        </p:nvCxnSpPr>
        <p:spPr>
          <a:xfrm>
            <a:off x="7331700" y="2368900"/>
            <a:ext cx="0" cy="32070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909" name="Google Shape;909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89446" y="3346283"/>
            <a:ext cx="384650" cy="406991"/>
          </a:xfrm>
          <a:prstGeom prst="rect">
            <a:avLst/>
          </a:prstGeom>
          <a:noFill/>
          <a:ln>
            <a:noFill/>
          </a:ln>
        </p:spPr>
      </p:pic>
      <p:pic>
        <p:nvPicPr>
          <p:cNvPr id="910" name="Google Shape;910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88099" y="3532025"/>
            <a:ext cx="287212" cy="30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1" name="Google Shape;911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89299" y="3532025"/>
            <a:ext cx="287212" cy="303900"/>
          </a:xfrm>
          <a:prstGeom prst="rect">
            <a:avLst/>
          </a:prstGeom>
          <a:noFill/>
          <a:ln>
            <a:noFill/>
          </a:ln>
        </p:spPr>
      </p:pic>
      <p:sp>
        <p:nvSpPr>
          <p:cNvPr id="912" name="Google Shape;912;p49"/>
          <p:cNvSpPr/>
          <p:nvPr/>
        </p:nvSpPr>
        <p:spPr>
          <a:xfrm>
            <a:off x="7566625" y="3143075"/>
            <a:ext cx="67127" cy="303927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13" name="Google Shape;913;p49"/>
          <p:cNvSpPr/>
          <p:nvPr/>
        </p:nvSpPr>
        <p:spPr>
          <a:xfrm>
            <a:off x="9305925" y="3143075"/>
            <a:ext cx="67127" cy="303927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14" name="Google Shape;914;p49"/>
          <p:cNvSpPr/>
          <p:nvPr/>
        </p:nvSpPr>
        <p:spPr>
          <a:xfrm>
            <a:off x="8649800" y="3143075"/>
            <a:ext cx="67127" cy="303927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sp>
      <p:pic>
        <p:nvPicPr>
          <p:cNvPr id="915" name="Google Shape;915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00999" y="3554525"/>
            <a:ext cx="287212" cy="30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6" name="Google Shape;916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53099" y="3566450"/>
            <a:ext cx="287212" cy="303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17" name="Google Shape;917;p49"/>
          <p:cNvCxnSpPr/>
          <p:nvPr/>
        </p:nvCxnSpPr>
        <p:spPr>
          <a:xfrm>
            <a:off x="8444600" y="4319875"/>
            <a:ext cx="0" cy="3207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triangle" w="med" len="med"/>
            <a:tailEnd type="none" w="med" len="med"/>
          </a:ln>
        </p:spPr>
      </p:cxnSp>
      <p:pic>
        <p:nvPicPr>
          <p:cNvPr id="918" name="Google Shape;918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55111" y="3552134"/>
            <a:ext cx="229850" cy="32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9" name="Google Shape;919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99761" y="3552134"/>
            <a:ext cx="229850" cy="32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0" name="Google Shape;920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545286" y="3562409"/>
            <a:ext cx="229850" cy="320525"/>
          </a:xfrm>
          <a:prstGeom prst="rect">
            <a:avLst/>
          </a:prstGeom>
          <a:noFill/>
          <a:ln>
            <a:noFill/>
          </a:ln>
        </p:spPr>
      </p:pic>
      <p:sp>
        <p:nvSpPr>
          <p:cNvPr id="921" name="Google Shape;921;p49"/>
          <p:cNvSpPr/>
          <p:nvPr/>
        </p:nvSpPr>
        <p:spPr>
          <a:xfrm flipH="1">
            <a:off x="10059926" y="3143075"/>
            <a:ext cx="66383" cy="303927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922" name="Google Shape;922;p49"/>
          <p:cNvSpPr/>
          <p:nvPr/>
        </p:nvSpPr>
        <p:spPr>
          <a:xfrm flipH="1">
            <a:off x="10708746" y="3143075"/>
            <a:ext cx="66383" cy="303927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18951387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p50"/>
          <p:cNvSpPr txBox="1">
            <a:spLocks noGrp="1"/>
          </p:cNvSpPr>
          <p:nvPr>
            <p:ph type="title"/>
          </p:nvPr>
        </p:nvSpPr>
        <p:spPr>
          <a:xfrm>
            <a:off x="187965" y="96038"/>
            <a:ext cx="9032686" cy="782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Implementación de locks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928" name="Google Shape;928;p50"/>
          <p:cNvSpPr txBox="1">
            <a:spLocks noGrp="1"/>
          </p:cNvSpPr>
          <p:nvPr>
            <p:ph type="body" idx="1"/>
          </p:nvPr>
        </p:nvSpPr>
        <p:spPr>
          <a:xfrm>
            <a:off x="187965" y="760400"/>
            <a:ext cx="11633386" cy="51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b="1" dirty="0">
                <a:solidFill>
                  <a:schemeClr val="accent5"/>
                </a:solidFill>
                <a:latin typeface="+mn-lt"/>
              </a:rPr>
              <a:t>Implementación mediante el uso de instrucciones Load/Store</a:t>
            </a: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 dirty="0">
              <a:solidFill>
                <a:srgbClr val="E06666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 dirty="0">
              <a:solidFill>
                <a:schemeClr val="accent1"/>
              </a:solidFill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sp>
        <p:nvSpPr>
          <p:cNvPr id="930" name="Google Shape;930;p50"/>
          <p:cNvSpPr txBox="1"/>
          <p:nvPr/>
        </p:nvSpPr>
        <p:spPr>
          <a:xfrm>
            <a:off x="269703" y="1702403"/>
            <a:ext cx="6107493" cy="1020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Problema 1 - No se asegura la exclusión mutua</a:t>
            </a:r>
            <a:endParaRPr sz="2400" b="1" dirty="0">
              <a:solidFill>
                <a:srgbClr val="FF0000"/>
              </a:solidFill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Ambos hilos ingresan a la región crítica.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F9E01C35-192A-459C-85EA-F77238B9F232}"/>
              </a:ext>
            </a:extLst>
          </p:cNvPr>
          <p:cNvGrpSpPr/>
          <p:nvPr/>
        </p:nvGrpSpPr>
        <p:grpSpPr>
          <a:xfrm>
            <a:off x="2283700" y="3449480"/>
            <a:ext cx="8315725" cy="3246625"/>
            <a:chOff x="2283700" y="3522050"/>
            <a:chExt cx="8315725" cy="3246625"/>
          </a:xfrm>
        </p:grpSpPr>
        <p:cxnSp>
          <p:nvCxnSpPr>
            <p:cNvPr id="931" name="Google Shape;931;p50"/>
            <p:cNvCxnSpPr/>
            <p:nvPr/>
          </p:nvCxnSpPr>
          <p:spPr>
            <a:xfrm rot="10800000" flipH="1">
              <a:off x="3669125" y="4595200"/>
              <a:ext cx="6870900" cy="8100"/>
            </a:xfrm>
            <a:prstGeom prst="straightConnector1">
              <a:avLst/>
            </a:pr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932" name="Google Shape;932;p50"/>
            <p:cNvCxnSpPr/>
            <p:nvPr/>
          </p:nvCxnSpPr>
          <p:spPr>
            <a:xfrm rot="10800000" flipH="1">
              <a:off x="3669125" y="5449275"/>
              <a:ext cx="6900300" cy="180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933" name="Google Shape;933;p50"/>
            <p:cNvSpPr txBox="1"/>
            <p:nvPr/>
          </p:nvSpPr>
          <p:spPr>
            <a:xfrm>
              <a:off x="2283700" y="4387750"/>
              <a:ext cx="1314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Thread T1</a:t>
              </a:r>
              <a:endParaRPr sz="1600" b="1">
                <a:solidFill>
                  <a:srgbClr val="0000FF"/>
                </a:solidFill>
              </a:endParaRPr>
            </a:p>
          </p:txBody>
        </p:sp>
        <p:sp>
          <p:nvSpPr>
            <p:cNvPr id="934" name="Google Shape;934;p50"/>
            <p:cNvSpPr txBox="1"/>
            <p:nvPr/>
          </p:nvSpPr>
          <p:spPr>
            <a:xfrm>
              <a:off x="2283700" y="5235525"/>
              <a:ext cx="1314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Thread T2</a:t>
              </a:r>
              <a:endParaRPr sz="1600" b="1">
                <a:solidFill>
                  <a:srgbClr val="FF0000"/>
                </a:solidFill>
              </a:endParaRPr>
            </a:p>
          </p:txBody>
        </p:sp>
        <p:cxnSp>
          <p:nvCxnSpPr>
            <p:cNvPr id="935" name="Google Shape;935;p50"/>
            <p:cNvCxnSpPr/>
            <p:nvPr/>
          </p:nvCxnSpPr>
          <p:spPr>
            <a:xfrm>
              <a:off x="4804000" y="4414725"/>
              <a:ext cx="5100" cy="1230300"/>
            </a:xfrm>
            <a:prstGeom prst="straightConnector1">
              <a:avLst/>
            </a:prstGeom>
            <a:noFill/>
            <a:ln w="28575" cap="flat" cmpd="sng">
              <a:solidFill>
                <a:srgbClr val="741B47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936" name="Google Shape;936;p50"/>
            <p:cNvCxnSpPr/>
            <p:nvPr/>
          </p:nvCxnSpPr>
          <p:spPr>
            <a:xfrm>
              <a:off x="4809750" y="4027550"/>
              <a:ext cx="1800" cy="337200"/>
            </a:xfrm>
            <a:prstGeom prst="straightConnector1">
              <a:avLst/>
            </a:pr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937" name="Google Shape;937;p50"/>
            <p:cNvSpPr/>
            <p:nvPr/>
          </p:nvSpPr>
          <p:spPr>
            <a:xfrm>
              <a:off x="4804000" y="4519150"/>
              <a:ext cx="5432700" cy="1683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50"/>
            <p:cNvSpPr/>
            <p:nvPr/>
          </p:nvSpPr>
          <p:spPr>
            <a:xfrm>
              <a:off x="5594550" y="5365650"/>
              <a:ext cx="4642200" cy="1683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939" name="Google Shape;939;p50"/>
            <p:cNvCxnSpPr/>
            <p:nvPr/>
          </p:nvCxnSpPr>
          <p:spPr>
            <a:xfrm>
              <a:off x="5596100" y="4400338"/>
              <a:ext cx="12600" cy="1244700"/>
            </a:xfrm>
            <a:prstGeom prst="straightConnector1">
              <a:avLst/>
            </a:prstGeom>
            <a:noFill/>
            <a:ln w="28575" cap="flat" cmpd="sng">
              <a:solidFill>
                <a:srgbClr val="741B47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940" name="Google Shape;940;p50"/>
            <p:cNvSpPr/>
            <p:nvPr/>
          </p:nvSpPr>
          <p:spPr>
            <a:xfrm>
              <a:off x="5651142" y="4824068"/>
              <a:ext cx="108407" cy="431101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41" name="Google Shape;941;p50"/>
            <p:cNvSpPr/>
            <p:nvPr/>
          </p:nvSpPr>
          <p:spPr>
            <a:xfrm>
              <a:off x="5837896" y="4824073"/>
              <a:ext cx="108407" cy="431101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cxnSp>
          <p:nvCxnSpPr>
            <p:cNvPr id="942" name="Google Shape;942;p50"/>
            <p:cNvCxnSpPr/>
            <p:nvPr/>
          </p:nvCxnSpPr>
          <p:spPr>
            <a:xfrm>
              <a:off x="7487500" y="4414725"/>
              <a:ext cx="14400" cy="1328400"/>
            </a:xfrm>
            <a:prstGeom prst="straightConnector1">
              <a:avLst/>
            </a:prstGeom>
            <a:noFill/>
            <a:ln w="28575" cap="flat" cmpd="sng">
              <a:solidFill>
                <a:srgbClr val="741B47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943" name="Google Shape;943;p50"/>
            <p:cNvSpPr/>
            <p:nvPr/>
          </p:nvSpPr>
          <p:spPr>
            <a:xfrm rot="5400000">
              <a:off x="7233750" y="2447550"/>
              <a:ext cx="146400" cy="3458400"/>
            </a:xfrm>
            <a:prstGeom prst="leftBrace">
              <a:avLst>
                <a:gd name="adj1" fmla="val 50000"/>
                <a:gd name="adj2" fmla="val 50000"/>
              </a:avLst>
            </a:prstGeom>
            <a:noFill/>
            <a:ln w="28575" cap="flat" cmpd="sng">
              <a:solidFill>
                <a:srgbClr val="FF99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50"/>
            <p:cNvSpPr txBox="1"/>
            <p:nvPr/>
          </p:nvSpPr>
          <p:spPr>
            <a:xfrm>
              <a:off x="5652250" y="3522050"/>
              <a:ext cx="20010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 dirty="0">
                  <a:solidFill>
                    <a:srgbClr val="FF9900"/>
                  </a:solidFill>
                  <a:latin typeface="Consolas"/>
                  <a:ea typeface="Consolas"/>
                  <a:cs typeface="Consolas"/>
                  <a:sym typeface="Consolas"/>
                </a:rPr>
                <a:t>Race condition</a:t>
              </a:r>
              <a:endParaRPr sz="1600" b="1" dirty="0">
                <a:solidFill>
                  <a:srgbClr val="FF9900"/>
                </a:solidFill>
              </a:endParaRPr>
            </a:p>
          </p:txBody>
        </p:sp>
        <p:grpSp>
          <p:nvGrpSpPr>
            <p:cNvPr id="945" name="Google Shape;945;p50"/>
            <p:cNvGrpSpPr/>
            <p:nvPr/>
          </p:nvGrpSpPr>
          <p:grpSpPr>
            <a:xfrm>
              <a:off x="2414050" y="6368475"/>
              <a:ext cx="2039700" cy="400200"/>
              <a:chOff x="972750" y="6281050"/>
              <a:chExt cx="2039700" cy="400200"/>
            </a:xfrm>
          </p:grpSpPr>
          <p:cxnSp>
            <p:nvCxnSpPr>
              <p:cNvPr id="946" name="Google Shape;946;p50"/>
              <p:cNvCxnSpPr/>
              <p:nvPr/>
            </p:nvCxnSpPr>
            <p:spPr>
              <a:xfrm rot="10800000" flipH="1">
                <a:off x="1673250" y="6480250"/>
                <a:ext cx="1339200" cy="18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947" name="Google Shape;947;p50"/>
              <p:cNvSpPr txBox="1"/>
              <p:nvPr/>
            </p:nvSpPr>
            <p:spPr>
              <a:xfrm>
                <a:off x="972750" y="6281050"/>
                <a:ext cx="7005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Time</a:t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  <p:pic>
          <p:nvPicPr>
            <p:cNvPr id="948" name="Google Shape;948;p5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028200" y="4811000"/>
              <a:ext cx="309200" cy="431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49" name="Google Shape;949;p50"/>
            <p:cNvSpPr txBox="1"/>
            <p:nvPr/>
          </p:nvSpPr>
          <p:spPr>
            <a:xfrm>
              <a:off x="4453750" y="3603275"/>
              <a:ext cx="700500" cy="369300"/>
            </a:xfrm>
            <a:prstGeom prst="rect">
              <a:avLst/>
            </a:prstGeom>
            <a:solidFill>
              <a:srgbClr val="F4CCCC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L(T1)</a:t>
              </a:r>
              <a:endParaRPr sz="1600" b="1">
                <a:solidFill>
                  <a:schemeClr val="dk1"/>
                </a:solidFill>
              </a:endParaRPr>
            </a:p>
          </p:txBody>
        </p:sp>
        <p:sp>
          <p:nvSpPr>
            <p:cNvPr id="950" name="Google Shape;950;p50"/>
            <p:cNvSpPr txBox="1"/>
            <p:nvPr/>
          </p:nvSpPr>
          <p:spPr>
            <a:xfrm>
              <a:off x="5252150" y="6394950"/>
              <a:ext cx="700500" cy="369300"/>
            </a:xfrm>
            <a:prstGeom prst="rect">
              <a:avLst/>
            </a:prstGeom>
            <a:solidFill>
              <a:srgbClr val="F4CCCC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L(T2)</a:t>
              </a:r>
              <a:endParaRPr sz="1600" b="1">
                <a:solidFill>
                  <a:schemeClr val="dk1"/>
                </a:solidFill>
              </a:endParaRPr>
            </a:p>
          </p:txBody>
        </p:sp>
        <p:cxnSp>
          <p:nvCxnSpPr>
            <p:cNvPr id="951" name="Google Shape;951;p50"/>
            <p:cNvCxnSpPr/>
            <p:nvPr/>
          </p:nvCxnSpPr>
          <p:spPr>
            <a:xfrm rot="10800000">
              <a:off x="5617475" y="5697175"/>
              <a:ext cx="5100" cy="69120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pic>
          <p:nvPicPr>
            <p:cNvPr id="952" name="Google Shape;952;p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088771" y="4833233"/>
              <a:ext cx="384650" cy="4069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53" name="Google Shape;953;p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223821" y="4822796"/>
              <a:ext cx="384650" cy="40699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4" name="Google Shape;954;p50"/>
            <p:cNvSpPr txBox="1"/>
            <p:nvPr/>
          </p:nvSpPr>
          <p:spPr>
            <a:xfrm>
              <a:off x="2829100" y="5901963"/>
              <a:ext cx="780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flag</a:t>
              </a:r>
              <a:endParaRPr sz="1600" b="1" dirty="0">
                <a:solidFill>
                  <a:schemeClr val="dk1"/>
                </a:solidFill>
              </a:endParaRPr>
            </a:p>
          </p:txBody>
        </p:sp>
        <p:sp>
          <p:nvSpPr>
            <p:cNvPr id="955" name="Google Shape;955;p50"/>
            <p:cNvSpPr txBox="1"/>
            <p:nvPr/>
          </p:nvSpPr>
          <p:spPr>
            <a:xfrm>
              <a:off x="4185225" y="5917425"/>
              <a:ext cx="489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0</a:t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956" name="Google Shape;956;p50"/>
            <p:cNvSpPr txBox="1"/>
            <p:nvPr/>
          </p:nvSpPr>
          <p:spPr>
            <a:xfrm>
              <a:off x="4999763" y="5904625"/>
              <a:ext cx="489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0</a:t>
              </a:r>
              <a:endParaRPr>
                <a:solidFill>
                  <a:schemeClr val="dk1"/>
                </a:solidFill>
              </a:endParaRPr>
            </a:p>
          </p:txBody>
        </p:sp>
        <p:cxnSp>
          <p:nvCxnSpPr>
            <p:cNvPr id="957" name="Google Shape;957;p50"/>
            <p:cNvCxnSpPr/>
            <p:nvPr/>
          </p:nvCxnSpPr>
          <p:spPr>
            <a:xfrm>
              <a:off x="6464050" y="4719450"/>
              <a:ext cx="300" cy="1037700"/>
            </a:xfrm>
            <a:prstGeom prst="straightConnector1">
              <a:avLst/>
            </a:prstGeom>
            <a:noFill/>
            <a:ln w="28575" cap="flat" cmpd="sng">
              <a:solidFill>
                <a:srgbClr val="FF0000"/>
              </a:solidFill>
              <a:prstDash val="dash"/>
              <a:round/>
              <a:headEnd type="triangle" w="med" len="med"/>
              <a:tailEnd type="none" w="med" len="med"/>
            </a:ln>
          </p:spPr>
        </p:cxnSp>
        <p:sp>
          <p:nvSpPr>
            <p:cNvPr id="958" name="Google Shape;958;p50"/>
            <p:cNvSpPr/>
            <p:nvPr/>
          </p:nvSpPr>
          <p:spPr>
            <a:xfrm>
              <a:off x="4882346" y="4836223"/>
              <a:ext cx="108407" cy="431101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pic>
          <p:nvPicPr>
            <p:cNvPr id="959" name="Google Shape;959;p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012846" y="4823058"/>
              <a:ext cx="384650" cy="40699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0" name="Google Shape;960;p50"/>
            <p:cNvSpPr txBox="1"/>
            <p:nvPr/>
          </p:nvSpPr>
          <p:spPr>
            <a:xfrm>
              <a:off x="6219738" y="5720213"/>
              <a:ext cx="4899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trike="sngStrike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0</a:t>
              </a:r>
              <a:endParaRPr strike="sngStrike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961" name="Google Shape;961;p50"/>
            <p:cNvSpPr/>
            <p:nvPr/>
          </p:nvSpPr>
          <p:spPr>
            <a:xfrm>
              <a:off x="6598542" y="4810993"/>
              <a:ext cx="108407" cy="431101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62" name="Google Shape;962;p50"/>
            <p:cNvSpPr/>
            <p:nvPr/>
          </p:nvSpPr>
          <p:spPr>
            <a:xfrm>
              <a:off x="6785296" y="4810998"/>
              <a:ext cx="108407" cy="431101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pic>
          <p:nvPicPr>
            <p:cNvPr id="963" name="Google Shape;963;p5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037112" y="4184300"/>
              <a:ext cx="331075" cy="3310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64" name="Google Shape;964;p5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904762" y="5598925"/>
              <a:ext cx="331075" cy="3310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65" name="Google Shape;965;p5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6810400" y="5598925"/>
              <a:ext cx="331075" cy="3310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66" name="Google Shape;966;p5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729050" y="4182925"/>
              <a:ext cx="331075" cy="3310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967" name="Google Shape;967;p50"/>
            <p:cNvCxnSpPr/>
            <p:nvPr/>
          </p:nvCxnSpPr>
          <p:spPr>
            <a:xfrm rot="10800000">
              <a:off x="8259200" y="4130450"/>
              <a:ext cx="0" cy="1220100"/>
            </a:xfrm>
            <a:prstGeom prst="straightConnector1">
              <a:avLst/>
            </a:prstGeom>
            <a:noFill/>
            <a:ln w="28575" cap="flat" cmpd="sng">
              <a:solidFill>
                <a:srgbClr val="0000FF"/>
              </a:solidFill>
              <a:prstDash val="dash"/>
              <a:round/>
              <a:headEnd type="triangle" w="med" len="med"/>
              <a:tailEnd type="none" w="med" len="med"/>
            </a:ln>
          </p:spPr>
        </p:cxnSp>
        <p:sp>
          <p:nvSpPr>
            <p:cNvPr id="968" name="Google Shape;968;p50"/>
            <p:cNvSpPr txBox="1"/>
            <p:nvPr/>
          </p:nvSpPr>
          <p:spPr>
            <a:xfrm>
              <a:off x="6022875" y="6394950"/>
              <a:ext cx="911700" cy="36930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b="1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flag = 1</a:t>
              </a:r>
              <a:endParaRPr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969" name="Google Shape;969;p50"/>
            <p:cNvSpPr txBox="1"/>
            <p:nvPr/>
          </p:nvSpPr>
          <p:spPr>
            <a:xfrm>
              <a:off x="7789325" y="3724313"/>
              <a:ext cx="911700" cy="36930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b="1" dirty="0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flag = 1</a:t>
              </a:r>
              <a:endParaRPr sz="1200" b="1" dirty="0">
                <a:solidFill>
                  <a:srgbClr val="0000FF"/>
                </a:solidFill>
              </a:endParaRPr>
            </a:p>
          </p:txBody>
        </p:sp>
        <p:sp>
          <p:nvSpPr>
            <p:cNvPr id="970" name="Google Shape;970;p50"/>
            <p:cNvSpPr txBox="1"/>
            <p:nvPr/>
          </p:nvSpPr>
          <p:spPr>
            <a:xfrm>
              <a:off x="8014238" y="5485550"/>
              <a:ext cx="489900" cy="831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trike="sngStrike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0</a:t>
              </a:r>
              <a:endParaRPr strike="sngStrike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trike="sngStrike">
                  <a:solidFill>
                    <a:srgbClr val="FF0000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 strike="sngStrike">
                <a:solidFill>
                  <a:srgbClr val="FF0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solidFill>
                    <a:srgbClr val="FF0000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>
                <a:solidFill>
                  <a:srgbClr val="FF0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pic>
          <p:nvPicPr>
            <p:cNvPr id="971" name="Google Shape;971;p5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04163" y="4811000"/>
              <a:ext cx="309200" cy="431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2" name="Google Shape;972;p50"/>
            <p:cNvSpPr/>
            <p:nvPr/>
          </p:nvSpPr>
          <p:spPr>
            <a:xfrm>
              <a:off x="7651992" y="4768918"/>
              <a:ext cx="108407" cy="431101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73" name="Google Shape;973;p50"/>
            <p:cNvSpPr/>
            <p:nvPr/>
          </p:nvSpPr>
          <p:spPr>
            <a:xfrm>
              <a:off x="7838746" y="4768923"/>
              <a:ext cx="108407" cy="431101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pic>
          <p:nvPicPr>
            <p:cNvPr id="974" name="Google Shape;974;p5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458275" y="4178875"/>
              <a:ext cx="331075" cy="3310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975" name="Google Shape;975;p50"/>
            <p:cNvCxnSpPr/>
            <p:nvPr/>
          </p:nvCxnSpPr>
          <p:spPr>
            <a:xfrm>
              <a:off x="3691750" y="6232413"/>
              <a:ext cx="6895500" cy="18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76" name="Google Shape;976;p50"/>
            <p:cNvCxnSpPr/>
            <p:nvPr/>
          </p:nvCxnSpPr>
          <p:spPr>
            <a:xfrm>
              <a:off x="3703925" y="6020163"/>
              <a:ext cx="6895500" cy="1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977" name="Google Shape;977;p50"/>
            <p:cNvSpPr/>
            <p:nvPr/>
          </p:nvSpPr>
          <p:spPr>
            <a:xfrm>
              <a:off x="9321542" y="4810731"/>
              <a:ext cx="108407" cy="431101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978" name="Google Shape;978;p50"/>
            <p:cNvSpPr/>
            <p:nvPr/>
          </p:nvSpPr>
          <p:spPr>
            <a:xfrm>
              <a:off x="9508296" y="4810735"/>
              <a:ext cx="108407" cy="431101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pic>
        <p:nvPicPr>
          <p:cNvPr id="55" name="Google Shape;929;p50">
            <a:extLst>
              <a:ext uri="{FF2B5EF4-FFF2-40B4-BE49-F238E27FC236}">
                <a16:creationId xmlns:a16="http://schemas.microsoft.com/office/drawing/2014/main" id="{06780B5B-2B19-44C9-8C90-13C001984F7B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44238" y="1311713"/>
            <a:ext cx="5321601" cy="217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p51"/>
          <p:cNvSpPr txBox="1">
            <a:spLocks noGrp="1"/>
          </p:cNvSpPr>
          <p:nvPr>
            <p:ph type="title"/>
          </p:nvPr>
        </p:nvSpPr>
        <p:spPr>
          <a:xfrm>
            <a:off x="286550" y="108662"/>
            <a:ext cx="10526593" cy="773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Implementación de locks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984" name="Google Shape;984;p51"/>
          <p:cNvSpPr txBox="1">
            <a:spLocks noGrp="1"/>
          </p:cNvSpPr>
          <p:nvPr>
            <p:ph type="body" idx="1"/>
          </p:nvPr>
        </p:nvSpPr>
        <p:spPr>
          <a:xfrm>
            <a:off x="334916" y="768000"/>
            <a:ext cx="11390334" cy="51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b="1" dirty="0">
                <a:solidFill>
                  <a:schemeClr val="accent5"/>
                </a:solidFill>
                <a:latin typeface="+mn-lt"/>
              </a:rPr>
              <a:t>Implementación mediante el uso de instrucciones Load/Store</a:t>
            </a: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 dirty="0">
              <a:solidFill>
                <a:srgbClr val="E06666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 dirty="0">
              <a:solidFill>
                <a:schemeClr val="accent1"/>
              </a:solidFill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sp>
        <p:nvSpPr>
          <p:cNvPr id="985" name="Google Shape;985;p51"/>
          <p:cNvSpPr txBox="1"/>
          <p:nvPr/>
        </p:nvSpPr>
        <p:spPr>
          <a:xfrm>
            <a:off x="286550" y="1301251"/>
            <a:ext cx="5555400" cy="18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Problema 2 - Desempeño</a:t>
            </a:r>
            <a:r>
              <a:rPr lang="es-ES" sz="2200" dirty="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endParaRPr sz="2200" dirty="0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s-ES" sz="20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Gasto intensivo de CPU debido a la forma como el hilo chequea la bandera.</a:t>
            </a:r>
            <a:endParaRPr sz="20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○"/>
            </a:pPr>
            <a:r>
              <a:rPr lang="es-ES" sz="2000" b="1" dirty="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spin-</a:t>
            </a:r>
            <a:r>
              <a:rPr lang="es-ES" sz="2000" b="1" dirty="0" err="1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waiting</a:t>
            </a:r>
            <a:r>
              <a:rPr lang="es-ES" sz="2000" dirty="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es-ES" sz="20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Chequeo continuo del valor de la bandera (</a:t>
            </a:r>
            <a:r>
              <a:rPr lang="es-ES" sz="20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flag</a:t>
            </a:r>
            <a:r>
              <a:rPr lang="es-ES" sz="20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0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986" name="Google Shape;986;p51"/>
          <p:cNvGrpSpPr/>
          <p:nvPr/>
        </p:nvGrpSpPr>
        <p:grpSpPr>
          <a:xfrm>
            <a:off x="2283700" y="3527075"/>
            <a:ext cx="8315725" cy="3173113"/>
            <a:chOff x="2283700" y="3603275"/>
            <a:chExt cx="8315725" cy="3173113"/>
          </a:xfrm>
        </p:grpSpPr>
        <p:cxnSp>
          <p:nvCxnSpPr>
            <p:cNvPr id="987" name="Google Shape;987;p51"/>
            <p:cNvCxnSpPr/>
            <p:nvPr/>
          </p:nvCxnSpPr>
          <p:spPr>
            <a:xfrm rot="10800000" flipH="1">
              <a:off x="3669125" y="4595200"/>
              <a:ext cx="6870900" cy="8100"/>
            </a:xfrm>
            <a:prstGeom prst="straightConnector1">
              <a:avLst/>
            </a:pr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988" name="Google Shape;988;p51"/>
            <p:cNvCxnSpPr/>
            <p:nvPr/>
          </p:nvCxnSpPr>
          <p:spPr>
            <a:xfrm rot="10800000" flipH="1">
              <a:off x="3669125" y="5449275"/>
              <a:ext cx="6900300" cy="180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989" name="Google Shape;989;p51"/>
            <p:cNvSpPr txBox="1"/>
            <p:nvPr/>
          </p:nvSpPr>
          <p:spPr>
            <a:xfrm>
              <a:off x="2283700" y="4387750"/>
              <a:ext cx="1314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Thread T1</a:t>
              </a:r>
              <a:endParaRPr sz="1600" b="1">
                <a:solidFill>
                  <a:srgbClr val="0000FF"/>
                </a:solidFill>
              </a:endParaRPr>
            </a:p>
          </p:txBody>
        </p:sp>
        <p:sp>
          <p:nvSpPr>
            <p:cNvPr id="990" name="Google Shape;990;p51"/>
            <p:cNvSpPr txBox="1"/>
            <p:nvPr/>
          </p:nvSpPr>
          <p:spPr>
            <a:xfrm>
              <a:off x="2283700" y="5235525"/>
              <a:ext cx="1314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Thread T2</a:t>
              </a:r>
              <a:endParaRPr sz="1600" b="1">
                <a:solidFill>
                  <a:srgbClr val="FF0000"/>
                </a:solidFill>
              </a:endParaRPr>
            </a:p>
          </p:txBody>
        </p:sp>
        <p:cxnSp>
          <p:nvCxnSpPr>
            <p:cNvPr id="991" name="Google Shape;991;p51"/>
            <p:cNvCxnSpPr/>
            <p:nvPr/>
          </p:nvCxnSpPr>
          <p:spPr>
            <a:xfrm>
              <a:off x="4804000" y="4414725"/>
              <a:ext cx="5100" cy="1230300"/>
            </a:xfrm>
            <a:prstGeom prst="straightConnector1">
              <a:avLst/>
            </a:prstGeom>
            <a:noFill/>
            <a:ln w="28575" cap="flat" cmpd="sng">
              <a:solidFill>
                <a:srgbClr val="741B47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992" name="Google Shape;992;p51"/>
            <p:cNvCxnSpPr/>
            <p:nvPr/>
          </p:nvCxnSpPr>
          <p:spPr>
            <a:xfrm>
              <a:off x="4809750" y="4027550"/>
              <a:ext cx="1800" cy="337200"/>
            </a:xfrm>
            <a:prstGeom prst="straightConnector1">
              <a:avLst/>
            </a:pr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993" name="Google Shape;993;p51"/>
            <p:cNvSpPr/>
            <p:nvPr/>
          </p:nvSpPr>
          <p:spPr>
            <a:xfrm>
              <a:off x="4804000" y="4519150"/>
              <a:ext cx="5432700" cy="1683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51"/>
            <p:cNvSpPr/>
            <p:nvPr/>
          </p:nvSpPr>
          <p:spPr>
            <a:xfrm>
              <a:off x="6453750" y="5365650"/>
              <a:ext cx="1798200" cy="168300"/>
            </a:xfrm>
            <a:prstGeom prst="rect">
              <a:avLst/>
            </a:prstGeom>
            <a:solidFill>
              <a:srgbClr val="FFFF00"/>
            </a:solidFill>
            <a:ln w="9525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995" name="Google Shape;995;p51"/>
            <p:cNvCxnSpPr/>
            <p:nvPr/>
          </p:nvCxnSpPr>
          <p:spPr>
            <a:xfrm>
              <a:off x="6421538" y="4362113"/>
              <a:ext cx="12600" cy="1244700"/>
            </a:xfrm>
            <a:prstGeom prst="straightConnector1">
              <a:avLst/>
            </a:prstGeom>
            <a:noFill/>
            <a:ln w="28575" cap="flat" cmpd="sng">
              <a:solidFill>
                <a:srgbClr val="741B47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996" name="Google Shape;996;p51"/>
            <p:cNvSpPr/>
            <p:nvPr/>
          </p:nvSpPr>
          <p:spPr>
            <a:xfrm>
              <a:off x="5702921" y="4852810"/>
              <a:ext cx="108407" cy="431101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cxnSp>
          <p:nvCxnSpPr>
            <p:cNvPr id="997" name="Google Shape;997;p51"/>
            <p:cNvCxnSpPr/>
            <p:nvPr/>
          </p:nvCxnSpPr>
          <p:spPr>
            <a:xfrm>
              <a:off x="8251988" y="4320263"/>
              <a:ext cx="14400" cy="1328400"/>
            </a:xfrm>
            <a:prstGeom prst="straightConnector1">
              <a:avLst/>
            </a:prstGeom>
            <a:noFill/>
            <a:ln w="28575" cap="flat" cmpd="sng">
              <a:solidFill>
                <a:srgbClr val="741B47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grpSp>
          <p:nvGrpSpPr>
            <p:cNvPr id="998" name="Google Shape;998;p51"/>
            <p:cNvGrpSpPr/>
            <p:nvPr/>
          </p:nvGrpSpPr>
          <p:grpSpPr>
            <a:xfrm>
              <a:off x="2414050" y="6368475"/>
              <a:ext cx="2039700" cy="400200"/>
              <a:chOff x="972750" y="6281050"/>
              <a:chExt cx="2039700" cy="400200"/>
            </a:xfrm>
          </p:grpSpPr>
          <p:cxnSp>
            <p:nvCxnSpPr>
              <p:cNvPr id="999" name="Google Shape;999;p51"/>
              <p:cNvCxnSpPr/>
              <p:nvPr/>
            </p:nvCxnSpPr>
            <p:spPr>
              <a:xfrm rot="10800000" flipH="1">
                <a:off x="1673250" y="6480250"/>
                <a:ext cx="1339200" cy="18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1000" name="Google Shape;1000;p51"/>
              <p:cNvSpPr txBox="1"/>
              <p:nvPr/>
            </p:nvSpPr>
            <p:spPr>
              <a:xfrm>
                <a:off x="972750" y="6281050"/>
                <a:ext cx="7005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Time</a:t>
                </a:r>
                <a:endParaRPr>
                  <a:solidFill>
                    <a:schemeClr val="dk1"/>
                  </a:solidFill>
                </a:endParaRPr>
              </a:p>
            </p:txBody>
          </p:sp>
        </p:grpSp>
        <p:pic>
          <p:nvPicPr>
            <p:cNvPr id="1001" name="Google Shape;1001;p5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900450" y="4861565"/>
              <a:ext cx="236275" cy="3294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2" name="Google Shape;1002;p51"/>
            <p:cNvSpPr txBox="1"/>
            <p:nvPr/>
          </p:nvSpPr>
          <p:spPr>
            <a:xfrm>
              <a:off x="4453750" y="3603275"/>
              <a:ext cx="700500" cy="369300"/>
            </a:xfrm>
            <a:prstGeom prst="rect">
              <a:avLst/>
            </a:prstGeom>
            <a:solidFill>
              <a:srgbClr val="F4CCCC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L(T1)</a:t>
              </a:r>
              <a:endParaRPr sz="1600" b="1">
                <a:solidFill>
                  <a:schemeClr val="dk1"/>
                </a:solidFill>
              </a:endParaRPr>
            </a:p>
          </p:txBody>
        </p:sp>
        <p:sp>
          <p:nvSpPr>
            <p:cNvPr id="1003" name="Google Shape;1003;p51"/>
            <p:cNvSpPr txBox="1"/>
            <p:nvPr/>
          </p:nvSpPr>
          <p:spPr>
            <a:xfrm>
              <a:off x="6083325" y="6407088"/>
              <a:ext cx="700500" cy="369300"/>
            </a:xfrm>
            <a:prstGeom prst="rect">
              <a:avLst/>
            </a:prstGeom>
            <a:solidFill>
              <a:srgbClr val="F4CCCC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L(T2)</a:t>
              </a:r>
              <a:endParaRPr sz="1600" b="1">
                <a:solidFill>
                  <a:schemeClr val="dk1"/>
                </a:solidFill>
              </a:endParaRPr>
            </a:p>
          </p:txBody>
        </p:sp>
        <p:cxnSp>
          <p:nvCxnSpPr>
            <p:cNvPr id="1004" name="Google Shape;1004;p51"/>
            <p:cNvCxnSpPr/>
            <p:nvPr/>
          </p:nvCxnSpPr>
          <p:spPr>
            <a:xfrm rot="10800000">
              <a:off x="6448650" y="5709313"/>
              <a:ext cx="5100" cy="69120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pic>
          <p:nvPicPr>
            <p:cNvPr id="1005" name="Google Shape;1005;p5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191825" y="4843100"/>
              <a:ext cx="346275" cy="3663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6" name="Google Shape;1006;p51"/>
            <p:cNvSpPr txBox="1"/>
            <p:nvPr/>
          </p:nvSpPr>
          <p:spPr>
            <a:xfrm>
              <a:off x="2829100" y="5901963"/>
              <a:ext cx="780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flag</a:t>
              </a:r>
              <a:endParaRPr sz="1600" b="1" dirty="0">
                <a:solidFill>
                  <a:schemeClr val="dk1"/>
                </a:solidFill>
              </a:endParaRPr>
            </a:p>
          </p:txBody>
        </p:sp>
        <p:sp>
          <p:nvSpPr>
            <p:cNvPr id="1007" name="Google Shape;1007;p51"/>
            <p:cNvSpPr txBox="1"/>
            <p:nvPr/>
          </p:nvSpPr>
          <p:spPr>
            <a:xfrm>
              <a:off x="4185225" y="5917425"/>
              <a:ext cx="489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0</a:t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08" name="Google Shape;1008;p51"/>
            <p:cNvSpPr txBox="1"/>
            <p:nvPr/>
          </p:nvSpPr>
          <p:spPr>
            <a:xfrm>
              <a:off x="4999763" y="5904625"/>
              <a:ext cx="489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0</a:t>
              </a: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1009" name="Google Shape;1009;p51"/>
            <p:cNvSpPr/>
            <p:nvPr/>
          </p:nvSpPr>
          <p:spPr>
            <a:xfrm>
              <a:off x="4882346" y="4836223"/>
              <a:ext cx="108407" cy="431101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010" name="Google Shape;1010;p51"/>
            <p:cNvSpPr txBox="1"/>
            <p:nvPr/>
          </p:nvSpPr>
          <p:spPr>
            <a:xfrm>
              <a:off x="5382863" y="5918638"/>
              <a:ext cx="489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pic>
          <p:nvPicPr>
            <p:cNvPr id="1011" name="Google Shape;1011;p5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037112" y="4184300"/>
              <a:ext cx="331075" cy="3310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2" name="Google Shape;1012;p5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7589575" y="5611525"/>
              <a:ext cx="331075" cy="3310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3" name="Google Shape;1013;p51"/>
            <p:cNvSpPr txBox="1"/>
            <p:nvPr/>
          </p:nvSpPr>
          <p:spPr>
            <a:xfrm>
              <a:off x="5223650" y="3841825"/>
              <a:ext cx="780300" cy="33870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dirty="0">
                  <a:solidFill>
                    <a:srgbClr val="0000FF"/>
                  </a:solidFill>
                  <a:latin typeface="Consolas"/>
                  <a:ea typeface="Consolas"/>
                  <a:cs typeface="Consolas"/>
                  <a:sym typeface="Consolas"/>
                </a:rPr>
                <a:t>flag = 1</a:t>
              </a:r>
              <a:endParaRPr sz="1000" dirty="0">
                <a:solidFill>
                  <a:srgbClr val="0000FF"/>
                </a:solidFill>
              </a:endParaRPr>
            </a:p>
          </p:txBody>
        </p:sp>
        <p:sp>
          <p:nvSpPr>
            <p:cNvPr id="1014" name="Google Shape;1014;p51"/>
            <p:cNvSpPr/>
            <p:nvPr/>
          </p:nvSpPr>
          <p:spPr>
            <a:xfrm>
              <a:off x="6977459" y="4810998"/>
              <a:ext cx="108407" cy="431101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pic>
          <p:nvPicPr>
            <p:cNvPr id="1015" name="Google Shape;1015;p5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9070575" y="4116725"/>
              <a:ext cx="331075" cy="3310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016" name="Google Shape;1016;p51"/>
            <p:cNvCxnSpPr/>
            <p:nvPr/>
          </p:nvCxnSpPr>
          <p:spPr>
            <a:xfrm>
              <a:off x="3703925" y="6232413"/>
              <a:ext cx="6895500" cy="18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17" name="Google Shape;1017;p51"/>
            <p:cNvCxnSpPr/>
            <p:nvPr/>
          </p:nvCxnSpPr>
          <p:spPr>
            <a:xfrm>
              <a:off x="3703925" y="6020163"/>
              <a:ext cx="6895500" cy="1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18" name="Google Shape;1018;p51"/>
            <p:cNvSpPr/>
            <p:nvPr/>
          </p:nvSpPr>
          <p:spPr>
            <a:xfrm>
              <a:off x="8751796" y="4811010"/>
              <a:ext cx="108407" cy="431101"/>
            </a:xfrm>
            <a:custGeom>
              <a:avLst/>
              <a:gdLst/>
              <a:ahLst/>
              <a:cxnLst/>
              <a:rect l="l" t="t" r="r" b="b"/>
              <a:pathLst>
                <a:path w="3629" h="11811" extrusionOk="0">
                  <a:moveTo>
                    <a:pt x="2413" y="0"/>
                  </a:moveTo>
                  <a:cubicBezTo>
                    <a:pt x="1515" y="180"/>
                    <a:pt x="-381" y="762"/>
                    <a:pt x="127" y="1524"/>
                  </a:cubicBezTo>
                  <a:cubicBezTo>
                    <a:pt x="695" y="2376"/>
                    <a:pt x="2717" y="989"/>
                    <a:pt x="3175" y="1905"/>
                  </a:cubicBezTo>
                  <a:cubicBezTo>
                    <a:pt x="3633" y="2821"/>
                    <a:pt x="1232" y="2705"/>
                    <a:pt x="508" y="3429"/>
                  </a:cubicBezTo>
                  <a:cubicBezTo>
                    <a:pt x="-339" y="4276"/>
                    <a:pt x="3847" y="4172"/>
                    <a:pt x="3556" y="5334"/>
                  </a:cubicBezTo>
                  <a:cubicBezTo>
                    <a:pt x="3156" y="6936"/>
                    <a:pt x="2173" y="8340"/>
                    <a:pt x="1651" y="9906"/>
                  </a:cubicBezTo>
                  <a:cubicBezTo>
                    <a:pt x="1394" y="10677"/>
                    <a:pt x="3750" y="11236"/>
                    <a:pt x="3175" y="11811"/>
                  </a:cubicBezTo>
                </a:path>
              </a:pathLst>
            </a:cu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sp>
        <p:cxnSp>
          <p:nvCxnSpPr>
            <p:cNvPr id="1019" name="Google Shape;1019;p51"/>
            <p:cNvCxnSpPr/>
            <p:nvPr/>
          </p:nvCxnSpPr>
          <p:spPr>
            <a:xfrm rot="10800000">
              <a:off x="5613800" y="4374425"/>
              <a:ext cx="0" cy="1220100"/>
            </a:xfrm>
            <a:prstGeom prst="straightConnector1">
              <a:avLst/>
            </a:prstGeom>
            <a:noFill/>
            <a:ln w="28575" cap="flat" cmpd="sng">
              <a:solidFill>
                <a:srgbClr val="0000FF"/>
              </a:solidFill>
              <a:prstDash val="dash"/>
              <a:round/>
              <a:headEnd type="triangle" w="med" len="med"/>
              <a:tailEnd type="none" w="med" len="med"/>
            </a:ln>
          </p:spPr>
        </p:cxnSp>
        <p:pic>
          <p:nvPicPr>
            <p:cNvPr id="1020" name="Google Shape;1020;p5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157200" y="4827187"/>
              <a:ext cx="346275" cy="366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1" name="Google Shape;1021;p5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852150" y="4184300"/>
              <a:ext cx="331075" cy="3310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2" name="Google Shape;1022;p5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224938" y="4861815"/>
              <a:ext cx="236275" cy="3294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3" name="Google Shape;1023;p5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9013725" y="4861815"/>
              <a:ext cx="236275" cy="3294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4" name="Google Shape;1024;p5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029625" y="5584738"/>
              <a:ext cx="384650" cy="384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25" name="Google Shape;1025;p51"/>
          <p:cNvSpPr txBox="1"/>
          <p:nvPr/>
        </p:nvSpPr>
        <p:spPr>
          <a:xfrm>
            <a:off x="6096000" y="1559918"/>
            <a:ext cx="5788837" cy="1175676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 lock(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lock_t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*mutex) {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400" dirty="0" err="1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s-ES" sz="14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(mutex-&gt;flag == 1); // spin-</a:t>
            </a:r>
            <a:r>
              <a:rPr lang="es-ES" sz="1400" dirty="0" err="1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wait</a:t>
            </a:r>
            <a:r>
              <a:rPr lang="es-ES" sz="14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(do </a:t>
            </a:r>
            <a:r>
              <a:rPr lang="es-ES" sz="1400" dirty="0" err="1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nothing</a:t>
            </a:r>
            <a:r>
              <a:rPr lang="es-ES" sz="14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400" dirty="0">
              <a:solidFill>
                <a:schemeClr val="dk1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mutex-&gt;flag = 1; //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now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SET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it!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5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52"/>
          <p:cNvSpPr txBox="1">
            <a:spLocks noGrp="1"/>
          </p:cNvSpPr>
          <p:nvPr>
            <p:ph type="title"/>
          </p:nvPr>
        </p:nvSpPr>
        <p:spPr>
          <a:xfrm>
            <a:off x="370650" y="96038"/>
            <a:ext cx="8850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Implementación de locks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031" name="Google Shape;1031;p52"/>
          <p:cNvSpPr txBox="1">
            <a:spLocks noGrp="1"/>
          </p:cNvSpPr>
          <p:nvPr>
            <p:ph type="body" idx="1"/>
          </p:nvPr>
        </p:nvSpPr>
        <p:spPr>
          <a:xfrm>
            <a:off x="324465" y="882900"/>
            <a:ext cx="11496885" cy="610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b="1" dirty="0">
                <a:solidFill>
                  <a:schemeClr val="accent5"/>
                </a:solidFill>
                <a:latin typeface="+mn-lt"/>
              </a:rPr>
              <a:t>Implementación mediante el uso de instrucciones Load/Store</a:t>
            </a:r>
            <a:endParaRPr b="1" dirty="0">
              <a:solidFill>
                <a:schemeClr val="accent5"/>
              </a:solidFill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sp>
        <p:nvSpPr>
          <p:cNvPr id="1032" name="Google Shape;1032;p52"/>
          <p:cNvSpPr txBox="1"/>
          <p:nvPr/>
        </p:nvSpPr>
        <p:spPr>
          <a:xfrm>
            <a:off x="324465" y="1493700"/>
            <a:ext cx="11230335" cy="1390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600" b="1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Conclusión</a:t>
            </a:r>
            <a:r>
              <a:rPr lang="es-ES" sz="2600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:</a:t>
            </a:r>
            <a:endParaRPr sz="2600" dirty="0">
              <a:solidFill>
                <a:srgbClr val="FF0000"/>
              </a:solidFill>
              <a:ea typeface="Roboto"/>
              <a:cs typeface="Roboto"/>
              <a:sym typeface="Roboto"/>
            </a:endParaRPr>
          </a:p>
          <a:p>
            <a:pPr marL="457200" lvl="0" indent="-3683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●"/>
            </a:pP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Una solución como la anterior (que es solo de software) no sirve.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●"/>
            </a:pP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Se necesita soporte de hardware (Instrucciones especiales - </a:t>
            </a:r>
            <a:r>
              <a:rPr lang="es-ES" sz="2200" dirty="0" err="1">
                <a:solidFill>
                  <a:schemeClr val="dk1"/>
                </a:solidFill>
                <a:ea typeface="Roboto"/>
                <a:cs typeface="Roboto"/>
                <a:sym typeface="Roboto"/>
              </a:rPr>
              <a:t>atomicas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).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pic>
        <p:nvPicPr>
          <p:cNvPr id="1033" name="Google Shape;1033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55500" y="3019900"/>
            <a:ext cx="2496975" cy="357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p53"/>
          <p:cNvSpPr txBox="1">
            <a:spLocks noGrp="1"/>
          </p:cNvSpPr>
          <p:nvPr>
            <p:ph type="title"/>
          </p:nvPr>
        </p:nvSpPr>
        <p:spPr>
          <a:xfrm>
            <a:off x="442452" y="96038"/>
            <a:ext cx="8778198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Implementación de locks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039" name="Google Shape;1039;p53"/>
          <p:cNvSpPr txBox="1"/>
          <p:nvPr/>
        </p:nvSpPr>
        <p:spPr>
          <a:xfrm>
            <a:off x="442452" y="869525"/>
            <a:ext cx="10383198" cy="679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Instrucción </a:t>
            </a:r>
            <a:r>
              <a:rPr lang="es-ES" sz="2800" b="1" dirty="0">
                <a:solidFill>
                  <a:schemeClr val="accent2"/>
                </a:solidFill>
                <a:ea typeface="Consolas"/>
                <a:cs typeface="Consolas"/>
                <a:sym typeface="Consolas"/>
              </a:rPr>
              <a:t>test-and-set</a:t>
            </a:r>
            <a:endParaRPr sz="2800" b="1" dirty="0">
              <a:solidFill>
                <a:schemeClr val="accent2"/>
              </a:solidFill>
              <a:ea typeface="Consolas"/>
              <a:cs typeface="Consolas"/>
              <a:sym typeface="Consolas"/>
            </a:endParaRPr>
          </a:p>
        </p:txBody>
      </p:sp>
      <p:sp>
        <p:nvSpPr>
          <p:cNvPr id="1040" name="Google Shape;1040;p53"/>
          <p:cNvSpPr txBox="1"/>
          <p:nvPr/>
        </p:nvSpPr>
        <p:spPr>
          <a:xfrm>
            <a:off x="442452" y="1485125"/>
            <a:ext cx="11519323" cy="187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683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●"/>
            </a:pPr>
            <a:r>
              <a:rPr lang="es-ES" sz="2200" b="1" dirty="0">
                <a:solidFill>
                  <a:srgbClr val="CC0000"/>
                </a:solidFill>
                <a:ea typeface="Roboto"/>
                <a:cs typeface="Roboto"/>
                <a:sym typeface="Roboto"/>
              </a:rPr>
              <a:t>Instrucciones atómicas</a:t>
            </a:r>
            <a:r>
              <a:rPr lang="es-ES" sz="2200" dirty="0">
                <a:solidFill>
                  <a:srgbClr val="CC0000"/>
                </a:solidFill>
                <a:ea typeface="Roboto"/>
                <a:cs typeface="Roboto"/>
                <a:sym typeface="Roboto"/>
              </a:rPr>
              <a:t>: 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Garantizan que las operaciones de lectura, modificación y escritura (</a:t>
            </a:r>
            <a:r>
              <a:rPr lang="es-ES" sz="22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read-modify-write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) sean ejecutadas atómicamente (</a:t>
            </a:r>
            <a:r>
              <a:rPr lang="es-ES" sz="22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sin interrupciones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).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683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●"/>
            </a:pPr>
            <a:r>
              <a:rPr lang="es-ES" sz="2200" b="1" dirty="0">
                <a:solidFill>
                  <a:srgbClr val="CC0000"/>
                </a:solidFill>
                <a:ea typeface="Roboto"/>
                <a:cs typeface="Roboto"/>
                <a:sym typeface="Roboto"/>
              </a:rPr>
              <a:t>Instrucción </a:t>
            </a:r>
            <a:r>
              <a:rPr lang="es-ES" sz="2200" b="1" dirty="0">
                <a:solidFill>
                  <a:srgbClr val="CC0000"/>
                </a:solidFill>
                <a:ea typeface="Consolas"/>
                <a:cs typeface="Consolas"/>
                <a:sym typeface="Consolas"/>
              </a:rPr>
              <a:t>test-and-set</a:t>
            </a:r>
            <a:r>
              <a:rPr lang="es-ES" sz="2200" b="1" dirty="0">
                <a:solidFill>
                  <a:srgbClr val="CC0000"/>
                </a:solidFill>
                <a:ea typeface="Roboto"/>
                <a:cs typeface="Roboto"/>
                <a:sym typeface="Roboto"/>
              </a:rPr>
              <a:t> (Intercambio atómico)</a:t>
            </a:r>
            <a:r>
              <a:rPr lang="es-ES" sz="2200" dirty="0">
                <a:solidFill>
                  <a:srgbClr val="CC0000"/>
                </a:solidFill>
                <a:ea typeface="Roboto"/>
                <a:cs typeface="Roboto"/>
                <a:sym typeface="Roboto"/>
              </a:rPr>
              <a:t>: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914400" lvl="1" indent="-3683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○"/>
            </a:pPr>
            <a:r>
              <a:rPr lang="es-ES" sz="22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x86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: </a:t>
            </a:r>
            <a:r>
              <a:rPr lang="es-ES" sz="2000" dirty="0" err="1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xchg</a:t>
            </a:r>
            <a:endParaRPr sz="2000" dirty="0">
              <a:solidFill>
                <a:schemeClr val="dk1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  <a:p>
            <a:pPr marL="914400" lvl="1" indent="-3683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○"/>
            </a:pPr>
            <a:r>
              <a:rPr lang="es-ES" sz="22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RISC-V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: </a:t>
            </a:r>
            <a:r>
              <a:rPr lang="es-ES" sz="2000" dirty="0" err="1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amoswap</a:t>
            </a:r>
            <a:endParaRPr sz="2000" dirty="0">
              <a:solidFill>
                <a:schemeClr val="dk1"/>
              </a:solidFill>
              <a:latin typeface="Consolas" panose="020B0609020204030204" pitchFamily="49" charset="0"/>
              <a:ea typeface="Roboto"/>
              <a:cs typeface="Roboto"/>
              <a:sym typeface="Roboto"/>
            </a:endParaRPr>
          </a:p>
        </p:txBody>
      </p:sp>
      <p:sp>
        <p:nvSpPr>
          <p:cNvPr id="1041" name="Google Shape;1041;p53"/>
          <p:cNvSpPr txBox="1"/>
          <p:nvPr/>
        </p:nvSpPr>
        <p:spPr>
          <a:xfrm>
            <a:off x="973579" y="3439962"/>
            <a:ext cx="7531792" cy="1777379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 </a:t>
            </a:r>
            <a:r>
              <a:rPr lang="es-ES" b="1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TestAndSet</a:t>
            </a:r>
            <a:r>
              <a:rPr lang="es-E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(int *</a:t>
            </a:r>
            <a:r>
              <a:rPr lang="es-ES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old_ptr</a:t>
            </a:r>
            <a:r>
              <a:rPr lang="es-E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int new) {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int </a:t>
            </a:r>
            <a:r>
              <a:rPr lang="es-ES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old</a:t>
            </a:r>
            <a:r>
              <a:rPr lang="es-E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*</a:t>
            </a:r>
            <a:r>
              <a:rPr lang="es-ES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old_ptr</a:t>
            </a:r>
            <a:r>
              <a:rPr lang="es-E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   	// </a:t>
            </a:r>
            <a:r>
              <a:rPr lang="es-ES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fetch</a:t>
            </a:r>
            <a:r>
              <a:rPr lang="es-E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old</a:t>
            </a:r>
            <a:r>
              <a:rPr lang="es-E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s-E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at </a:t>
            </a:r>
            <a:r>
              <a:rPr lang="es-ES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old_ptr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*</a:t>
            </a:r>
            <a:r>
              <a:rPr lang="es-ES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old_ptr</a:t>
            </a:r>
            <a:r>
              <a:rPr lang="es-E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new;        	// store ‘new’ </a:t>
            </a:r>
            <a:r>
              <a:rPr lang="es-ES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into</a:t>
            </a:r>
            <a:r>
              <a:rPr lang="es-E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old_ptr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s-E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old</a:t>
            </a:r>
            <a:r>
              <a:rPr lang="es-E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            	// </a:t>
            </a:r>
            <a:r>
              <a:rPr lang="es-ES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s-E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the</a:t>
            </a:r>
            <a:r>
              <a:rPr lang="es-E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old</a:t>
            </a:r>
            <a:r>
              <a:rPr lang="es-E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42" name="Google Shape;1042;p53"/>
          <p:cNvSpPr txBox="1"/>
          <p:nvPr/>
        </p:nvSpPr>
        <p:spPr>
          <a:xfrm>
            <a:off x="442452" y="5377450"/>
            <a:ext cx="11519323" cy="949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683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●"/>
            </a:pP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La instrucción </a:t>
            </a:r>
            <a:r>
              <a:rPr lang="es-ES" sz="2200" b="1" dirty="0">
                <a:solidFill>
                  <a:srgbClr val="E46C0A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test-and-set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devuelve el valor anterior y actualiza (de manera simultánea) el valor de una posición de memoria.</a:t>
            </a:r>
            <a:r>
              <a:rPr lang="es-ES" sz="24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</a:t>
            </a:r>
            <a:endParaRPr sz="2200" b="1" dirty="0">
              <a:solidFill>
                <a:srgbClr val="CC0000"/>
              </a:solidFill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p54"/>
          <p:cNvSpPr txBox="1">
            <a:spLocks noGrp="1"/>
          </p:cNvSpPr>
          <p:nvPr>
            <p:ph type="title"/>
          </p:nvPr>
        </p:nvSpPr>
        <p:spPr>
          <a:xfrm>
            <a:off x="370650" y="96038"/>
            <a:ext cx="8850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Implementación de locks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048" name="Google Shape;1048;p54"/>
          <p:cNvSpPr txBox="1">
            <a:spLocks noGrp="1"/>
          </p:cNvSpPr>
          <p:nvPr>
            <p:ph type="body" idx="1"/>
          </p:nvPr>
        </p:nvSpPr>
        <p:spPr>
          <a:xfrm>
            <a:off x="351757" y="1014726"/>
            <a:ext cx="11421690" cy="610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b="1" dirty="0">
                <a:solidFill>
                  <a:schemeClr val="accent5"/>
                </a:solidFill>
                <a:latin typeface="+mn-lt"/>
              </a:rPr>
              <a:t>Implementación de un lock usando la instrucción test-and-set</a:t>
            </a:r>
            <a:endParaRPr b="1" dirty="0">
              <a:solidFill>
                <a:schemeClr val="accent5"/>
              </a:solidFill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sp>
        <p:nvSpPr>
          <p:cNvPr id="1049" name="Google Shape;1049;p54"/>
          <p:cNvSpPr txBox="1"/>
          <p:nvPr/>
        </p:nvSpPr>
        <p:spPr>
          <a:xfrm>
            <a:off x="399660" y="1625526"/>
            <a:ext cx="6276911" cy="1310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683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●"/>
            </a:pP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Implementación de un </a:t>
            </a:r>
            <a:r>
              <a:rPr lang="es-ES" sz="2400" dirty="0" err="1">
                <a:solidFill>
                  <a:schemeClr val="dk1"/>
                </a:solidFill>
                <a:ea typeface="Roboto"/>
                <a:cs typeface="Roboto"/>
                <a:sym typeface="Roboto"/>
              </a:rPr>
              <a:t>spinlock</a:t>
            </a: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usando la instrucción </a:t>
            </a:r>
            <a:r>
              <a:rPr lang="es-ES" sz="2400" b="1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test-and-set</a:t>
            </a: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(</a:t>
            </a:r>
            <a:r>
              <a:rPr lang="es-ES" sz="24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xv6</a:t>
            </a: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:</a:t>
            </a:r>
            <a:r>
              <a:rPr lang="es-ES" sz="2400" dirty="0">
                <a:solidFill>
                  <a:schemeClr val="dk1"/>
                </a:solidFill>
                <a:uFill>
                  <a:noFill/>
                </a:uFill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s-ES" sz="2400" u="sng" dirty="0" err="1">
                <a:solidFill>
                  <a:schemeClr val="hlink"/>
                </a:solidFill>
                <a:ea typeface="Roboto"/>
                <a:cs typeface="Roboto"/>
                <a:sym typeface="Roboto"/>
                <a:hlinkClick r:id="rId3"/>
              </a:rPr>
              <a:t>spinlock.h</a:t>
            </a: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;</a:t>
            </a:r>
            <a:r>
              <a:rPr lang="es-ES" sz="2400" dirty="0">
                <a:solidFill>
                  <a:schemeClr val="dk1"/>
                </a:solidFill>
                <a:uFill>
                  <a:noFill/>
                </a:uFill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s-ES" sz="2400" u="sng" dirty="0" err="1">
                <a:solidFill>
                  <a:schemeClr val="hlink"/>
                </a:solidFill>
                <a:ea typeface="Roboto"/>
                <a:cs typeface="Roboto"/>
                <a:sym typeface="Roboto"/>
                <a:hlinkClick r:id="rId4"/>
              </a:rPr>
              <a:t>spinlock.c</a:t>
            </a: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)</a:t>
            </a:r>
            <a:endParaRPr sz="2200" b="1" dirty="0">
              <a:solidFill>
                <a:srgbClr val="CC0000"/>
              </a:solidFill>
              <a:ea typeface="Roboto"/>
              <a:cs typeface="Roboto"/>
              <a:sym typeface="Roboto"/>
            </a:endParaRPr>
          </a:p>
        </p:txBody>
      </p:sp>
      <p:grpSp>
        <p:nvGrpSpPr>
          <p:cNvPr id="1050" name="Google Shape;1050;p54"/>
          <p:cNvGrpSpPr/>
          <p:nvPr/>
        </p:nvGrpSpPr>
        <p:grpSpPr>
          <a:xfrm>
            <a:off x="6924488" y="1832400"/>
            <a:ext cx="4896862" cy="4658368"/>
            <a:chOff x="4890353" y="1690225"/>
            <a:chExt cx="5714624" cy="4658368"/>
          </a:xfrm>
        </p:grpSpPr>
        <p:sp>
          <p:nvSpPr>
            <p:cNvPr id="1051" name="Google Shape;1051;p54"/>
            <p:cNvSpPr txBox="1"/>
            <p:nvPr/>
          </p:nvSpPr>
          <p:spPr>
            <a:xfrm>
              <a:off x="5468300" y="1704275"/>
              <a:ext cx="5136677" cy="464431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typedef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struct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__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lock_t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{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int flag;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}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lock_t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;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void init(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lock_t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*lock) {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// 0: lock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is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available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, 1: lock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is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held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lock-&gt;flag = 0;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void lock(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lock_t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*lock) {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while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(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TestAndSet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(&amp;lock-&gt;flag, 1) == 1)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; // spin-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wait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(do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nothing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)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void unlock(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lock_t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*lock) {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//lock-&gt;flag = 0;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TestAndSet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(&amp;lock-&gt;flag, 0);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052" name="Google Shape;1052;p54"/>
            <p:cNvSpPr txBox="1"/>
            <p:nvPr/>
          </p:nvSpPr>
          <p:spPr>
            <a:xfrm>
              <a:off x="4890353" y="1690225"/>
              <a:ext cx="510900" cy="439655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2</a:t>
              </a:r>
              <a:endParaRPr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3</a:t>
              </a:r>
              <a:endParaRPr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4</a:t>
              </a:r>
              <a:endParaRPr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5</a:t>
              </a:r>
              <a:endParaRPr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6</a:t>
              </a:r>
              <a:endParaRPr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7</a:t>
              </a:r>
              <a:endParaRPr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8</a:t>
              </a:r>
              <a:endParaRPr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9</a:t>
              </a:r>
              <a:endParaRPr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10</a:t>
              </a:r>
              <a:endParaRPr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11</a:t>
              </a:r>
              <a:endParaRPr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12</a:t>
              </a:r>
              <a:endParaRPr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13</a:t>
              </a:r>
              <a:endParaRPr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14</a:t>
              </a:r>
              <a:endParaRPr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15</a:t>
              </a:r>
              <a:endParaRPr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16</a:t>
              </a:r>
              <a:endParaRPr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17</a:t>
              </a:r>
              <a:endParaRPr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460C828D-76AA-4B47-B1B7-F6310FAB02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504096"/>
              </p:ext>
            </p:extLst>
          </p:nvPr>
        </p:nvGraphicFramePr>
        <p:xfrm>
          <a:off x="1803996" y="3373194"/>
          <a:ext cx="3468238" cy="1859280"/>
        </p:xfrm>
        <a:graphic>
          <a:graphicData uri="http://schemas.openxmlformats.org/drawingml/2006/table">
            <a:tbl>
              <a:tblPr firstRow="1" bandRow="1">
                <a:tableStyleId>{F66A2E93-5121-40D1-B61B-F19DAAD5E98B}</a:tableStyleId>
              </a:tblPr>
              <a:tblGrid>
                <a:gridCol w="3468238">
                  <a:extLst>
                    <a:ext uri="{9D8B030D-6E8A-4147-A177-3AD203B41FA5}">
                      <a16:colId xmlns:a16="http://schemas.microsoft.com/office/drawing/2014/main" val="550306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CO" sz="2400" b="1" dirty="0">
                          <a:latin typeface="Consolas" panose="020B0609020204030204" pitchFamily="49" charset="0"/>
                        </a:rPr>
                        <a:t>Lock (ADT)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580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CO" sz="2000" b="1" dirty="0">
                          <a:solidFill>
                            <a:schemeClr val="accent6"/>
                          </a:solidFill>
                          <a:latin typeface="Consolas" panose="020B0609020204030204" pitchFamily="49" charset="0"/>
                        </a:rPr>
                        <a:t>flag</a:t>
                      </a:r>
                      <a:r>
                        <a:rPr lang="es-CO" sz="2000" b="1" dirty="0">
                          <a:latin typeface="Consolas" panose="020B0609020204030204" pitchFamily="49" charset="0"/>
                        </a:rPr>
                        <a:t>: {0, 1}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6754832"/>
                  </a:ext>
                </a:extLst>
              </a:tr>
              <a:tr h="382459">
                <a:tc>
                  <a:txBody>
                    <a:bodyPr/>
                    <a:lstStyle/>
                    <a:p>
                      <a:r>
                        <a:rPr lang="es-CO" sz="2000" b="1" dirty="0">
                          <a:latin typeface="Consolas" panose="020B0609020204030204" pitchFamily="49" charset="0"/>
                        </a:rPr>
                        <a:t>init()</a:t>
                      </a:r>
                    </a:p>
                    <a:p>
                      <a:r>
                        <a:rPr lang="es-CO" sz="2000" b="1" dirty="0">
                          <a:solidFill>
                            <a:schemeClr val="accent1"/>
                          </a:solidFill>
                          <a:latin typeface="Consolas" panose="020B0609020204030204" pitchFamily="49" charset="0"/>
                        </a:rPr>
                        <a:t>lock()</a:t>
                      </a:r>
                    </a:p>
                    <a:p>
                      <a:r>
                        <a:rPr lang="es-CO" sz="2000" b="1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</a:rPr>
                        <a:t>unlock()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418167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p55"/>
          <p:cNvSpPr txBox="1">
            <a:spLocks noGrp="1"/>
          </p:cNvSpPr>
          <p:nvPr>
            <p:ph type="title"/>
          </p:nvPr>
        </p:nvSpPr>
        <p:spPr>
          <a:xfrm>
            <a:off x="503457" y="96038"/>
            <a:ext cx="8717194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Implementación de locks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058" name="Google Shape;1058;p55"/>
          <p:cNvSpPr txBox="1">
            <a:spLocks noGrp="1"/>
          </p:cNvSpPr>
          <p:nvPr>
            <p:ph type="body" idx="1"/>
          </p:nvPr>
        </p:nvSpPr>
        <p:spPr>
          <a:xfrm>
            <a:off x="503456" y="882900"/>
            <a:ext cx="11317894" cy="610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b="1" dirty="0">
                <a:solidFill>
                  <a:schemeClr val="accent5"/>
                </a:solidFill>
                <a:latin typeface="+mn-lt"/>
              </a:rPr>
              <a:t>Implementación de un lock usando la instrucción test-and-set</a:t>
            </a:r>
            <a:endParaRPr b="1" dirty="0">
              <a:solidFill>
                <a:schemeClr val="accent5"/>
              </a:solidFill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pSp>
        <p:nvGrpSpPr>
          <p:cNvPr id="1059" name="Google Shape;1059;p55"/>
          <p:cNvGrpSpPr/>
          <p:nvPr/>
        </p:nvGrpSpPr>
        <p:grpSpPr>
          <a:xfrm>
            <a:off x="6720999" y="1714416"/>
            <a:ext cx="4757435" cy="4658368"/>
            <a:chOff x="4890353" y="1690225"/>
            <a:chExt cx="6088347" cy="4658368"/>
          </a:xfrm>
        </p:grpSpPr>
        <p:sp>
          <p:nvSpPr>
            <p:cNvPr id="1060" name="Google Shape;1060;p55"/>
            <p:cNvSpPr txBox="1"/>
            <p:nvPr/>
          </p:nvSpPr>
          <p:spPr>
            <a:xfrm>
              <a:off x="5468300" y="1704275"/>
              <a:ext cx="5510400" cy="464431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typedef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struct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__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lock_t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{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int flag;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}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lock_t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;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void init(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lock_t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*lock) {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// 0: lock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is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available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, 1: lock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is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held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400" dirty="0" err="1">
                  <a:solidFill>
                    <a:schemeClr val="dk1"/>
                  </a:solidFill>
                  <a:highlight>
                    <a:srgbClr val="00FFFF"/>
                  </a:highlight>
                  <a:latin typeface="Consolas"/>
                  <a:ea typeface="Consolas"/>
                  <a:cs typeface="Consolas"/>
                  <a:sym typeface="Consolas"/>
                </a:rPr>
                <a:t>TestAndSet</a:t>
              </a:r>
              <a:r>
                <a:rPr lang="es-ES" sz="1400" dirty="0">
                  <a:solidFill>
                    <a:schemeClr val="dk1"/>
                  </a:solidFill>
                  <a:highlight>
                    <a:srgbClr val="00FFFF"/>
                  </a:highlight>
                  <a:latin typeface="Consolas"/>
                  <a:ea typeface="Consolas"/>
                  <a:cs typeface="Consolas"/>
                  <a:sym typeface="Consolas"/>
                </a:rPr>
                <a:t>(&amp;lock-&gt;flag,0);</a:t>
              </a:r>
              <a:endParaRPr sz="1400" dirty="0">
                <a:solidFill>
                  <a:schemeClr val="dk1"/>
                </a:solidFill>
                <a:highlight>
                  <a:srgbClr val="00FFFF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void lock(</a:t>
              </a:r>
              <a:r>
                <a:rPr lang="es-ES" sz="1400" dirty="0" err="1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lock_t</a:t>
              </a:r>
              <a:r>
                <a:rPr lang="es-ES" sz="1400" dirty="0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 *lock) {</a:t>
              </a:r>
              <a:endParaRPr sz="14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400" dirty="0" err="1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while</a:t>
              </a:r>
              <a:r>
                <a:rPr lang="es-ES" sz="1400" dirty="0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 (</a:t>
              </a:r>
              <a:r>
                <a:rPr lang="es-ES" sz="1400" dirty="0" err="1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TestAndSet</a:t>
              </a:r>
              <a:r>
                <a:rPr lang="es-ES" sz="1400" dirty="0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(&amp;lock-&gt;flag, 1) == 1)</a:t>
              </a:r>
              <a:endParaRPr sz="14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  ; // spin-</a:t>
              </a:r>
              <a:r>
                <a:rPr lang="es-ES" sz="1400" dirty="0" err="1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wait</a:t>
              </a:r>
              <a:r>
                <a:rPr lang="es-ES" sz="1400" dirty="0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 (do </a:t>
              </a:r>
              <a:r>
                <a:rPr lang="es-ES" sz="1400" dirty="0" err="1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nothing</a:t>
              </a:r>
              <a:r>
                <a:rPr lang="es-ES" sz="1400" dirty="0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)</a:t>
              </a:r>
              <a:endParaRPr sz="14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4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void unlock(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lock_t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*lock) {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400" dirty="0">
                  <a:solidFill>
                    <a:schemeClr val="dk1"/>
                  </a:solidFill>
                  <a:highlight>
                    <a:srgbClr val="00FF00"/>
                  </a:highlight>
                  <a:latin typeface="Consolas"/>
                  <a:ea typeface="Consolas"/>
                  <a:cs typeface="Consolas"/>
                  <a:sym typeface="Consolas"/>
                </a:rPr>
                <a:t>lock-&gt;flag = 0;</a:t>
              </a:r>
              <a:endParaRPr sz="1400" dirty="0">
                <a:solidFill>
                  <a:schemeClr val="dk1"/>
                </a:solidFill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061" name="Google Shape;1061;p55"/>
            <p:cNvSpPr txBox="1"/>
            <p:nvPr/>
          </p:nvSpPr>
          <p:spPr>
            <a:xfrm>
              <a:off x="4890353" y="1690225"/>
              <a:ext cx="510900" cy="46443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2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3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4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5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6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7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8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9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10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11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12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13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14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15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16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17</a:t>
              </a:r>
            </a:p>
            <a:p>
              <a:pPr algn="r">
                <a:lnSpc>
                  <a:spcPct val="115000"/>
                </a:lnSpc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18</a:t>
              </a:r>
            </a:p>
          </p:txBody>
        </p:sp>
      </p:grpSp>
      <p:grpSp>
        <p:nvGrpSpPr>
          <p:cNvPr id="1062" name="Google Shape;1062;p55"/>
          <p:cNvGrpSpPr/>
          <p:nvPr/>
        </p:nvGrpSpPr>
        <p:grpSpPr>
          <a:xfrm>
            <a:off x="503456" y="1644291"/>
            <a:ext cx="4924887" cy="4892078"/>
            <a:chOff x="4906725" y="1676225"/>
            <a:chExt cx="5947213" cy="4892078"/>
          </a:xfrm>
        </p:grpSpPr>
        <p:sp>
          <p:nvSpPr>
            <p:cNvPr id="1063" name="Google Shape;1063;p55"/>
            <p:cNvSpPr txBox="1"/>
            <p:nvPr/>
          </p:nvSpPr>
          <p:spPr>
            <a:xfrm>
              <a:off x="5468300" y="1704275"/>
              <a:ext cx="5385638" cy="4644318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typedef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struct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__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lock_t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{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int flag;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}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lock_t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;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void init(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lock_t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*mutex) {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// 0 -&gt; lock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is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available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, 1 -&gt; 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held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400" dirty="0">
                  <a:solidFill>
                    <a:schemeClr val="dk1"/>
                  </a:solidFill>
                  <a:highlight>
                    <a:srgbClr val="00FFFF"/>
                  </a:highlight>
                  <a:latin typeface="Consolas"/>
                  <a:ea typeface="Consolas"/>
                  <a:cs typeface="Consolas"/>
                  <a:sym typeface="Consolas"/>
                </a:rPr>
                <a:t>mutex-&gt;flag = 0;</a:t>
              </a:r>
              <a:endParaRPr sz="1400" dirty="0">
                <a:solidFill>
                  <a:schemeClr val="dk1"/>
                </a:solidFill>
                <a:highlight>
                  <a:srgbClr val="00FFFF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void lock(</a:t>
              </a:r>
              <a:r>
                <a:rPr lang="es-ES" sz="1400" dirty="0" err="1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lock_t</a:t>
              </a:r>
              <a:r>
                <a:rPr lang="es-ES" sz="1400" dirty="0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 *mutex) {</a:t>
              </a:r>
              <a:endParaRPr sz="14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400" dirty="0" err="1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while</a:t>
              </a:r>
              <a:r>
                <a:rPr lang="es-ES" sz="1400" dirty="0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 (mutex-&gt;flag == 1) // TEST </a:t>
              </a:r>
              <a:r>
                <a:rPr lang="es-ES" sz="1400" dirty="0" err="1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the</a:t>
              </a:r>
              <a:r>
                <a:rPr lang="es-ES" sz="1400" dirty="0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 flag</a:t>
              </a:r>
              <a:endParaRPr sz="14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  ; // spin-</a:t>
              </a:r>
              <a:r>
                <a:rPr lang="es-ES" sz="1400" dirty="0" err="1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wait</a:t>
              </a:r>
              <a:r>
                <a:rPr lang="es-ES" sz="1400" dirty="0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 (do </a:t>
              </a:r>
              <a:r>
                <a:rPr lang="es-ES" sz="1400" dirty="0" err="1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nothing</a:t>
              </a:r>
              <a:r>
                <a:rPr lang="es-ES" sz="1400" dirty="0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)</a:t>
              </a:r>
              <a:endParaRPr sz="14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  mutex-&gt;flag = 1; // </a:t>
              </a:r>
              <a:r>
                <a:rPr lang="es-ES" sz="1400" dirty="0" err="1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now</a:t>
              </a:r>
              <a:r>
                <a:rPr lang="es-ES" sz="1400" dirty="0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 SET </a:t>
              </a:r>
              <a:r>
                <a:rPr lang="es-ES" sz="1400" dirty="0" err="1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it!</a:t>
              </a:r>
              <a:endParaRPr sz="14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4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void unlock(</a:t>
              </a:r>
              <a:r>
                <a:rPr lang="es-ES" sz="14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lock_t</a:t>
              </a: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*mutex) {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400" dirty="0">
                  <a:solidFill>
                    <a:schemeClr val="dk1"/>
                  </a:solidFill>
                  <a:highlight>
                    <a:srgbClr val="00FF00"/>
                  </a:highlight>
                  <a:latin typeface="Consolas"/>
                  <a:ea typeface="Consolas"/>
                  <a:cs typeface="Consolas"/>
                  <a:sym typeface="Consolas"/>
                </a:rPr>
                <a:t>mutex-&gt;flag = 0;</a:t>
              </a:r>
              <a:endParaRPr sz="1400" dirty="0">
                <a:solidFill>
                  <a:schemeClr val="dk1"/>
                </a:solidFill>
                <a:highlight>
                  <a:srgbClr val="00FF00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064" name="Google Shape;1064;p55"/>
            <p:cNvSpPr txBox="1"/>
            <p:nvPr/>
          </p:nvSpPr>
          <p:spPr>
            <a:xfrm>
              <a:off x="4906725" y="1676225"/>
              <a:ext cx="463500" cy="48920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2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3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4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5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6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7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8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9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10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11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12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13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14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15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16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17</a:t>
              </a:r>
              <a:endParaRPr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r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18</a:t>
              </a:r>
            </a:p>
            <a:p>
              <a:pPr algn="r">
                <a:lnSpc>
                  <a:spcPct val="115000"/>
                </a:lnSpc>
              </a:pPr>
              <a:r>
                <a:rPr lang="es-ES" sz="14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19</a:t>
              </a:r>
            </a:p>
          </p:txBody>
        </p:sp>
      </p:grpSp>
      <p:sp>
        <p:nvSpPr>
          <p:cNvPr id="1065" name="Google Shape;1065;p55"/>
          <p:cNvSpPr/>
          <p:nvPr/>
        </p:nvSpPr>
        <p:spPr>
          <a:xfrm>
            <a:off x="5551621" y="3714791"/>
            <a:ext cx="1169378" cy="4263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56"/>
          <p:cNvSpPr txBox="1">
            <a:spLocks noGrp="1"/>
          </p:cNvSpPr>
          <p:nvPr>
            <p:ph type="title"/>
          </p:nvPr>
        </p:nvSpPr>
        <p:spPr>
          <a:xfrm>
            <a:off x="493486" y="96038"/>
            <a:ext cx="8727164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Implementación de locks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071" name="Google Shape;1071;p56"/>
          <p:cNvSpPr txBox="1">
            <a:spLocks noGrp="1"/>
          </p:cNvSpPr>
          <p:nvPr>
            <p:ph type="body" idx="1"/>
          </p:nvPr>
        </p:nvSpPr>
        <p:spPr>
          <a:xfrm>
            <a:off x="493486" y="882900"/>
            <a:ext cx="11327864" cy="610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b="1" dirty="0">
                <a:solidFill>
                  <a:schemeClr val="accent5"/>
                </a:solidFill>
                <a:latin typeface="+mn-lt"/>
              </a:rPr>
              <a:t>Implementación de un lock usando la instrucción test-and-set</a:t>
            </a:r>
            <a:endParaRPr b="1" dirty="0">
              <a:solidFill>
                <a:schemeClr val="accent5"/>
              </a:solidFill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sp>
        <p:nvSpPr>
          <p:cNvPr id="1072" name="Google Shape;1072;p56"/>
          <p:cNvSpPr txBox="1"/>
          <p:nvPr/>
        </p:nvSpPr>
        <p:spPr>
          <a:xfrm>
            <a:off x="492950" y="3318813"/>
            <a:ext cx="10211700" cy="64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6"/>
                </a:solidFill>
                <a:ea typeface="Roboto"/>
                <a:cs typeface="Roboto"/>
                <a:sym typeface="Roboto"/>
              </a:rPr>
              <a:t>¿Por qué funciona esta implementación?</a:t>
            </a:r>
            <a:r>
              <a:rPr lang="es-ES" sz="24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→ </a:t>
            </a:r>
            <a:r>
              <a:rPr lang="es-ES" sz="2400" b="1" dirty="0">
                <a:solidFill>
                  <a:schemeClr val="accent2"/>
                </a:solidFill>
                <a:ea typeface="Roboto"/>
                <a:cs typeface="Roboto"/>
                <a:sym typeface="Roboto"/>
              </a:rPr>
              <a:t>Análisis</a:t>
            </a:r>
            <a:endParaRPr sz="2200" b="1" dirty="0">
              <a:solidFill>
                <a:schemeClr val="accent2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1073" name="Google Shape;1073;p56"/>
          <p:cNvSpPr txBox="1"/>
          <p:nvPr/>
        </p:nvSpPr>
        <p:spPr>
          <a:xfrm>
            <a:off x="6335805" y="2031609"/>
            <a:ext cx="5078920" cy="1034099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 unlock(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lock_t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*lock) {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lock-&gt;flag = 0;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74" name="Google Shape;1074;p56"/>
          <p:cNvSpPr txBox="1"/>
          <p:nvPr/>
        </p:nvSpPr>
        <p:spPr>
          <a:xfrm>
            <a:off x="519880" y="1914936"/>
            <a:ext cx="5078920" cy="1317253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 lock(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lock_t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*lock) {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TestAndSet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(&amp;lock-&gt;flag, 1) == 1)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; // spin-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wait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(do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nothing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1075" name="Google Shape;1075;p56"/>
          <p:cNvGrpSpPr/>
          <p:nvPr/>
        </p:nvGrpSpPr>
        <p:grpSpPr>
          <a:xfrm>
            <a:off x="5987984" y="4506769"/>
            <a:ext cx="4699200" cy="1937200"/>
            <a:chOff x="1231875" y="4742650"/>
            <a:chExt cx="4699200" cy="1937200"/>
          </a:xfrm>
        </p:grpSpPr>
        <p:pic>
          <p:nvPicPr>
            <p:cNvPr id="1076" name="Google Shape;1076;p5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028288" y="4806473"/>
              <a:ext cx="384675" cy="5363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77" name="Google Shape;1077;p5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067388" y="4742650"/>
              <a:ext cx="513925" cy="5437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078" name="Google Shape;1078;p56"/>
            <p:cNvCxnSpPr/>
            <p:nvPr/>
          </p:nvCxnSpPr>
          <p:spPr>
            <a:xfrm>
              <a:off x="2649375" y="5701175"/>
              <a:ext cx="32817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79" name="Google Shape;1079;p56"/>
            <p:cNvSpPr txBox="1"/>
            <p:nvPr/>
          </p:nvSpPr>
          <p:spPr>
            <a:xfrm>
              <a:off x="1231875" y="5470325"/>
              <a:ext cx="13143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Thread </a:t>
              </a:r>
              <a:endParaRPr sz="1800" b="1">
                <a:solidFill>
                  <a:schemeClr val="dk1"/>
                </a:solidFill>
              </a:endParaRPr>
            </a:p>
          </p:txBody>
        </p:sp>
        <p:sp>
          <p:nvSpPr>
            <p:cNvPr id="1080" name="Google Shape;1080;p56"/>
            <p:cNvSpPr/>
            <p:nvPr/>
          </p:nvSpPr>
          <p:spPr>
            <a:xfrm>
              <a:off x="3216988" y="5617025"/>
              <a:ext cx="2103600" cy="1683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081" name="Google Shape;1081;p56"/>
            <p:cNvCxnSpPr/>
            <p:nvPr/>
          </p:nvCxnSpPr>
          <p:spPr>
            <a:xfrm flipH="1">
              <a:off x="3216875" y="5406650"/>
              <a:ext cx="7500" cy="596100"/>
            </a:xfrm>
            <a:prstGeom prst="straightConnector1">
              <a:avLst/>
            </a:prstGeom>
            <a:noFill/>
            <a:ln w="28575" cap="flat" cmpd="sng">
              <a:solidFill>
                <a:srgbClr val="FF0000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1082" name="Google Shape;1082;p56"/>
            <p:cNvCxnSpPr/>
            <p:nvPr/>
          </p:nvCxnSpPr>
          <p:spPr>
            <a:xfrm flipH="1">
              <a:off x="5320600" y="5406650"/>
              <a:ext cx="7500" cy="596100"/>
            </a:xfrm>
            <a:prstGeom prst="straightConnector1">
              <a:avLst/>
            </a:prstGeom>
            <a:noFill/>
            <a:ln w="28575" cap="flat" cmpd="sng">
              <a:solidFill>
                <a:srgbClr val="0B6937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1083" name="Google Shape;1083;p56"/>
            <p:cNvSpPr txBox="1"/>
            <p:nvPr/>
          </p:nvSpPr>
          <p:spPr>
            <a:xfrm>
              <a:off x="2729825" y="6002750"/>
              <a:ext cx="9816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lock </a:t>
              </a:r>
              <a:r>
                <a:rPr lang="es-ES" sz="1600" b="1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(L)</a:t>
              </a:r>
              <a:endParaRPr sz="1600" b="1" dirty="0">
                <a:solidFill>
                  <a:srgbClr val="FF0000"/>
                </a:solidFill>
              </a:endParaRPr>
            </a:p>
          </p:txBody>
        </p:sp>
        <p:sp>
          <p:nvSpPr>
            <p:cNvPr id="1084" name="Google Shape;1084;p56"/>
            <p:cNvSpPr txBox="1"/>
            <p:nvPr/>
          </p:nvSpPr>
          <p:spPr>
            <a:xfrm>
              <a:off x="4833550" y="6002750"/>
              <a:ext cx="981600" cy="67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unlock </a:t>
              </a:r>
              <a:r>
                <a:rPr lang="es-ES" sz="1600" b="1" dirty="0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(U)</a:t>
              </a:r>
              <a:endParaRPr sz="1600" b="1" dirty="0">
                <a:solidFill>
                  <a:srgbClr val="0B6937"/>
                </a:solidFill>
              </a:endParaRPr>
            </a:p>
          </p:txBody>
        </p:sp>
        <p:sp>
          <p:nvSpPr>
            <p:cNvPr id="1085" name="Google Shape;1085;p56"/>
            <p:cNvSpPr txBox="1"/>
            <p:nvPr/>
          </p:nvSpPr>
          <p:spPr>
            <a:xfrm>
              <a:off x="3875963" y="5006825"/>
              <a:ext cx="9816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critical section</a:t>
              </a:r>
              <a:endParaRPr sz="1200" b="1" dirty="0">
                <a:solidFill>
                  <a:srgbClr val="0B6937"/>
                </a:solidFill>
              </a:endParaRPr>
            </a:p>
          </p:txBody>
        </p:sp>
      </p:grpSp>
      <p:sp>
        <p:nvSpPr>
          <p:cNvPr id="18" name="Google Shape;730;p38">
            <a:extLst>
              <a:ext uri="{FF2B5EF4-FFF2-40B4-BE49-F238E27FC236}">
                <a16:creationId xmlns:a16="http://schemas.microsoft.com/office/drawing/2014/main" id="{03111390-9174-4F37-B7FE-1D5FE9CB45D5}"/>
              </a:ext>
            </a:extLst>
          </p:cNvPr>
          <p:cNvSpPr txBox="1"/>
          <p:nvPr/>
        </p:nvSpPr>
        <p:spPr>
          <a:xfrm>
            <a:off x="1611198" y="4852137"/>
            <a:ext cx="3522570" cy="1246465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</a:t>
            </a:r>
            <a:r>
              <a:rPr lang="es-ES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2000" b="1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&amp;mutex</a:t>
            </a:r>
            <a:r>
              <a:rPr lang="es-ES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0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1" dirty="0">
                <a:solidFill>
                  <a:srgbClr val="FF0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sección critica</a:t>
            </a:r>
            <a:endParaRPr sz="2000" b="1" dirty="0">
              <a:solidFill>
                <a:srgbClr val="FF0000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unlock</a:t>
            </a:r>
            <a:r>
              <a:rPr lang="es-ES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2000" b="1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&amp;mutex</a:t>
            </a:r>
            <a:r>
              <a:rPr lang="es-ES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0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p57"/>
          <p:cNvSpPr txBox="1">
            <a:spLocks noGrp="1"/>
          </p:cNvSpPr>
          <p:nvPr>
            <p:ph type="title"/>
          </p:nvPr>
        </p:nvSpPr>
        <p:spPr>
          <a:xfrm>
            <a:off x="370650" y="96038"/>
            <a:ext cx="8850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Implementación de locks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091" name="Google Shape;1091;p57"/>
          <p:cNvSpPr txBox="1">
            <a:spLocks noGrp="1"/>
          </p:cNvSpPr>
          <p:nvPr>
            <p:ph type="body" idx="1"/>
          </p:nvPr>
        </p:nvSpPr>
        <p:spPr>
          <a:xfrm>
            <a:off x="370650" y="782450"/>
            <a:ext cx="11450700" cy="610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b="1" dirty="0">
                <a:solidFill>
                  <a:schemeClr val="accent5"/>
                </a:solidFill>
                <a:latin typeface="+mn-lt"/>
              </a:rPr>
              <a:t>Implementación de un lock usando la instrucción test-and-set</a:t>
            </a:r>
            <a:endParaRPr b="1" dirty="0">
              <a:solidFill>
                <a:schemeClr val="accent5"/>
              </a:solidFill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sp>
        <p:nvSpPr>
          <p:cNvPr id="1092" name="Google Shape;1092;p57"/>
          <p:cNvSpPr txBox="1"/>
          <p:nvPr/>
        </p:nvSpPr>
        <p:spPr>
          <a:xfrm>
            <a:off x="403929" y="1274712"/>
            <a:ext cx="10211700" cy="64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6"/>
                </a:solidFill>
                <a:ea typeface="Roboto"/>
                <a:cs typeface="Roboto"/>
                <a:sym typeface="Roboto"/>
              </a:rPr>
              <a:t>¿Por qué funciona esta implementación?</a:t>
            </a:r>
            <a:r>
              <a:rPr lang="es-ES" sz="24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→ </a:t>
            </a:r>
            <a:r>
              <a:rPr lang="es-ES" sz="2400" b="1" dirty="0">
                <a:solidFill>
                  <a:schemeClr val="accent2"/>
                </a:solidFill>
                <a:ea typeface="Roboto"/>
                <a:cs typeface="Roboto"/>
                <a:sym typeface="Roboto"/>
              </a:rPr>
              <a:t>Análisis</a:t>
            </a:r>
            <a:endParaRPr sz="2200" b="1" dirty="0">
              <a:solidFill>
                <a:schemeClr val="accent2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1093" name="Google Shape;1093;p57"/>
          <p:cNvSpPr txBox="1"/>
          <p:nvPr/>
        </p:nvSpPr>
        <p:spPr>
          <a:xfrm>
            <a:off x="6800438" y="2116074"/>
            <a:ext cx="4722000" cy="997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 unlock(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lock_t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*lock) {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lock-&gt;flag = 0;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94" name="Google Shape;1094;p57"/>
          <p:cNvSpPr txBox="1"/>
          <p:nvPr/>
        </p:nvSpPr>
        <p:spPr>
          <a:xfrm>
            <a:off x="536550" y="1962415"/>
            <a:ext cx="5115000" cy="1317253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 lock(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lock_t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*lock) {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TestAndSet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(&amp;lock-&gt;flag, 1) == 1)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; // spin-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wait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(do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nothing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95" name="Google Shape;1095;p57"/>
          <p:cNvSpPr txBox="1"/>
          <p:nvPr/>
        </p:nvSpPr>
        <p:spPr>
          <a:xfrm>
            <a:off x="370650" y="3327402"/>
            <a:ext cx="11380546" cy="866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chemeClr val="accent2"/>
                </a:solidFill>
                <a:ea typeface="Roboto"/>
                <a:cs typeface="Roboto"/>
                <a:sym typeface="Roboto"/>
              </a:rPr>
              <a:t>Caso 1</a:t>
            </a:r>
            <a:r>
              <a:rPr lang="es-ES" sz="2000" dirty="0">
                <a:solidFill>
                  <a:schemeClr val="accent2"/>
                </a:solidFill>
                <a:ea typeface="Roboto"/>
                <a:cs typeface="Roboto"/>
                <a:sym typeface="Roboto"/>
              </a:rPr>
              <a:t>: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Un hilo adquiere un lock y ningún otro hilo concurrente intenta adquirirlo (por lo tanto no tiene que esperar el lock)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graphicFrame>
        <p:nvGraphicFramePr>
          <p:cNvPr id="59" name="Tabla 5">
            <a:extLst>
              <a:ext uri="{FF2B5EF4-FFF2-40B4-BE49-F238E27FC236}">
                <a16:creationId xmlns:a16="http://schemas.microsoft.com/office/drawing/2014/main" id="{051AADA8-F0BE-4029-8AB4-9C27E9970E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8218750"/>
              </p:ext>
            </p:extLst>
          </p:nvPr>
        </p:nvGraphicFramePr>
        <p:xfrm>
          <a:off x="6731945" y="4859244"/>
          <a:ext cx="3968950" cy="1737360"/>
        </p:xfrm>
        <a:graphic>
          <a:graphicData uri="http://schemas.openxmlformats.org/drawingml/2006/table">
            <a:tbl>
              <a:tblPr firstRow="1" bandRow="1">
                <a:tableStyleId>{F66A2E93-5121-40D1-B61B-F19DAAD5E98B}</a:tableStyleId>
              </a:tblPr>
              <a:tblGrid>
                <a:gridCol w="1963170">
                  <a:extLst>
                    <a:ext uri="{9D8B030D-6E8A-4147-A177-3AD203B41FA5}">
                      <a16:colId xmlns:a16="http://schemas.microsoft.com/office/drawing/2014/main" val="1691757651"/>
                    </a:ext>
                  </a:extLst>
                </a:gridCol>
                <a:gridCol w="2005780">
                  <a:extLst>
                    <a:ext uri="{9D8B030D-6E8A-4147-A177-3AD203B41FA5}">
                      <a16:colId xmlns:a16="http://schemas.microsoft.com/office/drawing/2014/main" val="1419272974"/>
                    </a:ext>
                  </a:extLst>
                </a:gridCol>
              </a:tblGrid>
              <a:tr h="320282">
                <a:tc>
                  <a:txBody>
                    <a:bodyPr/>
                    <a:lstStyle/>
                    <a:p>
                      <a:r>
                        <a:rPr lang="es-CO" dirty="0"/>
                        <a:t>🔐</a:t>
                      </a:r>
                      <a:r>
                        <a:rPr lang="es-CO" b="1" dirty="0">
                          <a:latin typeface="Consolas" panose="020B0609020204030204" pitchFamily="49" charset="0"/>
                        </a:rPr>
                        <a:t>flag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740320"/>
                  </a:ext>
                </a:extLst>
              </a:tr>
              <a:tr h="1201059">
                <a:tc gridSpan="2">
                  <a:txBody>
                    <a:bodyPr/>
                    <a:lstStyle/>
                    <a:p>
                      <a:endParaRPr lang="es-CO" dirty="0"/>
                    </a:p>
                    <a:p>
                      <a:pPr algn="ctr"/>
                      <a:r>
                        <a:rPr lang="es-CO" sz="4800" dirty="0"/>
                        <a:t>🚽</a:t>
                      </a:r>
                      <a:endParaRPr lang="es-CO" dirty="0"/>
                    </a:p>
                    <a:p>
                      <a:endParaRPr lang="es-CO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6585217"/>
                  </a:ext>
                </a:extLst>
              </a:tr>
            </a:tbl>
          </a:graphicData>
        </a:graphic>
      </p:graphicFrame>
      <p:sp>
        <p:nvSpPr>
          <p:cNvPr id="60" name="Google Shape;730;p38">
            <a:extLst>
              <a:ext uri="{FF2B5EF4-FFF2-40B4-BE49-F238E27FC236}">
                <a16:creationId xmlns:a16="http://schemas.microsoft.com/office/drawing/2014/main" id="{B66BFAD9-59AB-4903-A4C5-ED6619640327}"/>
              </a:ext>
            </a:extLst>
          </p:cNvPr>
          <p:cNvSpPr txBox="1"/>
          <p:nvPr/>
        </p:nvSpPr>
        <p:spPr>
          <a:xfrm>
            <a:off x="1987209" y="4969047"/>
            <a:ext cx="3522570" cy="1246465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</a:t>
            </a:r>
            <a:r>
              <a:rPr lang="es-ES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2000" b="1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&amp;mutex</a:t>
            </a:r>
            <a:r>
              <a:rPr lang="es-ES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0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1" dirty="0">
                <a:solidFill>
                  <a:srgbClr val="FF0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sección critica</a:t>
            </a:r>
            <a:endParaRPr sz="2000" b="1" dirty="0">
              <a:solidFill>
                <a:srgbClr val="FF0000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unlock</a:t>
            </a:r>
            <a:r>
              <a:rPr lang="es-ES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2000" b="1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&amp;mutex</a:t>
            </a:r>
            <a:r>
              <a:rPr lang="es-ES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0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3927C1E-4AAE-40E8-9E96-1C0C291FCA12}"/>
              </a:ext>
            </a:extLst>
          </p:cNvPr>
          <p:cNvSpPr txBox="1"/>
          <p:nvPr/>
        </p:nvSpPr>
        <p:spPr>
          <a:xfrm>
            <a:off x="2241608" y="4234542"/>
            <a:ext cx="763863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400" b="1" dirty="0">
                <a:solidFill>
                  <a:srgbClr val="0070C0"/>
                </a:solidFill>
                <a:latin typeface="Consolas" panose="020B0609020204030204" pitchFamily="49" charset="0"/>
              </a:rPr>
              <a:t>T1[L(mutex)] – </a:t>
            </a:r>
            <a:r>
              <a:rPr lang="es-CO" sz="1400" b="1" dirty="0">
                <a:solidFill>
                  <a:srgbClr val="0070C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T1[SC]</a:t>
            </a:r>
            <a:r>
              <a:rPr lang="es-CO" sz="1400" b="1" dirty="0">
                <a:solidFill>
                  <a:srgbClr val="0070C0"/>
                </a:solidFill>
                <a:latin typeface="Consolas" panose="020B0609020204030204" pitchFamily="49" charset="0"/>
              </a:rPr>
              <a:t> – T1[U(mutex)]</a:t>
            </a:r>
            <a:r>
              <a:rPr lang="es-CO" sz="1400" b="1" dirty="0">
                <a:latin typeface="Consolas" panose="020B0609020204030204" pitchFamily="49" charset="0"/>
              </a:rPr>
              <a:t> – </a:t>
            </a:r>
            <a:r>
              <a:rPr lang="es-CO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T2[L(mutex)] – </a:t>
            </a:r>
            <a:r>
              <a:rPr lang="es-CO" sz="1400" b="1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T2[SC]</a:t>
            </a:r>
            <a:r>
              <a:rPr lang="es-CO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 – T2[U(mutex)]</a:t>
            </a:r>
          </a:p>
        </p:txBody>
      </p:sp>
    </p:spTree>
    <p:extLst>
      <p:ext uri="{BB962C8B-B14F-4D97-AF65-F5344CB8AC3E}">
        <p14:creationId xmlns:p14="http://schemas.microsoft.com/office/powerpoint/2010/main" val="336566443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p57"/>
          <p:cNvSpPr txBox="1">
            <a:spLocks noGrp="1"/>
          </p:cNvSpPr>
          <p:nvPr>
            <p:ph type="title"/>
          </p:nvPr>
        </p:nvSpPr>
        <p:spPr>
          <a:xfrm>
            <a:off x="370650" y="96038"/>
            <a:ext cx="8850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Implementación de locks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091" name="Google Shape;1091;p57"/>
          <p:cNvSpPr txBox="1">
            <a:spLocks noGrp="1"/>
          </p:cNvSpPr>
          <p:nvPr>
            <p:ph type="body" idx="1"/>
          </p:nvPr>
        </p:nvSpPr>
        <p:spPr>
          <a:xfrm>
            <a:off x="370650" y="782450"/>
            <a:ext cx="11450700" cy="610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b="1" dirty="0">
                <a:solidFill>
                  <a:schemeClr val="accent5"/>
                </a:solidFill>
                <a:latin typeface="+mn-lt"/>
              </a:rPr>
              <a:t>Implementación de un lock usando la instrucción test-and-set</a:t>
            </a:r>
            <a:endParaRPr b="1" dirty="0">
              <a:solidFill>
                <a:schemeClr val="accent5"/>
              </a:solidFill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sp>
        <p:nvSpPr>
          <p:cNvPr id="1092" name="Google Shape;1092;p57"/>
          <p:cNvSpPr txBox="1"/>
          <p:nvPr/>
        </p:nvSpPr>
        <p:spPr>
          <a:xfrm>
            <a:off x="403929" y="1274712"/>
            <a:ext cx="10211700" cy="64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6"/>
                </a:solidFill>
                <a:ea typeface="Roboto"/>
                <a:cs typeface="Roboto"/>
                <a:sym typeface="Roboto"/>
              </a:rPr>
              <a:t>¿Por qué funciona esta implementación?</a:t>
            </a:r>
            <a:r>
              <a:rPr lang="es-ES" sz="24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→ </a:t>
            </a:r>
            <a:r>
              <a:rPr lang="es-ES" sz="2400" b="1" dirty="0">
                <a:solidFill>
                  <a:schemeClr val="accent2"/>
                </a:solidFill>
                <a:ea typeface="Roboto"/>
                <a:cs typeface="Roboto"/>
                <a:sym typeface="Roboto"/>
              </a:rPr>
              <a:t>Análisis</a:t>
            </a:r>
            <a:endParaRPr sz="2200" b="1" dirty="0">
              <a:solidFill>
                <a:schemeClr val="accent2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1093" name="Google Shape;1093;p57"/>
          <p:cNvSpPr txBox="1"/>
          <p:nvPr/>
        </p:nvSpPr>
        <p:spPr>
          <a:xfrm>
            <a:off x="6800438" y="2116074"/>
            <a:ext cx="4722000" cy="997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 unlock(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lock_t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*lock) {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lock-&gt;flag = 0;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94" name="Google Shape;1094;p57"/>
          <p:cNvSpPr txBox="1"/>
          <p:nvPr/>
        </p:nvSpPr>
        <p:spPr>
          <a:xfrm>
            <a:off x="536550" y="1962415"/>
            <a:ext cx="5115000" cy="1317253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 lock(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lock_t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*lock) {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TestAndSet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(&amp;lock-&gt;flag, 1) == 1)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; // spin-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wait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(do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nothing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95" name="Google Shape;1095;p57"/>
          <p:cNvSpPr txBox="1"/>
          <p:nvPr/>
        </p:nvSpPr>
        <p:spPr>
          <a:xfrm>
            <a:off x="403929" y="3252855"/>
            <a:ext cx="11380546" cy="866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chemeClr val="accent2"/>
                </a:solidFill>
                <a:ea typeface="Roboto"/>
                <a:cs typeface="Roboto"/>
                <a:sym typeface="Roboto"/>
              </a:rPr>
              <a:t>Caso 1</a:t>
            </a:r>
            <a:r>
              <a:rPr lang="es-ES" sz="2000" dirty="0">
                <a:solidFill>
                  <a:schemeClr val="accent2"/>
                </a:solidFill>
                <a:ea typeface="Roboto"/>
                <a:cs typeface="Roboto"/>
                <a:sym typeface="Roboto"/>
              </a:rPr>
              <a:t>: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Un hilo adquiere un lock y ningún otro hilo concurrente intenta adquirirlo (por lo tanto no tiene que esperar el lock)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cxnSp>
        <p:nvCxnSpPr>
          <p:cNvPr id="1096" name="Google Shape;1096;p57"/>
          <p:cNvCxnSpPr/>
          <p:nvPr/>
        </p:nvCxnSpPr>
        <p:spPr>
          <a:xfrm>
            <a:off x="2527150" y="5159275"/>
            <a:ext cx="8396400" cy="930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97" name="Google Shape;1097;p57"/>
          <p:cNvCxnSpPr/>
          <p:nvPr/>
        </p:nvCxnSpPr>
        <p:spPr>
          <a:xfrm rot="10800000" flipH="1">
            <a:off x="2527150" y="5925150"/>
            <a:ext cx="8428200" cy="57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98" name="Google Shape;1098;p57"/>
          <p:cNvSpPr txBox="1"/>
          <p:nvPr/>
        </p:nvSpPr>
        <p:spPr>
          <a:xfrm>
            <a:off x="1141725" y="4791325"/>
            <a:ext cx="1314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Thread T1</a:t>
            </a:r>
            <a:endParaRPr sz="1600" b="1">
              <a:solidFill>
                <a:srgbClr val="0000FF"/>
              </a:solidFill>
            </a:endParaRPr>
          </a:p>
        </p:txBody>
      </p:sp>
      <p:sp>
        <p:nvSpPr>
          <p:cNvPr id="1099" name="Google Shape;1099;p57"/>
          <p:cNvSpPr txBox="1"/>
          <p:nvPr/>
        </p:nvSpPr>
        <p:spPr>
          <a:xfrm>
            <a:off x="1141725" y="5715300"/>
            <a:ext cx="1314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Thread T2</a:t>
            </a:r>
            <a:endParaRPr sz="1600" b="1">
              <a:solidFill>
                <a:srgbClr val="FF0000"/>
              </a:solidFill>
            </a:endParaRPr>
          </a:p>
        </p:txBody>
      </p:sp>
      <p:sp>
        <p:nvSpPr>
          <p:cNvPr id="1100" name="Google Shape;1100;p57"/>
          <p:cNvSpPr/>
          <p:nvPr/>
        </p:nvSpPr>
        <p:spPr>
          <a:xfrm>
            <a:off x="3856350" y="5075125"/>
            <a:ext cx="3590400" cy="1683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1" name="Google Shape;1101;p57"/>
          <p:cNvSpPr txBox="1"/>
          <p:nvPr/>
        </p:nvSpPr>
        <p:spPr>
          <a:xfrm>
            <a:off x="1141725" y="6146400"/>
            <a:ext cx="1314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flag = </a:t>
            </a:r>
            <a:r>
              <a:rPr lang="es-ES" dirty="0">
                <a:solidFill>
                  <a:schemeClr val="dk1"/>
                </a:solidFill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endParaRPr dirty="0">
              <a:solidFill>
                <a:schemeClr val="dk1"/>
              </a:solidFill>
              <a:highlight>
                <a:srgbClr val="D9EAD3"/>
              </a:highlight>
            </a:endParaRPr>
          </a:p>
        </p:txBody>
      </p:sp>
      <p:cxnSp>
        <p:nvCxnSpPr>
          <p:cNvPr id="1102" name="Google Shape;1102;p57"/>
          <p:cNvCxnSpPr/>
          <p:nvPr/>
        </p:nvCxnSpPr>
        <p:spPr>
          <a:xfrm flipH="1">
            <a:off x="10549650" y="4971000"/>
            <a:ext cx="17700" cy="11517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cxnSp>
      <p:grpSp>
        <p:nvGrpSpPr>
          <p:cNvPr id="1103" name="Google Shape;1103;p57"/>
          <p:cNvGrpSpPr/>
          <p:nvPr/>
        </p:nvGrpSpPr>
        <p:grpSpPr>
          <a:xfrm>
            <a:off x="3511000" y="4132824"/>
            <a:ext cx="700500" cy="898785"/>
            <a:chOff x="4453750" y="3603275"/>
            <a:chExt cx="700500" cy="898875"/>
          </a:xfrm>
        </p:grpSpPr>
        <p:cxnSp>
          <p:nvCxnSpPr>
            <p:cNvPr id="1104" name="Google Shape;1104;p57"/>
            <p:cNvCxnSpPr/>
            <p:nvPr/>
          </p:nvCxnSpPr>
          <p:spPr>
            <a:xfrm>
              <a:off x="4809750" y="4027550"/>
              <a:ext cx="7800" cy="474600"/>
            </a:xfrm>
            <a:prstGeom prst="straightConnector1">
              <a:avLst/>
            </a:pr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105" name="Google Shape;1105;p57"/>
            <p:cNvSpPr txBox="1"/>
            <p:nvPr/>
          </p:nvSpPr>
          <p:spPr>
            <a:xfrm>
              <a:off x="4453750" y="3603275"/>
              <a:ext cx="700500" cy="369300"/>
            </a:xfrm>
            <a:prstGeom prst="rect">
              <a:avLst/>
            </a:prstGeom>
            <a:solidFill>
              <a:srgbClr val="F4CCCC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L(T1)</a:t>
              </a:r>
              <a:endParaRPr sz="1600" b="1">
                <a:solidFill>
                  <a:schemeClr val="dk1"/>
                </a:solidFill>
              </a:endParaRPr>
            </a:p>
          </p:txBody>
        </p:sp>
      </p:grpSp>
      <p:sp>
        <p:nvSpPr>
          <p:cNvPr id="1106" name="Google Shape;1106;p57"/>
          <p:cNvSpPr txBox="1"/>
          <p:nvPr/>
        </p:nvSpPr>
        <p:spPr>
          <a:xfrm>
            <a:off x="2458650" y="4436938"/>
            <a:ext cx="1314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flag = </a:t>
            </a:r>
            <a:r>
              <a:rPr lang="es-ES" strike="sngStrike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endParaRPr strike="sngStrike" dirty="0">
              <a:solidFill>
                <a:schemeClr val="dk1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dk1"/>
                </a:solidFill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endParaRPr dirty="0">
              <a:solidFill>
                <a:schemeClr val="dk1"/>
              </a:solidFill>
              <a:highlight>
                <a:srgbClr val="D9EAD3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107" name="Google Shape;1107;p57"/>
          <p:cNvCxnSpPr/>
          <p:nvPr/>
        </p:nvCxnSpPr>
        <p:spPr>
          <a:xfrm flipH="1">
            <a:off x="5821075" y="4968275"/>
            <a:ext cx="14700" cy="11181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108" name="Google Shape;1108;p57"/>
          <p:cNvCxnSpPr/>
          <p:nvPr/>
        </p:nvCxnSpPr>
        <p:spPr>
          <a:xfrm>
            <a:off x="6681075" y="4968275"/>
            <a:ext cx="0" cy="11979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cxnSp>
      <p:grpSp>
        <p:nvGrpSpPr>
          <p:cNvPr id="1109" name="Google Shape;1109;p57"/>
          <p:cNvGrpSpPr/>
          <p:nvPr/>
        </p:nvGrpSpPr>
        <p:grpSpPr>
          <a:xfrm>
            <a:off x="7064463" y="4095138"/>
            <a:ext cx="700500" cy="848475"/>
            <a:chOff x="4453750" y="3603275"/>
            <a:chExt cx="700500" cy="848475"/>
          </a:xfrm>
        </p:grpSpPr>
        <p:cxnSp>
          <p:nvCxnSpPr>
            <p:cNvPr id="1110" name="Google Shape;1110;p57"/>
            <p:cNvCxnSpPr/>
            <p:nvPr/>
          </p:nvCxnSpPr>
          <p:spPr>
            <a:xfrm>
              <a:off x="4809750" y="4027550"/>
              <a:ext cx="2100" cy="424200"/>
            </a:xfrm>
            <a:prstGeom prst="straightConnector1">
              <a:avLst/>
            </a:pr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111" name="Google Shape;1111;p57"/>
            <p:cNvSpPr txBox="1"/>
            <p:nvPr/>
          </p:nvSpPr>
          <p:spPr>
            <a:xfrm>
              <a:off x="4453750" y="3603275"/>
              <a:ext cx="700500" cy="369300"/>
            </a:xfrm>
            <a:prstGeom prst="rect">
              <a:avLst/>
            </a:prstGeom>
            <a:solidFill>
              <a:srgbClr val="D9EAD3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U(T1)</a:t>
              </a:r>
              <a:endParaRPr sz="1600" b="1" dirty="0">
                <a:solidFill>
                  <a:schemeClr val="dk1"/>
                </a:solidFill>
              </a:endParaRPr>
            </a:p>
          </p:txBody>
        </p:sp>
      </p:grpSp>
      <p:grpSp>
        <p:nvGrpSpPr>
          <p:cNvPr id="1112" name="Google Shape;1112;p57"/>
          <p:cNvGrpSpPr/>
          <p:nvPr/>
        </p:nvGrpSpPr>
        <p:grpSpPr>
          <a:xfrm>
            <a:off x="7802675" y="6091475"/>
            <a:ext cx="700500" cy="736500"/>
            <a:chOff x="-842800" y="4790200"/>
            <a:chExt cx="700500" cy="736500"/>
          </a:xfrm>
        </p:grpSpPr>
        <p:cxnSp>
          <p:nvCxnSpPr>
            <p:cNvPr id="1113" name="Google Shape;1113;p57"/>
            <p:cNvCxnSpPr/>
            <p:nvPr/>
          </p:nvCxnSpPr>
          <p:spPr>
            <a:xfrm rot="10800000" flipH="1">
              <a:off x="-477700" y="4790200"/>
              <a:ext cx="1800" cy="33720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114" name="Google Shape;1114;p57"/>
            <p:cNvSpPr txBox="1"/>
            <p:nvPr/>
          </p:nvSpPr>
          <p:spPr>
            <a:xfrm>
              <a:off x="-842800" y="5157400"/>
              <a:ext cx="700500" cy="369300"/>
            </a:xfrm>
            <a:prstGeom prst="rect">
              <a:avLst/>
            </a:prstGeom>
            <a:solidFill>
              <a:srgbClr val="F4CCCC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L(T2)</a:t>
              </a:r>
              <a:endParaRPr sz="1600" b="1">
                <a:solidFill>
                  <a:schemeClr val="dk1"/>
                </a:solidFill>
              </a:endParaRPr>
            </a:p>
          </p:txBody>
        </p:sp>
      </p:grpSp>
      <p:sp>
        <p:nvSpPr>
          <p:cNvPr id="1115" name="Google Shape;1115;p57"/>
          <p:cNvSpPr/>
          <p:nvPr/>
        </p:nvSpPr>
        <p:spPr>
          <a:xfrm>
            <a:off x="8147425" y="5829525"/>
            <a:ext cx="1723500" cy="1683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16" name="Google Shape;1116;p57"/>
          <p:cNvGrpSpPr/>
          <p:nvPr/>
        </p:nvGrpSpPr>
        <p:grpSpPr>
          <a:xfrm>
            <a:off x="9521600" y="6086375"/>
            <a:ext cx="700500" cy="736500"/>
            <a:chOff x="-842800" y="4790200"/>
            <a:chExt cx="700500" cy="736500"/>
          </a:xfrm>
        </p:grpSpPr>
        <p:cxnSp>
          <p:nvCxnSpPr>
            <p:cNvPr id="1117" name="Google Shape;1117;p57"/>
            <p:cNvCxnSpPr/>
            <p:nvPr/>
          </p:nvCxnSpPr>
          <p:spPr>
            <a:xfrm rot="10800000" flipH="1">
              <a:off x="-477700" y="4790200"/>
              <a:ext cx="1800" cy="33720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118" name="Google Shape;1118;p57"/>
            <p:cNvSpPr txBox="1"/>
            <p:nvPr/>
          </p:nvSpPr>
          <p:spPr>
            <a:xfrm>
              <a:off x="-842800" y="5157400"/>
              <a:ext cx="700500" cy="369300"/>
            </a:xfrm>
            <a:prstGeom prst="rect">
              <a:avLst/>
            </a:prstGeom>
            <a:solidFill>
              <a:srgbClr val="D9EAD3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U(T2)</a:t>
              </a:r>
              <a:endParaRPr sz="1600" b="1">
                <a:solidFill>
                  <a:schemeClr val="dk1"/>
                </a:solidFill>
              </a:endParaRPr>
            </a:p>
          </p:txBody>
        </p:sp>
      </p:grpSp>
      <p:sp>
        <p:nvSpPr>
          <p:cNvPr id="1119" name="Google Shape;1119;p57"/>
          <p:cNvSpPr txBox="1"/>
          <p:nvPr/>
        </p:nvSpPr>
        <p:spPr>
          <a:xfrm>
            <a:off x="6031713" y="4407575"/>
            <a:ext cx="13143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flag = </a:t>
            </a:r>
            <a:r>
              <a:rPr lang="es-ES" sz="1600" strike="sngStrike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600" strike="sngStrike" dirty="0">
              <a:solidFill>
                <a:schemeClr val="dk1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1600" dirty="0">
              <a:solidFill>
                <a:schemeClr val="dk1"/>
              </a:solidFill>
              <a:highlight>
                <a:srgbClr val="D9EAD3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120" name="Google Shape;1120;p57"/>
          <p:cNvCxnSpPr/>
          <p:nvPr/>
        </p:nvCxnSpPr>
        <p:spPr>
          <a:xfrm>
            <a:off x="8148350" y="4952325"/>
            <a:ext cx="14100" cy="11964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21" name="Google Shape;1121;p57"/>
          <p:cNvSpPr txBox="1"/>
          <p:nvPr/>
        </p:nvSpPr>
        <p:spPr>
          <a:xfrm>
            <a:off x="6800438" y="5910624"/>
            <a:ext cx="13143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flag = </a:t>
            </a:r>
            <a:r>
              <a:rPr lang="es-ES" sz="1600" strike="sngStrike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1600" strike="sngStrike" dirty="0">
              <a:solidFill>
                <a:schemeClr val="dk1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600" dirty="0">
              <a:solidFill>
                <a:schemeClr val="dk1"/>
              </a:solidFill>
              <a:highlight>
                <a:srgbClr val="D9EAD3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22" name="Google Shape;1122;p57"/>
          <p:cNvSpPr txBox="1"/>
          <p:nvPr/>
        </p:nvSpPr>
        <p:spPr>
          <a:xfrm>
            <a:off x="8737600" y="5941100"/>
            <a:ext cx="107195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flag = </a:t>
            </a:r>
            <a:r>
              <a:rPr lang="es-ES" sz="1600" strike="sngStrike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600" strike="sngStrike" dirty="0">
              <a:solidFill>
                <a:schemeClr val="dk1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rPr>
              <a:t>0                </a:t>
            </a:r>
            <a:endParaRPr sz="1600" dirty="0">
              <a:solidFill>
                <a:schemeClr val="dk1"/>
              </a:solidFill>
              <a:highlight>
                <a:srgbClr val="D9EAD3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123" name="Google Shape;1123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36800" y="4731887"/>
            <a:ext cx="331075" cy="33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4" name="Google Shape;1124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94825" y="4731912"/>
            <a:ext cx="331075" cy="33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5" name="Google Shape;1125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8575" y="5988950"/>
            <a:ext cx="331075" cy="33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6" name="Google Shape;1126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42050" y="6058012"/>
            <a:ext cx="331075" cy="33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7" name="Google Shape;1127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30575" y="5363675"/>
            <a:ext cx="346275" cy="3663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8" name="Google Shape;1128;p57"/>
          <p:cNvSpPr/>
          <p:nvPr/>
        </p:nvSpPr>
        <p:spPr>
          <a:xfrm>
            <a:off x="5589184" y="5402535"/>
            <a:ext cx="108407" cy="431101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sp>
      <p:pic>
        <p:nvPicPr>
          <p:cNvPr id="1129" name="Google Shape;1129;p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03600" y="5419553"/>
            <a:ext cx="236275" cy="32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0" name="Google Shape;1130;p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73925" y="5419565"/>
            <a:ext cx="236275" cy="329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31" name="Google Shape;1131;p57"/>
          <p:cNvSpPr/>
          <p:nvPr/>
        </p:nvSpPr>
        <p:spPr>
          <a:xfrm>
            <a:off x="8641796" y="5283498"/>
            <a:ext cx="108407" cy="431101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32" name="Google Shape;1132;p57"/>
          <p:cNvSpPr/>
          <p:nvPr/>
        </p:nvSpPr>
        <p:spPr>
          <a:xfrm>
            <a:off x="7168821" y="5368748"/>
            <a:ext cx="108407" cy="431101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33" name="Google Shape;1133;p57"/>
          <p:cNvSpPr/>
          <p:nvPr/>
        </p:nvSpPr>
        <p:spPr>
          <a:xfrm>
            <a:off x="4736809" y="5363535"/>
            <a:ext cx="108407" cy="431101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sp>
      <p:pic>
        <p:nvPicPr>
          <p:cNvPr id="1134" name="Google Shape;1134;p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72088" y="5419565"/>
            <a:ext cx="236275" cy="32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5" name="Google Shape;1135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41975" y="4572987"/>
            <a:ext cx="346275" cy="36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6" name="Google Shape;1136;p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15588" y="4591440"/>
            <a:ext cx="236275" cy="32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7" name="Google Shape;1137;p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34113" y="6057990"/>
            <a:ext cx="236275" cy="32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8" name="Google Shape;1138;p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83988" y="5382140"/>
            <a:ext cx="236275" cy="32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9" name="Google Shape;1139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81212" y="5315837"/>
            <a:ext cx="346275" cy="36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0" name="Google Shape;1140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39662" y="5363687"/>
            <a:ext cx="346275" cy="366375"/>
          </a:xfrm>
          <a:prstGeom prst="rect">
            <a:avLst/>
          </a:prstGeom>
          <a:noFill/>
          <a:ln>
            <a:noFill/>
          </a:ln>
        </p:spPr>
      </p:pic>
      <p:sp>
        <p:nvSpPr>
          <p:cNvPr id="1141" name="Google Shape;1141;p57"/>
          <p:cNvSpPr/>
          <p:nvPr/>
        </p:nvSpPr>
        <p:spPr>
          <a:xfrm>
            <a:off x="6347009" y="5368735"/>
            <a:ext cx="108407" cy="431101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sp>
      <p:pic>
        <p:nvPicPr>
          <p:cNvPr id="1142" name="Google Shape;1142;p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61425" y="5385753"/>
            <a:ext cx="236275" cy="32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3" name="Google Shape;1143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26537" y="4731900"/>
            <a:ext cx="331075" cy="331075"/>
          </a:xfrm>
          <a:prstGeom prst="rect">
            <a:avLst/>
          </a:prstGeom>
          <a:noFill/>
          <a:ln>
            <a:noFill/>
          </a:ln>
        </p:spPr>
      </p:pic>
      <p:sp>
        <p:nvSpPr>
          <p:cNvPr id="1144" name="Google Shape;1144;p57"/>
          <p:cNvSpPr/>
          <p:nvPr/>
        </p:nvSpPr>
        <p:spPr>
          <a:xfrm>
            <a:off x="7969109" y="5315360"/>
            <a:ext cx="108407" cy="431101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45" name="Google Shape;1145;p57"/>
          <p:cNvSpPr/>
          <p:nvPr/>
        </p:nvSpPr>
        <p:spPr>
          <a:xfrm>
            <a:off x="10384359" y="5331323"/>
            <a:ext cx="108407" cy="431101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sp>
      <p:pic>
        <p:nvPicPr>
          <p:cNvPr id="1146" name="Google Shape;1146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06475" y="6026037"/>
            <a:ext cx="346275" cy="36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p58"/>
          <p:cNvSpPr txBox="1">
            <a:spLocks noGrp="1"/>
          </p:cNvSpPr>
          <p:nvPr>
            <p:ph type="title"/>
          </p:nvPr>
        </p:nvSpPr>
        <p:spPr>
          <a:xfrm>
            <a:off x="518448" y="96038"/>
            <a:ext cx="8702202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Implementación de locks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152" name="Google Shape;1152;p58"/>
          <p:cNvSpPr txBox="1">
            <a:spLocks noGrp="1"/>
          </p:cNvSpPr>
          <p:nvPr>
            <p:ph type="body" idx="1"/>
          </p:nvPr>
        </p:nvSpPr>
        <p:spPr>
          <a:xfrm>
            <a:off x="518448" y="782450"/>
            <a:ext cx="10904700" cy="610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b="1" dirty="0">
                <a:solidFill>
                  <a:schemeClr val="accent5"/>
                </a:solidFill>
                <a:latin typeface="+mn-lt"/>
              </a:rPr>
              <a:t>Implementación de un lock usando la instrucción test-and-set</a:t>
            </a:r>
            <a:endParaRPr b="1" dirty="0">
              <a:solidFill>
                <a:schemeClr val="accent5"/>
              </a:solidFill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sp>
        <p:nvSpPr>
          <p:cNvPr id="1153" name="Google Shape;1153;p58"/>
          <p:cNvSpPr txBox="1"/>
          <p:nvPr/>
        </p:nvSpPr>
        <p:spPr>
          <a:xfrm>
            <a:off x="591948" y="1316538"/>
            <a:ext cx="10211700" cy="64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6"/>
                </a:solidFill>
                <a:ea typeface="Roboto"/>
                <a:cs typeface="Roboto"/>
                <a:sym typeface="Roboto"/>
              </a:rPr>
              <a:t>¿Por qué funciona esta implementación?</a:t>
            </a:r>
            <a:r>
              <a:rPr lang="es-ES" sz="24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→ </a:t>
            </a:r>
            <a:r>
              <a:rPr lang="es-ES" sz="2400" b="1" dirty="0">
                <a:solidFill>
                  <a:schemeClr val="accent2"/>
                </a:solidFill>
                <a:ea typeface="Roboto"/>
                <a:cs typeface="Roboto"/>
                <a:sym typeface="Roboto"/>
              </a:rPr>
              <a:t>Análisis</a:t>
            </a:r>
            <a:endParaRPr sz="2200" b="1" dirty="0">
              <a:solidFill>
                <a:schemeClr val="accent2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1154" name="Google Shape;1154;p58"/>
          <p:cNvSpPr txBox="1"/>
          <p:nvPr/>
        </p:nvSpPr>
        <p:spPr>
          <a:xfrm>
            <a:off x="6855568" y="2103263"/>
            <a:ext cx="4722000" cy="997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 unlock(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lock_t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*lock) {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lock-&gt;flag = 0;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55" name="Google Shape;1155;p58"/>
          <p:cNvSpPr txBox="1"/>
          <p:nvPr/>
        </p:nvSpPr>
        <p:spPr>
          <a:xfrm>
            <a:off x="1231076" y="1961663"/>
            <a:ext cx="5115000" cy="12807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 lock(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lock_t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*lock) {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TestAndSet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(&amp;lock-&gt;flag, 1) == 1)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; // spin-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wait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(do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nothing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56" name="Google Shape;1156;p58"/>
          <p:cNvSpPr txBox="1"/>
          <p:nvPr/>
        </p:nvSpPr>
        <p:spPr>
          <a:xfrm>
            <a:off x="518448" y="3325425"/>
            <a:ext cx="11426809" cy="866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chemeClr val="accent2"/>
                </a:solidFill>
                <a:ea typeface="Roboto"/>
                <a:cs typeface="Roboto"/>
                <a:sym typeface="Roboto"/>
              </a:rPr>
              <a:t>Caso 2</a:t>
            </a:r>
            <a:r>
              <a:rPr lang="es-ES" sz="2000" dirty="0">
                <a:solidFill>
                  <a:schemeClr val="accent2"/>
                </a:solidFill>
                <a:ea typeface="Roboto"/>
                <a:cs typeface="Roboto"/>
                <a:sym typeface="Roboto"/>
              </a:rPr>
              <a:t>: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Un hilo adquiere un lock y una vez este ha sido adquirido, otro hilo concurrente intenta adquirir dicho lock.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graphicFrame>
        <p:nvGraphicFramePr>
          <p:cNvPr id="70" name="Tabla 5">
            <a:extLst>
              <a:ext uri="{FF2B5EF4-FFF2-40B4-BE49-F238E27FC236}">
                <a16:creationId xmlns:a16="http://schemas.microsoft.com/office/drawing/2014/main" id="{C2BCBF98-DB08-4968-A364-56497D9989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1376196"/>
              </p:ext>
            </p:extLst>
          </p:nvPr>
        </p:nvGraphicFramePr>
        <p:xfrm>
          <a:off x="6731945" y="4873758"/>
          <a:ext cx="3968950" cy="1737360"/>
        </p:xfrm>
        <a:graphic>
          <a:graphicData uri="http://schemas.openxmlformats.org/drawingml/2006/table">
            <a:tbl>
              <a:tblPr firstRow="1" bandRow="1">
                <a:tableStyleId>{F66A2E93-5121-40D1-B61B-F19DAAD5E98B}</a:tableStyleId>
              </a:tblPr>
              <a:tblGrid>
                <a:gridCol w="1963170">
                  <a:extLst>
                    <a:ext uri="{9D8B030D-6E8A-4147-A177-3AD203B41FA5}">
                      <a16:colId xmlns:a16="http://schemas.microsoft.com/office/drawing/2014/main" val="1691757651"/>
                    </a:ext>
                  </a:extLst>
                </a:gridCol>
                <a:gridCol w="2005780">
                  <a:extLst>
                    <a:ext uri="{9D8B030D-6E8A-4147-A177-3AD203B41FA5}">
                      <a16:colId xmlns:a16="http://schemas.microsoft.com/office/drawing/2014/main" val="1419272974"/>
                    </a:ext>
                  </a:extLst>
                </a:gridCol>
              </a:tblGrid>
              <a:tr h="320282">
                <a:tc>
                  <a:txBody>
                    <a:bodyPr/>
                    <a:lstStyle/>
                    <a:p>
                      <a:r>
                        <a:rPr lang="es-CO" dirty="0"/>
                        <a:t>🔐</a:t>
                      </a:r>
                      <a:r>
                        <a:rPr lang="es-CO" b="1" dirty="0">
                          <a:latin typeface="Consolas" panose="020B0609020204030204" pitchFamily="49" charset="0"/>
                        </a:rPr>
                        <a:t>flag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740320"/>
                  </a:ext>
                </a:extLst>
              </a:tr>
              <a:tr h="1201059">
                <a:tc gridSpan="2">
                  <a:txBody>
                    <a:bodyPr/>
                    <a:lstStyle/>
                    <a:p>
                      <a:endParaRPr lang="es-CO" dirty="0"/>
                    </a:p>
                    <a:p>
                      <a:pPr algn="ctr"/>
                      <a:r>
                        <a:rPr lang="es-CO" sz="4800" dirty="0"/>
                        <a:t>🚽</a:t>
                      </a:r>
                      <a:endParaRPr lang="es-CO" dirty="0"/>
                    </a:p>
                    <a:p>
                      <a:endParaRPr lang="es-CO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6585217"/>
                  </a:ext>
                </a:extLst>
              </a:tr>
            </a:tbl>
          </a:graphicData>
        </a:graphic>
      </p:graphicFrame>
      <p:sp>
        <p:nvSpPr>
          <p:cNvPr id="71" name="Google Shape;730;p38">
            <a:extLst>
              <a:ext uri="{FF2B5EF4-FFF2-40B4-BE49-F238E27FC236}">
                <a16:creationId xmlns:a16="http://schemas.microsoft.com/office/drawing/2014/main" id="{36E9E9F9-FA3E-4F34-97DD-A91EF07AF9B6}"/>
              </a:ext>
            </a:extLst>
          </p:cNvPr>
          <p:cNvSpPr txBox="1"/>
          <p:nvPr/>
        </p:nvSpPr>
        <p:spPr>
          <a:xfrm>
            <a:off x="1987209" y="4983561"/>
            <a:ext cx="3522570" cy="1246465"/>
          </a:xfrm>
          <a:prstGeom prst="rect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</a:t>
            </a:r>
            <a:r>
              <a:rPr lang="es-ES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2000" b="1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&amp;mutex</a:t>
            </a:r>
            <a:r>
              <a:rPr lang="es-ES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0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000" b="1" dirty="0">
                <a:solidFill>
                  <a:srgbClr val="FF0000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sección critica</a:t>
            </a:r>
            <a:endParaRPr sz="2000" b="1" dirty="0">
              <a:solidFill>
                <a:srgbClr val="FF0000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unlock</a:t>
            </a:r>
            <a:r>
              <a:rPr lang="es-ES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2000" b="1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&amp;mutex</a:t>
            </a:r>
            <a:r>
              <a:rPr lang="es-ES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20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2" name="CuadroTexto 71">
            <a:extLst>
              <a:ext uri="{FF2B5EF4-FFF2-40B4-BE49-F238E27FC236}">
                <a16:creationId xmlns:a16="http://schemas.microsoft.com/office/drawing/2014/main" id="{D9E0E19F-03CB-43A3-AE38-116F26FBC83A}"/>
              </a:ext>
            </a:extLst>
          </p:cNvPr>
          <p:cNvSpPr txBox="1"/>
          <p:nvPr/>
        </p:nvSpPr>
        <p:spPr>
          <a:xfrm>
            <a:off x="338654" y="4225251"/>
            <a:ext cx="115146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400" b="1" dirty="0">
                <a:solidFill>
                  <a:srgbClr val="0070C0"/>
                </a:solidFill>
                <a:latin typeface="Consolas" panose="020B0609020204030204" pitchFamily="49" charset="0"/>
              </a:rPr>
              <a:t>T1[L(mutex)] – </a:t>
            </a:r>
            <a:r>
              <a:rPr lang="es-CO" sz="1400" b="1" dirty="0">
                <a:solidFill>
                  <a:srgbClr val="0070C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T1[SC]</a:t>
            </a:r>
            <a:r>
              <a:rPr lang="es-CO" sz="1400" b="1" dirty="0">
                <a:solidFill>
                  <a:srgbClr val="0070C0"/>
                </a:solidFill>
                <a:latin typeface="Consolas" panose="020B0609020204030204" pitchFamily="49" charset="0"/>
              </a:rPr>
              <a:t> – </a:t>
            </a:r>
            <a:r>
              <a:rPr lang="es-CO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T2[L(mutex)] - T2[L(mutex)] </a:t>
            </a:r>
            <a:r>
              <a:rPr lang="es-CO" sz="1400" b="1" dirty="0">
                <a:solidFill>
                  <a:srgbClr val="0070C0"/>
                </a:solidFill>
                <a:latin typeface="Consolas" panose="020B0609020204030204" pitchFamily="49" charset="0"/>
              </a:rPr>
              <a:t>– </a:t>
            </a:r>
            <a:r>
              <a:rPr lang="es-CO" sz="1400" b="1" dirty="0">
                <a:solidFill>
                  <a:srgbClr val="0070C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T1[SC]</a:t>
            </a:r>
            <a:r>
              <a:rPr lang="es-CO" sz="1400" b="1" dirty="0">
                <a:solidFill>
                  <a:srgbClr val="0070C0"/>
                </a:solidFill>
                <a:latin typeface="Consolas" panose="020B0609020204030204" pitchFamily="49" charset="0"/>
              </a:rPr>
              <a:t> – T1[U(mutex)]</a:t>
            </a:r>
            <a:r>
              <a:rPr lang="es-CO" sz="1400" b="1" dirty="0">
                <a:latin typeface="Consolas" panose="020B0609020204030204" pitchFamily="49" charset="0"/>
              </a:rPr>
              <a:t> – </a:t>
            </a:r>
            <a:r>
              <a:rPr lang="es-CO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T2[L(mutex)] – </a:t>
            </a:r>
            <a:r>
              <a:rPr lang="es-CO" sz="1400" b="1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T2[SC]</a:t>
            </a:r>
            <a:r>
              <a:rPr lang="es-CO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 – T2[U(mutex)]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p58"/>
          <p:cNvSpPr txBox="1">
            <a:spLocks noGrp="1"/>
          </p:cNvSpPr>
          <p:nvPr>
            <p:ph type="title"/>
          </p:nvPr>
        </p:nvSpPr>
        <p:spPr>
          <a:xfrm>
            <a:off x="518448" y="96038"/>
            <a:ext cx="8702202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Implementación de locks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152" name="Google Shape;1152;p58"/>
          <p:cNvSpPr txBox="1">
            <a:spLocks noGrp="1"/>
          </p:cNvSpPr>
          <p:nvPr>
            <p:ph type="body" idx="1"/>
          </p:nvPr>
        </p:nvSpPr>
        <p:spPr>
          <a:xfrm>
            <a:off x="518448" y="782450"/>
            <a:ext cx="10904700" cy="610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b="1" dirty="0">
                <a:solidFill>
                  <a:schemeClr val="accent5"/>
                </a:solidFill>
                <a:latin typeface="+mn-lt"/>
              </a:rPr>
              <a:t>Implementación de un lock usando la instrucción test-and-set</a:t>
            </a:r>
            <a:endParaRPr b="1" dirty="0">
              <a:solidFill>
                <a:schemeClr val="accent5"/>
              </a:solidFill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sp>
        <p:nvSpPr>
          <p:cNvPr id="1153" name="Google Shape;1153;p58"/>
          <p:cNvSpPr txBox="1"/>
          <p:nvPr/>
        </p:nvSpPr>
        <p:spPr>
          <a:xfrm>
            <a:off x="591948" y="1316538"/>
            <a:ext cx="10211700" cy="64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6"/>
                </a:solidFill>
                <a:ea typeface="Roboto"/>
                <a:cs typeface="Roboto"/>
                <a:sym typeface="Roboto"/>
              </a:rPr>
              <a:t>¿Por qué funciona esta implementación?</a:t>
            </a:r>
            <a:r>
              <a:rPr lang="es-ES" sz="24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→ </a:t>
            </a:r>
            <a:r>
              <a:rPr lang="es-ES" sz="2400" b="1" dirty="0">
                <a:solidFill>
                  <a:schemeClr val="accent2"/>
                </a:solidFill>
                <a:ea typeface="Roboto"/>
                <a:cs typeface="Roboto"/>
                <a:sym typeface="Roboto"/>
              </a:rPr>
              <a:t>Análisis</a:t>
            </a:r>
            <a:endParaRPr sz="2200" b="1" dirty="0">
              <a:solidFill>
                <a:schemeClr val="accent2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1154" name="Google Shape;1154;p58"/>
          <p:cNvSpPr txBox="1"/>
          <p:nvPr/>
        </p:nvSpPr>
        <p:spPr>
          <a:xfrm>
            <a:off x="6855568" y="2103263"/>
            <a:ext cx="4722000" cy="997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 unlock(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lock_t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*lock) {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lock-&gt;flag = 0;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55" name="Google Shape;1155;p58"/>
          <p:cNvSpPr txBox="1"/>
          <p:nvPr/>
        </p:nvSpPr>
        <p:spPr>
          <a:xfrm>
            <a:off x="1231076" y="1961663"/>
            <a:ext cx="5115000" cy="12807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 lock(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lock_t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*lock) {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TestAndSet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(&amp;lock-&gt;flag, 1) == 1)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; // spin-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wait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(do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nothing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56" name="Google Shape;1156;p58"/>
          <p:cNvSpPr txBox="1"/>
          <p:nvPr/>
        </p:nvSpPr>
        <p:spPr>
          <a:xfrm>
            <a:off x="559142" y="3325425"/>
            <a:ext cx="11225333" cy="866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chemeClr val="accent2"/>
                </a:solidFill>
                <a:ea typeface="Roboto"/>
                <a:cs typeface="Roboto"/>
                <a:sym typeface="Roboto"/>
              </a:rPr>
              <a:t>Caso 2</a:t>
            </a:r>
            <a:r>
              <a:rPr lang="es-ES" sz="2000" dirty="0">
                <a:solidFill>
                  <a:schemeClr val="accent2"/>
                </a:solidFill>
                <a:ea typeface="Roboto"/>
                <a:cs typeface="Roboto"/>
                <a:sym typeface="Roboto"/>
              </a:rPr>
              <a:t>: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Un hilo adquiere un lock y una vez este ha sido adquirido, otro hilo concurrente intenta adquirir dicho lock.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cxnSp>
        <p:nvCxnSpPr>
          <p:cNvPr id="1157" name="Google Shape;1157;p58"/>
          <p:cNvCxnSpPr/>
          <p:nvPr/>
        </p:nvCxnSpPr>
        <p:spPr>
          <a:xfrm>
            <a:off x="2527150" y="5159275"/>
            <a:ext cx="8396400" cy="9300"/>
          </a:xfrm>
          <a:prstGeom prst="straightConnector1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58" name="Google Shape;1158;p58"/>
          <p:cNvCxnSpPr/>
          <p:nvPr/>
        </p:nvCxnSpPr>
        <p:spPr>
          <a:xfrm rot="10800000" flipH="1">
            <a:off x="2527150" y="5925150"/>
            <a:ext cx="8428200" cy="57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59" name="Google Shape;1159;p58"/>
          <p:cNvSpPr txBox="1"/>
          <p:nvPr/>
        </p:nvSpPr>
        <p:spPr>
          <a:xfrm>
            <a:off x="1141725" y="4791325"/>
            <a:ext cx="1314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Thread T1</a:t>
            </a:r>
            <a:endParaRPr sz="1600" b="1">
              <a:solidFill>
                <a:srgbClr val="0000FF"/>
              </a:solidFill>
            </a:endParaRPr>
          </a:p>
        </p:txBody>
      </p:sp>
      <p:sp>
        <p:nvSpPr>
          <p:cNvPr id="1160" name="Google Shape;1160;p58"/>
          <p:cNvSpPr txBox="1"/>
          <p:nvPr/>
        </p:nvSpPr>
        <p:spPr>
          <a:xfrm>
            <a:off x="1141725" y="5715300"/>
            <a:ext cx="1314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Thread T2</a:t>
            </a:r>
            <a:endParaRPr sz="1600" b="1">
              <a:solidFill>
                <a:srgbClr val="FF0000"/>
              </a:solidFill>
            </a:endParaRPr>
          </a:p>
        </p:txBody>
      </p:sp>
      <p:sp>
        <p:nvSpPr>
          <p:cNvPr id="1161" name="Google Shape;1161;p58"/>
          <p:cNvSpPr/>
          <p:nvPr/>
        </p:nvSpPr>
        <p:spPr>
          <a:xfrm>
            <a:off x="3856350" y="5075125"/>
            <a:ext cx="4291200" cy="1683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2" name="Google Shape;1162;p58"/>
          <p:cNvSpPr txBox="1"/>
          <p:nvPr/>
        </p:nvSpPr>
        <p:spPr>
          <a:xfrm>
            <a:off x="1141725" y="6146400"/>
            <a:ext cx="1314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flag = </a:t>
            </a:r>
            <a:r>
              <a:rPr lang="es-ES" dirty="0">
                <a:solidFill>
                  <a:schemeClr val="dk1"/>
                </a:solidFill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endParaRPr dirty="0">
              <a:solidFill>
                <a:schemeClr val="dk1"/>
              </a:solidFill>
              <a:highlight>
                <a:srgbClr val="D9EAD3"/>
              </a:highlight>
            </a:endParaRPr>
          </a:p>
        </p:txBody>
      </p:sp>
      <p:cxnSp>
        <p:nvCxnSpPr>
          <p:cNvPr id="1163" name="Google Shape;1163;p58"/>
          <p:cNvCxnSpPr/>
          <p:nvPr/>
        </p:nvCxnSpPr>
        <p:spPr>
          <a:xfrm flipH="1">
            <a:off x="5004700" y="4936375"/>
            <a:ext cx="17700" cy="11517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cxnSp>
      <p:grpSp>
        <p:nvGrpSpPr>
          <p:cNvPr id="1164" name="Google Shape;1164;p58"/>
          <p:cNvGrpSpPr/>
          <p:nvPr/>
        </p:nvGrpSpPr>
        <p:grpSpPr>
          <a:xfrm>
            <a:off x="3511000" y="4132824"/>
            <a:ext cx="700500" cy="898785"/>
            <a:chOff x="4453750" y="3603275"/>
            <a:chExt cx="700500" cy="898875"/>
          </a:xfrm>
        </p:grpSpPr>
        <p:cxnSp>
          <p:nvCxnSpPr>
            <p:cNvPr id="1165" name="Google Shape;1165;p58"/>
            <p:cNvCxnSpPr/>
            <p:nvPr/>
          </p:nvCxnSpPr>
          <p:spPr>
            <a:xfrm>
              <a:off x="4809750" y="4027550"/>
              <a:ext cx="7800" cy="474600"/>
            </a:xfrm>
            <a:prstGeom prst="straightConnector1">
              <a:avLst/>
            </a:pr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166" name="Google Shape;1166;p58"/>
            <p:cNvSpPr txBox="1"/>
            <p:nvPr/>
          </p:nvSpPr>
          <p:spPr>
            <a:xfrm>
              <a:off x="4453750" y="3603275"/>
              <a:ext cx="700500" cy="369300"/>
            </a:xfrm>
            <a:prstGeom prst="rect">
              <a:avLst/>
            </a:prstGeom>
            <a:solidFill>
              <a:srgbClr val="F4CCCC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L(T1)</a:t>
              </a:r>
              <a:endParaRPr sz="1600" b="1">
                <a:solidFill>
                  <a:schemeClr val="dk1"/>
                </a:solidFill>
              </a:endParaRPr>
            </a:p>
          </p:txBody>
        </p:sp>
      </p:grpSp>
      <p:sp>
        <p:nvSpPr>
          <p:cNvPr id="1167" name="Google Shape;1167;p58"/>
          <p:cNvSpPr txBox="1"/>
          <p:nvPr/>
        </p:nvSpPr>
        <p:spPr>
          <a:xfrm>
            <a:off x="2448050" y="4521063"/>
            <a:ext cx="1314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flag = </a:t>
            </a:r>
            <a:r>
              <a:rPr lang="es-ES" strike="sngStrike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endParaRPr strike="sngStrike" dirty="0">
              <a:solidFill>
                <a:schemeClr val="dk1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dk1"/>
                </a:solidFill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endParaRPr dirty="0">
              <a:solidFill>
                <a:schemeClr val="dk1"/>
              </a:solidFill>
              <a:highlight>
                <a:srgbClr val="D9EAD3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168" name="Google Shape;1168;p58"/>
          <p:cNvCxnSpPr/>
          <p:nvPr/>
        </p:nvCxnSpPr>
        <p:spPr>
          <a:xfrm flipH="1">
            <a:off x="5821075" y="4968275"/>
            <a:ext cx="14700" cy="11181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cxnSp>
      <p:grpSp>
        <p:nvGrpSpPr>
          <p:cNvPr id="1169" name="Google Shape;1169;p58"/>
          <p:cNvGrpSpPr/>
          <p:nvPr/>
        </p:nvGrpSpPr>
        <p:grpSpPr>
          <a:xfrm>
            <a:off x="4646475" y="6058000"/>
            <a:ext cx="700500" cy="736500"/>
            <a:chOff x="-842800" y="4790200"/>
            <a:chExt cx="700500" cy="736500"/>
          </a:xfrm>
        </p:grpSpPr>
        <p:cxnSp>
          <p:nvCxnSpPr>
            <p:cNvPr id="1170" name="Google Shape;1170;p58"/>
            <p:cNvCxnSpPr/>
            <p:nvPr/>
          </p:nvCxnSpPr>
          <p:spPr>
            <a:xfrm rot="10800000" flipH="1">
              <a:off x="-477700" y="4790200"/>
              <a:ext cx="1800" cy="33720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171" name="Google Shape;1171;p58"/>
            <p:cNvSpPr txBox="1"/>
            <p:nvPr/>
          </p:nvSpPr>
          <p:spPr>
            <a:xfrm>
              <a:off x="-842800" y="5157400"/>
              <a:ext cx="700500" cy="369300"/>
            </a:xfrm>
            <a:prstGeom prst="rect">
              <a:avLst/>
            </a:prstGeom>
            <a:solidFill>
              <a:srgbClr val="F4CCCC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L(T2)</a:t>
              </a:r>
              <a:endParaRPr sz="1600" b="1">
                <a:solidFill>
                  <a:schemeClr val="dk1"/>
                </a:solidFill>
              </a:endParaRPr>
            </a:p>
          </p:txBody>
        </p:sp>
      </p:grpSp>
      <p:cxnSp>
        <p:nvCxnSpPr>
          <p:cNvPr id="1172" name="Google Shape;1172;p58"/>
          <p:cNvCxnSpPr/>
          <p:nvPr/>
        </p:nvCxnSpPr>
        <p:spPr>
          <a:xfrm>
            <a:off x="6521575" y="4952325"/>
            <a:ext cx="14100" cy="11007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cxnSp>
      <p:grpSp>
        <p:nvGrpSpPr>
          <p:cNvPr id="1173" name="Google Shape;1173;p58"/>
          <p:cNvGrpSpPr/>
          <p:nvPr/>
        </p:nvGrpSpPr>
        <p:grpSpPr>
          <a:xfrm>
            <a:off x="6167050" y="6066650"/>
            <a:ext cx="700500" cy="736500"/>
            <a:chOff x="-842800" y="4790200"/>
            <a:chExt cx="700500" cy="736500"/>
          </a:xfrm>
        </p:grpSpPr>
        <p:cxnSp>
          <p:nvCxnSpPr>
            <p:cNvPr id="1174" name="Google Shape;1174;p58"/>
            <p:cNvCxnSpPr/>
            <p:nvPr/>
          </p:nvCxnSpPr>
          <p:spPr>
            <a:xfrm rot="10800000" flipH="1">
              <a:off x="-477700" y="4790200"/>
              <a:ext cx="1800" cy="33720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175" name="Google Shape;1175;p58"/>
            <p:cNvSpPr txBox="1"/>
            <p:nvPr/>
          </p:nvSpPr>
          <p:spPr>
            <a:xfrm>
              <a:off x="-842800" y="5157400"/>
              <a:ext cx="700500" cy="369300"/>
            </a:xfrm>
            <a:prstGeom prst="rect">
              <a:avLst/>
            </a:prstGeom>
            <a:solidFill>
              <a:srgbClr val="F4CCCC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L(T2)</a:t>
              </a:r>
              <a:endParaRPr sz="1600" b="1">
                <a:solidFill>
                  <a:schemeClr val="dk1"/>
                </a:solidFill>
              </a:endParaRPr>
            </a:p>
          </p:txBody>
        </p:sp>
      </p:grpSp>
      <p:cxnSp>
        <p:nvCxnSpPr>
          <p:cNvPr id="1176" name="Google Shape;1176;p58"/>
          <p:cNvCxnSpPr/>
          <p:nvPr/>
        </p:nvCxnSpPr>
        <p:spPr>
          <a:xfrm>
            <a:off x="7430650" y="4952325"/>
            <a:ext cx="0" cy="11979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cxnSp>
      <p:grpSp>
        <p:nvGrpSpPr>
          <p:cNvPr id="1177" name="Google Shape;1177;p58"/>
          <p:cNvGrpSpPr/>
          <p:nvPr/>
        </p:nvGrpSpPr>
        <p:grpSpPr>
          <a:xfrm>
            <a:off x="7787350" y="4054450"/>
            <a:ext cx="700500" cy="848475"/>
            <a:chOff x="4453750" y="3603275"/>
            <a:chExt cx="700500" cy="848475"/>
          </a:xfrm>
        </p:grpSpPr>
        <p:cxnSp>
          <p:nvCxnSpPr>
            <p:cNvPr id="1178" name="Google Shape;1178;p58"/>
            <p:cNvCxnSpPr/>
            <p:nvPr/>
          </p:nvCxnSpPr>
          <p:spPr>
            <a:xfrm>
              <a:off x="4809750" y="4027550"/>
              <a:ext cx="2100" cy="424200"/>
            </a:xfrm>
            <a:prstGeom prst="straightConnector1">
              <a:avLst/>
            </a:prstGeom>
            <a:noFill/>
            <a:ln w="19050" cap="flat" cmpd="sng">
              <a:solidFill>
                <a:srgbClr val="0000FF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179" name="Google Shape;1179;p58"/>
            <p:cNvSpPr txBox="1"/>
            <p:nvPr/>
          </p:nvSpPr>
          <p:spPr>
            <a:xfrm>
              <a:off x="4453750" y="3603275"/>
              <a:ext cx="700500" cy="369300"/>
            </a:xfrm>
            <a:prstGeom prst="rect">
              <a:avLst/>
            </a:prstGeom>
            <a:solidFill>
              <a:srgbClr val="D9EAD3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U(T2)</a:t>
              </a:r>
              <a:endParaRPr sz="1600" b="1">
                <a:solidFill>
                  <a:schemeClr val="dk1"/>
                </a:solidFill>
              </a:endParaRPr>
            </a:p>
          </p:txBody>
        </p:sp>
      </p:grpSp>
      <p:grpSp>
        <p:nvGrpSpPr>
          <p:cNvPr id="1180" name="Google Shape;1180;p58"/>
          <p:cNvGrpSpPr/>
          <p:nvPr/>
        </p:nvGrpSpPr>
        <p:grpSpPr>
          <a:xfrm>
            <a:off x="7802675" y="6091475"/>
            <a:ext cx="700500" cy="736500"/>
            <a:chOff x="-842800" y="4790200"/>
            <a:chExt cx="700500" cy="736500"/>
          </a:xfrm>
        </p:grpSpPr>
        <p:cxnSp>
          <p:nvCxnSpPr>
            <p:cNvPr id="1181" name="Google Shape;1181;p58"/>
            <p:cNvCxnSpPr/>
            <p:nvPr/>
          </p:nvCxnSpPr>
          <p:spPr>
            <a:xfrm rot="10800000" flipH="1">
              <a:off x="-477700" y="4790200"/>
              <a:ext cx="1800" cy="33720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182" name="Google Shape;1182;p58"/>
            <p:cNvSpPr txBox="1"/>
            <p:nvPr/>
          </p:nvSpPr>
          <p:spPr>
            <a:xfrm>
              <a:off x="-842800" y="5157400"/>
              <a:ext cx="700500" cy="369300"/>
            </a:xfrm>
            <a:prstGeom prst="rect">
              <a:avLst/>
            </a:prstGeom>
            <a:solidFill>
              <a:srgbClr val="F4CCCC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L(T2)</a:t>
              </a:r>
              <a:endParaRPr sz="1600" b="1">
                <a:solidFill>
                  <a:schemeClr val="dk1"/>
                </a:solidFill>
              </a:endParaRPr>
            </a:p>
          </p:txBody>
        </p:sp>
      </p:grpSp>
      <p:sp>
        <p:nvSpPr>
          <p:cNvPr id="1183" name="Google Shape;1183;p58"/>
          <p:cNvSpPr/>
          <p:nvPr/>
        </p:nvSpPr>
        <p:spPr>
          <a:xfrm>
            <a:off x="8147425" y="5829525"/>
            <a:ext cx="1723500" cy="1683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84" name="Google Shape;1184;p58"/>
          <p:cNvGrpSpPr/>
          <p:nvPr/>
        </p:nvGrpSpPr>
        <p:grpSpPr>
          <a:xfrm>
            <a:off x="9521600" y="6086375"/>
            <a:ext cx="700500" cy="736500"/>
            <a:chOff x="-842800" y="4790200"/>
            <a:chExt cx="700500" cy="736500"/>
          </a:xfrm>
        </p:grpSpPr>
        <p:cxnSp>
          <p:nvCxnSpPr>
            <p:cNvPr id="1185" name="Google Shape;1185;p58"/>
            <p:cNvCxnSpPr/>
            <p:nvPr/>
          </p:nvCxnSpPr>
          <p:spPr>
            <a:xfrm rot="10800000" flipH="1">
              <a:off x="-477700" y="4790200"/>
              <a:ext cx="1800" cy="33720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186" name="Google Shape;1186;p58"/>
            <p:cNvSpPr txBox="1"/>
            <p:nvPr/>
          </p:nvSpPr>
          <p:spPr>
            <a:xfrm>
              <a:off x="-842800" y="5157400"/>
              <a:ext cx="700500" cy="369300"/>
            </a:xfrm>
            <a:prstGeom prst="rect">
              <a:avLst/>
            </a:prstGeom>
            <a:solidFill>
              <a:srgbClr val="D9EAD3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U(T2)</a:t>
              </a:r>
              <a:endParaRPr sz="1600" b="1">
                <a:solidFill>
                  <a:schemeClr val="dk1"/>
                </a:solidFill>
              </a:endParaRPr>
            </a:p>
          </p:txBody>
        </p:sp>
      </p:grpSp>
      <p:sp>
        <p:nvSpPr>
          <p:cNvPr id="1187" name="Google Shape;1187;p58"/>
          <p:cNvSpPr txBox="1"/>
          <p:nvPr/>
        </p:nvSpPr>
        <p:spPr>
          <a:xfrm>
            <a:off x="6773500" y="4448363"/>
            <a:ext cx="13143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flag = </a:t>
            </a:r>
            <a:r>
              <a:rPr lang="es-ES" sz="1600" strike="sngStrike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600" strike="sngStrike" dirty="0">
              <a:solidFill>
                <a:schemeClr val="dk1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1600" dirty="0">
              <a:solidFill>
                <a:schemeClr val="dk1"/>
              </a:solidFill>
              <a:highlight>
                <a:srgbClr val="D9EAD3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188" name="Google Shape;1188;p58"/>
          <p:cNvCxnSpPr/>
          <p:nvPr/>
        </p:nvCxnSpPr>
        <p:spPr>
          <a:xfrm>
            <a:off x="8148350" y="4952325"/>
            <a:ext cx="14100" cy="11964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89" name="Google Shape;1189;p58"/>
          <p:cNvSpPr txBox="1"/>
          <p:nvPr/>
        </p:nvSpPr>
        <p:spPr>
          <a:xfrm>
            <a:off x="4720100" y="5997825"/>
            <a:ext cx="238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highlight>
                  <a:srgbClr val="F4CCCC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endParaRPr>
              <a:highlight>
                <a:srgbClr val="F4CCCC"/>
              </a:highlight>
            </a:endParaRPr>
          </a:p>
        </p:txBody>
      </p:sp>
      <p:sp>
        <p:nvSpPr>
          <p:cNvPr id="1190" name="Google Shape;1190;p58"/>
          <p:cNvSpPr txBox="1"/>
          <p:nvPr/>
        </p:nvSpPr>
        <p:spPr>
          <a:xfrm>
            <a:off x="6249750" y="5997825"/>
            <a:ext cx="238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dk1"/>
                </a:solidFill>
                <a:highlight>
                  <a:srgbClr val="F4CCCC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endParaRPr>
              <a:highlight>
                <a:srgbClr val="F4CCCC"/>
              </a:highlight>
            </a:endParaRPr>
          </a:p>
        </p:txBody>
      </p:sp>
      <p:sp>
        <p:nvSpPr>
          <p:cNvPr id="1191" name="Google Shape;1191;p58"/>
          <p:cNvSpPr txBox="1"/>
          <p:nvPr/>
        </p:nvSpPr>
        <p:spPr>
          <a:xfrm>
            <a:off x="6877178" y="5908935"/>
            <a:ext cx="13143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flag = </a:t>
            </a:r>
            <a:r>
              <a:rPr lang="es-ES" sz="1600" strike="sngStrike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1600" strike="sngStrike" dirty="0">
              <a:solidFill>
                <a:schemeClr val="dk1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600" dirty="0">
              <a:solidFill>
                <a:schemeClr val="dk1"/>
              </a:solidFill>
              <a:highlight>
                <a:srgbClr val="D9EAD3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92" name="Google Shape;1192;p58"/>
          <p:cNvSpPr txBox="1"/>
          <p:nvPr/>
        </p:nvSpPr>
        <p:spPr>
          <a:xfrm>
            <a:off x="8721996" y="5941100"/>
            <a:ext cx="1087554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flag = </a:t>
            </a:r>
            <a:r>
              <a:rPr lang="es-ES" sz="1600" strike="sngStrike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600" strike="sngStrike" dirty="0">
              <a:solidFill>
                <a:schemeClr val="dk1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highlight>
                  <a:srgbClr val="D9EAD3"/>
                </a:highlight>
                <a:latin typeface="Consolas"/>
                <a:ea typeface="Consolas"/>
                <a:cs typeface="Consolas"/>
                <a:sym typeface="Consolas"/>
              </a:rPr>
              <a:t>0                </a:t>
            </a:r>
            <a:endParaRPr sz="1600" dirty="0">
              <a:solidFill>
                <a:schemeClr val="dk1"/>
              </a:solidFill>
              <a:highlight>
                <a:srgbClr val="D9EAD3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193" name="Google Shape;1193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1821" y="6057996"/>
            <a:ext cx="238500" cy="23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4" name="Google Shape;1194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93946" y="6050921"/>
            <a:ext cx="238500" cy="23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5" name="Google Shape;1195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05100" y="4730100"/>
            <a:ext cx="331075" cy="33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6" name="Google Shape;1196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66575" y="5998925"/>
            <a:ext cx="331075" cy="33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7" name="Google Shape;1197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29325" y="4731900"/>
            <a:ext cx="331075" cy="33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8" name="Google Shape;1198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15350" y="6000725"/>
            <a:ext cx="331075" cy="33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9" name="Google Shape;1199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71075" y="4731900"/>
            <a:ext cx="331075" cy="33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0" name="Google Shape;1200;p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42050" y="6058012"/>
            <a:ext cx="331075" cy="33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1" name="Google Shape;1201;p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30575" y="5363675"/>
            <a:ext cx="346275" cy="366375"/>
          </a:xfrm>
          <a:prstGeom prst="rect">
            <a:avLst/>
          </a:prstGeom>
          <a:noFill/>
          <a:ln>
            <a:noFill/>
          </a:ln>
        </p:spPr>
      </p:pic>
      <p:sp>
        <p:nvSpPr>
          <p:cNvPr id="1202" name="Google Shape;1202;p58"/>
          <p:cNvSpPr/>
          <p:nvPr/>
        </p:nvSpPr>
        <p:spPr>
          <a:xfrm>
            <a:off x="5589184" y="5402535"/>
            <a:ext cx="108407" cy="431101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sp>
      <p:pic>
        <p:nvPicPr>
          <p:cNvPr id="1203" name="Google Shape;1203;p5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03600" y="5419553"/>
            <a:ext cx="236275" cy="32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4" name="Google Shape;1204;p5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60538" y="5419565"/>
            <a:ext cx="236275" cy="32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5" name="Google Shape;1205;p5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65025" y="5419565"/>
            <a:ext cx="236275" cy="32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6" name="Google Shape;1206;p5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71363" y="5419553"/>
            <a:ext cx="236275" cy="329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7" name="Google Shape;1207;p58"/>
          <p:cNvSpPr/>
          <p:nvPr/>
        </p:nvSpPr>
        <p:spPr>
          <a:xfrm>
            <a:off x="7211771" y="5331323"/>
            <a:ext cx="108407" cy="431101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08" name="Google Shape;1208;p58"/>
          <p:cNvSpPr/>
          <p:nvPr/>
        </p:nvSpPr>
        <p:spPr>
          <a:xfrm>
            <a:off x="6354984" y="5331310"/>
            <a:ext cx="108407" cy="431101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09" name="Google Shape;1209;p58"/>
          <p:cNvSpPr/>
          <p:nvPr/>
        </p:nvSpPr>
        <p:spPr>
          <a:xfrm>
            <a:off x="7973784" y="5331310"/>
            <a:ext cx="108407" cy="431101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210" name="Google Shape;1210;p58"/>
          <p:cNvSpPr/>
          <p:nvPr/>
        </p:nvSpPr>
        <p:spPr>
          <a:xfrm>
            <a:off x="4736809" y="5363535"/>
            <a:ext cx="108407" cy="431101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</p:sp>
      <p:pic>
        <p:nvPicPr>
          <p:cNvPr id="1211" name="Google Shape;1211;p5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72088" y="5419565"/>
            <a:ext cx="236275" cy="32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2" name="Google Shape;1212;p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78237" y="4459362"/>
            <a:ext cx="346275" cy="36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3" name="Google Shape;1213;p5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15588" y="4591440"/>
            <a:ext cx="236275" cy="32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4" name="Google Shape;1214;p5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234113" y="6057990"/>
            <a:ext cx="236275" cy="32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5" name="Google Shape;1215;p5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880138" y="5390103"/>
            <a:ext cx="236275" cy="329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6" name="Google Shape;1216;p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037162" y="5967437"/>
            <a:ext cx="346275" cy="36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7" name="Google Shape;1217;p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220212" y="5363687"/>
            <a:ext cx="346275" cy="366375"/>
          </a:xfrm>
          <a:prstGeom prst="rect">
            <a:avLst/>
          </a:prstGeom>
          <a:noFill/>
          <a:ln>
            <a:noFill/>
          </a:ln>
        </p:spPr>
      </p:pic>
      <p:sp>
        <p:nvSpPr>
          <p:cNvPr id="1218" name="Google Shape;1218;p58"/>
          <p:cNvSpPr/>
          <p:nvPr/>
        </p:nvSpPr>
        <p:spPr>
          <a:xfrm>
            <a:off x="8507184" y="5331310"/>
            <a:ext cx="108407" cy="431101"/>
          </a:xfrm>
          <a:custGeom>
            <a:avLst/>
            <a:gdLst/>
            <a:ahLst/>
            <a:cxnLst/>
            <a:rect l="l" t="t" r="r" b="b"/>
            <a:pathLst>
              <a:path w="3629" h="11811" extrusionOk="0">
                <a:moveTo>
                  <a:pt x="2413" y="0"/>
                </a:moveTo>
                <a:cubicBezTo>
                  <a:pt x="1515" y="180"/>
                  <a:pt x="-381" y="762"/>
                  <a:pt x="127" y="1524"/>
                </a:cubicBezTo>
                <a:cubicBezTo>
                  <a:pt x="695" y="2376"/>
                  <a:pt x="2717" y="989"/>
                  <a:pt x="3175" y="1905"/>
                </a:cubicBezTo>
                <a:cubicBezTo>
                  <a:pt x="3633" y="2821"/>
                  <a:pt x="1232" y="2705"/>
                  <a:pt x="508" y="3429"/>
                </a:cubicBezTo>
                <a:cubicBezTo>
                  <a:pt x="-339" y="4276"/>
                  <a:pt x="3847" y="4172"/>
                  <a:pt x="3556" y="5334"/>
                </a:cubicBezTo>
                <a:cubicBezTo>
                  <a:pt x="3156" y="6936"/>
                  <a:pt x="2173" y="8340"/>
                  <a:pt x="1651" y="9906"/>
                </a:cubicBezTo>
                <a:cubicBezTo>
                  <a:pt x="1394" y="10677"/>
                  <a:pt x="3750" y="11236"/>
                  <a:pt x="3175" y="11811"/>
                </a:cubicBezTo>
              </a:path>
            </a:pathLst>
          </a:cu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sp>
    </p:spTree>
    <p:extLst>
      <p:ext uri="{BB962C8B-B14F-4D97-AF65-F5344CB8AC3E}">
        <p14:creationId xmlns:p14="http://schemas.microsoft.com/office/powerpoint/2010/main" val="241016282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Google Shape;1223;p59"/>
          <p:cNvSpPr txBox="1">
            <a:spLocks noGrp="1"/>
          </p:cNvSpPr>
          <p:nvPr>
            <p:ph type="title"/>
          </p:nvPr>
        </p:nvSpPr>
        <p:spPr>
          <a:xfrm>
            <a:off x="370650" y="96038"/>
            <a:ext cx="8850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Implementación de locks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224" name="Google Shape;1224;p59"/>
          <p:cNvSpPr txBox="1">
            <a:spLocks noGrp="1"/>
          </p:cNvSpPr>
          <p:nvPr>
            <p:ph type="body" idx="1"/>
          </p:nvPr>
        </p:nvSpPr>
        <p:spPr>
          <a:xfrm>
            <a:off x="412955" y="882900"/>
            <a:ext cx="11408395" cy="610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b="1" dirty="0">
                <a:solidFill>
                  <a:schemeClr val="accent5"/>
                </a:solidFill>
                <a:latin typeface="+mn-lt"/>
              </a:rPr>
              <a:t>Implementación de un lock usando la instrucción test-and-set</a:t>
            </a:r>
            <a:endParaRPr b="1" dirty="0">
              <a:solidFill>
                <a:schemeClr val="accent5"/>
              </a:solidFill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sp>
        <p:nvSpPr>
          <p:cNvPr id="1225" name="Google Shape;1225;p59"/>
          <p:cNvSpPr txBox="1"/>
          <p:nvPr/>
        </p:nvSpPr>
        <p:spPr>
          <a:xfrm>
            <a:off x="370651" y="1418425"/>
            <a:ext cx="10831200" cy="64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6"/>
                </a:solidFill>
                <a:ea typeface="Roboto"/>
                <a:cs typeface="Roboto"/>
                <a:sym typeface="Roboto"/>
              </a:rPr>
              <a:t>¿Por qué funciona esta implementación?</a:t>
            </a:r>
            <a:r>
              <a:rPr lang="es-ES" sz="24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→ </a:t>
            </a:r>
            <a:r>
              <a:rPr lang="es-ES" sz="2400" b="1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Conclusión</a:t>
            </a:r>
            <a:endParaRPr sz="2000" b="1" dirty="0">
              <a:solidFill>
                <a:schemeClr val="accent2"/>
              </a:solidFill>
              <a:ea typeface="Roboto"/>
              <a:cs typeface="Roboto"/>
              <a:sym typeface="Roboto"/>
            </a:endParaRPr>
          </a:p>
        </p:txBody>
      </p:sp>
      <p:graphicFrame>
        <p:nvGraphicFramePr>
          <p:cNvPr id="1226" name="Google Shape;1226;p59"/>
          <p:cNvGraphicFramePr/>
          <p:nvPr>
            <p:extLst>
              <p:ext uri="{D42A27DB-BD31-4B8C-83A1-F6EECF244321}">
                <p14:modId xmlns:p14="http://schemas.microsoft.com/office/powerpoint/2010/main" val="2655900337"/>
              </p:ext>
            </p:extLst>
          </p:nvPr>
        </p:nvGraphicFramePr>
        <p:xfrm>
          <a:off x="828175" y="2280562"/>
          <a:ext cx="10831200" cy="418732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1511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800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8103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200" b="1" dirty="0">
                          <a:latin typeface="+mn-lt"/>
                          <a:ea typeface="Roboto"/>
                          <a:cs typeface="Roboto"/>
                          <a:sym typeface="Roboto"/>
                        </a:rPr>
                        <a:t>Métrica</a:t>
                      </a:r>
                      <a:endParaRPr sz="2200" b="1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200" b="1" dirty="0">
                          <a:latin typeface="+mn-lt"/>
                          <a:ea typeface="Roboto"/>
                          <a:cs typeface="Roboto"/>
                          <a:sym typeface="Roboto"/>
                        </a:rPr>
                        <a:t>Observaciones</a:t>
                      </a:r>
                      <a:endParaRPr sz="2200" b="1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0028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 dirty="0">
                          <a:latin typeface="+mn-lt"/>
                          <a:ea typeface="Roboto"/>
                          <a:cs typeface="Roboto"/>
                          <a:sym typeface="Roboto"/>
                        </a:rPr>
                        <a:t>Correctness (Exc. Mutua)</a:t>
                      </a:r>
                      <a:endParaRPr sz="2000" b="1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 dirty="0">
                          <a:solidFill>
                            <a:srgbClr val="00B050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Si</a:t>
                      </a:r>
                      <a:r>
                        <a:rPr lang="es-ES" sz="2000" dirty="0">
                          <a:solidFill>
                            <a:srgbClr val="00B050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:</a:t>
                      </a:r>
                      <a:endParaRPr sz="2000" dirty="0">
                        <a:solidFill>
                          <a:srgbClr val="00B050"/>
                        </a:solidFill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342900" lvl="0" indent="-3429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ES" sz="2000" dirty="0">
                          <a:latin typeface="+mn-lt"/>
                          <a:ea typeface="Roboto"/>
                          <a:cs typeface="Roboto"/>
                          <a:sym typeface="Roboto"/>
                        </a:rPr>
                        <a:t>Solo permite que un hilo se encuentre en la región crítica.</a:t>
                      </a:r>
                      <a:endParaRPr sz="20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0121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 dirty="0">
                          <a:latin typeface="+mn-lt"/>
                          <a:ea typeface="Roboto"/>
                          <a:cs typeface="Roboto"/>
                          <a:sym typeface="Roboto"/>
                        </a:rPr>
                        <a:t>Fairness (Equidad)</a:t>
                      </a:r>
                      <a:endParaRPr sz="2000" b="1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 dirty="0">
                          <a:solidFill>
                            <a:srgbClr val="FF0000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No</a:t>
                      </a:r>
                      <a:r>
                        <a:rPr lang="es-ES" sz="2000" dirty="0">
                          <a:solidFill>
                            <a:srgbClr val="FF0000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:</a:t>
                      </a:r>
                      <a:endParaRPr sz="2000" dirty="0">
                        <a:solidFill>
                          <a:srgbClr val="FF0000"/>
                        </a:solidFill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342900" lvl="0" indent="-3429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ES" sz="2000" dirty="0">
                          <a:latin typeface="+mn-lt"/>
                          <a:ea typeface="Roboto"/>
                          <a:cs typeface="Roboto"/>
                          <a:sym typeface="Roboto"/>
                        </a:rPr>
                        <a:t>No proporciona acceso equitativo a todos los hilos.</a:t>
                      </a:r>
                    </a:p>
                    <a:p>
                      <a:pPr marL="342900" lvl="0" indent="-3429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ES" sz="2000" dirty="0">
                          <a:latin typeface="+mn-lt"/>
                          <a:ea typeface="Roboto"/>
                          <a:cs typeface="Roboto"/>
                          <a:sym typeface="Roboto"/>
                        </a:rPr>
                        <a:t>Un hilo podría quedarse eternamente en el loop → Inanición</a:t>
                      </a:r>
                      <a:endParaRPr sz="20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021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 dirty="0">
                          <a:latin typeface="+mn-lt"/>
                          <a:ea typeface="Roboto"/>
                          <a:cs typeface="Roboto"/>
                          <a:sym typeface="Roboto"/>
                        </a:rPr>
                        <a:t>Performance (Desempeño)</a:t>
                      </a:r>
                      <a:endParaRPr sz="2000" b="1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 dirty="0">
                          <a:solidFill>
                            <a:srgbClr val="FF0000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No</a:t>
                      </a:r>
                      <a:r>
                        <a:rPr lang="es-ES" sz="2000" dirty="0">
                          <a:solidFill>
                            <a:srgbClr val="FF0000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:</a:t>
                      </a:r>
                      <a:endParaRPr sz="2000" dirty="0">
                        <a:solidFill>
                          <a:srgbClr val="FF0000"/>
                        </a:solidFill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342900" lvl="0" indent="-3429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ES" sz="2000" dirty="0">
                          <a:latin typeface="+mn-lt"/>
                          <a:ea typeface="Roboto"/>
                          <a:cs typeface="Roboto"/>
                          <a:sym typeface="Roboto"/>
                        </a:rPr>
                        <a:t>Alto costo: Monoprocesador.</a:t>
                      </a:r>
                    </a:p>
                    <a:p>
                      <a:pPr marL="342900" lvl="0" indent="-3429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s-ES" sz="2000" dirty="0">
                          <a:latin typeface="+mn-lt"/>
                          <a:ea typeface="Roboto"/>
                          <a:cs typeface="Roboto"/>
                          <a:sym typeface="Roboto"/>
                        </a:rPr>
                        <a:t>Si el número de procesadores es comparable con el número de hilos en ejecución, el sistema trabaja bien.</a:t>
                      </a:r>
                      <a:endParaRPr sz="20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" name="Google Shape;1231;p60"/>
          <p:cNvSpPr txBox="1">
            <a:spLocks noGrp="1"/>
          </p:cNvSpPr>
          <p:nvPr>
            <p:ph type="title"/>
          </p:nvPr>
        </p:nvSpPr>
        <p:spPr>
          <a:xfrm>
            <a:off x="501445" y="96038"/>
            <a:ext cx="8719205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Implementación de locks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232" name="Google Shape;1232;p60"/>
          <p:cNvSpPr txBox="1">
            <a:spLocks noGrp="1"/>
          </p:cNvSpPr>
          <p:nvPr>
            <p:ph type="body" idx="1"/>
          </p:nvPr>
        </p:nvSpPr>
        <p:spPr>
          <a:xfrm>
            <a:off x="501445" y="803175"/>
            <a:ext cx="11319905" cy="610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b="1" dirty="0">
                <a:solidFill>
                  <a:schemeClr val="accent5"/>
                </a:solidFill>
                <a:latin typeface="+mn-lt"/>
              </a:rPr>
              <a:t>Implementación de un lock usando la instrucción Compare-And-Swap</a:t>
            </a:r>
            <a:endParaRPr b="1" dirty="0">
              <a:solidFill>
                <a:schemeClr val="accent5"/>
              </a:solidFill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sp>
        <p:nvSpPr>
          <p:cNvPr id="1233" name="Google Shape;1233;p60"/>
          <p:cNvSpPr txBox="1"/>
          <p:nvPr/>
        </p:nvSpPr>
        <p:spPr>
          <a:xfrm>
            <a:off x="501445" y="1318275"/>
            <a:ext cx="11319905" cy="1310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Esta instrucción atómica actualiza una localización de memoria con un valor anterior sólo cuando este es igual al esperado. (</a:t>
            </a:r>
            <a:r>
              <a:rPr lang="es-ES" sz="24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x86</a:t>
            </a: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: </a:t>
            </a:r>
            <a:r>
              <a:rPr lang="es-ES" sz="2200" b="1" dirty="0" err="1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cmpxchg</a:t>
            </a: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).</a:t>
            </a:r>
            <a:endParaRPr sz="24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Esta instrucción trabaja de manera similar al </a:t>
            </a:r>
            <a:r>
              <a:rPr lang="es-ES" sz="2200" b="1" dirty="0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test-and-set</a:t>
            </a: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pero es más poderosa.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1234" name="Google Shape;1234;p60"/>
          <p:cNvSpPr txBox="1"/>
          <p:nvPr/>
        </p:nvSpPr>
        <p:spPr>
          <a:xfrm>
            <a:off x="1035318" y="2864059"/>
            <a:ext cx="7310396" cy="2095928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 </a:t>
            </a:r>
            <a:r>
              <a:rPr lang="es-ES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CompareAndSwap</a:t>
            </a:r>
            <a:r>
              <a:rPr lang="es-E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(int *ptr, int </a:t>
            </a:r>
            <a:r>
              <a:rPr lang="es-ES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expected</a:t>
            </a:r>
            <a:r>
              <a:rPr lang="es-E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int new) {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int original = *ptr;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s-E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(original == </a:t>
            </a:r>
            <a:r>
              <a:rPr lang="es-ES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expected</a:t>
            </a:r>
            <a:r>
              <a:rPr lang="es-E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*ptr = new;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s-E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original;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35" name="Google Shape;1235;p60"/>
          <p:cNvSpPr txBox="1"/>
          <p:nvPr/>
        </p:nvSpPr>
        <p:spPr>
          <a:xfrm>
            <a:off x="501445" y="5195700"/>
            <a:ext cx="11415480" cy="1310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Análisis del pseudocódigo implementado en C</a:t>
            </a: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: Chequea si el valor (</a:t>
            </a:r>
            <a:r>
              <a:rPr lang="es-ES" sz="2200" b="1" dirty="0">
                <a:solidFill>
                  <a:schemeClr val="accent2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*ptr</a:t>
            </a: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):</a:t>
            </a:r>
            <a:endParaRPr sz="24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Si </a:t>
            </a:r>
            <a:r>
              <a:rPr lang="es-ES" sz="2200" b="1" dirty="0">
                <a:solidFill>
                  <a:srgbClr val="0B6937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*ptr == esperado</a:t>
            </a:r>
            <a:r>
              <a:rPr lang="es-ES" sz="2200" dirty="0">
                <a:solidFill>
                  <a:schemeClr val="dk1"/>
                </a:solidFill>
                <a:latin typeface="Consolas" panose="020B0609020204030204" pitchFamily="49" charset="0"/>
                <a:ea typeface="Roboto"/>
                <a:cs typeface="Roboto"/>
                <a:sym typeface="Roboto"/>
              </a:rPr>
              <a:t>  </a:t>
            </a: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→ actualiza la memoria al valor new.</a:t>
            </a:r>
            <a:endParaRPr sz="24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Si </a:t>
            </a:r>
            <a:r>
              <a:rPr lang="es-ES" sz="2200" b="1" dirty="0">
                <a:solidFill>
                  <a:srgbClr val="FF0000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*ptr != esperado</a:t>
            </a: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 → retorna el valor actual.</a:t>
            </a:r>
            <a:endParaRPr sz="24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Google Shape;1240;p61"/>
          <p:cNvSpPr txBox="1">
            <a:spLocks noGrp="1"/>
          </p:cNvSpPr>
          <p:nvPr>
            <p:ph type="title"/>
          </p:nvPr>
        </p:nvSpPr>
        <p:spPr>
          <a:xfrm>
            <a:off x="370650" y="96038"/>
            <a:ext cx="8850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latin typeface="+mj-lt"/>
              </a:rPr>
              <a:t>Implementación de locks</a:t>
            </a:r>
            <a:endParaRPr dirty="0">
              <a:latin typeface="+mj-lt"/>
            </a:endParaRPr>
          </a:p>
        </p:txBody>
      </p:sp>
      <p:sp>
        <p:nvSpPr>
          <p:cNvPr id="1241" name="Google Shape;1241;p61"/>
          <p:cNvSpPr txBox="1">
            <a:spLocks noGrp="1"/>
          </p:cNvSpPr>
          <p:nvPr>
            <p:ph type="body" idx="1"/>
          </p:nvPr>
        </p:nvSpPr>
        <p:spPr>
          <a:xfrm>
            <a:off x="250723" y="867242"/>
            <a:ext cx="11570627" cy="610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b="1" dirty="0">
                <a:solidFill>
                  <a:schemeClr val="accent5"/>
                </a:solidFill>
                <a:latin typeface="+mn-lt"/>
              </a:rPr>
              <a:t>Implementación de un lock usando la instrucción Compare-And-Swap</a:t>
            </a:r>
            <a:endParaRPr b="1" dirty="0">
              <a:solidFill>
                <a:schemeClr val="accent5"/>
              </a:solidFill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54D59AC1-0679-4122-A1A5-1FADCFD89A12}"/>
              </a:ext>
            </a:extLst>
          </p:cNvPr>
          <p:cNvGrpSpPr/>
          <p:nvPr/>
        </p:nvGrpSpPr>
        <p:grpSpPr>
          <a:xfrm>
            <a:off x="795375" y="1771938"/>
            <a:ext cx="10863226" cy="4657611"/>
            <a:chOff x="795375" y="1771938"/>
            <a:chExt cx="10863226" cy="4657611"/>
          </a:xfrm>
        </p:grpSpPr>
        <p:sp>
          <p:nvSpPr>
            <p:cNvPr id="1242" name="Google Shape;1242;p61"/>
            <p:cNvSpPr txBox="1"/>
            <p:nvPr/>
          </p:nvSpPr>
          <p:spPr>
            <a:xfrm>
              <a:off x="795375" y="1771938"/>
              <a:ext cx="5724000" cy="12807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void lock(lock_t *lock) {</a:t>
              </a:r>
              <a:endParaRPr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600" dirty="0" err="1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while</a:t>
              </a:r>
              <a:r>
                <a:rPr lang="es-ES" sz="1600" dirty="0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 (</a:t>
              </a:r>
              <a:r>
                <a:rPr lang="es-ES" sz="1600" dirty="0">
                  <a:solidFill>
                    <a:schemeClr val="dk1"/>
                  </a:solidFill>
                  <a:highlight>
                    <a:srgbClr val="C9DAF8"/>
                  </a:highlight>
                  <a:latin typeface="Consolas"/>
                  <a:ea typeface="Consolas"/>
                  <a:cs typeface="Consolas"/>
                  <a:sym typeface="Consolas"/>
                </a:rPr>
                <a:t>CompareAndSwap(&amp;lock-&gt;flag, 0, 1)</a:t>
              </a:r>
              <a:r>
                <a:rPr lang="es-ES" sz="1600" dirty="0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 == 1)</a:t>
              </a:r>
              <a:endParaRPr sz="16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	</a:t>
              </a:r>
              <a:r>
                <a:rPr lang="es-ES" sz="1600" dirty="0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; // spin</a:t>
              </a:r>
              <a:endParaRPr sz="16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243" name="Google Shape;1243;p61"/>
            <p:cNvSpPr txBox="1"/>
            <p:nvPr/>
          </p:nvSpPr>
          <p:spPr>
            <a:xfrm>
              <a:off x="795375" y="5395450"/>
              <a:ext cx="5724000" cy="1034099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void unlock(lock_t *lock) {</a:t>
              </a:r>
              <a:endParaRPr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lock-&gt;flag = 0;</a:t>
              </a:r>
              <a:endParaRPr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244" name="Google Shape;1244;p61"/>
            <p:cNvSpPr txBox="1"/>
            <p:nvPr/>
          </p:nvSpPr>
          <p:spPr>
            <a:xfrm>
              <a:off x="5511801" y="3168382"/>
              <a:ext cx="6146800" cy="1883562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int CompareAndSwap(int *ptr, int 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expected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, int new) {</a:t>
              </a:r>
              <a:endParaRPr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int original = *ptr;</a:t>
              </a:r>
              <a:endParaRPr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if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(original == 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expected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)</a:t>
              </a:r>
              <a:endParaRPr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	*ptr = new;</a:t>
              </a:r>
              <a:endParaRPr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return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original;</a:t>
              </a:r>
              <a:endParaRPr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1245" name="Google Shape;1245;p61"/>
            <p:cNvCxnSpPr>
              <a:cxnSpLocks/>
            </p:cNvCxnSpPr>
            <p:nvPr/>
          </p:nvCxnSpPr>
          <p:spPr>
            <a:xfrm rot="10800000">
              <a:off x="3637527" y="2444039"/>
              <a:ext cx="1874275" cy="1666125"/>
            </a:xfrm>
            <a:prstGeom prst="bentConnector3">
              <a:avLst>
                <a:gd name="adj1" fmla="val 100142"/>
              </a:avLst>
            </a:prstGeom>
            <a:noFill/>
            <a:ln w="28575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246" name="Google Shape;1246;p61"/>
            <p:cNvSpPr txBox="1"/>
            <p:nvPr/>
          </p:nvSpPr>
          <p:spPr>
            <a:xfrm>
              <a:off x="6832900" y="2055925"/>
              <a:ext cx="3000000" cy="6488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480"/>
                </a:spcBef>
                <a:spcAft>
                  <a:spcPts val="0"/>
                </a:spcAft>
                <a:buNone/>
              </a:pPr>
              <a:r>
                <a:rPr lang="es-ES" sz="2600" b="1" dirty="0">
                  <a:solidFill>
                    <a:srgbClr val="FF0000"/>
                  </a:solidFill>
                  <a:ea typeface="Roboto"/>
                  <a:cs typeface="Roboto"/>
                  <a:sym typeface="Roboto"/>
                </a:rPr>
                <a:t>lock</a:t>
              </a:r>
              <a:endParaRPr dirty="0">
                <a:solidFill>
                  <a:srgbClr val="FF0000"/>
                </a:solidFill>
              </a:endParaRPr>
            </a:p>
          </p:txBody>
        </p:sp>
        <p:sp>
          <p:nvSpPr>
            <p:cNvPr id="1247" name="Google Shape;1247;p61"/>
            <p:cNvSpPr txBox="1"/>
            <p:nvPr/>
          </p:nvSpPr>
          <p:spPr>
            <a:xfrm>
              <a:off x="6905550" y="5601700"/>
              <a:ext cx="3000000" cy="6488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480"/>
                </a:spcBef>
                <a:spcAft>
                  <a:spcPts val="0"/>
                </a:spcAft>
                <a:buNone/>
              </a:pPr>
              <a:r>
                <a:rPr lang="es-ES" sz="2600" b="1" dirty="0">
                  <a:solidFill>
                    <a:srgbClr val="FF0000"/>
                  </a:solidFill>
                  <a:ea typeface="Roboto"/>
                  <a:cs typeface="Roboto"/>
                  <a:sym typeface="Roboto"/>
                </a:rPr>
                <a:t>unlock</a:t>
              </a:r>
              <a:endParaRPr dirty="0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Google Shape;1252;p62"/>
          <p:cNvSpPr txBox="1">
            <a:spLocks noGrp="1"/>
          </p:cNvSpPr>
          <p:nvPr>
            <p:ph type="title"/>
          </p:nvPr>
        </p:nvSpPr>
        <p:spPr>
          <a:xfrm>
            <a:off x="427703" y="96038"/>
            <a:ext cx="8792947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Implementación de locks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253" name="Google Shape;1253;p62"/>
          <p:cNvSpPr txBox="1">
            <a:spLocks noGrp="1"/>
          </p:cNvSpPr>
          <p:nvPr>
            <p:ph type="body" idx="1"/>
          </p:nvPr>
        </p:nvSpPr>
        <p:spPr>
          <a:xfrm>
            <a:off x="370650" y="736932"/>
            <a:ext cx="11393647" cy="610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b="1" dirty="0">
                <a:solidFill>
                  <a:schemeClr val="accent5"/>
                </a:solidFill>
                <a:latin typeface="+mn-lt"/>
              </a:rPr>
              <a:t>Implementación de un lock usando la instrucción Compare-And-Swap</a:t>
            </a:r>
            <a:endParaRPr b="1" dirty="0">
              <a:solidFill>
                <a:schemeClr val="accent5"/>
              </a:solidFill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A69E96E4-82A4-4E9E-A9CA-65197F974095}"/>
              </a:ext>
            </a:extLst>
          </p:cNvPr>
          <p:cNvGrpSpPr/>
          <p:nvPr/>
        </p:nvGrpSpPr>
        <p:grpSpPr>
          <a:xfrm>
            <a:off x="468374" y="1246465"/>
            <a:ext cx="5724000" cy="1833263"/>
            <a:chOff x="468374" y="1246465"/>
            <a:chExt cx="5724000" cy="1833263"/>
          </a:xfrm>
        </p:grpSpPr>
        <p:sp>
          <p:nvSpPr>
            <p:cNvPr id="1254" name="Google Shape;1254;p62"/>
            <p:cNvSpPr txBox="1"/>
            <p:nvPr/>
          </p:nvSpPr>
          <p:spPr>
            <a:xfrm>
              <a:off x="468374" y="1799028"/>
              <a:ext cx="5724000" cy="12807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void lock(</a:t>
              </a:r>
              <a:r>
                <a:rPr lang="es-ES" sz="1600" dirty="0" err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lock_t</a:t>
              </a: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*lock) {</a:t>
              </a:r>
              <a:endParaRPr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 </a:t>
              </a:r>
              <a:r>
                <a:rPr lang="es-ES" sz="1600" dirty="0" err="1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while</a:t>
              </a:r>
              <a:r>
                <a:rPr lang="es-ES" sz="1600" dirty="0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 (</a:t>
              </a:r>
              <a:r>
                <a:rPr lang="es-ES" sz="1600" dirty="0">
                  <a:solidFill>
                    <a:schemeClr val="dk1"/>
                  </a:solidFill>
                  <a:highlight>
                    <a:srgbClr val="C9DAF8"/>
                  </a:highlight>
                  <a:latin typeface="Consolas"/>
                  <a:ea typeface="Consolas"/>
                  <a:cs typeface="Consolas"/>
                  <a:sym typeface="Consolas"/>
                </a:rPr>
                <a:t>CompareAndSwap(&amp;lock-&gt;flag, 0, 1)</a:t>
              </a:r>
              <a:r>
                <a:rPr lang="es-ES" sz="1600" dirty="0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 == 1)</a:t>
              </a:r>
              <a:endParaRPr sz="16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	</a:t>
              </a:r>
              <a:r>
                <a:rPr lang="es-ES" sz="1600" dirty="0">
                  <a:solidFill>
                    <a:schemeClr val="dk1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; // spin</a:t>
              </a:r>
              <a:endParaRPr sz="16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}</a:t>
              </a:r>
              <a:endParaRPr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256" name="Google Shape;1256;p62"/>
            <p:cNvSpPr txBox="1"/>
            <p:nvPr/>
          </p:nvSpPr>
          <p:spPr>
            <a:xfrm>
              <a:off x="1824176" y="1246465"/>
              <a:ext cx="3000000" cy="6488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480"/>
                </a:spcBef>
                <a:spcAft>
                  <a:spcPts val="0"/>
                </a:spcAft>
                <a:buNone/>
              </a:pPr>
              <a:r>
                <a:rPr lang="es-ES" sz="2600" b="1" dirty="0">
                  <a:solidFill>
                    <a:srgbClr val="FF0000"/>
                  </a:solidFill>
                  <a:ea typeface="Roboto"/>
                  <a:cs typeface="Roboto"/>
                  <a:sym typeface="Roboto"/>
                </a:rPr>
                <a:t>lock</a:t>
              </a:r>
              <a:endParaRPr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3" name="Grupo 2">
            <a:extLst>
              <a:ext uri="{FF2B5EF4-FFF2-40B4-BE49-F238E27FC236}">
                <a16:creationId xmlns:a16="http://schemas.microsoft.com/office/drawing/2014/main" id="{609C3E6A-4508-4E13-AA21-D4FE5123AEDA}"/>
              </a:ext>
            </a:extLst>
          </p:cNvPr>
          <p:cNvGrpSpPr/>
          <p:nvPr/>
        </p:nvGrpSpPr>
        <p:grpSpPr>
          <a:xfrm>
            <a:off x="6540500" y="1318484"/>
            <a:ext cx="5334000" cy="1589315"/>
            <a:chOff x="6553200" y="1293084"/>
            <a:chExt cx="5334000" cy="1589315"/>
          </a:xfrm>
        </p:grpSpPr>
        <p:sp>
          <p:nvSpPr>
            <p:cNvPr id="1255" name="Google Shape;1255;p62"/>
            <p:cNvSpPr txBox="1"/>
            <p:nvPr/>
          </p:nvSpPr>
          <p:spPr>
            <a:xfrm>
              <a:off x="6553200" y="1848300"/>
              <a:ext cx="5334000" cy="1034099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void unlock(</a:t>
              </a:r>
              <a:r>
                <a:rPr lang="es-ES" sz="1600" dirty="0" err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lock_t</a:t>
              </a:r>
              <a:r>
                <a:rPr lang="es-ES" sz="1600" dirty="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*lock) {</a:t>
              </a:r>
              <a:endParaRPr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lock-&gt;flag = 0;</a:t>
              </a:r>
              <a:endParaRPr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</a:t>
              </a:r>
              <a:endParaRPr sz="16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257" name="Google Shape;1257;p62"/>
            <p:cNvSpPr txBox="1"/>
            <p:nvPr/>
          </p:nvSpPr>
          <p:spPr>
            <a:xfrm>
              <a:off x="7748889" y="1293084"/>
              <a:ext cx="3000000" cy="6488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480"/>
                </a:spcBef>
                <a:spcAft>
                  <a:spcPts val="0"/>
                </a:spcAft>
                <a:buNone/>
              </a:pPr>
              <a:r>
                <a:rPr lang="es-ES" sz="2600" b="1" dirty="0">
                  <a:solidFill>
                    <a:srgbClr val="FF0000"/>
                  </a:solidFill>
                  <a:ea typeface="Roboto"/>
                  <a:cs typeface="Roboto"/>
                  <a:sym typeface="Roboto"/>
                </a:rPr>
                <a:t>unlock</a:t>
              </a:r>
              <a:endParaRPr dirty="0">
                <a:solidFill>
                  <a:srgbClr val="FF0000"/>
                </a:solidFill>
              </a:endParaRPr>
            </a:p>
          </p:txBody>
        </p:sp>
      </p:grpSp>
      <p:pic>
        <p:nvPicPr>
          <p:cNvPr id="1258" name="Google Shape;1258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2549" y="5314812"/>
            <a:ext cx="11211748" cy="14979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" name="Tabla 5">
            <a:extLst>
              <a:ext uri="{FF2B5EF4-FFF2-40B4-BE49-F238E27FC236}">
                <a16:creationId xmlns:a16="http://schemas.microsoft.com/office/drawing/2014/main" id="{27B303B2-91BC-4035-9E3B-72E5C03A97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8388606"/>
              </p:ext>
            </p:extLst>
          </p:nvPr>
        </p:nvGraphicFramePr>
        <p:xfrm>
          <a:off x="8449292" y="3079728"/>
          <a:ext cx="3300868" cy="2167238"/>
        </p:xfrm>
        <a:graphic>
          <a:graphicData uri="http://schemas.openxmlformats.org/drawingml/2006/table">
            <a:tbl>
              <a:tblPr firstRow="1" bandRow="1">
                <a:tableStyleId>{F66A2E93-5121-40D1-B61B-F19DAAD5E98B}</a:tableStyleId>
              </a:tblPr>
              <a:tblGrid>
                <a:gridCol w="1068705">
                  <a:extLst>
                    <a:ext uri="{9D8B030D-6E8A-4147-A177-3AD203B41FA5}">
                      <a16:colId xmlns:a16="http://schemas.microsoft.com/office/drawing/2014/main" val="1691757651"/>
                    </a:ext>
                  </a:extLst>
                </a:gridCol>
                <a:gridCol w="879819">
                  <a:extLst>
                    <a:ext uri="{9D8B030D-6E8A-4147-A177-3AD203B41FA5}">
                      <a16:colId xmlns:a16="http://schemas.microsoft.com/office/drawing/2014/main" val="2359408100"/>
                    </a:ext>
                  </a:extLst>
                </a:gridCol>
                <a:gridCol w="1352344">
                  <a:extLst>
                    <a:ext uri="{9D8B030D-6E8A-4147-A177-3AD203B41FA5}">
                      <a16:colId xmlns:a16="http://schemas.microsoft.com/office/drawing/2014/main" val="1419272974"/>
                    </a:ext>
                  </a:extLst>
                </a:gridCol>
              </a:tblGrid>
              <a:tr h="213750">
                <a:tc gridSpan="2">
                  <a:txBody>
                    <a:bodyPr/>
                    <a:lstStyle/>
                    <a:p>
                      <a:r>
                        <a:rPr lang="es-CO" dirty="0"/>
                        <a:t>🔐</a:t>
                      </a:r>
                      <a:r>
                        <a:rPr lang="es-CO" b="1" dirty="0">
                          <a:latin typeface="Consolas" panose="020B0609020204030204" pitchFamily="49" charset="0"/>
                        </a:rPr>
                        <a:t>flag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740320"/>
                  </a:ext>
                </a:extLst>
              </a:tr>
              <a:tr h="338438">
                <a:tc>
                  <a:txBody>
                    <a:bodyPr/>
                    <a:lstStyle/>
                    <a:p>
                      <a:pPr algn="ctr"/>
                      <a:r>
                        <a:rPr lang="es-CO" sz="1400" b="1" dirty="0">
                          <a:latin typeface="Consolas" panose="020B0609020204030204" pitchFamily="49" charset="0"/>
                        </a:rPr>
                        <a:t>expected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b="1" dirty="0">
                          <a:latin typeface="Consolas" panose="020B0609020204030204" pitchFamily="49" charset="0"/>
                        </a:rPr>
                        <a:t>new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5400" dirty="0"/>
                        <a:t>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372891"/>
                  </a:ext>
                </a:extLst>
              </a:tr>
              <a:tr h="445313">
                <a:tc>
                  <a:txBody>
                    <a:bodyPr/>
                    <a:lstStyle/>
                    <a:p>
                      <a:endParaRPr lang="es-CO" dirty="0"/>
                    </a:p>
                    <a:p>
                      <a:endParaRPr lang="es-CO" dirty="0"/>
                    </a:p>
                    <a:p>
                      <a:endParaRPr lang="es-CO" dirty="0"/>
                    </a:p>
                    <a:p>
                      <a:endParaRPr lang="es-CO" dirty="0"/>
                    </a:p>
                    <a:p>
                      <a:endParaRPr lang="es-CO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4400" dirty="0"/>
                        <a:t>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6585217"/>
                  </a:ext>
                </a:extLst>
              </a:tr>
            </a:tbl>
          </a:graphicData>
        </a:graphic>
      </p:graphicFrame>
      <p:sp>
        <p:nvSpPr>
          <p:cNvPr id="10" name="Google Shape;1234;p60">
            <a:extLst>
              <a:ext uri="{FF2B5EF4-FFF2-40B4-BE49-F238E27FC236}">
                <a16:creationId xmlns:a16="http://schemas.microsoft.com/office/drawing/2014/main" id="{5200D6B8-0AE2-42FF-B498-7637969A201F}"/>
              </a:ext>
            </a:extLst>
          </p:cNvPr>
          <p:cNvSpPr txBox="1"/>
          <p:nvPr/>
        </p:nvSpPr>
        <p:spPr>
          <a:xfrm>
            <a:off x="441840" y="3517137"/>
            <a:ext cx="5764671" cy="43239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 </a:t>
            </a:r>
            <a:r>
              <a:rPr lang="es-ES" sz="14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CompareAndSwap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(int *ptr, int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expected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int new);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1EBB7B9F-5A8C-4A5C-B363-ABB4B66C31B4}"/>
              </a:ext>
            </a:extLst>
          </p:cNvPr>
          <p:cNvSpPr txBox="1"/>
          <p:nvPr/>
        </p:nvSpPr>
        <p:spPr>
          <a:xfrm>
            <a:off x="552549" y="4251727"/>
            <a:ext cx="73299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T1[L(m)]</a:t>
            </a:r>
            <a:r>
              <a:rPr lang="es-CO" sz="1400" b="1" dirty="0">
                <a:solidFill>
                  <a:srgbClr val="0070C0"/>
                </a:solidFill>
                <a:latin typeface="Consolas" panose="020B0609020204030204" pitchFamily="49" charset="0"/>
              </a:rPr>
              <a:t> – </a:t>
            </a:r>
            <a:r>
              <a:rPr lang="es-CO" sz="1400" b="1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T1[SC]</a:t>
            </a:r>
            <a:r>
              <a:rPr lang="es-CO" sz="1400" b="1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es-CO" sz="1400" b="1" dirty="0">
                <a:solidFill>
                  <a:srgbClr val="00B050"/>
                </a:solidFill>
                <a:latin typeface="Consolas" panose="020B0609020204030204" pitchFamily="49" charset="0"/>
              </a:rPr>
              <a:t>– T2[L(m)]... </a:t>
            </a:r>
            <a:r>
              <a:rPr lang="es-CO" sz="1400" b="1" dirty="0">
                <a:solidFill>
                  <a:srgbClr val="0070C0"/>
                </a:solidFill>
                <a:latin typeface="Consolas" panose="020B0609020204030204" pitchFamily="49" charset="0"/>
              </a:rPr>
              <a:t>– </a:t>
            </a:r>
            <a:r>
              <a:rPr lang="es-CO" sz="1400" b="1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T1[SC]</a:t>
            </a:r>
            <a:r>
              <a:rPr lang="es-CO" sz="1400" b="1" dirty="0">
                <a:latin typeface="Consolas" panose="020B0609020204030204" pitchFamily="49" charset="0"/>
              </a:rPr>
              <a:t>– </a:t>
            </a:r>
            <a:r>
              <a:rPr lang="es-CO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T1[U(m)] </a:t>
            </a:r>
            <a:r>
              <a:rPr lang="es-CO" sz="1400" b="1" dirty="0">
                <a:latin typeface="Consolas" panose="020B0609020204030204" pitchFamily="49" charset="0"/>
              </a:rPr>
              <a:t>–</a:t>
            </a:r>
            <a:r>
              <a:rPr lang="es-CO" sz="1400" b="1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s-CO" sz="1400" b="1" dirty="0">
                <a:solidFill>
                  <a:srgbClr val="00B05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T2[SC]</a:t>
            </a:r>
            <a:r>
              <a:rPr lang="es-CO" sz="1400" b="1" dirty="0">
                <a:solidFill>
                  <a:srgbClr val="00B050"/>
                </a:solidFill>
                <a:latin typeface="Consolas" panose="020B0609020204030204" pitchFamily="49" charset="0"/>
              </a:rPr>
              <a:t> – T2[U(m)]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p63"/>
          <p:cNvSpPr txBox="1">
            <a:spLocks noGrp="1"/>
          </p:cNvSpPr>
          <p:nvPr>
            <p:ph type="title"/>
          </p:nvPr>
        </p:nvSpPr>
        <p:spPr>
          <a:xfrm>
            <a:off x="279400" y="96038"/>
            <a:ext cx="894125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Implementación de locks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264" name="Google Shape;1264;p63"/>
          <p:cNvSpPr txBox="1">
            <a:spLocks noGrp="1"/>
          </p:cNvSpPr>
          <p:nvPr>
            <p:ph type="body" idx="1"/>
          </p:nvPr>
        </p:nvSpPr>
        <p:spPr>
          <a:xfrm>
            <a:off x="442452" y="928425"/>
            <a:ext cx="11612423" cy="610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b="1" dirty="0">
                <a:solidFill>
                  <a:schemeClr val="accent5"/>
                </a:solidFill>
                <a:latin typeface="+mn-lt"/>
              </a:rPr>
              <a:t>Implementación con instrucciones LL&amp;SC (load linked – store conditional)</a:t>
            </a:r>
            <a:endParaRPr b="1" dirty="0">
              <a:solidFill>
                <a:schemeClr val="accent5"/>
              </a:solidFill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19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sp>
        <p:nvSpPr>
          <p:cNvPr id="1265" name="Google Shape;1265;p63"/>
          <p:cNvSpPr txBox="1"/>
          <p:nvPr/>
        </p:nvSpPr>
        <p:spPr>
          <a:xfrm>
            <a:off x="442452" y="1445300"/>
            <a:ext cx="4785798" cy="1602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chemeClr val="accent2"/>
                </a:solidFill>
                <a:ea typeface="Roboto"/>
                <a:cs typeface="Roboto"/>
                <a:sym typeface="Roboto"/>
              </a:rPr>
              <a:t>LL (Load linked)</a:t>
            </a:r>
            <a:r>
              <a:rPr lang="es-ES" sz="2200" dirty="0">
                <a:solidFill>
                  <a:schemeClr val="accent2"/>
                </a:solidFill>
                <a:ea typeface="Roboto"/>
                <a:cs typeface="Roboto"/>
                <a:sym typeface="Roboto"/>
              </a:rPr>
              <a:t>:</a:t>
            </a:r>
            <a:r>
              <a:rPr lang="es-ES" sz="2200" b="1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 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Opera como una instrucción load típica trayendo simplemente un valor de memoria y poniéndolo en un registro.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1266" name="Google Shape;1266;p63"/>
          <p:cNvSpPr txBox="1"/>
          <p:nvPr/>
        </p:nvSpPr>
        <p:spPr>
          <a:xfrm>
            <a:off x="442452" y="3254385"/>
            <a:ext cx="4324698" cy="1941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chemeClr val="accent2"/>
                </a:solidFill>
                <a:ea typeface="Roboto"/>
                <a:cs typeface="Roboto"/>
                <a:sym typeface="Roboto"/>
              </a:rPr>
              <a:t>SC (Store conditional)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: El almacenamiento solo funciona si no se ha realizado otro almacenamiento previo en el mismo lugar: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1267" name="Google Shape;1267;p63"/>
          <p:cNvSpPr txBox="1"/>
          <p:nvPr/>
        </p:nvSpPr>
        <p:spPr>
          <a:xfrm>
            <a:off x="442452" y="5129371"/>
            <a:ext cx="4191963" cy="1600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s-ES" sz="2000" b="1" dirty="0">
                <a:solidFill>
                  <a:schemeClr val="accent6"/>
                </a:solidFill>
                <a:ea typeface="Roboto"/>
                <a:cs typeface="Roboto"/>
                <a:sym typeface="Roboto"/>
              </a:rPr>
              <a:t>Éxito</a:t>
            </a:r>
            <a:r>
              <a:rPr lang="es-ES" sz="2000" dirty="0">
                <a:solidFill>
                  <a:schemeClr val="accent6"/>
                </a:solidFill>
                <a:ea typeface="Roboto"/>
                <a:cs typeface="Roboto"/>
                <a:sym typeface="Roboto"/>
              </a:rPr>
              <a:t>: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Devuelve </a:t>
            </a:r>
            <a:r>
              <a:rPr lang="es-ES" sz="2000" b="1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1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y actualiza el valor de </a:t>
            </a:r>
            <a:r>
              <a:rPr lang="es-ES" sz="2000" b="1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*ptr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a new.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s-ES" sz="2000" b="1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Falla</a:t>
            </a:r>
            <a:r>
              <a:rPr lang="es-ES" sz="2000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: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Retorna </a:t>
            </a:r>
            <a:r>
              <a:rPr lang="es-ES" sz="2000" b="1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0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sin actualizar la memoria.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1268" name="Google Shape;1268;p63"/>
          <p:cNvSpPr txBox="1"/>
          <p:nvPr/>
        </p:nvSpPr>
        <p:spPr>
          <a:xfrm>
            <a:off x="5087250" y="1618275"/>
            <a:ext cx="6858300" cy="9975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 LoadLinked(int *ptr) {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*ptr;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69" name="Google Shape;1269;p63"/>
          <p:cNvSpPr txBox="1"/>
          <p:nvPr/>
        </p:nvSpPr>
        <p:spPr>
          <a:xfrm>
            <a:off x="5087250" y="3475975"/>
            <a:ext cx="6858300" cy="26967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 StoreConditional(int *ptr, int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(no update to *ptr since LoadLinked to this address) {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*ptr =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1; //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success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!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0; //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failed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to update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Google Shape;1274;p64"/>
          <p:cNvSpPr txBox="1">
            <a:spLocks noGrp="1"/>
          </p:cNvSpPr>
          <p:nvPr>
            <p:ph type="title"/>
          </p:nvPr>
        </p:nvSpPr>
        <p:spPr>
          <a:xfrm>
            <a:off x="355601" y="96038"/>
            <a:ext cx="886505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Implementación de locks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275" name="Google Shape;1275;p64"/>
          <p:cNvSpPr txBox="1">
            <a:spLocks noGrp="1"/>
          </p:cNvSpPr>
          <p:nvPr>
            <p:ph type="body" idx="1"/>
          </p:nvPr>
        </p:nvSpPr>
        <p:spPr>
          <a:xfrm>
            <a:off x="355601" y="928425"/>
            <a:ext cx="11699274" cy="610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b="1" dirty="0">
                <a:solidFill>
                  <a:schemeClr val="accent5"/>
                </a:solidFill>
                <a:latin typeface="+mn-lt"/>
              </a:rPr>
              <a:t>Implementación con instrucciones LL&amp;SC (load linked – store conditional)</a:t>
            </a:r>
            <a:endParaRPr b="1" dirty="0">
              <a:solidFill>
                <a:schemeClr val="accent5"/>
              </a:solidFill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19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sp>
        <p:nvSpPr>
          <p:cNvPr id="1276" name="Google Shape;1276;p64"/>
          <p:cNvSpPr txBox="1"/>
          <p:nvPr/>
        </p:nvSpPr>
        <p:spPr>
          <a:xfrm>
            <a:off x="355601" y="1491488"/>
            <a:ext cx="11320030" cy="587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rgbClr val="E06666"/>
                </a:solidFill>
                <a:ea typeface="Roboto"/>
                <a:cs typeface="Roboto"/>
                <a:sym typeface="Roboto"/>
              </a:rPr>
              <a:t>no update to *ptr since LoadLinked to this address – Que es?</a:t>
            </a:r>
            <a:endParaRPr sz="2200" b="1" dirty="0">
              <a:solidFill>
                <a:srgbClr val="E06666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1277" name="Google Shape;1277;p64"/>
          <p:cNvSpPr txBox="1"/>
          <p:nvPr/>
        </p:nvSpPr>
        <p:spPr>
          <a:xfrm>
            <a:off x="355601" y="2150025"/>
            <a:ext cx="4634230" cy="538579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 LoadLinked(int *ptr)</a:t>
            </a:r>
            <a:endParaRPr sz="2000" b="1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78" name="Google Shape;1278;p64"/>
          <p:cNvSpPr txBox="1"/>
          <p:nvPr/>
        </p:nvSpPr>
        <p:spPr>
          <a:xfrm>
            <a:off x="355601" y="3328325"/>
            <a:ext cx="11167630" cy="538579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 StoreConditional(int *ptr, int </a:t>
            </a:r>
            <a:r>
              <a:rPr lang="es-ES" sz="2000" b="1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s-ES" sz="20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2000" b="1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279" name="Google Shape;1279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0231" y="2333100"/>
            <a:ext cx="4190574" cy="85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0" name="Google Shape;1280;p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42256" y="3964227"/>
            <a:ext cx="9689748" cy="24889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5" name="Google Shape;1285;p65"/>
          <p:cNvSpPr txBox="1">
            <a:spLocks noGrp="1"/>
          </p:cNvSpPr>
          <p:nvPr>
            <p:ph type="title"/>
          </p:nvPr>
        </p:nvSpPr>
        <p:spPr>
          <a:xfrm>
            <a:off x="406400" y="96038"/>
            <a:ext cx="881425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Implementación de locks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286" name="Google Shape;1286;p65"/>
          <p:cNvSpPr txBox="1">
            <a:spLocks noGrp="1"/>
          </p:cNvSpPr>
          <p:nvPr>
            <p:ph type="body" idx="1"/>
          </p:nvPr>
        </p:nvSpPr>
        <p:spPr>
          <a:xfrm>
            <a:off x="406400" y="928425"/>
            <a:ext cx="11648475" cy="610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b="1" dirty="0">
                <a:solidFill>
                  <a:schemeClr val="accent5"/>
                </a:solidFill>
                <a:latin typeface="+mn-lt"/>
              </a:rPr>
              <a:t>Implementación con instrucciones LL&amp;SC (load linked – store conditional)</a:t>
            </a:r>
            <a:endParaRPr b="1" dirty="0">
              <a:solidFill>
                <a:schemeClr val="accent5"/>
              </a:solidFill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19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sp>
        <p:nvSpPr>
          <p:cNvPr id="1287" name="Google Shape;1287;p65"/>
          <p:cNvSpPr txBox="1"/>
          <p:nvPr/>
        </p:nvSpPr>
        <p:spPr>
          <a:xfrm>
            <a:off x="406400" y="1539225"/>
            <a:ext cx="11526450" cy="587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rgbClr val="FF9900"/>
                </a:solidFill>
                <a:ea typeface="Roboto"/>
                <a:cs typeface="Roboto"/>
                <a:sym typeface="Roboto"/>
              </a:rPr>
              <a:t>Implementación del lock</a:t>
            </a:r>
            <a:endParaRPr sz="2200" b="1" dirty="0">
              <a:solidFill>
                <a:srgbClr val="FF9900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1288" name="Google Shape;1288;p65"/>
          <p:cNvSpPr txBox="1"/>
          <p:nvPr/>
        </p:nvSpPr>
        <p:spPr>
          <a:xfrm>
            <a:off x="524750" y="2154925"/>
            <a:ext cx="8314450" cy="3051574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 </a:t>
            </a:r>
            <a:r>
              <a:rPr lang="es-ES" sz="18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</a:t>
            </a: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18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lock_t</a:t>
            </a: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*lock) {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8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(1) {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8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s-ES" sz="1800" dirty="0">
                <a:solidFill>
                  <a:schemeClr val="dk1"/>
                </a:solidFill>
                <a:highlight>
                  <a:srgbClr val="FFF2CC"/>
                </a:highlight>
                <a:latin typeface="Consolas"/>
                <a:ea typeface="Consolas"/>
                <a:cs typeface="Consolas"/>
                <a:sym typeface="Consolas"/>
              </a:rPr>
              <a:t>LoadLinked(&amp;lock-&gt;flag) == 1</a:t>
            </a: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	  ; // spin </a:t>
            </a:r>
            <a:r>
              <a:rPr lang="es-ES" sz="18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until</a:t>
            </a: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8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it’s</a:t>
            </a: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8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zero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s-ES" sz="18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s-ES" sz="1800" dirty="0">
                <a:solidFill>
                  <a:schemeClr val="dk1"/>
                </a:solidFill>
                <a:highlight>
                  <a:srgbClr val="CFE2F3"/>
                </a:highlight>
                <a:latin typeface="Consolas"/>
                <a:ea typeface="Consolas"/>
                <a:cs typeface="Consolas"/>
                <a:sym typeface="Consolas"/>
              </a:rPr>
              <a:t>StoreConditional(&amp;lock-&gt;flag, 1) == 1</a:t>
            </a: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	  </a:t>
            </a:r>
            <a:r>
              <a:rPr lang="es-ES" sz="18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   	// </a:t>
            </a:r>
            <a:r>
              <a:rPr lang="es-ES" sz="18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set-it-to-1 </a:t>
            </a:r>
            <a:r>
              <a:rPr lang="es-ES" sz="18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was</a:t>
            </a: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a </a:t>
            </a:r>
            <a:r>
              <a:rPr lang="es-ES" sz="18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success</a:t>
            </a: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lang="es-ES" sz="18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all</a:t>
            </a: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done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	// </a:t>
            </a:r>
            <a:r>
              <a:rPr lang="es-ES" sz="18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otherwise</a:t>
            </a: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: try </a:t>
            </a:r>
            <a:r>
              <a:rPr lang="es-ES" sz="18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it</a:t>
            </a: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8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all</a:t>
            </a: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8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over</a:t>
            </a: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8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again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89" name="Google Shape;1289;p65"/>
          <p:cNvSpPr txBox="1"/>
          <p:nvPr/>
        </p:nvSpPr>
        <p:spPr>
          <a:xfrm>
            <a:off x="524750" y="5380125"/>
            <a:ext cx="8314450" cy="1140282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 </a:t>
            </a:r>
            <a:r>
              <a:rPr lang="es-ES" sz="18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unlock</a:t>
            </a: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18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lock_t</a:t>
            </a: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*lock) {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lock-&gt;flag = 0;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1294;p66"/>
          <p:cNvSpPr txBox="1">
            <a:spLocks noGrp="1"/>
          </p:cNvSpPr>
          <p:nvPr>
            <p:ph type="title"/>
          </p:nvPr>
        </p:nvSpPr>
        <p:spPr>
          <a:xfrm>
            <a:off x="353961" y="96038"/>
            <a:ext cx="8866689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latin typeface="+mj-lt"/>
              </a:rPr>
              <a:t>Implementación de locks</a:t>
            </a:r>
            <a:endParaRPr dirty="0">
              <a:latin typeface="+mj-lt"/>
            </a:endParaRPr>
          </a:p>
        </p:txBody>
      </p:sp>
      <p:sp>
        <p:nvSpPr>
          <p:cNvPr id="1295" name="Google Shape;1295;p66"/>
          <p:cNvSpPr txBox="1">
            <a:spLocks noGrp="1"/>
          </p:cNvSpPr>
          <p:nvPr>
            <p:ph type="body" idx="1"/>
          </p:nvPr>
        </p:nvSpPr>
        <p:spPr>
          <a:xfrm>
            <a:off x="353961" y="928425"/>
            <a:ext cx="11700914" cy="610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b="1" dirty="0">
                <a:solidFill>
                  <a:schemeClr val="accent5"/>
                </a:solidFill>
                <a:latin typeface="+mn-lt"/>
              </a:rPr>
              <a:t>Implementación con instrucciones LL&amp;SC (load linked – store conditional)</a:t>
            </a:r>
            <a:endParaRPr b="1" dirty="0">
              <a:solidFill>
                <a:schemeClr val="accent5"/>
              </a:solidFill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19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sp>
        <p:nvSpPr>
          <p:cNvPr id="1296" name="Google Shape;1296;p66"/>
          <p:cNvSpPr txBox="1"/>
          <p:nvPr/>
        </p:nvSpPr>
        <p:spPr>
          <a:xfrm>
            <a:off x="353961" y="1418333"/>
            <a:ext cx="11076900" cy="587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rgbClr val="E06666"/>
                </a:solidFill>
                <a:ea typeface="Roboto"/>
                <a:cs typeface="Roboto"/>
                <a:sym typeface="Roboto"/>
              </a:rPr>
              <a:t>¿Por qué funciona? - Análisis</a:t>
            </a:r>
            <a:endParaRPr sz="2200" b="1" dirty="0">
              <a:solidFill>
                <a:srgbClr val="E06666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1297" name="Google Shape;1297;p66"/>
          <p:cNvSpPr txBox="1"/>
          <p:nvPr/>
        </p:nvSpPr>
        <p:spPr>
          <a:xfrm>
            <a:off x="493798" y="2633625"/>
            <a:ext cx="5602201" cy="1918957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 lock(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lock_t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*lock) {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(1) {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s-ES" sz="1400" dirty="0">
                <a:solidFill>
                  <a:schemeClr val="dk1"/>
                </a:solidFill>
                <a:highlight>
                  <a:srgbClr val="FFF2CC"/>
                </a:highlight>
                <a:latin typeface="Consolas"/>
                <a:ea typeface="Consolas"/>
                <a:cs typeface="Consolas"/>
                <a:sym typeface="Consolas"/>
              </a:rPr>
              <a:t>LoadLinked(&amp;lock-&gt;flag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== 1);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s-ES" sz="1400" dirty="0">
                <a:solidFill>
                  <a:schemeClr val="dk1"/>
                </a:solidFill>
                <a:highlight>
                  <a:srgbClr val="CFE2F3"/>
                </a:highlight>
                <a:latin typeface="Consolas"/>
                <a:ea typeface="Consolas"/>
                <a:cs typeface="Consolas"/>
                <a:sym typeface="Consolas"/>
              </a:rPr>
              <a:t>StoreConditional(&amp;lock-&gt;flag, 1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== 1)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	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98" name="Google Shape;1298;p66"/>
          <p:cNvSpPr txBox="1"/>
          <p:nvPr/>
        </p:nvSpPr>
        <p:spPr>
          <a:xfrm>
            <a:off x="493798" y="5396700"/>
            <a:ext cx="5602200" cy="927916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 unlock(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lock_t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*lock) {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lock-&gt;flag = 0;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99" name="Google Shape;1299;p66"/>
          <p:cNvSpPr txBox="1"/>
          <p:nvPr/>
        </p:nvSpPr>
        <p:spPr>
          <a:xfrm>
            <a:off x="6354525" y="1788525"/>
            <a:ext cx="5602200" cy="845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 LoadLinked(int *ptr) {</a:t>
            </a:r>
            <a:endParaRPr sz="13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3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s-ES"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*ptr;</a:t>
            </a:r>
            <a:endParaRPr sz="13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3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00" name="Google Shape;1300;p66"/>
          <p:cNvSpPr txBox="1"/>
          <p:nvPr/>
        </p:nvSpPr>
        <p:spPr>
          <a:xfrm>
            <a:off x="6354525" y="3255825"/>
            <a:ext cx="5602200" cy="2225700"/>
          </a:xfrm>
          <a:prstGeom prst="rect">
            <a:avLst/>
          </a:prstGeom>
          <a:solidFill>
            <a:srgbClr val="CFE2F3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 StoreConditional(int *ptr, int </a:t>
            </a:r>
            <a:r>
              <a:rPr lang="es-ES" sz="13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s-ES"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3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3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s-ES"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(no update to *ptr since LoadLinked to this address) {</a:t>
            </a:r>
            <a:endParaRPr sz="13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*ptr = </a:t>
            </a:r>
            <a:r>
              <a:rPr lang="es-ES" sz="13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es-ES"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3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s-ES" sz="13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s-ES"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1; // </a:t>
            </a:r>
            <a:r>
              <a:rPr lang="es-ES" sz="13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success</a:t>
            </a:r>
            <a:r>
              <a:rPr lang="es-ES"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!</a:t>
            </a:r>
            <a:endParaRPr sz="13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3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3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lang="es-ES"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3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s-ES" sz="13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s-ES"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0; // </a:t>
            </a:r>
            <a:r>
              <a:rPr lang="es-ES" sz="13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failed</a:t>
            </a:r>
            <a:r>
              <a:rPr lang="es-ES"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to update</a:t>
            </a:r>
            <a:endParaRPr sz="13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3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3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3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301" name="Google Shape;1301;p66"/>
          <p:cNvCxnSpPr/>
          <p:nvPr/>
        </p:nvCxnSpPr>
        <p:spPr>
          <a:xfrm rot="10800000" flipH="1">
            <a:off x="3599150" y="2205675"/>
            <a:ext cx="2774400" cy="1044300"/>
          </a:xfrm>
          <a:prstGeom prst="bentConnector3">
            <a:avLst>
              <a:gd name="adj1" fmla="val 0"/>
            </a:avLst>
          </a:prstGeom>
          <a:noFill/>
          <a:ln w="28575" cap="flat" cmpd="sng">
            <a:solidFill>
              <a:srgbClr val="F8A02B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02" name="Google Shape;1302;p66"/>
          <p:cNvCxnSpPr>
            <a:endCxn id="1300" idx="1"/>
          </p:cNvCxnSpPr>
          <p:nvPr/>
        </p:nvCxnSpPr>
        <p:spPr>
          <a:xfrm>
            <a:off x="3599025" y="3686475"/>
            <a:ext cx="2755500" cy="682200"/>
          </a:xfrm>
          <a:prstGeom prst="bentConnector3">
            <a:avLst>
              <a:gd name="adj1" fmla="val 5"/>
            </a:avLst>
          </a:prstGeom>
          <a:noFill/>
          <a:ln w="28575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7" name="Google Shape;1307;p67"/>
          <p:cNvSpPr txBox="1">
            <a:spLocks noGrp="1"/>
          </p:cNvSpPr>
          <p:nvPr>
            <p:ph type="title"/>
          </p:nvPr>
        </p:nvSpPr>
        <p:spPr>
          <a:xfrm>
            <a:off x="368710" y="96038"/>
            <a:ext cx="885194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Implementación de locks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308" name="Google Shape;1308;p67"/>
          <p:cNvSpPr txBox="1">
            <a:spLocks noGrp="1"/>
          </p:cNvSpPr>
          <p:nvPr>
            <p:ph type="body" idx="1"/>
          </p:nvPr>
        </p:nvSpPr>
        <p:spPr>
          <a:xfrm>
            <a:off x="368710" y="825042"/>
            <a:ext cx="11686165" cy="610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b="1" dirty="0">
                <a:solidFill>
                  <a:schemeClr val="accent5"/>
                </a:solidFill>
                <a:latin typeface="+mn-lt"/>
              </a:rPr>
              <a:t>Implementación con instrucciones LL&amp;SC (load linked – store conditional)</a:t>
            </a:r>
            <a:endParaRPr b="1" dirty="0">
              <a:solidFill>
                <a:schemeClr val="accent5"/>
              </a:solidFill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19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sp>
        <p:nvSpPr>
          <p:cNvPr id="1309" name="Google Shape;1309;p67"/>
          <p:cNvSpPr txBox="1"/>
          <p:nvPr/>
        </p:nvSpPr>
        <p:spPr>
          <a:xfrm>
            <a:off x="368709" y="1308359"/>
            <a:ext cx="11686165" cy="587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rgbClr val="E06666"/>
                </a:solidFill>
                <a:latin typeface="Roboto"/>
                <a:ea typeface="Roboto"/>
                <a:cs typeface="Roboto"/>
                <a:sym typeface="Roboto"/>
              </a:rPr>
              <a:t>¿Por qué funciona? - Análisis</a:t>
            </a:r>
            <a:endParaRPr sz="2200" b="1" dirty="0">
              <a:solidFill>
                <a:srgbClr val="E0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10" name="Google Shape;1310;p67"/>
          <p:cNvSpPr txBox="1"/>
          <p:nvPr/>
        </p:nvSpPr>
        <p:spPr>
          <a:xfrm>
            <a:off x="573792" y="1861537"/>
            <a:ext cx="5001508" cy="1918957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 </a:t>
            </a:r>
            <a:r>
              <a:rPr lang="es-ES" sz="14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lock_t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*lock) {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(1) {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s-ES" sz="1400" dirty="0">
                <a:solidFill>
                  <a:schemeClr val="dk1"/>
                </a:solidFill>
                <a:highlight>
                  <a:srgbClr val="FFF2CC"/>
                </a:highlight>
                <a:latin typeface="Consolas"/>
                <a:ea typeface="Consolas"/>
                <a:cs typeface="Consolas"/>
                <a:sym typeface="Consolas"/>
              </a:rPr>
              <a:t>LoadLinked(&amp;lock-&gt;flag)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== 1);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s-ES" sz="1400" dirty="0">
                <a:solidFill>
                  <a:schemeClr val="dk1"/>
                </a:solidFill>
                <a:highlight>
                  <a:srgbClr val="CFE2F3"/>
                </a:highlight>
                <a:latin typeface="Consolas"/>
                <a:ea typeface="Consolas"/>
                <a:cs typeface="Consolas"/>
                <a:sym typeface="Consolas"/>
              </a:rPr>
              <a:t>StoreConditional(&amp;lock-&gt;flag, 1)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== 1)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11" name="Google Shape;1311;p67"/>
          <p:cNvSpPr txBox="1"/>
          <p:nvPr/>
        </p:nvSpPr>
        <p:spPr>
          <a:xfrm>
            <a:off x="6749900" y="1774542"/>
            <a:ext cx="4644600" cy="927916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 </a:t>
            </a:r>
            <a:r>
              <a:rPr lang="es-ES" sz="14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unlock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lock_t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*lock) {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lock-&gt;flag = 0;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12" name="Google Shape;1312;p67"/>
          <p:cNvSpPr txBox="1"/>
          <p:nvPr/>
        </p:nvSpPr>
        <p:spPr>
          <a:xfrm>
            <a:off x="459146" y="4038435"/>
            <a:ext cx="5625300" cy="589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E46C0A"/>
                </a:solidFill>
                <a:ea typeface="Roboto"/>
                <a:cs typeface="Roboto"/>
                <a:sym typeface="Roboto"/>
              </a:rPr>
              <a:t>Caso 1</a:t>
            </a:r>
            <a:r>
              <a:rPr lang="es-ES" sz="2000" dirty="0">
                <a:solidFill>
                  <a:srgbClr val="E46C0A"/>
                </a:solidFill>
                <a:ea typeface="Roboto"/>
                <a:cs typeface="Roboto"/>
                <a:sym typeface="Roboto"/>
              </a:rPr>
              <a:t>: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Secuencia</a:t>
            </a:r>
            <a:r>
              <a:rPr lang="es-ES" sz="20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s-ES" sz="2000" b="1" dirty="0">
                <a:solidFill>
                  <a:srgbClr val="FF0000"/>
                </a:solidFill>
                <a:ea typeface="Consolas"/>
                <a:cs typeface="Consolas"/>
                <a:sym typeface="Consolas"/>
              </a:rPr>
              <a:t>LL1</a:t>
            </a:r>
            <a:r>
              <a:rPr lang="es-ES" sz="2000" b="1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 - </a:t>
            </a:r>
            <a:r>
              <a:rPr lang="es-ES" sz="2000" b="1" dirty="0">
                <a:solidFill>
                  <a:srgbClr val="FF0000"/>
                </a:solidFill>
                <a:ea typeface="Consolas"/>
                <a:cs typeface="Consolas"/>
                <a:sym typeface="Consolas"/>
              </a:rPr>
              <a:t>SC1</a:t>
            </a:r>
            <a:r>
              <a:rPr lang="es-ES" sz="2000" b="1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 - </a:t>
            </a:r>
            <a:r>
              <a:rPr lang="es-ES" sz="2000" b="1" dirty="0">
                <a:solidFill>
                  <a:srgbClr val="00B050"/>
                </a:solidFill>
                <a:ea typeface="Consolas"/>
                <a:cs typeface="Consolas"/>
                <a:sym typeface="Consolas"/>
              </a:rPr>
              <a:t>LL2</a:t>
            </a:r>
            <a:r>
              <a:rPr lang="es-ES" sz="2000" b="1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 - </a:t>
            </a:r>
            <a:r>
              <a:rPr lang="es-ES" sz="2000" b="1" dirty="0">
                <a:solidFill>
                  <a:srgbClr val="00B050"/>
                </a:solidFill>
                <a:ea typeface="Consolas"/>
                <a:cs typeface="Consolas"/>
                <a:sym typeface="Consolas"/>
              </a:rPr>
              <a:t>SC2</a:t>
            </a:r>
            <a:endParaRPr sz="2000" b="1" dirty="0">
              <a:solidFill>
                <a:srgbClr val="00B050"/>
              </a:solidFill>
              <a:ea typeface="Consolas"/>
              <a:cs typeface="Consolas"/>
              <a:sym typeface="Consolas"/>
            </a:endParaRPr>
          </a:p>
        </p:txBody>
      </p:sp>
      <p:pic>
        <p:nvPicPr>
          <p:cNvPr id="1313" name="Google Shape;1313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0625" y="4793200"/>
            <a:ext cx="9942075" cy="19035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" name="Tabla 5">
            <a:extLst>
              <a:ext uri="{FF2B5EF4-FFF2-40B4-BE49-F238E27FC236}">
                <a16:creationId xmlns:a16="http://schemas.microsoft.com/office/drawing/2014/main" id="{A9EBDB15-F668-4D2C-AE4D-2D399A260B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2734422"/>
              </p:ext>
            </p:extLst>
          </p:nvPr>
        </p:nvGraphicFramePr>
        <p:xfrm>
          <a:off x="7236175" y="3041158"/>
          <a:ext cx="3968950" cy="1737360"/>
        </p:xfrm>
        <a:graphic>
          <a:graphicData uri="http://schemas.openxmlformats.org/drawingml/2006/table">
            <a:tbl>
              <a:tblPr firstRow="1" bandRow="1">
                <a:tableStyleId>{F66A2E93-5121-40D1-B61B-F19DAAD5E98B}</a:tableStyleId>
              </a:tblPr>
              <a:tblGrid>
                <a:gridCol w="1963170">
                  <a:extLst>
                    <a:ext uri="{9D8B030D-6E8A-4147-A177-3AD203B41FA5}">
                      <a16:colId xmlns:a16="http://schemas.microsoft.com/office/drawing/2014/main" val="1691757651"/>
                    </a:ext>
                  </a:extLst>
                </a:gridCol>
                <a:gridCol w="2005780">
                  <a:extLst>
                    <a:ext uri="{9D8B030D-6E8A-4147-A177-3AD203B41FA5}">
                      <a16:colId xmlns:a16="http://schemas.microsoft.com/office/drawing/2014/main" val="1419272974"/>
                    </a:ext>
                  </a:extLst>
                </a:gridCol>
              </a:tblGrid>
              <a:tr h="320282">
                <a:tc>
                  <a:txBody>
                    <a:bodyPr/>
                    <a:lstStyle/>
                    <a:p>
                      <a:r>
                        <a:rPr lang="es-CO" dirty="0"/>
                        <a:t>🔐</a:t>
                      </a:r>
                      <a:r>
                        <a:rPr lang="es-CO" b="1" dirty="0">
                          <a:latin typeface="Consolas" panose="020B0609020204030204" pitchFamily="49" charset="0"/>
                        </a:rPr>
                        <a:t>flag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740320"/>
                  </a:ext>
                </a:extLst>
              </a:tr>
              <a:tr h="1201059">
                <a:tc gridSpan="2">
                  <a:txBody>
                    <a:bodyPr/>
                    <a:lstStyle/>
                    <a:p>
                      <a:endParaRPr lang="es-CO" dirty="0"/>
                    </a:p>
                    <a:p>
                      <a:pPr algn="ctr"/>
                      <a:r>
                        <a:rPr lang="es-CO" sz="4800" dirty="0"/>
                        <a:t>🚽</a:t>
                      </a:r>
                      <a:endParaRPr lang="es-CO" dirty="0"/>
                    </a:p>
                    <a:p>
                      <a:endParaRPr lang="es-CO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658521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p68"/>
          <p:cNvSpPr txBox="1">
            <a:spLocks noGrp="1"/>
          </p:cNvSpPr>
          <p:nvPr>
            <p:ph type="title"/>
          </p:nvPr>
        </p:nvSpPr>
        <p:spPr>
          <a:xfrm>
            <a:off x="406400" y="96038"/>
            <a:ext cx="881425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latin typeface="+mj-lt"/>
              </a:rPr>
              <a:t>Implementación de locks</a:t>
            </a:r>
            <a:endParaRPr dirty="0">
              <a:latin typeface="+mj-lt"/>
            </a:endParaRPr>
          </a:p>
        </p:txBody>
      </p:sp>
      <p:sp>
        <p:nvSpPr>
          <p:cNvPr id="1319" name="Google Shape;1319;p68"/>
          <p:cNvSpPr txBox="1">
            <a:spLocks noGrp="1"/>
          </p:cNvSpPr>
          <p:nvPr>
            <p:ph type="body" idx="1"/>
          </p:nvPr>
        </p:nvSpPr>
        <p:spPr>
          <a:xfrm>
            <a:off x="406400" y="928425"/>
            <a:ext cx="11648475" cy="610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b="1" dirty="0">
                <a:solidFill>
                  <a:schemeClr val="accent5"/>
                </a:solidFill>
                <a:latin typeface="+mn-lt"/>
              </a:rPr>
              <a:t>Implementación con instrucciones LL&amp;SC (load linked – store conditional)</a:t>
            </a:r>
            <a:endParaRPr b="1" dirty="0">
              <a:solidFill>
                <a:schemeClr val="accent5"/>
              </a:solidFill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19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sp>
        <p:nvSpPr>
          <p:cNvPr id="1320" name="Google Shape;1320;p68"/>
          <p:cNvSpPr txBox="1"/>
          <p:nvPr/>
        </p:nvSpPr>
        <p:spPr>
          <a:xfrm>
            <a:off x="406401" y="1426392"/>
            <a:ext cx="5689600" cy="587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rgbClr val="E06666"/>
                </a:solidFill>
                <a:ea typeface="Roboto"/>
                <a:cs typeface="Roboto"/>
                <a:sym typeface="Roboto"/>
              </a:rPr>
              <a:t>¿Por qué funciona? - Análisis</a:t>
            </a:r>
            <a:endParaRPr sz="2200" b="1" dirty="0">
              <a:solidFill>
                <a:srgbClr val="E06666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1321" name="Google Shape;1321;p68"/>
          <p:cNvSpPr txBox="1"/>
          <p:nvPr/>
        </p:nvSpPr>
        <p:spPr>
          <a:xfrm>
            <a:off x="581600" y="2068862"/>
            <a:ext cx="5362000" cy="1918957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 </a:t>
            </a:r>
            <a:r>
              <a:rPr lang="es-ES" sz="14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lock_t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*lock) {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(1) {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s-ES" sz="1400" dirty="0">
                <a:solidFill>
                  <a:schemeClr val="dk1"/>
                </a:solidFill>
                <a:highlight>
                  <a:srgbClr val="FFF2CC"/>
                </a:highlight>
                <a:latin typeface="Consolas"/>
                <a:ea typeface="Consolas"/>
                <a:cs typeface="Consolas"/>
                <a:sym typeface="Consolas"/>
              </a:rPr>
              <a:t>LoadLinked(&amp;lock-&gt;flag)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== 1);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s-ES" sz="1400" dirty="0">
                <a:solidFill>
                  <a:schemeClr val="dk1"/>
                </a:solidFill>
                <a:highlight>
                  <a:srgbClr val="CFE2F3"/>
                </a:highlight>
                <a:latin typeface="Consolas"/>
                <a:ea typeface="Consolas"/>
                <a:cs typeface="Consolas"/>
                <a:sym typeface="Consolas"/>
              </a:rPr>
              <a:t>StoreConditional(&amp;lock-&gt;flag, 1)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== 1)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22" name="Google Shape;1322;p68"/>
          <p:cNvSpPr txBox="1"/>
          <p:nvPr/>
        </p:nvSpPr>
        <p:spPr>
          <a:xfrm>
            <a:off x="6627812" y="2068862"/>
            <a:ext cx="4644600" cy="927916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 </a:t>
            </a:r>
            <a:r>
              <a:rPr lang="es-ES" sz="14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unlock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lock_t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*lock) {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lock-&gt;flag = 0;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23" name="Google Shape;1323;p68"/>
          <p:cNvSpPr txBox="1"/>
          <p:nvPr/>
        </p:nvSpPr>
        <p:spPr>
          <a:xfrm>
            <a:off x="581600" y="4042979"/>
            <a:ext cx="5625300" cy="589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rgbClr val="E46C0A"/>
                </a:solidFill>
                <a:ea typeface="Roboto"/>
                <a:cs typeface="Roboto"/>
                <a:sym typeface="Roboto"/>
              </a:rPr>
              <a:t>Caso 2</a:t>
            </a:r>
            <a:r>
              <a:rPr lang="es-ES" sz="2000" dirty="0">
                <a:solidFill>
                  <a:srgbClr val="E46C0A"/>
                </a:solidFill>
                <a:ea typeface="Roboto"/>
                <a:cs typeface="Roboto"/>
                <a:sym typeface="Roboto"/>
              </a:rPr>
              <a:t>: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Secuencia</a:t>
            </a:r>
            <a:r>
              <a:rPr lang="es-ES" sz="2000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 </a:t>
            </a:r>
            <a:r>
              <a:rPr lang="es-ES" sz="2000" b="1" dirty="0">
                <a:solidFill>
                  <a:srgbClr val="FF0000"/>
                </a:solidFill>
                <a:ea typeface="Consolas"/>
                <a:cs typeface="Consolas"/>
                <a:sym typeface="Consolas"/>
              </a:rPr>
              <a:t>LL1</a:t>
            </a:r>
            <a:r>
              <a:rPr lang="es-ES" sz="2000" b="1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 - </a:t>
            </a:r>
            <a:r>
              <a:rPr lang="es-ES" sz="2000" b="1" dirty="0">
                <a:solidFill>
                  <a:srgbClr val="00B050"/>
                </a:solidFill>
                <a:ea typeface="Consolas"/>
                <a:cs typeface="Consolas"/>
                <a:sym typeface="Consolas"/>
              </a:rPr>
              <a:t>LL2</a:t>
            </a:r>
            <a:r>
              <a:rPr lang="es-ES" sz="2000" b="1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 - </a:t>
            </a:r>
            <a:r>
              <a:rPr lang="es-ES" sz="2000" b="1" dirty="0">
                <a:solidFill>
                  <a:srgbClr val="FF0000"/>
                </a:solidFill>
                <a:ea typeface="Consolas"/>
                <a:cs typeface="Consolas"/>
                <a:sym typeface="Consolas"/>
              </a:rPr>
              <a:t>SC2</a:t>
            </a:r>
            <a:r>
              <a:rPr lang="es-ES" sz="2000" b="1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 - </a:t>
            </a:r>
            <a:r>
              <a:rPr lang="es-ES" sz="2000" b="1" dirty="0">
                <a:solidFill>
                  <a:srgbClr val="00B050"/>
                </a:solidFill>
                <a:ea typeface="Consolas"/>
                <a:cs typeface="Consolas"/>
                <a:sym typeface="Consolas"/>
              </a:rPr>
              <a:t>SC2</a:t>
            </a:r>
            <a:endParaRPr sz="2000" b="1" dirty="0">
              <a:solidFill>
                <a:schemeClr val="dk1"/>
              </a:solidFill>
              <a:ea typeface="Consolas"/>
              <a:cs typeface="Consolas"/>
              <a:sym typeface="Consolas"/>
            </a:endParaRPr>
          </a:p>
        </p:txBody>
      </p:sp>
      <p:pic>
        <p:nvPicPr>
          <p:cNvPr id="1324" name="Google Shape;1324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7200" y="4752350"/>
            <a:ext cx="10221727" cy="19298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" name="Tabla 5">
            <a:extLst>
              <a:ext uri="{FF2B5EF4-FFF2-40B4-BE49-F238E27FC236}">
                <a16:creationId xmlns:a16="http://schemas.microsoft.com/office/drawing/2014/main" id="{9012EE7F-1EE1-4B75-9865-242B661CEE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1774498"/>
              </p:ext>
            </p:extLst>
          </p:nvPr>
        </p:nvGraphicFramePr>
        <p:xfrm>
          <a:off x="7395850" y="3223761"/>
          <a:ext cx="3968950" cy="1737360"/>
        </p:xfrm>
        <a:graphic>
          <a:graphicData uri="http://schemas.openxmlformats.org/drawingml/2006/table">
            <a:tbl>
              <a:tblPr firstRow="1" bandRow="1">
                <a:tableStyleId>{F66A2E93-5121-40D1-B61B-F19DAAD5E98B}</a:tableStyleId>
              </a:tblPr>
              <a:tblGrid>
                <a:gridCol w="1963170">
                  <a:extLst>
                    <a:ext uri="{9D8B030D-6E8A-4147-A177-3AD203B41FA5}">
                      <a16:colId xmlns:a16="http://schemas.microsoft.com/office/drawing/2014/main" val="1691757651"/>
                    </a:ext>
                  </a:extLst>
                </a:gridCol>
                <a:gridCol w="2005780">
                  <a:extLst>
                    <a:ext uri="{9D8B030D-6E8A-4147-A177-3AD203B41FA5}">
                      <a16:colId xmlns:a16="http://schemas.microsoft.com/office/drawing/2014/main" val="1419272974"/>
                    </a:ext>
                  </a:extLst>
                </a:gridCol>
              </a:tblGrid>
              <a:tr h="320282">
                <a:tc>
                  <a:txBody>
                    <a:bodyPr/>
                    <a:lstStyle/>
                    <a:p>
                      <a:r>
                        <a:rPr lang="es-CO" dirty="0"/>
                        <a:t>🔐</a:t>
                      </a:r>
                      <a:r>
                        <a:rPr lang="es-CO" b="1" dirty="0">
                          <a:latin typeface="Consolas" panose="020B0609020204030204" pitchFamily="49" charset="0"/>
                        </a:rPr>
                        <a:t>flag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s-CO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740320"/>
                  </a:ext>
                </a:extLst>
              </a:tr>
              <a:tr h="1201059">
                <a:tc gridSpan="2">
                  <a:txBody>
                    <a:bodyPr/>
                    <a:lstStyle/>
                    <a:p>
                      <a:endParaRPr lang="es-CO" dirty="0"/>
                    </a:p>
                    <a:p>
                      <a:pPr algn="ctr"/>
                      <a:r>
                        <a:rPr lang="es-CO" sz="4800" dirty="0"/>
                        <a:t>🚽</a:t>
                      </a:r>
                      <a:endParaRPr lang="es-CO" dirty="0"/>
                    </a:p>
                    <a:p>
                      <a:endParaRPr lang="es-CO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658521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9" name="Google Shape;1329;p69"/>
          <p:cNvSpPr txBox="1">
            <a:spLocks noGrp="1"/>
          </p:cNvSpPr>
          <p:nvPr>
            <p:ph type="title"/>
          </p:nvPr>
        </p:nvSpPr>
        <p:spPr>
          <a:xfrm>
            <a:off x="393701" y="96038"/>
            <a:ext cx="882695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latin typeface="+mj-lt"/>
              </a:rPr>
              <a:t>Implementación de locks</a:t>
            </a:r>
            <a:endParaRPr dirty="0">
              <a:latin typeface="+mj-lt"/>
            </a:endParaRPr>
          </a:p>
        </p:txBody>
      </p:sp>
      <p:sp>
        <p:nvSpPr>
          <p:cNvPr id="1330" name="Google Shape;1330;p69"/>
          <p:cNvSpPr txBox="1">
            <a:spLocks noGrp="1"/>
          </p:cNvSpPr>
          <p:nvPr>
            <p:ph type="body" idx="1"/>
          </p:nvPr>
        </p:nvSpPr>
        <p:spPr>
          <a:xfrm>
            <a:off x="393701" y="928425"/>
            <a:ext cx="11661174" cy="610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b="1" dirty="0">
                <a:solidFill>
                  <a:schemeClr val="accent5"/>
                </a:solidFill>
                <a:latin typeface="+mn-lt"/>
              </a:rPr>
              <a:t>Implementación usando la instrucción </a:t>
            </a:r>
            <a:r>
              <a:rPr lang="es-ES" b="1" dirty="0" err="1">
                <a:solidFill>
                  <a:schemeClr val="accent5"/>
                </a:solidFill>
                <a:latin typeface="+mn-lt"/>
              </a:rPr>
              <a:t>fetch</a:t>
            </a:r>
            <a:r>
              <a:rPr lang="es-ES" b="1" dirty="0">
                <a:solidFill>
                  <a:schemeClr val="accent5"/>
                </a:solidFill>
                <a:latin typeface="+mn-lt"/>
              </a:rPr>
              <a:t>-and-</a:t>
            </a:r>
            <a:r>
              <a:rPr lang="es-ES" b="1" dirty="0" err="1">
                <a:solidFill>
                  <a:schemeClr val="accent5"/>
                </a:solidFill>
                <a:latin typeface="+mn-lt"/>
              </a:rPr>
              <a:t>add</a:t>
            </a:r>
            <a:r>
              <a:rPr lang="es-ES" b="1" dirty="0">
                <a:solidFill>
                  <a:schemeClr val="accent5"/>
                </a:solidFill>
                <a:latin typeface="+mn-lt"/>
              </a:rPr>
              <a:t>: </a:t>
            </a:r>
            <a:endParaRPr b="1" dirty="0">
              <a:solidFill>
                <a:schemeClr val="accent5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 dirty="0">
              <a:solidFill>
                <a:schemeClr val="accent5"/>
              </a:solidFill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19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sp>
        <p:nvSpPr>
          <p:cNvPr id="1331" name="Google Shape;1331;p69"/>
          <p:cNvSpPr txBox="1"/>
          <p:nvPr/>
        </p:nvSpPr>
        <p:spPr>
          <a:xfrm>
            <a:off x="393701" y="1613700"/>
            <a:ext cx="11545524" cy="587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Incrementa posición de memoria, retornando (de manera simultánea) el valor antiguo: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1332" name="Google Shape;1332;p69"/>
          <p:cNvSpPr txBox="1"/>
          <p:nvPr/>
        </p:nvSpPr>
        <p:spPr>
          <a:xfrm>
            <a:off x="827750" y="2540310"/>
            <a:ext cx="6360450" cy="1777379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 </a:t>
            </a:r>
            <a:r>
              <a:rPr lang="es-ES" sz="1800" b="1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FetchAndAdd</a:t>
            </a: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(int *ptr) {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int </a:t>
            </a:r>
            <a:r>
              <a:rPr lang="es-ES" sz="18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old</a:t>
            </a: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*ptr;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*ptr = </a:t>
            </a:r>
            <a:r>
              <a:rPr lang="es-ES" sz="18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old</a:t>
            </a: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+ 1;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8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8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old</a:t>
            </a: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0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33" name="Google Shape;1333;p69"/>
          <p:cNvSpPr txBox="1"/>
          <p:nvPr/>
        </p:nvSpPr>
        <p:spPr>
          <a:xfrm>
            <a:off x="648929" y="4509300"/>
            <a:ext cx="10618839" cy="925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b="1" dirty="0" err="1">
                <a:solidFill>
                  <a:schemeClr val="dk1"/>
                </a:solidFill>
                <a:ea typeface="Roboto"/>
                <a:cs typeface="Roboto"/>
                <a:sym typeface="Roboto"/>
              </a:rPr>
              <a:t>Mellor-Crummey</a:t>
            </a:r>
            <a:r>
              <a:rPr lang="es-ES" sz="22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y</a:t>
            </a:r>
            <a:r>
              <a:rPr lang="es-ES" sz="22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Scott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usaron esta instrucción para construir un mecanismo de acceso a regiones críticas conocido como ticket lock. 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8" name="Google Shape;1338;p70"/>
          <p:cNvSpPr txBox="1">
            <a:spLocks noGrp="1"/>
          </p:cNvSpPr>
          <p:nvPr>
            <p:ph type="title"/>
          </p:nvPr>
        </p:nvSpPr>
        <p:spPr>
          <a:xfrm>
            <a:off x="473875" y="96038"/>
            <a:ext cx="8746775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Implementación de locks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339" name="Google Shape;1339;p70"/>
          <p:cNvSpPr txBox="1">
            <a:spLocks noGrp="1"/>
          </p:cNvSpPr>
          <p:nvPr>
            <p:ph type="body" idx="1"/>
          </p:nvPr>
        </p:nvSpPr>
        <p:spPr>
          <a:xfrm>
            <a:off x="473875" y="928425"/>
            <a:ext cx="11581000" cy="610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b="1" dirty="0">
                <a:solidFill>
                  <a:schemeClr val="accent5"/>
                </a:solidFill>
                <a:latin typeface="+mn-lt"/>
              </a:rPr>
              <a:t>Ticket-lock usando </a:t>
            </a:r>
            <a:r>
              <a:rPr lang="es-ES" sz="2600" b="1" dirty="0" err="1">
                <a:solidFill>
                  <a:srgbClr val="E06666"/>
                </a:solidFill>
                <a:latin typeface="Consolas" panose="020B0609020204030204" pitchFamily="49" charset="0"/>
              </a:rPr>
              <a:t>Fetch</a:t>
            </a:r>
            <a:r>
              <a:rPr lang="es-ES" sz="2600" b="1" dirty="0">
                <a:solidFill>
                  <a:srgbClr val="E06666"/>
                </a:solidFill>
                <a:latin typeface="Consolas" panose="020B0609020204030204" pitchFamily="49" charset="0"/>
              </a:rPr>
              <a:t>-and-</a:t>
            </a:r>
            <a:r>
              <a:rPr lang="es-ES" sz="2600" b="1" dirty="0" err="1">
                <a:solidFill>
                  <a:srgbClr val="E06666"/>
                </a:solidFill>
                <a:latin typeface="Consolas" panose="020B0609020204030204" pitchFamily="49" charset="0"/>
              </a:rPr>
              <a:t>Add</a:t>
            </a:r>
            <a:endParaRPr sz="2600" b="1" dirty="0">
              <a:solidFill>
                <a:srgbClr val="E06666"/>
              </a:solidFill>
              <a:latin typeface="Consolas" panose="020B0609020204030204" pitchFamily="49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 dirty="0">
              <a:solidFill>
                <a:schemeClr val="accent5"/>
              </a:solidFill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19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sp>
        <p:nvSpPr>
          <p:cNvPr id="1340" name="Google Shape;1340;p70"/>
          <p:cNvSpPr txBox="1"/>
          <p:nvPr/>
        </p:nvSpPr>
        <p:spPr>
          <a:xfrm>
            <a:off x="473875" y="1648849"/>
            <a:ext cx="5910250" cy="925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En vez de un solo valor (</a:t>
            </a:r>
            <a:r>
              <a:rPr lang="es-ES" sz="2200" b="1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flag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) esta instrucción usa un </a:t>
            </a:r>
            <a:r>
              <a:rPr lang="es-ES" sz="2200" b="1" dirty="0">
                <a:solidFill>
                  <a:srgbClr val="0B6937"/>
                </a:solidFill>
                <a:ea typeface="Consolas"/>
                <a:cs typeface="Consolas"/>
                <a:sym typeface="Consolas"/>
              </a:rPr>
              <a:t>ticket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y un </a:t>
            </a:r>
            <a:r>
              <a:rPr lang="es-ES" sz="2200" b="1" dirty="0" err="1">
                <a:solidFill>
                  <a:schemeClr val="accent2"/>
                </a:solidFill>
                <a:ea typeface="Consolas"/>
                <a:cs typeface="Consolas"/>
                <a:sym typeface="Consolas"/>
              </a:rPr>
              <a:t>turn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para construir el lock.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1341" name="Google Shape;1341;p70"/>
          <p:cNvSpPr txBox="1"/>
          <p:nvPr/>
        </p:nvSpPr>
        <p:spPr>
          <a:xfrm>
            <a:off x="6384125" y="1347031"/>
            <a:ext cx="5334000" cy="5139838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typedef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struct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__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lock_t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int ticket;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int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turn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lock_t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lock_init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lock_t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*lock) {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lock-&gt;ticket = 0;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lock-&gt;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turn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0;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 lock(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lock_t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*lock) {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int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myturn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FetchAndAdd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(&amp;lock-&gt;ticket);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(lock-&gt;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turn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!=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myturn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; // spin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 unlock(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lock_t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*lock) {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lock-&gt;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turn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lock-&gt;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turn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+ 1;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1342" name="Google Shape;1342;p70"/>
          <p:cNvGraphicFramePr/>
          <p:nvPr>
            <p:extLst>
              <p:ext uri="{D42A27DB-BD31-4B8C-83A1-F6EECF244321}">
                <p14:modId xmlns:p14="http://schemas.microsoft.com/office/powerpoint/2010/main" val="3807191097"/>
              </p:ext>
            </p:extLst>
          </p:nvPr>
        </p:nvGraphicFramePr>
        <p:xfrm>
          <a:off x="1480550" y="3261124"/>
          <a:ext cx="1106800" cy="102216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10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Lock</a:t>
                      </a:r>
                      <a:endParaRPr sz="20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flag</a:t>
                      </a:r>
                      <a:endParaRPr sz="20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343" name="Google Shape;1343;p70"/>
          <p:cNvGraphicFramePr/>
          <p:nvPr>
            <p:extLst>
              <p:ext uri="{D42A27DB-BD31-4B8C-83A1-F6EECF244321}">
                <p14:modId xmlns:p14="http://schemas.microsoft.com/office/powerpoint/2010/main" val="3623124989"/>
              </p:ext>
            </p:extLst>
          </p:nvPr>
        </p:nvGraphicFramePr>
        <p:xfrm>
          <a:off x="4023800" y="3156049"/>
          <a:ext cx="1106800" cy="14079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10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296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Lock</a:t>
                      </a:r>
                      <a:endParaRPr sz="20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83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ticket</a:t>
                      </a:r>
                      <a:endParaRPr sz="2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turn</a:t>
                      </a:r>
                      <a:endParaRPr sz="2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44" name="Google Shape;1344;p70"/>
          <p:cNvSpPr/>
          <p:nvPr/>
        </p:nvSpPr>
        <p:spPr>
          <a:xfrm>
            <a:off x="2932225" y="3684687"/>
            <a:ext cx="746700" cy="36570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3A81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" name="Google Shape;1349;p71"/>
          <p:cNvSpPr txBox="1">
            <a:spLocks noGrp="1"/>
          </p:cNvSpPr>
          <p:nvPr>
            <p:ph type="title"/>
          </p:nvPr>
        </p:nvSpPr>
        <p:spPr>
          <a:xfrm>
            <a:off x="431800" y="96038"/>
            <a:ext cx="878885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Implementación de locks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350" name="Google Shape;1350;p71"/>
          <p:cNvSpPr txBox="1">
            <a:spLocks noGrp="1"/>
          </p:cNvSpPr>
          <p:nvPr>
            <p:ph type="body" idx="1"/>
          </p:nvPr>
        </p:nvSpPr>
        <p:spPr>
          <a:xfrm>
            <a:off x="431800" y="837000"/>
            <a:ext cx="5662925" cy="610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b="1" dirty="0">
                <a:solidFill>
                  <a:schemeClr val="accent5"/>
                </a:solidFill>
                <a:latin typeface="+mn-lt"/>
              </a:rPr>
              <a:t>Ticket-lock - </a:t>
            </a:r>
            <a:r>
              <a:rPr lang="es-ES" b="1" dirty="0">
                <a:solidFill>
                  <a:srgbClr val="E06666"/>
                </a:solidFill>
                <a:latin typeface="+mn-lt"/>
              </a:rPr>
              <a:t>Análisis</a:t>
            </a:r>
            <a:endParaRPr b="1" dirty="0">
              <a:solidFill>
                <a:srgbClr val="E06666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 dirty="0">
              <a:solidFill>
                <a:schemeClr val="accent5"/>
              </a:solidFill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19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sp>
        <p:nvSpPr>
          <p:cNvPr id="1351" name="Google Shape;1351;p71"/>
          <p:cNvSpPr txBox="1"/>
          <p:nvPr/>
        </p:nvSpPr>
        <p:spPr>
          <a:xfrm>
            <a:off x="949875" y="1458532"/>
            <a:ext cx="4568100" cy="5139838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typedef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struct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__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lock_t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int ticket;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int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turn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lock_t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lock_init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lock_t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*lock) {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lock-&gt;ticket = 0;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lock-&gt;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turn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0;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 lock(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lock_t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*lock) {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int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myturn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FetchAndAdd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(&amp;lock-&gt;ticket);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(lock-&gt;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turn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!=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myturn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; // spin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 unlock(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lock_t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*lock) {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lock-&gt;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turn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lock-&gt;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turn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+ 1;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1352" name="Google Shape;1352;p71"/>
          <p:cNvGraphicFramePr/>
          <p:nvPr/>
        </p:nvGraphicFramePr>
        <p:xfrm>
          <a:off x="5988075" y="1350600"/>
          <a:ext cx="3232575" cy="520759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96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7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7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8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0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ticket</a:t>
                      </a:r>
                      <a:endParaRPr sz="10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turn</a:t>
                      </a:r>
                      <a:endParaRPr sz="10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 – Run</a:t>
                      </a:r>
                      <a:endParaRPr sz="10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 – Spin</a:t>
                      </a:r>
                      <a:endParaRPr sz="10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State (R/S)</a:t>
                      </a:r>
                      <a:endParaRPr sz="10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75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lock_init</a:t>
                      </a:r>
                      <a:endParaRPr sz="10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375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 lock()</a:t>
                      </a:r>
                      <a:endParaRPr sz="10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375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 lock()</a:t>
                      </a:r>
                      <a:endParaRPr sz="10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375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 lock()</a:t>
                      </a:r>
                      <a:endParaRPr sz="10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375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 unlock()</a:t>
                      </a:r>
                      <a:endParaRPr sz="10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375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375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 lock()</a:t>
                      </a:r>
                      <a:endParaRPr sz="10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375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 unlock()</a:t>
                      </a:r>
                      <a:endParaRPr sz="10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375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375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 unlock()</a:t>
                      </a:r>
                      <a:endParaRPr sz="10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375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375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 unlock()</a:t>
                      </a:r>
                      <a:endParaRPr sz="10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375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 lock()</a:t>
                      </a:r>
                      <a:endParaRPr sz="10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aphicFrame>
        <p:nvGraphicFramePr>
          <p:cNvPr id="1353" name="Google Shape;1353;p71"/>
          <p:cNvGraphicFramePr/>
          <p:nvPr/>
        </p:nvGraphicFramePr>
        <p:xfrm>
          <a:off x="9936475" y="1871050"/>
          <a:ext cx="966900" cy="478252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966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87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7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7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7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7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7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87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87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87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87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1354" name="Google Shape;1354;p71"/>
          <p:cNvGrpSpPr/>
          <p:nvPr/>
        </p:nvGrpSpPr>
        <p:grpSpPr>
          <a:xfrm>
            <a:off x="10914225" y="1765700"/>
            <a:ext cx="808075" cy="338700"/>
            <a:chOff x="10914225" y="1765700"/>
            <a:chExt cx="808075" cy="338700"/>
          </a:xfrm>
        </p:grpSpPr>
        <p:cxnSp>
          <p:nvCxnSpPr>
            <p:cNvPr id="1355" name="Google Shape;1355;p71"/>
            <p:cNvCxnSpPr/>
            <p:nvPr/>
          </p:nvCxnSpPr>
          <p:spPr>
            <a:xfrm flipH="1">
              <a:off x="10914225" y="1953500"/>
              <a:ext cx="327900" cy="1200"/>
            </a:xfrm>
            <a:prstGeom prst="straightConnector1">
              <a:avLst/>
            </a:prstGeom>
            <a:noFill/>
            <a:ln w="19050" cap="flat" cmpd="sng">
              <a:solidFill>
                <a:srgbClr val="0B6937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356" name="Google Shape;1356;p71"/>
            <p:cNvSpPr txBox="1"/>
            <p:nvPr/>
          </p:nvSpPr>
          <p:spPr>
            <a:xfrm>
              <a:off x="11184400" y="1765700"/>
              <a:ext cx="537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b="1">
                  <a:solidFill>
                    <a:srgbClr val="0B6937"/>
                  </a:solidFill>
                  <a:latin typeface="Consolas"/>
                  <a:ea typeface="Consolas"/>
                  <a:cs typeface="Consolas"/>
                  <a:sym typeface="Consolas"/>
                </a:rPr>
                <a:t>turn</a:t>
              </a:r>
              <a:endParaRPr>
                <a:solidFill>
                  <a:srgbClr val="0B6937"/>
                </a:solidFill>
              </a:endParaRPr>
            </a:p>
          </p:txBody>
        </p:sp>
      </p:grpSp>
      <p:grpSp>
        <p:nvGrpSpPr>
          <p:cNvPr id="1357" name="Google Shape;1357;p71"/>
          <p:cNvGrpSpPr/>
          <p:nvPr/>
        </p:nvGrpSpPr>
        <p:grpSpPr>
          <a:xfrm>
            <a:off x="10914225" y="1997125"/>
            <a:ext cx="929950" cy="338700"/>
            <a:chOff x="10914225" y="2192450"/>
            <a:chExt cx="929950" cy="338700"/>
          </a:xfrm>
        </p:grpSpPr>
        <p:cxnSp>
          <p:nvCxnSpPr>
            <p:cNvPr id="1358" name="Google Shape;1358;p71"/>
            <p:cNvCxnSpPr/>
            <p:nvPr/>
          </p:nvCxnSpPr>
          <p:spPr>
            <a:xfrm flipH="1">
              <a:off x="10914225" y="2368825"/>
              <a:ext cx="327900" cy="120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359" name="Google Shape;1359;p71"/>
            <p:cNvSpPr txBox="1"/>
            <p:nvPr/>
          </p:nvSpPr>
          <p:spPr>
            <a:xfrm>
              <a:off x="11192575" y="2192450"/>
              <a:ext cx="6516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b="1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ticket</a:t>
              </a:r>
              <a:endParaRPr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4" name="Google Shape;1364;p72"/>
          <p:cNvSpPr txBox="1">
            <a:spLocks noGrp="1"/>
          </p:cNvSpPr>
          <p:nvPr>
            <p:ph type="title"/>
          </p:nvPr>
        </p:nvSpPr>
        <p:spPr>
          <a:xfrm>
            <a:off x="673100" y="96038"/>
            <a:ext cx="854755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latin typeface="+mj-lt"/>
              </a:rPr>
              <a:t>Implementación de locks</a:t>
            </a:r>
            <a:endParaRPr dirty="0">
              <a:latin typeface="+mj-lt"/>
            </a:endParaRPr>
          </a:p>
        </p:txBody>
      </p:sp>
      <p:sp>
        <p:nvSpPr>
          <p:cNvPr id="1365" name="Google Shape;1365;p72"/>
          <p:cNvSpPr txBox="1">
            <a:spLocks noGrp="1"/>
          </p:cNvSpPr>
          <p:nvPr>
            <p:ph type="body" idx="1"/>
          </p:nvPr>
        </p:nvSpPr>
        <p:spPr>
          <a:xfrm>
            <a:off x="673100" y="837000"/>
            <a:ext cx="5421625" cy="610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b="1" dirty="0">
                <a:solidFill>
                  <a:schemeClr val="accent5"/>
                </a:solidFill>
                <a:latin typeface="+mn-lt"/>
              </a:rPr>
              <a:t>Ticket-lock - </a:t>
            </a:r>
            <a:r>
              <a:rPr lang="es-ES" b="1" dirty="0">
                <a:solidFill>
                  <a:srgbClr val="E06666"/>
                </a:solidFill>
                <a:latin typeface="+mn-lt"/>
              </a:rPr>
              <a:t>Análisis</a:t>
            </a:r>
            <a:endParaRPr b="1" dirty="0">
              <a:solidFill>
                <a:srgbClr val="E06666"/>
              </a:solidFill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 dirty="0">
              <a:solidFill>
                <a:schemeClr val="accent5"/>
              </a:solidFill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19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sp>
        <p:nvSpPr>
          <p:cNvPr id="1366" name="Google Shape;1366;p72"/>
          <p:cNvSpPr txBox="1"/>
          <p:nvPr/>
        </p:nvSpPr>
        <p:spPr>
          <a:xfrm>
            <a:off x="1093250" y="1492332"/>
            <a:ext cx="4568100" cy="5139838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typedef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struct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__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lock_t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int ticket;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int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turn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lock_t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lock_init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lock_t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*lock) {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lock-&gt;ticket = 0;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lock-&gt;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turn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0;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 lock(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lock_t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*lock) {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int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myturn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FetchAndAdd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(&amp;lock-&gt;ticket);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(lock-&gt;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turn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!=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myturn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; // spin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 unlock(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lock_t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*lock) {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lock-&gt;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turn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lock-&gt;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turn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+ 1;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1367" name="Google Shape;1367;p72"/>
          <p:cNvGraphicFramePr/>
          <p:nvPr/>
        </p:nvGraphicFramePr>
        <p:xfrm>
          <a:off x="5988075" y="1350600"/>
          <a:ext cx="3232575" cy="520759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96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7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7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8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0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ticket</a:t>
                      </a:r>
                      <a:endParaRPr sz="10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turn</a:t>
                      </a:r>
                      <a:endParaRPr sz="10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 – Run</a:t>
                      </a:r>
                      <a:endParaRPr sz="10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 – Spin</a:t>
                      </a:r>
                      <a:endParaRPr sz="10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State (R/S)</a:t>
                      </a:r>
                      <a:endParaRPr sz="10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75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 err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lock_init</a:t>
                      </a:r>
                      <a:endParaRPr sz="10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375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 lock()</a:t>
                      </a:r>
                      <a:endParaRPr sz="10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375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 lock()</a:t>
                      </a:r>
                      <a:endParaRPr sz="10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S(1)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375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 lock()</a:t>
                      </a:r>
                      <a:endParaRPr sz="10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S(2)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375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 unlock()</a:t>
                      </a:r>
                      <a:endParaRPr sz="10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375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375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 lock()</a:t>
                      </a:r>
                      <a:endParaRPr sz="10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S(3)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375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 unlock()</a:t>
                      </a:r>
                      <a:endParaRPr sz="10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375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375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 unlock()</a:t>
                      </a:r>
                      <a:endParaRPr sz="10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375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375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 unlock()</a:t>
                      </a:r>
                      <a:endParaRPr sz="10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375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 lock()</a:t>
                      </a:r>
                      <a:endParaRPr sz="10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aphicFrame>
        <p:nvGraphicFramePr>
          <p:cNvPr id="1368" name="Google Shape;1368;p72"/>
          <p:cNvGraphicFramePr/>
          <p:nvPr/>
        </p:nvGraphicFramePr>
        <p:xfrm>
          <a:off x="9890775" y="1849650"/>
          <a:ext cx="966900" cy="478252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966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72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2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72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72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72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72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72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72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72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72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pSp>
        <p:nvGrpSpPr>
          <p:cNvPr id="1369" name="Google Shape;1369;p72"/>
          <p:cNvGrpSpPr/>
          <p:nvPr/>
        </p:nvGrpSpPr>
        <p:grpSpPr>
          <a:xfrm>
            <a:off x="10914225" y="1765700"/>
            <a:ext cx="808075" cy="338700"/>
            <a:chOff x="10914225" y="1765700"/>
            <a:chExt cx="808075" cy="338700"/>
          </a:xfrm>
        </p:grpSpPr>
        <p:cxnSp>
          <p:nvCxnSpPr>
            <p:cNvPr id="1370" name="Google Shape;1370;p72"/>
            <p:cNvCxnSpPr/>
            <p:nvPr/>
          </p:nvCxnSpPr>
          <p:spPr>
            <a:xfrm flipH="1">
              <a:off x="10914225" y="1953500"/>
              <a:ext cx="327900" cy="1200"/>
            </a:xfrm>
            <a:prstGeom prst="straightConnector1">
              <a:avLst/>
            </a:prstGeom>
            <a:noFill/>
            <a:ln w="19050" cap="flat" cmpd="sng">
              <a:solidFill>
                <a:srgbClr val="0B6937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371" name="Google Shape;1371;p72"/>
            <p:cNvSpPr txBox="1"/>
            <p:nvPr/>
          </p:nvSpPr>
          <p:spPr>
            <a:xfrm>
              <a:off x="11184400" y="1765700"/>
              <a:ext cx="537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b="1">
                  <a:solidFill>
                    <a:srgbClr val="0B6937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turn</a:t>
              </a:r>
              <a:endParaRPr>
                <a:solidFill>
                  <a:srgbClr val="0B6937"/>
                </a:solidFill>
                <a:highlight>
                  <a:srgbClr val="FFFF00"/>
                </a:highlight>
              </a:endParaRPr>
            </a:p>
          </p:txBody>
        </p:sp>
      </p:grpSp>
      <p:grpSp>
        <p:nvGrpSpPr>
          <p:cNvPr id="1372" name="Google Shape;1372;p72"/>
          <p:cNvGrpSpPr/>
          <p:nvPr/>
        </p:nvGrpSpPr>
        <p:grpSpPr>
          <a:xfrm>
            <a:off x="10914225" y="1997125"/>
            <a:ext cx="929950" cy="338700"/>
            <a:chOff x="10914225" y="2192450"/>
            <a:chExt cx="929950" cy="338700"/>
          </a:xfrm>
        </p:grpSpPr>
        <p:cxnSp>
          <p:nvCxnSpPr>
            <p:cNvPr id="1373" name="Google Shape;1373;p72"/>
            <p:cNvCxnSpPr/>
            <p:nvPr/>
          </p:nvCxnSpPr>
          <p:spPr>
            <a:xfrm flipH="1">
              <a:off x="10914225" y="2368825"/>
              <a:ext cx="327900" cy="120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374" name="Google Shape;1374;p72"/>
            <p:cNvSpPr txBox="1"/>
            <p:nvPr/>
          </p:nvSpPr>
          <p:spPr>
            <a:xfrm>
              <a:off x="11192575" y="2192450"/>
              <a:ext cx="6516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b="1">
                  <a:solidFill>
                    <a:srgbClr val="FF0000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ticket</a:t>
              </a:r>
              <a:endParaRPr>
                <a:solidFill>
                  <a:srgbClr val="FF0000"/>
                </a:solidFill>
                <a:highlight>
                  <a:srgbClr val="FFFF00"/>
                </a:highlight>
              </a:endParaRPr>
            </a:p>
          </p:txBody>
        </p:sp>
      </p:grpSp>
      <p:grpSp>
        <p:nvGrpSpPr>
          <p:cNvPr id="1375" name="Google Shape;1375;p72"/>
          <p:cNvGrpSpPr/>
          <p:nvPr/>
        </p:nvGrpSpPr>
        <p:grpSpPr>
          <a:xfrm>
            <a:off x="10884350" y="3588225"/>
            <a:ext cx="808075" cy="338700"/>
            <a:chOff x="10914225" y="1765700"/>
            <a:chExt cx="808075" cy="338700"/>
          </a:xfrm>
        </p:grpSpPr>
        <p:cxnSp>
          <p:nvCxnSpPr>
            <p:cNvPr id="1376" name="Google Shape;1376;p72"/>
            <p:cNvCxnSpPr/>
            <p:nvPr/>
          </p:nvCxnSpPr>
          <p:spPr>
            <a:xfrm flipH="1">
              <a:off x="10914225" y="1953500"/>
              <a:ext cx="327900" cy="1200"/>
            </a:xfrm>
            <a:prstGeom prst="straightConnector1">
              <a:avLst/>
            </a:prstGeom>
            <a:noFill/>
            <a:ln w="19050" cap="flat" cmpd="sng">
              <a:solidFill>
                <a:srgbClr val="0B6937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377" name="Google Shape;1377;p72"/>
            <p:cNvSpPr txBox="1"/>
            <p:nvPr/>
          </p:nvSpPr>
          <p:spPr>
            <a:xfrm>
              <a:off x="11184400" y="1765700"/>
              <a:ext cx="537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b="1">
                  <a:solidFill>
                    <a:srgbClr val="0B6937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turn</a:t>
              </a:r>
              <a:endParaRPr>
                <a:solidFill>
                  <a:srgbClr val="0B6937"/>
                </a:solidFill>
                <a:highlight>
                  <a:srgbClr val="FFFF00"/>
                </a:highlight>
              </a:endParaRPr>
            </a:p>
          </p:txBody>
        </p:sp>
      </p:grpSp>
      <p:grpSp>
        <p:nvGrpSpPr>
          <p:cNvPr id="1378" name="Google Shape;1378;p72"/>
          <p:cNvGrpSpPr/>
          <p:nvPr/>
        </p:nvGrpSpPr>
        <p:grpSpPr>
          <a:xfrm>
            <a:off x="10884350" y="4048250"/>
            <a:ext cx="929950" cy="338700"/>
            <a:chOff x="10914225" y="2421050"/>
            <a:chExt cx="929950" cy="338700"/>
          </a:xfrm>
        </p:grpSpPr>
        <p:cxnSp>
          <p:nvCxnSpPr>
            <p:cNvPr id="1379" name="Google Shape;1379;p72"/>
            <p:cNvCxnSpPr/>
            <p:nvPr/>
          </p:nvCxnSpPr>
          <p:spPr>
            <a:xfrm flipH="1">
              <a:off x="10914225" y="2597425"/>
              <a:ext cx="327900" cy="120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380" name="Google Shape;1380;p72"/>
            <p:cNvSpPr txBox="1"/>
            <p:nvPr/>
          </p:nvSpPr>
          <p:spPr>
            <a:xfrm>
              <a:off x="11192575" y="2421050"/>
              <a:ext cx="6516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b="1">
                  <a:solidFill>
                    <a:srgbClr val="FF0000"/>
                  </a:solidFill>
                  <a:highlight>
                    <a:srgbClr val="FFFF00"/>
                  </a:highlight>
                  <a:latin typeface="Consolas"/>
                  <a:ea typeface="Consolas"/>
                  <a:cs typeface="Consolas"/>
                  <a:sym typeface="Consolas"/>
                </a:rPr>
                <a:t>ticket</a:t>
              </a:r>
              <a:endParaRPr>
                <a:solidFill>
                  <a:srgbClr val="FF0000"/>
                </a:solidFill>
                <a:highlight>
                  <a:srgbClr val="FFFF00"/>
                </a:highlight>
              </a:endParaRPr>
            </a:p>
          </p:txBody>
        </p:sp>
      </p:grp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" name="Google Shape;1385;p73"/>
          <p:cNvSpPr txBox="1">
            <a:spLocks noGrp="1"/>
          </p:cNvSpPr>
          <p:nvPr>
            <p:ph type="title"/>
          </p:nvPr>
        </p:nvSpPr>
        <p:spPr>
          <a:xfrm>
            <a:off x="263075" y="222800"/>
            <a:ext cx="8868675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Implementación de locks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386" name="Google Shape;1386;p73"/>
          <p:cNvSpPr txBox="1">
            <a:spLocks noGrp="1"/>
          </p:cNvSpPr>
          <p:nvPr>
            <p:ph type="body" idx="1"/>
          </p:nvPr>
        </p:nvSpPr>
        <p:spPr>
          <a:xfrm>
            <a:off x="351975" y="1014656"/>
            <a:ext cx="5101500" cy="610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5"/>
                </a:solidFill>
                <a:latin typeface="+mn-lt"/>
              </a:rPr>
              <a:t>Resumen </a:t>
            </a:r>
            <a:endParaRPr sz="2800" b="1" dirty="0">
              <a:solidFill>
                <a:schemeClr val="accent5"/>
              </a:solidFill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19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sp>
        <p:nvSpPr>
          <p:cNvPr id="1387" name="Google Shape;1387;p73"/>
          <p:cNvSpPr txBox="1"/>
          <p:nvPr/>
        </p:nvSpPr>
        <p:spPr>
          <a:xfrm>
            <a:off x="351975" y="1625456"/>
            <a:ext cx="11488050" cy="3754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es-ES" sz="2400" dirty="0">
                <a:ea typeface="Roboto"/>
                <a:cs typeface="Roboto"/>
                <a:sym typeface="Roboto"/>
              </a:rPr>
              <a:t>Aspectos claves de los spinlocks:</a:t>
            </a:r>
            <a:endParaRPr sz="2400" dirty="0">
              <a:ea typeface="Roboto"/>
              <a:cs typeface="Roboto"/>
              <a:sym typeface="Roboto"/>
            </a:endParaRPr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○"/>
            </a:pPr>
            <a:r>
              <a:rPr lang="es-ES" sz="2400" dirty="0">
                <a:ea typeface="Roboto"/>
                <a:cs typeface="Roboto"/>
                <a:sym typeface="Roboto"/>
              </a:rPr>
              <a:t>Simples de implementar</a:t>
            </a:r>
            <a:endParaRPr sz="2400" dirty="0">
              <a:ea typeface="Roboto"/>
              <a:cs typeface="Roboto"/>
              <a:sym typeface="Roboto"/>
            </a:endParaRPr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○"/>
            </a:pPr>
            <a:r>
              <a:rPr lang="es-ES" sz="2400" dirty="0">
                <a:ea typeface="Roboto"/>
                <a:cs typeface="Roboto"/>
                <a:sym typeface="Roboto"/>
              </a:rPr>
              <a:t>El hilo que está en espera activa </a:t>
            </a:r>
            <a:r>
              <a:rPr lang="es-ES" sz="2400" b="1" dirty="0">
                <a:ea typeface="Roboto"/>
                <a:cs typeface="Roboto"/>
                <a:sym typeface="Roboto"/>
              </a:rPr>
              <a:t>desperdicia todo el quantum de tiempo</a:t>
            </a:r>
            <a:r>
              <a:rPr lang="es-ES" sz="2400" dirty="0">
                <a:ea typeface="Roboto"/>
                <a:cs typeface="Roboto"/>
                <a:sym typeface="Roboto"/>
              </a:rPr>
              <a:t> haciendo </a:t>
            </a:r>
            <a:r>
              <a:rPr lang="es-ES" sz="2400" b="1" dirty="0">
                <a:ea typeface="Roboto"/>
                <a:cs typeface="Roboto"/>
                <a:sym typeface="Roboto"/>
              </a:rPr>
              <a:t>nada</a:t>
            </a:r>
            <a:r>
              <a:rPr lang="es-ES" sz="2400" dirty="0">
                <a:ea typeface="Roboto"/>
                <a:cs typeface="Roboto"/>
                <a:sym typeface="Roboto"/>
              </a:rPr>
              <a:t> (solo chequea la variable).</a:t>
            </a:r>
            <a:endParaRPr sz="2400" dirty="0">
              <a:ea typeface="Roboto"/>
              <a:cs typeface="Roboto"/>
              <a:sym typeface="Roboto"/>
            </a:endParaRPr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○"/>
            </a:pPr>
            <a:r>
              <a:rPr lang="es-ES" sz="2400" dirty="0">
                <a:ea typeface="Roboto"/>
                <a:cs typeface="Roboto"/>
                <a:sym typeface="Roboto"/>
              </a:rPr>
              <a:t>Gran gasto de CPU, esto los hace costosos.</a:t>
            </a:r>
            <a:endParaRPr sz="2400" dirty="0">
              <a:ea typeface="Roboto"/>
              <a:cs typeface="Roboto"/>
              <a:sym typeface="Roboto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es-ES" sz="2400" dirty="0">
                <a:ea typeface="Roboto"/>
                <a:cs typeface="Roboto"/>
                <a:sym typeface="Roboto"/>
              </a:rPr>
              <a:t>Los </a:t>
            </a:r>
            <a:r>
              <a:rPr lang="es-ES" sz="2400" b="1" dirty="0">
                <a:ea typeface="Roboto"/>
                <a:cs typeface="Roboto"/>
                <a:sym typeface="Roboto"/>
              </a:rPr>
              <a:t>spinlocks</a:t>
            </a:r>
            <a:r>
              <a:rPr lang="es-ES" sz="2400" dirty="0">
                <a:ea typeface="Roboto"/>
                <a:cs typeface="Roboto"/>
                <a:sym typeface="Roboto"/>
              </a:rPr>
              <a:t> (y deshabilitar interrupciones en sistemas con un única CPU) son mecanismos de sincronización primitivos.</a:t>
            </a:r>
            <a:endParaRPr sz="2400" dirty="0">
              <a:ea typeface="Roboto"/>
              <a:cs typeface="Roboto"/>
              <a:sym typeface="Roboto"/>
            </a:endParaRPr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○"/>
            </a:pPr>
            <a:r>
              <a:rPr lang="es-ES" sz="2400" dirty="0">
                <a:ea typeface="Roboto"/>
                <a:cs typeface="Roboto"/>
                <a:sym typeface="Roboto"/>
              </a:rPr>
              <a:t>Son empleados para crear construcciones de sincronización de alto nivel</a:t>
            </a:r>
            <a:endParaRPr sz="2400" dirty="0">
              <a:ea typeface="Roboto"/>
              <a:cs typeface="Roboto"/>
              <a:sym typeface="Roboto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es-ES" sz="2400" dirty="0">
                <a:ea typeface="Roboto"/>
                <a:cs typeface="Roboto"/>
                <a:sym typeface="Roboto"/>
              </a:rPr>
              <a:t>Para evitar el gran gasto de CPU se requiere </a:t>
            </a:r>
            <a:r>
              <a:rPr lang="es-ES" sz="2400" b="1" dirty="0">
                <a:solidFill>
                  <a:schemeClr val="accent6"/>
                </a:solidFill>
                <a:ea typeface="Roboto"/>
                <a:cs typeface="Roboto"/>
                <a:sym typeface="Roboto"/>
              </a:rPr>
              <a:t>asistencia del sistema operativo</a:t>
            </a:r>
            <a:r>
              <a:rPr lang="es-ES" sz="2400" dirty="0">
                <a:ea typeface="Roboto"/>
                <a:cs typeface="Roboto"/>
                <a:sym typeface="Roboto"/>
              </a:rPr>
              <a:t>.</a:t>
            </a:r>
            <a:endParaRPr sz="2400" dirty="0"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8" name="Google Shape;1398;p75"/>
          <p:cNvSpPr txBox="1">
            <a:spLocks noGrp="1"/>
          </p:cNvSpPr>
          <p:nvPr>
            <p:ph type="title"/>
          </p:nvPr>
        </p:nvSpPr>
        <p:spPr>
          <a:xfrm>
            <a:off x="221226" y="96038"/>
            <a:ext cx="8941099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¿Cómo evitar gasto en la CPU?</a:t>
            </a:r>
            <a:endParaRPr dirty="0"/>
          </a:p>
        </p:txBody>
      </p:sp>
      <p:sp>
        <p:nvSpPr>
          <p:cNvPr id="1399" name="Google Shape;1399;p75"/>
          <p:cNvSpPr txBox="1">
            <a:spLocks noGrp="1"/>
          </p:cNvSpPr>
          <p:nvPr>
            <p:ph idx="1"/>
          </p:nvPr>
        </p:nvSpPr>
        <p:spPr>
          <a:xfrm>
            <a:off x="221226" y="905300"/>
            <a:ext cx="6848774" cy="2988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5"/>
                </a:solidFill>
              </a:rPr>
              <a:t>¿Cuál es el problema con los spinlocks?</a:t>
            </a:r>
            <a:endParaRPr sz="2400" b="1" dirty="0">
              <a:solidFill>
                <a:schemeClr val="accent5"/>
              </a:solidFill>
            </a:endParaRPr>
          </a:p>
          <a:p>
            <a:pPr marL="457200" lvl="0" indent="-3619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100"/>
              <a:buChar char="●"/>
            </a:pPr>
            <a:r>
              <a:rPr lang="es-ES" sz="2100" dirty="0"/>
              <a:t>Mientras un hilo espera el lock gasta tiempo de uso del procesador chequeando un valor que no sabe cuándo cambiará (</a:t>
            </a:r>
            <a:r>
              <a:rPr lang="es-ES" sz="2100" b="1" dirty="0"/>
              <a:t>gasto de CPU</a:t>
            </a:r>
            <a:r>
              <a:rPr lang="es-ES" sz="2100" dirty="0"/>
              <a:t>).</a:t>
            </a:r>
            <a:endParaRPr sz="2100" dirty="0"/>
          </a:p>
          <a:p>
            <a:pPr marL="45720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s-ES" sz="2100" dirty="0"/>
              <a:t>Entre más hilos (</a:t>
            </a:r>
            <a:r>
              <a:rPr lang="es-ES" sz="2100" b="1" dirty="0"/>
              <a:t>N hilos</a:t>
            </a:r>
            <a:r>
              <a:rPr lang="es-ES" sz="2100" dirty="0"/>
              <a:t>) más ciclos de CPU son gastados (</a:t>
            </a:r>
            <a:r>
              <a:rPr lang="es-ES" sz="2100" b="1" dirty="0"/>
              <a:t>N – 1</a:t>
            </a:r>
            <a:r>
              <a:rPr lang="es-ES" sz="2100" dirty="0"/>
              <a:t>), de modo que el problema empeora.</a:t>
            </a:r>
            <a:endParaRPr sz="21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</p:txBody>
      </p:sp>
      <p:pic>
        <p:nvPicPr>
          <p:cNvPr id="1400" name="Google Shape;1400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9375" y="3523250"/>
            <a:ext cx="8778250" cy="1704075"/>
          </a:xfrm>
          <a:prstGeom prst="rect">
            <a:avLst/>
          </a:prstGeom>
          <a:noFill/>
          <a:ln>
            <a:noFill/>
          </a:ln>
        </p:spPr>
      </p:pic>
      <p:sp>
        <p:nvSpPr>
          <p:cNvPr id="1401" name="Google Shape;1401;p75"/>
          <p:cNvSpPr txBox="1"/>
          <p:nvPr/>
        </p:nvSpPr>
        <p:spPr>
          <a:xfrm>
            <a:off x="477212" y="5529522"/>
            <a:ext cx="11271588" cy="846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chemeClr val="accent2"/>
                </a:solidFill>
              </a:rPr>
              <a:t>Idea clave ¿Cómo evitar el spinning?</a:t>
            </a:r>
            <a:endParaRPr sz="2200" b="1" dirty="0">
              <a:solidFill>
                <a:schemeClr val="accent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100" dirty="0"/>
              <a:t>¿Cómo desarrollar un lock que no gaste innecesariamente tiempo de la CPU iterando?</a:t>
            </a:r>
            <a:endParaRPr sz="1500" dirty="0"/>
          </a:p>
        </p:txBody>
      </p:sp>
      <p:sp>
        <p:nvSpPr>
          <p:cNvPr id="1402" name="Google Shape;1402;p75"/>
          <p:cNvSpPr txBox="1"/>
          <p:nvPr/>
        </p:nvSpPr>
        <p:spPr>
          <a:xfrm>
            <a:off x="7266574" y="1699250"/>
            <a:ext cx="4602600" cy="946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 lock(</a:t>
            </a:r>
            <a:r>
              <a:rPr lang="es-ES" sz="15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lock_t</a:t>
            </a: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*lock) {</a:t>
            </a:r>
            <a:endParaRPr sz="15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500" dirty="0" err="1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s-ES" sz="15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s-ES" sz="1500" dirty="0" err="1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TestAndSet</a:t>
            </a:r>
            <a:r>
              <a:rPr lang="es-ES" sz="15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(&amp;lock-&gt;flag, 1) == 1);</a:t>
            </a:r>
            <a:endParaRPr sz="1500" dirty="0">
              <a:solidFill>
                <a:schemeClr val="dk1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5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7" name="Google Shape;1407;p76"/>
          <p:cNvSpPr txBox="1">
            <a:spLocks noGrp="1"/>
          </p:cNvSpPr>
          <p:nvPr>
            <p:ph type="title"/>
          </p:nvPr>
        </p:nvSpPr>
        <p:spPr>
          <a:xfrm>
            <a:off x="558800" y="96038"/>
            <a:ext cx="8603525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¿Cómo evitar gasto en la CPU?</a:t>
            </a:r>
            <a:endParaRPr dirty="0"/>
          </a:p>
        </p:txBody>
      </p:sp>
      <p:sp>
        <p:nvSpPr>
          <p:cNvPr id="1408" name="Google Shape;1408;p76"/>
          <p:cNvSpPr txBox="1">
            <a:spLocks noGrp="1"/>
          </p:cNvSpPr>
          <p:nvPr>
            <p:ph idx="1"/>
          </p:nvPr>
        </p:nvSpPr>
        <p:spPr>
          <a:xfrm>
            <a:off x="558800" y="890050"/>
            <a:ext cx="11193425" cy="1419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 dirty="0" err="1">
                <a:solidFill>
                  <a:schemeClr val="accent5"/>
                </a:solidFill>
              </a:rPr>
              <a:t>Yield</a:t>
            </a:r>
            <a:r>
              <a:rPr lang="es-ES" sz="2800" b="1" dirty="0">
                <a:solidFill>
                  <a:schemeClr val="accent5"/>
                </a:solidFill>
              </a:rPr>
              <a:t> en vez de spin</a:t>
            </a:r>
            <a:endParaRPr sz="2800" b="1" dirty="0">
              <a:solidFill>
                <a:schemeClr val="accent5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400" dirty="0"/>
              <a:t>Cuando se requiera realizar espera activa, simplemente libera voluntariamente la CPU (llamado al sistema </a:t>
            </a:r>
            <a:r>
              <a:rPr lang="es-ES" sz="2400" b="1" dirty="0" err="1">
                <a:solidFill>
                  <a:schemeClr val="accent2"/>
                </a:solidFill>
                <a:ea typeface="Consolas"/>
                <a:cs typeface="Consolas"/>
                <a:sym typeface="Consolas"/>
              </a:rPr>
              <a:t>yield</a:t>
            </a:r>
            <a:r>
              <a:rPr lang="es-ES" sz="2400" dirty="0"/>
              <a:t>).</a:t>
            </a: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 dirty="0">
              <a:solidFill>
                <a:schemeClr val="accent5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>
              <a:solidFill>
                <a:schemeClr val="accent5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</p:txBody>
      </p:sp>
      <p:sp>
        <p:nvSpPr>
          <p:cNvPr id="1409" name="Google Shape;1409;p76"/>
          <p:cNvSpPr txBox="1"/>
          <p:nvPr/>
        </p:nvSpPr>
        <p:spPr>
          <a:xfrm>
            <a:off x="944900" y="2590800"/>
            <a:ext cx="4890600" cy="997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 lock(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lock_t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*lock) {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600" dirty="0" err="1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s-ES" sz="16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s-ES" sz="1600" dirty="0" err="1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TestAndSet</a:t>
            </a:r>
            <a:r>
              <a:rPr lang="es-ES" sz="16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(&amp;lock-&gt;flag, 1) == 1);</a:t>
            </a:r>
            <a:endParaRPr sz="1600" dirty="0">
              <a:solidFill>
                <a:schemeClr val="dk1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10" name="Google Shape;1410;p76"/>
          <p:cNvSpPr txBox="1"/>
          <p:nvPr/>
        </p:nvSpPr>
        <p:spPr>
          <a:xfrm>
            <a:off x="6953075" y="2449200"/>
            <a:ext cx="4890600" cy="1280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 lock(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lock_t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*lock) {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600" dirty="0" err="1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s-ES" sz="16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s-ES" sz="1600" dirty="0" err="1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TestAndSet</a:t>
            </a:r>
            <a:r>
              <a:rPr lang="es-ES" sz="16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(&amp;lock-&gt;flag, 1) == 1)</a:t>
            </a:r>
            <a:endParaRPr sz="1600" dirty="0">
              <a:solidFill>
                <a:schemeClr val="dk1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s-ES" sz="1600" dirty="0" err="1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yield</a:t>
            </a:r>
            <a:r>
              <a:rPr lang="es-ES" sz="16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(); // </a:t>
            </a:r>
            <a:r>
              <a:rPr lang="es-ES" sz="1600" dirty="0" err="1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give</a:t>
            </a:r>
            <a:r>
              <a:rPr lang="es-ES" sz="16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up </a:t>
            </a:r>
            <a:r>
              <a:rPr lang="es-ES" sz="1600" dirty="0" err="1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the</a:t>
            </a:r>
            <a:r>
              <a:rPr lang="es-ES" sz="16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CPU</a:t>
            </a:r>
            <a:endParaRPr sz="1600" dirty="0">
              <a:solidFill>
                <a:schemeClr val="dk1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11" name="Google Shape;1411;p76"/>
          <p:cNvSpPr/>
          <p:nvPr/>
        </p:nvSpPr>
        <p:spPr>
          <a:xfrm>
            <a:off x="5978788" y="2876400"/>
            <a:ext cx="831000" cy="4263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12" name="Google Shape;1412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8813" y="3983750"/>
            <a:ext cx="10374374" cy="198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7" name="Google Shape;1417;p77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¿Cómo evitar gasto en la CPU?</a:t>
            </a:r>
            <a:endParaRPr/>
          </a:p>
        </p:txBody>
      </p:sp>
      <p:sp>
        <p:nvSpPr>
          <p:cNvPr id="1418" name="Google Shape;1418;p77"/>
          <p:cNvSpPr txBox="1"/>
          <p:nvPr/>
        </p:nvSpPr>
        <p:spPr>
          <a:xfrm>
            <a:off x="916650" y="1199950"/>
            <a:ext cx="5635200" cy="2590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 err="1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Yield</a:t>
            </a:r>
            <a:r>
              <a:rPr lang="es-ES" sz="28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 en vez de spin</a:t>
            </a:r>
            <a:endParaRPr sz="2800" b="1" dirty="0">
              <a:solidFill>
                <a:schemeClr val="accent5"/>
              </a:solidFill>
              <a:ea typeface="Roboto"/>
              <a:cs typeface="Roboto"/>
              <a:sym typeface="Roboto"/>
            </a:endParaRPr>
          </a:p>
          <a:p>
            <a: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El sistema operativo mueve el hilo de estado running a </a:t>
            </a:r>
            <a:r>
              <a:rPr lang="es-ES" sz="2400" dirty="0" err="1">
                <a:solidFill>
                  <a:schemeClr val="dk1"/>
                </a:solidFill>
                <a:ea typeface="Roboto"/>
                <a:cs typeface="Roboto"/>
                <a:sym typeface="Roboto"/>
              </a:rPr>
              <a:t>ready</a:t>
            </a: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.</a:t>
            </a:r>
            <a:endParaRPr sz="24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Aún se gasta tiempo en los cambios de contexto.</a:t>
            </a:r>
            <a:endParaRPr sz="24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Puede existir inanición.</a:t>
            </a:r>
            <a:endParaRPr sz="24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1419" name="Google Shape;1419;p77"/>
          <p:cNvSpPr txBox="1"/>
          <p:nvPr/>
        </p:nvSpPr>
        <p:spPr>
          <a:xfrm>
            <a:off x="6810900" y="1045550"/>
            <a:ext cx="4952700" cy="3829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typedef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struct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__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lock_t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int flag;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 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lock_t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 init(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lock_t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*lock) {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lock-&gt;flag = 0;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 lock(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lock_t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*lock) {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600" dirty="0" err="1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s-ES" sz="16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s-ES" sz="1600" dirty="0" err="1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TestAndSet</a:t>
            </a:r>
            <a:r>
              <a:rPr lang="es-ES" sz="16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(&amp;lock-&gt;flag, 1) == 1)</a:t>
            </a:r>
            <a:endParaRPr sz="1600" dirty="0">
              <a:solidFill>
                <a:schemeClr val="dk1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s-ES" sz="1600" dirty="0" err="1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yield</a:t>
            </a:r>
            <a:r>
              <a:rPr lang="es-ES" sz="1600" dirty="0">
                <a:solidFill>
                  <a:schemeClr val="dk1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();</a:t>
            </a:r>
            <a:endParaRPr sz="1600" dirty="0">
              <a:solidFill>
                <a:schemeClr val="dk1"/>
              </a:solidFill>
              <a:highlight>
                <a:srgbClr val="FFFF0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 unlock(</a:t>
            </a:r>
            <a:r>
              <a:rPr lang="es-ES" sz="16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lock_t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*lock) {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lock-&gt;flag = 0;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420" name="Google Shape;1420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9275" y="4518800"/>
            <a:ext cx="10119049" cy="193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Google Shape;1425;p78"/>
          <p:cNvSpPr txBox="1">
            <a:spLocks noGrp="1"/>
          </p:cNvSpPr>
          <p:nvPr>
            <p:ph type="title"/>
          </p:nvPr>
        </p:nvSpPr>
        <p:spPr>
          <a:xfrm>
            <a:off x="566850" y="96038"/>
            <a:ext cx="86538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¿Cómo evitar gasto en la CPU?</a:t>
            </a:r>
            <a:endParaRPr dirty="0"/>
          </a:p>
        </p:txBody>
      </p:sp>
      <p:sp>
        <p:nvSpPr>
          <p:cNvPr id="1426" name="Google Shape;1426;p78"/>
          <p:cNvSpPr txBox="1">
            <a:spLocks noGrp="1"/>
          </p:cNvSpPr>
          <p:nvPr>
            <p:ph idx="1"/>
          </p:nvPr>
        </p:nvSpPr>
        <p:spPr>
          <a:xfrm>
            <a:off x="566850" y="840825"/>
            <a:ext cx="11058300" cy="599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solidFill>
                  <a:schemeClr val="accent1"/>
                </a:solidFill>
              </a:rPr>
              <a:t>Comparación</a:t>
            </a:r>
            <a:endParaRPr sz="28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</p:txBody>
      </p:sp>
      <p:sp>
        <p:nvSpPr>
          <p:cNvPr id="1427" name="Google Shape;1427;p78"/>
          <p:cNvSpPr txBox="1"/>
          <p:nvPr/>
        </p:nvSpPr>
        <p:spPr>
          <a:xfrm>
            <a:off x="736600" y="1612725"/>
            <a:ext cx="7095525" cy="618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Sin </a:t>
            </a:r>
            <a:r>
              <a:rPr lang="es-ES" sz="2400" b="1" dirty="0" err="1">
                <a:solidFill>
                  <a:schemeClr val="dk1"/>
                </a:solidFill>
                <a:ea typeface="Roboto"/>
                <a:cs typeface="Roboto"/>
                <a:sym typeface="Roboto"/>
              </a:rPr>
              <a:t>yield</a:t>
            </a:r>
            <a:r>
              <a:rPr lang="es-ES" sz="24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(): </a:t>
            </a: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o </a:t>
            </a:r>
            <a:r>
              <a:rPr lang="es-ES" sz="2400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(</a:t>
            </a:r>
            <a:r>
              <a:rPr lang="es-ES" sz="2400" dirty="0" err="1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threads</a:t>
            </a:r>
            <a:r>
              <a:rPr lang="es-ES" sz="2400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*</a:t>
            </a:r>
            <a:r>
              <a:rPr lang="es-ES" sz="2400" b="1" dirty="0" err="1">
                <a:solidFill>
                  <a:srgbClr val="FF0000"/>
                </a:solidFill>
                <a:ea typeface="Consolas"/>
                <a:cs typeface="Consolas"/>
                <a:sym typeface="Consolas"/>
              </a:rPr>
              <a:t>time_slice</a:t>
            </a:r>
            <a:r>
              <a:rPr lang="es-ES" sz="2400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)</a:t>
            </a:r>
            <a:endParaRPr sz="2400" dirty="0">
              <a:solidFill>
                <a:schemeClr val="dk1"/>
              </a:solidFill>
              <a:ea typeface="Consolas"/>
              <a:cs typeface="Consolas"/>
              <a:sym typeface="Consolas"/>
            </a:endParaRPr>
          </a:p>
        </p:txBody>
      </p:sp>
      <p:sp>
        <p:nvSpPr>
          <p:cNvPr id="1428" name="Google Shape;1428;p78"/>
          <p:cNvSpPr txBox="1"/>
          <p:nvPr/>
        </p:nvSpPr>
        <p:spPr>
          <a:xfrm>
            <a:off x="736600" y="4095888"/>
            <a:ext cx="6699050" cy="618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Con </a:t>
            </a:r>
            <a:r>
              <a:rPr lang="es-ES" sz="2400" b="1" dirty="0" err="1">
                <a:solidFill>
                  <a:schemeClr val="dk1"/>
                </a:solidFill>
                <a:ea typeface="Roboto"/>
                <a:cs typeface="Roboto"/>
                <a:sym typeface="Roboto"/>
              </a:rPr>
              <a:t>yield</a:t>
            </a:r>
            <a:r>
              <a:rPr lang="es-ES" sz="24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(): </a:t>
            </a: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o </a:t>
            </a:r>
            <a:r>
              <a:rPr lang="es-ES" sz="2400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(</a:t>
            </a:r>
            <a:r>
              <a:rPr lang="es-ES" sz="2400" dirty="0" err="1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threads</a:t>
            </a:r>
            <a:r>
              <a:rPr lang="es-ES" sz="2400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*</a:t>
            </a:r>
            <a:r>
              <a:rPr lang="es-ES" sz="2400" b="1" dirty="0" err="1">
                <a:solidFill>
                  <a:srgbClr val="FF0000"/>
                </a:solidFill>
                <a:ea typeface="Consolas"/>
                <a:cs typeface="Consolas"/>
                <a:sym typeface="Consolas"/>
              </a:rPr>
              <a:t>context_switch</a:t>
            </a:r>
            <a:r>
              <a:rPr lang="es-ES" sz="2400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)</a:t>
            </a:r>
            <a:endParaRPr sz="2400" dirty="0">
              <a:solidFill>
                <a:schemeClr val="dk1"/>
              </a:solidFill>
              <a:ea typeface="Consolas"/>
              <a:cs typeface="Consolas"/>
              <a:sym typeface="Consolas"/>
            </a:endParaRPr>
          </a:p>
        </p:txBody>
      </p:sp>
      <p:pic>
        <p:nvPicPr>
          <p:cNvPr id="1429" name="Google Shape;1429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8250" y="2208588"/>
            <a:ext cx="8555505" cy="166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0" name="Google Shape;1430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38138" y="4870325"/>
            <a:ext cx="8715720" cy="166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" name="Google Shape;1435;p79"/>
          <p:cNvSpPr txBox="1">
            <a:spLocks noGrp="1"/>
          </p:cNvSpPr>
          <p:nvPr>
            <p:ph type="title"/>
          </p:nvPr>
        </p:nvSpPr>
        <p:spPr>
          <a:xfrm>
            <a:off x="508000" y="96038"/>
            <a:ext cx="871265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Queue locks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436" name="Google Shape;1436;p79"/>
          <p:cNvSpPr txBox="1"/>
          <p:nvPr/>
        </p:nvSpPr>
        <p:spPr>
          <a:xfrm>
            <a:off x="508000" y="1135500"/>
            <a:ext cx="11073175" cy="1189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Problemas con las colas</a:t>
            </a:r>
            <a:endParaRPr sz="2800" b="1" dirty="0">
              <a:solidFill>
                <a:schemeClr val="accent5"/>
              </a:solidFill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600" b="1" dirty="0">
                <a:solidFill>
                  <a:schemeClr val="accent6"/>
                </a:solidFill>
                <a:ea typeface="Roboto"/>
                <a:cs typeface="Roboto"/>
                <a:sym typeface="Roboto"/>
              </a:rPr>
              <a:t>Acá vamos…</a:t>
            </a:r>
            <a:endParaRPr sz="24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p80"/>
          <p:cNvSpPr txBox="1">
            <a:spLocks noGrp="1"/>
          </p:cNvSpPr>
          <p:nvPr>
            <p:ph type="title"/>
          </p:nvPr>
        </p:nvSpPr>
        <p:spPr>
          <a:xfrm>
            <a:off x="406400" y="96038"/>
            <a:ext cx="881425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Queue locks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442" name="Google Shape;1442;p80"/>
          <p:cNvSpPr txBox="1"/>
          <p:nvPr/>
        </p:nvSpPr>
        <p:spPr>
          <a:xfrm>
            <a:off x="495300" y="1045538"/>
            <a:ext cx="11290300" cy="3644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Uso de colas</a:t>
            </a:r>
            <a:endParaRPr sz="2800" b="1" dirty="0">
              <a:solidFill>
                <a:schemeClr val="accent5"/>
              </a:solidFill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600" b="1" dirty="0">
                <a:solidFill>
                  <a:schemeClr val="accent6"/>
                </a:solidFill>
                <a:ea typeface="Roboto"/>
                <a:cs typeface="Roboto"/>
                <a:sym typeface="Roboto"/>
              </a:rPr>
              <a:t>Idea</a:t>
            </a:r>
            <a:r>
              <a:rPr lang="es-ES" sz="2600" dirty="0">
                <a:solidFill>
                  <a:schemeClr val="accent6"/>
                </a:solidFill>
                <a:ea typeface="Roboto"/>
                <a:cs typeface="Roboto"/>
                <a:sym typeface="Roboto"/>
              </a:rPr>
              <a:t>:</a:t>
            </a:r>
            <a:endParaRPr sz="2600" dirty="0">
              <a:solidFill>
                <a:schemeClr val="accent6"/>
              </a:solidFill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Poner los hilos en una cola (</a:t>
            </a:r>
            <a:r>
              <a:rPr lang="es-ES" sz="2400" dirty="0" err="1">
                <a:solidFill>
                  <a:schemeClr val="dk1"/>
                </a:solidFill>
                <a:ea typeface="Roboto"/>
                <a:cs typeface="Roboto"/>
                <a:sym typeface="Roboto"/>
              </a:rPr>
              <a:t>queue</a:t>
            </a: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).</a:t>
            </a:r>
            <a:endParaRPr sz="24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Indicarle al </a:t>
            </a:r>
            <a:r>
              <a:rPr lang="es-ES" sz="2400" dirty="0" err="1">
                <a:solidFill>
                  <a:schemeClr val="dk1"/>
                </a:solidFill>
                <a:ea typeface="Roboto"/>
                <a:cs typeface="Roboto"/>
                <a:sym typeface="Roboto"/>
              </a:rPr>
              <a:t>kernel</a:t>
            </a: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que no agende (</a:t>
            </a:r>
            <a:r>
              <a:rPr lang="es-ES" sz="2400" dirty="0" err="1">
                <a:solidFill>
                  <a:schemeClr val="dk1"/>
                </a:solidFill>
                <a:ea typeface="Roboto"/>
                <a:cs typeface="Roboto"/>
                <a:sym typeface="Roboto"/>
              </a:rPr>
              <a:t>don’t</a:t>
            </a: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</a:t>
            </a:r>
            <a:r>
              <a:rPr lang="es-ES" sz="2400" dirty="0" err="1">
                <a:solidFill>
                  <a:schemeClr val="dk1"/>
                </a:solidFill>
                <a:ea typeface="Roboto"/>
                <a:cs typeface="Roboto"/>
                <a:sym typeface="Roboto"/>
              </a:rPr>
              <a:t>schedule</a:t>
            </a: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) los hilos en la cola.</a:t>
            </a:r>
            <a:endParaRPr sz="24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Al desbloquear (unlock), indicar al </a:t>
            </a:r>
            <a:r>
              <a:rPr lang="es-ES" sz="2400" dirty="0" err="1">
                <a:solidFill>
                  <a:schemeClr val="dk1"/>
                </a:solidFill>
                <a:ea typeface="Roboto"/>
                <a:cs typeface="Roboto"/>
                <a:sym typeface="Roboto"/>
              </a:rPr>
              <a:t>kernel</a:t>
            </a: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que puede ejecutar subprocesos nuevamente.</a:t>
            </a:r>
            <a:endParaRPr sz="24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Llamadas:</a:t>
            </a:r>
            <a:endParaRPr sz="24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914400" lvl="1" indent="-4064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Char char="○"/>
            </a:pPr>
            <a:r>
              <a:rPr lang="es-ES" sz="2400" b="1" dirty="0" err="1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park</a:t>
            </a:r>
            <a:r>
              <a:rPr lang="es-ES" sz="2400" b="1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()</a:t>
            </a: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: El hilo que llama la función va a dormir (</a:t>
            </a:r>
            <a:r>
              <a:rPr lang="es-ES" sz="2400" dirty="0" err="1">
                <a:solidFill>
                  <a:schemeClr val="dk1"/>
                </a:solidFill>
                <a:ea typeface="Roboto"/>
                <a:cs typeface="Roboto"/>
                <a:sym typeface="Roboto"/>
              </a:rPr>
              <a:t>sleep</a:t>
            </a: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</a:t>
            </a:r>
            <a:r>
              <a:rPr lang="es-ES" sz="2400" dirty="0" err="1">
                <a:solidFill>
                  <a:schemeClr val="dk1"/>
                </a:solidFill>
                <a:ea typeface="Roboto"/>
                <a:cs typeface="Roboto"/>
                <a:sym typeface="Roboto"/>
              </a:rPr>
              <a:t>state</a:t>
            </a: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).</a:t>
            </a:r>
            <a:endParaRPr sz="24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914400" lvl="1" indent="-4064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Char char="○"/>
            </a:pPr>
            <a:r>
              <a:rPr lang="es-ES" sz="2400" b="1" dirty="0" err="1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unpark</a:t>
            </a:r>
            <a:r>
              <a:rPr lang="es-ES" sz="2400" b="1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(</a:t>
            </a:r>
            <a:r>
              <a:rPr lang="es-ES" sz="2400" b="1" dirty="0" err="1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threadID</a:t>
            </a:r>
            <a:r>
              <a:rPr lang="es-ES" sz="2400" b="1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)</a:t>
            </a: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: Despierta un hilo en particular.</a:t>
            </a:r>
            <a:endParaRPr sz="24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7" name="Google Shape;1447;p81"/>
          <p:cNvSpPr txBox="1">
            <a:spLocks noGrp="1"/>
          </p:cNvSpPr>
          <p:nvPr>
            <p:ph type="title"/>
          </p:nvPr>
        </p:nvSpPr>
        <p:spPr>
          <a:xfrm>
            <a:off x="482600" y="96038"/>
            <a:ext cx="4779641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Queue locks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448" name="Google Shape;1448;p81"/>
          <p:cNvSpPr txBox="1"/>
          <p:nvPr/>
        </p:nvSpPr>
        <p:spPr>
          <a:xfrm>
            <a:off x="514290" y="1068304"/>
            <a:ext cx="3389880" cy="700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Uso de colas</a:t>
            </a:r>
            <a:endParaRPr sz="24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1449" name="Google Shape;1449;p81"/>
          <p:cNvSpPr txBox="1"/>
          <p:nvPr/>
        </p:nvSpPr>
        <p:spPr>
          <a:xfrm>
            <a:off x="986981" y="2030839"/>
            <a:ext cx="3389879" cy="2909997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typedef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struct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__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lock_t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int flag;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int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guard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queue_t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*q;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lock_t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lock_init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lock_t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*m) {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m-&gt;flag = 0;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m-&gt;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guard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0;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queue_init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(m-&gt;q);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50" name="Google Shape;1450;p81"/>
          <p:cNvSpPr txBox="1"/>
          <p:nvPr/>
        </p:nvSpPr>
        <p:spPr>
          <a:xfrm>
            <a:off x="5262241" y="328081"/>
            <a:ext cx="6415469" cy="3157757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 lock(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lock_t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*m) {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TestAndSet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(&amp;m-&gt;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guard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1) == 1)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; //acquire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guard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lock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by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spinning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(m-&gt;flag == 0) {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m-&gt;flag = 1; // lock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is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acquired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m-&gt;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guard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0;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}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queue_add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(m-&gt;q,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gettid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());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m-&gt;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guard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0;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park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51" name="Google Shape;1451;p81"/>
          <p:cNvSpPr txBox="1"/>
          <p:nvPr/>
        </p:nvSpPr>
        <p:spPr>
          <a:xfrm>
            <a:off x="5262242" y="3699363"/>
            <a:ext cx="6415468" cy="2662237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void unlock(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lock_t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*m) {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TestAndSet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(&amp;m-&gt;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guard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1) == 1)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; //acquire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guard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lock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by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spinning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queue_empty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(m-&gt;q))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m-&gt;flag = 0; //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let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go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of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lock; no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one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wants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it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unpark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queue_remove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(m-&gt;q)); //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hold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lock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   	// (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next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thread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!)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m-&gt;</a:t>
            </a:r>
            <a:r>
              <a:rPr lang="es-ES" sz="1400" dirty="0" err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guard</a:t>
            </a: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0;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4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2" name="Google Shape;1462;p83"/>
          <p:cNvSpPr txBox="1">
            <a:spLocks noGrp="1"/>
          </p:cNvSpPr>
          <p:nvPr>
            <p:ph type="title"/>
          </p:nvPr>
        </p:nvSpPr>
        <p:spPr>
          <a:xfrm>
            <a:off x="393700" y="96038"/>
            <a:ext cx="882695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Referencias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463" name="Google Shape;1463;p83"/>
          <p:cNvSpPr txBox="1">
            <a:spLocks noGrp="1"/>
          </p:cNvSpPr>
          <p:nvPr>
            <p:ph type="body" idx="1"/>
          </p:nvPr>
        </p:nvSpPr>
        <p:spPr>
          <a:xfrm>
            <a:off x="393700" y="974150"/>
            <a:ext cx="11545500" cy="515521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492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800" u="sng" dirty="0">
                <a:solidFill>
                  <a:schemeClr val="hlink"/>
                </a:solidFill>
                <a:latin typeface="+mn-lt"/>
                <a:hlinkClick r:id="rId3"/>
              </a:rPr>
              <a:t>https://adit.io/posts/2013-05-15-Locks,-Actors,-And-STM-In-Pictures.html</a:t>
            </a:r>
            <a:r>
              <a:rPr lang="es-ES" sz="1800" dirty="0">
                <a:latin typeface="+mn-lt"/>
              </a:rPr>
              <a:t> </a:t>
            </a:r>
            <a:endParaRPr sz="18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1800" u="sng" dirty="0">
                <a:solidFill>
                  <a:schemeClr val="hlink"/>
                </a:solidFill>
                <a:latin typeface="+mn-lt"/>
                <a:hlinkClick r:id="rId4"/>
              </a:rPr>
              <a:t>https://link.springer.com/chapter/10.1007/978-1-4842-4398-5_5</a:t>
            </a:r>
            <a:endParaRPr sz="18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1800" u="sng" dirty="0">
                <a:solidFill>
                  <a:schemeClr val="hlink"/>
                </a:solidFill>
                <a:latin typeface="+mn-lt"/>
                <a:hlinkClick r:id="rId5"/>
              </a:rPr>
              <a:t>https://preshing.com/20150316/semaphores-are-surprisingly-versatile/</a:t>
            </a:r>
            <a:endParaRPr sz="18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1800" u="sng" dirty="0">
                <a:solidFill>
                  <a:schemeClr val="hlink"/>
                </a:solidFill>
                <a:latin typeface="+mn-lt"/>
                <a:hlinkClick r:id="rId6"/>
              </a:rPr>
              <a:t>https://jvns.ca/teach-tech-with-cartoons/</a:t>
            </a:r>
            <a:r>
              <a:rPr lang="es-ES" sz="1800" dirty="0">
                <a:latin typeface="+mn-lt"/>
              </a:rPr>
              <a:t> </a:t>
            </a:r>
            <a:endParaRPr sz="18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1800" u="sng" dirty="0">
                <a:solidFill>
                  <a:schemeClr val="hlink"/>
                </a:solidFill>
                <a:latin typeface="+mn-lt"/>
                <a:hlinkClick r:id="rId7"/>
              </a:rPr>
              <a:t>https://code-cartoons.com/</a:t>
            </a:r>
            <a:endParaRPr sz="18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1800" u="sng" dirty="0">
                <a:solidFill>
                  <a:schemeClr val="hlink"/>
                </a:solidFill>
                <a:latin typeface="+mn-lt"/>
                <a:hlinkClick r:id="rId8"/>
              </a:rPr>
              <a:t>https://medium.com/basecs</a:t>
            </a:r>
            <a:r>
              <a:rPr lang="es-ES" sz="1800" dirty="0">
                <a:latin typeface="+mn-lt"/>
              </a:rPr>
              <a:t> </a:t>
            </a:r>
            <a:endParaRPr sz="18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1800" u="sng" dirty="0">
                <a:solidFill>
                  <a:schemeClr val="hlink"/>
                </a:solidFill>
                <a:latin typeface="+mn-lt"/>
                <a:hlinkClick r:id="rId9"/>
              </a:rPr>
              <a:t>https://xkcd.com/</a:t>
            </a:r>
            <a:r>
              <a:rPr lang="es-ES" sz="1800" dirty="0">
                <a:latin typeface="+mn-lt"/>
              </a:rPr>
              <a:t> </a:t>
            </a:r>
            <a:endParaRPr sz="18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1800" u="sng" dirty="0">
                <a:solidFill>
                  <a:schemeClr val="hlink"/>
                </a:solidFill>
                <a:latin typeface="+mn-lt"/>
                <a:hlinkClick r:id="rId10"/>
              </a:rPr>
              <a:t>https://www.qwantz.com/</a:t>
            </a:r>
            <a:endParaRPr sz="18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1800" u="sng" dirty="0">
                <a:solidFill>
                  <a:schemeClr val="hlink"/>
                </a:solidFill>
                <a:latin typeface="+mn-lt"/>
                <a:hlinkClick r:id="rId11"/>
              </a:rPr>
              <a:t>https://pbfcomics.com/</a:t>
            </a:r>
            <a:endParaRPr sz="18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1800" u="sng" dirty="0">
                <a:solidFill>
                  <a:schemeClr val="hlink"/>
                </a:solidFill>
                <a:latin typeface="+mn-lt"/>
                <a:hlinkClick r:id="rId12"/>
              </a:rPr>
              <a:t>http://turnoff.us/</a:t>
            </a:r>
            <a:r>
              <a:rPr lang="es-ES" sz="1800" dirty="0">
                <a:latin typeface="+mn-lt"/>
              </a:rPr>
              <a:t> </a:t>
            </a:r>
            <a:endParaRPr sz="18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1800" u="sng" dirty="0">
                <a:solidFill>
                  <a:schemeClr val="hlink"/>
                </a:solidFill>
                <a:latin typeface="+mn-lt"/>
                <a:hlinkClick r:id="rId13"/>
              </a:rPr>
              <a:t>http://turnoff.us/geek/arduino-project/</a:t>
            </a:r>
            <a:r>
              <a:rPr lang="es-ES" sz="1800" dirty="0">
                <a:latin typeface="+mn-lt"/>
              </a:rPr>
              <a:t> </a:t>
            </a:r>
            <a:endParaRPr sz="18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1800" u="sng" dirty="0">
                <a:solidFill>
                  <a:schemeClr val="hlink"/>
                </a:solidFill>
                <a:latin typeface="+mn-lt"/>
                <a:hlinkClick r:id="rId14"/>
              </a:rPr>
              <a:t>https://prepinsta.com/operating-systems/critical-section-problem/</a:t>
            </a:r>
            <a:r>
              <a:rPr lang="es-ES" sz="1800" dirty="0">
                <a:latin typeface="+mn-lt"/>
              </a:rPr>
              <a:t> </a:t>
            </a:r>
            <a:endParaRPr sz="18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1800" u="sng" dirty="0">
                <a:solidFill>
                  <a:schemeClr val="hlink"/>
                </a:solidFill>
                <a:latin typeface="+mn-lt"/>
                <a:hlinkClick r:id="rId15"/>
              </a:rPr>
              <a:t>https://jakegut.com/posts/sg-os/</a:t>
            </a:r>
            <a:endParaRPr sz="18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1800" u="sng" dirty="0">
                <a:solidFill>
                  <a:schemeClr val="hlink"/>
                </a:solidFill>
                <a:latin typeface="+mn-lt"/>
                <a:hlinkClick r:id="rId16"/>
              </a:rPr>
              <a:t>https://realpython.com/intro-to-python-threading/</a:t>
            </a:r>
            <a:endParaRPr sz="18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1800" u="sng" dirty="0">
                <a:solidFill>
                  <a:schemeClr val="hlink"/>
                </a:solidFill>
                <a:latin typeface="+mn-lt"/>
                <a:hlinkClick r:id="rId17"/>
              </a:rPr>
              <a:t>https://github.com/Marcombo/Programacion_de_servicios_y_procesos_en_Python</a:t>
            </a:r>
            <a:endParaRPr sz="18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1800" u="sng" dirty="0">
                <a:solidFill>
                  <a:schemeClr val="hlink"/>
                </a:solidFill>
                <a:latin typeface="+mn-lt"/>
                <a:hlinkClick r:id="rId18"/>
              </a:rPr>
              <a:t>https://www.cs.cornell.edu/courses/cs3410/2012sp/</a:t>
            </a:r>
            <a:r>
              <a:rPr lang="es-ES" sz="1800" dirty="0">
                <a:latin typeface="+mn-lt"/>
              </a:rPr>
              <a:t> </a:t>
            </a:r>
            <a:endParaRPr sz="18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1800" u="sng" dirty="0">
                <a:solidFill>
                  <a:schemeClr val="hlink"/>
                </a:solidFill>
                <a:latin typeface="+mn-lt"/>
                <a:hlinkClick r:id="rId19"/>
              </a:rPr>
              <a:t>https://www.cs.cornell.edu/courses/cs3410/2012sp/lecture/25-sync-i-g.pdf</a:t>
            </a:r>
            <a:r>
              <a:rPr lang="es-ES" sz="1800" dirty="0">
                <a:latin typeface="+mn-lt"/>
              </a:rPr>
              <a:t> </a:t>
            </a:r>
            <a:endParaRPr sz="1800" dirty="0">
              <a:latin typeface="+mn-lt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s-ES" sz="1800" u="sng" dirty="0">
                <a:solidFill>
                  <a:schemeClr val="hlink"/>
                </a:solidFill>
                <a:latin typeface="+mn-lt"/>
                <a:hlinkClick r:id="rId20"/>
              </a:rPr>
              <a:t>https://www.cs.cornell.edu/courses/cs3410/2012sp/schedule.html</a:t>
            </a:r>
            <a:r>
              <a:rPr lang="es-ES" sz="1800" dirty="0">
                <a:latin typeface="+mn-lt"/>
              </a:rPr>
              <a:t> </a:t>
            </a:r>
            <a:endParaRPr sz="1800" dirty="0">
              <a:latin typeface="+mn-lt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p84"/>
          <p:cNvSpPr txBox="1">
            <a:spLocks noGrp="1"/>
          </p:cNvSpPr>
          <p:nvPr>
            <p:ph type="title"/>
          </p:nvPr>
        </p:nvSpPr>
        <p:spPr>
          <a:xfrm>
            <a:off x="368300" y="96038"/>
            <a:ext cx="885235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Referencias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469" name="Google Shape;1469;p84"/>
          <p:cNvSpPr txBox="1">
            <a:spLocks noGrp="1"/>
          </p:cNvSpPr>
          <p:nvPr>
            <p:ph type="body" idx="1"/>
          </p:nvPr>
        </p:nvSpPr>
        <p:spPr>
          <a:xfrm>
            <a:off x="368300" y="885250"/>
            <a:ext cx="11570900" cy="5124439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Font typeface="Times New Roman"/>
              <a:buChar char="●"/>
            </a:pPr>
            <a:r>
              <a:rPr lang="es-ES" sz="1800" u="sng" dirty="0">
                <a:solidFill>
                  <a:schemeClr val="hlink"/>
                </a:solidFill>
                <a:latin typeface="+mn-lt"/>
                <a:hlinkClick r:id="rId3"/>
              </a:rPr>
              <a:t>https://csapp.cs.cmu.edu/</a:t>
            </a:r>
            <a:r>
              <a:rPr lang="es-ES" sz="1800" dirty="0">
                <a:latin typeface="+mn-lt"/>
              </a:rPr>
              <a:t> 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4"/>
              </a:rPr>
              <a:t>https://applied-programming.github.io/Operating-Systems-Notes/5-Memory-Management/</a:t>
            </a:r>
            <a:r>
              <a:rPr lang="es-ES" sz="1900" dirty="0">
                <a:latin typeface="+mn-lt"/>
              </a:rPr>
              <a:t> 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5"/>
              </a:rPr>
              <a:t>http://www.cs.cmu.edu/~213/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6"/>
              </a:rPr>
              <a:t>https://web.eecs.umich.edu/~akamil/teaching/sp04/</a:t>
            </a:r>
            <a:r>
              <a:rPr lang="es-ES" sz="1900" dirty="0">
                <a:latin typeface="+mn-lt"/>
              </a:rPr>
              <a:t> 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7"/>
              </a:rPr>
              <a:t>https://courses.engr.illinois.edu/cs241/sp2014/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8"/>
              </a:rPr>
              <a:t>https://emeryberger.com/teaching/grad-systems/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9"/>
              </a:rPr>
              <a:t>https://oslab.kaist.ac.kr/courseware/</a:t>
            </a:r>
            <a:r>
              <a:rPr lang="es-ES" sz="1900" dirty="0">
                <a:latin typeface="+mn-lt"/>
              </a:rPr>
              <a:t> 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10"/>
              </a:rPr>
              <a:t>https://oslab.kaist.ac.kr/ee488-fall-2020/</a:t>
            </a:r>
            <a:r>
              <a:rPr lang="es-ES" sz="1900" dirty="0">
                <a:latin typeface="+mn-lt"/>
              </a:rPr>
              <a:t> 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11"/>
              </a:rPr>
              <a:t>https://github.com/JoeCameron1/CSC369-OperatingSystems-Assignments/tree/master/Assignment2</a:t>
            </a:r>
            <a:r>
              <a:rPr lang="es-ES" sz="1900" dirty="0">
                <a:latin typeface="+mn-lt"/>
              </a:rPr>
              <a:t> 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12"/>
              </a:rPr>
              <a:t>http://www.cs.toronto.edu/~ylzhang/csc258/</a:t>
            </a:r>
            <a:r>
              <a:rPr lang="es-ES" sz="1900" dirty="0">
                <a:latin typeface="+mn-lt"/>
              </a:rPr>
              <a:t> 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13"/>
              </a:rPr>
              <a:t>https://oslab.kaist.ac.kr/ee415-spring-2022/</a:t>
            </a:r>
            <a:r>
              <a:rPr lang="es-ES" sz="1900" dirty="0">
                <a:latin typeface="+mn-lt"/>
              </a:rPr>
              <a:t> 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14"/>
              </a:rPr>
              <a:t>https://prepinsta.com/operating-systems/multiprocessor-operating-systems/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15"/>
              </a:rPr>
              <a:t>https://www.iitk.ac.in/esc101/05Aug/tutorial/essential/threads/definition.html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16"/>
              </a:rPr>
              <a:t>https://www.quora.com/What-are-some-best-examples-of-multithreaded-applications</a:t>
            </a:r>
            <a:r>
              <a:rPr lang="es-ES" sz="1900" dirty="0">
                <a:latin typeface="+mn-lt"/>
              </a:rPr>
              <a:t> 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17"/>
              </a:rPr>
              <a:t>https://cpentalk.com/986/examples-applications-benefit-directly-ability-throughput</a:t>
            </a:r>
            <a:r>
              <a:rPr lang="es-ES" sz="1900" dirty="0">
                <a:latin typeface="+mn-lt"/>
              </a:rPr>
              <a:t> 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15"/>
              </a:rPr>
              <a:t>https://www.iitk.ac.in/esc101/05Aug/tutorial/essential/threads/definition.html</a:t>
            </a:r>
            <a:r>
              <a:rPr lang="es-ES" sz="1900" dirty="0">
                <a:latin typeface="+mn-lt"/>
              </a:rPr>
              <a:t> 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18"/>
              </a:rPr>
              <a:t>https://realpython.com/python-concurrency/</a:t>
            </a:r>
            <a:r>
              <a:rPr lang="es-ES" sz="1900" dirty="0">
                <a:latin typeface="+mn-lt"/>
              </a:rPr>
              <a:t> </a:t>
            </a:r>
            <a:endParaRPr sz="2400" dirty="0">
              <a:latin typeface="+mn-lt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" name="Google Shape;1474;p85"/>
          <p:cNvSpPr txBox="1">
            <a:spLocks noGrp="1"/>
          </p:cNvSpPr>
          <p:nvPr>
            <p:ph type="title"/>
          </p:nvPr>
        </p:nvSpPr>
        <p:spPr>
          <a:xfrm>
            <a:off x="482600" y="96038"/>
            <a:ext cx="873805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>
                <a:solidFill>
                  <a:schemeClr val="tx1"/>
                </a:solidFill>
                <a:latin typeface="+mj-lt"/>
              </a:rPr>
              <a:t>Referencias</a:t>
            </a:r>
            <a:endParaRPr>
              <a:solidFill>
                <a:schemeClr val="tx1"/>
              </a:solidFill>
              <a:latin typeface="+mj-lt"/>
            </a:endParaRPr>
          </a:p>
        </p:txBody>
      </p:sp>
      <p:sp>
        <p:nvSpPr>
          <p:cNvPr id="1475" name="Google Shape;1475;p85"/>
          <p:cNvSpPr txBox="1">
            <a:spLocks noGrp="1"/>
          </p:cNvSpPr>
          <p:nvPr>
            <p:ph type="body" idx="1"/>
          </p:nvPr>
        </p:nvSpPr>
        <p:spPr>
          <a:xfrm>
            <a:off x="393700" y="885250"/>
            <a:ext cx="11666100" cy="572460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492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3"/>
              </a:rPr>
              <a:t>https://developers.google.com/web/updates/2018/09/inside-browser-part1</a:t>
            </a:r>
            <a:r>
              <a:rPr lang="es-ES" sz="1900" dirty="0">
                <a:latin typeface="+mn-lt"/>
              </a:rPr>
              <a:t> 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4"/>
              </a:rPr>
              <a:t>https://developers.google.com/web/updates/2018/09/inside-browser-part2</a:t>
            </a:r>
            <a:r>
              <a:rPr lang="es-ES" sz="1900" dirty="0">
                <a:latin typeface="+mn-lt"/>
              </a:rPr>
              <a:t> 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5"/>
              </a:rPr>
              <a:t>https://www.informit.com/articles/article.aspx?p=25075&amp;seqNum=3</a:t>
            </a:r>
            <a:r>
              <a:rPr lang="es-ES" sz="1900" dirty="0">
                <a:latin typeface="+mn-lt"/>
              </a:rPr>
              <a:t> 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6"/>
              </a:rPr>
              <a:t>https://www.cs.uic.edu/~jbell/CourseNotes/OperatingSystems/4_Threads.html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7"/>
              </a:rPr>
              <a:t>https://realpython.com/python-sockets/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8"/>
              </a:rPr>
              <a:t>https://realpython.com/intro-to-python-threading/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9"/>
              </a:rPr>
              <a:t>https://realpython.com/python-concurrency/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10"/>
              </a:rPr>
              <a:t>https://www.geeksforgeeks.org/socket-programming-multi-threading-python/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11"/>
              </a:rPr>
              <a:t>https://eecs485staff.github.io/p4-mapreduce/threads-sockets.html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12"/>
              </a:rPr>
              <a:t>https://prepinsta.com/operating-systems/inter-process-communication/</a:t>
            </a:r>
            <a:r>
              <a:rPr lang="es-ES" sz="1900" dirty="0">
                <a:latin typeface="+mn-lt"/>
              </a:rPr>
              <a:t> 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13"/>
              </a:rPr>
              <a:t>https://applied-programming.github.io/Operating-Systems-Notes/6-Inter-Process-Communication/</a:t>
            </a:r>
            <a:r>
              <a:rPr lang="es-ES" sz="1900" dirty="0">
                <a:latin typeface="+mn-lt"/>
              </a:rPr>
              <a:t> 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14"/>
              </a:rPr>
              <a:t>https://applied-programming.github.io/Operating-Systems-Notes/3-Threads-and-Concurrency/</a:t>
            </a:r>
            <a:r>
              <a:rPr lang="es-ES" sz="1900" dirty="0">
                <a:latin typeface="+mn-lt"/>
              </a:rPr>
              <a:t> 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15"/>
              </a:rPr>
              <a:t>https://www.iitk.ac.in/esc101/05Aug/tutorial/essential/threads/definition.html</a:t>
            </a:r>
            <a:r>
              <a:rPr lang="es-ES" sz="1900" dirty="0">
                <a:latin typeface="+mn-lt"/>
              </a:rPr>
              <a:t> 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16"/>
              </a:rPr>
              <a:t>https://singa.apache.org/</a:t>
            </a:r>
            <a:r>
              <a:rPr lang="es-ES" sz="1900" dirty="0">
                <a:latin typeface="+mn-lt"/>
              </a:rPr>
              <a:t>  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17"/>
              </a:rPr>
              <a:t>http://web.mit.edu/java_v1.0.2/www/tutorial/java/threads/deadlock.html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18"/>
              </a:rPr>
              <a:t>http://www.cs.fsu.edu/~baker/realtime/restricted/notes/philos.html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19"/>
              </a:rPr>
              <a:t>https://www2.seas.gwu.edu/~mfeldman/papers/portable-diners.html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20"/>
              </a:rPr>
              <a:t>https://www.kalasim.org/examples/dining_philosophers/</a:t>
            </a:r>
            <a:r>
              <a:rPr lang="es-ES" sz="1900" dirty="0">
                <a:latin typeface="+mn-lt"/>
              </a:rPr>
              <a:t> 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21"/>
              </a:rPr>
              <a:t>http://people.cs.aau.dk/~ask/Undervisning/MVP/html/deadlock.pdf</a:t>
            </a:r>
            <a:r>
              <a:rPr lang="es-ES" sz="1900" dirty="0">
                <a:latin typeface="+mn-lt"/>
              </a:rPr>
              <a:t> </a:t>
            </a:r>
            <a:endParaRPr sz="2400" dirty="0">
              <a:latin typeface="+mn-lt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0" name="Google Shape;1480;p86"/>
          <p:cNvSpPr txBox="1">
            <a:spLocks noGrp="1"/>
          </p:cNvSpPr>
          <p:nvPr>
            <p:ph type="title"/>
          </p:nvPr>
        </p:nvSpPr>
        <p:spPr>
          <a:xfrm>
            <a:off x="469900" y="96038"/>
            <a:ext cx="875075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Referencias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481" name="Google Shape;1481;p86"/>
          <p:cNvSpPr txBox="1">
            <a:spLocks noGrp="1"/>
          </p:cNvSpPr>
          <p:nvPr>
            <p:ph type="body" idx="1"/>
          </p:nvPr>
        </p:nvSpPr>
        <p:spPr>
          <a:xfrm>
            <a:off x="469900" y="865292"/>
            <a:ext cx="11235600" cy="54322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492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3"/>
              </a:rPr>
              <a:t>https://github.com/fab327/JavaFX_DiningPhilosophers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4"/>
              </a:rPr>
              <a:t>https://github.com/djunderw/dining-philosophers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5"/>
              </a:rPr>
              <a:t>https://www.geeksforgeeks.org/dining-philosopher-problem-using-semaphores/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6"/>
              </a:rPr>
              <a:t>https://rosettacode.org/wiki/Dining_philosophers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7"/>
              </a:rPr>
              <a:t>https://www.seas.upenn.edu/~cse39904/homework/hw06.pdf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8"/>
              </a:rPr>
              <a:t>https://www.seas.upenn.edu/~cse39904/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9"/>
              </a:rPr>
              <a:t>https://www.seas.upenn.edu/~cse39904/notes.html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10"/>
              </a:rPr>
              <a:t>https://github.com/smonn/hungrythinkers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11"/>
              </a:rPr>
              <a:t>https://github.com/jnafolayan/dining-philosopher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12"/>
              </a:rPr>
              <a:t>https://jnafolayan.github.io/dining-philosopher/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13"/>
              </a:rPr>
              <a:t>https://github.com/ZzCalvinzZ/dining_philosophers_web_workers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14"/>
              </a:rPr>
              <a:t>https://dev.to/vunderkind/the-dining-philosophers-problem-or-your-introduction-to-thinking-in-computer-science-8ii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15"/>
              </a:rPr>
              <a:t>https://github.com/lievi/dining_philosophers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16"/>
              </a:rPr>
              <a:t>https://www.wikiwand.com/en/Dining_philosophers_problem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17"/>
              </a:rPr>
              <a:t>https://adit.io/posts/2013-05-11-The-Dining-Philosophers-Problem-With-Ron-Swanson.html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18"/>
              </a:rPr>
              <a:t>https://github.com/tpn/pdfs</a:t>
            </a:r>
            <a:endParaRPr sz="1900" dirty="0">
              <a:latin typeface="+mn-lt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s-ES" sz="1900" u="sng" dirty="0">
                <a:solidFill>
                  <a:schemeClr val="hlink"/>
                </a:solidFill>
                <a:latin typeface="+mn-lt"/>
                <a:hlinkClick r:id="rId19"/>
              </a:rPr>
              <a:t>https://jakegut.com/posts/sg-os/</a:t>
            </a:r>
            <a:r>
              <a:rPr lang="es-ES" sz="1900" dirty="0">
                <a:latin typeface="+mn-lt"/>
              </a:rPr>
              <a:t>  </a:t>
            </a:r>
            <a:endParaRPr sz="2400" dirty="0">
              <a:latin typeface="+mn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1509</TotalTime>
  <Words>8080</Words>
  <Application>Microsoft Office PowerPoint</Application>
  <PresentationFormat>Panorámica</PresentationFormat>
  <Paragraphs>2247</Paragraphs>
  <Slides>70</Slides>
  <Notes>70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70</vt:i4>
      </vt:variant>
    </vt:vector>
  </HeadingPairs>
  <TitlesOfParts>
    <vt:vector size="80" baseType="lpstr">
      <vt:lpstr>Consolas</vt:lpstr>
      <vt:lpstr>Calibri</vt:lpstr>
      <vt:lpstr>Courier New</vt:lpstr>
      <vt:lpstr>Arial</vt:lpstr>
      <vt:lpstr>Calibri Light</vt:lpstr>
      <vt:lpstr>Times New Roman</vt:lpstr>
      <vt:lpstr>Roboto Slab</vt:lpstr>
      <vt:lpstr>Roboto</vt:lpstr>
      <vt:lpstr>Tema de Office</vt:lpstr>
      <vt:lpstr>Office Theme</vt:lpstr>
      <vt:lpstr>Apuntes – Clase 15</vt:lpstr>
      <vt:lpstr>Resumen virtualización</vt:lpstr>
      <vt:lpstr>Resumen virtualización</vt:lpstr>
      <vt:lpstr>Resumen virtualización</vt:lpstr>
      <vt:lpstr>Resumen virtualización</vt:lpstr>
      <vt:lpstr>Resumen virtualización</vt:lpstr>
      <vt:lpstr>Resumen virtualización</vt:lpstr>
      <vt:lpstr>Resumen virtualización</vt:lpstr>
      <vt:lpstr>Resumen virtualización</vt:lpstr>
      <vt:lpstr>Resumen virtualización</vt:lpstr>
      <vt:lpstr>Resumen virtualización</vt:lpstr>
      <vt:lpstr>Contextualización</vt:lpstr>
      <vt:lpstr>Contextualización</vt:lpstr>
      <vt:lpstr>Contextualización</vt:lpstr>
      <vt:lpstr>Contextualización</vt:lpstr>
      <vt:lpstr>Contextualización</vt:lpstr>
      <vt:lpstr>Contextualización</vt:lpstr>
      <vt:lpstr>Contextualización</vt:lpstr>
      <vt:lpstr>Contextualización</vt:lpstr>
      <vt:lpstr>Contextualización</vt:lpstr>
      <vt:lpstr>Contextualización</vt:lpstr>
      <vt:lpstr>Contextualización</vt:lpstr>
      <vt:lpstr>Evaluación de locks</vt:lpstr>
      <vt:lpstr>Implementación de locks</vt:lpstr>
      <vt:lpstr>Implementación de locks</vt:lpstr>
      <vt:lpstr>Implementación de locks</vt:lpstr>
      <vt:lpstr>Implementación de locks</vt:lpstr>
      <vt:lpstr>Implementación de locks</vt:lpstr>
      <vt:lpstr>Implementación de locks</vt:lpstr>
      <vt:lpstr>Implementación de locks</vt:lpstr>
      <vt:lpstr>Implementación de locks</vt:lpstr>
      <vt:lpstr>Implementación de locks</vt:lpstr>
      <vt:lpstr>Implementación de locks</vt:lpstr>
      <vt:lpstr>Implementación de locks</vt:lpstr>
      <vt:lpstr>Implementación de locks</vt:lpstr>
      <vt:lpstr>Implementación de locks</vt:lpstr>
      <vt:lpstr>Implementación de locks</vt:lpstr>
      <vt:lpstr>Implementación de locks</vt:lpstr>
      <vt:lpstr>Implementación de locks</vt:lpstr>
      <vt:lpstr>Implementación de locks</vt:lpstr>
      <vt:lpstr>Implementación de locks</vt:lpstr>
      <vt:lpstr>Implementación de locks</vt:lpstr>
      <vt:lpstr>Implementación de locks</vt:lpstr>
      <vt:lpstr>Implementación de locks</vt:lpstr>
      <vt:lpstr>Implementación de locks</vt:lpstr>
      <vt:lpstr>Implementación de locks</vt:lpstr>
      <vt:lpstr>Implementación de locks</vt:lpstr>
      <vt:lpstr>Implementación de locks</vt:lpstr>
      <vt:lpstr>Implementación de locks</vt:lpstr>
      <vt:lpstr>Implementación de locks</vt:lpstr>
      <vt:lpstr>Implementación de locks</vt:lpstr>
      <vt:lpstr>Implementación de locks</vt:lpstr>
      <vt:lpstr>Implementación de locks</vt:lpstr>
      <vt:lpstr>Implementación de locks</vt:lpstr>
      <vt:lpstr>Implementación de locks</vt:lpstr>
      <vt:lpstr>Implementación de locks</vt:lpstr>
      <vt:lpstr>Implementación de locks</vt:lpstr>
      <vt:lpstr>Implementación de locks</vt:lpstr>
      <vt:lpstr>Implementación de locks</vt:lpstr>
      <vt:lpstr>¿Cómo evitar gasto en la CPU?</vt:lpstr>
      <vt:lpstr>¿Cómo evitar gasto en la CPU?</vt:lpstr>
      <vt:lpstr>¿Cómo evitar gasto en la CPU?</vt:lpstr>
      <vt:lpstr>¿Cómo evitar gasto en la CPU?</vt:lpstr>
      <vt:lpstr>Queue locks</vt:lpstr>
      <vt:lpstr>Queue locks</vt:lpstr>
      <vt:lpstr>Queue locks</vt:lpstr>
      <vt:lpstr>Referencias</vt:lpstr>
      <vt:lpstr>Referencias</vt:lpstr>
      <vt:lpstr>Referencias</vt:lpstr>
      <vt:lpstr>Referencias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Sistemas Operativos</dc:title>
  <cp:lastModifiedBy>HENRY ALBERTO ARCILA RAMIREZ</cp:lastModifiedBy>
  <cp:revision>52</cp:revision>
  <dcterms:modified xsi:type="dcterms:W3CDTF">2026-10-27T04:07:35Z</dcterms:modified>
</cp:coreProperties>
</file>